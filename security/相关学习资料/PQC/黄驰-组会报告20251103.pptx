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508" r:id="rId3"/>
    <p:sldId id="336" r:id="rId4"/>
    <p:sldId id="510" r:id="rId5"/>
    <p:sldId id="512" r:id="rId6"/>
    <p:sldId id="257" r:id="rId7"/>
    <p:sldId id="473" r:id="rId8"/>
    <p:sldId id="480" r:id="rId9"/>
    <p:sldId id="504" r:id="rId10"/>
    <p:sldId id="485" r:id="rId11"/>
    <p:sldId id="503" r:id="rId12"/>
    <p:sldId id="492" r:id="rId13"/>
    <p:sldId id="491" r:id="rId14"/>
    <p:sldId id="493" r:id="rId15"/>
    <p:sldId id="505" r:id="rId16"/>
    <p:sldId id="506" r:id="rId17"/>
    <p:sldId id="513" r:id="rId18"/>
    <p:sldId id="482" r:id="rId19"/>
    <p:sldId id="486" r:id="rId20"/>
    <p:sldId id="487" r:id="rId21"/>
    <p:sldId id="514" r:id="rId22"/>
    <p:sldId id="515" r:id="rId23"/>
    <p:sldId id="516" r:id="rId24"/>
    <p:sldId id="489" r:id="rId25"/>
    <p:sldId id="517" r:id="rId26"/>
    <p:sldId id="495" r:id="rId27"/>
    <p:sldId id="497" r:id="rId28"/>
    <p:sldId id="301" r:id="rId29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6E7E"/>
    <a:srgbClr val="016E7F"/>
    <a:srgbClr val="00B0F0"/>
    <a:srgbClr val="147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158" autoAdjust="0"/>
  </p:normalViewPr>
  <p:slideViewPr>
    <p:cSldViewPr snapToGrid="0">
      <p:cViewPr varScale="1">
        <p:scale>
          <a:sx n="66" d="100"/>
          <a:sy n="66" d="100"/>
        </p:scale>
        <p:origin x="10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layground/rbCj7dfq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CN" sz="2000" kern="1200"/>
              <a:t>PHE</a:t>
            </a:r>
            <a:endParaRPr lang="zh-CN" altLang="en-US" sz="2000" kern="1200"/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800" kern="1200"/>
              <a:t>加法</a:t>
            </a:r>
            <a:r>
              <a:rPr lang="en-US" altLang="zh-CN" sz="1800" kern="1200"/>
              <a:t>or</a:t>
            </a:r>
            <a:r>
              <a:rPr lang="zh-CN" altLang="en-US" sz="1800" kern="1200"/>
              <a:t>乘法</a:t>
            </a:r>
          </a:p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CN" sz="2400" kern="1200"/>
              <a:t>SWHE</a:t>
            </a:r>
            <a:endParaRPr lang="zh-CN" altLang="en-US" sz="2400" kern="1200"/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800" kern="1200"/>
              <a:t>有限次的加法和乘法</a:t>
            </a:r>
            <a:endParaRPr lang="en-US" altLang="zh-CN" sz="1800" kern="1200"/>
          </a:p>
          <a:p>
            <a:pPr marL="0" lvl="0" indent="0" algn="l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CN" sz="2800" kern="1200"/>
              <a:t>LFHE</a:t>
            </a:r>
            <a:endParaRPr lang="zh-CN" altLang="en-US" sz="2800" kern="1200"/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800" kern="1200"/>
              <a:t>复杂度上限</a:t>
            </a:r>
            <a:r>
              <a:rPr lang="en-US" altLang="zh-CN" sz="1800" kern="1200"/>
              <a:t>L</a:t>
            </a:r>
            <a:r>
              <a:rPr lang="zh-CN" altLang="en-US" sz="1800" kern="1200"/>
              <a:t>下的任意加法和乘法组合</a:t>
            </a:r>
            <a:endParaRPr lang="en-US" altLang="zh-CN" sz="1800" kern="1200"/>
          </a:p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altLang="zh-CN" sz="3600" kern="1200"/>
              <a:t>FHE</a:t>
            </a:r>
            <a:endParaRPr lang="zh-CN" altLang="en-US" sz="3600" kern="1200"/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zh-CN" altLang="en-US" sz="1800" kern="1200"/>
              <a:t>任意次加法和乘法组合</a:t>
            </a:r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800" kern="1200"/>
          </a:p>
          <a:p>
            <a:pPr marL="171450" lvl="1" indent="-171450" algn="l" defTabSz="8001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endParaRPr lang="zh-CN" altLang="en-US" sz="1800" kern="1200"/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683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BCE79-5F57-386C-3FE7-355822071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A895AB7-9EC1-F084-0353-C0217FB093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411482-3DB4-0979-81AC-50A7E357E13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6875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1CF6-ECF9-6071-3A93-AC6E74C6B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CE35A3-89E1-8637-2509-3235AA5BE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EAE7B9-0413-B279-D30D-CAD7C59D9B4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943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Source code : </a:t>
            </a:r>
            <a:r>
              <a:rPr lang="en-US" altLang="zh-CN">
                <a:hlinkClick r:id="rId3"/>
              </a:rPr>
              <a:t>MyCPlusPlus - LeetCode Playground</a:t>
            </a:r>
            <a:r>
              <a:rPr lang="en-US" altLang="zh-CN"/>
              <a:t> </a:t>
            </a:r>
            <a:r>
              <a:rPr lang="en-US" altLang="zh-CN" sz="2800" b="1" kern="1200">
                <a:solidFill>
                  <a:schemeClr val="tx1"/>
                </a:solidFill>
                <a:latin typeface="微软雅黑 Light" panose="020B0502040204020203" charset="-122"/>
                <a:ea typeface="微软雅黑 Light" panose="020B0502040204020203" charset="-122"/>
              </a:rPr>
              <a:t>(https://leetcode.cn/playground/rbCj7dfq/)</a:t>
            </a:r>
            <a:endParaRPr lang="zh-CN" altLang="en-US" sz="2800" b="1" kern="1200">
              <a:solidFill>
                <a:schemeClr val="tx1"/>
              </a:solidFill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7420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DE3C8-10FB-C197-A362-DA7E852D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47342CA-D73F-7526-9B0C-B7A340532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528CAD-410E-A7CF-3988-384B6DCF591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5652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AD999-9D57-CB26-112D-54BB85FFB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36BAD6-E110-0B1E-61E5-991C83C055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ACD89D-339A-BC6D-A0DC-8E65913BFB2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9025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F609-612E-B979-7CC3-43F8B3A01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50B1A4-F25A-5FD6-A623-7BF1F382A6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6911DC-6995-2AA8-0ADC-7A80ED1BC0D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可以看到效率非常低，所以要引入</a:t>
            </a:r>
            <a:r>
              <a:rPr lang="en-US" altLang="zh-CN"/>
              <a:t>NTT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312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4C725-F6F5-EDDE-D79A-77FA142B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404886-23D2-A342-779F-254E9F6A68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645BA4-7553-089A-72F8-37874B23272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Explain later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346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4D3C-17E0-7609-FAAF-C4CB0FD1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60C734C-4CB4-96BF-725F-E3D3588840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918EA9-E67D-BB75-A7FC-55738C628EBB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说明：</a:t>
            </a:r>
            <a:r>
              <a:rPr lang="en-US" altLang="zh-CN"/>
              <a:t>3</a:t>
            </a:r>
            <a:r>
              <a:rPr lang="zh-CN" altLang="en-US"/>
              <a:t>和</a:t>
            </a:r>
            <a:r>
              <a:rPr lang="en-US" altLang="zh-CN"/>
              <a:t>5</a:t>
            </a:r>
            <a:r>
              <a:rPr lang="zh-CN" altLang="en-US"/>
              <a:t>都是</a:t>
            </a:r>
            <a:r>
              <a:rPr lang="en-US" altLang="zh-CN"/>
              <a:t>7</a:t>
            </a:r>
            <a:r>
              <a:rPr lang="zh-CN" altLang="en-US"/>
              <a:t>的</a:t>
            </a:r>
            <a:r>
              <a:rPr lang="en-US" altLang="zh-CN"/>
              <a:t>6</a:t>
            </a:r>
            <a:r>
              <a:rPr lang="zh-CN" altLang="en-US"/>
              <a:t>阶单位原根，但</a:t>
            </a:r>
            <a:r>
              <a:rPr lang="en-US" altLang="zh-CN"/>
              <a:t>4</a:t>
            </a:r>
            <a:r>
              <a:rPr lang="zh-CN" altLang="en-US"/>
              <a:t>不是，因为</a:t>
            </a:r>
            <a:r>
              <a:rPr lang="en-US" altLang="zh-CN"/>
              <a:t>4**3=64  % 7 == 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5305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A6C3B-4F6F-F95F-F97C-4F6CF55FD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932BDFF-FB43-311E-D827-C2DEC1087B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C7F71D-884A-B3F1-B504-493D7B90795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DFT to NTT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4309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F94E5-2DF6-1C67-547E-BE4AC50E9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7CE8DE-0C90-9683-74BD-BCED7EA1A0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B5933A-1C0B-11D4-F395-EBF5F54420A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4228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EA61D-4109-ADA5-5969-62695EE09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91627D-28CA-ABA2-5A07-DA7CB4942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BA7FF7-759F-D8E3-AD27-5C40B4671D8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Will Explain later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166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8FEAA-B323-573C-46A7-13A9E3E5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B016B1-5220-8B40-B0FC-04C9337801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967EC36-EE9D-9ED1-2A83-E5F17FA4359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前面讲到</a:t>
            </a:r>
            <a:r>
              <a:rPr lang="en-US" altLang="zh-CN"/>
              <a:t>NTT</a:t>
            </a:r>
            <a:r>
              <a:rPr lang="zh-CN" altLang="en-US"/>
              <a:t>的两个问题，用</a:t>
            </a:r>
            <a:r>
              <a:rPr lang="en-US" altLang="zh-CN"/>
              <a:t>CRT</a:t>
            </a:r>
            <a:r>
              <a:rPr lang="zh-CN" altLang="en-US"/>
              <a:t>就能很好的解决</a:t>
            </a:r>
          </a:p>
        </p:txBody>
      </p:sp>
    </p:spTree>
    <p:extLst>
      <p:ext uri="{BB962C8B-B14F-4D97-AF65-F5344CB8AC3E}">
        <p14:creationId xmlns:p14="http://schemas.microsoft.com/office/powerpoint/2010/main" val="15018345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BAD38-3868-DC15-CF58-355A220D5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795AE7-9B36-45AF-3033-EC1553D95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033C5F-14A4-6A0C-5B74-FC413064B1C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前面讲到</a:t>
            </a:r>
            <a:r>
              <a:rPr lang="en-US" altLang="zh-CN"/>
              <a:t>NTT</a:t>
            </a:r>
            <a:r>
              <a:rPr lang="zh-CN" altLang="en-US"/>
              <a:t>的两个问题，用</a:t>
            </a:r>
            <a:r>
              <a:rPr lang="en-US" altLang="zh-CN"/>
              <a:t>CRT</a:t>
            </a:r>
            <a:r>
              <a:rPr lang="zh-CN" altLang="en-US"/>
              <a:t>就能很好的解决</a:t>
            </a:r>
          </a:p>
        </p:txBody>
      </p:sp>
    </p:spTree>
    <p:extLst>
      <p:ext uri="{BB962C8B-B14F-4D97-AF65-F5344CB8AC3E}">
        <p14:creationId xmlns:p14="http://schemas.microsoft.com/office/powerpoint/2010/main" val="3150520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4CC71-3EDA-397B-F536-F538D1D0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B6F87A-E3DB-9132-89C1-2F50A3538D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2AF5CD-0E0B-B59C-1883-81E84AFEA0BF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sz="28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178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18155-2B08-82A9-C33D-DE55B74A8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469E1C-4316-A54C-457F-A12619DE0A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9EF9B0-0B96-BED0-11D0-3685BCADC8D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RLWE</a:t>
            </a:r>
            <a:r>
              <a:rPr lang="zh-CN" altLang="en-US"/>
              <a:t>本身就是加法同态</a:t>
            </a:r>
          </a:p>
        </p:txBody>
      </p:sp>
    </p:spTree>
    <p:extLst>
      <p:ext uri="{BB962C8B-B14F-4D97-AF65-F5344CB8AC3E}">
        <p14:creationId xmlns:p14="http://schemas.microsoft.com/office/powerpoint/2010/main" val="1313805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922F0-7D67-E908-46F6-000948E6D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72CB07-FE09-3C96-8610-E2CF9797B5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FADE14-C7A2-CBB0-A768-2E1DC4A5516C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RLWE</a:t>
            </a:r>
            <a:r>
              <a:rPr lang="zh-CN" altLang="en-US"/>
              <a:t>本身就是加法同态</a:t>
            </a:r>
          </a:p>
        </p:txBody>
      </p:sp>
    </p:spTree>
    <p:extLst>
      <p:ext uri="{BB962C8B-B14F-4D97-AF65-F5344CB8AC3E}">
        <p14:creationId xmlns:p14="http://schemas.microsoft.com/office/powerpoint/2010/main" val="28873583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853B6-F55D-C596-6575-97FF7DE6E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EDC472E-C7DA-9CD0-B399-96BDD87EE7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DFF6A0-DB4E-D378-6789-E9BA915546D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RLWE</a:t>
            </a:r>
            <a:r>
              <a:rPr lang="zh-CN" altLang="en-US"/>
              <a:t>本身就是加法同态</a:t>
            </a:r>
          </a:p>
        </p:txBody>
      </p:sp>
    </p:spTree>
    <p:extLst>
      <p:ext uri="{BB962C8B-B14F-4D97-AF65-F5344CB8AC3E}">
        <p14:creationId xmlns:p14="http://schemas.microsoft.com/office/powerpoint/2010/main" val="36767040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BAF88-4380-C1C7-B252-FCC819476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CF29632-89E0-18A5-F624-12E75DAA16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603080-1D81-3964-F984-0A0DB2BC8852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OpenFHE / 2021/204</a:t>
            </a:r>
            <a:r>
              <a:rPr lang="zh-CN" altLang="en-US"/>
              <a:t>等提到</a:t>
            </a:r>
          </a:p>
        </p:txBody>
      </p:sp>
    </p:spTree>
    <p:extLst>
      <p:ext uri="{BB962C8B-B14F-4D97-AF65-F5344CB8AC3E}">
        <p14:creationId xmlns:p14="http://schemas.microsoft.com/office/powerpoint/2010/main" val="9973054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E03C2-553E-45A8-F0AF-13DF3CF3D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5E83EB-8CE0-5D06-9EF3-4E7A2A267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6B8140-35A5-C02B-3387-7D35B44AE774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5374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35AE3-7117-51B4-DE9E-996A7D78D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804B27-9FD0-CE1C-119F-53D68E4CDC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74DBE7-1AE2-3E94-78E7-58782B2C932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8190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88CB0-8562-7123-AF38-0EF935147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C15218-6998-2D7C-9A6D-CD07F5AA47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894458-BF41-4575-9F31-65ABD4797E5E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833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8" name="Freeform 5"/>
          <p:cNvSpPr/>
          <p:nvPr userDrawn="1">
            <p:custDataLst>
              <p:tags r:id="rId1"/>
            </p:custDataLst>
          </p:nvPr>
        </p:nvSpPr>
        <p:spPr>
          <a:xfrm>
            <a:off x="158115" y="107950"/>
            <a:ext cx="11692255" cy="869315"/>
          </a:xfrm>
          <a:custGeom>
            <a:avLst/>
            <a:gdLst/>
            <a:ahLst/>
            <a:cxnLst/>
            <a:rect l="l" t="t" r="r" b="b"/>
            <a:pathLst>
              <a:path w="4816592" h="1231819">
                <a:moveTo>
                  <a:pt x="0" y="0"/>
                </a:moveTo>
                <a:lnTo>
                  <a:pt x="4816592" y="0"/>
                </a:lnTo>
                <a:lnTo>
                  <a:pt x="4816592" y="1231819"/>
                </a:lnTo>
                <a:lnTo>
                  <a:pt x="0" y="1231819"/>
                </a:lnTo>
                <a:close/>
              </a:path>
            </a:pathLst>
          </a:custGeom>
          <a:solidFill>
            <a:srgbClr val="016E7F"/>
          </a:solidFill>
        </p:spPr>
      </p:sp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>
          <a:xfrm>
            <a:off x="158115" y="1052830"/>
            <a:ext cx="11692255" cy="161290"/>
          </a:xfrm>
          <a:custGeom>
            <a:avLst/>
            <a:gdLst/>
            <a:ahLst/>
            <a:cxnLst/>
            <a:rect l="l" t="t" r="r" b="b"/>
            <a:pathLst>
              <a:path w="4816592" h="1231819">
                <a:moveTo>
                  <a:pt x="0" y="0"/>
                </a:moveTo>
                <a:lnTo>
                  <a:pt x="4816592" y="0"/>
                </a:lnTo>
                <a:lnTo>
                  <a:pt x="4816592" y="1231819"/>
                </a:lnTo>
                <a:lnTo>
                  <a:pt x="0" y="1231819"/>
                </a:lnTo>
                <a:close/>
              </a:path>
            </a:pathLst>
          </a:custGeom>
          <a:solidFill>
            <a:srgbClr val="016E7F"/>
          </a:solidFill>
        </p:spPr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eprint.iacr.org/2020/086" TargetMode="External"/><Relationship Id="rId3" Type="http://schemas.openxmlformats.org/officeDocument/2006/relationships/hyperlink" Target="https://eprint.iacr.org/2012/144" TargetMode="External"/><Relationship Id="rId7" Type="http://schemas.openxmlformats.org/officeDocument/2006/relationships/hyperlink" Target="https://eprint.iacr.org/2016/42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penfheorg/openfhe-development" TargetMode="External"/><Relationship Id="rId5" Type="http://schemas.openxmlformats.org/officeDocument/2006/relationships/hyperlink" Target="https://eprint.iacr.org/2021/204" TargetMode="External"/><Relationship Id="rId4" Type="http://schemas.openxmlformats.org/officeDocument/2006/relationships/hyperlink" Target="https://eprint.iacr.org/2012/099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n/playground/rbCj7dfq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ee411c7B7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AutoShape 2"/>
          <p:cNvSpPr/>
          <p:nvPr>
            <p:custDataLst>
              <p:tags r:id="rId1"/>
            </p:custDataLst>
          </p:nvPr>
        </p:nvSpPr>
        <p:spPr>
          <a:xfrm>
            <a:off x="229870" y="5274945"/>
            <a:ext cx="11338560" cy="20828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8" name="Freeform 5"/>
          <p:cNvSpPr/>
          <p:nvPr>
            <p:custDataLst>
              <p:tags r:id="rId2"/>
            </p:custDataLst>
          </p:nvPr>
        </p:nvSpPr>
        <p:spPr>
          <a:xfrm>
            <a:off x="0" y="2002790"/>
            <a:ext cx="12192000" cy="3707130"/>
          </a:xfrm>
          <a:custGeom>
            <a:avLst/>
            <a:gdLst/>
            <a:ahLst/>
            <a:cxnLst/>
            <a:rect l="l" t="t" r="r" b="b"/>
            <a:pathLst>
              <a:path w="4816592" h="1231819">
                <a:moveTo>
                  <a:pt x="0" y="0"/>
                </a:moveTo>
                <a:lnTo>
                  <a:pt x="4816592" y="0"/>
                </a:lnTo>
                <a:lnTo>
                  <a:pt x="4816592" y="1231819"/>
                </a:lnTo>
                <a:lnTo>
                  <a:pt x="0" y="1231819"/>
                </a:lnTo>
                <a:close/>
              </a:path>
            </a:pathLst>
          </a:custGeom>
          <a:solidFill>
            <a:srgbClr val="016E7F"/>
          </a:solidFill>
        </p:spPr>
      </p:sp>
      <p:sp>
        <p:nvSpPr>
          <p:cNvPr id="40" name="TextBox 7"/>
          <p:cNvSpPr txBox="1"/>
          <p:nvPr>
            <p:custDataLst>
              <p:tags r:id="rId3"/>
            </p:custDataLst>
          </p:nvPr>
        </p:nvSpPr>
        <p:spPr>
          <a:xfrm>
            <a:off x="621665" y="3230880"/>
            <a:ext cx="11296015" cy="167186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4000">
                <a:solidFill>
                  <a:schemeClr val="bg1"/>
                </a:solidFill>
                <a:sym typeface="+mn-ea"/>
              </a:rPr>
              <a:t>Implementation of Somewhat Fully Homomorphic Encryption</a:t>
            </a:r>
            <a:endParaRPr lang="zh-CN" altLang="en-US" sz="4000">
              <a:solidFill>
                <a:schemeClr val="bg1"/>
              </a:solidFill>
              <a:sym typeface="+mn-ea"/>
            </a:endParaRPr>
          </a:p>
        </p:txBody>
      </p:sp>
      <p:grpSp>
        <p:nvGrpSpPr>
          <p:cNvPr id="42" name="Group 9"/>
          <p:cNvGrpSpPr/>
          <p:nvPr/>
        </p:nvGrpSpPr>
        <p:grpSpPr>
          <a:xfrm>
            <a:off x="5141595" y="798830"/>
            <a:ext cx="1913890" cy="1913890"/>
            <a:chOff x="0" y="0"/>
            <a:chExt cx="812800" cy="812800"/>
          </a:xfrm>
        </p:grpSpPr>
        <p:sp>
          <p:nvSpPr>
            <p:cNvPr id="43" name="Freeform 10"/>
            <p:cNvSpPr/>
            <p:nvPr>
              <p:custDataLst>
                <p:tags r:id="rId6"/>
              </p:custDataLst>
            </p:nvPr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4" name="TextBox 11"/>
            <p:cNvSpPr txBox="1"/>
            <p:nvPr>
              <p:custDataLst>
                <p:tags r:id="rId7"/>
              </p:custDataLst>
            </p:nvPr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dirty="0">
                <a:latin typeface="思源黑体 Bold" panose="020B0600000000000000" charset="-122"/>
              </a:endParaRPr>
            </a:p>
          </p:txBody>
        </p:sp>
      </p:grpSp>
      <p:pic>
        <p:nvPicPr>
          <p:cNvPr id="45" name="Picture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5144770" y="823595"/>
            <a:ext cx="1902460" cy="188976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5"/>
            </p:custDataLst>
          </p:nvPr>
        </p:nvSpPr>
        <p:spPr>
          <a:xfrm>
            <a:off x="5375275" y="5936615"/>
            <a:ext cx="1789430" cy="487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000">
                <a:solidFill>
                  <a:schemeClr val="tx1"/>
                </a:solidFill>
              </a:rPr>
              <a:t>Huang Chi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3CA25889-468E-E665-D5EA-E88A4071C0A4}"/>
                  </a:ext>
                </a:extLst>
              </p:cNvPr>
              <p:cNvSpPr/>
              <p:nvPr/>
            </p:nvSpPr>
            <p:spPr>
              <a:xfrm>
                <a:off x="1429877" y="1591132"/>
                <a:ext cx="2084635" cy="708977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</m:oMath>
                  </m:oMathPara>
                </a14:m>
                <a:endParaRPr lang="zh-CN" sz="20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: 圆角 1">
                <a:extLst>
                  <a:ext uri="{FF2B5EF4-FFF2-40B4-BE49-F238E27FC236}">
                    <a16:creationId xmlns:a16="http://schemas.microsoft.com/office/drawing/2014/main" id="{3CA25889-468E-E665-D5EA-E88A4071C0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877" y="1591132"/>
                <a:ext cx="2084635" cy="70897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B34FEBC8-AAC4-A83D-4D81-B2C2DDF1763C}"/>
                  </a:ext>
                </a:extLst>
              </p:cNvPr>
              <p:cNvSpPr/>
              <p:nvPr/>
            </p:nvSpPr>
            <p:spPr>
              <a:xfrm>
                <a:off x="5181880" y="1591130"/>
                <a:ext cx="2084635" cy="70897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altLang="zh-CN" sz="2000" kern="10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PT </a:t>
                </a:r>
                <a14:m>
                  <m:oMath xmlns:m="http://schemas.openxmlformats.org/officeDocument/2006/math">
                    <m:r>
                      <a:rPr lang="en-US" sz="20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0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sz="20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sz="20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: 圆角 2">
                <a:extLst>
                  <a:ext uri="{FF2B5EF4-FFF2-40B4-BE49-F238E27FC236}">
                    <a16:creationId xmlns:a16="http://schemas.microsoft.com/office/drawing/2014/main" id="{B34FEBC8-AAC4-A83D-4D81-B2C2DDF176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880" y="1591130"/>
                <a:ext cx="2084635" cy="70897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1F2E3E91-6ED7-797C-4C48-CCD277449BBA}"/>
                  </a:ext>
                </a:extLst>
              </p:cNvPr>
              <p:cNvSpPr/>
              <p:nvPr/>
            </p:nvSpPr>
            <p:spPr>
              <a:xfrm>
                <a:off x="8933885" y="1591130"/>
                <a:ext cx="2084635" cy="70897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buNone/>
                </a:pPr>
                <a:r>
                  <a:rPr lang="en-US" altLang="zh-CN" sz="2000" kern="10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CT</a:t>
                </a:r>
                <a:br>
                  <a:rPr lang="en-US" altLang="zh-CN" sz="2000" kern="10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sz="20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zh-CN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zh-CN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等线" panose="02010600030101010101" pitchFamily="2" charset="-122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sz="20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: 圆角 3">
                <a:extLst>
                  <a:ext uri="{FF2B5EF4-FFF2-40B4-BE49-F238E27FC236}">
                    <a16:creationId xmlns:a16="http://schemas.microsoft.com/office/drawing/2014/main" id="{1F2E3E91-6ED7-797C-4C48-CCD277449B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885" y="1591130"/>
                <a:ext cx="2084635" cy="708977"/>
              </a:xfrm>
              <a:prstGeom prst="roundRect">
                <a:avLst/>
              </a:prstGeom>
              <a:blipFill>
                <a:blip r:embed="rId4"/>
                <a:stretch>
                  <a:fillRect t="-33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B32A167A-BB99-0183-E687-84DA6495BFDD}"/>
                  </a:ext>
                </a:extLst>
              </p:cNvPr>
              <p:cNvSpPr/>
              <p:nvPr/>
            </p:nvSpPr>
            <p:spPr>
              <a:xfrm>
                <a:off x="1429877" y="3565483"/>
                <a:ext cx="2084635" cy="708977"/>
              </a:xfrm>
              <a:prstGeom prst="round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0" kern="10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sz="20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‘=</m:t>
                      </m:r>
                      <m:r>
                        <a:rPr lang="en-US" sz="20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𝑓</m:t>
                      </m:r>
                      <m:r>
                        <a:rPr lang="en-US" sz="20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0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𝑚</m:t>
                      </m:r>
                      <m:r>
                        <a:rPr lang="en-US" sz="2000" i="1" kern="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sz="20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矩形: 圆角 4">
                <a:extLst>
                  <a:ext uri="{FF2B5EF4-FFF2-40B4-BE49-F238E27FC236}">
                    <a16:creationId xmlns:a16="http://schemas.microsoft.com/office/drawing/2014/main" id="{B32A167A-BB99-0183-E687-84DA6495BF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877" y="3565483"/>
                <a:ext cx="2084635" cy="708977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946BB6A5-E4CD-6D29-D644-D64270AC7535}"/>
                  </a:ext>
                </a:extLst>
              </p:cNvPr>
              <p:cNvSpPr/>
              <p:nvPr/>
            </p:nvSpPr>
            <p:spPr>
              <a:xfrm>
                <a:off x="5181881" y="3565483"/>
                <a:ext cx="2084635" cy="708977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US" altLang="zh-CN" sz="2000" kern="100">
                    <a:solidFill>
                      <a:srgbClr val="000000"/>
                    </a:solidFill>
                    <a:ea typeface="等线" panose="02010600030101010101" pitchFamily="2" charset="-122"/>
                    <a:cs typeface="Times New Roman" panose="02020603050405020304" pitchFamily="18" charset="0"/>
                  </a:rPr>
                  <a:t>PT</a:t>
                </a:r>
                <a:r>
                  <a:rPr lang="en-US" altLang="zh-CN" sz="2000" kern="100">
                    <a:solidFill>
                      <a:srgbClr val="000000"/>
                    </a:solidFill>
                    <a:effectLst/>
                    <a:ea typeface="等线" panose="0201060003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zh-CN" altLang="en-US" sz="2000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‘</m:t>
                    </m:r>
                    <m:r>
                      <a:rPr lang="en-US" altLang="zh-CN" sz="20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000" b="0" i="1" kern="10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sz="20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0" i="1" kern="100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sz="2000" i="1" kern="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zh-CN" sz="2000" kern="100">
                  <a:effectLst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946BB6A5-E4CD-6D29-D644-D64270AC75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881" y="3565483"/>
                <a:ext cx="2084635" cy="708977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: 圆角 6">
                <a:extLst>
                  <a:ext uri="{FF2B5EF4-FFF2-40B4-BE49-F238E27FC236}">
                    <a16:creationId xmlns:a16="http://schemas.microsoft.com/office/drawing/2014/main" id="{E12B4468-4979-E22A-8586-1932E9B47BA0}"/>
                  </a:ext>
                </a:extLst>
              </p:cNvPr>
              <p:cNvSpPr/>
              <p:nvPr/>
            </p:nvSpPr>
            <p:spPr>
              <a:xfrm>
                <a:off x="8933885" y="3565482"/>
                <a:ext cx="2069395" cy="708977"/>
              </a:xfrm>
              <a:prstGeom prst="round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buNone/>
                </a:pPr>
                <a:r>
                  <a:rPr lang="en-US" altLang="zh-CN" sz="2000" kern="10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CT</a:t>
                </a:r>
                <a:br>
                  <a:rPr lang="en-US" altLang="zh-CN" sz="2000" kern="100">
                    <a:solidFill>
                      <a:srgbClr val="000000"/>
                    </a:solidFill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zh-CN" altLang="en-US" sz="20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‘</m:t>
                      </m:r>
                      <m:r>
                        <a:rPr lang="en-US" altLang="zh-CN" sz="2000" i="1" kern="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000" b="0" i="1" kern="10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zh-CN" sz="2000" i="1" kern="10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kern="100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zh-CN" altLang="zh-CN" sz="2000" kern="10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: 圆角 6">
                <a:extLst>
                  <a:ext uri="{FF2B5EF4-FFF2-40B4-BE49-F238E27FC236}">
                    <a16:creationId xmlns:a16="http://schemas.microsoft.com/office/drawing/2014/main" id="{E12B4468-4979-E22A-8586-1932E9B47B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3885" y="3565482"/>
                <a:ext cx="2069395" cy="708977"/>
              </a:xfrm>
              <a:prstGeom prst="roundRect">
                <a:avLst/>
              </a:prstGeom>
              <a:blipFill>
                <a:blip r:embed="rId7"/>
                <a:stretch>
                  <a:fillRect t="-3390" b="-7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56F726F-50B9-F569-52A9-8F244824BA69}"/>
                  </a:ext>
                </a:extLst>
              </p:cNvPr>
              <p:cNvSpPr txBox="1"/>
              <p:nvPr/>
            </p:nvSpPr>
            <p:spPr>
              <a:xfrm>
                <a:off x="1783571" y="1224635"/>
                <a:ext cx="1377245" cy="41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zh-CN" altLang="zh-CN" sz="200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656F726F-50B9-F569-52A9-8F244824B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71" y="1224635"/>
                <a:ext cx="1377245" cy="4116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8AF670-5003-C1CE-70CA-F3A753246807}"/>
                  </a:ext>
                </a:extLst>
              </p:cNvPr>
              <p:cNvSpPr txBox="1"/>
              <p:nvPr/>
            </p:nvSpPr>
            <p:spPr>
              <a:xfrm>
                <a:off x="1783570" y="4251881"/>
                <a:ext cx="1377245" cy="4116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ℂ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zh-CN" altLang="zh-CN" sz="200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58AF670-5003-C1CE-70CA-F3A753246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70" y="4251881"/>
                <a:ext cx="1377245" cy="41165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36C1EBE-9CCF-EDD6-F563-3C937E11A87A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3514512" y="1945619"/>
            <a:ext cx="1667368" cy="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6AB8D4FF-366E-FACE-4F04-8DAB8DDF7E56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7266515" y="1945619"/>
            <a:ext cx="166737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F308DDC-642F-1333-57B5-0F078B3F0D57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9968583" y="2300107"/>
            <a:ext cx="7620" cy="12653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4DC2721-0CCD-DC37-9E9F-D6F3BD82A08B}"/>
              </a:ext>
            </a:extLst>
          </p:cNvPr>
          <p:cNvCxnSpPr>
            <a:cxnSpLocks/>
            <a:stCxn id="7" idx="1"/>
            <a:endCxn id="6" idx="3"/>
          </p:cNvCxnSpPr>
          <p:nvPr/>
        </p:nvCxnSpPr>
        <p:spPr>
          <a:xfrm flipH="1">
            <a:off x="7266516" y="3919971"/>
            <a:ext cx="1667369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EC9FA123-FBEF-0486-F8F6-39BF056C0680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3514512" y="3919972"/>
            <a:ext cx="166736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D05A1C-299C-D4EF-42AF-0DEA80F86178}"/>
                  </a:ext>
                </a:extLst>
              </p:cNvPr>
              <p:cNvSpPr txBox="1"/>
              <p:nvPr/>
            </p:nvSpPr>
            <p:spPr>
              <a:xfrm>
                <a:off x="5376945" y="1276571"/>
                <a:ext cx="16945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/(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CN" altLang="en-US" sz="200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E2D05A1C-299C-D4EF-42AF-0DEA80F861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45" y="1276571"/>
                <a:ext cx="1694503" cy="307777"/>
              </a:xfrm>
              <a:prstGeom prst="rect">
                <a:avLst/>
              </a:prstGeom>
              <a:blipFill>
                <a:blip r:embed="rId10"/>
                <a:stretch>
                  <a:fillRect l="-2518" t="-1961" r="-4676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530072DF-DEC6-85B1-16A8-11C962229AD7}"/>
              </a:ext>
            </a:extLst>
          </p:cNvPr>
          <p:cNvSpPr txBox="1"/>
          <p:nvPr/>
        </p:nvSpPr>
        <p:spPr>
          <a:xfrm>
            <a:off x="3659573" y="1591130"/>
            <a:ext cx="1377245" cy="411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/>
              <a:t>encode</a:t>
            </a:r>
            <a:endParaRPr lang="zh-CN" altLang="zh-CN" sz="200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233745-3FA4-21B6-E2C0-F45AEB346844}"/>
              </a:ext>
            </a:extLst>
          </p:cNvPr>
          <p:cNvSpPr txBox="1"/>
          <p:nvPr/>
        </p:nvSpPr>
        <p:spPr>
          <a:xfrm>
            <a:off x="7411577" y="1591130"/>
            <a:ext cx="1377245" cy="411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/>
              <a:t>encrypt</a:t>
            </a:r>
            <a:endParaRPr lang="zh-CN" altLang="zh-CN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58881B3-8374-B795-A70D-C67C77079016}"/>
                  </a:ext>
                </a:extLst>
              </p:cNvPr>
              <p:cNvSpPr txBox="1"/>
              <p:nvPr/>
            </p:nvSpPr>
            <p:spPr>
              <a:xfrm>
                <a:off x="8891460" y="1242202"/>
                <a:ext cx="2154244" cy="337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/(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558881B3-8374-B795-A70D-C67C77079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460" y="1242202"/>
                <a:ext cx="2154244" cy="337849"/>
              </a:xfrm>
              <a:prstGeom prst="rect">
                <a:avLst/>
              </a:prstGeom>
              <a:blipFill>
                <a:blip r:embed="rId11"/>
                <a:stretch>
                  <a:fillRect l="-3683" r="-283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41353138-419D-6FFF-2790-CC57CF64FC57}"/>
                  </a:ext>
                </a:extLst>
              </p:cNvPr>
              <p:cNvSpPr/>
              <p:nvPr/>
            </p:nvSpPr>
            <p:spPr>
              <a:xfrm>
                <a:off x="8457070" y="2480470"/>
                <a:ext cx="3023025" cy="719445"/>
              </a:xfrm>
              <a:prstGeom prst="ellipse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/>
                    </a:solidFill>
                  </a:rPr>
                  <a:t>HE</a:t>
                </a:r>
                <a14:m>
                  <m:oMath xmlns:m="http://schemas.openxmlformats.org/officeDocument/2006/math">
                    <m:r>
                      <a:rPr lang="en-US" altLang="zh-CN" i="1" kern="100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br>
                  <a:rPr lang="en-US" altLang="zh-CN">
                    <a:solidFill>
                      <a:schemeClr val="tx1"/>
                    </a:solidFill>
                  </a:rPr>
                </a:br>
                <a:r>
                  <a:rPr lang="zh-CN" altLang="en-US">
                    <a:solidFill>
                      <a:schemeClr val="tx1"/>
                    </a:solidFill>
                  </a:rPr>
                  <a:t>（</a:t>
                </a:r>
                <a:r>
                  <a:rPr lang="en-US" altLang="zh-CN">
                    <a:solidFill>
                      <a:schemeClr val="tx1"/>
                    </a:solidFill>
                  </a:rPr>
                  <a:t>+ - * / …</a:t>
                </a:r>
                <a:r>
                  <a:rPr lang="zh-CN" altLang="en-US">
                    <a:solidFill>
                      <a:schemeClr val="tx1"/>
                    </a:solidFill>
                  </a:rPr>
                  <a:t>）</a:t>
                </a:r>
              </a:p>
            </p:txBody>
          </p:sp>
        </mc:Choice>
        <mc:Fallback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41353138-419D-6FFF-2790-CC57CF64FC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070" y="2480470"/>
                <a:ext cx="3023025" cy="719445"/>
              </a:xfrm>
              <a:prstGeom prst="ellipse">
                <a:avLst/>
              </a:prstGeom>
              <a:blipFill>
                <a:blip r:embed="rId1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7A92758-9BFB-F76D-F822-EA426EDBE8DB}"/>
                  </a:ext>
                </a:extLst>
              </p:cNvPr>
              <p:cNvSpPr txBox="1"/>
              <p:nvPr/>
            </p:nvSpPr>
            <p:spPr>
              <a:xfrm>
                <a:off x="8899080" y="4303120"/>
                <a:ext cx="2154244" cy="3378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/(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200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7A92758-9BFB-F76D-F822-EA426EDBE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080" y="4303120"/>
                <a:ext cx="2154244" cy="337849"/>
              </a:xfrm>
              <a:prstGeom prst="rect">
                <a:avLst/>
              </a:prstGeom>
              <a:blipFill>
                <a:blip r:embed="rId13"/>
                <a:stretch>
                  <a:fillRect l="-3683" r="-283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5F64765-2A3C-A5D4-421F-8D0C1B5EEA86}"/>
                  </a:ext>
                </a:extLst>
              </p:cNvPr>
              <p:cNvSpPr txBox="1"/>
              <p:nvPr/>
            </p:nvSpPr>
            <p:spPr>
              <a:xfrm>
                <a:off x="5376945" y="4293807"/>
                <a:ext cx="169450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/(</m:t>
                      </m:r>
                      <m:sSup>
                        <m:sSup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zh-CN" altLang="en-US" sz="200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5F64765-2A3C-A5D4-421F-8D0C1B5EE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6945" y="4293807"/>
                <a:ext cx="1694503" cy="307777"/>
              </a:xfrm>
              <a:prstGeom prst="rect">
                <a:avLst/>
              </a:prstGeom>
              <a:blipFill>
                <a:blip r:embed="rId14"/>
                <a:stretch>
                  <a:fillRect l="-2518" t="-1961" r="-4676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FE7048B2-FCC8-E878-6A2D-C468F3351B18}"/>
              </a:ext>
            </a:extLst>
          </p:cNvPr>
          <p:cNvSpPr txBox="1"/>
          <p:nvPr/>
        </p:nvSpPr>
        <p:spPr>
          <a:xfrm>
            <a:off x="7411577" y="3565482"/>
            <a:ext cx="1377245" cy="411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/>
              <a:t>decrypt</a:t>
            </a:r>
            <a:endParaRPr lang="zh-CN" altLang="zh-CN" sz="200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6E4478D-5750-7ACA-07F4-402D9CAE214D}"/>
              </a:ext>
            </a:extLst>
          </p:cNvPr>
          <p:cNvSpPr txBox="1"/>
          <p:nvPr/>
        </p:nvSpPr>
        <p:spPr>
          <a:xfrm>
            <a:off x="3659572" y="3565482"/>
            <a:ext cx="1377245" cy="411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/>
              <a:t>decode</a:t>
            </a:r>
            <a:endParaRPr lang="zh-CN" altLang="zh-CN" sz="2000"/>
          </a:p>
        </p:txBody>
      </p:sp>
    </p:spTree>
    <p:extLst>
      <p:ext uri="{BB962C8B-B14F-4D97-AF65-F5344CB8AC3E}">
        <p14:creationId xmlns:p14="http://schemas.microsoft.com/office/powerpoint/2010/main" val="1800010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C60F2C2-F2E6-44D3-B8FC-FBD230000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322" y="3429000"/>
            <a:ext cx="9787355" cy="306527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69F7EE0-0A4C-4598-BFE7-FA4E7907B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8D2FC8F-B8B4-4085-A721-3F993E35DC4F}"/>
              </a:ext>
            </a:extLst>
          </p:cNvPr>
          <p:cNvGrpSpPr/>
          <p:nvPr/>
        </p:nvGrpSpPr>
        <p:grpSpPr>
          <a:xfrm>
            <a:off x="663564" y="292100"/>
            <a:ext cx="10785484" cy="3405379"/>
            <a:chOff x="663564" y="292100"/>
            <a:chExt cx="10785484" cy="3405379"/>
          </a:xfrm>
        </p:grpSpPr>
        <p:sp>
          <p:nvSpPr>
            <p:cNvPr id="5" name="形状 4">
              <a:extLst>
                <a:ext uri="{FF2B5EF4-FFF2-40B4-BE49-F238E27FC236}">
                  <a16:creationId xmlns:a16="http://schemas.microsoft.com/office/drawing/2014/main" id="{1DF4FEBC-1413-42F7-A3FA-1A508CE541FD}"/>
                </a:ext>
              </a:extLst>
            </p:cNvPr>
            <p:cNvSpPr/>
            <p:nvPr/>
          </p:nvSpPr>
          <p:spPr>
            <a:xfrm>
              <a:off x="663564" y="292100"/>
              <a:ext cx="10658509" cy="3405379"/>
            </a:xfrm>
            <a:prstGeom prst="swooshArrow">
              <a:avLst>
                <a:gd name="adj1" fmla="val 25000"/>
                <a:gd name="adj2" fmla="val 25000"/>
              </a:avLst>
            </a:prstGeom>
          </p:spPr>
          <p:style>
            <a:lnRef idx="0">
              <a:schemeClr val="accent2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CC380DDA-830E-4753-88B7-668D054C74CF}"/>
                </a:ext>
              </a:extLst>
            </p:cNvPr>
            <p:cNvSpPr/>
            <p:nvPr/>
          </p:nvSpPr>
          <p:spPr>
            <a:xfrm>
              <a:off x="2102008" y="2616863"/>
              <a:ext cx="125317" cy="125317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7A7AD200-82E2-4644-9A5B-DC39572E7F6B}"/>
                </a:ext>
              </a:extLst>
            </p:cNvPr>
            <p:cNvSpPr/>
            <p:nvPr/>
          </p:nvSpPr>
          <p:spPr>
            <a:xfrm>
              <a:off x="2253508" y="2548671"/>
              <a:ext cx="1408151" cy="810480"/>
            </a:xfrm>
            <a:custGeom>
              <a:avLst/>
              <a:gdLst>
                <a:gd name="connsiteX0" fmla="*/ 0 w 1408151"/>
                <a:gd name="connsiteY0" fmla="*/ 0 h 810480"/>
                <a:gd name="connsiteX1" fmla="*/ 1408151 w 1408151"/>
                <a:gd name="connsiteY1" fmla="*/ 0 h 810480"/>
                <a:gd name="connsiteX2" fmla="*/ 1408151 w 1408151"/>
                <a:gd name="connsiteY2" fmla="*/ 810480 h 810480"/>
                <a:gd name="connsiteX3" fmla="*/ 0 w 1408151"/>
                <a:gd name="connsiteY3" fmla="*/ 810480 h 810480"/>
                <a:gd name="connsiteX4" fmla="*/ 0 w 1408151"/>
                <a:gd name="connsiteY4" fmla="*/ 0 h 81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8151" h="810480">
                  <a:moveTo>
                    <a:pt x="0" y="0"/>
                  </a:moveTo>
                  <a:lnTo>
                    <a:pt x="1408151" y="0"/>
                  </a:lnTo>
                  <a:lnTo>
                    <a:pt x="1408151" y="810480"/>
                  </a:lnTo>
                  <a:lnTo>
                    <a:pt x="0" y="81048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6403" tIns="0" rIns="0" bIns="0" numCol="1" spcCol="1270" anchor="t" anchorCtr="0">
              <a:noAutofit/>
            </a:bodyPr>
            <a:lstStyle/>
            <a:p>
              <a:pPr marL="0" lvl="0" indent="0" algn="l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000" kern="1200"/>
                <a:t>PHE</a:t>
              </a:r>
              <a:endParaRPr lang="zh-CN" altLang="en-US" sz="2000" kern="1200"/>
            </a:p>
            <a:p>
              <a:pPr marL="0" lvl="1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zh-CN" altLang="en-US" sz="1800" kern="120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961CBBE-5DCB-4305-BAFC-FC15095664DA}"/>
                </a:ext>
              </a:extLst>
            </p:cNvPr>
            <p:cNvSpPr/>
            <p:nvPr/>
          </p:nvSpPr>
          <p:spPr>
            <a:xfrm>
              <a:off x="3710631" y="1991087"/>
              <a:ext cx="217944" cy="217944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7F9EC718-65C3-4EA3-868D-7F8558281AF6}"/>
                </a:ext>
              </a:extLst>
            </p:cNvPr>
            <p:cNvSpPr/>
            <p:nvPr/>
          </p:nvSpPr>
          <p:spPr>
            <a:xfrm>
              <a:off x="3541475" y="2215999"/>
              <a:ext cx="2440228" cy="745229"/>
            </a:xfrm>
            <a:custGeom>
              <a:avLst/>
              <a:gdLst>
                <a:gd name="connsiteX0" fmla="*/ 0 w 2440228"/>
                <a:gd name="connsiteY0" fmla="*/ 0 h 745229"/>
                <a:gd name="connsiteX1" fmla="*/ 2440228 w 2440228"/>
                <a:gd name="connsiteY1" fmla="*/ 0 h 745229"/>
                <a:gd name="connsiteX2" fmla="*/ 2440228 w 2440228"/>
                <a:gd name="connsiteY2" fmla="*/ 745229 h 745229"/>
                <a:gd name="connsiteX3" fmla="*/ 0 w 2440228"/>
                <a:gd name="connsiteY3" fmla="*/ 745229 h 745229"/>
                <a:gd name="connsiteX4" fmla="*/ 0 w 2440228"/>
                <a:gd name="connsiteY4" fmla="*/ 0 h 745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40228" h="745229">
                  <a:moveTo>
                    <a:pt x="0" y="0"/>
                  </a:moveTo>
                  <a:lnTo>
                    <a:pt x="2440228" y="0"/>
                  </a:lnTo>
                  <a:lnTo>
                    <a:pt x="2440228" y="745229"/>
                  </a:lnTo>
                  <a:lnTo>
                    <a:pt x="0" y="7452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5484" tIns="0" rIns="0" bIns="0" numCol="1" spcCol="1270" anchor="t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400" kern="1200"/>
                <a:t>SWHE</a:t>
              </a:r>
              <a:endParaRPr lang="zh-CN" altLang="en-US" sz="2400" kern="1200"/>
            </a:p>
            <a:p>
              <a:pPr marL="0" lvl="1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zh-CN" altLang="en-US" sz="1800" kern="1200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2D842CC-43B1-4585-8E1B-B0A398E51298}"/>
                </a:ext>
              </a:extLst>
            </p:cNvPr>
            <p:cNvSpPr/>
            <p:nvPr/>
          </p:nvSpPr>
          <p:spPr>
            <a:xfrm>
              <a:off x="5903894" y="1439718"/>
              <a:ext cx="288776" cy="28877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2EA4FBF4-4991-46BD-BE5E-6A4104255D65}"/>
                </a:ext>
              </a:extLst>
            </p:cNvPr>
            <p:cNvSpPr/>
            <p:nvPr/>
          </p:nvSpPr>
          <p:spPr>
            <a:xfrm>
              <a:off x="5658445" y="1782782"/>
              <a:ext cx="3034701" cy="1093047"/>
            </a:xfrm>
            <a:custGeom>
              <a:avLst/>
              <a:gdLst>
                <a:gd name="connsiteX0" fmla="*/ 0 w 3034701"/>
                <a:gd name="connsiteY0" fmla="*/ 0 h 1093047"/>
                <a:gd name="connsiteX1" fmla="*/ 3034701 w 3034701"/>
                <a:gd name="connsiteY1" fmla="*/ 0 h 1093047"/>
                <a:gd name="connsiteX2" fmla="*/ 3034701 w 3034701"/>
                <a:gd name="connsiteY2" fmla="*/ 1093047 h 1093047"/>
                <a:gd name="connsiteX3" fmla="*/ 0 w 3034701"/>
                <a:gd name="connsiteY3" fmla="*/ 1093047 h 1093047"/>
                <a:gd name="connsiteX4" fmla="*/ 0 w 3034701"/>
                <a:gd name="connsiteY4" fmla="*/ 0 h 1093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4701" h="1093047">
                  <a:moveTo>
                    <a:pt x="0" y="0"/>
                  </a:moveTo>
                  <a:lnTo>
                    <a:pt x="3034701" y="0"/>
                  </a:lnTo>
                  <a:lnTo>
                    <a:pt x="3034701" y="1093047"/>
                  </a:lnTo>
                  <a:lnTo>
                    <a:pt x="0" y="1093047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3016" tIns="0" rIns="0" bIns="0" numCol="1" spcCol="1270" anchor="t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2800" kern="1200"/>
                <a:t>LFHE</a:t>
              </a:r>
              <a:endParaRPr lang="zh-CN" altLang="en-US" sz="2800" kern="120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81F6665-0468-4B79-9076-D68B7D146C1A}"/>
                </a:ext>
              </a:extLst>
            </p:cNvPr>
            <p:cNvSpPr/>
            <p:nvPr/>
          </p:nvSpPr>
          <p:spPr>
            <a:xfrm>
              <a:off x="8282905" y="1004674"/>
              <a:ext cx="386851" cy="386851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0A6D65D6-2BB9-472D-ABB5-FD2A3B897962}"/>
                </a:ext>
              </a:extLst>
            </p:cNvPr>
            <p:cNvSpPr/>
            <p:nvPr/>
          </p:nvSpPr>
          <p:spPr>
            <a:xfrm>
              <a:off x="8381360" y="1335493"/>
              <a:ext cx="3067688" cy="1222391"/>
            </a:xfrm>
            <a:custGeom>
              <a:avLst/>
              <a:gdLst>
                <a:gd name="connsiteX0" fmla="*/ 0 w 3067688"/>
                <a:gd name="connsiteY0" fmla="*/ 0 h 1222391"/>
                <a:gd name="connsiteX1" fmla="*/ 3067688 w 3067688"/>
                <a:gd name="connsiteY1" fmla="*/ 0 h 1222391"/>
                <a:gd name="connsiteX2" fmla="*/ 3067688 w 3067688"/>
                <a:gd name="connsiteY2" fmla="*/ 1222391 h 1222391"/>
                <a:gd name="connsiteX3" fmla="*/ 0 w 3067688"/>
                <a:gd name="connsiteY3" fmla="*/ 1222391 h 1222391"/>
                <a:gd name="connsiteX4" fmla="*/ 0 w 3067688"/>
                <a:gd name="connsiteY4" fmla="*/ 0 h 1222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7688" h="1222391">
                  <a:moveTo>
                    <a:pt x="0" y="0"/>
                  </a:moveTo>
                  <a:lnTo>
                    <a:pt x="3067688" y="0"/>
                  </a:lnTo>
                  <a:lnTo>
                    <a:pt x="3067688" y="1222391"/>
                  </a:lnTo>
                  <a:lnTo>
                    <a:pt x="0" y="1222391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04984" tIns="0" rIns="0" bIns="0" numCol="1" spcCol="1270" anchor="t" anchorCtr="0">
              <a:noAutofit/>
            </a:bodyPr>
            <a:lstStyle/>
            <a:p>
              <a:pPr marL="0" lvl="0" indent="0" algn="l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altLang="zh-CN" sz="3600" kern="1200"/>
                <a:t>TFHE/FHEW</a:t>
              </a:r>
              <a:endParaRPr lang="zh-CN" altLang="en-US" sz="3600" kern="1200"/>
            </a:p>
            <a:p>
              <a:pPr marL="0" lvl="1" algn="l" defTabSz="800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zh-CN" altLang="en-US" sz="18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850487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5C256-5D06-22E2-8CA9-5EE112B3E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33B4F-2B73-19ED-3F0D-6782D464E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Papers/Resources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FAEFFD1-7269-EC3A-853D-38212FCA8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44623"/>
          </a:xfrm>
        </p:spPr>
        <p:txBody>
          <a:bodyPr>
            <a:normAutofit lnSpcReduction="10000"/>
          </a:bodyPr>
          <a:lstStyle/>
          <a:p>
            <a:r>
              <a:rPr lang="en-US" altLang="zh-CN"/>
              <a:t>FV12 </a:t>
            </a:r>
            <a:r>
              <a:rPr lang="en-US" altLang="zh-CN">
                <a:hlinkClick r:id="rId3"/>
              </a:rPr>
              <a:t>Somewhat Practical Fully Homomorphic Encryption</a:t>
            </a:r>
            <a:endParaRPr lang="en-US" altLang="zh-CN"/>
          </a:p>
          <a:p>
            <a:r>
              <a:rPr lang="en-US" altLang="zh-CN"/>
              <a:t>(2012/099): </a:t>
            </a:r>
            <a:r>
              <a:rPr lang="en-US" altLang="zh-CN">
                <a:hlinkClick r:id="rId4"/>
              </a:rPr>
              <a:t>Homomorphic Evaluation of the AES Circuit</a:t>
            </a:r>
            <a:endParaRPr lang="en-US" altLang="zh-CN"/>
          </a:p>
          <a:p>
            <a:r>
              <a:rPr lang="en-US" altLang="zh-CN"/>
              <a:t>(2021/204)</a:t>
            </a:r>
            <a:r>
              <a:rPr lang="zh-CN" altLang="en-US"/>
              <a:t>：</a:t>
            </a:r>
            <a:r>
              <a:rPr lang="en-US" altLang="zh-CN">
                <a:hlinkClick r:id="rId5"/>
              </a:rPr>
              <a:t>Revisiting Homomorphic Encryption Schemes for Finite Fields</a:t>
            </a:r>
            <a:endParaRPr lang="en-US" altLang="zh-CN"/>
          </a:p>
          <a:p>
            <a:r>
              <a:rPr lang="en-US" altLang="zh-CN"/>
              <a:t>OpenFHE: </a:t>
            </a:r>
            <a:r>
              <a:rPr lang="en-US" altLang="zh-CN">
                <a:hlinkClick r:id="rId6"/>
              </a:rPr>
              <a:t>github: openfheorg/openfhe-development</a:t>
            </a:r>
            <a:endParaRPr lang="en-US" altLang="zh-CN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Related:</a:t>
            </a:r>
          </a:p>
          <a:p>
            <a:r>
              <a:rPr lang="en-US" altLang="zh-CN"/>
              <a:t>CKKS17</a:t>
            </a:r>
            <a:r>
              <a:rPr lang="zh-CN" altLang="en-US"/>
              <a:t>：</a:t>
            </a:r>
            <a:r>
              <a:rPr lang="en-US" altLang="zh-CN">
                <a:hlinkClick r:id="rId7"/>
              </a:rPr>
              <a:t>Homomorphic Encryption for Arithmetic of Approximate Numbers</a:t>
            </a:r>
            <a:endParaRPr lang="en-US" altLang="zh-CN"/>
          </a:p>
          <a:p>
            <a:r>
              <a:rPr lang="en-US" altLang="zh-CN"/>
              <a:t>MP21</a:t>
            </a:r>
            <a:r>
              <a:rPr lang="zh-CN" altLang="en-US"/>
              <a:t>：</a:t>
            </a:r>
            <a:r>
              <a:rPr lang="en-US" altLang="zh-CN">
                <a:hlinkClick r:id="rId8"/>
              </a:rPr>
              <a:t> Bootstrapping in FHEW-like Cryptosystems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33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CD1C8-0D3F-CC0D-A175-1937C380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E578A-664E-BAAB-A049-9B4F7C35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Source Code: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6E0FE9A-652B-6C53-FAA0-EC0A8AB8F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: </a:t>
            </a:r>
            <a:r>
              <a:rPr lang="en-US" altLang="zh-CN">
                <a:hlinkClick r:id="rId3"/>
              </a:rPr>
              <a:t>MyCPlusPlus - LeetCode Playground</a:t>
            </a:r>
            <a:r>
              <a:rPr lang="en-US" altLang="zh-CN"/>
              <a:t> </a:t>
            </a:r>
            <a:r>
              <a:rPr lang="en-US" altLang="zh-CN" b="1">
                <a:latin typeface="微软雅黑 Light" panose="020B0502040204020203" charset="-122"/>
                <a:ea typeface="微软雅黑 Light" panose="020B0502040204020203" charset="-122"/>
              </a:rPr>
              <a:t>(</a:t>
            </a:r>
            <a:r>
              <a:rPr lang="en-US" altLang="zh-CN" b="1">
                <a:latin typeface="微软雅黑 Light" panose="020B0502040204020203" charset="-122"/>
                <a:ea typeface="微软雅黑 Light" panose="020B0502040204020203" charset="-122"/>
                <a:hlinkClick r:id="rId3"/>
              </a:rPr>
              <a:t>https://leetcode.cn/playground/rbCj7dfq/</a:t>
            </a:r>
            <a:r>
              <a:rPr lang="en-US" altLang="zh-CN" b="1">
                <a:latin typeface="微软雅黑 Light" panose="020B0502040204020203" charset="-122"/>
                <a:ea typeface="微软雅黑 Light" panose="020B0502040204020203" charset="-122"/>
              </a:rPr>
              <a:t>)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ADEB92D-0065-612B-476B-F8F627ED65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78220"/>
            <a:ext cx="12192000" cy="502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285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360" y="137160"/>
            <a:ext cx="10515600" cy="975995"/>
          </a:xfrm>
        </p:spPr>
        <p:txBody>
          <a:bodyPr/>
          <a:lstStyle/>
          <a:p>
            <a:pPr algn="l">
              <a:buClrTx/>
              <a:buSzTx/>
              <a:buFontTx/>
            </a:pPr>
            <a:endParaRPr lang="zh-CN" altLang="en-US" sz="4000">
              <a:solidFill>
                <a:schemeClr val="bg1"/>
              </a:solidFill>
              <a:sym typeface="+mn-ea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67360" y="4923155"/>
            <a:ext cx="3535045" cy="906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>
                <a:latin typeface="+mn-ea"/>
                <a:sym typeface="+mn-ea"/>
              </a:rPr>
              <a:t>Preliminaries</a:t>
            </a:r>
            <a:endParaRPr lang="zh-CN" altLang="en-US" sz="2800" dirty="0">
              <a:latin typeface="+mn-ea"/>
              <a:sym typeface="+mn-ea"/>
            </a:endParaRPr>
          </a:p>
        </p:txBody>
      </p:sp>
      <p:pic>
        <p:nvPicPr>
          <p:cNvPr id="14" name="图片 13" descr="16gl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60" y="2418715"/>
            <a:ext cx="1905000" cy="1905000"/>
          </a:xfrm>
          <a:prstGeom prst="rect">
            <a:avLst/>
          </a:prstGeom>
        </p:spPr>
      </p:pic>
      <p:pic>
        <p:nvPicPr>
          <p:cNvPr id="15" name="图片 14" descr="16gl-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2406650"/>
            <a:ext cx="1905000" cy="1905000"/>
          </a:xfrm>
          <a:prstGeom prst="rect">
            <a:avLst/>
          </a:prstGeom>
        </p:spPr>
      </p:pic>
      <p:pic>
        <p:nvPicPr>
          <p:cNvPr id="16" name="图片 15" descr="16gl-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9240" y="2406650"/>
            <a:ext cx="1905000" cy="190500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4439285" y="4923155"/>
            <a:ext cx="3535045" cy="906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algn="ctr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800" b="1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  <a:t>Implementations</a:t>
            </a:r>
            <a:endParaRPr lang="en-US" altLang="zh-CN" sz="2800" b="1" dirty="0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38185" y="4923155"/>
            <a:ext cx="3535045" cy="906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 sz="2800" i="0">
                <a:solidFill>
                  <a:srgbClr val="191B1F"/>
                </a:solidFill>
                <a:effectLst/>
                <a:latin typeface="+mn-ea"/>
              </a:rPr>
              <a:t>Future Works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4155440" y="1986915"/>
            <a:ext cx="0" cy="2880000"/>
          </a:xfrm>
          <a:prstGeom prst="line">
            <a:avLst/>
          </a:prstGeom>
          <a:effectLst>
            <a:outerShdw blurRad="76200" dist="50800" dir="5400000" algn="ctr" rotWithShape="0">
              <a:srgbClr val="000000">
                <a:alpha val="0"/>
              </a:srgbClr>
            </a:outerShdw>
            <a:reflection stA="45000" endPos="0" dist="736600" dir="5400000" sy="-100000" algn="bl" rotWithShape="0"/>
          </a:effec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8112125" y="2043430"/>
            <a:ext cx="0" cy="2880000"/>
          </a:xfrm>
          <a:prstGeom prst="line">
            <a:avLst/>
          </a:prstGeom>
          <a:effectLst>
            <a:outerShdw blurRad="76200" dist="50800" dir="5400000" algn="ctr" rotWithShape="0">
              <a:srgbClr val="000000">
                <a:alpha val="0"/>
              </a:srgbClr>
            </a:outerShdw>
            <a:reflection stA="45000" endPos="0" dist="736600" dir="5400000" sy="-100000" algn="bl" rotWithShape="0"/>
          </a:effec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2234C-3DC9-DBDD-A8F3-C0963274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EF571F-8E43-8490-6AF5-4AC66F410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16A7AE-7920-63FB-596B-D5ECCC0C7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1FF91FB8-B1ED-1079-B548-154EAFA3B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altLang="zh-CN">
                <a:solidFill>
                  <a:srgbClr val="016E7E"/>
                </a:solidFill>
              </a:rPr>
              <a:t>Part </a:t>
            </a:r>
            <a:br>
              <a:rPr lang="en-US" altLang="zh-CN">
                <a:solidFill>
                  <a:srgbClr val="016E7E"/>
                </a:solidFill>
              </a:rPr>
            </a:br>
            <a:r>
              <a:rPr lang="en-US" altLang="zh-CN"/>
              <a:t> </a:t>
            </a:r>
            <a:br>
              <a:rPr lang="en-US" altLang="zh-CN"/>
            </a:br>
            <a:r>
              <a:rPr lang="en-US" altLang="zh-CN"/>
              <a:t>                        </a:t>
            </a:r>
            <a:r>
              <a:rPr lang="en-US" altLang="zh-CN" sz="6000"/>
              <a:t>Preliminaries</a:t>
            </a:r>
            <a:endParaRPr lang="zh-CN" altLang="en-US"/>
          </a:p>
        </p:txBody>
      </p:sp>
      <p:pic>
        <p:nvPicPr>
          <p:cNvPr id="8" name="图片 7" descr="16gl-1">
            <a:extLst>
              <a:ext uri="{FF2B5EF4-FFF2-40B4-BE49-F238E27FC236}">
                <a16:creationId xmlns:a16="http://schemas.microsoft.com/office/drawing/2014/main" id="{B9D2B4FA-1376-B0A7-C9F4-642403978D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798" y="2074622"/>
            <a:ext cx="622004" cy="62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726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C8A38-C948-93B1-52E4-E2B1C893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0EE0A3-E0CE-E6F1-8C3C-8928A38D7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1.1 Polynomial Rings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3446C7A3-6953-7DFF-0768-2E3E5E7771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31089"/>
                <a:ext cx="10515600" cy="4845874"/>
              </a:xfrm>
            </p:spPr>
            <p:txBody>
              <a:bodyPr/>
              <a:lstStyle/>
              <a:p>
                <a:r>
                  <a:rPr lang="en-US" altLang="zh-CN"/>
                  <a:t>Let </a:t>
                </a:r>
                <a:r>
                  <a:rPr lang="en-US" altLang="zh-CN">
                    <a:latin typeface="Colonna MT" panose="04020805060202030203" pitchFamily="82" charset="0"/>
                  </a:rPr>
                  <a:t>Z</a:t>
                </a:r>
                <a:r>
                  <a:rPr lang="en-US" altLang="zh-CN"/>
                  <a:t> be the ring of integers</a:t>
                </a:r>
              </a:p>
              <a:p>
                <a:r>
                  <a:rPr lang="en-US" altLang="zh-CN"/>
                  <a:t>and </a:t>
                </a:r>
                <a:r>
                  <a:rPr lang="en-US" altLang="zh-CN">
                    <a:latin typeface="Colonna MT" panose="04020805060202030203" pitchFamily="82" charset="0"/>
                  </a:rPr>
                  <a:t>Z</a:t>
                </a:r>
                <a:r>
                  <a:rPr lang="en-US" altLang="zh-CN" baseline="-25000"/>
                  <a:t>q</a:t>
                </a:r>
                <a:r>
                  <a:rPr lang="en-US" altLang="zh-CN"/>
                  <a:t> be the integer ring modulo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/>
              </a:p>
              <a:p>
                <a:r>
                  <a:rPr lang="en-US" altLang="zh-CN">
                    <a:latin typeface="Colonna MT" panose="04020805060202030203" pitchFamily="82" charset="0"/>
                  </a:rPr>
                  <a:t>Z</a:t>
                </a:r>
                <a:r>
                  <a:rPr lang="en-US" altLang="zh-CN"/>
                  <a:t>[x] to denote the polynomial ring in the variable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/>
                  <a:t> with integer coefficients</a:t>
                </a:r>
              </a:p>
              <a:p>
                <a:r>
                  <a:rPr lang="en-US" altLang="zh-CN">
                    <a:latin typeface="Colonna MT" panose="04020805060202030203" pitchFamily="82" charset="0"/>
                  </a:rPr>
                  <a:t>Z</a:t>
                </a:r>
                <a:r>
                  <a:rPr lang="en-US" altLang="zh-CN" baseline="-25000"/>
                  <a:t>q</a:t>
                </a:r>
                <a:r>
                  <a:rPr lang="en-US" altLang="zh-CN"/>
                  <a:t>[x] to denote the polynomial ring with coefficients in </a:t>
                </a:r>
                <a:r>
                  <a:rPr lang="en-US" altLang="zh-CN">
                    <a:latin typeface="Colonna MT" panose="04020805060202030203" pitchFamily="82" charset="0"/>
                  </a:rPr>
                  <a:t>Z</a:t>
                </a:r>
                <a:r>
                  <a:rPr lang="en-US" altLang="zh-CN" baseline="-25000"/>
                  <a:t>q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]/(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altLang="zh-CN"/>
                  <a:t>, usually take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CN" i="1"/>
              </a:p>
              <a:p>
                <a:endParaRPr lang="en-US" altLang="zh-CN" baseline="-25000"/>
              </a:p>
              <a:p>
                <a:pPr marL="0" indent="0">
                  <a:buNone/>
                </a:pPr>
                <a:endParaRPr lang="en-US" altLang="zh-CN" baseline="-25000"/>
              </a:p>
              <a:p>
                <a:endParaRPr lang="zh-CN" altLang="en-US"/>
              </a:p>
            </p:txBody>
          </p:sp>
        </mc:Choice>
        <mc:Fallback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3446C7A3-6953-7DFF-0768-2E3E5E7771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31089"/>
                <a:ext cx="10515600" cy="4845874"/>
              </a:xfrm>
              <a:blipFill>
                <a:blip r:embed="rId3"/>
                <a:stretch>
                  <a:fillRect l="-1043" t="-25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BC00503A-61EB-E4FF-674D-AD8E1EFBC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54" y="4338083"/>
            <a:ext cx="10520246" cy="209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81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4306A-73FD-DFA3-2EB0-5C321619B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5A3FD2-4C73-434A-4B32-7D6CCE1F8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1.1 Presentations of Polynomial Rings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6699FC2-EBF6-F014-C0D2-0EE6614CD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Coefficient Representation</a:t>
            </a:r>
          </a:p>
          <a:p>
            <a:r>
              <a:rPr lang="en-US" altLang="zh-CN"/>
              <a:t>Value Presentatation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146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608BD-968D-F2D6-52AB-ADA6ACB18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07D653-CA5A-4623-3ECA-2F125450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r>
              <a:rPr lang="en-US" altLang="zh-CN">
                <a:solidFill>
                  <a:schemeClr val="bg1"/>
                </a:solidFill>
                <a:sym typeface="+mn-ea"/>
              </a:rPr>
              <a:t>1.2 Polynomial Multiplication (Schoolbook)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D2AEE80A-106D-3D6A-898B-B2B02627DE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/>
                  <a:t>Given two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/>
                  <a:t>-coefficient polynomials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/>
                  <a:t>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/>
                  <a:t>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/>
              </a:p>
              <a:p>
                <a:r>
                  <a:rPr lang="en-US" altLang="zh-CN"/>
                  <a:t>The multiplication is defined as:</a:t>
                </a:r>
              </a:p>
            </p:txBody>
          </p:sp>
        </mc:Choice>
        <mc:Fallback xmlns="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D2AEE80A-106D-3D6A-898B-B2B02627D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AB7D16E9-31BA-6CD5-78E0-C789F8981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684" y="3211099"/>
            <a:ext cx="7194696" cy="349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6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6309C-27CD-B9D8-E749-DB704D06B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DFDAE-1BFF-1CFE-0B35-A4CA5E861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1.3 FFT / NTT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8D8D668-1DC7-73FF-77A6-52AB6D4E6C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/>
                  <a:t>Fast Fourier Transform (FFT)</a:t>
                </a:r>
              </a:p>
              <a:p>
                <a:pPr lvl="1"/>
                <a:r>
                  <a:rPr lang="en-US" altLang="zh-CN"/>
                  <a:t>Resource: </a:t>
                </a:r>
                <a:r>
                  <a:rPr lang="en-US" altLang="zh-CN">
                    <a:hlinkClick r:id="rId3"/>
                  </a:rPr>
                  <a:t>https://www.bilibili.com/video/BV1ee411c7B7</a:t>
                </a:r>
                <a:endParaRPr lang="en-US" altLang="zh-CN"/>
              </a:p>
              <a:p>
                <a:pPr lvl="1"/>
                <a:r>
                  <a:rPr lang="en-US" altLang="zh-CN"/>
                  <a:t>Why</a:t>
                </a:r>
              </a:p>
              <a:p>
                <a:pPr lvl="1"/>
                <a:r>
                  <a:rPr lang="en-US" altLang="zh-CN"/>
                  <a:t>How</a:t>
                </a:r>
              </a:p>
              <a:p>
                <a:r>
                  <a:rPr lang="en-US" altLang="zh-CN"/>
                  <a:t>Number-Theoretic Transform, NTT</a:t>
                </a:r>
              </a:p>
              <a:p>
                <a:pPr lvl="1"/>
                <a:r>
                  <a:rPr lang="en-US" altLang="zh-CN"/>
                  <a:t>Just FFT, but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More restrictions</a:t>
                </a:r>
                <a:endParaRPr lang="zh-CN" altLang="en-US"/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8D8D668-1DC7-73FF-77A6-52AB6D4E6C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891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B2BE3-178E-FD51-B9D6-1FBF7FAC5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5F48EF-EF2E-5A03-61EB-5F826D0D5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1.3 NTT: Primitive root of unity 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FA468B65-ADBF-E667-8BBE-7DD695A0F9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8740" y="1825625"/>
                <a:ext cx="10854520" cy="4351338"/>
              </a:xfrm>
            </p:spPr>
            <p:txBody>
              <a:bodyPr/>
              <a:lstStyle/>
              <a:p>
                <a:r>
                  <a:rPr lang="en-US" altLang="zh-CN"/>
                  <a:t>An element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altLang="zh-CN"/>
                  <a:t>is a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/>
                  <a:t>-th (with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altLang="zh-CN"/>
                  <a:t>) root of unity 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≡ 1 </m:t>
                    </m:r>
                    <m:r>
                      <m:rPr>
                        <m:sty m:val="p"/>
                      </m:rPr>
                      <a:rPr lang="en-US" altLang="zh-CN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/>
                  <a:t>.</a:t>
                </a:r>
              </a:p>
              <a:p>
                <a:r>
                  <a:rPr lang="en-US" altLang="zh-CN"/>
                  <a:t>It is a </a:t>
                </a:r>
                <a:r>
                  <a:rPr lang="en-US" altLang="zh-CN" b="1"/>
                  <a:t>primitive</a:t>
                </a:r>
                <a:r>
                  <a:rPr lang="en-US" altLang="zh-CN"/>
                  <a:t> root of unity, if there is no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′&lt;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/>
                  <a:t>, s.t.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≡1 </m:t>
                    </m:r>
                    <m:r>
                      <m:rPr>
                        <m:sty m:val="p"/>
                      </m:rPr>
                      <a:rPr lang="en-US" altLang="zh-CN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/>
              </a:p>
              <a:p>
                <a:r>
                  <a:rPr lang="en-US" altLang="zh-CN"/>
                  <a:t>A primitive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/>
                  <a:t>-th root of unity exists only if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∣(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altLang="zh-CN"/>
                  <a:t> </a:t>
                </a:r>
                <a:br>
                  <a:rPr lang="en-US" altLang="zh-CN"/>
                </a:br>
                <a:r>
                  <a:rPr lang="en-US" altLang="zh-CN"/>
                  <a:t>(or more generally, it only exists if </a:t>
                </a:r>
                <a:r>
                  <a:rPr lang="en-US" altLang="zh-CN" i="1"/>
                  <a:t>k</a:t>
                </a:r>
                <a:r>
                  <a:rPr lang="en-US" altLang="zh-CN"/>
                  <a:t> divides the order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altLang="zh-CN"/>
                  <a:t>.)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/>
                  <a:t> denotes a primitive </a:t>
                </a:r>
                <a:r>
                  <a:rPr lang="en-US" altLang="zh-CN" i="1"/>
                  <a:t>k</a:t>
                </a:r>
                <a:r>
                  <a:rPr lang="en-US" altLang="zh-CN"/>
                  <a:t>-th root of unity</a:t>
                </a:r>
              </a:p>
              <a:p>
                <a:endParaRPr lang="en-US" altLang="zh-CN"/>
              </a:p>
              <a:p>
                <a:endParaRPr lang="zh-CN" altLang="en-US"/>
              </a:p>
            </p:txBody>
          </p:sp>
        </mc:Choice>
        <mc:Fallback xmlns="">
          <p:sp>
            <p:nvSpPr>
              <p:cNvPr id="7" name="内容占位符 6">
                <a:extLst>
                  <a:ext uri="{FF2B5EF4-FFF2-40B4-BE49-F238E27FC236}">
                    <a16:creationId xmlns:a16="http://schemas.microsoft.com/office/drawing/2014/main" id="{FA468B65-ADBF-E667-8BBE-7DD695A0F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740" y="1825625"/>
                <a:ext cx="10854520" cy="4351338"/>
              </a:xfrm>
              <a:blipFill>
                <a:blip r:embed="rId3"/>
                <a:stretch>
                  <a:fillRect l="-1011" t="-1821" r="-20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07959AC-FF06-C751-7141-D72A67F0A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567" y="4421875"/>
            <a:ext cx="10426866" cy="194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257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329A4-FBA1-8154-12D6-5EF943EA9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BEFB26-7DF8-42D2-49BD-E37E50E69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1.3 Number-Theoretic Transform (NTT)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234D8584-3801-57A6-58B1-D0A4FFCA8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81826" y="2169993"/>
            <a:ext cx="11228348" cy="2243232"/>
          </a:xfrm>
        </p:spPr>
      </p:pic>
    </p:spTree>
    <p:extLst>
      <p:ext uri="{BB962C8B-B14F-4D97-AF65-F5344CB8AC3E}">
        <p14:creationId xmlns:p14="http://schemas.microsoft.com/office/powerpoint/2010/main" val="36691070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10D6D-30D2-B33D-BEF5-974DA0C2B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86E16-12E3-524F-38BA-77E691B07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1.3 Compute NTT and NTT</a:t>
            </a:r>
            <a:r>
              <a:rPr lang="en-US" altLang="zh-CN" baseline="30000">
                <a:solidFill>
                  <a:schemeClr val="bg1"/>
                </a:solidFill>
                <a:sym typeface="+mn-ea"/>
              </a:rPr>
              <a:t>-1</a:t>
            </a:r>
            <a:endParaRPr lang="zh-CN" altLang="en-US" sz="4400" baseline="300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F5BBCAD-EB81-FC17-4AE0-3443FF0474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84635" y="1282890"/>
            <a:ext cx="9822730" cy="5436808"/>
          </a:xfrm>
        </p:spPr>
      </p:pic>
    </p:spTree>
    <p:extLst>
      <p:ext uri="{BB962C8B-B14F-4D97-AF65-F5344CB8AC3E}">
        <p14:creationId xmlns:p14="http://schemas.microsoft.com/office/powerpoint/2010/main" val="31694476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6041F-8B82-54CF-FDB1-6D111D27B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2B2E12-09A4-347B-C6DC-AF22BB4F2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1.3 NTT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F2F3604-0D10-8314-C1A2-205012005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Pros</a:t>
            </a:r>
          </a:p>
          <a:p>
            <a:pPr lvl="1"/>
            <a:r>
              <a:rPr lang="en-US" altLang="zh-CN"/>
              <a:t>Efficient</a:t>
            </a:r>
          </a:p>
          <a:p>
            <a:r>
              <a:rPr lang="en-US" altLang="zh-CN"/>
              <a:t>Cons (Limitations)</a:t>
            </a:r>
          </a:p>
          <a:p>
            <a:pPr lvl="1"/>
            <a:r>
              <a:rPr lang="en-US" altLang="zh-CN"/>
              <a:t>For given n, only certain primes can be used</a:t>
            </a:r>
          </a:p>
          <a:p>
            <a:pPr lvl="2"/>
            <a:r>
              <a:rPr lang="en-US" altLang="zh-CN"/>
              <a:t>E.g. n=4, only 17, 41, 73, 89, 97 has primitive roots (8 | p – 1)</a:t>
            </a:r>
          </a:p>
          <a:p>
            <a:pPr lvl="1"/>
            <a:r>
              <a:rPr lang="en-US" altLang="zh-CN"/>
              <a:t>Calculation complexity is high when </a:t>
            </a:r>
            <a:r>
              <a:rPr lang="en-US" altLang="zh-CN" i="1"/>
              <a:t>p</a:t>
            </a:r>
            <a:r>
              <a:rPr lang="en-US" altLang="zh-CN"/>
              <a:t> is big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717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94950-73D4-103E-F96A-14FC39FF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617F3-9590-19B1-B93A-2225D5BFE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1.4 Chinese Remainder Theorem, CRT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DB1D963-D0D1-9DBD-27BC-3BE7921D4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b="1"/>
              <a:t>CRT Core Idea:</a:t>
            </a:r>
            <a:endParaRPr lang="en-US" altLang="zh-CN"/>
          </a:p>
          <a:p>
            <a:pPr lvl="1"/>
            <a:r>
              <a:rPr lang="en-US" altLang="zh-CN"/>
              <a:t>For a composite modulus M = m₁ * m₂ * ... * mₖ where all mᵢ are pairwise co-prime, the ring Z_M is isomorphic to the direct product ring Z_m₁ × Z_m₂ × ... × Z_mₖ.</a:t>
            </a:r>
          </a:p>
          <a:p>
            <a:pPr lvl="1"/>
            <a:r>
              <a:rPr lang="en-US" altLang="zh-CN"/>
              <a:t>A large integer a mod M can be uniquely represented by a tuple of smaller residues (a mod m₁, a mod m₂, ..., a mod mₖ).</a:t>
            </a:r>
          </a:p>
          <a:p>
            <a:r>
              <a:rPr lang="en-US" altLang="zh-CN" b="1"/>
              <a:t>Residue Number System (RNS):</a:t>
            </a:r>
            <a:endParaRPr lang="en-US" altLang="zh-CN"/>
          </a:p>
          <a:p>
            <a:pPr lvl="1"/>
            <a:r>
              <a:rPr lang="en-US" altLang="zh-CN"/>
              <a:t>A practical application of CRT that decomposes large-integer arithmetic into multiple parallel small-modulus computations.</a:t>
            </a:r>
          </a:p>
          <a:p>
            <a:pPr lvl="1"/>
            <a:r>
              <a:rPr lang="en-US" altLang="zh-CN" b="1"/>
              <a:t>Advantages:</a:t>
            </a:r>
            <a:r>
              <a:rPr lang="en-US" altLang="zh-CN"/>
              <a:t> Eliminates costly carry propagation, enables massive parallelism, and is highly amenable to hardware acceleration.</a:t>
            </a:r>
          </a:p>
        </p:txBody>
      </p:sp>
    </p:spTree>
    <p:extLst>
      <p:ext uri="{BB962C8B-B14F-4D97-AF65-F5344CB8AC3E}">
        <p14:creationId xmlns:p14="http://schemas.microsoft.com/office/powerpoint/2010/main" val="328871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D7BB8-7FC9-432D-86D7-590D90330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4088A-CA67-B8D6-0B1F-57656FB9C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1.5 Ring Learning With Errors (RLWE)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D2D0108-FBF2-6B88-5D90-585CF3AD2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b="1"/>
              <a:t>RLWE Problem Definition:</a:t>
            </a:r>
            <a:endParaRPr lang="en-US" altLang="zh-CN"/>
          </a:p>
          <a:p>
            <a:pPr lvl="1"/>
            <a:r>
              <a:rPr lang="en-US" altLang="zh-CN"/>
              <a:t>Let Φ(x) be an irreducible polynomial (typically xᴺ + 1, where N is a power of two), defining the quotient ring R_q = Z_q[x] / (Φ(x)).</a:t>
            </a:r>
          </a:p>
          <a:p>
            <a:pPr lvl="1"/>
            <a:r>
              <a:rPr lang="en-US" altLang="zh-CN" b="1"/>
              <a:t>Secret s(x):</a:t>
            </a:r>
            <a:r>
              <a:rPr lang="en-US" altLang="zh-CN"/>
              <a:t> Sampled from a "small" error distribution (e.g., discrete Gaussian).</a:t>
            </a:r>
          </a:p>
          <a:p>
            <a:pPr lvl="1"/>
            <a:r>
              <a:rPr lang="en-US" altLang="zh-CN" b="1"/>
              <a:t>Challenge:</a:t>
            </a:r>
            <a:r>
              <a:rPr lang="en-US" altLang="zh-CN"/>
              <a:t> Distinguish between:</a:t>
            </a:r>
          </a:p>
          <a:p>
            <a:pPr lvl="2"/>
            <a:r>
              <a:rPr lang="en-US" altLang="zh-CN" b="1"/>
              <a:t>RLWE samples:</a:t>
            </a:r>
            <a:r>
              <a:rPr lang="en-US" altLang="zh-CN"/>
              <a:t> (aᵢ(x), bᵢ(x) = aᵢ(x) * s(x) + eᵢ(x)), where aᵢ(x) is uniform in R_q and eᵢ(x) is a small error.</a:t>
            </a:r>
          </a:p>
          <a:p>
            <a:pPr lvl="2"/>
            <a:r>
              <a:rPr lang="en-US" altLang="zh-CN" b="1"/>
              <a:t>Uniform random samples:</a:t>
            </a:r>
            <a:r>
              <a:rPr lang="en-US" altLang="zh-CN"/>
              <a:t> (uᵢ(x), vᵢ(x)), uniform in R_q × R_q.</a:t>
            </a:r>
          </a:p>
          <a:p>
            <a:r>
              <a:rPr lang="en-US" altLang="zh-CN" b="1"/>
              <a:t>Security Basis:</a:t>
            </a:r>
            <a:r>
              <a:rPr lang="en-US" altLang="zh-CN"/>
              <a:t> The hardness of the RLWE problem is based on worst-case hardness assumptions of lattice problems (e.g., Shortest Vector Problem), making it a leading candidate for post-quantum security .</a:t>
            </a:r>
          </a:p>
          <a:p>
            <a:r>
              <a:rPr lang="en-US" altLang="zh-CN" b="1"/>
              <a:t>Application in BFV:</a:t>
            </a:r>
            <a:r>
              <a:rPr lang="en-US" altLang="zh-CN"/>
              <a:t> The entire security of the BFV scheme is formally reduced to the hardness of the RLWE problem. Key and ciphertext structures are derived directly from this assumption.</a:t>
            </a:r>
          </a:p>
        </p:txBody>
      </p:sp>
    </p:spTree>
    <p:extLst>
      <p:ext uri="{BB962C8B-B14F-4D97-AF65-F5344CB8AC3E}">
        <p14:creationId xmlns:p14="http://schemas.microsoft.com/office/powerpoint/2010/main" val="32868196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CBB13-0191-CA00-EEB4-90A84271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B24591-EA5E-7B66-5C38-EE67D61F9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B8384C-7536-5A6D-FCAF-7114A5CE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528DBD25-9F54-9691-6E32-A46AEDCF3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>
            <a:normAutofit fontScale="90000"/>
          </a:bodyPr>
          <a:lstStyle/>
          <a:p>
            <a:r>
              <a:rPr lang="en-US" altLang="zh-CN">
                <a:solidFill>
                  <a:srgbClr val="016E7E"/>
                </a:solidFill>
              </a:rPr>
              <a:t>Part </a:t>
            </a:r>
            <a:br>
              <a:rPr lang="en-US" altLang="zh-CN">
                <a:solidFill>
                  <a:srgbClr val="016E7E"/>
                </a:solidFill>
              </a:rPr>
            </a:br>
            <a:r>
              <a:rPr lang="en-US" altLang="zh-CN"/>
              <a:t> </a:t>
            </a:r>
            <a:br>
              <a:rPr lang="en-US" altLang="zh-CN"/>
            </a:br>
            <a:r>
              <a:rPr lang="en-US" altLang="zh-CN"/>
              <a:t> </a:t>
            </a:r>
            <a:br>
              <a:rPr lang="en-US" altLang="zh-CN"/>
            </a:br>
            <a:r>
              <a:rPr lang="en-US" altLang="zh-CN"/>
              <a:t>                       </a:t>
            </a:r>
            <a:r>
              <a:rPr lang="en-US" altLang="zh-CN" sz="6000"/>
              <a:t>Implementations</a:t>
            </a:r>
            <a:br>
              <a:rPr lang="en-US" altLang="zh-CN" sz="6000" b="1"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</a:rPr>
            </a:br>
            <a:endParaRPr lang="zh-CN" altLang="en-US"/>
          </a:p>
        </p:txBody>
      </p:sp>
      <p:pic>
        <p:nvPicPr>
          <p:cNvPr id="9" name="图片 8" descr="16gl-2">
            <a:extLst>
              <a:ext uri="{FF2B5EF4-FFF2-40B4-BE49-F238E27FC236}">
                <a16:creationId xmlns:a16="http://schemas.microsoft.com/office/drawing/2014/main" id="{E03F9929-005B-4979-9720-81BE2D165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737" y="1631360"/>
            <a:ext cx="622004" cy="622004"/>
          </a:xfrm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1F6147-2623-645C-26E4-91651B92050A}"/>
              </a:ext>
            </a:extLst>
          </p:cNvPr>
          <p:cNvSpPr txBox="1">
            <a:spLocks/>
          </p:cNvSpPr>
          <p:nvPr/>
        </p:nvSpPr>
        <p:spPr>
          <a:xfrm>
            <a:off x="831850" y="4589463"/>
            <a:ext cx="10515600" cy="21320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497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5ED62-E478-1B07-0B38-0AAB83FCC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DE62E-BB62-82D0-73A9-0D331110D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2.1 RLWE base scheme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4A53C14-8712-96A0-492C-2FC8B0BBDB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altLang="zh-CN"/>
                  <a:t>KeyGen</a:t>
                </a:r>
              </a:p>
              <a:p>
                <a:pPr lvl="1"/>
                <a:r>
                  <a:rPr lang="en-US" altLang="zh-CN"/>
                  <a:t>Generate a, s, e, output pk = (b=as+e, a), sk=s</a:t>
                </a:r>
              </a:p>
              <a:p>
                <a:r>
                  <a:rPr lang="en-US" altLang="zh-CN"/>
                  <a:t>Encrypt</a:t>
                </a:r>
              </a:p>
              <a:p>
                <a:pPr lvl="1"/>
                <a:r>
                  <a:rPr lang="en-US" altLang="zh-CN"/>
                  <a:t>Scaling: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Generate u, e</a:t>
                </a:r>
                <a:r>
                  <a:rPr lang="en-US" altLang="zh-CN" baseline="-25000"/>
                  <a:t>1</a:t>
                </a:r>
                <a:r>
                  <a:rPr lang="en-US" altLang="zh-CN"/>
                  <a:t>, e</a:t>
                </a:r>
                <a:r>
                  <a:rPr lang="en-US" altLang="zh-CN" baseline="-25000"/>
                  <a:t>2</a:t>
                </a:r>
                <a:r>
                  <a:rPr lang="en-US" altLang="zh-CN"/>
                  <a:t>, ct=(bu+ e</a:t>
                </a:r>
                <a:r>
                  <a:rPr lang="en-US" altLang="zh-CN" baseline="-25000"/>
                  <a:t>1 </a:t>
                </a:r>
                <a:r>
                  <a:rPr lang="en-US" altLang="zh-CN"/>
                  <a:t>+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altLang="zh-CN"/>
                  <a:t>, au+ e</a:t>
                </a:r>
                <a:r>
                  <a:rPr lang="en-US" altLang="zh-CN" baseline="-25000"/>
                  <a:t>2</a:t>
                </a:r>
                <a:r>
                  <a:rPr lang="en-US" altLang="zh-CN"/>
                  <a:t>)</a:t>
                </a:r>
              </a:p>
              <a:p>
                <a:r>
                  <a:rPr lang="en-US" altLang="zh-CN"/>
                  <a:t>Decrypt</a:t>
                </a:r>
              </a:p>
              <a:p>
                <a:pPr lvl="1"/>
                <a:r>
                  <a:rPr lang="en-US" altLang="zh-CN"/>
                  <a:t>De-scaling: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1/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m=(ct[0] + ct[1] * s) /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endParaRPr lang="en-US" altLang="zh-CN"/>
              </a:p>
              <a:p>
                <a:pPr lvl="1"/>
                <a:endParaRPr lang="en-US" altLang="zh-CN"/>
              </a:p>
              <a:p>
                <a:r>
                  <a:rPr lang="en-US" altLang="zh-CN"/>
                  <a:t>DCRT / NTT applied in above methods </a:t>
                </a:r>
                <a:endParaRPr lang="zh-CN" altLang="en-US"/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A4A53C14-8712-96A0-492C-2FC8B0BBDB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197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A556E-A2D3-F9D0-E59B-AD4B66FB0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5C5F1E-2F04-98B5-0AC0-12336357B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2.2 Eval_Add, Eval_Sub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948A3BB-444A-DD74-00A7-4696D4A53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ct_add = ct1 + ct2</a:t>
            </a:r>
          </a:p>
          <a:p>
            <a:r>
              <a:rPr lang="en-US" altLang="zh-CN"/>
              <a:t>ct_sub = ct1 - ct2</a:t>
            </a:r>
            <a:endParaRPr lang="zh-CN" altLang="en-US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9410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F0445-95C0-F71B-EF0A-CF2EBFD8E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3815F-E760-D88F-1A20-DCBD3F79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2.2 Eval_Mult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13F4620D-A7E8-7B39-99EB-4967CAD4C2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/>
                  <a:t>ctx = (ct1[0], ct1[1]) * (ct2[0], ct2[1]) /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endParaRPr lang="en-US" altLang="zh-CN"/>
              </a:p>
              <a:p>
                <a:pPr marL="0" indent="0">
                  <a:buNone/>
                </a:pPr>
                <a:r>
                  <a:rPr lang="en-US" altLang="zh-CN"/>
                  <a:t>	= (ctx[0], ctx[1], ctx[2])</a:t>
                </a:r>
              </a:p>
              <a:p>
                <a:r>
                  <a:rPr lang="en-US" altLang="zh-CN"/>
                  <a:t>Decrypt: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altLang="zh-CN"/>
                  <a:t> = ctx[0] + ctx[1] * s + ctx[2] * s</a:t>
                </a:r>
                <a:r>
                  <a:rPr lang="en-US" altLang="zh-CN" baseline="30000"/>
                  <a:t>2</a:t>
                </a:r>
              </a:p>
              <a:p>
                <a:pPr lvl="1"/>
                <a:endParaRPr lang="zh-CN" altLang="en-US"/>
              </a:p>
              <a:p>
                <a:endParaRPr lang="zh-CN" altLang="en-US"/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13F4620D-A7E8-7B39-99EB-4967CAD4C2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946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74B8B-17D4-563D-45CE-9DC479B85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62D2C-346E-D283-EDEC-EF27BACD1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2.2 Eval_Mult Prove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F3F72933-8784-8E90-2D01-217252F324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/>
                  <a:t>ct1=(B1+</a:t>
                </a:r>
                <a:r>
                  <a:rPr lang="el-GR" altLang="zh-CN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, A1), ct2=(B2+</a:t>
                </a:r>
                <a:r>
                  <a:rPr lang="el-GR" altLang="zh-CN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/>
                  <a:t>, A2), when B=As</a:t>
                </a:r>
              </a:p>
              <a:p>
                <a:r>
                  <a:rPr lang="en-US" altLang="zh-CN"/>
                  <a:t>ctx[0] = B1B2 +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zh-CN"/>
                  <a:t>(B1</a:t>
                </a:r>
                <a:r>
                  <a:rPr lang="el-GR" altLang="zh-CN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/>
                  <a:t>+B2</a:t>
                </a:r>
                <a:r>
                  <a:rPr lang="el-GR" altLang="zh-CN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) 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altLang="zh-CN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l-GR" altLang="zh-CN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/>
              </a:p>
              <a:p>
                <a:r>
                  <a:rPr lang="en-US" altLang="zh-CN"/>
                  <a:t>ctx[1] = A1B2 + A1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/>
                  <a:t> + A2B1 + A2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/>
              </a:p>
              <a:p>
                <a:r>
                  <a:rPr lang="en-US" altLang="zh-CN"/>
                  <a:t>ctx[2] = A1A2</a:t>
                </a:r>
              </a:p>
              <a:p>
                <a:pPr marL="0" indent="0">
                  <a:buNone/>
                </a:pPr>
                <a:r>
                  <a:rPr lang="en-US" altLang="zh-CN"/>
                  <a:t>	</a:t>
                </a:r>
              </a:p>
              <a:p>
                <a:pPr marL="0" indent="0">
                  <a:buNone/>
                </a:pPr>
                <a:r>
                  <a:rPr lang="en-US" altLang="zh-CN"/>
                  <a:t>Result: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altLang="zh-CN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l-GR" altLang="zh-CN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/>
                  <a:t>= ctx[0] + ctx[1] * s + ctx[2] * s</a:t>
                </a:r>
                <a:r>
                  <a:rPr lang="en-US" altLang="zh-CN" baseline="30000"/>
                  <a:t>2</a:t>
                </a:r>
              </a:p>
              <a:p>
                <a:pPr lvl="1"/>
                <a:endParaRPr lang="zh-CN" altLang="en-US"/>
              </a:p>
              <a:p>
                <a:endParaRPr lang="zh-CN" altLang="en-US"/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F3F72933-8784-8E90-2D01-217252F324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0319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F09E5-5595-5342-3587-EE9F50287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9BC002-1C15-F8E1-C378-A90B1ADF3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2.2  Eval Mult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AA4F04AD-B69E-1F0F-67EE-6AD361808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Problem: cannot use DCRT</a:t>
            </a:r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Need HPS/HPSPOVERQ/BEHZ etc..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C43FA71-10A9-C12E-A3CF-3648144DF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185" y="2436165"/>
            <a:ext cx="7571428" cy="2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964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7AE2B-99F3-2E63-1738-888F2406B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FF9B1-8340-63C1-E97B-E8EB85332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Relinearization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7B1882F-122C-3A80-DD41-59609E805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ctx = (ctx[0], ctx[1], ctx[2]) -&gt; (ctr[0], ctr[1])</a:t>
            </a:r>
          </a:p>
          <a:p>
            <a:r>
              <a:rPr lang="en-US" altLang="zh-CN"/>
              <a:t>Compute rlk:</a:t>
            </a:r>
          </a:p>
          <a:p>
            <a:endParaRPr lang="en-US" altLang="zh-CN"/>
          </a:p>
          <a:p>
            <a:r>
              <a:rPr lang="en-US" altLang="zh-CN"/>
              <a:t>Problem?</a:t>
            </a:r>
          </a:p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0ED3F89-FF2C-FA5E-5B77-CA3CB08258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7590" y="2896044"/>
            <a:ext cx="7857143" cy="37142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519DFF0-83AE-6C03-6B69-6AB361771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286" y="4001294"/>
            <a:ext cx="9571428" cy="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62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D755-D39F-DD1A-CA27-0CDC6EE0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ABD247-1ADB-27EC-746B-715CD569F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Relinearization: version1 vs version2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B43DDFD-1DE4-AA16-13E5-244CF4EFA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95396" y="1825625"/>
            <a:ext cx="900120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533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59F63-FF68-6F05-26ED-F22243C72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992206-AD6C-A4FC-B791-F82C334B4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6ED151-4D1B-C921-C362-92901ADA5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6C982A66-0438-B299-1237-03D8AE352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en-US" altLang="zh-CN">
                <a:solidFill>
                  <a:srgbClr val="016E7E"/>
                </a:solidFill>
              </a:rPr>
              <a:t>Part </a:t>
            </a:r>
            <a:br>
              <a:rPr lang="en-US" altLang="zh-CN">
                <a:solidFill>
                  <a:srgbClr val="016E7E"/>
                </a:solidFill>
              </a:rPr>
            </a:br>
            <a:r>
              <a:rPr lang="en-US" altLang="zh-CN"/>
              <a:t> </a:t>
            </a:r>
            <a:br>
              <a:rPr lang="en-US" altLang="zh-CN"/>
            </a:br>
            <a:r>
              <a:rPr lang="en-US" altLang="zh-CN"/>
              <a:t>                           Future Works</a:t>
            </a:r>
            <a:br>
              <a:rPr lang="en-US" altLang="zh-CN" sz="6000" i="0">
                <a:solidFill>
                  <a:srgbClr val="191B1F"/>
                </a:solidFill>
                <a:effectLst/>
                <a:latin typeface="-apple-system"/>
              </a:rPr>
            </a:br>
            <a:endParaRPr lang="zh-CN" altLang="en-US"/>
          </a:p>
        </p:txBody>
      </p:sp>
      <p:pic>
        <p:nvPicPr>
          <p:cNvPr id="3" name="图片 2" descr="16gl-3">
            <a:extLst>
              <a:ext uri="{FF2B5EF4-FFF2-40B4-BE49-F238E27FC236}">
                <a16:creationId xmlns:a16="http://schemas.microsoft.com/office/drawing/2014/main" id="{BD75769D-B8F4-3236-4682-691203D4C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218" y="1805274"/>
            <a:ext cx="622004" cy="622004"/>
          </a:xfrm>
          <a:prstGeom prst="rect">
            <a:avLst/>
          </a:prstGeom>
        </p:spPr>
      </p:pic>
      <p:sp>
        <p:nvSpPr>
          <p:cNvPr id="5" name="文本占位符 2">
            <a:extLst>
              <a:ext uri="{FF2B5EF4-FFF2-40B4-BE49-F238E27FC236}">
                <a16:creationId xmlns:a16="http://schemas.microsoft.com/office/drawing/2014/main" id="{D1FB75E9-0E92-FFB2-F4D8-9E018AEFA7A5}"/>
              </a:ext>
            </a:extLst>
          </p:cNvPr>
          <p:cNvSpPr txBox="1">
            <a:spLocks/>
          </p:cNvSpPr>
          <p:nvPr/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6355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5DD6B-23DE-2297-DF84-127A8F7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10540-814D-76A6-C266-338F1B7FE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30" y="284480"/>
            <a:ext cx="11977370" cy="683260"/>
          </a:xfrm>
        </p:spPr>
        <p:txBody>
          <a:bodyPr>
            <a:normAutofit fontScale="90000"/>
          </a:bodyPr>
          <a:lstStyle/>
          <a:p>
            <a:pPr algn="l">
              <a:buClrTx/>
              <a:buSzTx/>
              <a:buFontTx/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3 Future Works</a:t>
            </a:r>
            <a:endParaRPr lang="zh-CN" altLang="en-US" sz="4400">
              <a:solidFill>
                <a:schemeClr val="bg1"/>
              </a:solidFill>
              <a:sym typeface="+mn-ea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91B33E52-71B9-C1DF-7B7F-4AF3D1DE1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3613"/>
            <a:ext cx="10515600" cy="4351338"/>
          </a:xfrm>
        </p:spPr>
        <p:txBody>
          <a:bodyPr/>
          <a:lstStyle/>
          <a:p>
            <a:r>
              <a:rPr lang="en-US" altLang="zh-CN"/>
              <a:t>Relinearization</a:t>
            </a:r>
          </a:p>
          <a:p>
            <a:r>
              <a:rPr lang="en-US" altLang="zh-CN"/>
              <a:t>LeveledSHE</a:t>
            </a:r>
          </a:p>
          <a:p>
            <a:r>
              <a:rPr lang="en-US" altLang="zh-CN"/>
              <a:t>Bootstraping (TFHE/FHEW)</a:t>
            </a:r>
          </a:p>
          <a:p>
            <a:r>
              <a:rPr lang="en-US" altLang="zh-CN"/>
              <a:t>Theme switching (RLWE -&gt; LWE)</a:t>
            </a:r>
          </a:p>
        </p:txBody>
      </p:sp>
    </p:spTree>
    <p:extLst>
      <p:ext uri="{BB962C8B-B14F-4D97-AF65-F5344CB8AC3E}">
        <p14:creationId xmlns:p14="http://schemas.microsoft.com/office/powerpoint/2010/main" val="33411796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863850"/>
            <a:ext cx="10515600" cy="113030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zh-CN" sz="8000"/>
              <a:t>Thank You</a:t>
            </a:r>
            <a:endParaRPr lang="zh-CN" altLang="en-US" sz="800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1">
              <a:rPr lang="zh-CN" altLang="en-US" smtClean="0"/>
              <a:t>2025/11/3</a:t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Q0ODhkZjkzZjdhN2FkNzY2ZTU0OTAxOWVhOTUxNj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5028</TotalTime>
  <Words>1350</Words>
  <Application>Microsoft Office PowerPoint</Application>
  <PresentationFormat>宽屏</PresentationFormat>
  <Paragraphs>175</Paragraphs>
  <Slides>28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-apple-system</vt:lpstr>
      <vt:lpstr>等线</vt:lpstr>
      <vt:lpstr>思源黑体 Bold</vt:lpstr>
      <vt:lpstr>微软雅黑 Light</vt:lpstr>
      <vt:lpstr>Arial</vt:lpstr>
      <vt:lpstr>Calibri</vt:lpstr>
      <vt:lpstr>Cambria Math</vt:lpstr>
      <vt:lpstr>Colonna MT</vt:lpstr>
      <vt:lpstr>Times New Roman</vt:lpstr>
      <vt:lpstr>WPS</vt:lpstr>
      <vt:lpstr>PowerPoint 演示文稿</vt:lpstr>
      <vt:lpstr>PowerPoint 演示文稿</vt:lpstr>
      <vt:lpstr>PowerPoint 演示文稿</vt:lpstr>
      <vt:lpstr>Papers/Resources</vt:lpstr>
      <vt:lpstr>Source Code:</vt:lpstr>
      <vt:lpstr>PowerPoint 演示文稿</vt:lpstr>
      <vt:lpstr>Part                            Preliminaries</vt:lpstr>
      <vt:lpstr>1.1 Polynomial Rings</vt:lpstr>
      <vt:lpstr>1.1 Presentations of Polynomial Rings</vt:lpstr>
      <vt:lpstr>1.2 Polynomial Multiplication (Schoolbook)</vt:lpstr>
      <vt:lpstr>1.3 FFT / NTT</vt:lpstr>
      <vt:lpstr>1.3 NTT: Primitive root of unity </vt:lpstr>
      <vt:lpstr>1.3 Number-Theoretic Transform (NTT)</vt:lpstr>
      <vt:lpstr>1.3 Compute NTT and NTT-1</vt:lpstr>
      <vt:lpstr>1.3 NTT</vt:lpstr>
      <vt:lpstr>1.4 Chinese Remainder Theorem, CRT</vt:lpstr>
      <vt:lpstr>1.5 Ring Learning With Errors (RLWE)</vt:lpstr>
      <vt:lpstr>Part                             Implementations </vt:lpstr>
      <vt:lpstr>2.1 RLWE base scheme</vt:lpstr>
      <vt:lpstr>2.2 Eval_Add, Eval_Sub</vt:lpstr>
      <vt:lpstr>2.2 Eval_Mult</vt:lpstr>
      <vt:lpstr>2.2 Eval_Mult Prove</vt:lpstr>
      <vt:lpstr>2.2  Eval Mult</vt:lpstr>
      <vt:lpstr>2.3 Relinearization</vt:lpstr>
      <vt:lpstr>2.3 Relinearization: version1 vs version2</vt:lpstr>
      <vt:lpstr>Part                               Future Works </vt:lpstr>
      <vt:lpstr>3 Future Works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22861</dc:creator>
  <cp:lastModifiedBy>Cyril Huang</cp:lastModifiedBy>
  <cp:revision>43</cp:revision>
  <dcterms:created xsi:type="dcterms:W3CDTF">2023-08-09T12:44:00Z</dcterms:created>
  <dcterms:modified xsi:type="dcterms:W3CDTF">2025-11-03T10:56:08Z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2052-12.1.0.16929</vt:lpwstr>
  </property>
</Properties>
</file>