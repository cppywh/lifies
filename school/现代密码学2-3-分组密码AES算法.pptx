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6"/>
  </p:notesMasterIdLst>
  <p:sldIdLst>
    <p:sldId id="380" r:id="rId4"/>
    <p:sldId id="395" r:id="rId5"/>
    <p:sldId id="396" r:id="rId7"/>
    <p:sldId id="345" r:id="rId8"/>
    <p:sldId id="346" r:id="rId9"/>
    <p:sldId id="261" r:id="rId10"/>
    <p:sldId id="276" r:id="rId11"/>
    <p:sldId id="300" r:id="rId12"/>
    <p:sldId id="302" r:id="rId13"/>
    <p:sldId id="278" r:id="rId14"/>
    <p:sldId id="279" r:id="rId15"/>
    <p:sldId id="281" r:id="rId16"/>
    <p:sldId id="282" r:id="rId17"/>
    <p:sldId id="284" r:id="rId18"/>
    <p:sldId id="347" r:id="rId19"/>
    <p:sldId id="416" r:id="rId20"/>
    <p:sldId id="375" r:id="rId21"/>
    <p:sldId id="289" r:id="rId22"/>
    <p:sldId id="290" r:id="rId23"/>
    <p:sldId id="331" r:id="rId24"/>
    <p:sldId id="332" r:id="rId25"/>
    <p:sldId id="291" r:id="rId26"/>
    <p:sldId id="397" r:id="rId27"/>
    <p:sldId id="398" r:id="rId28"/>
    <p:sldId id="297" r:id="rId29"/>
    <p:sldId id="298" r:id="rId30"/>
    <p:sldId id="287" r:id="rId31"/>
    <p:sldId id="292" r:id="rId32"/>
    <p:sldId id="303" r:id="rId33"/>
    <p:sldId id="361" r:id="rId34"/>
    <p:sldId id="362" r:id="rId35"/>
    <p:sldId id="312" r:id="rId36"/>
    <p:sldId id="313" r:id="rId37"/>
    <p:sldId id="314" r:id="rId38"/>
    <p:sldId id="294" r:id="rId39"/>
    <p:sldId id="295" r:id="rId40"/>
    <p:sldId id="296" r:id="rId41"/>
    <p:sldId id="304" r:id="rId42"/>
    <p:sldId id="305" r:id="rId43"/>
    <p:sldId id="374" r:id="rId44"/>
    <p:sldId id="399" r:id="rId45"/>
    <p:sldId id="405" r:id="rId46"/>
    <p:sldId id="406" r:id="rId47"/>
    <p:sldId id="400" r:id="rId48"/>
    <p:sldId id="401" r:id="rId49"/>
    <p:sldId id="407" r:id="rId50"/>
    <p:sldId id="408" r:id="rId51"/>
    <p:sldId id="409" r:id="rId52"/>
    <p:sldId id="410" r:id="rId53"/>
    <p:sldId id="402" r:id="rId54"/>
    <p:sldId id="412" r:id="rId55"/>
    <p:sldId id="413" r:id="rId56"/>
    <p:sldId id="414" r:id="rId57"/>
    <p:sldId id="351" r:id="rId58"/>
    <p:sldId id="352" r:id="rId59"/>
    <p:sldId id="353" r:id="rId60"/>
    <p:sldId id="415" r:id="rId61"/>
    <p:sldId id="354" r:id="rId62"/>
    <p:sldId id="355" r:id="rId63"/>
    <p:sldId id="356" r:id="rId64"/>
    <p:sldId id="357" r:id="rId65"/>
    <p:sldId id="358" r:id="rId66"/>
    <p:sldId id="359" r:id="rId67"/>
    <p:sldId id="360" r:id="rId6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D9F5"/>
    <a:srgbClr val="F5C7C7"/>
    <a:srgbClr val="FFCC66"/>
    <a:srgbClr val="FF5050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81" autoAdjust="0"/>
    <p:restoredTop sz="82011" autoAdjust="0"/>
  </p:normalViewPr>
  <p:slideViewPr>
    <p:cSldViewPr showGuides="1">
      <p:cViewPr varScale="1">
        <p:scale>
          <a:sx n="132" d="100"/>
          <a:sy n="132" d="100"/>
        </p:scale>
        <p:origin x="28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3.xml"/><Relationship Id="rId69" Type="http://schemas.openxmlformats.org/officeDocument/2006/relationships/presProps" Target="presProps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11DA92-8296-4F4E-A29F-57A6E52376E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11DA92-8296-4F4E-A29F-57A6E52376E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9119ADC-270C-4319-B788-B1F559819A30}" type="slidenum">
              <a:rPr lang="en-US" altLang="zh-CN" smtClean="0"/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Rijdael</a:t>
            </a:r>
            <a:r>
              <a:rPr lang="zh-CN" altLang="en-US"/>
              <a:t>可变分组长度和可变密钥长度，长度可以是</a:t>
            </a:r>
            <a:r>
              <a:rPr lang="en-US" altLang="zh-CN"/>
              <a:t>32</a:t>
            </a:r>
            <a:r>
              <a:rPr lang="zh-CN" altLang="en-US"/>
              <a:t>的任意倍数；</a:t>
            </a:r>
            <a:r>
              <a:rPr lang="en-US" altLang="zh-CN"/>
              <a:t>AES</a:t>
            </a:r>
            <a:r>
              <a:rPr lang="zh-CN" altLang="en-US"/>
              <a:t>分组固定，密钥长度</a:t>
            </a:r>
            <a:r>
              <a:rPr lang="en-US" altLang="zh-CN"/>
              <a:t>128</a:t>
            </a:r>
            <a:r>
              <a:rPr lang="zh-CN" altLang="en-US"/>
              <a:t>，</a:t>
            </a:r>
            <a:r>
              <a:rPr lang="en-US" altLang="zh-CN"/>
              <a:t>192</a:t>
            </a:r>
            <a:r>
              <a:rPr lang="zh-CN" altLang="en-US"/>
              <a:t>，</a:t>
            </a:r>
            <a:r>
              <a:rPr lang="en-US" altLang="zh-CN"/>
              <a:t>256</a:t>
            </a:r>
            <a:r>
              <a:rPr lang="zh-CN" altLang="en-US"/>
              <a:t>；其余没有评估不在标准之内；</a:t>
            </a:r>
            <a:endParaRPr lang="zh-CN" altLang="en-US"/>
          </a:p>
          <a:p>
            <a:pPr eaLnBrk="1" hangingPunct="1"/>
            <a:r>
              <a:rPr lang="zh-CN" altLang="en-US"/>
              <a:t>密钥长则轮数多，简单来说，</a:t>
            </a:r>
            <a:r>
              <a:rPr lang="en-US" altLang="zh-CN"/>
              <a:t>128</a:t>
            </a:r>
            <a:r>
              <a:rPr lang="zh-CN" altLang="en-US"/>
              <a:t>比特密钥穷举搜索复杂度为</a:t>
            </a:r>
            <a:r>
              <a:rPr lang="en-US" altLang="zh-CN"/>
              <a:t>2^128,</a:t>
            </a:r>
            <a:r>
              <a:rPr lang="zh-CN" altLang="en-US"/>
              <a:t>攻击无效只需要证明攻击的复杂度大于</a:t>
            </a:r>
            <a:r>
              <a:rPr lang="en-US" altLang="zh-CN"/>
              <a:t>2^128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FB1377E-CCF5-402D-9979-0286DF08DDFA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C558F6-6C51-4A34-8DE6-2029438F241D}" type="slidenum">
              <a:rPr lang="en-US" altLang="zh-CN" smtClean="0"/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3EC68A-D09A-4DBA-832B-83A86C00EAD4}" type="slidenum">
              <a:rPr lang="en-US" altLang="zh-CN" smtClean="0"/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快速运算：分配律化为</a:t>
            </a:r>
            <a:r>
              <a:rPr lang="en-US" altLang="zh-CN"/>
              <a:t>02</a:t>
            </a:r>
            <a:r>
              <a:rPr lang="zh-CN" altLang="en-US"/>
              <a:t>的幂次进行运算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i="1">
                <a:solidFill>
                  <a:srgbClr val="4D4D4D"/>
                </a:solidFill>
                <a:latin typeface="-apple-system"/>
              </a:rPr>
              <a:t>这个</a:t>
            </a:r>
            <a:r>
              <a:rPr lang="en-US" altLang="zh-CN" i="1">
                <a:solidFill>
                  <a:srgbClr val="4D4D4D"/>
                </a:solidFill>
                <a:latin typeface="-apple-system"/>
              </a:rPr>
              <a:t>4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矩阵的每一列的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个字节组成一个字，矩阵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个字依次命名为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W[0]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、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W[1]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、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W[2]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和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W[3]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，它们构成一个以字为单位的数组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。例如，设密钥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K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为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"abcdefghijklmnop",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则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K0 = ‘a’,K1 = ‘b’, K2 = ‘c’,K3 = ‘d’,W[0] = “abcd”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。</a:t>
            </a:r>
            <a:br>
              <a:rPr lang="zh-CN" altLang="en-US"/>
            </a:br>
            <a:r>
              <a:rPr lang="zh-CN" altLang="en-US">
                <a:solidFill>
                  <a:srgbClr val="4D4D4D"/>
                </a:solidFill>
                <a:latin typeface="-apple-system"/>
              </a:rPr>
              <a:t>接着，对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W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数组扩充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40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个新列，构成总共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44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列的扩展密钥数组。</a:t>
            </a:r>
            <a:endParaRPr lang="en-CA" altLang="zh-CN"/>
          </a:p>
        </p:txBody>
      </p:sp>
      <p:sp>
        <p:nvSpPr>
          <p:cNvPr id="5734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7A973FC-3914-4325-9109-DF9E8672E106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5939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21484B-6DF6-4BC6-98A5-54DD64E8D7F6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7CAD5B-F33A-4970-B1C4-6B3BEECB5FD4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/>
              <a:t>密钥调度包括两个部分：密钥扩展和轮密钥选取。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密钥</a:t>
            </a:r>
            <a:r>
              <a:rPr lang="en-US" altLang="zh-CN"/>
              <a:t>bit</a:t>
            </a:r>
            <a:r>
              <a:rPr lang="zh-CN" altLang="en-US"/>
              <a:t>的总数＝分组长度</a:t>
            </a:r>
            <a:r>
              <a:rPr lang="en-US" altLang="zh-CN"/>
              <a:t>×</a:t>
            </a:r>
            <a:r>
              <a:rPr lang="zh-CN" altLang="en-US"/>
              <a:t>（轮数</a:t>
            </a:r>
            <a:r>
              <a:rPr lang="en-US" altLang="zh-CN"/>
              <a:t>Round</a:t>
            </a:r>
            <a:r>
              <a:rPr lang="zh-CN" altLang="en-US"/>
              <a:t>＋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例如当分组长度为</a:t>
            </a:r>
            <a:r>
              <a:rPr lang="en-US" altLang="zh-CN"/>
              <a:t>128bits</a:t>
            </a:r>
            <a:r>
              <a:rPr lang="zh-CN" altLang="en-US"/>
              <a:t>和轮数</a:t>
            </a:r>
            <a:r>
              <a:rPr lang="en-US" altLang="zh-CN"/>
              <a:t>Round</a:t>
            </a:r>
            <a:r>
              <a:rPr lang="zh-CN" altLang="en-US"/>
              <a:t>为</a:t>
            </a:r>
            <a:r>
              <a:rPr lang="en-US" altLang="zh-CN"/>
              <a:t>10</a:t>
            </a:r>
            <a:r>
              <a:rPr lang="zh-CN" altLang="en-US"/>
              <a:t>时，轮密钥长度为</a:t>
            </a:r>
            <a:r>
              <a:rPr lang="en-US" altLang="zh-CN"/>
              <a:t>128×(10</a:t>
            </a:r>
            <a:r>
              <a:rPr lang="zh-CN" altLang="en-US"/>
              <a:t>＋</a:t>
            </a:r>
            <a:r>
              <a:rPr lang="en-US" altLang="zh-CN"/>
              <a:t>1)</a:t>
            </a:r>
            <a:r>
              <a:rPr lang="zh-CN" altLang="en-US"/>
              <a:t>＝</a:t>
            </a:r>
            <a:r>
              <a:rPr lang="en-US" altLang="zh-CN"/>
              <a:t>1408bits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将密码密钥扩展成一个扩展密钥。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从扩展密钥中取出轮密钥：第一个轮密钥由扩展密钥的第一个</a:t>
            </a:r>
            <a:r>
              <a:rPr lang="en-US" altLang="zh-CN"/>
              <a:t>Nb</a:t>
            </a:r>
            <a:r>
              <a:rPr lang="zh-CN" altLang="en-US"/>
              <a:t>个字（其实就是</a:t>
            </a:r>
            <a:r>
              <a:rPr lang="en-US" altLang="zh-CN"/>
              <a:t>Nb </a:t>
            </a:r>
            <a:r>
              <a:rPr lang="zh-CN" altLang="en-US"/>
              <a:t>列），第二个轮密钥由接下来的</a:t>
            </a:r>
            <a:r>
              <a:rPr lang="en-US" altLang="zh-CN"/>
              <a:t>Nb</a:t>
            </a:r>
            <a:r>
              <a:rPr lang="zh-CN" altLang="en-US"/>
              <a:t>个字组成，以此类推。</a:t>
            </a:r>
            <a:endParaRPr lang="zh-CN" altLang="en-US"/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19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C2678C1-F809-47EA-A506-51A73FA554E5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0DE9D-BC8E-47CB-A7EA-19F208C4F2B1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0DE9D-BC8E-47CB-A7EA-19F208C4F2B1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0DE9D-BC8E-47CB-A7EA-19F208C4F2B1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0DE9D-BC8E-47CB-A7EA-19F208C4F2B1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90DE9D-BC8E-47CB-A7EA-19F208C4F2B1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602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E714EA7-428B-4D06-8F5A-BA3A91051C80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注：只有素数域</a:t>
            </a:r>
            <a:r>
              <a:rPr lang="en-US" altLang="zh-CN" dirty="0"/>
              <a:t>GF(p)</a:t>
            </a:r>
            <a:r>
              <a:rPr lang="zh-CN" altLang="en-US" dirty="0"/>
              <a:t>的情况时，</a:t>
            </a:r>
            <a:r>
              <a:rPr lang="en-US" altLang="zh-CN" dirty="0"/>
              <a:t>Z*_p</a:t>
            </a:r>
            <a:r>
              <a:rPr lang="zh-CN" altLang="en-US" dirty="0"/>
              <a:t>才构成乘法群，乘法群的元素就是</a:t>
            </a:r>
            <a:r>
              <a:rPr lang="en-US" altLang="zh-CN" dirty="0"/>
              <a:t>{1,2,…,p-1}</a:t>
            </a:r>
            <a:r>
              <a:rPr lang="zh-CN" altLang="en-US" dirty="0"/>
              <a:t>，乘法运算为</a:t>
            </a:r>
            <a:r>
              <a:rPr lang="en-US" altLang="zh-CN" dirty="0"/>
              <a:t>a*b mod p</a:t>
            </a:r>
            <a:r>
              <a:rPr lang="zh-CN" altLang="en-US" dirty="0"/>
              <a:t>。而对于扩展域</a:t>
            </a:r>
            <a:r>
              <a:rPr lang="en-US" altLang="zh-CN" dirty="0"/>
              <a:t>GF(</a:t>
            </a:r>
            <a:r>
              <a:rPr lang="en-US" altLang="zh-CN" dirty="0" err="1"/>
              <a:t>p^n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Z*_</a:t>
            </a:r>
            <a:r>
              <a:rPr lang="en-US" altLang="zh-CN" dirty="0" err="1"/>
              <a:t>p^n</a:t>
            </a:r>
            <a:r>
              <a:rPr lang="zh-CN" altLang="en-US" dirty="0"/>
              <a:t>并不构成乘法群，而是运用本页</a:t>
            </a:r>
            <a:r>
              <a:rPr lang="en-US" altLang="zh-CN" dirty="0"/>
              <a:t>PPT</a:t>
            </a:r>
            <a:r>
              <a:rPr lang="zh-CN" altLang="en-US" dirty="0"/>
              <a:t>上面介绍的多项式的形式来描述，乘法群的每个元素都对应一个多项式，则乘法运算就变成了两个多项式的乘法运算，但注意是在</a:t>
            </a:r>
            <a:r>
              <a:rPr lang="en-US" altLang="zh-CN" dirty="0"/>
              <a:t>mod p(x)</a:t>
            </a:r>
            <a:r>
              <a:rPr lang="zh-CN" altLang="en-US" dirty="0"/>
              <a:t>下的运算，其中</a:t>
            </a:r>
            <a:r>
              <a:rPr lang="en-US" altLang="zh-CN" dirty="0"/>
              <a:t>p(x)</a:t>
            </a:r>
            <a:r>
              <a:rPr lang="zh-CN" altLang="en-US" dirty="0"/>
              <a:t>为不可约多项式。对于不同的不可约多项式，乘法运算结果自然也是不同的。</a:t>
            </a:r>
            <a:r>
              <a:rPr lang="en-US" altLang="zh-CN" dirty="0"/>
              <a:t>AES</a:t>
            </a:r>
            <a:r>
              <a:rPr lang="zh-CN" altLang="en-US" dirty="0"/>
              <a:t>算法里面定的</a:t>
            </a:r>
            <a:r>
              <a:rPr lang="en-US" altLang="zh-CN" dirty="0"/>
              <a:t>p(x)=x^8+x^4+x^3+x+1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11DA92-8296-4F4E-A29F-57A6E52376E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长除法进行计算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11DA92-8296-4F4E-A29F-57A6E52376E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0616C1-10A8-4F9F-BA0C-E1DB6EA27F1F}" type="slidenum">
              <a:rPr kumimoji="0" lang="en-US" altLang="zh-CN" sz="1200" smtClean="0">
                <a:latin typeface="Arial" panose="020B0604020202020204" pitchFamily="34" charset="0"/>
              </a:rPr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2A36E-A6B4-4707-ACF6-538396C7C8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C31A4-825A-48FA-99CC-8A40B37E49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386EC-4526-418C-8A9D-6F1000DCA4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17018-097D-4A87-B852-73D73342FD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5F9BF-0D46-40DC-A962-1DA3E73888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6880D-C690-48BE-852D-22A4F2537D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5B404-49B2-4BB1-87E0-43A8C3F07C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C4EAC-8A3A-496C-AEDB-3B2294C21C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77642-54A8-4DA3-9D88-61A931B954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C0621-488F-48F6-92F1-E87D078938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983C8-17D9-4623-9C0E-149F5E9A7F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14D88-77CF-4A76-A670-CF444C37F3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 showMasterSp="0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EA20E-9C2B-458B-BC43-E67A4FB852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78AD5-5BFB-40DD-BBAC-62662420D1E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 showMasterSp="0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7A701-38AA-465B-9FAA-7979866450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F4FAE-7F8B-474E-806C-21BA73C7EE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9955E-553A-4E8C-958E-4B7C84F662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E3BEA-F9BD-4521-9645-C8418D82F1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C162-A189-4B14-8AEF-1FE1A4932E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A3547-E1A7-4181-91D3-405AC3E5E7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18691-565B-405E-ADB9-EEBC9BE83B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5A11F-AFBB-4DE6-980F-1C62EB5456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D1431-55A7-4886-8970-E387B5545D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326E4-4E86-4CE0-B85D-A4ACB66273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59CF8-7176-43AD-B65C-F8F411E60A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767A7-BF33-45E6-84CE-9D680AC0DDB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3C4EB-55AB-4DA5-89E7-CF30B23344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63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63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B678343-34EB-4C7D-BF67-91650C820783}" type="slidenum">
              <a:rPr lang="en-US" altLang="zh-CN"/>
            </a:fld>
            <a:endParaRPr lang="en-US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60388" y="6411913"/>
            <a:ext cx="1439862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 hangingPunct="1">
              <a:defRPr/>
            </a:pPr>
            <a:endParaRPr lang="en-US" altLang="zh-CN" sz="1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33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366000" y="6434138"/>
            <a:ext cx="10541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74C66608-BD56-4183-BA9D-D585877A478D}" type="slidenum">
              <a:rPr lang="en-US" altLang="zh-CN" sz="1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endParaRPr lang="en-US" altLang="zh-CN" sz="1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34" name="Line 13"/>
          <p:cNvSpPr>
            <a:spLocks noChangeShapeType="1"/>
          </p:cNvSpPr>
          <p:nvPr/>
        </p:nvSpPr>
        <p:spPr bwMode="auto">
          <a:xfrm>
            <a:off x="0" y="188913"/>
            <a:ext cx="9144000" cy="0"/>
          </a:xfrm>
          <a:prstGeom prst="line">
            <a:avLst/>
          </a:prstGeom>
          <a:noFill/>
          <a:ln w="114300" cmpd="tri">
            <a:solidFill>
              <a:srgbClr val="FF9933">
                <a:alpha val="59999"/>
              </a:srgb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5" name="Group 14"/>
          <p:cNvGrpSpPr/>
          <p:nvPr/>
        </p:nvGrpSpPr>
        <p:grpSpPr bwMode="auto">
          <a:xfrm>
            <a:off x="34925" y="171450"/>
            <a:ext cx="647700" cy="6713538"/>
            <a:chOff x="0" y="43"/>
            <a:chExt cx="5760" cy="4229"/>
          </a:xfrm>
        </p:grpSpPr>
        <p:sp>
          <p:nvSpPr>
            <p:cNvPr id="2" name="Line 15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16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17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18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19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Line 20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Line 21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Line 22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23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24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25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26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27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28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29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30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31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32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33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34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35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36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37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38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39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Line 40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Line 41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4" name="Line 42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43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6" name="Line 44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7" name="Line 45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8" name="Line 46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9" name="Line 47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0" name="Line 48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1" name="Line 49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2" name="Line 50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3" name="Line 51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Line 52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" name="Line 53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Line 54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" name="Line 55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56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9" name="Line 57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58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1" name="Line 59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Line 60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3" name="Line 61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Line 62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" name="Line 63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64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" name="Line 65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66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9" name="Line 67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Line 68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1" name="Line 69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Line 70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" name="Line 71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72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" name="Line 73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74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7" name="Line 75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Line 76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9" name="Line 77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Line 78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1" name="Line 79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80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3" name="Line 81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82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" name="Line 83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" name="Line 84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" name="Line 85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" name="Line 86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9" name="Line 87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" name="Line 88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" name="Line 89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" name="Line 90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" name="Line 91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4" name="Line 92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5" name="Line 93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" name="Line 94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" name="Line 95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8" name="Line 96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9" name="Line 97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0" name="Line 98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" name="Line 99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2" name="Line 100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3" name="Line 101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4" name="Line 102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5" name="Line 103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" name="Line 104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" name="Line 105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" name="Line 106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" name="Line 107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" name="Line 108"/>
            <p:cNvSpPr>
              <a:spLocks noChangeShapeType="1"/>
            </p:cNvSpPr>
            <p:nvPr userDrawn="1"/>
          </p:nvSpPr>
          <p:spPr bwMode="auto">
            <a:xfrm>
              <a:off x="0" y="7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" name="Line 109"/>
            <p:cNvSpPr>
              <a:spLocks noChangeShapeType="1"/>
            </p:cNvSpPr>
            <p:nvPr userDrawn="1"/>
          </p:nvSpPr>
          <p:spPr bwMode="auto">
            <a:xfrm>
              <a:off x="0" y="43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" name="Line 110"/>
            <p:cNvSpPr>
              <a:spLocks noChangeShapeType="1"/>
            </p:cNvSpPr>
            <p:nvPr userDrawn="1"/>
          </p:nvSpPr>
          <p:spPr bwMode="auto">
            <a:xfrm>
              <a:off x="0" y="9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" name="Line 111"/>
            <p:cNvSpPr>
              <a:spLocks noChangeShapeType="1"/>
            </p:cNvSpPr>
            <p:nvPr userDrawn="1"/>
          </p:nvSpPr>
          <p:spPr bwMode="auto">
            <a:xfrm>
              <a:off x="0" y="145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" name="Line 112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7" name="Rectangle 113"/>
          <p:cNvSpPr>
            <a:spLocks noChangeArrowheads="1"/>
          </p:cNvSpPr>
          <p:nvPr/>
        </p:nvSpPr>
        <p:spPr bwMode="auto">
          <a:xfrm>
            <a:off x="2943225" y="1149350"/>
            <a:ext cx="5757863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AB374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华文行楷" panose="020108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华文行楷" panose="02010800040101010101" pitchFamily="2" charset="-122"/>
          <a:cs typeface="宋体" panose="02010600030101010101" pitchFamily="2" charset="-122"/>
        </a:defRPr>
      </a:lvl9pPr>
    </p:titleStyle>
    <p:bodyStyle>
      <a:lvl1pPr marL="6350" indent="70993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118110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5894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9970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4053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86258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331978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77698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423418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047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047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047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963CEC2-8884-450A-B354-E0251738F42B}" type="slidenum">
              <a:rPr lang="en-US" altLang="zh-CN"/>
            </a:fld>
            <a:endParaRPr lang="en-US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60388" y="6411913"/>
            <a:ext cx="1439862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 hangingPunct="1">
              <a:defRPr/>
            </a:pPr>
            <a:endParaRPr lang="en-US" altLang="zh-CN" sz="1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366000" y="6434138"/>
            <a:ext cx="10541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9C03CE71-D629-4188-AA80-3A0E2EDA5327}" type="slidenum">
              <a:rPr lang="en-US" altLang="zh-CN" sz="1600" b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endParaRPr lang="en-US" altLang="zh-CN" sz="16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8" name="Line 16"/>
          <p:cNvSpPr>
            <a:spLocks noChangeShapeType="1"/>
          </p:cNvSpPr>
          <p:nvPr/>
        </p:nvSpPr>
        <p:spPr bwMode="auto">
          <a:xfrm>
            <a:off x="0" y="188913"/>
            <a:ext cx="9144000" cy="0"/>
          </a:xfrm>
          <a:prstGeom prst="line">
            <a:avLst/>
          </a:prstGeom>
          <a:noFill/>
          <a:ln w="114300" cmpd="tri">
            <a:solidFill>
              <a:srgbClr val="FF9933">
                <a:alpha val="59999"/>
              </a:srgb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59" name="Group 17"/>
          <p:cNvGrpSpPr/>
          <p:nvPr/>
        </p:nvGrpSpPr>
        <p:grpSpPr bwMode="auto">
          <a:xfrm>
            <a:off x="215900" y="284163"/>
            <a:ext cx="647700" cy="6713537"/>
            <a:chOff x="0" y="43"/>
            <a:chExt cx="5760" cy="4229"/>
          </a:xfrm>
        </p:grpSpPr>
        <p:sp>
          <p:nvSpPr>
            <p:cNvPr id="2060" name="Line 18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1" name="Line 19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2" name="Line 20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3" name="Line 21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4" name="Line 22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5" name="Line 23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6" name="Line 24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7" name="Line 25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8" name="Line 26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9" name="Line 27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" name="Line 28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1" name="Line 29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2" name="Line 30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3" name="Line 31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4" name="Line 32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5" name="Line 33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6" name="Line 34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7" name="Line 35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8" name="Line 36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9" name="Line 37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0" name="Line 38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1" name="Line 39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2" name="Line 40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3" name="Line 41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4" name="Line 42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5" name="Line 43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6" name="Line 44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7" name="Line 45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8" name="Line 46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9" name="Line 47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0" name="Line 48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" name="Line 49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2" name="Line 50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3" name="Line 51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4" name="Line 52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5" name="Line 53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6" name="Line 54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7" name="Line 55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8" name="Line 56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9" name="Line 57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0" name="Line 58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1" name="Line 59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2" name="Line 60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3" name="Line 61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4" name="Line 62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5" name="Line 63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6" name="Line 64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7" name="Line 65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8" name="Line 66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9" name="Line 67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0" name="Line 68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" name="Line 69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2" name="Line 70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3" name="Line 71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4" name="Line 72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5" name="Line 73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6" name="Line 74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7" name="Line 75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8" name="Line 76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9" name="Line 77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0" name="Line 78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1" name="Line 79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2" name="Line 80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3" name="Line 81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4" name="Line 82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5" name="Line 83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6" name="Line 84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7" name="Line 85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8" name="Line 86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9" name="Line 87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0" name="Line 88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" name="Line 89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" name="Line 90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3" name="Line 91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4" name="Line 92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5" name="Line 93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6" name="Line 94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7" name="Line 95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8" name="Line 96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9" name="Line 97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0" name="Line 98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" name="Line 99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2" name="Line 100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3" name="Line 101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4" name="Line 102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5" name="Line 103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6" name="Line 104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7" name="Line 105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8" name="Line 106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9" name="Line 107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" name="Line 108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" name="Line 109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" name="Line 110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" name="Line 111"/>
            <p:cNvSpPr>
              <a:spLocks noChangeShapeType="1"/>
            </p:cNvSpPr>
            <p:nvPr userDrawn="1"/>
          </p:nvSpPr>
          <p:spPr bwMode="auto">
            <a:xfrm>
              <a:off x="0" y="70"/>
              <a:ext cx="5760" cy="0"/>
            </a:xfrm>
            <a:prstGeom prst="line">
              <a:avLst/>
            </a:prstGeom>
            <a:noFill/>
            <a:ln w="9525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" name="Line 112"/>
            <p:cNvSpPr>
              <a:spLocks noChangeShapeType="1"/>
            </p:cNvSpPr>
            <p:nvPr userDrawn="1"/>
          </p:nvSpPr>
          <p:spPr bwMode="auto">
            <a:xfrm>
              <a:off x="0" y="43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" name="Line 113"/>
            <p:cNvSpPr>
              <a:spLocks noChangeShapeType="1"/>
            </p:cNvSpPr>
            <p:nvPr userDrawn="1"/>
          </p:nvSpPr>
          <p:spPr bwMode="auto">
            <a:xfrm>
              <a:off x="0" y="91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" name="Line 114"/>
            <p:cNvSpPr>
              <a:spLocks noChangeShapeType="1"/>
            </p:cNvSpPr>
            <p:nvPr userDrawn="1"/>
          </p:nvSpPr>
          <p:spPr bwMode="auto">
            <a:xfrm>
              <a:off x="0" y="145"/>
              <a:ext cx="5760" cy="0"/>
            </a:xfrm>
            <a:prstGeom prst="line">
              <a:avLst/>
            </a:prstGeom>
            <a:noFill/>
            <a:ln w="127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" name="Line 115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pattFill prst="ltHorz">
                <a:fgClr>
                  <a:srgbClr val="FFCCFF"/>
                </a:fgClr>
                <a:bgClr>
                  <a:srgbClr val="FFFFFF"/>
                </a:bgClr>
              </a:patt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7.xml"/><Relationship Id="rId1" Type="http://schemas.openxmlformats.org/officeDocument/2006/relationships/hyperlink" Target="AES%20Flash.sw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4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3.emf"/><Relationship Id="rId1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7950" y="2276475"/>
            <a:ext cx="856773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对称密码</a:t>
            </a:r>
            <a:endParaRPr lang="en-CA" altLang="zh-CN" sz="6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CA" altLang="zh-CN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高级加密标准</a:t>
            </a:r>
            <a:r>
              <a:rPr lang="en-US" altLang="zh-CN" sz="6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AES</a:t>
            </a:r>
            <a:endParaRPr lang="zh-CN" altLang="en-US" sz="6400" b="1">
              <a:solidFill>
                <a:srgbClr val="FFFF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AES</a:t>
            </a:r>
            <a:r>
              <a:rPr lang="zh-CN" altLang="en-US"/>
              <a:t>的发展</a:t>
            </a:r>
            <a:endParaRPr lang="en-CA" altLang="en-US"/>
          </a:p>
        </p:txBody>
      </p:sp>
      <p:sp>
        <p:nvSpPr>
          <p:cNvPr id="32771" name="文本占位符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CA" altLang="en-US"/>
              <a:t> </a:t>
            </a:r>
            <a:endParaRPr lang="en-CA" altLang="en-US"/>
          </a:p>
        </p:txBody>
      </p:sp>
      <p:sp>
        <p:nvSpPr>
          <p:cNvPr id="32772" name="内容占位符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CA" altLang="en-US"/>
              <a:t> </a:t>
            </a:r>
            <a:endParaRPr lang="en-CA" altLang="en-US"/>
          </a:p>
        </p:txBody>
      </p:sp>
      <p:sp>
        <p:nvSpPr>
          <p:cNvPr id="32773" name="Rectangle 3"/>
          <p:cNvSpPr txBox="1">
            <a:spLocks noChangeArrowheads="1"/>
          </p:cNvSpPr>
          <p:nvPr/>
        </p:nvSpPr>
        <p:spPr bwMode="auto">
          <a:xfrm>
            <a:off x="611560" y="1752600"/>
            <a:ext cx="7488238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b="1" dirty="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AES</a:t>
            </a:r>
            <a:r>
              <a:rPr kumimoji="0" lang="zh-CN" altLang="en-US" b="1" dirty="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竞争过程及</a:t>
            </a:r>
            <a:r>
              <a:rPr kumimoji="0" lang="en-US" altLang="zh-CN" b="1" dirty="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RIJNDAEL</a:t>
            </a:r>
            <a:r>
              <a:rPr kumimoji="0" lang="zh-CN" altLang="en-US" b="1" dirty="0">
                <a:solidFill>
                  <a:schemeClr val="fol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概述</a:t>
            </a:r>
            <a:r>
              <a:rPr kumimoji="0" lang="zh-CN" altLang="en-US" sz="2400" dirty="0"/>
              <a:t> </a:t>
            </a:r>
            <a:endParaRPr kumimoji="0" lang="zh-CN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0"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imes New Roman" panose="02020603050405020304" pitchFamily="18" charset="0"/>
              </a:rPr>
              <a:t>鉴于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DES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的没落，美国政界和商界一直在寻求高强度、高效率的替代算法。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1997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年，美国国家标准技术研究所（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NIST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）为了履行其法定职责，发起了一场推选用于保护敏感的（无密级的）联邦信息的对称密钥加密算法的活动。于是密码学界的精英们纷纷加入竞争的行列，提交自己设计的分组密码算法。与此同时，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NIST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制定了用于比较候选算法的评估准则。该评估准则分为三大项：（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1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）安全性；（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2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）成本；（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3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）算法和实现特性。</a:t>
            </a:r>
            <a:endParaRPr kumimoji="0"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AES</a:t>
            </a:r>
            <a:r>
              <a:rPr lang="zh-CN" altLang="en-US"/>
              <a:t>的发展</a:t>
            </a:r>
            <a:endParaRPr lang="en-CA" altLang="en-US"/>
          </a:p>
        </p:txBody>
      </p:sp>
      <p:sp>
        <p:nvSpPr>
          <p:cNvPr id="33795" name="文本占位符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CA" altLang="en-US"/>
              <a:t> </a:t>
            </a:r>
            <a:endParaRPr lang="en-CA" altLang="en-US"/>
          </a:p>
        </p:txBody>
      </p:sp>
      <p:sp>
        <p:nvSpPr>
          <p:cNvPr id="33796" name="内容占位符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CA" altLang="en-US"/>
              <a:t> </a:t>
            </a:r>
            <a:endParaRPr lang="en-CA" altLang="en-US"/>
          </a:p>
        </p:txBody>
      </p:sp>
      <p:sp>
        <p:nvSpPr>
          <p:cNvPr id="33797" name="Rectangle 3"/>
          <p:cNvSpPr txBox="1">
            <a:spLocks noChangeArrowheads="1"/>
          </p:cNvSpPr>
          <p:nvPr/>
        </p:nvSpPr>
        <p:spPr bwMode="auto">
          <a:xfrm>
            <a:off x="457200" y="1844675"/>
            <a:ext cx="8435975" cy="428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738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dirty="0">
                <a:latin typeface="Times New Roman" panose="02020603050405020304" pitchFamily="18" charset="0"/>
              </a:rPr>
              <a:t>1998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年，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NIST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宣布接受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15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个候选算法并提请全世界密码学界协助分析这些候选算法。分析的内容包括对每个算法的安全性和效率进行初步检验。 </a:t>
            </a:r>
            <a:endParaRPr kumimoji="0"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 dirty="0">
                <a:latin typeface="Times New Roman" panose="02020603050405020304" pitchFamily="18" charset="0"/>
              </a:rPr>
              <a:t>NIST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通过对这些初步研究结果的考察，于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1999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年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8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20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日选定了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MARS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、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RC6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、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RIJNDAEL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、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Serpent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、</a:t>
            </a:r>
            <a:r>
              <a:rPr kumimoji="0" lang="en-US" altLang="zh-CN" sz="2400" dirty="0" err="1">
                <a:latin typeface="Times New Roman" panose="02020603050405020304" pitchFamily="18" charset="0"/>
              </a:rPr>
              <a:t>Twofish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等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5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个算法作为参加决赛的算法。 </a:t>
            </a:r>
            <a:endParaRPr kumimoji="0"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imes New Roman" panose="02020603050405020304" pitchFamily="18" charset="0"/>
              </a:rPr>
              <a:t>经公众对决赛算法进行更进一步的分析评论，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NIST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决定推荐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RIJNDAEL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作为高级加密标准（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AES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）。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2000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年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10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月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2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日，美国商业部长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Norman Y. </a:t>
            </a:r>
            <a:r>
              <a:rPr kumimoji="0" lang="en-US" altLang="zh-CN" sz="2400" dirty="0" err="1">
                <a:latin typeface="Times New Roman" panose="02020603050405020304" pitchFamily="18" charset="0"/>
              </a:rPr>
              <a:t>Mineta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宣布，“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RIJNDAEL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数据加密算法”最终获胜，同时为此而在全球范围内角逐了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3</a:t>
            </a:r>
            <a:r>
              <a:rPr kumimoji="0" lang="zh-CN" altLang="en-US" sz="2400" dirty="0">
                <a:latin typeface="Times New Roman" panose="02020603050405020304" pitchFamily="18" charset="0"/>
              </a:rPr>
              <a:t>年的激烈竞争随即结束。 </a:t>
            </a:r>
            <a:endParaRPr kumimoji="0"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AES</a:t>
            </a:r>
            <a:r>
              <a:rPr lang="zh-CN" altLang="en-US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算法的整体结构</a:t>
            </a:r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2057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Rijndael </a:t>
            </a:r>
            <a:r>
              <a:rPr lang="zh-CN" altLang="en-US" sz="2800" dirty="0"/>
              <a:t>由比利时的</a:t>
            </a:r>
            <a:r>
              <a:rPr lang="en-US" altLang="zh-CN" sz="2800" dirty="0"/>
              <a:t>Joan Daemen</a:t>
            </a:r>
            <a:r>
              <a:rPr lang="zh-CN" altLang="en-US" sz="2800" dirty="0"/>
              <a:t>和</a:t>
            </a:r>
            <a:r>
              <a:rPr lang="en-US" altLang="zh-CN" sz="2800" dirty="0"/>
              <a:t>Vincent </a:t>
            </a:r>
            <a:r>
              <a:rPr lang="en-US" altLang="zh-CN" sz="2800" dirty="0" err="1"/>
              <a:t>Rijmen</a:t>
            </a:r>
            <a:r>
              <a:rPr lang="zh-CN" altLang="en-US" sz="2800" dirty="0"/>
              <a:t>设计，算法的原型是</a:t>
            </a:r>
            <a:r>
              <a:rPr lang="en-US" altLang="zh-CN" sz="2800" dirty="0"/>
              <a:t>Square</a:t>
            </a:r>
            <a:r>
              <a:rPr lang="zh-CN" altLang="en-US" sz="2800" dirty="0"/>
              <a:t>算法，经过修改后确定为高级数据加密标准</a:t>
            </a:r>
            <a:r>
              <a:rPr lang="en-US" altLang="zh-CN" sz="2800" dirty="0"/>
              <a:t>AES.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/>
              <a:t>典型的</a:t>
            </a:r>
            <a:r>
              <a:rPr lang="en-US" altLang="zh-CN" sz="2800" b="1" dirty="0">
                <a:hlinkClick r:id="rId1" action="ppaction://hlinkfile"/>
              </a:rPr>
              <a:t>SPN</a:t>
            </a:r>
            <a:r>
              <a:rPr lang="zh-CN" altLang="en-US" sz="2800" b="1" dirty="0">
                <a:hlinkClick r:id="rId1" action="ppaction://hlinkfile"/>
              </a:rPr>
              <a:t>结构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/>
              <a:t>有较好的数学理论作为基础；结构简单、速度快</a:t>
            </a:r>
            <a:endParaRPr lang="zh-CN" altLang="en-US" sz="2800" b="1" dirty="0"/>
          </a:p>
        </p:txBody>
      </p:sp>
      <p:graphicFrame>
        <p:nvGraphicFramePr>
          <p:cNvPr id="364548" name="Group 4"/>
          <p:cNvGraphicFramePr>
            <a:graphicFrameLocks noGrp="1"/>
          </p:cNvGraphicFramePr>
          <p:nvPr>
            <p:ph sz="half" idx="2"/>
          </p:nvPr>
        </p:nvGraphicFramePr>
        <p:xfrm>
          <a:off x="381000" y="3657600"/>
          <a:ext cx="8305800" cy="2459080"/>
        </p:xfrm>
        <a:graphic>
          <a:graphicData uri="http://schemas.openxmlformats.org/drawingml/2006/table">
            <a:tbl>
              <a:tblPr/>
              <a:tblGrid>
                <a:gridCol w="2076450"/>
                <a:gridCol w="2076450"/>
                <a:gridCol w="2076450"/>
                <a:gridCol w="2076450"/>
              </a:tblGrid>
              <a:tr h="898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Key Length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Nk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words)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Block Size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(Nb words)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Number of Rounds (Nr)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AES-128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AES-192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AES-256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1" marB="467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706437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AES</a:t>
            </a:r>
            <a:r>
              <a:rPr lang="zh-CN" altLang="en-US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算法的整体结构</a:t>
            </a:r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68438"/>
            <a:ext cx="8229600" cy="4525962"/>
          </a:xfrm>
        </p:spPr>
        <p:txBody>
          <a:bodyPr/>
          <a:lstStyle/>
          <a:p>
            <a:pPr eaLnBrk="1" hangingPunct="1"/>
            <a:r>
              <a:rPr lang="en-CA" altLang="zh-CN"/>
              <a:t> </a:t>
            </a:r>
            <a:endParaRPr lang="zh-CN" altLang="zh-CN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3" y="1042988"/>
            <a:ext cx="6096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云形标注 1"/>
          <p:cNvSpPr>
            <a:spLocks noChangeArrowheads="1"/>
          </p:cNvSpPr>
          <p:nvPr/>
        </p:nvSpPr>
        <p:spPr bwMode="auto">
          <a:xfrm>
            <a:off x="107950" y="765175"/>
            <a:ext cx="1800225" cy="828675"/>
          </a:xfrm>
          <a:prstGeom prst="cloudCallout">
            <a:avLst>
              <a:gd name="adj1" fmla="val 97491"/>
              <a:gd name="adj2" fmla="val 939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轮密钥加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云形标注 9"/>
          <p:cNvSpPr>
            <a:spLocks noChangeArrowheads="1"/>
          </p:cNvSpPr>
          <p:nvPr/>
        </p:nvSpPr>
        <p:spPr bwMode="auto">
          <a:xfrm>
            <a:off x="107950" y="2265363"/>
            <a:ext cx="1800225" cy="828675"/>
          </a:xfrm>
          <a:prstGeom prst="cloudCallout">
            <a:avLst>
              <a:gd name="adj1" fmla="val 108602"/>
              <a:gd name="adj2" fmla="val 31856"/>
            </a:avLst>
          </a:prstGeom>
          <a:solidFill>
            <a:srgbClr val="B5D9F5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字节替代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云形标注 10"/>
          <p:cNvSpPr>
            <a:spLocks noChangeArrowheads="1"/>
          </p:cNvSpPr>
          <p:nvPr/>
        </p:nvSpPr>
        <p:spPr bwMode="auto">
          <a:xfrm>
            <a:off x="0" y="3530600"/>
            <a:ext cx="1800225" cy="828675"/>
          </a:xfrm>
          <a:prstGeom prst="cloudCallout">
            <a:avLst>
              <a:gd name="adj1" fmla="val 107019"/>
              <a:gd name="adj2" fmla="val -87111"/>
            </a:avLst>
          </a:prstGeom>
          <a:solidFill>
            <a:srgbClr val="F5C7C7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行移位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云形标注 11"/>
          <p:cNvSpPr>
            <a:spLocks noChangeArrowheads="1"/>
          </p:cNvSpPr>
          <p:nvPr/>
        </p:nvSpPr>
        <p:spPr bwMode="auto">
          <a:xfrm>
            <a:off x="88900" y="4751388"/>
            <a:ext cx="1800225" cy="828675"/>
          </a:xfrm>
          <a:prstGeom prst="cloudCallout">
            <a:avLst>
              <a:gd name="adj1" fmla="val 97491"/>
              <a:gd name="adj2" fmla="val -171593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列混合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云形标注 1"/>
          <p:cNvSpPr>
            <a:spLocks noChangeArrowheads="1"/>
          </p:cNvSpPr>
          <p:nvPr/>
        </p:nvSpPr>
        <p:spPr bwMode="auto">
          <a:xfrm>
            <a:off x="42863" y="5783263"/>
            <a:ext cx="1800225" cy="828675"/>
          </a:xfrm>
          <a:prstGeom prst="cloudCallout">
            <a:avLst>
              <a:gd name="adj1" fmla="val 123481"/>
              <a:gd name="adj2" fmla="val -21919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轮密钥加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初始状态矩阵（</a:t>
            </a:r>
            <a:r>
              <a:rPr lang="en-US" altLang="zh-CN"/>
              <a:t>state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17638"/>
            <a:ext cx="8281988" cy="2219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179388" y="3860800"/>
            <a:ext cx="8785225" cy="209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35305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600">
                <a:latin typeface="Times New Roman" panose="02020603050405020304" pitchFamily="18" charset="0"/>
              </a:rPr>
              <a:t>AES</a:t>
            </a:r>
            <a:r>
              <a:rPr lang="zh-CN" altLang="en-US" sz="2600">
                <a:latin typeface="Times New Roman" panose="02020603050405020304" pitchFamily="18" charset="0"/>
              </a:rPr>
              <a:t>算法的分组长度固定为</a:t>
            </a:r>
            <a:r>
              <a:rPr lang="en-US" altLang="zh-CN" sz="2600">
                <a:latin typeface="Times New Roman" panose="02020603050405020304" pitchFamily="18" charset="0"/>
              </a:rPr>
              <a:t>128</a:t>
            </a:r>
            <a:r>
              <a:rPr lang="zh-CN" altLang="en-US" sz="2600">
                <a:latin typeface="Times New Roman" panose="02020603050405020304" pitchFamily="18" charset="0"/>
              </a:rPr>
              <a:t>比特，以字节为基本单位转换为状态</a:t>
            </a:r>
            <a:r>
              <a:rPr lang="zh-CN" altLang="en-US" sz="2600">
                <a:solidFill>
                  <a:srgbClr val="FF0000"/>
                </a:solidFill>
                <a:latin typeface="Times New Roman" panose="02020603050405020304" pitchFamily="18" charset="0"/>
              </a:rPr>
              <a:t>字节</a:t>
            </a:r>
            <a:r>
              <a:rPr lang="zh-CN" altLang="en-US" sz="2600">
                <a:latin typeface="Times New Roman" panose="02020603050405020304" pitchFamily="18" charset="0"/>
              </a:rPr>
              <a:t>，依顺序 </a:t>
            </a:r>
            <a:r>
              <a:rPr lang="en-US" altLang="zh-CN" sz="2600">
                <a:latin typeface="Times New Roman" panose="02020603050405020304" pitchFamily="18" charset="0"/>
              </a:rPr>
              <a:t>a</a:t>
            </a:r>
            <a:r>
              <a:rPr lang="en-US" altLang="zh-CN" sz="2600" baseline="-25000">
                <a:latin typeface="Times New Roman" panose="02020603050405020304" pitchFamily="18" charset="0"/>
              </a:rPr>
              <a:t>00</a:t>
            </a:r>
            <a:r>
              <a:rPr lang="en-US" altLang="zh-CN" sz="2600">
                <a:latin typeface="Times New Roman" panose="02020603050405020304" pitchFamily="18" charset="0"/>
              </a:rPr>
              <a:t>,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10</a:t>
            </a:r>
            <a:r>
              <a:rPr lang="en-US" altLang="zh-CN" sz="2600">
                <a:latin typeface="Times New Roman" panose="02020603050405020304" pitchFamily="18" charset="0"/>
              </a:rPr>
              <a:t>,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20</a:t>
            </a:r>
            <a:r>
              <a:rPr lang="en-US" altLang="zh-CN" sz="2600">
                <a:latin typeface="Times New Roman" panose="02020603050405020304" pitchFamily="18" charset="0"/>
              </a:rPr>
              <a:t>,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30</a:t>
            </a:r>
            <a:r>
              <a:rPr lang="en-US" altLang="zh-CN" sz="2600">
                <a:latin typeface="Times New Roman" panose="02020603050405020304" pitchFamily="18" charset="0"/>
              </a:rPr>
              <a:t>,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01</a:t>
            </a:r>
            <a:r>
              <a:rPr lang="en-US" altLang="zh-CN" sz="2600">
                <a:latin typeface="Times New Roman" panose="02020603050405020304" pitchFamily="18" charset="0"/>
              </a:rPr>
              <a:t>, …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23</a:t>
            </a:r>
            <a:r>
              <a:rPr lang="en-US" altLang="zh-CN" sz="2600">
                <a:latin typeface="Times New Roman" panose="02020603050405020304" pitchFamily="18" charset="0"/>
              </a:rPr>
              <a:t>, a</a:t>
            </a:r>
            <a:r>
              <a:rPr lang="en-US" altLang="zh-CN" sz="2600" baseline="-25000">
                <a:latin typeface="Times New Roman" panose="02020603050405020304" pitchFamily="18" charset="0"/>
              </a:rPr>
              <a:t>33</a:t>
            </a:r>
            <a:r>
              <a:rPr lang="zh-CN" altLang="en-US" sz="2600">
                <a:latin typeface="Times New Roman" panose="02020603050405020304" pitchFamily="18" charset="0"/>
              </a:rPr>
              <a:t>，前</a:t>
            </a:r>
            <a:r>
              <a:rPr lang="en-US" altLang="zh-CN" sz="2600">
                <a:latin typeface="Times New Roman" panose="02020603050405020304" pitchFamily="18" charset="0"/>
              </a:rPr>
              <a:t>4</a:t>
            </a:r>
            <a:r>
              <a:rPr lang="zh-CN" altLang="en-US" sz="2600">
                <a:latin typeface="Times New Roman" panose="02020603050405020304" pitchFamily="18" charset="0"/>
              </a:rPr>
              <a:t>个字节组成第</a:t>
            </a:r>
            <a:r>
              <a:rPr lang="en-US" altLang="zh-CN" sz="2600"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列，后四个字节组成第</a:t>
            </a:r>
            <a:r>
              <a:rPr lang="en-US" altLang="zh-CN" sz="2600">
                <a:latin typeface="Times New Roman" panose="02020603050405020304" pitchFamily="18" charset="0"/>
              </a:rPr>
              <a:t>2</a:t>
            </a:r>
            <a:r>
              <a:rPr lang="zh-CN" altLang="en-US" sz="2600">
                <a:latin typeface="Times New Roman" panose="02020603050405020304" pitchFamily="18" charset="0"/>
              </a:rPr>
              <a:t>列，依次类推，</a:t>
            </a:r>
            <a:r>
              <a:rPr lang="en-US" altLang="zh-CN" sz="2600">
                <a:latin typeface="Times New Roman" panose="02020603050405020304" pitchFamily="18" charset="0"/>
              </a:rPr>
              <a:t>AES</a:t>
            </a:r>
            <a:r>
              <a:rPr lang="zh-CN" altLang="en-US" sz="2600">
                <a:latin typeface="Times New Roman" panose="02020603050405020304" pitchFamily="18" charset="0"/>
              </a:rPr>
              <a:t>算法明文分组可以构成一个</a:t>
            </a:r>
            <a:r>
              <a:rPr lang="en-US" altLang="zh-CN" sz="2600">
                <a:latin typeface="Times New Roman" panose="02020603050405020304" pitchFamily="18" charset="0"/>
              </a:rPr>
              <a:t>4×4</a:t>
            </a:r>
            <a:r>
              <a:rPr lang="zh-CN" altLang="en-US" sz="2600">
                <a:latin typeface="Times New Roman" panose="02020603050405020304" pitchFamily="18" charset="0"/>
              </a:rPr>
              <a:t>的字节矩阵，加密结束时，输出也是从状态字节中按相同的顺序提取。</a:t>
            </a:r>
            <a:endParaRPr lang="zh-CN" altLang="en-US" sz="2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AES</a:t>
            </a:r>
            <a:r>
              <a:rPr lang="zh-CN" altLang="en-US"/>
              <a:t>算法举例学习</a:t>
            </a: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2620963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下面我们以一个</a:t>
            </a:r>
            <a:r>
              <a:rPr lang="en-US" altLang="zh-CN">
                <a:latin typeface="Times New Roman" panose="02020603050405020304" pitchFamily="18" charset="0"/>
              </a:rPr>
              <a:t>128</a:t>
            </a:r>
            <a:r>
              <a:rPr lang="zh-CN" altLang="en-US">
                <a:latin typeface="Times New Roman" panose="02020603050405020304" pitchFamily="18" charset="0"/>
              </a:rPr>
              <a:t>位块为例，开始分别介绍</a:t>
            </a:r>
            <a:r>
              <a:rPr lang="en-US" altLang="zh-CN">
                <a:latin typeface="Times New Roman" panose="02020603050405020304" pitchFamily="18" charset="0"/>
              </a:rPr>
              <a:t>AES</a:t>
            </a:r>
            <a:r>
              <a:rPr lang="zh-CN" altLang="en-US">
                <a:latin typeface="Times New Roman" panose="02020603050405020304" pitchFamily="18" charset="0"/>
              </a:rPr>
              <a:t>加密算法基本变换的具体过程。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为了表达简洁，下面的中间结果都用</a:t>
            </a:r>
            <a:r>
              <a:rPr lang="en-US" altLang="zh-CN">
                <a:latin typeface="Times New Roman" panose="02020603050405020304" pitchFamily="18" charset="0"/>
              </a:rPr>
              <a:t>16</a:t>
            </a:r>
            <a:r>
              <a:rPr lang="zh-CN" altLang="en-US">
                <a:latin typeface="Times New Roman" panose="02020603050405020304" pitchFamily="18" charset="0"/>
              </a:rPr>
              <a:t>进制来表示。则</a:t>
            </a:r>
            <a:r>
              <a:rPr lang="en-US" altLang="zh-CN">
                <a:latin typeface="Times New Roman" panose="02020603050405020304" pitchFamily="18" charset="0"/>
              </a:rPr>
              <a:t>128</a:t>
            </a:r>
            <a:r>
              <a:rPr lang="zh-CN" altLang="en-US">
                <a:latin typeface="Times New Roman" panose="02020603050405020304" pitchFamily="18" charset="0"/>
              </a:rPr>
              <a:t>比特二进制示例块用</a:t>
            </a:r>
            <a:r>
              <a:rPr lang="en-US" altLang="zh-CN">
                <a:latin typeface="Times New Roman" panose="02020603050405020304" pitchFamily="18" charset="0"/>
              </a:rPr>
              <a:t>16</a:t>
            </a:r>
            <a:r>
              <a:rPr lang="zh-CN" altLang="en-US">
                <a:latin typeface="Times New Roman" panose="02020603050405020304" pitchFamily="18" charset="0"/>
              </a:rPr>
              <a:t>进制表示则对应为</a:t>
            </a:r>
            <a:r>
              <a:rPr lang="en-US" altLang="zh-CN">
                <a:latin typeface="Times New Roman" panose="02020603050405020304" pitchFamily="18" charset="0"/>
              </a:rPr>
              <a:t>0x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80 5E 6A 36 53 25 3A 66 63 35 69 03 20 6C 28 06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39940" name="对象 1"/>
          <p:cNvGraphicFramePr>
            <a:graphicFrameLocks noChangeAspect="1"/>
          </p:cNvGraphicFramePr>
          <p:nvPr/>
        </p:nvGraphicFramePr>
        <p:xfrm>
          <a:off x="179388" y="4149725"/>
          <a:ext cx="8569325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028055" imgH="1625600" progId="Visio.Drawing.11">
                  <p:embed/>
                </p:oleObj>
              </mc:Choice>
              <mc:Fallback>
                <p:oleObj name="" r:id="rId1" imgW="6028055" imgH="16256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149725"/>
                        <a:ext cx="8569325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初始密钥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47050" cy="1108075"/>
          </a:xfrm>
        </p:spPr>
        <p:txBody>
          <a:bodyPr/>
          <a:lstStyle/>
          <a:p>
            <a:pPr eaLnBrk="1" hangingPunct="1"/>
            <a:r>
              <a:rPr lang="zh-CN" altLang="en-US" sz="2400"/>
              <a:t>实例：设初始密钥（初始子密钥矩阵与明文类似</a:t>
            </a:r>
            <a:endParaRPr lang="zh-CN" altLang="en-US" sz="2400"/>
          </a:p>
          <a:p>
            <a:pPr eaLnBrk="1" hangingPunct="1"/>
            <a:r>
              <a:rPr lang="en-US" altLang="zh-CN" sz="2400"/>
              <a:t>0x 75 35 6B 99 05 61 39 56 73 62 05 31 00 55 09 32 </a:t>
            </a:r>
            <a:endParaRPr lang="en-US" altLang="zh-CN" sz="2400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068638"/>
            <a:ext cx="5040313" cy="306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轮密钥加</a:t>
            </a:r>
            <a:endParaRPr lang="zh-CN" altLang="en-US"/>
          </a:p>
        </p:txBody>
      </p:sp>
      <p:pic>
        <p:nvPicPr>
          <p:cNvPr id="41987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450" y="4443413"/>
            <a:ext cx="2376488" cy="1306512"/>
          </a:xfrm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365625"/>
            <a:ext cx="2592387" cy="157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365625"/>
            <a:ext cx="2447925" cy="146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90" name="Rectangle 7"/>
          <p:cNvSpPr>
            <a:spLocks noChangeArrowheads="1"/>
          </p:cNvSpPr>
          <p:nvPr/>
        </p:nvSpPr>
        <p:spPr bwMode="auto">
          <a:xfrm>
            <a:off x="2700338" y="4719638"/>
            <a:ext cx="75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3600">
                <a:latin typeface="Times New Roman" panose="02020603050405020304" pitchFamily="18" charset="0"/>
              </a:rPr>
              <a:t>⊕ </a:t>
            </a:r>
            <a:endParaRPr kumimoji="0"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41991" name="Rectangle 8"/>
          <p:cNvSpPr>
            <a:spLocks noChangeArrowheads="1"/>
          </p:cNvSpPr>
          <p:nvPr/>
        </p:nvSpPr>
        <p:spPr bwMode="auto">
          <a:xfrm>
            <a:off x="6011863" y="4868863"/>
            <a:ext cx="431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4000">
                <a:latin typeface="Times New Roman" panose="02020603050405020304" pitchFamily="18" charset="0"/>
              </a:rPr>
              <a:t>=</a:t>
            </a:r>
            <a:endParaRPr kumimoji="0" lang="en-US" altLang="zh-CN" sz="4000">
              <a:latin typeface="Times New Roman" panose="02020603050405020304" pitchFamily="18" charset="0"/>
            </a:endParaRPr>
          </a:p>
        </p:txBody>
      </p:sp>
      <p:graphicFrame>
        <p:nvGraphicFramePr>
          <p:cNvPr id="41992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1116013" y="2133600"/>
          <a:ext cx="7272337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5937885" imgH="1543685" progId="Visio.Drawing.11">
                  <p:embed/>
                </p:oleObj>
              </mc:Choice>
              <mc:Fallback>
                <p:oleObj name="" r:id="rId4" imgW="5937885" imgH="154368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33600"/>
                        <a:ext cx="7272337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11"/>
          <p:cNvSpPr>
            <a:spLocks noChangeArrowheads="1"/>
          </p:cNvSpPr>
          <p:nvPr/>
        </p:nvSpPr>
        <p:spPr bwMode="auto">
          <a:xfrm>
            <a:off x="539750" y="1196975"/>
            <a:ext cx="82296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350" indent="70993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0" lang="zh-CN" altLang="en-US"/>
              <a:t>此处轮密钥是初始密钥，轮密钥长度等于分组长度。 </a:t>
            </a:r>
            <a:endParaRPr kumimoji="0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字节代替（</a:t>
            </a:r>
            <a:r>
              <a:rPr lang="en-US" altLang="zh-CN"/>
              <a:t>SubBytes</a:t>
            </a:r>
            <a:r>
              <a:rPr lang="zh-CN" altLang="en-US"/>
              <a:t>） </a:t>
            </a:r>
            <a:endParaRPr lang="zh-CN" alt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字节变换（</a:t>
            </a:r>
            <a:r>
              <a:rPr lang="en-US" altLang="zh-CN" sz="2400"/>
              <a:t>SubBytes</a:t>
            </a:r>
            <a:r>
              <a:rPr lang="zh-CN" altLang="en-US" sz="2400"/>
              <a:t>）使用一个</a:t>
            </a:r>
            <a:r>
              <a:rPr lang="en-US" altLang="zh-CN" sz="2400"/>
              <a:t>S</a:t>
            </a:r>
            <a:r>
              <a:rPr lang="zh-CN" altLang="en-US" sz="2400"/>
              <a:t>盒，</a:t>
            </a:r>
            <a:r>
              <a:rPr lang="en-US" altLang="zh-CN" sz="2400"/>
              <a:t>S</a:t>
            </a:r>
            <a:r>
              <a:rPr lang="zh-CN" altLang="en-US" sz="2400"/>
              <a:t>盒是一个</a:t>
            </a:r>
            <a:r>
              <a:rPr lang="en-US" altLang="zh-CN" sz="2400"/>
              <a:t>16×16</a:t>
            </a:r>
            <a:r>
              <a:rPr lang="zh-CN" altLang="en-US" sz="2400"/>
              <a:t>的矩阵，如表所示。其非线性置换为：输入的列的每个元素用来指定</a:t>
            </a:r>
            <a:r>
              <a:rPr lang="en-US" altLang="zh-CN" sz="2400"/>
              <a:t>S</a:t>
            </a:r>
            <a:r>
              <a:rPr lang="zh-CN" altLang="en-US" sz="2400"/>
              <a:t>盒的地址：前</a:t>
            </a:r>
            <a:r>
              <a:rPr lang="en-US" altLang="zh-CN" sz="2400"/>
              <a:t>4</a:t>
            </a:r>
            <a:r>
              <a:rPr lang="zh-CN" altLang="en-US" sz="2400"/>
              <a:t>位指定</a:t>
            </a:r>
            <a:r>
              <a:rPr lang="en-US" altLang="zh-CN" sz="2400"/>
              <a:t>S</a:t>
            </a:r>
            <a:r>
              <a:rPr lang="zh-CN" altLang="en-US" sz="2400"/>
              <a:t>盒的行，后</a:t>
            </a:r>
            <a:r>
              <a:rPr lang="en-US" altLang="zh-CN" sz="2400"/>
              <a:t>4</a:t>
            </a:r>
            <a:r>
              <a:rPr lang="zh-CN" altLang="en-US" sz="2400"/>
              <a:t>位指定</a:t>
            </a:r>
            <a:r>
              <a:rPr lang="en-US" altLang="zh-CN" sz="2400"/>
              <a:t>S</a:t>
            </a:r>
            <a:r>
              <a:rPr lang="zh-CN" altLang="en-US" sz="2400"/>
              <a:t>盒的列。行和列所确定</a:t>
            </a:r>
            <a:r>
              <a:rPr lang="en-US" altLang="zh-CN" sz="2400"/>
              <a:t>S</a:t>
            </a:r>
            <a:r>
              <a:rPr lang="zh-CN" altLang="en-US" sz="2400"/>
              <a:t>盒位置的元素取代输入矩阵中相应位置的元素，例如“</a:t>
            </a:r>
            <a:r>
              <a:rPr lang="en-US" altLang="zh-CN" sz="2400"/>
              <a:t>03” </a:t>
            </a:r>
            <a:r>
              <a:rPr lang="zh-CN" altLang="en-US" sz="2400"/>
              <a:t>，行</a:t>
            </a:r>
            <a:r>
              <a:rPr lang="en-US" altLang="zh-CN" sz="2400"/>
              <a:t>0</a:t>
            </a:r>
            <a:r>
              <a:rPr lang="zh-CN" altLang="en-US" sz="2400"/>
              <a:t>，列</a:t>
            </a:r>
            <a:r>
              <a:rPr lang="en-US" altLang="zh-CN" sz="2400"/>
              <a:t>3</a:t>
            </a:r>
            <a:r>
              <a:rPr lang="zh-CN" altLang="en-US" sz="2400"/>
              <a:t>，因此输入“</a:t>
            </a:r>
            <a:r>
              <a:rPr lang="en-US" altLang="zh-CN" sz="2400"/>
              <a:t>03” </a:t>
            </a:r>
            <a:r>
              <a:rPr lang="zh-CN" altLang="en-US" sz="2400"/>
              <a:t>，输出“</a:t>
            </a:r>
            <a:r>
              <a:rPr lang="en-US" altLang="zh-CN" sz="2400"/>
              <a:t>7B”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221163"/>
            <a:ext cx="7920038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字节替代所用</a:t>
            </a:r>
            <a:r>
              <a:rPr lang="en-US" altLang="zh-CN"/>
              <a:t>S</a:t>
            </a:r>
            <a:r>
              <a:rPr lang="zh-CN" altLang="en-US"/>
              <a:t>盒</a:t>
            </a:r>
            <a:endParaRPr lang="zh-CN" altLang="en-US"/>
          </a:p>
        </p:txBody>
      </p:sp>
      <p:pic>
        <p:nvPicPr>
          <p:cNvPr id="44035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412875"/>
            <a:ext cx="7705725" cy="49720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字节替代举例</a:t>
            </a:r>
            <a:endParaRPr lang="zh-CN" altLang="en-US"/>
          </a:p>
        </p:txBody>
      </p:sp>
      <p:pic>
        <p:nvPicPr>
          <p:cNvPr id="45059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989138"/>
            <a:ext cx="8353425" cy="25193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900113" y="4508500"/>
            <a:ext cx="7343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35305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在上面的示例中，第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个基本元素为”</a:t>
            </a:r>
            <a:r>
              <a:rPr lang="en-US" altLang="zh-CN" sz="2400">
                <a:latin typeface="Times New Roman" panose="02020603050405020304" pitchFamily="18" charset="0"/>
              </a:rPr>
              <a:t>F5”</a:t>
            </a:r>
            <a:r>
              <a:rPr lang="zh-CN" altLang="en-US" sz="2400">
                <a:latin typeface="Times New Roman" panose="02020603050405020304" pitchFamily="18" charset="0"/>
              </a:rPr>
              <a:t>，它将被</a:t>
            </a:r>
            <a:r>
              <a:rPr lang="en-US" altLang="zh-CN" sz="2400">
                <a:latin typeface="Times New Roman" panose="02020603050405020304" pitchFamily="18" charset="0"/>
              </a:rPr>
              <a:t>S</a:t>
            </a:r>
            <a:r>
              <a:rPr lang="zh-CN" altLang="en-US" sz="2400">
                <a:latin typeface="Times New Roman" panose="02020603050405020304" pitchFamily="18" charset="0"/>
              </a:rPr>
              <a:t>盒行为第”</a:t>
            </a:r>
            <a:r>
              <a:rPr lang="en-US" altLang="zh-CN" sz="2400">
                <a:latin typeface="Times New Roman" panose="02020603050405020304" pitchFamily="18" charset="0"/>
              </a:rPr>
              <a:t>F</a:t>
            </a:r>
            <a:r>
              <a:rPr lang="zh-CN" altLang="en-US" sz="2400">
                <a:latin typeface="Times New Roman" panose="02020603050405020304" pitchFamily="18" charset="0"/>
              </a:rPr>
              <a:t>行”、列为第”</a:t>
            </a:r>
            <a:r>
              <a:rPr lang="en-US" altLang="zh-CN" sz="2400">
                <a:latin typeface="Times New Roman" panose="02020603050405020304" pitchFamily="18" charset="0"/>
              </a:rPr>
              <a:t>5”</a:t>
            </a:r>
            <a:r>
              <a:rPr lang="zh-CN" altLang="en-US" sz="2400">
                <a:latin typeface="Times New Roman" panose="02020603050405020304" pitchFamily="18" charset="0"/>
              </a:rPr>
              <a:t>列的元素“</a:t>
            </a:r>
            <a:r>
              <a:rPr lang="en-US" altLang="zh-CN" sz="2400">
                <a:latin typeface="Times New Roman" panose="02020603050405020304" pitchFamily="18" charset="0"/>
              </a:rPr>
              <a:t>E6“</a:t>
            </a:r>
            <a:r>
              <a:rPr lang="zh-CN" altLang="en-US" sz="2400">
                <a:latin typeface="Times New Roman" panose="02020603050405020304" pitchFamily="18" charset="0"/>
              </a:rPr>
              <a:t>代替，其余的输出也用相同的方法确定。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zh-CN" altLang="en-US" sz="3200"/>
              <a:t>行移位（</a:t>
            </a:r>
            <a:r>
              <a:rPr lang="en-US" altLang="zh-CN" sz="3200"/>
              <a:t>ShiftRows</a:t>
            </a:r>
            <a:r>
              <a:rPr lang="zh-CN" altLang="en-US" sz="3200"/>
              <a:t>） </a:t>
            </a:r>
            <a:endParaRPr lang="zh-CN" altLang="en-US" sz="320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5738"/>
            <a:ext cx="8229600" cy="11080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状态阵列的</a:t>
            </a: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个行循环以字节为基本单位进行左移，而每行循环左移的偏移量分别是</a:t>
            </a:r>
            <a:r>
              <a:rPr lang="en-US" altLang="zh-CN" sz="2400">
                <a:latin typeface="Times New Roman" panose="02020603050405020304" pitchFamily="18" charset="0"/>
              </a:rPr>
              <a:t>0,1,2,3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  <a:endParaRPr lang="zh-CN" altLang="en-US" sz="2400"/>
          </a:p>
        </p:txBody>
      </p:sp>
      <p:pic>
        <p:nvPicPr>
          <p:cNvPr id="46084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716338"/>
            <a:ext cx="78486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行移位举例</a:t>
            </a:r>
            <a:endParaRPr lang="zh-CN" altLang="en-US"/>
          </a:p>
        </p:txBody>
      </p:sp>
      <p:pic>
        <p:nvPicPr>
          <p:cNvPr id="47107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2276475"/>
            <a:ext cx="8353425" cy="27368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0" y="765175"/>
            <a:ext cx="9144000" cy="5759450"/>
          </a:xfrm>
          <a:noFill/>
        </p:spPr>
        <p:txBody>
          <a:bodyPr/>
          <a:lstStyle/>
          <a:p>
            <a:pPr marL="287655" indent="-6350" algn="l" eaLnBrk="1" hangingPunct="1"/>
            <a:r>
              <a:rPr lang="en-US" altLang="zh-CN" dirty="0"/>
              <a:t>3</a:t>
            </a:r>
            <a:r>
              <a:rPr lang="zh-CN" altLang="en-US" dirty="0"/>
              <a:t>）列混合（</a:t>
            </a:r>
            <a:r>
              <a:rPr lang="en-US" altLang="zh-CN" dirty="0" err="1"/>
              <a:t>MixColumn</a:t>
            </a:r>
            <a:r>
              <a:rPr lang="zh-CN" altLang="en-US" dirty="0"/>
              <a:t>）</a:t>
            </a:r>
            <a:endParaRPr lang="zh-CN" altLang="en-US" dirty="0"/>
          </a:p>
          <a:p>
            <a:pPr marL="287655" indent="-6350" algn="l" eaLnBrk="1" hangingPunct="1"/>
            <a:r>
              <a:rPr lang="zh-CN" altLang="en-US" dirty="0"/>
              <a:t>列混合变换是通过矩阵相乘来实现的，经行移位后的状态矩阵与固定的矩阵相乘，得到混淆后的状态矩阵：</a:t>
            </a:r>
            <a:endParaRPr lang="en-US" altLang="zh-CN" dirty="0"/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681413" y="250825"/>
            <a:ext cx="157003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sz="3600">
                <a:latin typeface="华文行楷" panose="02010800040101010101" pitchFamily="2" charset="-122"/>
                <a:ea typeface="华文行楷" panose="02010800040101010101" pitchFamily="2" charset="-122"/>
              </a:rPr>
              <a:t>列混合</a:t>
            </a:r>
            <a:endParaRPr kumimoji="0" lang="zh-CN" altLang="en-US" sz="36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8132" name="Object 8"/>
          <p:cNvGraphicFramePr>
            <a:graphicFrameLocks noChangeAspect="1"/>
          </p:cNvGraphicFramePr>
          <p:nvPr/>
        </p:nvGraphicFramePr>
        <p:xfrm>
          <a:off x="107950" y="2565400"/>
          <a:ext cx="3490913" cy="19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676400" imgH="939800" progId="Equation.DSMT4">
                  <p:embed/>
                </p:oleObj>
              </mc:Choice>
              <mc:Fallback>
                <p:oleObj name="Equation" r:id="rId1" imgW="1676400" imgH="93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2565400"/>
                        <a:ext cx="3490913" cy="195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6"/>
          <p:cNvGraphicFramePr>
            <a:graphicFrameLocks noChangeAspect="1"/>
          </p:cNvGraphicFramePr>
          <p:nvPr/>
        </p:nvGraphicFramePr>
        <p:xfrm>
          <a:off x="1979613" y="3736975"/>
          <a:ext cx="6769100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4144645" imgH="1745615" progId="Visio.Drawing.11">
                  <p:embed/>
                </p:oleObj>
              </mc:Choice>
              <mc:Fallback>
                <p:oleObj name="" r:id="rId3" imgW="4144645" imgH="174561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736975"/>
                        <a:ext cx="6769100" cy="284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文本框 6"/>
          <p:cNvSpPr txBox="1">
            <a:spLocks noChangeArrowheads="1"/>
          </p:cNvSpPr>
          <p:nvPr/>
        </p:nvSpPr>
        <p:spPr bwMode="auto">
          <a:xfrm>
            <a:off x="3995738" y="2276475"/>
            <a:ext cx="48244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其中，矩阵元素的乘法和加法都是定义在基于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GF(2^8)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上的二元运算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并不是通常意义上的乘法和加法。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zh-CN" altLang="en-US" dirty="0"/>
              <a:t>列混合举例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9512" y="883053"/>
                <a:ext cx="8784976" cy="297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其中，矩阵元素的乘法和加法都是定义在基于有限域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上的二元运算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并不是通常意义上的乘法和加法。</a:t>
                </a:r>
                <a:endParaRPr lang="en-US" altLang="zh-CN" dirty="0"/>
              </a:p>
              <a:p>
                <a:r>
                  <a:rPr lang="zh-CN" altLang="en-US" dirty="0"/>
                  <a:t>输入矩阵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用 </a:t>
                </a:r>
                <a:r>
                  <a:rPr lang="en-US" altLang="zh-CN" dirty="0"/>
                  <a:t>16 </a:t>
                </a:r>
                <a:r>
                  <a:rPr lang="zh-CN" altLang="en-US" dirty="0"/>
                  <a:t>进制表示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进入列混合操作，则相应的输出如下所示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03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03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𝐹𝐷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79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883053"/>
                <a:ext cx="8784976" cy="2977995"/>
              </a:xfrm>
              <a:prstGeom prst="rect">
                <a:avLst/>
              </a:prstGeom>
              <a:blipFill rotWithShape="1">
                <a:blip r:embed="rId1"/>
                <a:stretch>
                  <a:fillRect l="-5" t="-14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739"/>
            <a:ext cx="9144000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93038" cy="852488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/>
              <a:t>列混合举例（参考第</a:t>
            </a:r>
            <a:r>
              <a:rPr lang="en-US" altLang="zh-CN"/>
              <a:t>41</a:t>
            </a:r>
            <a:r>
              <a:rPr lang="zh-CN" altLang="en-US"/>
              <a:t>页两种算法）</a:t>
            </a:r>
            <a:endParaRPr lang="zh-CN" altLang="en-US">
              <a:solidFill>
                <a:schemeClr val="folHlin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227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1"/>
            <a:stretch>
              <a:fillRect l="-1407" t="-1887" b="-3369"/>
            </a:stretch>
          </a:blipFill>
        </p:spPr>
        <p:txBody>
          <a:bodyPr/>
          <a:lstStyle/>
          <a:p>
            <a:pPr>
              <a:defRPr/>
            </a:pPr>
            <a:r>
              <a:rPr lang="en-CA" dirty="0">
                <a:noFill/>
              </a:rPr>
              <a:t> </a:t>
            </a:r>
            <a:endParaRPr lang="en-CA" dirty="0">
              <a:noFill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轮密钥加（</a:t>
            </a:r>
            <a:r>
              <a:rPr lang="en-US" altLang="zh-CN"/>
              <a:t>AddRoundKey</a:t>
            </a:r>
            <a:r>
              <a:rPr lang="zh-CN" altLang="en-US"/>
              <a:t>） 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73263"/>
          </a:xfrm>
        </p:spPr>
        <p:txBody>
          <a:bodyPr/>
          <a:lstStyle/>
          <a:p>
            <a:pPr eaLnBrk="1" hangingPunct="1"/>
            <a:r>
              <a:rPr lang="zh-CN" altLang="en-US"/>
              <a:t>将列混合的状态矩阵与子密钥进行</a:t>
            </a:r>
            <a:r>
              <a:rPr lang="en-US" altLang="zh-CN"/>
              <a:t>XOR</a:t>
            </a:r>
            <a:r>
              <a:rPr lang="zh-CN" altLang="en-US"/>
              <a:t>逻辑运算（子密钥是从初始密钥派生而来的），即将轮密钥与状态按比特异或。轮密钥是通过密钥调度过程从密码密钥中得到的，轮密钥长度等于分组长度。 </a:t>
            </a:r>
            <a:endParaRPr lang="zh-CN" altLang="en-US"/>
          </a:p>
        </p:txBody>
      </p:sp>
      <p:sp>
        <p:nvSpPr>
          <p:cNvPr id="53252" name="Rectangle 5"/>
          <p:cNvSpPr>
            <a:spLocks noChangeArrowheads="1"/>
          </p:cNvSpPr>
          <p:nvPr/>
        </p:nvSpPr>
        <p:spPr bwMode="auto">
          <a:xfrm>
            <a:off x="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3253" name="Object 4"/>
          <p:cNvGraphicFramePr>
            <a:graphicFrameLocks noChangeAspect="1"/>
          </p:cNvGraphicFramePr>
          <p:nvPr/>
        </p:nvGraphicFramePr>
        <p:xfrm>
          <a:off x="250825" y="3644900"/>
          <a:ext cx="87487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937885" imgH="1543685" progId="Visio.Drawing.11">
                  <p:embed/>
                </p:oleObj>
              </mc:Choice>
              <mc:Fallback>
                <p:oleObj name="" r:id="rId1" imgW="5937885" imgH="154368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44900"/>
                        <a:ext cx="87487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轮密钥加 举例</a:t>
            </a:r>
            <a:endParaRPr lang="zh-CN" altLang="en-US"/>
          </a:p>
        </p:txBody>
      </p:sp>
      <p:pic>
        <p:nvPicPr>
          <p:cNvPr id="54275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2281238"/>
            <a:ext cx="8856663" cy="23717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密钥排列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AES</a:t>
            </a:r>
            <a:r>
              <a:rPr lang="zh-CN" altLang="en-US">
                <a:latin typeface="Times New Roman" panose="02020603050405020304" pitchFamily="18" charset="0"/>
              </a:rPr>
              <a:t>算法加密和解密过程中密码密钥（</a:t>
            </a:r>
            <a:r>
              <a:rPr lang="en-US" altLang="zh-CN">
                <a:latin typeface="Times New Roman" panose="02020603050405020304" pitchFamily="18" charset="0"/>
              </a:rPr>
              <a:t>Cipher Key</a:t>
            </a:r>
            <a:r>
              <a:rPr lang="zh-CN" altLang="en-US">
                <a:latin typeface="Times New Roman" panose="02020603050405020304" pitchFamily="18" charset="0"/>
              </a:rPr>
              <a:t>）同样以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字节</a:t>
            </a:r>
            <a:r>
              <a:rPr lang="zh-CN" altLang="en-US">
                <a:latin typeface="Times New Roman" panose="02020603050405020304" pitchFamily="18" charset="0"/>
              </a:rPr>
              <a:t>为基本单位转换，因而依顺序 </a:t>
            </a:r>
            <a:r>
              <a:rPr lang="en-US" altLang="zh-CN"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</a:rPr>
              <a:t>00</a:t>
            </a:r>
            <a:r>
              <a:rPr lang="en-US" altLang="zh-CN">
                <a:latin typeface="Times New Roman" panose="02020603050405020304" pitchFamily="18" charset="0"/>
              </a:rPr>
              <a:t>, k</a:t>
            </a:r>
            <a:r>
              <a:rPr lang="en-US" altLang="zh-CN" baseline="-25000">
                <a:latin typeface="Times New Roman" panose="02020603050405020304" pitchFamily="18" charset="0"/>
              </a:rPr>
              <a:t> 10</a:t>
            </a:r>
            <a:r>
              <a:rPr lang="en-US" altLang="zh-CN">
                <a:latin typeface="Times New Roman" panose="02020603050405020304" pitchFamily="18" charset="0"/>
              </a:rPr>
              <a:t>, k</a:t>
            </a:r>
            <a:r>
              <a:rPr lang="en-US" altLang="zh-CN" baseline="-25000">
                <a:latin typeface="Times New Roman" panose="02020603050405020304" pitchFamily="18" charset="0"/>
              </a:rPr>
              <a:t>20</a:t>
            </a:r>
            <a:r>
              <a:rPr lang="en-US" altLang="zh-CN">
                <a:latin typeface="Times New Roman" panose="02020603050405020304" pitchFamily="18" charset="0"/>
              </a:rPr>
              <a:t>, k</a:t>
            </a:r>
            <a:r>
              <a:rPr lang="en-US" altLang="zh-CN" baseline="-25000">
                <a:latin typeface="Times New Roman" panose="02020603050405020304" pitchFamily="18" charset="0"/>
              </a:rPr>
              <a:t>30</a:t>
            </a:r>
            <a:r>
              <a:rPr lang="en-US" altLang="zh-CN">
                <a:latin typeface="Times New Roman" panose="02020603050405020304" pitchFamily="18" charset="0"/>
              </a:rPr>
              <a:t>, k</a:t>
            </a:r>
            <a:r>
              <a:rPr lang="en-US" altLang="zh-CN" baseline="-25000">
                <a:latin typeface="Times New Roman" panose="02020603050405020304" pitchFamily="18" charset="0"/>
              </a:rPr>
              <a:t>01</a:t>
            </a:r>
            <a:r>
              <a:rPr lang="en-US" altLang="zh-CN">
                <a:latin typeface="Times New Roman" panose="02020603050405020304" pitchFamily="18" charset="0"/>
              </a:rPr>
              <a:t>,…k</a:t>
            </a:r>
            <a:r>
              <a:rPr lang="en-US" altLang="zh-CN" baseline="-25000">
                <a:latin typeface="Times New Roman" panose="02020603050405020304" pitchFamily="18" charset="0"/>
              </a:rPr>
              <a:t>23</a:t>
            </a:r>
            <a:r>
              <a:rPr lang="en-US" altLang="zh-CN">
                <a:latin typeface="Times New Roman" panose="02020603050405020304" pitchFamily="18" charset="0"/>
              </a:rPr>
              <a:t>, k</a:t>
            </a:r>
            <a:r>
              <a:rPr lang="en-US" altLang="zh-CN" baseline="-25000">
                <a:latin typeface="Times New Roman" panose="02020603050405020304" pitchFamily="18" charset="0"/>
              </a:rPr>
              <a:t>33</a:t>
            </a:r>
            <a:r>
              <a:rPr lang="zh-CN" altLang="en-US">
                <a:latin typeface="Times New Roman" panose="02020603050405020304" pitchFamily="18" charset="0"/>
              </a:rPr>
              <a:t>，为类似地用一个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行的矩阵阵列来表示，前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个字节组成第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列，后四个字节组成第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列，依次类推，列数记为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k 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AES</a:t>
            </a:r>
            <a:r>
              <a:rPr lang="zh-CN" altLang="en-US">
                <a:latin typeface="Times New Roman" panose="02020603050405020304" pitchFamily="18" charset="0"/>
              </a:rPr>
              <a:t>算法的密码密钥的列数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Times New Roman" panose="02020603050405020304" pitchFamily="18" charset="0"/>
              </a:rPr>
              <a:t>k</a:t>
            </a:r>
            <a:r>
              <a:rPr lang="zh-CN" altLang="en-US">
                <a:latin typeface="Times New Roman" panose="02020603050405020304" pitchFamily="18" charset="0"/>
              </a:rPr>
              <a:t>可以取的值为</a:t>
            </a:r>
            <a:r>
              <a:rPr lang="en-US" altLang="zh-CN">
                <a:latin typeface="Times New Roman" panose="02020603050405020304" pitchFamily="18" charset="0"/>
              </a:rPr>
              <a:t>4,6,8,</a:t>
            </a:r>
            <a:r>
              <a:rPr lang="zh-CN" altLang="en-US">
                <a:latin typeface="Times New Roman" panose="02020603050405020304" pitchFamily="18" charset="0"/>
              </a:rPr>
              <a:t>对应的密钥长度为</a:t>
            </a:r>
            <a:r>
              <a:rPr lang="en-US" altLang="zh-CN">
                <a:latin typeface="Times New Roman" panose="02020603050405020304" pitchFamily="18" charset="0"/>
              </a:rPr>
              <a:t>128,192,256bits</a:t>
            </a:r>
            <a:r>
              <a:rPr lang="zh-CN" altLang="en-US">
                <a:latin typeface="Times New Roman" panose="02020603050405020304" pitchFamily="18" charset="0"/>
              </a:rPr>
              <a:t>，因而密码密钥构成一个</a:t>
            </a:r>
            <a:r>
              <a:rPr lang="en-US" altLang="zh-CN">
                <a:latin typeface="Times New Roman" panose="02020603050405020304" pitchFamily="18" charset="0"/>
              </a:rPr>
              <a:t>4×4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4×6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4×8</a:t>
            </a:r>
            <a:r>
              <a:rPr lang="zh-CN" altLang="en-US">
                <a:latin typeface="Times New Roman" panose="02020603050405020304" pitchFamily="18" charset="0"/>
              </a:rPr>
              <a:t>的密钥字节矩阵。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密钥阵列状态 </a:t>
            </a:r>
            <a:endParaRPr lang="zh-CN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如图所示，</a:t>
            </a:r>
            <a:r>
              <a:rPr lang="en-US" altLang="zh-CN" sz="2400">
                <a:latin typeface="Times New Roman" panose="02020603050405020304" pitchFamily="18" charset="0"/>
              </a:rPr>
              <a:t>192</a:t>
            </a:r>
            <a:r>
              <a:rPr lang="zh-CN" altLang="en-US" sz="2400">
                <a:latin typeface="Times New Roman" panose="02020603050405020304" pitchFamily="18" charset="0"/>
              </a:rPr>
              <a:t>比特密钥的密码密钥矩阵，</a:t>
            </a: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</a:rPr>
              <a:t>k</a:t>
            </a:r>
            <a:r>
              <a:rPr lang="zh-CN" altLang="en-US" sz="2400">
                <a:latin typeface="Times New Roman" panose="02020603050405020304" pitchFamily="18" charset="0"/>
              </a:rPr>
              <a:t>为</a:t>
            </a:r>
            <a:r>
              <a:rPr lang="en-US" altLang="zh-CN" sz="2400">
                <a:latin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  <a:endParaRPr lang="zh-CN" altLang="en-US" sz="2400"/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116013" y="2924175"/>
            <a:ext cx="640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36838"/>
            <a:ext cx="8604250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326" name="Group 30"/>
          <p:cNvGrpSpPr/>
          <p:nvPr/>
        </p:nvGrpSpPr>
        <p:grpSpPr bwMode="auto">
          <a:xfrm>
            <a:off x="1403350" y="5229225"/>
            <a:ext cx="6273800" cy="1571625"/>
            <a:chOff x="930" y="2886"/>
            <a:chExt cx="3816" cy="990"/>
          </a:xfrm>
        </p:grpSpPr>
        <p:sp>
          <p:nvSpPr>
            <p:cNvPr id="56333" name="Rectangle 25"/>
            <p:cNvSpPr>
              <a:spLocks noChangeArrowheads="1"/>
            </p:cNvSpPr>
            <p:nvPr/>
          </p:nvSpPr>
          <p:spPr bwMode="auto">
            <a:xfrm>
              <a:off x="2835" y="2886"/>
              <a:ext cx="636" cy="839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b="1"/>
            </a:p>
          </p:txBody>
        </p:sp>
        <p:sp>
          <p:nvSpPr>
            <p:cNvPr id="56334" name="Rectangle 22"/>
            <p:cNvSpPr>
              <a:spLocks noChangeArrowheads="1"/>
            </p:cNvSpPr>
            <p:nvPr/>
          </p:nvSpPr>
          <p:spPr bwMode="auto">
            <a:xfrm>
              <a:off x="3470" y="2886"/>
              <a:ext cx="636" cy="839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b="1"/>
            </a:p>
          </p:txBody>
        </p:sp>
        <p:sp>
          <p:nvSpPr>
            <p:cNvPr id="56335" name="Rectangle 8"/>
            <p:cNvSpPr>
              <a:spLocks noChangeArrowheads="1"/>
            </p:cNvSpPr>
            <p:nvPr/>
          </p:nvSpPr>
          <p:spPr bwMode="auto">
            <a:xfrm>
              <a:off x="4105" y="2886"/>
              <a:ext cx="636" cy="839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en-US" altLang="zh-CN" sz="2400" b="1"/>
            </a:p>
            <a:p>
              <a:pPr eaLnBrk="1" hangingPunct="1"/>
              <a:endParaRPr kumimoji="0" lang="en-US" altLang="zh-CN" sz="2400" b="1"/>
            </a:p>
            <a:p>
              <a:pPr eaLnBrk="1" hangingPunct="1"/>
              <a:r>
                <a:rPr kumimoji="0" lang="en-US" altLang="zh-CN" sz="2400" b="1"/>
                <a:t>W</a:t>
              </a:r>
              <a:r>
                <a:rPr kumimoji="0" lang="en-US" altLang="zh-CN" sz="1800" b="1"/>
                <a:t>5</a:t>
              </a:r>
              <a:endParaRPr kumimoji="0" lang="en-US" altLang="zh-CN" sz="1800" b="1"/>
            </a:p>
          </p:txBody>
        </p:sp>
        <p:sp>
          <p:nvSpPr>
            <p:cNvPr id="56336" name="Rectangle 9"/>
            <p:cNvSpPr>
              <a:spLocks noChangeArrowheads="1"/>
            </p:cNvSpPr>
            <p:nvPr/>
          </p:nvSpPr>
          <p:spPr bwMode="auto">
            <a:xfrm>
              <a:off x="2202" y="2886"/>
              <a:ext cx="636" cy="839"/>
            </a:xfrm>
            <a:prstGeom prst="rect">
              <a:avLst/>
            </a:prstGeom>
            <a:solidFill>
              <a:srgbClr val="99FF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en-US" altLang="zh-CN" sz="2400" b="1"/>
            </a:p>
            <a:p>
              <a:pPr eaLnBrk="1" hangingPunct="1"/>
              <a:endParaRPr kumimoji="0" lang="en-US" altLang="zh-CN" sz="2400" b="1"/>
            </a:p>
            <a:p>
              <a:pPr eaLnBrk="1" hangingPunct="1"/>
              <a:r>
                <a:rPr kumimoji="0" lang="en-US" altLang="zh-CN" sz="2400" b="1"/>
                <a:t>W</a:t>
              </a:r>
              <a:r>
                <a:rPr kumimoji="0" lang="en-US" altLang="zh-CN" sz="1600" b="1"/>
                <a:t>2</a:t>
              </a:r>
              <a:endParaRPr kumimoji="0" lang="en-US" altLang="zh-CN" sz="1600" b="1"/>
            </a:p>
          </p:txBody>
        </p:sp>
        <p:sp>
          <p:nvSpPr>
            <p:cNvPr id="56337" name="Rectangle 10"/>
            <p:cNvSpPr>
              <a:spLocks noChangeArrowheads="1"/>
            </p:cNvSpPr>
            <p:nvPr/>
          </p:nvSpPr>
          <p:spPr bwMode="auto">
            <a:xfrm>
              <a:off x="1566" y="2886"/>
              <a:ext cx="636" cy="83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en-US" altLang="zh-CN" sz="2400" b="1"/>
            </a:p>
            <a:p>
              <a:pPr eaLnBrk="1" hangingPunct="1"/>
              <a:endParaRPr kumimoji="0" lang="en-US" altLang="zh-CN" sz="2400" b="1"/>
            </a:p>
            <a:p>
              <a:pPr eaLnBrk="1" hangingPunct="1"/>
              <a:r>
                <a:rPr kumimoji="0" lang="en-US" altLang="zh-CN" sz="2400" b="1"/>
                <a:t>W</a:t>
              </a:r>
              <a:r>
                <a:rPr kumimoji="0" lang="en-US" altLang="zh-CN" sz="1600" b="1"/>
                <a:t>1</a:t>
              </a:r>
              <a:endParaRPr kumimoji="0" lang="en-US" altLang="zh-CN" sz="1600" b="1"/>
            </a:p>
          </p:txBody>
        </p:sp>
        <p:sp>
          <p:nvSpPr>
            <p:cNvPr id="56338" name="Rectangle 11"/>
            <p:cNvSpPr>
              <a:spLocks noChangeArrowheads="1"/>
            </p:cNvSpPr>
            <p:nvPr/>
          </p:nvSpPr>
          <p:spPr bwMode="auto">
            <a:xfrm>
              <a:off x="930" y="2886"/>
              <a:ext cx="636" cy="8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en-US" altLang="zh-CN" sz="2400" b="1"/>
            </a:p>
            <a:p>
              <a:pPr eaLnBrk="1" hangingPunct="1"/>
              <a:endParaRPr kumimoji="0" lang="en-US" altLang="zh-CN" sz="2400" b="1"/>
            </a:p>
            <a:p>
              <a:pPr eaLnBrk="1" hangingPunct="1"/>
              <a:r>
                <a:rPr kumimoji="0" lang="en-US" altLang="zh-CN" sz="2400" b="1"/>
                <a:t>W</a:t>
              </a:r>
              <a:r>
                <a:rPr kumimoji="0" lang="en-US" altLang="zh-CN" sz="1600" b="1"/>
                <a:t>0</a:t>
              </a:r>
              <a:endParaRPr kumimoji="0" lang="en-US" altLang="zh-CN" sz="1600" b="1"/>
            </a:p>
          </p:txBody>
        </p:sp>
        <p:sp>
          <p:nvSpPr>
            <p:cNvPr id="56339" name="Line 12"/>
            <p:cNvSpPr>
              <a:spLocks noChangeShapeType="1"/>
            </p:cNvSpPr>
            <p:nvPr/>
          </p:nvSpPr>
          <p:spPr bwMode="auto">
            <a:xfrm>
              <a:off x="930" y="2886"/>
              <a:ext cx="3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Line 13"/>
            <p:cNvSpPr>
              <a:spLocks noChangeShapeType="1"/>
            </p:cNvSpPr>
            <p:nvPr/>
          </p:nvSpPr>
          <p:spPr bwMode="auto">
            <a:xfrm>
              <a:off x="930" y="3748"/>
              <a:ext cx="3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Line 14"/>
            <p:cNvSpPr>
              <a:spLocks noChangeShapeType="1"/>
            </p:cNvSpPr>
            <p:nvPr/>
          </p:nvSpPr>
          <p:spPr bwMode="auto">
            <a:xfrm>
              <a:off x="930" y="2886"/>
              <a:ext cx="0" cy="8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2" name="Line 15"/>
            <p:cNvSpPr>
              <a:spLocks noChangeShapeType="1"/>
            </p:cNvSpPr>
            <p:nvPr/>
          </p:nvSpPr>
          <p:spPr bwMode="auto">
            <a:xfrm>
              <a:off x="1566" y="2886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3" name="Line 16"/>
            <p:cNvSpPr>
              <a:spLocks noChangeShapeType="1"/>
            </p:cNvSpPr>
            <p:nvPr/>
          </p:nvSpPr>
          <p:spPr bwMode="auto">
            <a:xfrm>
              <a:off x="2202" y="2886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4" name="Line 17"/>
            <p:cNvSpPr>
              <a:spLocks noChangeShapeType="1"/>
            </p:cNvSpPr>
            <p:nvPr/>
          </p:nvSpPr>
          <p:spPr bwMode="auto">
            <a:xfrm>
              <a:off x="2838" y="2886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5" name="Line 18"/>
            <p:cNvSpPr>
              <a:spLocks noChangeShapeType="1"/>
            </p:cNvSpPr>
            <p:nvPr/>
          </p:nvSpPr>
          <p:spPr bwMode="auto">
            <a:xfrm>
              <a:off x="4746" y="2886"/>
              <a:ext cx="0" cy="8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6" name="Line 23"/>
            <p:cNvSpPr>
              <a:spLocks noChangeShapeType="1"/>
            </p:cNvSpPr>
            <p:nvPr/>
          </p:nvSpPr>
          <p:spPr bwMode="auto">
            <a:xfrm>
              <a:off x="4110" y="2886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7" name="Line 26"/>
            <p:cNvSpPr>
              <a:spLocks noChangeShapeType="1"/>
            </p:cNvSpPr>
            <p:nvPr/>
          </p:nvSpPr>
          <p:spPr bwMode="auto">
            <a:xfrm>
              <a:off x="3470" y="2886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8" name="Rectangle 28"/>
            <p:cNvSpPr>
              <a:spLocks noChangeArrowheads="1"/>
            </p:cNvSpPr>
            <p:nvPr/>
          </p:nvSpPr>
          <p:spPr bwMode="auto">
            <a:xfrm>
              <a:off x="2880" y="3430"/>
              <a:ext cx="361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W</a:t>
              </a:r>
              <a:r>
                <a:rPr kumimoji="0" lang="en-US" altLang="zh-CN" sz="2400" b="1" baseline="-25000">
                  <a:latin typeface="Times New Roman" panose="02020603050405020304" pitchFamily="18" charset="0"/>
                </a:rPr>
                <a:t>3</a:t>
              </a:r>
              <a:endParaRPr kumimoji="0"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6349" name="Rectangle 29"/>
            <p:cNvSpPr>
              <a:spLocks noChangeArrowheads="1"/>
            </p:cNvSpPr>
            <p:nvPr/>
          </p:nvSpPr>
          <p:spPr bwMode="auto">
            <a:xfrm>
              <a:off x="3590" y="3430"/>
              <a:ext cx="36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0" lang="en-US" altLang="zh-CN" sz="2400" b="1">
                  <a:latin typeface="Times New Roman" panose="02020603050405020304" pitchFamily="18" charset="0"/>
                </a:rPr>
                <a:t>W</a:t>
              </a:r>
              <a:r>
                <a:rPr kumimoji="0" lang="en-US" altLang="zh-CN" sz="2400" b="1" baseline="-25000">
                  <a:latin typeface="Times New Roman" panose="02020603050405020304" pitchFamily="18" charset="0"/>
                </a:rPr>
                <a:t>4</a:t>
              </a:r>
              <a:endParaRPr kumimoji="0"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56327" name="Line 31"/>
          <p:cNvSpPr>
            <a:spLocks noChangeShapeType="1"/>
          </p:cNvSpPr>
          <p:nvPr/>
        </p:nvSpPr>
        <p:spPr bwMode="auto">
          <a:xfrm flipH="1">
            <a:off x="2411413" y="4149725"/>
            <a:ext cx="11525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" name="Line 32"/>
          <p:cNvSpPr>
            <a:spLocks noChangeShapeType="1"/>
          </p:cNvSpPr>
          <p:nvPr/>
        </p:nvSpPr>
        <p:spPr bwMode="auto">
          <a:xfrm flipH="1">
            <a:off x="2916238" y="4149725"/>
            <a:ext cx="11525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9" name="Line 33"/>
          <p:cNvSpPr>
            <a:spLocks noChangeShapeType="1"/>
          </p:cNvSpPr>
          <p:nvPr/>
        </p:nvSpPr>
        <p:spPr bwMode="auto">
          <a:xfrm flipH="1">
            <a:off x="4211638" y="4149725"/>
            <a:ext cx="217487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0" name="Line 34"/>
          <p:cNvSpPr>
            <a:spLocks noChangeShapeType="1"/>
          </p:cNvSpPr>
          <p:nvPr/>
        </p:nvSpPr>
        <p:spPr bwMode="auto">
          <a:xfrm>
            <a:off x="4787900" y="4149725"/>
            <a:ext cx="2889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1" name="Line 35"/>
          <p:cNvSpPr>
            <a:spLocks noChangeShapeType="1"/>
          </p:cNvSpPr>
          <p:nvPr/>
        </p:nvSpPr>
        <p:spPr bwMode="auto">
          <a:xfrm>
            <a:off x="5508625" y="4149725"/>
            <a:ext cx="15843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2" name="Line 36"/>
          <p:cNvSpPr>
            <a:spLocks noChangeShapeType="1"/>
          </p:cNvSpPr>
          <p:nvPr/>
        </p:nvSpPr>
        <p:spPr bwMode="auto">
          <a:xfrm>
            <a:off x="5076825" y="4149725"/>
            <a:ext cx="935038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31850"/>
          </a:xfrm>
        </p:spPr>
        <p:txBody>
          <a:bodyPr/>
          <a:lstStyle/>
          <a:p>
            <a:pPr eaLnBrk="1" hangingPunct="1"/>
            <a:r>
              <a:rPr lang="zh-CN" altLang="en-US"/>
              <a:t>密钥扩展 （</a:t>
            </a:r>
            <a:r>
              <a:rPr lang="en-US" altLang="zh-CN"/>
              <a:t>N</a:t>
            </a:r>
            <a:r>
              <a:rPr lang="en-US" altLang="zh-CN" baseline="-25000"/>
              <a:t>K</a:t>
            </a:r>
            <a:r>
              <a:rPr lang="en-US" altLang="zh-CN"/>
              <a:t>=4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83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altLang="zh-CN"/>
              <a:t> </a:t>
            </a:r>
            <a:endParaRPr lang="en-CA" altLang="zh-CN"/>
          </a:p>
        </p:txBody>
      </p:sp>
      <p:sp>
        <p:nvSpPr>
          <p:cNvPr id="58372" name="Rectangle 2"/>
          <p:cNvSpPr>
            <a:spLocks noChangeArrowheads="1"/>
          </p:cNvSpPr>
          <p:nvPr/>
        </p:nvSpPr>
        <p:spPr bwMode="auto">
          <a:xfrm>
            <a:off x="2070100" y="2139950"/>
            <a:ext cx="792163" cy="5762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i-4</a:t>
            </a:r>
            <a:endParaRPr kumimoji="0" lang="en-US" altLang="zh-CN" sz="1800" b="1"/>
          </a:p>
        </p:txBody>
      </p:sp>
      <p:sp>
        <p:nvSpPr>
          <p:cNvPr id="58373" name="Rectangle 3"/>
          <p:cNvSpPr>
            <a:spLocks noChangeArrowheads="1"/>
          </p:cNvSpPr>
          <p:nvPr/>
        </p:nvSpPr>
        <p:spPr bwMode="auto">
          <a:xfrm>
            <a:off x="2070100" y="2716213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i-3</a:t>
            </a:r>
            <a:endParaRPr kumimoji="0" lang="en-US" altLang="zh-CN" sz="1800" b="1"/>
          </a:p>
        </p:txBody>
      </p:sp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2070100" y="3363913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i-2</a:t>
            </a:r>
            <a:endParaRPr kumimoji="0" lang="en-US" altLang="zh-CN" sz="1800" b="1"/>
          </a:p>
        </p:txBody>
      </p:sp>
      <p:sp>
        <p:nvSpPr>
          <p:cNvPr id="58375" name="Rectangle 5"/>
          <p:cNvSpPr>
            <a:spLocks noChangeArrowheads="1"/>
          </p:cNvSpPr>
          <p:nvPr/>
        </p:nvSpPr>
        <p:spPr bwMode="auto">
          <a:xfrm>
            <a:off x="2070100" y="4011613"/>
            <a:ext cx="792163" cy="649287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i-1</a:t>
            </a:r>
            <a:endParaRPr kumimoji="0" lang="en-US" altLang="zh-CN" sz="1800" b="1"/>
          </a:p>
        </p:txBody>
      </p:sp>
      <p:sp>
        <p:nvSpPr>
          <p:cNvPr id="58376" name="Rectangle 6"/>
          <p:cNvSpPr>
            <a:spLocks noChangeArrowheads="1"/>
          </p:cNvSpPr>
          <p:nvPr/>
        </p:nvSpPr>
        <p:spPr bwMode="auto">
          <a:xfrm>
            <a:off x="2070100" y="4660900"/>
            <a:ext cx="792163" cy="576263"/>
          </a:xfrm>
          <a:prstGeom prst="rect">
            <a:avLst/>
          </a:prstGeom>
          <a:solidFill>
            <a:schemeClr val="accent1"/>
          </a:solidFill>
          <a:ln w="38100">
            <a:solidFill>
              <a:srgbClr val="66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</a:t>
            </a:r>
            <a:endParaRPr kumimoji="0" lang="en-US" altLang="zh-CN" sz="1800" b="1"/>
          </a:p>
        </p:txBody>
      </p:sp>
      <p:sp>
        <p:nvSpPr>
          <p:cNvPr id="58377" name="Line 7"/>
          <p:cNvSpPr>
            <a:spLocks noChangeShapeType="1"/>
          </p:cNvSpPr>
          <p:nvPr/>
        </p:nvSpPr>
        <p:spPr bwMode="auto">
          <a:xfrm>
            <a:off x="2862263" y="4371975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8" name="Rectangle 8"/>
          <p:cNvSpPr>
            <a:spLocks noChangeArrowheads="1"/>
          </p:cNvSpPr>
          <p:nvPr/>
        </p:nvSpPr>
        <p:spPr bwMode="auto">
          <a:xfrm>
            <a:off x="5435600" y="4005263"/>
            <a:ext cx="1368425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Substituion</a:t>
            </a:r>
            <a:endParaRPr kumimoji="0" lang="en-US" altLang="zh-CN" sz="2000" b="1"/>
          </a:p>
        </p:txBody>
      </p:sp>
      <p:sp>
        <p:nvSpPr>
          <p:cNvPr id="58379" name="Line 9"/>
          <p:cNvSpPr>
            <a:spLocks noChangeShapeType="1"/>
          </p:cNvSpPr>
          <p:nvPr/>
        </p:nvSpPr>
        <p:spPr bwMode="auto">
          <a:xfrm>
            <a:off x="4716463" y="436562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0" name="Rectangle 10"/>
          <p:cNvSpPr>
            <a:spLocks noChangeArrowheads="1"/>
          </p:cNvSpPr>
          <p:nvPr/>
        </p:nvSpPr>
        <p:spPr bwMode="auto">
          <a:xfrm>
            <a:off x="3492500" y="4005263"/>
            <a:ext cx="1223963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Rotate</a:t>
            </a:r>
            <a:endParaRPr kumimoji="0" lang="en-US" altLang="zh-CN" sz="2000" b="1"/>
          </a:p>
        </p:txBody>
      </p:sp>
      <p:sp>
        <p:nvSpPr>
          <p:cNvPr id="58381" name="Line 11"/>
          <p:cNvSpPr>
            <a:spLocks noChangeShapeType="1"/>
          </p:cNvSpPr>
          <p:nvPr/>
        </p:nvSpPr>
        <p:spPr bwMode="auto">
          <a:xfrm>
            <a:off x="6804025" y="4365625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2" name="Oval 12"/>
          <p:cNvSpPr>
            <a:spLocks noChangeArrowheads="1"/>
          </p:cNvSpPr>
          <p:nvPr/>
        </p:nvSpPr>
        <p:spPr bwMode="auto">
          <a:xfrm>
            <a:off x="7326313" y="4156075"/>
            <a:ext cx="360362" cy="3603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58383" name="Line 13"/>
          <p:cNvSpPr>
            <a:spLocks noChangeShapeType="1"/>
          </p:cNvSpPr>
          <p:nvPr/>
        </p:nvSpPr>
        <p:spPr bwMode="auto">
          <a:xfrm flipH="1">
            <a:off x="7686675" y="4300538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4" name="Rectangle 14"/>
          <p:cNvSpPr>
            <a:spLocks noChangeArrowheads="1"/>
          </p:cNvSpPr>
          <p:nvPr/>
        </p:nvSpPr>
        <p:spPr bwMode="auto">
          <a:xfrm>
            <a:off x="7975600" y="4011613"/>
            <a:ext cx="863600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Rcons</a:t>
            </a:r>
            <a:endParaRPr kumimoji="0" lang="en-US" altLang="zh-CN" sz="2000" b="1"/>
          </a:p>
        </p:txBody>
      </p:sp>
      <p:sp>
        <p:nvSpPr>
          <p:cNvPr id="58385" name="Line 15"/>
          <p:cNvSpPr>
            <a:spLocks noChangeShapeType="1"/>
          </p:cNvSpPr>
          <p:nvPr/>
        </p:nvSpPr>
        <p:spPr bwMode="auto">
          <a:xfrm>
            <a:off x="2862263" y="2427288"/>
            <a:ext cx="4679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6" name="Line 16"/>
          <p:cNvSpPr>
            <a:spLocks noChangeShapeType="1"/>
          </p:cNvSpPr>
          <p:nvPr/>
        </p:nvSpPr>
        <p:spPr bwMode="auto">
          <a:xfrm>
            <a:off x="7542213" y="2427288"/>
            <a:ext cx="0" cy="1728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7" name="Line 17"/>
          <p:cNvSpPr>
            <a:spLocks noChangeShapeType="1"/>
          </p:cNvSpPr>
          <p:nvPr/>
        </p:nvSpPr>
        <p:spPr bwMode="auto">
          <a:xfrm>
            <a:off x="7470775" y="4516438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8" name="Line 18"/>
          <p:cNvSpPr>
            <a:spLocks noChangeShapeType="1"/>
          </p:cNvSpPr>
          <p:nvPr/>
        </p:nvSpPr>
        <p:spPr bwMode="auto">
          <a:xfrm flipH="1">
            <a:off x="2862263" y="4948238"/>
            <a:ext cx="46085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9" name="Line 19"/>
          <p:cNvSpPr>
            <a:spLocks noChangeShapeType="1"/>
          </p:cNvSpPr>
          <p:nvPr/>
        </p:nvSpPr>
        <p:spPr bwMode="auto">
          <a:xfrm flipH="1">
            <a:off x="1349375" y="4371975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0" name="Oval 20"/>
          <p:cNvSpPr>
            <a:spLocks noChangeArrowheads="1"/>
          </p:cNvSpPr>
          <p:nvPr/>
        </p:nvSpPr>
        <p:spPr bwMode="auto">
          <a:xfrm>
            <a:off x="990600" y="4227513"/>
            <a:ext cx="358775" cy="3603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58391" name="Line 21"/>
          <p:cNvSpPr>
            <a:spLocks noChangeShapeType="1"/>
          </p:cNvSpPr>
          <p:nvPr/>
        </p:nvSpPr>
        <p:spPr bwMode="auto">
          <a:xfrm flipH="1">
            <a:off x="1133475" y="2427288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2" name="Line 22"/>
          <p:cNvSpPr>
            <a:spLocks noChangeShapeType="1"/>
          </p:cNvSpPr>
          <p:nvPr/>
        </p:nvSpPr>
        <p:spPr bwMode="auto">
          <a:xfrm>
            <a:off x="1133475" y="2427288"/>
            <a:ext cx="0" cy="180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3" name="Line 23"/>
          <p:cNvSpPr>
            <a:spLocks noChangeShapeType="1"/>
          </p:cNvSpPr>
          <p:nvPr/>
        </p:nvSpPr>
        <p:spPr bwMode="auto">
          <a:xfrm>
            <a:off x="1133475" y="45878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4" name="Line 24"/>
          <p:cNvSpPr>
            <a:spLocks noChangeShapeType="1"/>
          </p:cNvSpPr>
          <p:nvPr/>
        </p:nvSpPr>
        <p:spPr bwMode="auto">
          <a:xfrm>
            <a:off x="1133475" y="5092700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5" name="Line 25"/>
          <p:cNvSpPr>
            <a:spLocks noChangeShapeType="1"/>
          </p:cNvSpPr>
          <p:nvPr/>
        </p:nvSpPr>
        <p:spPr bwMode="auto">
          <a:xfrm>
            <a:off x="2501900" y="1419225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6" name="Line 27"/>
          <p:cNvSpPr>
            <a:spLocks noChangeShapeType="1"/>
          </p:cNvSpPr>
          <p:nvPr/>
        </p:nvSpPr>
        <p:spPr bwMode="auto">
          <a:xfrm>
            <a:off x="2430463" y="53800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97" name="Text Box 28"/>
          <p:cNvSpPr txBox="1">
            <a:spLocks noChangeArrowheads="1"/>
          </p:cNvSpPr>
          <p:nvPr/>
        </p:nvSpPr>
        <p:spPr bwMode="auto">
          <a:xfrm>
            <a:off x="2790825" y="1492250"/>
            <a:ext cx="2735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0" lang="zh-CN" altLang="zh-CN" sz="2000" b="1"/>
          </a:p>
        </p:txBody>
      </p:sp>
      <p:sp>
        <p:nvSpPr>
          <p:cNvPr id="58398" name="Text Box 29"/>
          <p:cNvSpPr txBox="1">
            <a:spLocks noChangeArrowheads="1"/>
          </p:cNvSpPr>
          <p:nvPr/>
        </p:nvSpPr>
        <p:spPr bwMode="auto">
          <a:xfrm>
            <a:off x="2790825" y="1419225"/>
            <a:ext cx="3095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000" b="1"/>
              <a:t>4  =&lt;  i  &lt;  4 ( Rnd + 1 )</a:t>
            </a:r>
            <a:endParaRPr kumimoji="0" lang="en-US" altLang="zh-CN" sz="2000" b="1"/>
          </a:p>
        </p:txBody>
      </p:sp>
      <p:sp>
        <p:nvSpPr>
          <p:cNvPr id="58399" name="Text Box 30"/>
          <p:cNvSpPr txBox="1">
            <a:spLocks noChangeArrowheads="1"/>
          </p:cNvSpPr>
          <p:nvPr/>
        </p:nvSpPr>
        <p:spPr bwMode="auto">
          <a:xfrm>
            <a:off x="3941763" y="5092700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4 = 0</a:t>
            </a:r>
            <a:endParaRPr kumimoji="0" lang="en-US" altLang="zh-CN" sz="2000" b="1"/>
          </a:p>
        </p:txBody>
      </p:sp>
      <p:sp>
        <p:nvSpPr>
          <p:cNvPr id="58400" name="Text Box 31"/>
          <p:cNvSpPr txBox="1">
            <a:spLocks noChangeArrowheads="1"/>
          </p:cNvSpPr>
          <p:nvPr/>
        </p:nvSpPr>
        <p:spPr bwMode="auto">
          <a:xfrm>
            <a:off x="457200" y="5334000"/>
            <a:ext cx="1728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4 != 0</a:t>
            </a:r>
            <a:endParaRPr kumimoji="0" lang="en-US" altLang="zh-CN" sz="20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8662"/>
          </a:xfrm>
        </p:spPr>
        <p:txBody>
          <a:bodyPr/>
          <a:lstStyle/>
          <a:p>
            <a:r>
              <a:rPr lang="zh-CN" altLang="en-US"/>
              <a:t>密钥扩展 （</a:t>
            </a:r>
            <a:r>
              <a:rPr lang="en-US" altLang="zh-CN"/>
              <a:t>N</a:t>
            </a:r>
            <a:r>
              <a:rPr lang="en-US" altLang="zh-CN" baseline="-25000"/>
              <a:t>K</a:t>
            </a:r>
            <a:r>
              <a:rPr lang="en-US" altLang="zh-CN"/>
              <a:t>=4</a:t>
            </a:r>
            <a:r>
              <a:rPr lang="zh-CN" altLang="en-US"/>
              <a:t>）</a:t>
            </a:r>
            <a:endParaRPr lang="en-CA" altLang="zh-CN"/>
          </a:p>
        </p:txBody>
      </p:sp>
      <p:sp>
        <p:nvSpPr>
          <p:cNvPr id="6041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altLang="zh-CN"/>
              <a:t> </a:t>
            </a:r>
            <a:endParaRPr lang="en-CA" altLang="zh-CN"/>
          </a:p>
        </p:txBody>
      </p:sp>
      <p:pic>
        <p:nvPicPr>
          <p:cNvPr id="60420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120775"/>
            <a:ext cx="7294562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zh-CN" altLang="en-US"/>
              <a:t>密钥扩展 （</a:t>
            </a:r>
            <a:r>
              <a:rPr lang="en-US" altLang="zh-CN"/>
              <a:t>N</a:t>
            </a:r>
            <a:r>
              <a:rPr lang="en-US" altLang="zh-CN" baseline="-25000"/>
              <a:t>K</a:t>
            </a:r>
            <a:r>
              <a:rPr lang="en-US" altLang="zh-CN"/>
              <a:t>=4</a:t>
            </a:r>
            <a:r>
              <a:rPr lang="zh-CN" altLang="en-US"/>
              <a:t>）</a:t>
            </a:r>
            <a:endParaRPr lang="en-CA" altLang="zh-CN"/>
          </a:p>
        </p:txBody>
      </p:sp>
      <p:sp>
        <p:nvSpPr>
          <p:cNvPr id="61443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9036050" cy="5329237"/>
          </a:xfrm>
        </p:spPr>
        <p:txBody>
          <a:bodyPr/>
          <a:lstStyle/>
          <a:p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初始密钥设为前四个字</a:t>
            </a:r>
            <a:r>
              <a:rPr lang="en-CA" altLang="zh-CN" sz="2400" dirty="0">
                <a:solidFill>
                  <a:srgbClr val="4D4D4D"/>
                </a:solidFill>
                <a:latin typeface="-apple-system"/>
              </a:rPr>
              <a:t>W[0-3]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，接着对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W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数组扩充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40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个新列，构成总共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44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列的扩展密钥数组。新列以如下的递归方式产生：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1.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如果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不是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的倍数，那么第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列由如下等式确定：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W[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]=W[i-4]⨁W[i-1]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2.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如果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的倍数，那么第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列由如下等式确定：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W[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i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]=W[i-4]⨁T(W[i-1])</a:t>
            </a:r>
            <a:br>
              <a:rPr lang="zh-CN" altLang="en-US" sz="2400" dirty="0"/>
            </a:b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其中，函数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T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由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3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部分组成：字循环、字节代换和轮常量异或，这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3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部分的作用分别如下。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a.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字循环：将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1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个字中的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个字节循环左移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1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个字节。即将输入字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[b0, b1, b2, b3]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变换成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[b1,b2,b3,b0]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。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b.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字节代换：对字循环的结果使用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S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盒进行字节代换。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c.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轮常量异或：将前两步的结果同轮常量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Rcon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[j]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进行异或，其中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j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表示轮数。</a:t>
            </a:r>
            <a:br>
              <a:rPr lang="zh-CN" altLang="en-US" sz="2400" dirty="0"/>
            </a:b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轮常量</a:t>
            </a:r>
            <a:r>
              <a:rPr lang="en-US" altLang="zh-CN" sz="2400" dirty="0" err="1">
                <a:solidFill>
                  <a:srgbClr val="4D4D4D"/>
                </a:solidFill>
                <a:latin typeface="-apple-system"/>
              </a:rPr>
              <a:t>Rcon</a:t>
            </a:r>
            <a:r>
              <a:rPr lang="en-US" altLang="zh-CN" sz="2400" dirty="0">
                <a:solidFill>
                  <a:srgbClr val="4D4D4D"/>
                </a:solidFill>
                <a:latin typeface="-apple-system"/>
              </a:rPr>
              <a:t>[j]</a:t>
            </a:r>
            <a:r>
              <a:rPr lang="zh-CN" altLang="en-US" sz="2400" dirty="0">
                <a:solidFill>
                  <a:srgbClr val="4D4D4D"/>
                </a:solidFill>
                <a:latin typeface="-apple-system"/>
              </a:rPr>
              <a:t>是一个字。</a:t>
            </a:r>
            <a:endParaRPr lang="en-CA" altLang="en-US" sz="2400" dirty="0"/>
          </a:p>
          <a:p>
            <a:endParaRPr lang="en-CA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2057400" y="1981200"/>
            <a:ext cx="6324600" cy="331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密钥扩展程序如下：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其中：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Rcon[i] = (RC[i],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’</a:t>
            </a:r>
            <a:r>
              <a:rPr lang="en-US" altLang="zh-CN" sz="2400">
                <a:latin typeface="宋体" panose="02010600030101010101" pitchFamily="2" charset="-122"/>
              </a:rPr>
              <a:t>00</a:t>
            </a:r>
            <a:r>
              <a:rPr lang="en-US" altLang="zh-CN" sz="2400">
                <a:latin typeface="Times New Roman" panose="02020603050405020304" pitchFamily="18" charset="0"/>
              </a:rPr>
              <a:t>’</a:t>
            </a:r>
            <a:r>
              <a:rPr lang="en-US" altLang="zh-CN" sz="2400">
                <a:latin typeface="宋体" panose="02010600030101010101" pitchFamily="2" charset="-122"/>
              </a:rPr>
              <a:t>,</a:t>
            </a:r>
            <a:r>
              <a:rPr lang="en-US" altLang="zh-CN" sz="2400">
                <a:latin typeface="Times New Roman" panose="02020603050405020304" pitchFamily="18" charset="0"/>
              </a:rPr>
              <a:t> ’</a:t>
            </a:r>
            <a:r>
              <a:rPr lang="en-US" altLang="zh-CN" sz="2400">
                <a:latin typeface="宋体" panose="02010600030101010101" pitchFamily="2" charset="-122"/>
              </a:rPr>
              <a:t>00</a:t>
            </a:r>
            <a:r>
              <a:rPr lang="en-US" altLang="zh-CN" sz="2400">
                <a:latin typeface="Times New Roman" panose="02020603050405020304" pitchFamily="18" charset="0"/>
              </a:rPr>
              <a:t>’</a:t>
            </a:r>
            <a:r>
              <a:rPr lang="zh-CN" altLang="en-US" sz="2400">
                <a:latin typeface="宋体" panose="02010600030101010101" pitchFamily="2" charset="-122"/>
              </a:rPr>
              <a:t>，</a:t>
            </a:r>
            <a:r>
              <a:rPr lang="zh-CN" altLang="en-US" sz="2400">
                <a:latin typeface="Times New Roman" panose="02020603050405020304" pitchFamily="18" charset="0"/>
              </a:rPr>
              <a:t> ’</a:t>
            </a:r>
            <a:r>
              <a:rPr lang="en-US" altLang="zh-CN" sz="2400">
                <a:latin typeface="宋体" panose="02010600030101010101" pitchFamily="2" charset="-122"/>
              </a:rPr>
              <a:t>00</a:t>
            </a:r>
            <a:r>
              <a:rPr lang="en-US" altLang="zh-CN" sz="2400">
                <a:latin typeface="Times New Roman" panose="02020603050405020304" pitchFamily="18" charset="0"/>
              </a:rPr>
              <a:t>’)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RC[1] = 1</a:t>
            </a:r>
            <a:r>
              <a:rPr lang="zh-CN" altLang="en-US" sz="2400">
                <a:latin typeface="Times New Roman" panose="02020603050405020304" pitchFamily="18" charset="0"/>
              </a:rPr>
              <a:t>（即’</a:t>
            </a:r>
            <a:r>
              <a:rPr lang="en-US" altLang="zh-CN" sz="2400">
                <a:latin typeface="Times New Roman" panose="02020603050405020304" pitchFamily="18" charset="0"/>
              </a:rPr>
              <a:t>01’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RC[i] = (02)</a:t>
            </a:r>
            <a:r>
              <a:rPr lang="en-US" altLang="zh-CN" sz="2400" baseline="30000">
                <a:latin typeface="宋体" panose="02010600030101010101" pitchFamily="2" charset="-122"/>
              </a:rPr>
              <a:t>(i-1)</a:t>
            </a:r>
            <a:r>
              <a:rPr lang="zh-CN" altLang="en-US" sz="2400">
                <a:latin typeface="宋体" panose="02010600030101010101" pitchFamily="2" charset="-122"/>
              </a:rPr>
              <a:t>；</a:t>
            </a:r>
            <a:r>
              <a:rPr lang="en-US" altLang="zh-CN" sz="2400">
                <a:latin typeface="宋体" panose="02010600030101010101" pitchFamily="2" charset="-122"/>
              </a:rPr>
              <a:t>i=2,3,......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246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Rcon</a:t>
            </a:r>
            <a:r>
              <a:rPr lang="zh-CN" altLang="en-US"/>
              <a:t>的求法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3"/>
          <p:cNvSpPr txBox="1">
            <a:spLocks noChangeArrowheads="1"/>
          </p:cNvSpPr>
          <p:nvPr/>
        </p:nvSpPr>
        <p:spPr bwMode="auto">
          <a:xfrm>
            <a:off x="990600" y="1819275"/>
            <a:ext cx="77724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RC[1]=’01’ (0000 0001)                Rcon[1]=(’01’,00,00,00)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RC[2]=‘02’  (0000 0010)               Rcon[2]=(’02’,00,00,00)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RC[3]=‘04’  (0000 0100)               Rcon[3]=(’04’,00,00,00)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RC[4]=‘08’  (0000 1000)               Rcon[4]=(’08’,00,00,00)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RC[5]=‘10’  (0001 0000)               Rcon[5]=(’10’,00,00,00)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RC[6]=‘20’  (0010 0000)               Rcon[6]=(’20’,00,00,00)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RC[7]=‘40’  (0100 0000)               Rcon[7]=(’40’,00,00,00)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RC[i]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初始密钥</a:t>
            </a:r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6562725" cy="1612900"/>
          </a:xfrm>
        </p:spPr>
        <p:txBody>
          <a:bodyPr/>
          <a:lstStyle/>
          <a:p>
            <a:pPr eaLnBrk="1" hangingPunct="1"/>
            <a:r>
              <a:rPr lang="zh-CN" altLang="en-US" sz="2400"/>
              <a:t>实例：设初始密钥</a:t>
            </a:r>
            <a:endParaRPr lang="zh-CN" altLang="en-US" sz="2400"/>
          </a:p>
          <a:p>
            <a:pPr eaLnBrk="1" hangingPunct="1"/>
            <a:r>
              <a:rPr lang="en-US" altLang="zh-CN" sz="2400"/>
              <a:t>75 35 6B 99 05 61 39 56</a:t>
            </a:r>
            <a:endParaRPr lang="en-US" altLang="zh-CN" sz="2400"/>
          </a:p>
          <a:p>
            <a:pPr eaLnBrk="1" hangingPunct="1"/>
            <a:r>
              <a:rPr lang="en-US" altLang="zh-CN" sz="2400"/>
              <a:t>73 62 05 31 00 55 09 32 </a:t>
            </a:r>
            <a:endParaRPr lang="en-US" altLang="zh-CN" sz="2400"/>
          </a:p>
        </p:txBody>
      </p:sp>
      <p:pic>
        <p:nvPicPr>
          <p:cNvPr id="64516" name="Picture 5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068638"/>
            <a:ext cx="5040313" cy="306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</a:t>
            </a:r>
            <a:r>
              <a:rPr lang="en-US" altLang="zh-CN"/>
              <a:t>W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785225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 循环将</a:t>
            </a:r>
            <a:r>
              <a:rPr lang="en-US" altLang="zh-CN"/>
              <a:t>W</a:t>
            </a:r>
            <a:r>
              <a:rPr lang="en-US" altLang="zh-CN" baseline="-25000"/>
              <a:t>3</a:t>
            </a:r>
            <a:r>
              <a:rPr lang="zh-CN" altLang="en-US"/>
              <a:t>按照字节为单位左移</a:t>
            </a:r>
            <a:r>
              <a:rPr lang="en-US" altLang="zh-CN"/>
              <a:t>1</a:t>
            </a:r>
            <a:r>
              <a:rPr lang="zh-CN" altLang="en-US"/>
              <a:t>字节，</a:t>
            </a:r>
            <a:r>
              <a:rPr lang="en-US" altLang="zh-CN"/>
              <a:t>00 55 09 32</a:t>
            </a:r>
            <a:r>
              <a:rPr lang="zh-CN" altLang="en-US"/>
              <a:t>变成了</a:t>
            </a:r>
            <a:r>
              <a:rPr lang="en-US" altLang="zh-CN"/>
              <a:t>55 09 32 00 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 将</a:t>
            </a:r>
            <a:r>
              <a:rPr lang="en-US" altLang="zh-CN"/>
              <a:t>55 09 32 00</a:t>
            </a:r>
            <a:r>
              <a:rPr lang="zh-CN" altLang="en-US"/>
              <a:t>作为</a:t>
            </a:r>
            <a:r>
              <a:rPr lang="en-US" altLang="zh-CN"/>
              <a:t>S</a:t>
            </a:r>
            <a:r>
              <a:rPr lang="zh-CN" altLang="en-US"/>
              <a:t>盒的输入，查表得到输出 </a:t>
            </a:r>
            <a:r>
              <a:rPr lang="en-US" altLang="zh-CN"/>
              <a:t>fc 01 23 63 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 计算常量</a:t>
            </a:r>
            <a:r>
              <a:rPr lang="en-US" altLang="zh-CN"/>
              <a:t>Rcon[i]=(RC(j),00,00,00)</a:t>
            </a:r>
            <a:r>
              <a:rPr lang="zh-CN" altLang="en-US"/>
              <a:t>异或，</a:t>
            </a:r>
            <a:r>
              <a:rPr lang="en-US" altLang="zh-CN"/>
              <a:t>RC(j)=2</a:t>
            </a:r>
            <a:r>
              <a:rPr lang="en-US" altLang="zh-CN" baseline="30000"/>
              <a:t>0</a:t>
            </a:r>
            <a:r>
              <a:rPr lang="en-US" altLang="zh-CN"/>
              <a:t>=01=’01‘(</a:t>
            </a:r>
            <a:r>
              <a:rPr lang="zh-CN" altLang="en-US"/>
              <a:t>十六进制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 将</a:t>
            </a:r>
            <a:r>
              <a:rPr lang="en-US" altLang="zh-CN"/>
              <a:t>01000000</a:t>
            </a:r>
            <a:r>
              <a:rPr lang="zh-CN" altLang="en-US"/>
              <a:t>与</a:t>
            </a:r>
            <a:r>
              <a:rPr lang="en-US" altLang="zh-CN"/>
              <a:t>fc 01 23 63 </a:t>
            </a:r>
            <a:r>
              <a:rPr lang="zh-CN" altLang="en-US"/>
              <a:t>异或运算得</a:t>
            </a:r>
            <a:r>
              <a:rPr lang="en-US" altLang="zh-CN"/>
              <a:t>fd 01 23 63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W</a:t>
            </a:r>
            <a:r>
              <a:rPr lang="en-US" altLang="zh-CN" baseline="-25000"/>
              <a:t>4</a:t>
            </a:r>
            <a:r>
              <a:rPr lang="en-US" altLang="zh-CN"/>
              <a:t>= 75 35 6B 99 XOR fd 01 23 63 = 88 34 48 fa 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</a:t>
            </a:r>
            <a:r>
              <a:rPr lang="en-US" altLang="zh-CN"/>
              <a:t>W</a:t>
            </a:r>
            <a:r>
              <a:rPr lang="en-US" altLang="zh-CN" baseline="-25000"/>
              <a:t>5</a:t>
            </a:r>
            <a:r>
              <a:rPr lang="en-US" altLang="zh-CN"/>
              <a:t>,W</a:t>
            </a:r>
            <a:r>
              <a:rPr lang="en-US" altLang="zh-CN" baseline="-25000"/>
              <a:t>6</a:t>
            </a:r>
            <a:r>
              <a:rPr lang="en-US" altLang="zh-CN"/>
              <a:t>,W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三个子密钥计算如下： </a:t>
            </a:r>
            <a:endParaRPr lang="zh-CN" altLang="sv-SE"/>
          </a:p>
          <a:p>
            <a:pPr eaLnBrk="1" hangingPunct="1"/>
            <a:r>
              <a:rPr lang="sv-SE" altLang="zh-CN"/>
              <a:t>W(5)=W(i-4) XOR W(i-1)=W(1)XOR W(4)= 05613956 XOR 883448fa =8d5571ac </a:t>
            </a:r>
            <a:r>
              <a:rPr lang="zh-CN" altLang="sv-SE"/>
              <a:t>；</a:t>
            </a:r>
            <a:endParaRPr lang="zh-CN" altLang="sv-SE"/>
          </a:p>
          <a:p>
            <a:pPr eaLnBrk="1" hangingPunct="1"/>
            <a:r>
              <a:rPr lang="sv-SE" altLang="zh-CN"/>
              <a:t>W(6)=W(i-4) XOR W(i-1)=W(2)XOR W(5)= 73620531 XOR 8d5571ac =fe37749d </a:t>
            </a:r>
            <a:r>
              <a:rPr lang="zh-CN" altLang="sv-SE"/>
              <a:t>；</a:t>
            </a:r>
            <a:endParaRPr lang="zh-CN" altLang="sv-SE"/>
          </a:p>
          <a:p>
            <a:pPr eaLnBrk="1" hangingPunct="1"/>
            <a:r>
              <a:rPr lang="sv-SE" altLang="zh-CN"/>
              <a:t>W(7)=W(i-4) XOR W(i-1)=W(3)XOR W(6)= 00550932 XOR fe37749d =fe627daf </a:t>
            </a:r>
            <a:r>
              <a:rPr lang="zh-CN" altLang="sv-SE"/>
              <a:t>；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295400"/>
            <a:ext cx="8382000" cy="5229225"/>
          </a:xfrm>
          <a:noFill/>
        </p:spPr>
        <p:txBody>
          <a:bodyPr/>
          <a:lstStyle/>
          <a:p>
            <a:pPr marL="287655" indent="-6350" algn="l" eaLnBrk="1" hangingPunct="1"/>
            <a:r>
              <a:rPr lang="en-US" altLang="zh-CN" dirty="0"/>
              <a:t>2) </a:t>
            </a:r>
            <a:r>
              <a:rPr lang="zh-CN" altLang="en-US" dirty="0"/>
              <a:t>轮密钥选取</a:t>
            </a:r>
            <a:endParaRPr lang="zh-CN" altLang="en-US" dirty="0"/>
          </a:p>
          <a:p>
            <a:pPr marL="287655" indent="-6350" algn="l" eaLnBrk="1" hangingPunct="1"/>
            <a:r>
              <a:rPr lang="zh-CN" altLang="en-US" dirty="0"/>
              <a:t>    轮密钥</a:t>
            </a:r>
            <a:r>
              <a:rPr lang="en-US" altLang="zh-CN" dirty="0" err="1"/>
              <a:t>i</a:t>
            </a:r>
            <a:r>
              <a:rPr lang="zh-CN" altLang="en-US" dirty="0"/>
              <a:t>（即第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个轮密钥）由轮密钥缓冲字</a:t>
            </a:r>
            <a:r>
              <a:rPr lang="en-US" altLang="zh-CN" dirty="0"/>
              <a:t>W[</a:t>
            </a:r>
            <a:r>
              <a:rPr lang="en-US" altLang="zh-CN" dirty="0" err="1"/>
              <a:t>Nk</a:t>
            </a:r>
            <a:r>
              <a:rPr lang="en-US" altLang="zh-CN" dirty="0"/>
              <a:t>* 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到</a:t>
            </a:r>
            <a:r>
              <a:rPr lang="en-US" altLang="zh-CN" dirty="0"/>
              <a:t>W[</a:t>
            </a:r>
            <a:r>
              <a:rPr lang="en-US" altLang="zh-CN" dirty="0" err="1"/>
              <a:t>Nk</a:t>
            </a:r>
            <a:r>
              <a:rPr lang="en-US" altLang="zh-CN" dirty="0"/>
              <a:t>*(i+1)-1]</a:t>
            </a:r>
            <a:r>
              <a:rPr lang="zh-CN" altLang="en-US" dirty="0"/>
              <a:t>给出</a:t>
            </a:r>
            <a:r>
              <a:rPr lang="en-US" altLang="zh-CN" dirty="0"/>
              <a:t>:</a:t>
            </a:r>
            <a:endParaRPr lang="en-US" altLang="zh-CN" dirty="0"/>
          </a:p>
          <a:p>
            <a:pPr marL="287655" indent="-6350" algn="l" eaLnBrk="1" hangingPunct="1"/>
            <a:endParaRPr lang="en-US" altLang="zh-CN" dirty="0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1219200" y="412750"/>
            <a:ext cx="57324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AES</a:t>
            </a:r>
            <a:r>
              <a:rPr kumimoji="0" lang="zh-CN" altLang="en-US" sz="40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算法的密钥编排算法</a:t>
            </a:r>
            <a:endParaRPr kumimoji="0" lang="zh-CN" altLang="en-US" sz="4000" b="1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0" y="3487738"/>
          <a:ext cx="9144000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1" imgW="5429885" imgH="846455" progId="Visio.Drawing.11">
                  <p:embed/>
                </p:oleObj>
              </mc:Choice>
              <mc:Fallback>
                <p:oleObj name="Visio" r:id="rId1" imgW="5429885" imgH="84645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87738"/>
                        <a:ext cx="9144000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1828800" y="5486400"/>
            <a:ext cx="565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Nb=4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及</a:t>
            </a: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Nk=4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时的密钥扩展与轮密钥选取</a:t>
            </a:r>
            <a:endParaRPr kumimoji="0" lang="zh-CN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AES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算法的密钥编排算法</a:t>
            </a:r>
            <a:endParaRPr lang="zh-CN" altLang="en-US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963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8600" y="1752600"/>
          <a:ext cx="84582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1" imgW="5429885" imgH="846455" progId="Visio.Drawing.11">
                  <p:embed/>
                </p:oleObj>
              </mc:Choice>
              <mc:Fallback>
                <p:oleObj name="Visio" r:id="rId1" imgW="5429885" imgH="84645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84582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1600200" y="3276600"/>
            <a:ext cx="565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Nb=4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及</a:t>
            </a: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Nk=6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时的密钥扩展与轮密钥选取</a:t>
            </a:r>
            <a:endParaRPr kumimoji="0" lang="zh-CN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1981200" y="5562600"/>
            <a:ext cx="565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Nb=4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及</a:t>
            </a:r>
            <a:r>
              <a:rPr kumimoji="0" lang="en-US" altLang="zh-CN" sz="2400">
                <a:solidFill>
                  <a:schemeClr val="bg2"/>
                </a:solidFill>
                <a:latin typeface="Tahoma" panose="020B0604030504040204" pitchFamily="34" charset="0"/>
              </a:rPr>
              <a:t>Nk=8</a:t>
            </a:r>
            <a:r>
              <a:rPr kumimoji="0" lang="zh-CN" altLang="en-US" sz="2400">
                <a:solidFill>
                  <a:schemeClr val="bg2"/>
                </a:solidFill>
                <a:latin typeface="Tahoma" panose="020B0604030504040204" pitchFamily="34" charset="0"/>
              </a:rPr>
              <a:t>时的密钥扩展与轮密钥选取</a:t>
            </a:r>
            <a:endParaRPr kumimoji="0" lang="zh-CN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6963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8600" y="3889375"/>
          <a:ext cx="8686800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3" imgW="3923665" imgH="622300" progId="Visio.Drawing.11">
                  <p:embed/>
                </p:oleObj>
              </mc:Choice>
              <mc:Fallback>
                <p:oleObj name="Visio" r:id="rId3" imgW="3923665" imgH="62230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9375"/>
                        <a:ext cx="8686800" cy="136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2051050" y="1557338"/>
            <a:ext cx="792163" cy="5762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i-6</a:t>
            </a:r>
            <a:endParaRPr kumimoji="0" lang="en-US" altLang="zh-CN" sz="1800" b="1"/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2051050" y="2133600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i-5</a:t>
            </a:r>
            <a:endParaRPr kumimoji="0" lang="en-US" altLang="zh-CN" sz="1800" b="1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2051050" y="2781300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i-4</a:t>
            </a:r>
            <a:endParaRPr kumimoji="0" lang="en-US" altLang="zh-CN" sz="1800" b="1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2051050" y="3429000"/>
            <a:ext cx="792163" cy="6492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i-3</a:t>
            </a:r>
            <a:endParaRPr kumimoji="0" lang="en-US" altLang="zh-CN" sz="1800" b="1"/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2051050" y="4078288"/>
            <a:ext cx="792163" cy="576262"/>
          </a:xfrm>
          <a:prstGeom prst="rect">
            <a:avLst/>
          </a:prstGeom>
          <a:noFill/>
          <a:ln w="38100">
            <a:solidFill>
              <a:srgbClr val="66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i-2</a:t>
            </a:r>
            <a:endParaRPr kumimoji="0" lang="en-US" altLang="zh-CN" sz="1800" b="1"/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>
            <a:off x="2843213" y="4870450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5508625" y="4508500"/>
            <a:ext cx="1368425" cy="649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Substituion</a:t>
            </a:r>
            <a:endParaRPr kumimoji="0" lang="en-US" altLang="zh-CN" sz="2000" b="1"/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>
            <a:off x="4716463" y="479742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6" name="Rectangle 10"/>
          <p:cNvSpPr>
            <a:spLocks noChangeArrowheads="1"/>
          </p:cNvSpPr>
          <p:nvPr/>
        </p:nvSpPr>
        <p:spPr bwMode="auto">
          <a:xfrm>
            <a:off x="3492500" y="4508500"/>
            <a:ext cx="1223963" cy="649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Rotate</a:t>
            </a:r>
            <a:endParaRPr kumimoji="0" lang="en-US" altLang="zh-CN" sz="2000" b="1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>
            <a:off x="6877050" y="4797425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8" name="Oval 12"/>
          <p:cNvSpPr>
            <a:spLocks noChangeArrowheads="1"/>
          </p:cNvSpPr>
          <p:nvPr/>
        </p:nvSpPr>
        <p:spPr bwMode="auto">
          <a:xfrm>
            <a:off x="7307263" y="4654550"/>
            <a:ext cx="360362" cy="3603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 flipH="1">
            <a:off x="7667625" y="4799013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7956550" y="4510088"/>
            <a:ext cx="863600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Rcons</a:t>
            </a:r>
            <a:endParaRPr kumimoji="0" lang="en-US" altLang="zh-CN" sz="2000" b="1"/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2843213" y="1844675"/>
            <a:ext cx="4679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2" name="Line 16"/>
          <p:cNvSpPr>
            <a:spLocks noChangeShapeType="1"/>
          </p:cNvSpPr>
          <p:nvPr/>
        </p:nvSpPr>
        <p:spPr bwMode="auto">
          <a:xfrm flipH="1">
            <a:off x="7523163" y="1844675"/>
            <a:ext cx="1587" cy="2809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>
            <a:off x="7451725" y="5014913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4" name="Line 18"/>
          <p:cNvSpPr>
            <a:spLocks noChangeShapeType="1"/>
          </p:cNvSpPr>
          <p:nvPr/>
        </p:nvSpPr>
        <p:spPr bwMode="auto">
          <a:xfrm flipH="1">
            <a:off x="2843213" y="5446713"/>
            <a:ext cx="46085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5" name="Line 19"/>
          <p:cNvSpPr>
            <a:spLocks noChangeShapeType="1"/>
          </p:cNvSpPr>
          <p:nvPr/>
        </p:nvSpPr>
        <p:spPr bwMode="auto">
          <a:xfrm flipH="1">
            <a:off x="1330325" y="4870450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6" name="Oval 20"/>
          <p:cNvSpPr>
            <a:spLocks noChangeArrowheads="1"/>
          </p:cNvSpPr>
          <p:nvPr/>
        </p:nvSpPr>
        <p:spPr bwMode="auto">
          <a:xfrm>
            <a:off x="971550" y="4725988"/>
            <a:ext cx="358775" cy="3603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70677" name="Line 21"/>
          <p:cNvSpPr>
            <a:spLocks noChangeShapeType="1"/>
          </p:cNvSpPr>
          <p:nvPr/>
        </p:nvSpPr>
        <p:spPr bwMode="auto">
          <a:xfrm flipH="1">
            <a:off x="1116013" y="1844675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8" name="Line 22"/>
          <p:cNvSpPr>
            <a:spLocks noChangeShapeType="1"/>
          </p:cNvSpPr>
          <p:nvPr/>
        </p:nvSpPr>
        <p:spPr bwMode="auto">
          <a:xfrm flipH="1">
            <a:off x="1114425" y="1844675"/>
            <a:ext cx="1588" cy="2881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79" name="Line 23"/>
          <p:cNvSpPr>
            <a:spLocks noChangeShapeType="1"/>
          </p:cNvSpPr>
          <p:nvPr/>
        </p:nvSpPr>
        <p:spPr bwMode="auto">
          <a:xfrm>
            <a:off x="1114425" y="508635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80" name="Line 24"/>
          <p:cNvSpPr>
            <a:spLocks noChangeShapeType="1"/>
          </p:cNvSpPr>
          <p:nvPr/>
        </p:nvSpPr>
        <p:spPr bwMode="auto">
          <a:xfrm>
            <a:off x="1114425" y="5591175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81" name="Line 25"/>
          <p:cNvSpPr>
            <a:spLocks noChangeShapeType="1"/>
          </p:cNvSpPr>
          <p:nvPr/>
        </p:nvSpPr>
        <p:spPr bwMode="auto">
          <a:xfrm>
            <a:off x="2484438" y="981075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82" name="Rectangle 26"/>
          <p:cNvSpPr>
            <a:spLocks noGrp="1" noChangeArrowheads="1"/>
          </p:cNvSpPr>
          <p:nvPr>
            <p:ph type="title"/>
          </p:nvPr>
        </p:nvSpPr>
        <p:spPr>
          <a:xfrm>
            <a:off x="2484438" y="404813"/>
            <a:ext cx="4495800" cy="574675"/>
          </a:xfrm>
          <a:noFill/>
        </p:spPr>
        <p:txBody>
          <a:bodyPr/>
          <a:lstStyle/>
          <a:p>
            <a:pPr eaLnBrk="1" hangingPunct="1"/>
            <a:r>
              <a:rPr lang="en-US" altLang="zh-CN" sz="2000" b="1"/>
              <a:t>Key  expansion</a:t>
            </a:r>
            <a:endParaRPr lang="en-US" altLang="zh-CN" sz="2000" b="1"/>
          </a:p>
        </p:txBody>
      </p:sp>
      <p:sp>
        <p:nvSpPr>
          <p:cNvPr id="70683" name="Line 27"/>
          <p:cNvSpPr>
            <a:spLocks noChangeShapeType="1"/>
          </p:cNvSpPr>
          <p:nvPr/>
        </p:nvSpPr>
        <p:spPr bwMode="auto">
          <a:xfrm>
            <a:off x="2339975" y="580548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84" name="Text Box 28"/>
          <p:cNvSpPr txBox="1">
            <a:spLocks noChangeArrowheads="1"/>
          </p:cNvSpPr>
          <p:nvPr/>
        </p:nvSpPr>
        <p:spPr bwMode="auto">
          <a:xfrm>
            <a:off x="2771775" y="1990725"/>
            <a:ext cx="2735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0" lang="zh-CN" altLang="zh-CN" sz="2000" b="1"/>
          </a:p>
        </p:txBody>
      </p:sp>
      <p:sp>
        <p:nvSpPr>
          <p:cNvPr id="70685" name="Text Box 29"/>
          <p:cNvSpPr txBox="1">
            <a:spLocks noChangeArrowheads="1"/>
          </p:cNvSpPr>
          <p:nvPr/>
        </p:nvSpPr>
        <p:spPr bwMode="auto">
          <a:xfrm>
            <a:off x="3635375" y="1268413"/>
            <a:ext cx="3095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000" b="1"/>
              <a:t>6  =&lt;  i  &lt;  6 ( Rnd + 1 )</a:t>
            </a:r>
            <a:endParaRPr kumimoji="0" lang="en-US" altLang="zh-CN" sz="2000" b="1"/>
          </a:p>
        </p:txBody>
      </p:sp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3922713" y="5591175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6 = 0</a:t>
            </a:r>
            <a:endParaRPr kumimoji="0" lang="en-US" altLang="zh-CN" sz="2000" b="1"/>
          </a:p>
        </p:txBody>
      </p:sp>
      <p:sp>
        <p:nvSpPr>
          <p:cNvPr id="70687" name="Text Box 31"/>
          <p:cNvSpPr txBox="1">
            <a:spLocks noChangeArrowheads="1"/>
          </p:cNvSpPr>
          <p:nvPr/>
        </p:nvSpPr>
        <p:spPr bwMode="auto">
          <a:xfrm>
            <a:off x="323850" y="5734050"/>
            <a:ext cx="1728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6 != 0</a:t>
            </a:r>
            <a:endParaRPr kumimoji="0" lang="en-US" altLang="zh-CN" sz="2000" b="1"/>
          </a:p>
        </p:txBody>
      </p:sp>
      <p:sp>
        <p:nvSpPr>
          <p:cNvPr id="70688" name="Rectangle 32"/>
          <p:cNvSpPr>
            <a:spLocks noChangeArrowheads="1"/>
          </p:cNvSpPr>
          <p:nvPr/>
        </p:nvSpPr>
        <p:spPr bwMode="auto">
          <a:xfrm>
            <a:off x="2032000" y="4652963"/>
            <a:ext cx="792163" cy="576262"/>
          </a:xfrm>
          <a:prstGeom prst="rect">
            <a:avLst/>
          </a:prstGeom>
          <a:solidFill>
            <a:srgbClr val="00FF00"/>
          </a:solidFill>
          <a:ln w="38100">
            <a:solidFill>
              <a:srgbClr val="66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i-1</a:t>
            </a:r>
            <a:endParaRPr kumimoji="0" lang="en-US" altLang="zh-CN" sz="1800" b="1"/>
          </a:p>
        </p:txBody>
      </p:sp>
      <p:sp>
        <p:nvSpPr>
          <p:cNvPr id="70689" name="Rectangle 33"/>
          <p:cNvSpPr>
            <a:spLocks noChangeArrowheads="1"/>
          </p:cNvSpPr>
          <p:nvPr/>
        </p:nvSpPr>
        <p:spPr bwMode="auto">
          <a:xfrm>
            <a:off x="2032000" y="5229225"/>
            <a:ext cx="792163" cy="576263"/>
          </a:xfrm>
          <a:prstGeom prst="rect">
            <a:avLst/>
          </a:prstGeom>
          <a:solidFill>
            <a:schemeClr val="accent1"/>
          </a:solidFill>
          <a:ln w="38100">
            <a:solidFill>
              <a:srgbClr val="66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</a:t>
            </a:r>
            <a:endParaRPr kumimoji="0" lang="en-US" altLang="zh-CN" sz="18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2051050" y="1844675"/>
            <a:ext cx="792163" cy="5762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i-6</a:t>
            </a:r>
            <a:endParaRPr kumimoji="0" lang="en-US" altLang="zh-CN" sz="1800" b="1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2051050" y="2420938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i-5</a:t>
            </a:r>
            <a:endParaRPr kumimoji="0" lang="en-US" altLang="zh-CN" sz="1800" b="1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2051050" y="3068638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i-4</a:t>
            </a:r>
            <a:endParaRPr kumimoji="0" lang="en-US" altLang="zh-CN" sz="1800" b="1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2051050" y="3716338"/>
            <a:ext cx="792163" cy="6492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i-3</a:t>
            </a:r>
            <a:endParaRPr kumimoji="0" lang="en-US" altLang="zh-CN" sz="1800" b="1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2051050" y="4365625"/>
            <a:ext cx="792163" cy="576263"/>
          </a:xfrm>
          <a:prstGeom prst="rect">
            <a:avLst/>
          </a:prstGeom>
          <a:noFill/>
          <a:ln w="38100">
            <a:solidFill>
              <a:srgbClr val="66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i-2</a:t>
            </a:r>
            <a:endParaRPr kumimoji="0" lang="en-US" altLang="zh-CN" sz="1800" b="1"/>
          </a:p>
        </p:txBody>
      </p:sp>
      <p:sp>
        <p:nvSpPr>
          <p:cNvPr id="71687" name="Line 7"/>
          <p:cNvSpPr>
            <a:spLocks noChangeShapeType="1"/>
          </p:cNvSpPr>
          <p:nvPr/>
        </p:nvSpPr>
        <p:spPr bwMode="auto">
          <a:xfrm flipV="1">
            <a:off x="2843213" y="3429000"/>
            <a:ext cx="1873250" cy="1655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4716463" y="3141663"/>
            <a:ext cx="1368425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Substituion</a:t>
            </a:r>
            <a:endParaRPr kumimoji="0" lang="en-US" altLang="zh-CN" sz="2000" b="1"/>
          </a:p>
        </p:txBody>
      </p:sp>
      <p:sp>
        <p:nvSpPr>
          <p:cNvPr id="71689" name="Line 9"/>
          <p:cNvSpPr>
            <a:spLocks noChangeShapeType="1"/>
          </p:cNvSpPr>
          <p:nvPr/>
        </p:nvSpPr>
        <p:spPr bwMode="auto">
          <a:xfrm>
            <a:off x="6084888" y="3429000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0" name="Oval 10"/>
          <p:cNvSpPr>
            <a:spLocks noChangeArrowheads="1"/>
          </p:cNvSpPr>
          <p:nvPr/>
        </p:nvSpPr>
        <p:spPr bwMode="auto">
          <a:xfrm>
            <a:off x="6877050" y="3213100"/>
            <a:ext cx="360363" cy="3603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71691" name="Line 11"/>
          <p:cNvSpPr>
            <a:spLocks noChangeShapeType="1"/>
          </p:cNvSpPr>
          <p:nvPr/>
        </p:nvSpPr>
        <p:spPr bwMode="auto">
          <a:xfrm>
            <a:off x="2843213" y="908050"/>
            <a:ext cx="46815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2" name="Line 12"/>
          <p:cNvSpPr>
            <a:spLocks noChangeShapeType="1"/>
          </p:cNvSpPr>
          <p:nvPr/>
        </p:nvSpPr>
        <p:spPr bwMode="auto">
          <a:xfrm flipH="1">
            <a:off x="7524750" y="908050"/>
            <a:ext cx="1588" cy="4033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3" name="Line 13"/>
          <p:cNvSpPr>
            <a:spLocks noChangeShapeType="1"/>
          </p:cNvSpPr>
          <p:nvPr/>
        </p:nvSpPr>
        <p:spPr bwMode="auto">
          <a:xfrm>
            <a:off x="7524750" y="522922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4" name="Line 14"/>
          <p:cNvSpPr>
            <a:spLocks noChangeShapeType="1"/>
          </p:cNvSpPr>
          <p:nvPr/>
        </p:nvSpPr>
        <p:spPr bwMode="auto">
          <a:xfrm flipH="1">
            <a:off x="2843213" y="5734050"/>
            <a:ext cx="46815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5" name="Line 15"/>
          <p:cNvSpPr>
            <a:spLocks noChangeShapeType="1"/>
          </p:cNvSpPr>
          <p:nvPr/>
        </p:nvSpPr>
        <p:spPr bwMode="auto">
          <a:xfrm flipH="1">
            <a:off x="1330325" y="5157788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6" name="Oval 16"/>
          <p:cNvSpPr>
            <a:spLocks noChangeArrowheads="1"/>
          </p:cNvSpPr>
          <p:nvPr/>
        </p:nvSpPr>
        <p:spPr bwMode="auto">
          <a:xfrm>
            <a:off x="971550" y="5013325"/>
            <a:ext cx="358775" cy="3603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71697" name="Line 17"/>
          <p:cNvSpPr>
            <a:spLocks noChangeShapeType="1"/>
          </p:cNvSpPr>
          <p:nvPr/>
        </p:nvSpPr>
        <p:spPr bwMode="auto">
          <a:xfrm flipH="1">
            <a:off x="1116013" y="908050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8" name="Line 18"/>
          <p:cNvSpPr>
            <a:spLocks noChangeShapeType="1"/>
          </p:cNvSpPr>
          <p:nvPr/>
        </p:nvSpPr>
        <p:spPr bwMode="auto">
          <a:xfrm flipH="1">
            <a:off x="1116013" y="908050"/>
            <a:ext cx="0" cy="4105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9" name="Line 19"/>
          <p:cNvSpPr>
            <a:spLocks noChangeShapeType="1"/>
          </p:cNvSpPr>
          <p:nvPr/>
        </p:nvSpPr>
        <p:spPr bwMode="auto">
          <a:xfrm>
            <a:off x="1114425" y="53736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1114425" y="5878513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>
            <a:off x="2484438" y="1268413"/>
            <a:ext cx="0" cy="5762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2" name="Rectangle 22"/>
          <p:cNvSpPr>
            <a:spLocks noGrp="1" noChangeArrowheads="1"/>
          </p:cNvSpPr>
          <p:nvPr>
            <p:ph type="title"/>
          </p:nvPr>
        </p:nvSpPr>
        <p:spPr>
          <a:xfrm>
            <a:off x="3924300" y="476250"/>
            <a:ext cx="4495800" cy="574675"/>
          </a:xfrm>
          <a:noFill/>
        </p:spPr>
        <p:txBody>
          <a:bodyPr/>
          <a:lstStyle/>
          <a:p>
            <a:pPr eaLnBrk="1" hangingPunct="1"/>
            <a:r>
              <a:rPr lang="en-US" altLang="zh-CN" sz="2000" b="1"/>
              <a:t>Key  expansion</a:t>
            </a:r>
            <a:endParaRPr lang="en-US" altLang="zh-CN" sz="2000" b="1"/>
          </a:p>
        </p:txBody>
      </p:sp>
      <p:sp>
        <p:nvSpPr>
          <p:cNvPr id="71703" name="Line 23"/>
          <p:cNvSpPr>
            <a:spLocks noChangeShapeType="1"/>
          </p:cNvSpPr>
          <p:nvPr/>
        </p:nvSpPr>
        <p:spPr bwMode="auto">
          <a:xfrm>
            <a:off x="2339975" y="6092825"/>
            <a:ext cx="0" cy="7651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04" name="Text Box 24"/>
          <p:cNvSpPr txBox="1">
            <a:spLocks noChangeArrowheads="1"/>
          </p:cNvSpPr>
          <p:nvPr/>
        </p:nvSpPr>
        <p:spPr bwMode="auto">
          <a:xfrm>
            <a:off x="2771775" y="2278063"/>
            <a:ext cx="2735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0" lang="zh-CN" altLang="zh-CN" sz="2000" b="1"/>
          </a:p>
        </p:txBody>
      </p:sp>
      <p:sp>
        <p:nvSpPr>
          <p:cNvPr id="71705" name="Text Box 25"/>
          <p:cNvSpPr txBox="1">
            <a:spLocks noChangeArrowheads="1"/>
          </p:cNvSpPr>
          <p:nvPr/>
        </p:nvSpPr>
        <p:spPr bwMode="auto">
          <a:xfrm>
            <a:off x="3635375" y="1555750"/>
            <a:ext cx="3095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000" b="1"/>
              <a:t>8  =&lt;  i  &lt;  8 ( Rnd + 1 )</a:t>
            </a:r>
            <a:endParaRPr kumimoji="0" lang="en-US" altLang="zh-CN" sz="2000" b="1"/>
          </a:p>
        </p:txBody>
      </p:sp>
      <p:sp>
        <p:nvSpPr>
          <p:cNvPr id="71706" name="Text Box 26"/>
          <p:cNvSpPr txBox="1">
            <a:spLocks noChangeArrowheads="1"/>
          </p:cNvSpPr>
          <p:nvPr/>
        </p:nvSpPr>
        <p:spPr bwMode="auto">
          <a:xfrm>
            <a:off x="3922713" y="5878513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8 = 0</a:t>
            </a:r>
            <a:endParaRPr kumimoji="0" lang="en-US" altLang="zh-CN" sz="2000" b="1"/>
          </a:p>
        </p:txBody>
      </p:sp>
      <p:sp>
        <p:nvSpPr>
          <p:cNvPr id="71707" name="Text Box 27"/>
          <p:cNvSpPr txBox="1">
            <a:spLocks noChangeArrowheads="1"/>
          </p:cNvSpPr>
          <p:nvPr/>
        </p:nvSpPr>
        <p:spPr bwMode="auto">
          <a:xfrm>
            <a:off x="323850" y="6021388"/>
            <a:ext cx="1728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4 != 0</a:t>
            </a:r>
            <a:endParaRPr kumimoji="0" lang="en-US" altLang="zh-CN" sz="2000" b="1"/>
          </a:p>
        </p:txBody>
      </p:sp>
      <p:sp>
        <p:nvSpPr>
          <p:cNvPr id="71708" name="Rectangle 28"/>
          <p:cNvSpPr>
            <a:spLocks noChangeArrowheads="1"/>
          </p:cNvSpPr>
          <p:nvPr/>
        </p:nvSpPr>
        <p:spPr bwMode="auto">
          <a:xfrm>
            <a:off x="2032000" y="4940300"/>
            <a:ext cx="792163" cy="576263"/>
          </a:xfrm>
          <a:prstGeom prst="rect">
            <a:avLst/>
          </a:prstGeom>
          <a:solidFill>
            <a:srgbClr val="00FF00"/>
          </a:solidFill>
          <a:ln w="38100">
            <a:solidFill>
              <a:srgbClr val="66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i-1</a:t>
            </a:r>
            <a:endParaRPr kumimoji="0" lang="en-US" altLang="zh-CN" sz="1800" b="1"/>
          </a:p>
        </p:txBody>
      </p:sp>
      <p:sp>
        <p:nvSpPr>
          <p:cNvPr id="71709" name="Rectangle 29"/>
          <p:cNvSpPr>
            <a:spLocks noChangeArrowheads="1"/>
          </p:cNvSpPr>
          <p:nvPr/>
        </p:nvSpPr>
        <p:spPr bwMode="auto">
          <a:xfrm>
            <a:off x="2032000" y="5516563"/>
            <a:ext cx="792163" cy="576262"/>
          </a:xfrm>
          <a:prstGeom prst="rect">
            <a:avLst/>
          </a:prstGeom>
          <a:solidFill>
            <a:schemeClr val="accent1"/>
          </a:solidFill>
          <a:ln w="38100">
            <a:solidFill>
              <a:srgbClr val="66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</a:t>
            </a:r>
            <a:endParaRPr kumimoji="0" lang="en-US" altLang="zh-CN" sz="1800" b="1"/>
          </a:p>
        </p:txBody>
      </p:sp>
      <p:sp>
        <p:nvSpPr>
          <p:cNvPr id="71710" name="Rectangle 30"/>
          <p:cNvSpPr>
            <a:spLocks noChangeArrowheads="1"/>
          </p:cNvSpPr>
          <p:nvPr/>
        </p:nvSpPr>
        <p:spPr bwMode="auto">
          <a:xfrm>
            <a:off x="2051050" y="620713"/>
            <a:ext cx="792163" cy="5762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i-8</a:t>
            </a:r>
            <a:endParaRPr kumimoji="0" lang="en-US" altLang="zh-CN" sz="1800" b="1"/>
          </a:p>
        </p:txBody>
      </p:sp>
      <p:sp>
        <p:nvSpPr>
          <p:cNvPr id="71711" name="Rectangle 31"/>
          <p:cNvSpPr>
            <a:spLocks noChangeArrowheads="1"/>
          </p:cNvSpPr>
          <p:nvPr/>
        </p:nvSpPr>
        <p:spPr bwMode="auto">
          <a:xfrm>
            <a:off x="2051050" y="1196975"/>
            <a:ext cx="792163" cy="64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b="1"/>
              <a:t>W</a:t>
            </a:r>
            <a:r>
              <a:rPr kumimoji="0" lang="en-US" altLang="zh-CN" sz="1800" b="1"/>
              <a:t>i-7</a:t>
            </a:r>
            <a:endParaRPr kumimoji="0" lang="en-US" altLang="zh-CN" sz="1800" b="1"/>
          </a:p>
        </p:txBody>
      </p:sp>
      <p:sp>
        <p:nvSpPr>
          <p:cNvPr id="71712" name="Line 32"/>
          <p:cNvSpPr>
            <a:spLocks noChangeShapeType="1"/>
          </p:cNvSpPr>
          <p:nvPr/>
        </p:nvSpPr>
        <p:spPr bwMode="auto">
          <a:xfrm>
            <a:off x="2555875" y="0"/>
            <a:ext cx="0" cy="63341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3" name="Rectangle 33"/>
          <p:cNvSpPr>
            <a:spLocks noChangeArrowheads="1"/>
          </p:cNvSpPr>
          <p:nvPr/>
        </p:nvSpPr>
        <p:spPr bwMode="auto">
          <a:xfrm>
            <a:off x="5508625" y="4724400"/>
            <a:ext cx="1368425" cy="649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Substituion</a:t>
            </a:r>
            <a:endParaRPr kumimoji="0" lang="en-US" altLang="zh-CN" sz="2000" b="1"/>
          </a:p>
        </p:txBody>
      </p:sp>
      <p:sp>
        <p:nvSpPr>
          <p:cNvPr id="71714" name="Line 34"/>
          <p:cNvSpPr>
            <a:spLocks noChangeShapeType="1"/>
          </p:cNvSpPr>
          <p:nvPr/>
        </p:nvSpPr>
        <p:spPr bwMode="auto">
          <a:xfrm>
            <a:off x="4716463" y="501332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5" name="Rectangle 35"/>
          <p:cNvSpPr>
            <a:spLocks noChangeArrowheads="1"/>
          </p:cNvSpPr>
          <p:nvPr/>
        </p:nvSpPr>
        <p:spPr bwMode="auto">
          <a:xfrm>
            <a:off x="3492500" y="4724400"/>
            <a:ext cx="1223963" cy="64928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Byte</a:t>
            </a:r>
            <a:endParaRPr kumimoji="0" lang="en-US" altLang="zh-CN" sz="2000" b="1"/>
          </a:p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Rotate</a:t>
            </a:r>
            <a:endParaRPr kumimoji="0" lang="en-US" altLang="zh-CN" sz="2000" b="1"/>
          </a:p>
        </p:txBody>
      </p:sp>
      <p:sp>
        <p:nvSpPr>
          <p:cNvPr id="71716" name="Line 36"/>
          <p:cNvSpPr>
            <a:spLocks noChangeShapeType="1"/>
          </p:cNvSpPr>
          <p:nvPr/>
        </p:nvSpPr>
        <p:spPr bwMode="auto">
          <a:xfrm>
            <a:off x="6877050" y="5013325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7" name="Oval 37"/>
          <p:cNvSpPr>
            <a:spLocks noChangeArrowheads="1"/>
          </p:cNvSpPr>
          <p:nvPr/>
        </p:nvSpPr>
        <p:spPr bwMode="auto">
          <a:xfrm>
            <a:off x="7307263" y="4870450"/>
            <a:ext cx="360362" cy="3603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71718" name="Line 38"/>
          <p:cNvSpPr>
            <a:spLocks noChangeShapeType="1"/>
          </p:cNvSpPr>
          <p:nvPr/>
        </p:nvSpPr>
        <p:spPr bwMode="auto">
          <a:xfrm flipH="1">
            <a:off x="7667625" y="5014913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19" name="Rectangle 39"/>
          <p:cNvSpPr>
            <a:spLocks noChangeArrowheads="1"/>
          </p:cNvSpPr>
          <p:nvPr/>
        </p:nvSpPr>
        <p:spPr bwMode="auto">
          <a:xfrm>
            <a:off x="7956550" y="4725988"/>
            <a:ext cx="863600" cy="6492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2000" b="1"/>
              <a:t>Rcons</a:t>
            </a:r>
            <a:endParaRPr kumimoji="0" lang="en-US" altLang="zh-CN" sz="2000" b="1"/>
          </a:p>
        </p:txBody>
      </p:sp>
      <p:sp>
        <p:nvSpPr>
          <p:cNvPr id="71720" name="Line 40"/>
          <p:cNvSpPr>
            <a:spLocks noChangeShapeType="1"/>
          </p:cNvSpPr>
          <p:nvPr/>
        </p:nvSpPr>
        <p:spPr bwMode="auto">
          <a:xfrm>
            <a:off x="2843213" y="5229225"/>
            <a:ext cx="649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1" name="Line 41"/>
          <p:cNvSpPr>
            <a:spLocks noChangeShapeType="1"/>
          </p:cNvSpPr>
          <p:nvPr/>
        </p:nvSpPr>
        <p:spPr bwMode="auto">
          <a:xfrm>
            <a:off x="7092950" y="908050"/>
            <a:ext cx="0" cy="2305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2" name="Line 42"/>
          <p:cNvSpPr>
            <a:spLocks noChangeShapeType="1"/>
          </p:cNvSpPr>
          <p:nvPr/>
        </p:nvSpPr>
        <p:spPr bwMode="auto">
          <a:xfrm flipH="1">
            <a:off x="7019925" y="3573463"/>
            <a:ext cx="1588" cy="2160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3" name="Text Box 43"/>
          <p:cNvSpPr txBox="1">
            <a:spLocks noChangeArrowheads="1"/>
          </p:cNvSpPr>
          <p:nvPr/>
        </p:nvSpPr>
        <p:spPr bwMode="auto">
          <a:xfrm>
            <a:off x="3924300" y="2205038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4 = 0</a:t>
            </a:r>
            <a:endParaRPr kumimoji="0" lang="en-US" altLang="zh-CN" sz="2000" b="1"/>
          </a:p>
        </p:txBody>
      </p:sp>
      <p:sp>
        <p:nvSpPr>
          <p:cNvPr id="71724" name="Text Box 44"/>
          <p:cNvSpPr txBox="1">
            <a:spLocks noChangeArrowheads="1"/>
          </p:cNvSpPr>
          <p:nvPr/>
        </p:nvSpPr>
        <p:spPr bwMode="auto">
          <a:xfrm>
            <a:off x="3851275" y="3860800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000" b="1"/>
              <a:t>i mod 4 = 0</a:t>
            </a:r>
            <a:endParaRPr kumimoji="0" lang="en-US" altLang="zh-CN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2286000" y="1524000"/>
            <a:ext cx="482441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zh-CN" altLang="en-US" sz="2300" b="1"/>
              <a:t>轮数（</a:t>
            </a:r>
            <a:r>
              <a:rPr kumimoji="0" lang="en-US" altLang="zh-CN" sz="2300" b="1"/>
              <a:t>Round</a:t>
            </a:r>
            <a:r>
              <a:rPr kumimoji="0" lang="zh-CN" altLang="en-US" sz="2300" b="1"/>
              <a:t>）的不同取值</a:t>
            </a:r>
            <a:endParaRPr kumimoji="0" lang="zh-CN" altLang="en-US" sz="2300" b="1"/>
          </a:p>
        </p:txBody>
      </p:sp>
      <p:graphicFrame>
        <p:nvGraphicFramePr>
          <p:cNvPr id="31641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1058863" y="2584450"/>
          <a:ext cx="7704137" cy="3163889"/>
        </p:xfrm>
        <a:graphic>
          <a:graphicData uri="http://schemas.openxmlformats.org/drawingml/2006/table">
            <a:tbl>
              <a:tblPr/>
              <a:tblGrid>
                <a:gridCol w="2936875"/>
                <a:gridCol w="2660650"/>
                <a:gridCol w="2106612"/>
              </a:tblGrid>
              <a:tr h="787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轮数（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Round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明文分组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加密轮数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Key  Length=128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66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128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66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66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66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Key  Length=192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Key  Length=256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128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29" name="Rectangle 25"/>
          <p:cNvSpPr>
            <a:spLocks noGrp="1" noChangeArrowheads="1"/>
          </p:cNvSpPr>
          <p:nvPr>
            <p:ph type="title" idx="4294967295"/>
          </p:nvPr>
        </p:nvSpPr>
        <p:spPr>
          <a:xfrm>
            <a:off x="1765300" y="525463"/>
            <a:ext cx="5865813" cy="6096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轮数（</a:t>
            </a:r>
            <a:r>
              <a:rPr lang="en-US" altLang="zh-CN">
                <a:solidFill>
                  <a:srgbClr val="0000FF"/>
                </a:solidFill>
              </a:rPr>
              <a:t>Round</a:t>
            </a:r>
            <a:r>
              <a:rPr lang="zh-CN" altLang="en-US">
                <a:solidFill>
                  <a:srgbClr val="0000FF"/>
                </a:solidFill>
              </a:rPr>
              <a:t>）的不同取值</a:t>
            </a:r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解密</a:t>
            </a:r>
            <a:endParaRPr lang="zh-CN" altLang="en-US"/>
          </a:p>
        </p:txBody>
      </p:sp>
      <p:pic>
        <p:nvPicPr>
          <p:cNvPr id="73731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60575"/>
            <a:ext cx="9144000" cy="29368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轮密钥加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与加密时相同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逆行移位</a:t>
            </a:r>
            <a:endParaRPr lang="zh-CN" altLang="en-US"/>
          </a:p>
        </p:txBody>
      </p:sp>
      <p:pic>
        <p:nvPicPr>
          <p:cNvPr id="75779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2276475"/>
            <a:ext cx="8316912" cy="21256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逆列混合 </a:t>
            </a:r>
            <a:endParaRPr lang="zh-CN" altLang="en-US"/>
          </a:p>
        </p:txBody>
      </p:sp>
      <p:pic>
        <p:nvPicPr>
          <p:cNvPr id="7680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1341438"/>
            <a:ext cx="3889375" cy="19732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781300"/>
            <a:ext cx="5329238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805" name="Text Box 6"/>
          <p:cNvSpPr txBox="1">
            <a:spLocks noChangeArrowheads="1"/>
          </p:cNvSpPr>
          <p:nvPr/>
        </p:nvSpPr>
        <p:spPr bwMode="auto">
          <a:xfrm>
            <a:off x="611188" y="3716338"/>
            <a:ext cx="2665412" cy="173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对于矩阵</a:t>
            </a:r>
            <a:r>
              <a:rPr lang="en-US" altLang="zh-CN" sz="2400">
                <a:latin typeface="Times New Roman" panose="02020603050405020304" pitchFamily="18" charset="0"/>
              </a:rPr>
              <a:t>ABC</a:t>
            </a:r>
            <a:r>
              <a:rPr lang="zh-CN" altLang="en-US" sz="2400">
                <a:latin typeface="Times New Roman" panose="02020603050405020304" pitchFamily="18" charset="0"/>
              </a:rPr>
              <a:t>，如果</a:t>
            </a:r>
            <a:r>
              <a:rPr lang="en-US" altLang="zh-CN" sz="2400">
                <a:latin typeface="Times New Roman" panose="02020603050405020304" pitchFamily="18" charset="0"/>
              </a:rPr>
              <a:t>C=AB,</a:t>
            </a:r>
            <a:r>
              <a:rPr lang="zh-CN" altLang="en-US" sz="2400">
                <a:latin typeface="Times New Roman" panose="02020603050405020304" pitchFamily="18" charset="0"/>
              </a:rPr>
              <a:t>且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可逆，则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baseline="30000">
                <a:latin typeface="Times New Roman" panose="02020603050405020304" pitchFamily="18" charset="0"/>
              </a:rPr>
              <a:t>-1</a:t>
            </a:r>
            <a:r>
              <a:rPr lang="en-US" altLang="zh-CN" sz="2400">
                <a:latin typeface="Times New Roman" panose="02020603050405020304" pitchFamily="18" charset="0"/>
              </a:rPr>
              <a:t>C=A</a:t>
            </a:r>
            <a:r>
              <a:rPr lang="en-US" altLang="zh-CN" sz="2400" baseline="30000">
                <a:latin typeface="Times New Roman" panose="02020603050405020304" pitchFamily="18" charset="0"/>
              </a:rPr>
              <a:t>-1</a:t>
            </a:r>
            <a:r>
              <a:rPr lang="en-US" altLang="zh-CN" sz="2400">
                <a:latin typeface="Times New Roman" panose="02020603050405020304" pitchFamily="18" charset="0"/>
              </a:rPr>
              <a:t>AB=B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逆字节替代（逆</a:t>
            </a:r>
            <a:r>
              <a:rPr lang="en-US" altLang="zh-CN"/>
              <a:t>S</a:t>
            </a:r>
            <a:r>
              <a:rPr lang="zh-CN" altLang="en-US"/>
              <a:t>盒）</a:t>
            </a:r>
            <a:endParaRPr lang="zh-CN" altLang="en-US"/>
          </a:p>
        </p:txBody>
      </p:sp>
      <p:pic>
        <p:nvPicPr>
          <p:cNvPr id="77827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0475" y="1341438"/>
            <a:ext cx="6624638" cy="51577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708275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后面内容供参考</a:t>
            </a:r>
            <a:endParaRPr lang="zh-CN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zh-CN" dirty="0"/>
              <a:t> </a:t>
            </a:r>
            <a:endParaRPr lang="zh-CN" altLang="zh-CN" dirty="0"/>
          </a:p>
        </p:txBody>
      </p:sp>
      <p:sp>
        <p:nvSpPr>
          <p:cNvPr id="78852" name="Rectangle 2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1811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58940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97075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0538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8625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197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769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341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kumimoji="0" lang="en-US" altLang="zh-CN" sz="3600">
                <a:solidFill>
                  <a:schemeClr val="tx2"/>
                </a:solidFill>
                <a:ea typeface="华文行楷" panose="02010800040101010101" pitchFamily="2" charset="-122"/>
                <a:cs typeface="宋体" panose="02010600030101010101" pitchFamily="2" charset="-122"/>
              </a:rPr>
              <a:t>AES</a:t>
            </a:r>
            <a:r>
              <a:rPr kumimoji="0" lang="zh-CN" altLang="en-US" sz="3600">
                <a:solidFill>
                  <a:schemeClr val="tx2"/>
                </a:solidFill>
                <a:ea typeface="华文行楷" panose="02010800040101010101" pitchFamily="2" charset="-122"/>
                <a:cs typeface="宋体" panose="02010600030101010101" pitchFamily="2" charset="-122"/>
              </a:rPr>
              <a:t>算法数学基础</a:t>
            </a:r>
            <a:endParaRPr kumimoji="0" lang="zh-CN" altLang="en-US" sz="3600">
              <a:solidFill>
                <a:schemeClr val="tx2"/>
              </a:solidFill>
              <a:ea typeface="华文行楷" panose="020108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抽象代数</a:t>
            </a:r>
            <a:endParaRPr lang="zh-CN" altLang="en-US" dirty="0"/>
          </a:p>
        </p:txBody>
      </p:sp>
      <p:sp>
        <p:nvSpPr>
          <p:cNvPr id="79875" name="内容占位符 2"/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363272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抽象代数</a:t>
            </a:r>
            <a:r>
              <a:rPr lang="en-US" altLang="zh-CN" dirty="0"/>
              <a:t>(abstract algebra)</a:t>
            </a:r>
            <a:r>
              <a:rPr lang="zh-CN" altLang="en-US" dirty="0"/>
              <a:t>、近世代数、现代代数</a:t>
            </a:r>
            <a:r>
              <a:rPr lang="en-US" altLang="zh-CN" dirty="0"/>
              <a:t>(modern algebra)</a:t>
            </a:r>
            <a:r>
              <a:rPr lang="zh-CN" altLang="en-US" dirty="0"/>
              <a:t>指的都是同一个意思。抽象代数主要研究对象是代数结构，包括群、环、域等。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二元运算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79512" y="1628800"/>
                <a:ext cx="8928992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二元运算：设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为集合，一个映射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称为集合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上的代数运算或者二元运算。</a:t>
                </a:r>
                <a:endParaRPr lang="en-US" altLang="zh-CN" dirty="0"/>
              </a:p>
              <a:p>
                <a:r>
                  <a:rPr lang="zh-CN" altLang="en-US" dirty="0"/>
                  <a:t>一个集合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上的二元运算必须满足以下条件：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可运算性：即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中的任何两个元素都可以进行这种运算；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单值性：即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中任何两个元素的运算结果是唯一的；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封闭性：即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中的任何两个元素运算的结果都属于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注：一个代数运算一般可以用“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dirty="0"/>
                  <a:t>”、“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zh-CN" altLang="en-US" dirty="0"/>
                  <a:t>”、“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”、“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dirty="0"/>
                  <a:t>”符号来表示。</a:t>
                </a:r>
                <a:endParaRPr lang="en-US" altLang="zh-CN" dirty="0"/>
              </a:p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是集合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上的一个代数运算，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，可写成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例：整数集合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上的加法运算是代数运算，满足代数运算的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个性质；然而自然数集合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上的减法运算不是代数运算，因为它不满足封闭性。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628800"/>
                <a:ext cx="8928992" cy="4524315"/>
              </a:xfrm>
              <a:prstGeom prst="rect">
                <a:avLst/>
              </a:prstGeom>
              <a:blipFill rotWithShape="1">
                <a:blip r:embed="rId1"/>
                <a:stretch>
                  <a:fillRect l="-5" t="-1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二元运算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43000" y="1404047"/>
                <a:ext cx="9001000" cy="500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定义</a:t>
                </a:r>
                <a:r>
                  <a:rPr lang="zh-CN" altLang="en-US" dirty="0"/>
                  <a:t>：设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”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dirty="0"/>
                  <a:t>A</a:t>
                </a:r>
                <a:r>
                  <a:rPr lang="zh-CN" altLang="en-US" dirty="0"/>
                  <a:t>上的代数运算，如果对于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中任意三个元素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都有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则称“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dirty="0"/>
                  <a:t>”在集合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上满足结合律；如果有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，则满足交换律。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例如，整数集合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上的加法和乘法运算都满足结合律和交换律。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定义</a:t>
                </a:r>
                <a:r>
                  <a:rPr lang="zh-CN" altLang="en-US" dirty="0"/>
                  <a:t>：设“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dirty="0"/>
                  <a:t>”和“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”是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上的两个代数运算，如果对于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中任意三个元素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都有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，则称“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dirty="0"/>
                  <a:t>”对“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”在集合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上满足分配律。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例如：整数集合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上的乘法对加法满足分配律，而加法对乘法不满足分配律。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0" y="1404047"/>
                <a:ext cx="9001000" cy="5008230"/>
              </a:xfrm>
              <a:prstGeom prst="rect">
                <a:avLst/>
              </a:prstGeom>
              <a:blipFill rotWithShape="1">
                <a:blip r:embed="rId1"/>
                <a:stretch>
                  <a:fillRect l="-1" t="-1" b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51520" y="1052736"/>
                <a:ext cx="864096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初等代数到抽象代数的概念延伸</a:t>
                </a:r>
                <a:r>
                  <a:rPr lang="en-US" altLang="zh-CN" b="1" dirty="0"/>
                  <a:t>:</a:t>
                </a:r>
                <a:endParaRPr lang="en-US" altLang="zh-CN" b="1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zh-CN" dirty="0"/>
                  <a:t>+-*/-&gt;</a:t>
                </a:r>
                <a:r>
                  <a:rPr lang="zh-CN" altLang="en-US" dirty="0"/>
                  <a:t>二元运算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+-*/</a:t>
                </a:r>
                <a:r>
                  <a:rPr lang="zh-CN" altLang="en-US" dirty="0"/>
                  <a:t>被抽象为二元运算，如果对两个元素作二元运算，得到的新元素仍然属于该集合，这叫封闭性</a:t>
                </a:r>
                <a:endParaRPr lang="en-US" altLang="zh-CN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zh-CN" dirty="0"/>
                  <a:t>0/1-&gt;</a:t>
                </a:r>
                <a:r>
                  <a:rPr lang="zh-CN" altLang="en-US" dirty="0"/>
                  <a:t>单位元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被抽象成单位元，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为加法单位元，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为乘法单位元。单位元是集合的一个特殊元素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跟二元运算有关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，满足单位元与其他元素相结合时，不改变该元素，即满足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dirty="0"/>
                  <a:t>负数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倒数</a:t>
                </a:r>
                <a:r>
                  <a:rPr lang="en-US" altLang="zh-CN" dirty="0"/>
                  <a:t>-&gt;</a:t>
                </a:r>
                <a:r>
                  <a:rPr lang="zh-CN" altLang="en-US" dirty="0"/>
                  <a:t>逆元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负数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倒数被抽象成逆元，对于加法，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的逆元是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对于乘法，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的逆元是倒数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。直观地说，逆元可以撤销操作，如加了一个数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，再加上该数的逆元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相当于撤消操作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，结果还是一样。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640960" cy="5262979"/>
              </a:xfrm>
              <a:prstGeom prst="rect">
                <a:avLst/>
              </a:prstGeom>
              <a:blipFill rotWithShape="1">
                <a:blip r:embed="rId1"/>
                <a:stretch>
                  <a:fillRect l="-1" t="-10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群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-36512" y="980728"/>
                <a:ext cx="918051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群指的是元素集合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内任意两个元素的联合操作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dirty="0"/>
                  <a:t>的集合。群具有以下特征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marL="457200" indent="-457200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封闭性：对所有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indent="-457200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结合律：对所有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indent="-457200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单位元：存在元素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，对于所有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都有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indent="-457200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逆元：对于任意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存在一个元素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dirty="0"/>
                  <a:t>，这个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的逆元。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如果在满足以上特征的基础上，对于所有的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都有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，则称此群为阿贝尔群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或交换群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例如连续整数集合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.…,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与操作加法模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组成了一个群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单位元为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，每个元素的逆元都存在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。但连续整数集合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与操作乘法模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不一定能组成一个群，因为不一定每一个元素都存在逆元。</a:t>
                </a:r>
                <a:endParaRPr lang="en-US" altLang="zh-CN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980728"/>
                <a:ext cx="9180512" cy="5262979"/>
              </a:xfrm>
              <a:prstGeom prst="rect">
                <a:avLst/>
              </a:prstGeom>
              <a:blipFill rotWithShape="1">
                <a:blip r:embed="rId1"/>
                <a:stretch>
                  <a:fillRect l="3" t="-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群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3"/>
              <p:cNvSpPr txBox="1">
                <a:spLocks noChangeArrowheads="1"/>
              </p:cNvSpPr>
              <p:nvPr/>
            </p:nvSpPr>
            <p:spPr bwMode="auto">
              <a:xfrm>
                <a:off x="-36512" y="836613"/>
                <a:ext cx="9289032" cy="5562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如果群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只含有有限个元素，则称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为有限群，否则为无限群。一个有限群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中元素的个数称为群的阶，记为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|G|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如果群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的每一元素都是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的某一固定元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生成的，则称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为循环群。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群的一些基本性质：设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是一个群，则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单位元唯一。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中任何一个元素有且仅有一个逆元。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满足消去律：设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；若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对于群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中任意元素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6512" y="836613"/>
                <a:ext cx="9289032" cy="5562228"/>
              </a:xfrm>
              <a:prstGeom prst="rect">
                <a:avLst/>
              </a:prstGeom>
              <a:blipFill rotWithShape="1">
                <a:blip r:embed="rId1"/>
                <a:stretch>
                  <a:fillRect l="3" t="-6" r="6" b="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群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3"/>
              <p:cNvSpPr txBox="1">
                <a:spLocks noChangeArrowheads="1"/>
              </p:cNvSpPr>
              <p:nvPr/>
            </p:nvSpPr>
            <p:spPr bwMode="auto">
              <a:xfrm>
                <a:off x="107504" y="836613"/>
                <a:ext cx="8856984" cy="3936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群中元素的阶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给定群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，称满足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的最小正整数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元素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的阶。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例如：整数集合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</a:rPr>
                  <a:t>.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085850" lvl="1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可以发现对于模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加法运算集合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构成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了一个单位元为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的群。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085850" lvl="1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群中元素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，对于加法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相加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=0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即元素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的阶为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5.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836613"/>
                <a:ext cx="8856984" cy="3936014"/>
              </a:xfrm>
              <a:prstGeom prst="rect">
                <a:avLst/>
              </a:prstGeom>
              <a:blipFill rotWithShape="1">
                <a:blip r:embed="rId1"/>
                <a:stretch>
                  <a:fillRect l="-2" t="-8" r="2" b="-16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环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3"/>
              <p:cNvSpPr txBox="1">
                <a:spLocks noChangeArrowheads="1"/>
              </p:cNvSpPr>
              <p:nvPr/>
            </p:nvSpPr>
            <p:spPr bwMode="auto">
              <a:xfrm>
                <a:off x="107504" y="836613"/>
                <a:ext cx="8856984" cy="4823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环的定义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设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是定义了两个二元运算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的集合，如果这两个运算满足下列性质，则称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为一个环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(ring)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,+, ×)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400" i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,+)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是一个交换群。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乘法的封闭性：如果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乘法的结合律：对于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中的任意元素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都有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lvl="1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 startAt="4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分配律：对于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中任意元素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有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lvl="1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836613"/>
                <a:ext cx="8856984" cy="4823565"/>
              </a:xfrm>
              <a:prstGeom prst="rect">
                <a:avLst/>
              </a:prstGeom>
              <a:blipFill rotWithShape="1">
                <a:blip r:embed="rId1"/>
                <a:stretch>
                  <a:fillRect l="-2" t="-7" r="2" b="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环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3"/>
              <p:cNvSpPr txBox="1">
                <a:spLocks noChangeArrowheads="1"/>
              </p:cNvSpPr>
              <p:nvPr/>
            </p:nvSpPr>
            <p:spPr bwMode="auto">
              <a:xfrm>
                <a:off x="107504" y="836613"/>
                <a:ext cx="8856984" cy="5008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环的分类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交换环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如果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环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,+, ×)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对于乘法满足交换律，则称环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为一个交换环。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整环：如果一个交换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环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,+, ×)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满足下列性质，则称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为一个整环。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乘法单位元：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中存在一个元素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，对于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中任意元素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成立。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1200150" lvl="1" indent="-457200">
                  <a:lnSpc>
                    <a:spcPct val="150000"/>
                  </a:lnSpc>
                  <a:spcBef>
                    <a:spcPct val="0"/>
                  </a:spcBef>
                  <a:buFont typeface="+mj-ea"/>
                  <a:buAutoNum type="circleNumDbPlain"/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无零因子：对于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中元素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或者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（这里的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指加法的单位元）。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836613"/>
                <a:ext cx="8856984" cy="5008230"/>
              </a:xfrm>
              <a:prstGeom prst="rect">
                <a:avLst/>
              </a:prstGeom>
              <a:blipFill rotWithShape="1">
                <a:blip r:embed="rId1"/>
                <a:stretch>
                  <a:fillRect l="-2" t="-6" r="2" b="-12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有限域</a:t>
            </a:r>
            <a:endParaRPr lang="zh-CN" altLang="en-US" dirty="0"/>
          </a:p>
        </p:txBody>
      </p:sp>
      <p:sp>
        <p:nvSpPr>
          <p:cNvPr id="84995" name="文本框 3"/>
          <p:cNvSpPr txBox="1">
            <a:spLocks noChangeArrowheads="1"/>
          </p:cNvSpPr>
          <p:nvPr/>
        </p:nvSpPr>
        <p:spPr bwMode="auto">
          <a:xfrm>
            <a:off x="90488" y="836613"/>
            <a:ext cx="8963025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要使一个结构能同时支持加减乘除四种基本运算，我们需要一个域</a:t>
            </a:r>
            <a:r>
              <a:rPr lang="en-US" altLang="zh-CN" sz="2400" dirty="0">
                <a:latin typeface="Times New Roman" panose="02020603050405020304" pitchFamily="18" charset="0"/>
              </a:rPr>
              <a:t>(Field)</a:t>
            </a:r>
            <a:r>
              <a:rPr lang="zh-CN" altLang="en-US" sz="2400" dirty="0">
                <a:latin typeface="Times New Roman" panose="02020603050405020304" pitchFamily="18" charset="0"/>
              </a:rPr>
              <a:t>，域</a:t>
            </a:r>
            <a:r>
              <a:rPr lang="en-US" altLang="zh-CN" sz="2400" dirty="0">
                <a:latin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</a:rPr>
              <a:t>是具有以下特征的元素的集合：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1. F </a:t>
            </a:r>
            <a:r>
              <a:rPr lang="zh-CN" altLang="en-US" sz="2400" dirty="0">
                <a:latin typeface="Times New Roman" panose="02020603050405020304" pitchFamily="18" charset="0"/>
              </a:rPr>
              <a:t>中所有的元素形成一个</a:t>
            </a:r>
            <a:r>
              <a:rPr lang="zh-CN" altLang="en-US" sz="2400" b="1" dirty="0">
                <a:latin typeface="Times New Roman" panose="02020603050405020304" pitchFamily="18" charset="0"/>
              </a:rPr>
              <a:t>加法交换群</a:t>
            </a:r>
            <a:r>
              <a:rPr lang="zh-CN" altLang="en-US" sz="2400" dirty="0">
                <a:latin typeface="Times New Roman" panose="02020603050405020304" pitchFamily="18" charset="0"/>
              </a:rPr>
              <a:t>，对应的群操作为 </a:t>
            </a:r>
            <a:r>
              <a:rPr lang="en-US" altLang="zh-CN" sz="2400" dirty="0">
                <a:latin typeface="Times New Roman" panose="02020603050405020304" pitchFamily="18" charset="0"/>
              </a:rPr>
              <a:t>+ </a:t>
            </a:r>
            <a:r>
              <a:rPr lang="zh-CN" altLang="en-US" sz="2400" dirty="0">
                <a:latin typeface="Times New Roman" panose="02020603050405020304" pitchFamily="18" charset="0"/>
              </a:rPr>
              <a:t>，单位元为</a:t>
            </a:r>
            <a:r>
              <a:rPr lang="en-US" altLang="zh-CN" sz="2400" dirty="0">
                <a:latin typeface="Times New Roman" panose="02020603050405020304" pitchFamily="18" charset="0"/>
              </a:rPr>
              <a:t>0 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br>
              <a:rPr lang="zh-CN" altLang="en-US" sz="2400" dirty="0">
                <a:latin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</a:rPr>
              <a:t>2. F </a:t>
            </a:r>
            <a:r>
              <a:rPr lang="zh-CN" altLang="en-US" sz="2400" dirty="0">
                <a:latin typeface="Times New Roman" panose="02020603050405020304" pitchFamily="18" charset="0"/>
              </a:rPr>
              <a:t>中除了 </a:t>
            </a:r>
            <a:r>
              <a:rPr lang="en-US" altLang="zh-CN" sz="2400" dirty="0">
                <a:latin typeface="Times New Roman" panose="02020603050405020304" pitchFamily="18" charset="0"/>
              </a:rPr>
              <a:t>0 </a:t>
            </a:r>
            <a:r>
              <a:rPr lang="zh-CN" altLang="en-US" sz="2400" dirty="0">
                <a:latin typeface="Times New Roman" panose="02020603050405020304" pitchFamily="18" charset="0"/>
              </a:rPr>
              <a:t>以外的所有元素构成一个</a:t>
            </a:r>
            <a:r>
              <a:rPr lang="zh-CN" altLang="en-US" sz="2400" b="1" dirty="0">
                <a:latin typeface="Times New Roman" panose="02020603050405020304" pitchFamily="18" charset="0"/>
              </a:rPr>
              <a:t>乘法交换群</a:t>
            </a:r>
            <a:r>
              <a:rPr lang="zh-CN" altLang="en-US" sz="2400" dirty="0">
                <a:latin typeface="Times New Roman" panose="02020603050405020304" pitchFamily="18" charset="0"/>
              </a:rPr>
              <a:t>，对应的群操作为 ∗ ，单位元为 </a:t>
            </a:r>
            <a:r>
              <a:rPr lang="en-US" altLang="zh-CN" sz="2400" dirty="0">
                <a:latin typeface="Times New Roman" panose="02020603050405020304" pitchFamily="18" charset="0"/>
              </a:rPr>
              <a:t>1 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br>
              <a:rPr lang="zh-CN" altLang="en-US" sz="2400" dirty="0">
                <a:latin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</a:rPr>
              <a:t>3. </a:t>
            </a:r>
            <a:r>
              <a:rPr lang="zh-CN" altLang="en-US" sz="2400" dirty="0">
                <a:latin typeface="Times New Roman" panose="02020603050405020304" pitchFamily="18" charset="0"/>
              </a:rPr>
              <a:t>当混合使用这两种操作时，乘法对加法的</a:t>
            </a:r>
            <a:r>
              <a:rPr lang="zh-CN" altLang="en-US" sz="2400" b="1" dirty="0">
                <a:latin typeface="Times New Roman" panose="02020603050405020304" pitchFamily="18" charset="0"/>
              </a:rPr>
              <a:t>分配律</a:t>
            </a:r>
            <a:r>
              <a:rPr lang="zh-CN" altLang="en-US" sz="2400" dirty="0">
                <a:latin typeface="Times New Roman" panose="02020603050405020304" pitchFamily="18" charset="0"/>
              </a:rPr>
              <a:t>应始终成立。即对所有的 </a:t>
            </a:r>
            <a:r>
              <a:rPr lang="en-US" altLang="zh-CN" sz="2400" dirty="0" err="1">
                <a:latin typeface="Times New Roman" panose="02020603050405020304" pitchFamily="18" charset="0"/>
              </a:rPr>
              <a:t>a,b,c∈F</a:t>
            </a:r>
            <a:r>
              <a:rPr lang="en-US" altLang="zh-CN" sz="2400" dirty="0">
                <a:latin typeface="Times New Roman" panose="02020603050405020304" pitchFamily="18" charset="0"/>
              </a:rPr>
              <a:t> </a:t>
            </a:r>
            <a:r>
              <a:rPr lang="zh-CN" altLang="en-US" sz="2400" dirty="0">
                <a:latin typeface="Times New Roman" panose="02020603050405020304" pitchFamily="18" charset="0"/>
              </a:rPr>
              <a:t>，都有 </a:t>
            </a:r>
            <a:r>
              <a:rPr lang="en-US" altLang="zh-CN" sz="2400" dirty="0">
                <a:latin typeface="Times New Roman" panose="02020603050405020304" pitchFamily="18" charset="0"/>
              </a:rPr>
              <a:t>a∗(</a:t>
            </a:r>
            <a:r>
              <a:rPr lang="en-US" altLang="zh-CN" sz="2400" dirty="0" err="1">
                <a:latin typeface="Times New Roman" panose="02020603050405020304" pitchFamily="18" charset="0"/>
              </a:rPr>
              <a:t>b+c</a:t>
            </a:r>
            <a:r>
              <a:rPr lang="en-US" altLang="zh-CN" sz="2400" dirty="0">
                <a:latin typeface="Times New Roman" panose="02020603050405020304" pitchFamily="18" charset="0"/>
              </a:rPr>
              <a:t>)=(</a:t>
            </a:r>
            <a:r>
              <a:rPr lang="en-US" altLang="zh-CN" sz="2400" dirty="0" err="1">
                <a:latin typeface="Times New Roman" panose="02020603050405020304" pitchFamily="18" charset="0"/>
              </a:rPr>
              <a:t>a∗b</a:t>
            </a:r>
            <a:r>
              <a:rPr lang="en-US" altLang="zh-CN" sz="2400" dirty="0">
                <a:latin typeface="Times New Roman" panose="02020603050405020304" pitchFamily="18" charset="0"/>
              </a:rPr>
              <a:t>)+(</a:t>
            </a:r>
            <a:r>
              <a:rPr lang="en-US" altLang="zh-CN" sz="2400" dirty="0" err="1">
                <a:latin typeface="Times New Roman" panose="02020603050405020304" pitchFamily="18" charset="0"/>
              </a:rPr>
              <a:t>a∗c</a:t>
            </a:r>
            <a:r>
              <a:rPr lang="en-US" altLang="zh-CN" sz="2400" dirty="0">
                <a:latin typeface="Times New Roman" panose="02020603050405020304" pitchFamily="18" charset="0"/>
              </a:rPr>
              <a:t>) 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实数集就是一个域，加法群中的单位元为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0 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，任意元素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a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的逆元为 −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a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；乘法群中的单位元为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1 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，除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0 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以外任意元素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a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的逆元为 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</a:rPr>
              <a:t>1/a 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但我们只对有限个元素感兴趣，这样的域叫做有限域或伽罗瓦域。而元素的个数叫做有限域的阶。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有限域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51520" y="630658"/>
                <a:ext cx="8784976" cy="625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定理</a:t>
                </a:r>
                <a:r>
                  <a:rPr lang="en-US" altLang="zh-CN" dirty="0"/>
                  <a:t>1:</a:t>
                </a:r>
                <a:r>
                  <a:rPr lang="zh-CN" altLang="en-US" dirty="0"/>
                  <a:t>只有当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是一个素数的幂，即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为正整数，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为素数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时，阶为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的域才存在。有限域记为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时该域称为素域，当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时称为扩展域。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b="1" dirty="0"/>
                  <a:t>有限域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为素数。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里面的加法和乘法与一般的加法和乘法差不多，区别是结果需要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，以保证结果都是域中的元素。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的加法和乘法单位元分别是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加法是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，乘法是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以最小的有限域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为例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其加法恰好等价于“异或门”，乘法恰好等价于“与门”。</a:t>
                </a:r>
                <a:endParaRPr lang="en-US" altLang="zh-CN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0658"/>
                <a:ext cx="8784976" cy="6254726"/>
              </a:xfrm>
              <a:prstGeom prst="rect">
                <a:avLst/>
              </a:prstGeom>
              <a:blipFill rotWithShape="1">
                <a:blip r:embed="rId1"/>
                <a:stretch>
                  <a:fillRect l="-1" t="-2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57200" y="4667652"/>
                <a:ext cx="33843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67652"/>
                <a:ext cx="3384376" cy="1569660"/>
              </a:xfrm>
              <a:prstGeom prst="rect">
                <a:avLst/>
              </a:prstGeom>
              <a:blipFill rotWithShape="1">
                <a:blip r:embed="rId2"/>
                <a:stretch>
                  <a:fillRect t="-26" r="14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932040" y="4640673"/>
                <a:ext cx="33843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4640673"/>
                <a:ext cx="3384376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19" t="-6" r="1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r>
              <a:rPr lang="zh-CN" altLang="en-US" dirty="0"/>
              <a:t>抽象代数</a:t>
            </a:r>
            <a:r>
              <a:rPr lang="en-US" altLang="zh-CN" dirty="0"/>
              <a:t>-</a:t>
            </a:r>
            <a:r>
              <a:rPr lang="zh-CN" altLang="en-US" dirty="0"/>
              <a:t>有限域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5496" y="630658"/>
                <a:ext cx="9145016" cy="6106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有限域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：有限域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中的元素可以看成有限域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上次数小于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的多</m:t>
                    </m:r>
                  </m:oMath>
                </a14:m>
                <a:endParaRPr lang="zh-CN" alt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项式，因此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构成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上的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维线性空间，其中的一组基</m:t>
                      </m:r>
                    </m:oMath>
                  </m:oMathPara>
                </a14:m>
                <a:endParaRPr lang="zh-CN" alt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,…, 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，所以有限域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中的所有元素可以用基</m:t>
                      </m:r>
                    </m:oMath>
                  </m:oMathPara>
                </a14:m>
                <a:endParaRPr lang="zh-CN" alt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的线性组合来表示，其线性组合的系数在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中</m:t>
                      </m:r>
                    </m:oMath>
                  </m:oMathPara>
                </a14:m>
                <a:endParaRPr lang="zh-CN" altLang="en-US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 = {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 +⋯+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若将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上的加法单位元记作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，乘法单位元记作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，元素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的加法逆元记作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，非零元素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的乘法逆元记作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，则有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err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。针对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中的元素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和非零元素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，加法是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，减法是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，乘法是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，除法是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，该算法对多项式运算同样成立，因此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上的四则运算可以由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上多项式的四则运算导出。当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中的元素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可以转化为二进制数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。因为计算机中使用的是二进制数，且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字节为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位，所以在密码学中常常用到有限域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630658"/>
                <a:ext cx="9145016" cy="6106795"/>
              </a:xfrm>
              <a:prstGeom prst="rect">
                <a:avLst/>
              </a:prstGeom>
              <a:blipFill rotWithShape="1">
                <a:blip r:embed="rId1"/>
                <a:stretch>
                  <a:fillRect l="-6" t="-2" r="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eaLnBrk="1" hangingPunct="1"/>
            <a:r>
              <a:rPr lang="en-US" altLang="zh-CN" dirty="0"/>
              <a:t>AES</a:t>
            </a:r>
            <a:r>
              <a:rPr lang="zh-CN" altLang="en-US" dirty="0"/>
              <a:t>基本运算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229600" cy="5688632"/>
              </a:xfrm>
            </p:spPr>
            <p:txBody>
              <a:bodyPr/>
              <a:lstStyle/>
              <a:p>
                <a:pPr algn="just" eaLnBrk="1" hangingPunct="1"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AES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算法中最基本的运算单位是字节，即一个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8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比特串。可以将每一字节看作是有限域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上的一个元素，分别对应一个次数不超过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7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的多项式。共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个多项式，每个多项式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系数是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域的元素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表示一个元素，这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256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个元素的值构成了一个有限域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9216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229600" cy="5688632"/>
              </a:xfrm>
              <a:blipFill rotWithShape="1">
                <a:blip r:embed="rId1"/>
                <a:stretch>
                  <a:fillRect t="-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字节在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GF(2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上的表示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字节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用二进制表示为</a:t>
            </a:r>
            <a:r>
              <a:rPr lang="en-US" altLang="zh-CN" dirty="0">
                <a:latin typeface="Times New Roman" panose="02020603050405020304" pitchFamily="18" charset="0"/>
              </a:rPr>
              <a:t>b=b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为有限域</a:t>
            </a:r>
            <a:r>
              <a:rPr lang="en-US" altLang="zh-CN" dirty="0">
                <a:latin typeface="Times New Roman" panose="02020603050405020304" pitchFamily="18" charset="0"/>
              </a:rPr>
              <a:t>GF(2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上的域元素，若用多项式表示，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可看作是多项式的系数，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∈{0,1}</a:t>
            </a:r>
            <a:r>
              <a:rPr lang="zh-CN" altLang="en-US" dirty="0">
                <a:latin typeface="Times New Roman" panose="02020603050405020304" pitchFamily="18" charset="0"/>
              </a:rPr>
              <a:t>，则字节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对应多项式为：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x+b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endParaRPr lang="en-US" altLang="zh-CN" baseline="-25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例如：字节‘</a:t>
            </a:r>
            <a:r>
              <a:rPr lang="en-US" altLang="zh-CN" dirty="0">
                <a:latin typeface="Times New Roman" panose="02020603050405020304" pitchFamily="18" charset="0"/>
              </a:rPr>
              <a:t>57’ </a:t>
            </a:r>
            <a:r>
              <a:rPr lang="zh-CN" altLang="en-US" dirty="0">
                <a:latin typeface="Times New Roman" panose="02020603050405020304" pitchFamily="18" charset="0"/>
              </a:rPr>
              <a:t>（十六进制数）对应的二进制为</a:t>
            </a:r>
            <a:r>
              <a:rPr lang="en-US" altLang="zh-CN" dirty="0">
                <a:latin typeface="Times New Roman" panose="02020603050405020304" pitchFamily="18" charset="0"/>
              </a:rPr>
              <a:t>01010111</a:t>
            </a:r>
            <a:r>
              <a:rPr lang="zh-CN" altLang="en-US" dirty="0">
                <a:latin typeface="Times New Roman" panose="02020603050405020304" pitchFamily="18" charset="0"/>
              </a:rPr>
              <a:t>，为</a:t>
            </a:r>
            <a:r>
              <a:rPr lang="en-US" altLang="zh-CN" dirty="0">
                <a:latin typeface="Times New Roman" panose="02020603050405020304" pitchFamily="18" charset="0"/>
              </a:rPr>
              <a:t>GF(2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上域元素，字节‘</a:t>
            </a:r>
            <a:r>
              <a:rPr lang="en-US" altLang="zh-CN" dirty="0">
                <a:latin typeface="Times New Roman" panose="02020603050405020304" pitchFamily="18" charset="0"/>
              </a:rPr>
              <a:t>57’</a:t>
            </a:r>
            <a:r>
              <a:rPr lang="zh-CN" altLang="en-US" dirty="0">
                <a:latin typeface="Times New Roman" panose="02020603050405020304" pitchFamily="18" charset="0"/>
              </a:rPr>
              <a:t>对应的多项式为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+x+1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GF(2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上两个域元素的和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CN" sz="2400" dirty="0">
                <a:latin typeface="Times New Roman" panose="02020603050405020304" pitchFamily="18" charset="0"/>
              </a:rPr>
              <a:t>GF(2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上两个域元素的和对应的多项式仍然是一个次数不超过</a:t>
            </a: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的多项式，其多项式系数等于两个元素对应多项式系数的模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加，即域元素对应二进制按位异或运算。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</a:rPr>
              <a:t>例如</a:t>
            </a:r>
            <a:r>
              <a:rPr lang="en-US" altLang="zh-CN" sz="2400" dirty="0">
                <a:latin typeface="Times New Roman" panose="02020603050405020304" pitchFamily="18" charset="0"/>
              </a:rPr>
              <a:t>:‘57’+‘83’= ‘D4’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</a:rPr>
              <a:t>用多项式表示为</a:t>
            </a:r>
            <a:r>
              <a:rPr lang="en-US" altLang="zh-CN" sz="2400" dirty="0">
                <a:latin typeface="Times New Roman" panose="02020603050405020304" pitchFamily="18" charset="0"/>
              </a:rPr>
              <a:t>: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</a:rPr>
              <a:t>(x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+x+1)+(x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</a:rPr>
              <a:t>+x+1)≡x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modp</a:t>
            </a:r>
            <a:r>
              <a:rPr lang="en-US" altLang="zh-CN" sz="2400" dirty="0">
                <a:latin typeface="Times New Roman" panose="02020603050405020304" pitchFamily="18" charset="0"/>
              </a:rPr>
              <a:t>(x))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用二进制表示为：</a:t>
            </a:r>
            <a:r>
              <a:rPr lang="en-US" altLang="zh-CN" sz="2400" dirty="0">
                <a:latin typeface="Times New Roman" panose="02020603050405020304" pitchFamily="18" charset="0"/>
              </a:rPr>
              <a:t>01010111⊕10000011=11010100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</a:rPr>
              <a:t>由于每个元素的加法逆元等于自己，所以有限域减法和加法相同。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GF(2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上两个域元素的乘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30363"/>
            <a:ext cx="8229600" cy="4103687"/>
          </a:xfrm>
        </p:spPr>
        <p:txBody>
          <a:bodyPr/>
          <a:lstStyle/>
          <a:p>
            <a:pPr indent="527050" algn="just" eaLnBrk="1" hangingPunct="1"/>
            <a:r>
              <a:rPr lang="zh-CN" altLang="en-US" dirty="0">
                <a:latin typeface="Times New Roman" panose="02020603050405020304" pitchFamily="18" charset="0"/>
              </a:rPr>
              <a:t>要计算</a:t>
            </a:r>
            <a:r>
              <a:rPr lang="en-US" altLang="zh-CN" dirty="0">
                <a:latin typeface="Times New Roman" panose="02020603050405020304" pitchFamily="18" charset="0"/>
              </a:rPr>
              <a:t>GF(2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上域元素的乘法，必须先确定一个</a:t>
            </a:r>
            <a:r>
              <a:rPr lang="en-US" altLang="zh-CN" dirty="0">
                <a:latin typeface="Times New Roman" panose="02020603050405020304" pitchFamily="18" charset="0"/>
              </a:rPr>
              <a:t>GF(2)</a:t>
            </a:r>
            <a:r>
              <a:rPr lang="zh-CN" altLang="en-US" dirty="0">
                <a:latin typeface="Times New Roman" panose="02020603050405020304" pitchFamily="18" charset="0"/>
              </a:rPr>
              <a:t>上的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次不可约多项式；</a:t>
            </a:r>
            <a:r>
              <a:rPr lang="en-US" altLang="zh-CN" dirty="0">
                <a:latin typeface="Times New Roman" panose="02020603050405020304" pitchFamily="18" charset="0"/>
              </a:rPr>
              <a:t>GF(2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上两个元素的乘积就是这两个多项式的模乘。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527050" algn="just" eaLnBrk="1" hangingPunct="1"/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</a:rPr>
              <a:t>Rijndael</a:t>
            </a:r>
            <a:r>
              <a:rPr lang="zh-CN" altLang="en-US" dirty="0">
                <a:latin typeface="Times New Roman" panose="02020603050405020304" pitchFamily="18" charset="0"/>
              </a:rPr>
              <a:t>密码中，这个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次不可约多项式确定为：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527050" algn="just" eaLnBrk="1" hangingPunct="1"/>
            <a:r>
              <a:rPr lang="en-US" altLang="zh-CN" dirty="0">
                <a:latin typeface="Times New Roman" panose="02020603050405020304" pitchFamily="18" charset="0"/>
              </a:rPr>
              <a:t>p(x)= x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+x+1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527050" algn="just" eaLnBrk="1" hangingPunct="1"/>
            <a:r>
              <a:rPr lang="zh-CN" altLang="en-US" dirty="0">
                <a:latin typeface="Times New Roman" panose="02020603050405020304" pitchFamily="18" charset="0"/>
              </a:rPr>
              <a:t>例如，‘</a:t>
            </a:r>
            <a:r>
              <a:rPr lang="en-US" altLang="zh-CN" dirty="0">
                <a:latin typeface="Times New Roman" panose="02020603050405020304" pitchFamily="18" charset="0"/>
              </a:rPr>
              <a:t>57’·‘83’=‘C1’</a:t>
            </a:r>
            <a:r>
              <a:rPr lang="zh-CN" altLang="en-US" dirty="0">
                <a:latin typeface="Times New Roman" panose="02020603050405020304" pitchFamily="18" charset="0"/>
              </a:rPr>
              <a:t>可表示为以下的多项式乘法：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527050" algn="just" eaLnBrk="1" hangingPunct="1"/>
            <a:r>
              <a:rPr lang="sv-SE" altLang="zh-CN" dirty="0">
                <a:latin typeface="Times New Roman" panose="02020603050405020304" pitchFamily="18" charset="0"/>
              </a:rPr>
              <a:t>(x</a:t>
            </a:r>
            <a:r>
              <a:rPr lang="sv-SE" altLang="zh-CN" baseline="30000" dirty="0">
                <a:latin typeface="Times New Roman" panose="02020603050405020304" pitchFamily="18" charset="0"/>
              </a:rPr>
              <a:t>6</a:t>
            </a:r>
            <a:r>
              <a:rPr lang="sv-SE" altLang="zh-CN" dirty="0">
                <a:latin typeface="Times New Roman" panose="02020603050405020304" pitchFamily="18" charset="0"/>
              </a:rPr>
              <a:t>+x</a:t>
            </a:r>
            <a:r>
              <a:rPr lang="sv-SE" altLang="zh-CN" baseline="30000" dirty="0">
                <a:latin typeface="Times New Roman" panose="02020603050405020304" pitchFamily="18" charset="0"/>
              </a:rPr>
              <a:t>4</a:t>
            </a:r>
            <a:r>
              <a:rPr lang="sv-SE" altLang="zh-CN" dirty="0">
                <a:latin typeface="Times New Roman" panose="02020603050405020304" pitchFamily="18" charset="0"/>
              </a:rPr>
              <a:t>+x</a:t>
            </a:r>
            <a:r>
              <a:rPr lang="sv-SE" altLang="zh-CN" baseline="30000" dirty="0">
                <a:latin typeface="Times New Roman" panose="02020603050405020304" pitchFamily="18" charset="0"/>
              </a:rPr>
              <a:t>2</a:t>
            </a:r>
            <a:r>
              <a:rPr lang="sv-SE" altLang="zh-CN" dirty="0">
                <a:latin typeface="Times New Roman" panose="02020603050405020304" pitchFamily="18" charset="0"/>
              </a:rPr>
              <a:t>+x+1)·(x</a:t>
            </a:r>
            <a:r>
              <a:rPr lang="sv-SE" altLang="zh-CN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dirty="0">
                <a:latin typeface="Times New Roman" panose="02020603050405020304" pitchFamily="18" charset="0"/>
              </a:rPr>
              <a:t>+x+1)≡x</a:t>
            </a:r>
            <a:r>
              <a:rPr lang="sv-SE" altLang="zh-CN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dirty="0">
                <a:latin typeface="Times New Roman" panose="02020603050405020304" pitchFamily="18" charset="0"/>
              </a:rPr>
              <a:t>+x</a:t>
            </a:r>
            <a:r>
              <a:rPr lang="sv-SE" altLang="zh-CN" baseline="30000" dirty="0">
                <a:latin typeface="Times New Roman" panose="02020603050405020304" pitchFamily="18" charset="0"/>
              </a:rPr>
              <a:t>6</a:t>
            </a:r>
            <a:r>
              <a:rPr lang="sv-SE" altLang="zh-CN" dirty="0">
                <a:latin typeface="Times New Roman" panose="02020603050405020304" pitchFamily="18" charset="0"/>
              </a:rPr>
              <a:t>+1(mod p(x))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GF(2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上两个域元素的乘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4525963"/>
          </a:xfrm>
        </p:spPr>
        <p:txBody>
          <a:bodyPr/>
          <a:lstStyle/>
          <a:p>
            <a:r>
              <a:rPr lang="zh-CN" altLang="en-US" b="1" dirty="0"/>
              <a:t>运算过程：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32856"/>
            <a:ext cx="9144000" cy="355284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</a:t>
            </a:r>
            <a:r>
              <a:rPr lang="zh-CN" altLang="en-US"/>
              <a:t>乘法 </a:t>
            </a:r>
            <a:endParaRPr lang="zh-CN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91513" cy="4824413"/>
          </a:xfrm>
        </p:spPr>
        <p:txBody>
          <a:bodyPr/>
          <a:lstStyle/>
          <a:p>
            <a:pPr indent="622300" algn="just" eaLnBrk="1" hangingPunct="1"/>
            <a:r>
              <a:rPr lang="en-US" altLang="zh-CN" sz="2600" dirty="0">
                <a:latin typeface="Times New Roman" panose="02020603050405020304" pitchFamily="18" charset="0"/>
              </a:rPr>
              <a:t>GF(2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</a:rPr>
              <a:t>上还定义了一个运算，称之为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zh-CN" altLang="en-US" sz="2600" dirty="0">
                <a:latin typeface="Times New Roman" panose="02020603050405020304" pitchFamily="18" charset="0"/>
              </a:rPr>
              <a:t>乘法，其定义为</a:t>
            </a:r>
            <a:endParaRPr lang="zh-CN" altLang="en-US" sz="2600" dirty="0">
              <a:latin typeface="Times New Roman" panose="02020603050405020304" pitchFamily="18" charset="0"/>
            </a:endParaRPr>
          </a:p>
          <a:p>
            <a:pPr indent="622300" algn="just" eaLnBrk="1" hangingPunct="1"/>
            <a:r>
              <a:rPr lang="en-US" altLang="zh-CN" sz="2600" dirty="0" err="1">
                <a:latin typeface="Times New Roman" panose="02020603050405020304" pitchFamily="18" charset="0"/>
              </a:rPr>
              <a:t>x·b</a:t>
            </a:r>
            <a:r>
              <a:rPr lang="en-US" altLang="zh-CN" sz="2600" dirty="0">
                <a:latin typeface="Times New Roman" panose="02020603050405020304" pitchFamily="18" charset="0"/>
              </a:rPr>
              <a:t>(x)≡b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en-US" altLang="zh-CN" sz="26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</a:rPr>
              <a:t>+b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600" dirty="0">
                <a:latin typeface="Times New Roman" panose="02020603050405020304" pitchFamily="18" charset="0"/>
              </a:rPr>
              <a:t>x(mod p(x))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indent="622300" algn="just" eaLnBrk="1" hangingPunct="1"/>
            <a:r>
              <a:rPr lang="en-US" altLang="zh-CN" sz="2600" dirty="0">
                <a:latin typeface="Times New Roman" panose="02020603050405020304" pitchFamily="18" charset="0"/>
              </a:rPr>
              <a:t> </a:t>
            </a:r>
            <a:r>
              <a:rPr lang="zh-CN" altLang="en-US" sz="2600" dirty="0">
                <a:latin typeface="Times New Roman" panose="02020603050405020304" pitchFamily="18" charset="0"/>
              </a:rPr>
              <a:t>如果</a:t>
            </a:r>
            <a:r>
              <a:rPr lang="en-US" altLang="zh-CN" sz="2600" dirty="0">
                <a:latin typeface="Times New Roman" panose="02020603050405020304" pitchFamily="18" charset="0"/>
              </a:rPr>
              <a:t>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600" dirty="0">
                <a:latin typeface="Times New Roman" panose="02020603050405020304" pitchFamily="18" charset="0"/>
              </a:rPr>
              <a:t>=0</a:t>
            </a:r>
            <a:r>
              <a:rPr lang="zh-CN" altLang="en-US" sz="2600" dirty="0">
                <a:latin typeface="Times New Roman" panose="02020603050405020304" pitchFamily="18" charset="0"/>
              </a:rPr>
              <a:t>，求模结果不变，否则为乘积结果减去</a:t>
            </a:r>
            <a:r>
              <a:rPr lang="en-US" altLang="zh-CN" sz="2600" dirty="0">
                <a:latin typeface="Times New Roman" panose="02020603050405020304" pitchFamily="18" charset="0"/>
              </a:rPr>
              <a:t>p(x)</a:t>
            </a:r>
            <a:r>
              <a:rPr lang="zh-CN" altLang="en-US" sz="2600" dirty="0">
                <a:latin typeface="Times New Roman" panose="02020603050405020304" pitchFamily="18" charset="0"/>
              </a:rPr>
              <a:t>，即求乘积结果与</a:t>
            </a:r>
            <a:r>
              <a:rPr lang="en-US" altLang="zh-CN" sz="2600" dirty="0">
                <a:latin typeface="Times New Roman" panose="02020603050405020304" pitchFamily="18" charset="0"/>
              </a:rPr>
              <a:t>p(x)</a:t>
            </a:r>
            <a:r>
              <a:rPr lang="zh-CN" altLang="en-US" sz="2600" dirty="0">
                <a:latin typeface="Times New Roman" panose="02020603050405020304" pitchFamily="18" charset="0"/>
              </a:rPr>
              <a:t>的异或。由此得出</a:t>
            </a:r>
            <a:r>
              <a:rPr lang="en-US" altLang="zh-CN" sz="2600" dirty="0">
                <a:latin typeface="Times New Roman" panose="02020603050405020304" pitchFamily="18" charset="0"/>
              </a:rPr>
              <a:t>x</a:t>
            </a:r>
            <a:r>
              <a:rPr lang="zh-CN" altLang="en-US" sz="2600" dirty="0">
                <a:latin typeface="Times New Roman" panose="02020603050405020304" pitchFamily="18" charset="0"/>
              </a:rPr>
              <a:t>（十六进制数‘</a:t>
            </a:r>
            <a:r>
              <a:rPr lang="en-US" altLang="zh-CN" sz="2600" dirty="0">
                <a:latin typeface="Times New Roman" panose="02020603050405020304" pitchFamily="18" charset="0"/>
              </a:rPr>
              <a:t>02’</a:t>
            </a:r>
            <a:r>
              <a:rPr lang="zh-CN" altLang="en-US" sz="2600" dirty="0">
                <a:latin typeface="Times New Roman" panose="02020603050405020304" pitchFamily="18" charset="0"/>
              </a:rPr>
              <a:t>）乘</a:t>
            </a:r>
            <a:r>
              <a:rPr lang="en-US" altLang="zh-CN" sz="2600" dirty="0">
                <a:latin typeface="Times New Roman" panose="02020603050405020304" pitchFamily="18" charset="0"/>
              </a:rPr>
              <a:t>b(x)</a:t>
            </a:r>
            <a:r>
              <a:rPr lang="zh-CN" altLang="en-US" sz="2600" dirty="0">
                <a:latin typeface="Times New Roman" panose="02020603050405020304" pitchFamily="18" charset="0"/>
              </a:rPr>
              <a:t>可以先对</a:t>
            </a:r>
            <a:r>
              <a:rPr lang="en-US" altLang="zh-CN" sz="2600" dirty="0">
                <a:latin typeface="Times New Roman" panose="02020603050405020304" pitchFamily="18" charset="0"/>
              </a:rPr>
              <a:t>b(x)</a:t>
            </a:r>
            <a:r>
              <a:rPr lang="zh-CN" altLang="en-US" sz="2600" dirty="0">
                <a:latin typeface="Times New Roman" panose="02020603050405020304" pitchFamily="18" charset="0"/>
              </a:rPr>
              <a:t>在字节内左移一位（最后一位补</a:t>
            </a:r>
            <a:r>
              <a:rPr lang="en-US" altLang="zh-CN" sz="2600" dirty="0"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latin typeface="Times New Roman" panose="02020603050405020304" pitchFamily="18" charset="0"/>
              </a:rPr>
              <a:t>）。　</a:t>
            </a:r>
            <a:endParaRPr lang="zh-CN" altLang="en-US" sz="2600" dirty="0">
              <a:latin typeface="Times New Roman" panose="02020603050405020304" pitchFamily="18" charset="0"/>
            </a:endParaRPr>
          </a:p>
          <a:p>
            <a:pPr indent="622300" algn="just" eaLnBrk="1" hangingPunct="1"/>
            <a:r>
              <a:rPr lang="zh-CN" altLang="en-US" sz="2600" dirty="0">
                <a:latin typeface="Times New Roman" panose="02020603050405020304" pitchFamily="18" charset="0"/>
              </a:rPr>
              <a:t>若</a:t>
            </a:r>
            <a:r>
              <a:rPr lang="en-US" altLang="zh-CN" sz="2600" dirty="0">
                <a:latin typeface="Times New Roman" panose="02020603050405020304" pitchFamily="18" charset="0"/>
              </a:rPr>
              <a:t>b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2600" dirty="0">
                <a:latin typeface="Times New Roman" panose="02020603050405020304" pitchFamily="18" charset="0"/>
              </a:rPr>
              <a:t>=1</a:t>
            </a:r>
            <a:r>
              <a:rPr lang="zh-CN" altLang="en-US" sz="2600" dirty="0">
                <a:latin typeface="Times New Roman" panose="02020603050405020304" pitchFamily="18" charset="0"/>
              </a:rPr>
              <a:t>，则再与‘</a:t>
            </a:r>
            <a:r>
              <a:rPr lang="en-US" altLang="zh-CN" sz="2600" dirty="0">
                <a:latin typeface="Times New Roman" panose="02020603050405020304" pitchFamily="18" charset="0"/>
              </a:rPr>
              <a:t>1B’</a:t>
            </a:r>
            <a:r>
              <a:rPr lang="zh-CN" altLang="en-US" sz="2600" dirty="0">
                <a:latin typeface="Times New Roman" panose="02020603050405020304" pitchFamily="18" charset="0"/>
              </a:rPr>
              <a:t>（其二进制为</a:t>
            </a:r>
            <a:r>
              <a:rPr lang="en-US" altLang="zh-CN" sz="2600" dirty="0">
                <a:latin typeface="Times New Roman" panose="02020603050405020304" pitchFamily="18" charset="0"/>
              </a:rPr>
              <a:t>00011011</a:t>
            </a:r>
            <a:r>
              <a:rPr lang="zh-CN" altLang="en-US" sz="2600" dirty="0">
                <a:latin typeface="Times New Roman" panose="02020603050405020304" pitchFamily="18" charset="0"/>
              </a:rPr>
              <a:t>）做逐比特异或来实现，而任意常数乘法可以通过对中间结果相加实现。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实例举例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latin typeface="Times New Roman" panose="02020603050405020304" pitchFamily="18" charset="0"/>
              </a:rPr>
              <a:t>02 ·54 =(0000 0010)·(0101 0100)</a:t>
            </a:r>
            <a:endParaRPr lang="en-US" altLang="zh-CN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>
                <a:latin typeface="Times New Roman" panose="02020603050405020304" pitchFamily="18" charset="0"/>
              </a:rPr>
              <a:t>=(x)·(x</a:t>
            </a:r>
            <a:r>
              <a:rPr lang="sv-SE" altLang="zh-CN" baseline="30000">
                <a:latin typeface="Times New Roman" panose="02020603050405020304" pitchFamily="18" charset="0"/>
              </a:rPr>
              <a:t>6</a:t>
            </a:r>
            <a:r>
              <a:rPr lang="sv-SE" altLang="zh-CN">
                <a:latin typeface="Times New Roman" panose="02020603050405020304" pitchFamily="18" charset="0"/>
              </a:rPr>
              <a:t>+x</a:t>
            </a:r>
            <a:r>
              <a:rPr lang="sv-SE" altLang="zh-CN" baseline="30000">
                <a:latin typeface="Times New Roman" panose="02020603050405020304" pitchFamily="18" charset="0"/>
              </a:rPr>
              <a:t>4</a:t>
            </a:r>
            <a:r>
              <a:rPr lang="sv-SE" altLang="zh-CN">
                <a:latin typeface="Times New Roman" panose="02020603050405020304" pitchFamily="18" charset="0"/>
              </a:rPr>
              <a:t>+x</a:t>
            </a:r>
            <a:r>
              <a:rPr lang="sv-SE" altLang="zh-CN" baseline="30000">
                <a:latin typeface="Times New Roman" panose="02020603050405020304" pitchFamily="18" charset="0"/>
              </a:rPr>
              <a:t>2</a:t>
            </a:r>
            <a:r>
              <a:rPr lang="sv-SE" altLang="zh-CN">
                <a:latin typeface="Times New Roman" panose="02020603050405020304" pitchFamily="18" charset="0"/>
              </a:rPr>
              <a:t>)</a:t>
            </a:r>
            <a:endParaRPr lang="sv-SE" altLang="zh-CN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>
                <a:latin typeface="Times New Roman" panose="02020603050405020304" pitchFamily="18" charset="0"/>
              </a:rPr>
              <a:t>         =x</a:t>
            </a:r>
            <a:r>
              <a:rPr lang="sv-SE" altLang="zh-CN" baseline="30000">
                <a:latin typeface="Times New Roman" panose="02020603050405020304" pitchFamily="18" charset="0"/>
              </a:rPr>
              <a:t>7</a:t>
            </a:r>
            <a:r>
              <a:rPr lang="sv-SE" altLang="zh-CN">
                <a:latin typeface="Times New Roman" panose="02020603050405020304" pitchFamily="18" charset="0"/>
              </a:rPr>
              <a:t>+ x</a:t>
            </a:r>
            <a:r>
              <a:rPr lang="sv-SE" altLang="zh-CN" baseline="30000">
                <a:latin typeface="Times New Roman" panose="02020603050405020304" pitchFamily="18" charset="0"/>
              </a:rPr>
              <a:t>5</a:t>
            </a:r>
            <a:r>
              <a:rPr lang="sv-SE" altLang="zh-CN">
                <a:latin typeface="Times New Roman" panose="02020603050405020304" pitchFamily="18" charset="0"/>
              </a:rPr>
              <a:t>+x</a:t>
            </a:r>
            <a:r>
              <a:rPr lang="sv-SE" altLang="zh-CN" baseline="30000">
                <a:latin typeface="Times New Roman" panose="02020603050405020304" pitchFamily="18" charset="0"/>
              </a:rPr>
              <a:t>3</a:t>
            </a:r>
            <a:endParaRPr lang="sv-SE" altLang="zh-CN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>
                <a:latin typeface="Times New Roman" panose="02020603050405020304" pitchFamily="18" charset="0"/>
              </a:rPr>
              <a:t>         =x</a:t>
            </a:r>
            <a:r>
              <a:rPr lang="sv-SE" altLang="zh-CN" baseline="30000">
                <a:latin typeface="Times New Roman" panose="02020603050405020304" pitchFamily="18" charset="0"/>
              </a:rPr>
              <a:t>7</a:t>
            </a:r>
            <a:r>
              <a:rPr lang="sv-SE" altLang="zh-CN">
                <a:latin typeface="Times New Roman" panose="02020603050405020304" pitchFamily="18" charset="0"/>
              </a:rPr>
              <a:t>+ x</a:t>
            </a:r>
            <a:r>
              <a:rPr lang="sv-SE" altLang="zh-CN" baseline="30000">
                <a:latin typeface="Times New Roman" panose="02020603050405020304" pitchFamily="18" charset="0"/>
              </a:rPr>
              <a:t>5</a:t>
            </a:r>
            <a:r>
              <a:rPr lang="sv-SE" altLang="zh-CN">
                <a:latin typeface="Times New Roman" panose="02020603050405020304" pitchFamily="18" charset="0"/>
              </a:rPr>
              <a:t>+x</a:t>
            </a:r>
            <a:r>
              <a:rPr lang="sv-SE" altLang="zh-CN" baseline="30000">
                <a:latin typeface="Times New Roman" panose="02020603050405020304" pitchFamily="18" charset="0"/>
              </a:rPr>
              <a:t>3 </a:t>
            </a:r>
            <a:r>
              <a:rPr lang="sv-SE" altLang="zh-CN">
                <a:latin typeface="Times New Roman" panose="02020603050405020304" pitchFamily="18" charset="0"/>
              </a:rPr>
              <a:t>≡ x</a:t>
            </a:r>
            <a:r>
              <a:rPr lang="sv-SE" altLang="zh-CN" baseline="30000">
                <a:latin typeface="Times New Roman" panose="02020603050405020304" pitchFamily="18" charset="0"/>
              </a:rPr>
              <a:t>7</a:t>
            </a:r>
            <a:r>
              <a:rPr lang="sv-SE" altLang="zh-CN">
                <a:latin typeface="Times New Roman" panose="02020603050405020304" pitchFamily="18" charset="0"/>
              </a:rPr>
              <a:t>+ x</a:t>
            </a:r>
            <a:r>
              <a:rPr lang="sv-SE" altLang="zh-CN" baseline="30000">
                <a:latin typeface="Times New Roman" panose="02020603050405020304" pitchFamily="18" charset="0"/>
              </a:rPr>
              <a:t>5</a:t>
            </a:r>
            <a:r>
              <a:rPr lang="sv-SE" altLang="zh-CN">
                <a:latin typeface="Times New Roman" panose="02020603050405020304" pitchFamily="18" charset="0"/>
              </a:rPr>
              <a:t>+x</a:t>
            </a:r>
            <a:r>
              <a:rPr lang="sv-SE" altLang="zh-CN" baseline="30000">
                <a:latin typeface="Times New Roman" panose="02020603050405020304" pitchFamily="18" charset="0"/>
              </a:rPr>
              <a:t>3 </a:t>
            </a:r>
            <a:r>
              <a:rPr lang="sv-SE" altLang="zh-CN">
                <a:latin typeface="Times New Roman" panose="02020603050405020304" pitchFamily="18" charset="0"/>
              </a:rPr>
              <a:t>(mod p(x))</a:t>
            </a:r>
            <a:endParaRPr lang="sv-SE" altLang="zh-CN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>
                <a:latin typeface="Times New Roman" panose="02020603050405020304" pitchFamily="18" charset="0"/>
              </a:rPr>
              <a:t>           </a:t>
            </a:r>
            <a:r>
              <a:rPr lang="en-US" altLang="zh-CN">
                <a:latin typeface="Times New Roman" panose="02020603050405020304" pitchFamily="18" charset="0"/>
              </a:rPr>
              <a:t>=(1010 1000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由上面的规则：相当于把字节</a:t>
            </a:r>
            <a:r>
              <a:rPr lang="en-US" altLang="zh-CN">
                <a:latin typeface="Times New Roman" panose="02020603050405020304" pitchFamily="18" charset="0"/>
              </a:rPr>
              <a:t>(0101 0100)</a:t>
            </a:r>
            <a:r>
              <a:rPr lang="zh-CN" altLang="en-US">
                <a:latin typeface="Times New Roman" panose="02020603050405020304" pitchFamily="18" charset="0"/>
              </a:rPr>
              <a:t>左移一位即得（</a:t>
            </a:r>
            <a:r>
              <a:rPr lang="en-US" altLang="zh-CN">
                <a:latin typeface="Times New Roman" panose="02020603050405020304" pitchFamily="18" charset="0"/>
              </a:rPr>
              <a:t>1010 1000</a:t>
            </a:r>
            <a:r>
              <a:rPr lang="zh-CN" altLang="en-US">
                <a:latin typeface="Times New Roman" panose="02020603050405020304" pitchFamily="18" charset="0"/>
              </a:rPr>
              <a:t>）（最后一位补</a:t>
            </a:r>
            <a:r>
              <a:rPr lang="en-US" altLang="zh-CN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）。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实例举例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algn="just" eaLnBrk="1" hangingPunct="1"/>
            <a:r>
              <a:rPr lang="en-US" altLang="zh-CN" sz="2400" dirty="0">
                <a:latin typeface="Times New Roman" panose="02020603050405020304" pitchFamily="18" charset="0"/>
              </a:rPr>
              <a:t> 02 ·D4=(0000 0010) ·(1101 0100)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zh-CN" sz="2400" dirty="0">
                <a:latin typeface="Times New Roman" panose="02020603050405020304" pitchFamily="18" charset="0"/>
              </a:rPr>
              <a:t>            </a:t>
            </a:r>
            <a:r>
              <a:rPr lang="sv-SE" altLang="zh-CN" sz="2400" dirty="0">
                <a:latin typeface="Times New Roman" panose="02020603050405020304" pitchFamily="18" charset="0"/>
              </a:rPr>
              <a:t>=(x) ·(x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sv-SE" altLang="zh-CN" sz="2400" dirty="0">
                <a:latin typeface="Times New Roman" panose="02020603050405020304" pitchFamily="18" charset="0"/>
              </a:rPr>
              <a:t>) (modp(x))</a:t>
            </a:r>
            <a:endParaRPr lang="sv-SE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 sz="2400" dirty="0">
                <a:latin typeface="Times New Roman" panose="02020603050405020304" pitchFamily="18" charset="0"/>
              </a:rPr>
              <a:t>            =x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8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sz="2400" dirty="0">
                <a:latin typeface="Times New Roman" panose="02020603050405020304" pitchFamily="18" charset="0"/>
              </a:rPr>
              <a:t>+ 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5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sv-SE" altLang="zh-CN" sz="2400" dirty="0">
                <a:latin typeface="Times New Roman" panose="02020603050405020304" pitchFamily="18" charset="0"/>
              </a:rPr>
              <a:t>(modp(x))</a:t>
            </a:r>
            <a:endParaRPr lang="sv-SE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 sz="2400" dirty="0">
                <a:latin typeface="Times New Roman" panose="02020603050405020304" pitchFamily="18" charset="0"/>
              </a:rPr>
              <a:t>            ≡(x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sv-SE" altLang="zh-CN" sz="2400" dirty="0">
                <a:latin typeface="Times New Roman" panose="02020603050405020304" pitchFamily="18" charset="0"/>
              </a:rPr>
              <a:t>+x+1)+x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5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sv-SE" altLang="zh-CN" sz="2400" dirty="0">
                <a:latin typeface="Times New Roman" panose="02020603050405020304" pitchFamily="18" charset="0"/>
              </a:rPr>
              <a:t>(modp(x))</a:t>
            </a:r>
            <a:endParaRPr lang="sv-SE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 sz="2400" dirty="0">
                <a:latin typeface="Times New Roman" panose="02020603050405020304" pitchFamily="18" charset="0"/>
              </a:rPr>
              <a:t>            ≡ 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5</a:t>
            </a:r>
            <a:r>
              <a:rPr lang="sv-SE" altLang="zh-CN" sz="2400" dirty="0">
                <a:latin typeface="Times New Roman" panose="02020603050405020304" pitchFamily="18" charset="0"/>
              </a:rPr>
              <a:t>+x</a:t>
            </a:r>
            <a:r>
              <a:rPr lang="sv-SE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sv-SE" altLang="zh-CN" sz="2400" dirty="0">
                <a:latin typeface="Times New Roman" panose="02020603050405020304" pitchFamily="18" charset="0"/>
              </a:rPr>
              <a:t>+x+1(modp(x))</a:t>
            </a:r>
            <a:endParaRPr lang="sv-SE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sv-SE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多项式 </a:t>
            </a: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</a:rPr>
              <a:t>+x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</a:rPr>
              <a:t>+x+1</a:t>
            </a:r>
            <a:r>
              <a:rPr lang="zh-CN" altLang="en-US" sz="2400" dirty="0">
                <a:latin typeface="Times New Roman" panose="02020603050405020304" pitchFamily="18" charset="0"/>
              </a:rPr>
              <a:t>映射为二进制即为：</a:t>
            </a:r>
            <a:r>
              <a:rPr lang="en-US" altLang="zh-CN" sz="2400" dirty="0">
                <a:latin typeface="Times New Roman" panose="02020603050405020304" pitchFamily="18" charset="0"/>
              </a:rPr>
              <a:t>(1011 0011)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</a:rPr>
              <a:t>由上面的规则：先把</a:t>
            </a:r>
            <a:r>
              <a:rPr lang="en-US" altLang="zh-CN" sz="2400" dirty="0">
                <a:latin typeface="Times New Roman" panose="02020603050405020304" pitchFamily="18" charset="0"/>
              </a:rPr>
              <a:t>(1101 0100) </a:t>
            </a:r>
            <a:r>
              <a:rPr lang="zh-CN" altLang="en-US" sz="2400" dirty="0">
                <a:latin typeface="Times New Roman" panose="02020603050405020304" pitchFamily="18" charset="0"/>
              </a:rPr>
              <a:t>在字节内左移一位即得（</a:t>
            </a:r>
            <a:r>
              <a:rPr lang="en-US" altLang="zh-CN" sz="2400" dirty="0">
                <a:latin typeface="Times New Roman" panose="02020603050405020304" pitchFamily="18" charset="0"/>
              </a:rPr>
              <a:t>10101000</a:t>
            </a:r>
            <a:r>
              <a:rPr lang="zh-CN" altLang="en-US" sz="2400" dirty="0">
                <a:latin typeface="Times New Roman" panose="02020603050405020304" pitchFamily="18" charset="0"/>
              </a:rPr>
              <a:t>）（最后一位补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），因为</a:t>
            </a:r>
            <a:r>
              <a:rPr lang="en-US" altLang="zh-CN" sz="2400" dirty="0">
                <a:latin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，故（</a:t>
            </a:r>
            <a:r>
              <a:rPr lang="en-US" altLang="zh-CN" sz="2400" dirty="0">
                <a:latin typeface="Times New Roman" panose="02020603050405020304" pitchFamily="18" charset="0"/>
              </a:rPr>
              <a:t>1010 1000</a:t>
            </a:r>
            <a:r>
              <a:rPr lang="zh-CN" altLang="en-US" sz="2400" dirty="0">
                <a:latin typeface="Times New Roman" panose="02020603050405020304" pitchFamily="18" charset="0"/>
              </a:rPr>
              <a:t>）再与（</a:t>
            </a:r>
            <a:r>
              <a:rPr lang="en-US" altLang="zh-CN" sz="2400" dirty="0">
                <a:latin typeface="Times New Roman" panose="02020603050405020304" pitchFamily="18" charset="0"/>
              </a:rPr>
              <a:t>0001 1011</a:t>
            </a:r>
            <a:r>
              <a:rPr lang="zh-CN" altLang="en-US" sz="2400" dirty="0">
                <a:latin typeface="Times New Roman" panose="02020603050405020304" pitchFamily="18" charset="0"/>
              </a:rPr>
              <a:t>）异或得（</a:t>
            </a:r>
            <a:r>
              <a:rPr lang="en-US" altLang="zh-CN" sz="2400" dirty="0">
                <a:latin typeface="Times New Roman" panose="02020603050405020304" pitchFamily="18" charset="0"/>
              </a:rPr>
              <a:t>1011 0011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‘57’·‘13’ </a:t>
            </a:r>
            <a:endParaRPr lang="en-US" altLang="zh-CN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‘57’·‘02’=‘AE’</a:t>
            </a:r>
            <a:r>
              <a:rPr lang="zh-CN" altLang="en-US" dirty="0"/>
              <a:t>；</a:t>
            </a:r>
            <a:endParaRPr lang="zh-CN" altLang="en-US" dirty="0"/>
          </a:p>
          <a:p>
            <a:pPr eaLnBrk="1" hangingPunct="1"/>
            <a:r>
              <a:rPr lang="zh-CN" altLang="en-US" dirty="0"/>
              <a:t>‘</a:t>
            </a:r>
            <a:r>
              <a:rPr lang="en-US" altLang="zh-CN" dirty="0"/>
              <a:t>57’·‘04’= ‘AE’ ·‘02’ =‘47’</a:t>
            </a:r>
            <a:r>
              <a:rPr lang="zh-CN" altLang="en-US" dirty="0"/>
              <a:t>；</a:t>
            </a:r>
            <a:endParaRPr lang="zh-CN" altLang="it-IT" dirty="0"/>
          </a:p>
          <a:p>
            <a:pPr eaLnBrk="1" hangingPunct="1"/>
            <a:r>
              <a:rPr lang="zh-CN" altLang="it-IT" dirty="0"/>
              <a:t>‘</a:t>
            </a:r>
            <a:r>
              <a:rPr lang="it-IT" altLang="zh-CN" dirty="0"/>
              <a:t>57’·‘08’= ‘47’ ·‘02’ =‘8E’</a:t>
            </a:r>
            <a:r>
              <a:rPr lang="zh-CN" altLang="it-IT" dirty="0"/>
              <a:t>；</a:t>
            </a:r>
            <a:endParaRPr lang="zh-CN" altLang="it-IT" dirty="0"/>
          </a:p>
          <a:p>
            <a:pPr eaLnBrk="1" hangingPunct="1"/>
            <a:r>
              <a:rPr lang="zh-CN" altLang="it-IT" dirty="0"/>
              <a:t>‘</a:t>
            </a:r>
            <a:r>
              <a:rPr lang="it-IT" altLang="zh-CN" dirty="0"/>
              <a:t>57’·‘10’= ‘8E’ ·‘02’ =‘07’</a:t>
            </a:r>
            <a:r>
              <a:rPr lang="zh-CN" altLang="it-IT" dirty="0"/>
              <a:t>；</a:t>
            </a:r>
            <a:endParaRPr lang="zh-CN" altLang="it-IT" dirty="0"/>
          </a:p>
          <a:p>
            <a:pPr eaLnBrk="1" hangingPunct="1"/>
            <a:r>
              <a:rPr lang="zh-CN" altLang="it-IT" dirty="0"/>
              <a:t>‘</a:t>
            </a:r>
            <a:r>
              <a:rPr lang="it-IT" altLang="zh-CN" dirty="0"/>
              <a:t>57’·‘13’=‘57’·(‘01’ ⊕ ‘02’ ⊕‘10’)</a:t>
            </a:r>
            <a:endParaRPr lang="it-IT" altLang="zh-CN" dirty="0"/>
          </a:p>
          <a:p>
            <a:pPr eaLnBrk="1" hangingPunct="1"/>
            <a:r>
              <a:rPr lang="it-IT" altLang="zh-CN" dirty="0"/>
              <a:t> =‘57’⊕‘AE’ ⊕‘07’=‘FE’</a:t>
            </a:r>
            <a:r>
              <a:rPr lang="zh-CN" altLang="en-US" dirty="0"/>
              <a:t>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zh-CN">
                <a:latin typeface="Times New Roman" panose="02020603050405020304" pitchFamily="18" charset="0"/>
                <a:ea typeface="宋体" panose="02010600030101010101" pitchFamily="2" charset="-122"/>
              </a:rPr>
              <a:t>GF(2</a:t>
            </a:r>
            <a:r>
              <a:rPr lang="it-IT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it-IT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上域元素的乘法逆元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it-IT" dirty="0">
                <a:latin typeface="Times New Roman" panose="02020603050405020304" pitchFamily="18" charset="0"/>
              </a:rPr>
              <a:t>在有限域</a:t>
            </a:r>
            <a:r>
              <a:rPr lang="it-IT" altLang="zh-CN" dirty="0">
                <a:latin typeface="Times New Roman" panose="02020603050405020304" pitchFamily="18" charset="0"/>
              </a:rPr>
              <a:t>GF(2</a:t>
            </a:r>
            <a:r>
              <a:rPr lang="it-IT" altLang="zh-CN" baseline="30000" dirty="0">
                <a:latin typeface="Times New Roman" panose="02020603050405020304" pitchFamily="18" charset="0"/>
              </a:rPr>
              <a:t>8</a:t>
            </a:r>
            <a:r>
              <a:rPr lang="it-IT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中，域元素的乘法满足交换律，且有单位元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并且每个域元素都有乘法逆元。在</a:t>
            </a:r>
            <a:r>
              <a:rPr lang="it-IT" altLang="zh-CN" dirty="0">
                <a:latin typeface="Times New Roman" panose="02020603050405020304" pitchFamily="18" charset="0"/>
              </a:rPr>
              <a:t>GF(2</a:t>
            </a:r>
            <a:r>
              <a:rPr lang="it-IT" altLang="zh-CN" baseline="30000" dirty="0">
                <a:latin typeface="Times New Roman" panose="02020603050405020304" pitchFamily="18" charset="0"/>
              </a:rPr>
              <a:t>8</a:t>
            </a:r>
            <a:r>
              <a:rPr lang="it-IT" altLang="zh-CN" dirty="0">
                <a:latin typeface="Times New Roman" panose="02020603050405020304" pitchFamily="18" charset="0"/>
              </a:rPr>
              <a:t>)</a:t>
            </a:r>
            <a:r>
              <a:rPr lang="zh-CN" altLang="it-IT" dirty="0">
                <a:latin typeface="Times New Roman" panose="02020603050405020304" pitchFamily="18" charset="0"/>
              </a:rPr>
              <a:t>中求乘法逆元可利用多项式的</a:t>
            </a:r>
            <a:r>
              <a:rPr lang="zh-CN" altLang="en-US" dirty="0">
                <a:latin typeface="Times New Roman" panose="02020603050405020304" pitchFamily="18" charset="0"/>
              </a:rPr>
              <a:t>扩展的欧几里得算法计算出来。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求次数小于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的非零多项式</a:t>
            </a:r>
            <a:r>
              <a:rPr lang="en-US" altLang="zh-CN" dirty="0">
                <a:latin typeface="Times New Roman" panose="02020603050405020304" pitchFamily="18" charset="0"/>
              </a:rPr>
              <a:t>b(x)</a:t>
            </a:r>
            <a:r>
              <a:rPr lang="zh-CN" altLang="en-US" dirty="0">
                <a:latin typeface="Times New Roman" panose="02020603050405020304" pitchFamily="18" charset="0"/>
              </a:rPr>
              <a:t>的乘法逆元，首先利用多项式的扩展欧几里得算法得出两个多项式</a:t>
            </a:r>
            <a:r>
              <a:rPr lang="en-US" altLang="zh-CN" dirty="0">
                <a:latin typeface="Times New Roman" panose="02020603050405020304" pitchFamily="18" charset="0"/>
              </a:rPr>
              <a:t>a(x)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c(x)</a:t>
            </a:r>
            <a:r>
              <a:rPr lang="zh-CN" altLang="en-US" dirty="0">
                <a:latin typeface="Times New Roman" panose="02020603050405020304" pitchFamily="18" charset="0"/>
              </a:rPr>
              <a:t>，使得满足</a:t>
            </a:r>
            <a:r>
              <a:rPr lang="en-US" altLang="zh-CN" dirty="0">
                <a:latin typeface="Times New Roman" panose="02020603050405020304" pitchFamily="18" charset="0"/>
              </a:rPr>
              <a:t>b(x)a(x)+p(x)c(x)=1</a:t>
            </a:r>
            <a:r>
              <a:rPr lang="zh-CN" altLang="en-US" dirty="0">
                <a:latin typeface="Times New Roman" panose="02020603050405020304" pitchFamily="18" charset="0"/>
              </a:rPr>
              <a:t>， 即满足</a:t>
            </a:r>
            <a:r>
              <a:rPr lang="en-US" altLang="zh-CN" dirty="0">
                <a:latin typeface="Times New Roman" panose="02020603050405020304" pitchFamily="18" charset="0"/>
              </a:rPr>
              <a:t>a(x)·b(x)</a:t>
            </a:r>
            <a:r>
              <a:rPr lang="it-IT" altLang="zh-CN" dirty="0">
                <a:latin typeface="Times New Roman" panose="02020603050405020304" pitchFamily="18" charset="0"/>
              </a:rPr>
              <a:t> ≡</a:t>
            </a:r>
            <a:r>
              <a:rPr lang="en-US" altLang="zh-CN" dirty="0">
                <a:latin typeface="Times New Roman" panose="02020603050405020304" pitchFamily="18" charset="0"/>
              </a:rPr>
              <a:t>1 mod p(x)</a:t>
            </a:r>
            <a:r>
              <a:rPr lang="zh-CN" altLang="en-US" dirty="0">
                <a:latin typeface="Times New Roman" panose="02020603050405020304" pitchFamily="18" charset="0"/>
              </a:rPr>
              <a:t>，因此</a:t>
            </a:r>
            <a:r>
              <a:rPr lang="en-US" altLang="zh-CN" dirty="0">
                <a:latin typeface="Times New Roman" panose="02020603050405020304" pitchFamily="18" charset="0"/>
              </a:rPr>
              <a:t>a(x)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b(x)</a:t>
            </a:r>
            <a:r>
              <a:rPr lang="zh-CN" altLang="en-US" dirty="0">
                <a:latin typeface="Times New Roman" panose="02020603050405020304" pitchFamily="18" charset="0"/>
              </a:rPr>
              <a:t>的乘法逆元。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乘法逆元举例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it-IT" altLang="zh-CN" b="1" dirty="0">
                <a:latin typeface="Times New Roman" panose="02020603050405020304" pitchFamily="18" charset="0"/>
              </a:rPr>
              <a:t>GF(2</a:t>
            </a:r>
            <a:r>
              <a:rPr lang="it-IT" altLang="zh-CN" b="1" baseline="30000" dirty="0">
                <a:latin typeface="Times New Roman" panose="02020603050405020304" pitchFamily="18" charset="0"/>
              </a:rPr>
              <a:t>8</a:t>
            </a:r>
            <a:r>
              <a:rPr lang="it-IT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上域元素，‘</a:t>
            </a:r>
            <a:r>
              <a:rPr lang="en-US" altLang="zh-CN" dirty="0">
                <a:latin typeface="Times New Roman" panose="02020603050405020304" pitchFamily="18" charset="0"/>
              </a:rPr>
              <a:t>F5’(</a:t>
            </a:r>
            <a:r>
              <a:rPr lang="zh-CN" altLang="en-US" dirty="0">
                <a:latin typeface="Times New Roman" panose="02020603050405020304" pitchFamily="18" charset="0"/>
              </a:rPr>
              <a:t>十六进制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的乘法逆元。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）‘</a:t>
            </a:r>
            <a:r>
              <a:rPr lang="en-US" altLang="zh-CN" dirty="0">
                <a:latin typeface="Times New Roman" panose="02020603050405020304" pitchFamily="18" charset="0"/>
              </a:rPr>
              <a:t>F5’</a:t>
            </a:r>
            <a:r>
              <a:rPr lang="zh-CN" altLang="en-US" dirty="0">
                <a:latin typeface="Times New Roman" panose="02020603050405020304" pitchFamily="18" charset="0"/>
              </a:rPr>
              <a:t>用对应二进制为</a:t>
            </a:r>
            <a:r>
              <a:rPr lang="en-US" altLang="zh-CN" dirty="0">
                <a:latin typeface="Times New Roman" panose="02020603050405020304" pitchFamily="18" charset="0"/>
              </a:rPr>
              <a:t>11110101</a:t>
            </a:r>
            <a:r>
              <a:rPr lang="zh-CN" altLang="en-US" dirty="0">
                <a:latin typeface="Times New Roman" panose="02020603050405020304" pitchFamily="18" charset="0"/>
              </a:rPr>
              <a:t>，则用多项式表示为</a:t>
            </a:r>
            <a:r>
              <a:rPr lang="en-US" altLang="zh-CN" dirty="0">
                <a:latin typeface="Times New Roman" panose="02020603050405020304" pitchFamily="18" charset="0"/>
              </a:rPr>
              <a:t>b(x)=x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，然后计算两个多项式</a:t>
            </a:r>
            <a:r>
              <a:rPr lang="en-US" altLang="zh-CN" dirty="0">
                <a:latin typeface="Times New Roman" panose="02020603050405020304" pitchFamily="18" charset="0"/>
              </a:rPr>
              <a:t>a(x)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c(x)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(x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+1)·a(x)+p(x)c(x)=1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(2)  </a:t>
            </a:r>
            <a:r>
              <a:rPr lang="zh-CN" altLang="en-US" dirty="0">
                <a:latin typeface="Times New Roman" panose="02020603050405020304" pitchFamily="18" charset="0"/>
              </a:rPr>
              <a:t>采用多项式的扩展欧几里得算法按照如下步骤计算：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因为：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(x</a:t>
            </a:r>
            <a:r>
              <a:rPr lang="en-US" altLang="zh-CN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 x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+x+1)=(x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+1)(x+1)+ 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(x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+1)=x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(x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+x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+ 1)+1</a:t>
            </a:r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乘法逆元举例</a:t>
            </a:r>
            <a:endParaRPr lang="zh-CN" altLang="zh-CN"/>
          </a:p>
        </p:txBody>
      </p:sp>
      <p:sp>
        <p:nvSpPr>
          <p:cNvPr id="99331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1"/>
            <a:stretch>
              <a:fillRect l="-1407" t="-1482"/>
            </a:stretch>
          </a:blipFill>
        </p:spPr>
        <p:txBody>
          <a:bodyPr/>
          <a:lstStyle/>
          <a:p>
            <a:pPr>
              <a:defRPr/>
            </a:pPr>
            <a:endParaRPr lang="en-CA" dirty="0">
              <a:noFill/>
            </a:endParaRPr>
          </a:p>
        </p:txBody>
      </p:sp>
      <p:sp>
        <p:nvSpPr>
          <p:cNvPr id="101382" name="文本框 1"/>
          <p:cNvSpPr txBox="1">
            <a:spLocks noChangeArrowheads="1"/>
          </p:cNvSpPr>
          <p:nvPr/>
        </p:nvSpPr>
        <p:spPr bwMode="auto">
          <a:xfrm>
            <a:off x="3419475" y="5445125"/>
            <a:ext cx="64770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46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华文行楷"/>
        <a:cs typeface="宋体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10298</Words>
  <Application>WPS 演示</Application>
  <PresentationFormat>全屏显示(4:3)</PresentationFormat>
  <Paragraphs>594</Paragraphs>
  <Slides>64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64</vt:i4>
      </vt:variant>
    </vt:vector>
  </HeadingPairs>
  <TitlesOfParts>
    <vt:vector size="88" baseType="lpstr">
      <vt:lpstr>Arial</vt:lpstr>
      <vt:lpstr>宋体</vt:lpstr>
      <vt:lpstr>Wingdings</vt:lpstr>
      <vt:lpstr>Times New Roman</vt:lpstr>
      <vt:lpstr>华文行楷</vt:lpstr>
      <vt:lpstr>黑体</vt:lpstr>
      <vt:lpstr>隶书</vt:lpstr>
      <vt:lpstr>华文楷体</vt:lpstr>
      <vt:lpstr>微软雅黑</vt:lpstr>
      <vt:lpstr>Arial Unicode MS</vt:lpstr>
      <vt:lpstr>Cambria Math</vt:lpstr>
      <vt:lpstr>-apple-system</vt:lpstr>
      <vt:lpstr>Segoe Print</vt:lpstr>
      <vt:lpstr>Tahoma</vt:lpstr>
      <vt:lpstr>自定义设计方案</vt:lpstr>
      <vt:lpstr>1_自定义设计方案</vt:lpstr>
      <vt:lpstr>Visio.Drawing.11</vt:lpstr>
      <vt:lpstr>Visio.Drawing.11</vt:lpstr>
      <vt:lpstr>Equation.DSMT4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AES的发展</vt:lpstr>
      <vt:lpstr>AES的发展</vt:lpstr>
      <vt:lpstr>AES算法的整体结构</vt:lpstr>
      <vt:lpstr>AES算法的整体结构</vt:lpstr>
      <vt:lpstr>初始状态矩阵（state）</vt:lpstr>
      <vt:lpstr>AES算法举例学习</vt:lpstr>
      <vt:lpstr>初始密钥</vt:lpstr>
      <vt:lpstr>轮密钥加</vt:lpstr>
      <vt:lpstr>字节代替（SubBytes） </vt:lpstr>
      <vt:lpstr>字节替代所用S盒</vt:lpstr>
      <vt:lpstr>字节替代举例</vt:lpstr>
      <vt:lpstr>行移位（ShiftRows） </vt:lpstr>
      <vt:lpstr>行移位举例</vt:lpstr>
      <vt:lpstr>PowerPoint 演示文稿</vt:lpstr>
      <vt:lpstr>列混合举例</vt:lpstr>
      <vt:lpstr>列混合举例（参考第41页两种算法）</vt:lpstr>
      <vt:lpstr>轮密钥加（AddRoundKey） </vt:lpstr>
      <vt:lpstr>轮密钥加 举例</vt:lpstr>
      <vt:lpstr>密钥排列</vt:lpstr>
      <vt:lpstr>密钥阵列状态 </vt:lpstr>
      <vt:lpstr>密钥扩展 （NK=4）</vt:lpstr>
      <vt:lpstr>密钥扩展 （NK=4）</vt:lpstr>
      <vt:lpstr>密钥扩展 （NK=4）</vt:lpstr>
      <vt:lpstr>Rcon的求法</vt:lpstr>
      <vt:lpstr>RC[i]</vt:lpstr>
      <vt:lpstr>初始密钥</vt:lpstr>
      <vt:lpstr>求W4</vt:lpstr>
      <vt:lpstr>求W5,W6,W7</vt:lpstr>
      <vt:lpstr>PowerPoint 演示文稿</vt:lpstr>
      <vt:lpstr>AES算法的密钥编排算法</vt:lpstr>
      <vt:lpstr>Key  expansion</vt:lpstr>
      <vt:lpstr>Key  expansion</vt:lpstr>
      <vt:lpstr>轮数（Round）的不同取值</vt:lpstr>
      <vt:lpstr>解密</vt:lpstr>
      <vt:lpstr>轮密钥加</vt:lpstr>
      <vt:lpstr>逆行移位</vt:lpstr>
      <vt:lpstr>逆列混合 </vt:lpstr>
      <vt:lpstr>逆字节替代（逆S盒）</vt:lpstr>
      <vt:lpstr>后面内容供参考</vt:lpstr>
      <vt:lpstr>抽象代数</vt:lpstr>
      <vt:lpstr>抽象代数-二元运算</vt:lpstr>
      <vt:lpstr>抽象代数-二元运算</vt:lpstr>
      <vt:lpstr>抽象代数</vt:lpstr>
      <vt:lpstr>抽象代数-群</vt:lpstr>
      <vt:lpstr>抽象代数-群</vt:lpstr>
      <vt:lpstr>抽象代数-群</vt:lpstr>
      <vt:lpstr>抽象代数-环</vt:lpstr>
      <vt:lpstr>抽象代数-环</vt:lpstr>
      <vt:lpstr>抽象代数-有限域</vt:lpstr>
      <vt:lpstr>抽象代数-有限域</vt:lpstr>
      <vt:lpstr>抽象代数-有限域</vt:lpstr>
      <vt:lpstr>AES基本运算</vt:lpstr>
      <vt:lpstr>字节在GF(28)上的表示</vt:lpstr>
      <vt:lpstr>GF(28)上两个域元素的和</vt:lpstr>
      <vt:lpstr>GF(28)上两个域元素的乘</vt:lpstr>
      <vt:lpstr>GF(28)上两个域元素的乘</vt:lpstr>
      <vt:lpstr>x乘法 </vt:lpstr>
      <vt:lpstr>b7＝0实例举例</vt:lpstr>
      <vt:lpstr>b7＝1实例举例</vt:lpstr>
      <vt:lpstr>‘57’·‘13’ </vt:lpstr>
      <vt:lpstr>GF(28)上域元素的乘法逆元</vt:lpstr>
      <vt:lpstr>乘法逆元举例</vt:lpstr>
      <vt:lpstr>乘法逆元举例</vt:lpstr>
    </vt:vector>
  </TitlesOfParts>
  <Company>CUIT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　代　密　码　学</dc:title>
  <dc:creator>ZhJq</dc:creator>
  <cp:lastModifiedBy>Gabriel</cp:lastModifiedBy>
  <cp:revision>411</cp:revision>
  <dcterms:created xsi:type="dcterms:W3CDTF">2009-02-15T08:39:00Z</dcterms:created>
  <dcterms:modified xsi:type="dcterms:W3CDTF">2025-11-18T12:57:10Z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8EFF3CAD46F84689B916C4583A8F58D6_12</vt:lpwstr>
  </property>
  <property fmtid="{D5CDD505-2E9C-101B-9397-08002B2CF9AE}" pid="3" name="KSOProductBuildVer">
    <vt:lpwstr>2052-12.1.0.23542</vt:lpwstr>
  </property>
</Properties>
</file>