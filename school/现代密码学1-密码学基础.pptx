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446" r:id="rId2"/>
    <p:sldId id="366" r:id="rId3"/>
    <p:sldId id="602" r:id="rId4"/>
    <p:sldId id="603" r:id="rId5"/>
    <p:sldId id="604" r:id="rId6"/>
    <p:sldId id="605" r:id="rId7"/>
    <p:sldId id="606" r:id="rId8"/>
    <p:sldId id="607" r:id="rId9"/>
    <p:sldId id="608" r:id="rId10"/>
    <p:sldId id="609" r:id="rId11"/>
    <p:sldId id="610" r:id="rId12"/>
    <p:sldId id="611" r:id="rId13"/>
    <p:sldId id="612" r:id="rId14"/>
    <p:sldId id="613" r:id="rId15"/>
    <p:sldId id="614" r:id="rId16"/>
    <p:sldId id="615" r:id="rId17"/>
    <p:sldId id="616" r:id="rId18"/>
    <p:sldId id="617" r:id="rId19"/>
    <p:sldId id="397" r:id="rId20"/>
    <p:sldId id="618" r:id="rId21"/>
    <p:sldId id="619" r:id="rId22"/>
    <p:sldId id="620" r:id="rId23"/>
    <p:sldId id="621" r:id="rId24"/>
    <p:sldId id="622" r:id="rId25"/>
    <p:sldId id="623" r:id="rId26"/>
    <p:sldId id="624" r:id="rId27"/>
    <p:sldId id="625" r:id="rId28"/>
    <p:sldId id="626" r:id="rId29"/>
    <p:sldId id="627" r:id="rId30"/>
    <p:sldId id="628" r:id="rId31"/>
    <p:sldId id="629" r:id="rId32"/>
    <p:sldId id="630" r:id="rId33"/>
    <p:sldId id="631" r:id="rId34"/>
    <p:sldId id="632" r:id="rId35"/>
    <p:sldId id="633" r:id="rId36"/>
    <p:sldId id="634" r:id="rId37"/>
    <p:sldId id="635" r:id="rId38"/>
    <p:sldId id="636" r:id="rId39"/>
    <p:sldId id="637" r:id="rId40"/>
    <p:sldId id="638" r:id="rId41"/>
    <p:sldId id="639" r:id="rId42"/>
    <p:sldId id="640" r:id="rId43"/>
    <p:sldId id="641" r:id="rId44"/>
    <p:sldId id="642" r:id="rId45"/>
    <p:sldId id="643" r:id="rId46"/>
    <p:sldId id="644" r:id="rId47"/>
    <p:sldId id="645" r:id="rId48"/>
    <p:sldId id="646" r:id="rId49"/>
    <p:sldId id="647" r:id="rId50"/>
    <p:sldId id="648" r:id="rId51"/>
    <p:sldId id="649" r:id="rId52"/>
    <p:sldId id="650" r:id="rId53"/>
    <p:sldId id="651" r:id="rId54"/>
    <p:sldId id="652" r:id="rId55"/>
    <p:sldId id="653" r:id="rId56"/>
    <p:sldId id="654" r:id="rId57"/>
    <p:sldId id="655" r:id="rId58"/>
    <p:sldId id="656" r:id="rId59"/>
    <p:sldId id="657" r:id="rId60"/>
    <p:sldId id="658" r:id="rId61"/>
    <p:sldId id="659" r:id="rId62"/>
    <p:sldId id="660" r:id="rId63"/>
    <p:sldId id="402"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7" autoAdjust="0"/>
    <p:restoredTop sz="86586" autoAdjust="0"/>
  </p:normalViewPr>
  <p:slideViewPr>
    <p:cSldViewPr snapToGrid="0">
      <p:cViewPr>
        <p:scale>
          <a:sx n="125" d="100"/>
          <a:sy n="125" d="100"/>
        </p:scale>
        <p:origin x="15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143EF2-E62D-4ADF-8C85-925DFD7A166F}" type="datetimeFigureOut">
              <a:rPr lang="zh-CN" altLang="en-US" smtClean="0"/>
              <a:t>2025/10/7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91FE2-FBAA-43FB-95AC-494506A0C5B1}" type="slidenum">
              <a:rPr lang="zh-CN" altLang="en-US" smtClean="0"/>
              <a:t>‹#›</a:t>
            </a:fld>
            <a:endParaRPr lang="zh-CN" altLang="en-US"/>
          </a:p>
        </p:txBody>
      </p:sp>
    </p:spTree>
    <p:extLst>
      <p:ext uri="{BB962C8B-B14F-4D97-AF65-F5344CB8AC3E}">
        <p14:creationId xmlns:p14="http://schemas.microsoft.com/office/powerpoint/2010/main" val="3450407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04113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669628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940431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44110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226839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019739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881313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227278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574147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913341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062632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754407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868138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293851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75873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27032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14854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249917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231772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44391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97560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857569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289094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90404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772395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9468090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276605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51881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651611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981363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1950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744721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97825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8421544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233084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2352994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750494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7196272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116009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9349433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0005020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5774061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1415891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5664582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5679362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8000917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8134669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1230685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192324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4180558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3541809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6525498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359224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0424440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8797258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049882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624852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916403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874283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4412780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0633810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09210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37ABD-3B14-4407-81C7-2EB5B2F9274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8220158-75BD-4FF3-8E3E-6E7D435E871B}"/>
              </a:ext>
            </a:extLst>
          </p:cNvPr>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BE65E59-D3FA-4DE1-A0C8-4BAFF3E2B7B1}"/>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641046C3-9570-4BB7-932C-BD0DFDFD85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AADFC1-685F-49CC-8FA9-CE4382D1A66D}"/>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860586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D5517-8345-4F4F-9D39-CC4D7FAC344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03BEF0-BA60-47B8-B4A5-2720B1917A4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7C6AB32-5CE5-4616-BADC-FF621AEF6E57}"/>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86797EB3-4170-4950-81DE-9823C49888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989475-1725-4A1D-A79F-DD2F41AB31F0}"/>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1599970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BCF14-A5AC-449B-A03A-F480993F3FDF}"/>
              </a:ext>
            </a:extLst>
          </p:cNvPr>
          <p:cNvSpPr>
            <a:spLocks noGrp="1"/>
          </p:cNvSpPr>
          <p:nvPr>
            <p:ph type="title"/>
          </p:nvPr>
        </p:nvSpPr>
        <p:spPr>
          <a:xfrm>
            <a:off x="831851" y="170974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6A80297-BED7-4E8F-8A60-B4ED4B53AB7B}"/>
              </a:ext>
            </a:extLst>
          </p:cNvPr>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11EAC40-AAB5-4463-9E4D-E536BA06A4E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8AC1D06-8BC5-47E8-8907-B5563707E7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F18627-F81A-475A-ABD3-3C96F414DD45}"/>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160822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20549-3EAB-4F1C-92EC-50A87E22442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20F6F7-37A5-4EF9-B89F-A635D8B91E9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95F880-B77D-495B-890E-2DCFBA17040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9321326-40E3-4B9C-A093-39DABA4FB623}"/>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ACA3FAB-33E4-4EC0-8F23-D8485BAABC5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509C9BF-4050-497E-AF9F-B99A073B52D3}"/>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995749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A4146-0B29-4C42-A3AE-FB0BE06ADFF5}"/>
              </a:ext>
            </a:extLst>
          </p:cNvPr>
          <p:cNvSpPr>
            <a:spLocks noGrp="1"/>
          </p:cNvSpPr>
          <p:nvPr>
            <p:ph type="title"/>
          </p:nvPr>
        </p:nvSpPr>
        <p:spPr>
          <a:xfrm>
            <a:off x="839788" y="365129"/>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669E3FD-8FA2-4C31-9CAA-48E06D3A308B}"/>
              </a:ext>
            </a:extLst>
          </p:cNvPr>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FDD1A4F-5DBF-446E-BA19-12B680A576F9}"/>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9B00E09-6AF8-4629-A1E4-64041AC67D3B}"/>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2193E0E-E12C-4A3C-8852-97CD2F35D674}"/>
              </a:ext>
            </a:extLst>
          </p:cNvPr>
          <p:cNvSpPr>
            <a:spLocks noGrp="1"/>
          </p:cNvSpPr>
          <p:nvPr>
            <p:ph sz="quarter" idx="4"/>
          </p:nvPr>
        </p:nvSpPr>
        <p:spPr>
          <a:xfrm>
            <a:off x="6172203"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73B2808-386B-49F9-AE3A-BA28F79CD6CB}"/>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6D96A683-215C-4F3E-B7BB-93C4DB12FCA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5177E1B-D485-4252-AE76-C594F0DE0BFF}"/>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1499463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33067-5971-4470-8F93-7080A8D1FB1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5ADC26-486E-4A64-BFA8-FE5568924A2A}"/>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B1523279-469A-4872-9781-450860037D0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3A0CC9F-98B5-4087-9A5D-D7498757961B}"/>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3450951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4E39252-1FB5-405E-A896-55067F131680}"/>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493A18D0-DE49-48D5-9E0F-8F0FC52C4CF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985169E-60F6-4446-BEE9-7864BC4F2A24}"/>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4177015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0C717F-A538-43B2-903E-204695118FF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AE6F034-7B68-4FF6-B2ED-986F483C240F}"/>
              </a:ext>
            </a:extLst>
          </p:cNvPr>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E136E0B-3547-4C7D-B41F-C331BF33DB8C}"/>
              </a:ext>
            </a:extLst>
          </p:cNvPr>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418066B-8145-4A5C-8A87-36776AAB7540}"/>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A5770C8-D04C-42BD-9AF9-C950557D662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A0C337-AC8E-4192-8BC9-99DCAF40EC26}"/>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1705498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F21DE-6C1F-44EE-9FE5-DD66E6B83E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77849D-999A-4F1C-A402-5EAB52207973}"/>
              </a:ext>
            </a:extLst>
          </p:cNvPr>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lang="zh-CN" altLang="en-US"/>
          </a:p>
        </p:txBody>
      </p:sp>
      <p:sp>
        <p:nvSpPr>
          <p:cNvPr id="4" name="文本占位符 3">
            <a:extLst>
              <a:ext uri="{FF2B5EF4-FFF2-40B4-BE49-F238E27FC236}">
                <a16:creationId xmlns:a16="http://schemas.microsoft.com/office/drawing/2014/main" id="{301F46E4-4FF6-4B54-9225-9C53678D344C}"/>
              </a:ext>
            </a:extLst>
          </p:cNvPr>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C0F7837-C013-4C52-AC3D-62B69B164EB4}"/>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20EF80C-05FF-4CD5-AEC2-4D001C9B32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18EDCC-AE43-4445-8EE3-57FA627D3303}"/>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3892127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D214A-8231-41EE-84FE-61ACB767CD8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B69705D-80AE-4355-89CB-343748ADBE7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53001C-C509-4F15-BB7E-4FAA38AF924F}"/>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8C35726C-19B3-454F-9AB7-705B30D921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D6C629-9A55-445E-A357-48CF56A2C5E0}"/>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2169153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713473B-2F4A-43CF-AB97-683194757598}"/>
              </a:ext>
            </a:extLst>
          </p:cNvPr>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5035158-B7DC-4419-9C82-09124FFC17EF}"/>
              </a:ext>
            </a:extLst>
          </p:cNvPr>
          <p:cNvSpPr>
            <a:spLocks noGrp="1"/>
          </p:cNvSpPr>
          <p:nvPr>
            <p:ph type="body" orient="vert" idx="1"/>
          </p:nvPr>
        </p:nvSpPr>
        <p:spPr>
          <a:xfrm>
            <a:off x="838203"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CB17471-6BFE-4B79-8964-7F3DA57CD7C0}"/>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E6A85224-C5B4-40BA-8F07-78D86996E5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058D54-8D24-463C-9AF7-CA732BE4184F}"/>
              </a:ext>
            </a:extLst>
          </p:cNvPr>
          <p:cNvSpPr>
            <a:spLocks noGrp="1"/>
          </p:cNvSpPr>
          <p:nvPr>
            <p:ph type="sldNum" sz="quarter" idx="12"/>
          </p:nvPr>
        </p:nvSpPr>
        <p:spPr/>
        <p:txBody>
          <a:body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3155981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3B2F64C6-7D5C-BC48-A962-E23F0BFEC084}"/>
              </a:ext>
            </a:extLst>
          </p:cNvPr>
          <p:cNvSpPr/>
          <p:nvPr userDrawn="1"/>
        </p:nvSpPr>
        <p:spPr>
          <a:xfrm>
            <a:off x="200445" y="193612"/>
            <a:ext cx="578289" cy="57828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 name="圆角矩形 2">
            <a:extLst>
              <a:ext uri="{FF2B5EF4-FFF2-40B4-BE49-F238E27FC236}">
                <a16:creationId xmlns:a16="http://schemas.microsoft.com/office/drawing/2014/main" id="{40D463A3-7033-D449-AC8B-08C0EFBF331C}"/>
              </a:ext>
            </a:extLst>
          </p:cNvPr>
          <p:cNvSpPr/>
          <p:nvPr userDrawn="1"/>
        </p:nvSpPr>
        <p:spPr>
          <a:xfrm>
            <a:off x="798672" y="736277"/>
            <a:ext cx="215597" cy="215597"/>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4" name="圆角矩形 3">
            <a:extLst>
              <a:ext uri="{FF2B5EF4-FFF2-40B4-BE49-F238E27FC236}">
                <a16:creationId xmlns:a16="http://schemas.microsoft.com/office/drawing/2014/main" id="{CEAD8200-B031-6E4A-87C5-FC095E3A9684}"/>
              </a:ext>
            </a:extLst>
          </p:cNvPr>
          <p:cNvSpPr/>
          <p:nvPr userDrawn="1"/>
        </p:nvSpPr>
        <p:spPr>
          <a:xfrm>
            <a:off x="995732" y="542132"/>
            <a:ext cx="132077" cy="132077"/>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Tree>
    <p:extLst>
      <p:ext uri="{BB962C8B-B14F-4D97-AF65-F5344CB8AC3E}">
        <p14:creationId xmlns:p14="http://schemas.microsoft.com/office/powerpoint/2010/main" val="3738441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C9FC3E-6148-438F-B9E4-7DE43E98127D}"/>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94BB5D5-4DD3-4AEF-90DE-B5E764D503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01D28F-163E-4B86-8C57-BEC0799E0531}"/>
              </a:ext>
            </a:extLst>
          </p:cNvPr>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91D65B28-A2BD-4827-9C92-A531BD8C0BFE}"/>
              </a:ext>
            </a:extLst>
          </p:cNvPr>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C702E65-BAD7-431C-8144-21A47245873D}"/>
              </a:ext>
            </a:extLst>
          </p:cNvPr>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FDB370-2EC8-4081-B1E7-AC009A92B41D}" type="slidenum">
              <a:rPr lang="zh-CN" altLang="en-US" smtClean="0"/>
              <a:t>‹#›</a:t>
            </a:fld>
            <a:endParaRPr lang="zh-CN" altLang="en-US"/>
          </a:p>
        </p:txBody>
      </p:sp>
    </p:spTree>
    <p:extLst>
      <p:ext uri="{BB962C8B-B14F-4D97-AF65-F5344CB8AC3E}">
        <p14:creationId xmlns:p14="http://schemas.microsoft.com/office/powerpoint/2010/main" val="2949395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30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view/anjia-yang/home" TargetMode="External"/><Relationship Id="rId2" Type="http://schemas.openxmlformats.org/officeDocument/2006/relationships/hyperlink" Target="mailto:anjiayang@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oleObject" Target="../embeddings/oleObject4.bin"/><Relationship Id="rId18" Type="http://schemas.openxmlformats.org/officeDocument/2006/relationships/image" Target="../media/image8.wmf"/><Relationship Id="rId3" Type="http://schemas.openxmlformats.org/officeDocument/2006/relationships/audio" Target="../media/audio1.wav"/><Relationship Id="rId7" Type="http://schemas.openxmlformats.org/officeDocument/2006/relationships/oleObject" Target="../embeddings/oleObject1.bin"/><Relationship Id="rId12" Type="http://schemas.openxmlformats.org/officeDocument/2006/relationships/image" Target="../media/image5.wmf"/><Relationship Id="rId17" Type="http://schemas.openxmlformats.org/officeDocument/2006/relationships/oleObject" Target="../embeddings/oleObject6.bin"/><Relationship Id="rId2" Type="http://schemas.openxmlformats.org/officeDocument/2006/relationships/notesSlide" Target="../notesSlides/notesSlide6.xml"/><Relationship Id="rId16" Type="http://schemas.openxmlformats.org/officeDocument/2006/relationships/image" Target="../media/image7.wmf"/><Relationship Id="rId1" Type="http://schemas.openxmlformats.org/officeDocument/2006/relationships/slideLayout" Target="../slideLayouts/slideLayout12.xml"/><Relationship Id="rId6" Type="http://schemas.openxmlformats.org/officeDocument/2006/relationships/audio" Target="../media/audio4.wav"/><Relationship Id="rId11" Type="http://schemas.openxmlformats.org/officeDocument/2006/relationships/oleObject" Target="../embeddings/oleObject3.bin"/><Relationship Id="rId5" Type="http://schemas.openxmlformats.org/officeDocument/2006/relationships/audio" Target="../media/audio3.wav"/><Relationship Id="rId15" Type="http://schemas.openxmlformats.org/officeDocument/2006/relationships/oleObject" Target="../embeddings/oleObject5.bin"/><Relationship Id="rId10" Type="http://schemas.openxmlformats.org/officeDocument/2006/relationships/image" Target="../media/image4.wmf"/><Relationship Id="rId4" Type="http://schemas.openxmlformats.org/officeDocument/2006/relationships/audio" Target="../media/audio2.wav"/><Relationship Id="rId9" Type="http://schemas.openxmlformats.org/officeDocument/2006/relationships/oleObject" Target="../embeddings/oleObject2.bin"/><Relationship Id="rId1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1.sv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7.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slide" Target="slide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240.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C09D99F0-3CC3-4054-8AE9-24B95EE31BBB}"/>
              </a:ext>
            </a:extLst>
          </p:cNvPr>
          <p:cNvSpPr>
            <a:spLocks noGrp="1" noChangeArrowheads="1"/>
          </p:cNvSpPr>
          <p:nvPr>
            <p:ph type="ctrTitle"/>
          </p:nvPr>
        </p:nvSpPr>
        <p:spPr>
          <a:xfrm>
            <a:off x="2209800" y="1348060"/>
            <a:ext cx="7772400" cy="1462088"/>
          </a:xfrm>
        </p:spPr>
        <p:txBody>
          <a:bodyPr/>
          <a:lstStyle/>
          <a:p>
            <a:pPr algn="ctr"/>
            <a:r>
              <a:rPr lang="zh-CN" altLang="en-US" sz="7200" dirty="0">
                <a:solidFill>
                  <a:schemeClr val="accent1">
                    <a:lumMod val="75000"/>
                  </a:schemeClr>
                </a:solidFill>
                <a:latin typeface="宋体" panose="02010600030101010101" pitchFamily="2" charset="-122"/>
                <a:ea typeface="宋体" panose="02010600030101010101" pitchFamily="2" charset="-122"/>
              </a:rPr>
              <a:t>现代密码学</a:t>
            </a:r>
            <a:endParaRPr lang="en-CA" altLang="en-US" sz="7200" dirty="0">
              <a:solidFill>
                <a:schemeClr val="accent1">
                  <a:lumMod val="75000"/>
                </a:schemeClr>
              </a:solidFill>
              <a:latin typeface="宋体" panose="02010600030101010101" pitchFamily="2" charset="-122"/>
              <a:ea typeface="宋体" panose="02010600030101010101" pitchFamily="2" charset="-122"/>
            </a:endParaRPr>
          </a:p>
        </p:txBody>
      </p:sp>
      <p:sp>
        <p:nvSpPr>
          <p:cNvPr id="11267" name="副标题 2">
            <a:extLst>
              <a:ext uri="{FF2B5EF4-FFF2-40B4-BE49-F238E27FC236}">
                <a16:creationId xmlns:a16="http://schemas.microsoft.com/office/drawing/2014/main" id="{CF515DB6-D0D4-4FDC-9606-A963244E124A}"/>
              </a:ext>
            </a:extLst>
          </p:cNvPr>
          <p:cNvSpPr>
            <a:spLocks noGrp="1" noChangeArrowheads="1"/>
          </p:cNvSpPr>
          <p:nvPr>
            <p:ph type="subTitle" idx="1"/>
          </p:nvPr>
        </p:nvSpPr>
        <p:spPr>
          <a:xfrm>
            <a:off x="1784657" y="3172023"/>
            <a:ext cx="8343112" cy="2116783"/>
          </a:xfrm>
        </p:spPr>
        <p:txBody>
          <a:bodyPr>
            <a:normAutofit lnSpcReduction="10000"/>
          </a:bodyPr>
          <a:lstStyle/>
          <a:p>
            <a:r>
              <a:rPr lang="zh-CN" altLang="en-US" sz="3600" dirty="0">
                <a:latin typeface="宋体" panose="02010600030101010101" pitchFamily="2" charset="-122"/>
                <a:ea typeface="宋体" panose="02010600030101010101" pitchFamily="2" charset="-122"/>
              </a:rPr>
              <a:t>杨安家</a:t>
            </a:r>
            <a:endParaRPr lang="en-CA" altLang="zh-CN" sz="3600" dirty="0">
              <a:latin typeface="宋体" panose="02010600030101010101" pitchFamily="2" charset="-122"/>
              <a:ea typeface="宋体" panose="02010600030101010101" pitchFamily="2" charset="-122"/>
            </a:endParaRPr>
          </a:p>
          <a:p>
            <a:r>
              <a:rPr lang="zh-CN" altLang="en-US" sz="3600" dirty="0">
                <a:latin typeface="宋体" panose="02010600030101010101" pitchFamily="2" charset="-122"/>
                <a:ea typeface="宋体" panose="02010600030101010101" pitchFamily="2" charset="-122"/>
              </a:rPr>
              <a:t>暨南大学网络空间安全学院</a:t>
            </a:r>
            <a:endParaRPr lang="en-CA" altLang="zh-CN" sz="3600" dirty="0">
              <a:latin typeface="宋体" panose="02010600030101010101" pitchFamily="2" charset="-122"/>
              <a:ea typeface="宋体" panose="02010600030101010101" pitchFamily="2" charset="-122"/>
            </a:endParaRPr>
          </a:p>
          <a:p>
            <a:r>
              <a:rPr lang="en-US" altLang="zh-CN" b="1" dirty="0">
                <a:latin typeface="宋体" panose="02010600030101010101" pitchFamily="2" charset="-122"/>
                <a:ea typeface="宋体" panose="02010600030101010101" pitchFamily="2" charset="-122"/>
              </a:rPr>
              <a:t>Email: </a:t>
            </a:r>
            <a:r>
              <a:rPr lang="en-US" altLang="zh-CN" b="1" dirty="0">
                <a:latin typeface="宋体" panose="02010600030101010101" pitchFamily="2" charset="-122"/>
                <a:ea typeface="宋体" panose="02010600030101010101" pitchFamily="2" charset="-122"/>
                <a:hlinkClick r:id="rId2"/>
              </a:rPr>
              <a:t>anjiayang@gmail.com</a:t>
            </a:r>
            <a:endParaRPr lang="en-US" altLang="zh-CN" b="1" dirty="0">
              <a:latin typeface="宋体" panose="02010600030101010101" pitchFamily="2" charset="-122"/>
              <a:ea typeface="宋体" panose="02010600030101010101" pitchFamily="2" charset="-122"/>
            </a:endParaRPr>
          </a:p>
          <a:p>
            <a:r>
              <a:rPr lang="en-US" altLang="en-US" b="1" dirty="0">
                <a:latin typeface="宋体" panose="02010600030101010101" pitchFamily="2" charset="-122"/>
                <a:ea typeface="宋体" panose="02010600030101010101" pitchFamily="2" charset="-122"/>
              </a:rPr>
              <a:t>PHP: </a:t>
            </a:r>
            <a:r>
              <a:rPr lang="en-US" altLang="en-US" b="1" dirty="0">
                <a:latin typeface="宋体" panose="02010600030101010101" pitchFamily="2" charset="-122"/>
                <a:ea typeface="宋体" panose="02010600030101010101" pitchFamily="2" charset="-122"/>
                <a:hlinkClick r:id="rId3"/>
              </a:rPr>
              <a:t>https://sites.google.com/view/anjia-yang/home</a:t>
            </a:r>
            <a:r>
              <a:rPr lang="en-US" altLang="en-US" b="1" dirty="0">
                <a:latin typeface="宋体" panose="02010600030101010101" pitchFamily="2" charset="-122"/>
                <a:ea typeface="宋体" panose="02010600030101010101" pitchFamily="2" charset="-122"/>
              </a:rPr>
              <a:t> </a:t>
            </a:r>
          </a:p>
          <a:p>
            <a:endParaRPr lang="en-CA" altLang="en-US" b="1" dirty="0">
              <a:latin typeface="宋体" panose="02010600030101010101" pitchFamily="2" charset="-122"/>
              <a:ea typeface="宋体" panose="02010600030101010101" pitchFamily="2" charset="-122"/>
            </a:endParaRPr>
          </a:p>
        </p:txBody>
      </p:sp>
      <p:sp>
        <p:nvSpPr>
          <p:cNvPr id="3" name="日期占位符 2">
            <a:extLst>
              <a:ext uri="{FF2B5EF4-FFF2-40B4-BE49-F238E27FC236}">
                <a16:creationId xmlns:a16="http://schemas.microsoft.com/office/drawing/2014/main" id="{7A9BF81C-CF81-5BED-831F-1F9BB234566C}"/>
              </a:ext>
            </a:extLst>
          </p:cNvPr>
          <p:cNvSpPr>
            <a:spLocks noGrp="1"/>
          </p:cNvSpPr>
          <p:nvPr>
            <p:ph type="dt" sz="half" idx="10"/>
          </p:nvPr>
        </p:nvSpPr>
        <p:spPr/>
        <p:txBody>
          <a:bodyPr/>
          <a:lstStyle/>
          <a:p>
            <a:fld id="{824B6450-10BF-4F6D-8893-5B536CC275B2}" type="datetime1">
              <a:rPr lang="zh-CN" altLang="en-US" smtClean="0"/>
              <a:t>2025/10/7</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7" y="237517"/>
            <a:ext cx="1826141"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课程信息</a:t>
            </a:r>
          </a:p>
        </p:txBody>
      </p:sp>
      <p:sp>
        <p:nvSpPr>
          <p:cNvPr id="42" name="内容占位符 2">
            <a:extLst>
              <a:ext uri="{FF2B5EF4-FFF2-40B4-BE49-F238E27FC236}">
                <a16:creationId xmlns:a16="http://schemas.microsoft.com/office/drawing/2014/main" id="{33955EAC-2178-F0B4-25EB-BB561A8E89B1}"/>
              </a:ext>
            </a:extLst>
          </p:cNvPr>
          <p:cNvSpPr txBox="1">
            <a:spLocks/>
          </p:cNvSpPr>
          <p:nvPr/>
        </p:nvSpPr>
        <p:spPr>
          <a:xfrm>
            <a:off x="838200" y="1687404"/>
            <a:ext cx="10515600" cy="448956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Clr>
                <a:schemeClr val="accent1"/>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考核方式： </a:t>
            </a:r>
            <a:endParaRPr lang="en-CA" altLang="zh-CN" dirty="0">
              <a:latin typeface="宋体" panose="02010600030101010101" pitchFamily="2" charset="-122"/>
              <a:ea typeface="宋体" panose="02010600030101010101" pitchFamily="2" charset="-122"/>
            </a:endParaRPr>
          </a:p>
          <a:p>
            <a:pPr lvl="1">
              <a:buClr>
                <a:srgbClr val="FF0000"/>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平时成绩</a:t>
            </a:r>
            <a:r>
              <a:rPr lang="en-CA" altLang="zh-CN" b="1" dirty="0">
                <a:latin typeface="宋体" panose="02010600030101010101" pitchFamily="2" charset="-122"/>
                <a:ea typeface="宋体" panose="02010600030101010101" pitchFamily="2" charset="-122"/>
              </a:rPr>
              <a:t>(40%) </a:t>
            </a:r>
          </a:p>
          <a:p>
            <a:pPr lvl="2">
              <a:buClr>
                <a:schemeClr val="accent1"/>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课堂互动奖励</a:t>
            </a:r>
            <a:r>
              <a:rPr lang="en-CA" altLang="zh-CN" b="1" dirty="0">
                <a:latin typeface="宋体" panose="02010600030101010101" pitchFamily="2" charset="-122"/>
                <a:ea typeface="宋体" panose="02010600030101010101" pitchFamily="2" charset="-122"/>
              </a:rPr>
              <a:t>&lt;=15%</a:t>
            </a:r>
          </a:p>
          <a:p>
            <a:pPr lvl="2">
              <a:buClr>
                <a:schemeClr val="accent1"/>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作业</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选一个研究课题，写调研、做报告，每组不超过</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人</a:t>
            </a:r>
            <a:r>
              <a:rPr lang="en-US" altLang="zh-CN" dirty="0">
                <a:latin typeface="宋体" panose="02010600030101010101" pitchFamily="2" charset="-122"/>
                <a:ea typeface="宋体" panose="02010600030101010101" pitchFamily="2" charset="-122"/>
              </a:rPr>
              <a:t>)</a:t>
            </a:r>
            <a:r>
              <a:rPr lang="en-CA" altLang="zh-CN" b="1" dirty="0">
                <a:latin typeface="宋体" panose="02010600030101010101" pitchFamily="2" charset="-122"/>
                <a:ea typeface="宋体" panose="02010600030101010101" pitchFamily="2" charset="-122"/>
              </a:rPr>
              <a:t>25%</a:t>
            </a:r>
          </a:p>
          <a:p>
            <a:pPr lvl="1">
              <a:buClr>
                <a:srgbClr val="FF0000"/>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期末考试</a:t>
            </a:r>
            <a:r>
              <a:rPr lang="en-US" altLang="zh-CN" b="1" dirty="0">
                <a:latin typeface="宋体" panose="02010600030101010101" pitchFamily="2" charset="-122"/>
                <a:ea typeface="宋体" panose="02010600030101010101" pitchFamily="2" charset="-122"/>
              </a:rPr>
              <a:t>(</a:t>
            </a:r>
            <a:r>
              <a:rPr lang="en-CA" altLang="zh-CN" b="1" dirty="0">
                <a:latin typeface="宋体" panose="02010600030101010101" pitchFamily="2" charset="-122"/>
                <a:ea typeface="宋体" panose="02010600030101010101" pitchFamily="2" charset="-122"/>
              </a:rPr>
              <a:t>60</a:t>
            </a:r>
            <a:r>
              <a:rPr lang="en-US" altLang="zh-CN" b="1" dirty="0">
                <a:latin typeface="宋体" panose="02010600030101010101" pitchFamily="2" charset="-122"/>
                <a:ea typeface="宋体" panose="02010600030101010101" pitchFamily="2" charset="-122"/>
              </a:rPr>
              <a:t>%)</a:t>
            </a:r>
            <a:endParaRPr lang="en-CA" altLang="zh-CN" b="1" dirty="0">
              <a:latin typeface="宋体" panose="02010600030101010101" pitchFamily="2" charset="-122"/>
              <a:ea typeface="宋体" panose="02010600030101010101" pitchFamily="2" charset="-122"/>
            </a:endParaRPr>
          </a:p>
          <a:p>
            <a:pPr>
              <a:buClr>
                <a:schemeClr val="accent1"/>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参考书籍：</a:t>
            </a:r>
            <a:endParaRPr lang="en-CA" altLang="zh-CN" dirty="0">
              <a:latin typeface="宋体" panose="02010600030101010101" pitchFamily="2" charset="-122"/>
              <a:ea typeface="宋体" panose="02010600030101010101" pitchFamily="2" charset="-122"/>
            </a:endParaRPr>
          </a:p>
          <a:p>
            <a:pPr lvl="1">
              <a:buClr>
                <a:srgbClr val="FF0000"/>
              </a:buClr>
              <a:buSzPct val="60000"/>
              <a:buFont typeface="Wingdings" panose="05000000000000000000" pitchFamily="2" charset="2"/>
              <a:buChar char="n"/>
            </a:pPr>
            <a:r>
              <a:rPr lang="zh-CN" altLang="en-US" sz="2000" dirty="0">
                <a:latin typeface="宋体" panose="02010600030101010101" pitchFamily="2" charset="-122"/>
                <a:ea typeface="宋体" panose="02010600030101010101" pitchFamily="2" charset="-122"/>
              </a:rPr>
              <a:t>现代密码学</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杨波</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清华大学出版社</a:t>
            </a:r>
            <a:endParaRPr lang="en-CA" altLang="zh-CN" sz="2000" dirty="0">
              <a:latin typeface="宋体" panose="02010600030101010101" pitchFamily="2" charset="-122"/>
              <a:ea typeface="宋体" panose="02010600030101010101" pitchFamily="2" charset="-122"/>
            </a:endParaRPr>
          </a:p>
          <a:p>
            <a:pPr lvl="1" latinLnBrk="1">
              <a:buClr>
                <a:srgbClr val="FF0000"/>
              </a:buClr>
              <a:buSzPct val="60000"/>
              <a:buFont typeface="Wingdings" panose="05000000000000000000" pitchFamily="2" charset="2"/>
              <a:buChar char="n"/>
            </a:pPr>
            <a:r>
              <a:rPr lang="en-CA" altLang="zh-CN" sz="2000" dirty="0">
                <a:latin typeface="宋体" panose="02010600030101010101" pitchFamily="2" charset="-122"/>
                <a:ea typeface="宋体" panose="02010600030101010101" pitchFamily="2" charset="-122"/>
              </a:rPr>
              <a:t>Introduction to Modern Cryptography, Jonathan Katz and </a:t>
            </a:r>
            <a:r>
              <a:rPr lang="en-CA" altLang="zh-CN" sz="2000" dirty="0" err="1">
                <a:latin typeface="宋体" panose="02010600030101010101" pitchFamily="2" charset="-122"/>
                <a:ea typeface="宋体" panose="02010600030101010101" pitchFamily="2" charset="-122"/>
              </a:rPr>
              <a:t>Yehudan</a:t>
            </a:r>
            <a:r>
              <a:rPr lang="en-CA" altLang="zh-CN" sz="2000">
                <a:latin typeface="宋体" panose="02010600030101010101" pitchFamily="2" charset="-122"/>
                <a:ea typeface="宋体" panose="02010600030101010101" pitchFamily="2" charset="-122"/>
              </a:rPr>
              <a:t> Lindell</a:t>
            </a:r>
            <a:endParaRPr lang="en-CA" altLang="zh-CN" sz="2000" dirty="0">
              <a:latin typeface="宋体" panose="02010600030101010101" pitchFamily="2" charset="-122"/>
              <a:ea typeface="宋体" panose="02010600030101010101" pitchFamily="2" charset="-122"/>
            </a:endParaRPr>
          </a:p>
          <a:p>
            <a:pPr marL="0" indent="0">
              <a:buClr>
                <a:schemeClr val="accent1"/>
              </a:buClr>
              <a:buSzPct val="60000"/>
              <a:buNone/>
            </a:pP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339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1000"/>
                                        <p:tgtEl>
                                          <p:spTgt spid="42">
                                            <p:txEl>
                                              <p:pRg st="0" end="0"/>
                                            </p:txEl>
                                          </p:spTgt>
                                        </p:tgtEl>
                                      </p:cBhvr>
                                    </p:animEffect>
                                    <p:anim calcmode="lin" valueType="num">
                                      <p:cBhvr>
                                        <p:cTn id="8"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2">
                                            <p:txEl>
                                              <p:pRg st="1" end="1"/>
                                            </p:txEl>
                                          </p:spTgt>
                                        </p:tgtEl>
                                        <p:attrNameLst>
                                          <p:attrName>style.visibility</p:attrName>
                                        </p:attrNameLst>
                                      </p:cBhvr>
                                      <p:to>
                                        <p:strVal val="visible"/>
                                      </p:to>
                                    </p:set>
                                    <p:animEffect transition="in" filter="fade">
                                      <p:cBhvr>
                                        <p:cTn id="12" dur="1000"/>
                                        <p:tgtEl>
                                          <p:spTgt spid="42">
                                            <p:txEl>
                                              <p:pRg st="1" end="1"/>
                                            </p:txEl>
                                          </p:spTgt>
                                        </p:tgtEl>
                                      </p:cBhvr>
                                    </p:animEffect>
                                    <p:anim calcmode="lin" valueType="num">
                                      <p:cBhvr>
                                        <p:cTn id="13" dur="1000" fill="hold"/>
                                        <p:tgtEl>
                                          <p:spTgt spid="4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2">
                                            <p:txEl>
                                              <p:pRg st="2" end="2"/>
                                            </p:txEl>
                                          </p:spTgt>
                                        </p:tgtEl>
                                        <p:attrNameLst>
                                          <p:attrName>style.visibility</p:attrName>
                                        </p:attrNameLst>
                                      </p:cBhvr>
                                      <p:to>
                                        <p:strVal val="visible"/>
                                      </p:to>
                                    </p:set>
                                    <p:animEffect transition="in" filter="fade">
                                      <p:cBhvr>
                                        <p:cTn id="17" dur="1000"/>
                                        <p:tgtEl>
                                          <p:spTgt spid="42">
                                            <p:txEl>
                                              <p:pRg st="2" end="2"/>
                                            </p:txEl>
                                          </p:spTgt>
                                        </p:tgtEl>
                                      </p:cBhvr>
                                    </p:animEffect>
                                    <p:anim calcmode="lin" valueType="num">
                                      <p:cBhvr>
                                        <p:cTn id="18" dur="1000" fill="hold"/>
                                        <p:tgtEl>
                                          <p:spTgt spid="4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2">
                                            <p:txEl>
                                              <p:pRg st="3" end="3"/>
                                            </p:txEl>
                                          </p:spTgt>
                                        </p:tgtEl>
                                        <p:attrNameLst>
                                          <p:attrName>style.visibility</p:attrName>
                                        </p:attrNameLst>
                                      </p:cBhvr>
                                      <p:to>
                                        <p:strVal val="visible"/>
                                      </p:to>
                                    </p:set>
                                    <p:animEffect transition="in" filter="fade">
                                      <p:cBhvr>
                                        <p:cTn id="22" dur="1000"/>
                                        <p:tgtEl>
                                          <p:spTgt spid="42">
                                            <p:txEl>
                                              <p:pRg st="3" end="3"/>
                                            </p:txEl>
                                          </p:spTgt>
                                        </p:tgtEl>
                                      </p:cBhvr>
                                    </p:animEffect>
                                    <p:anim calcmode="lin" valueType="num">
                                      <p:cBhvr>
                                        <p:cTn id="23" dur="1000" fill="hold"/>
                                        <p:tgtEl>
                                          <p:spTgt spid="4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2">
                                            <p:txEl>
                                              <p:pRg st="4" end="4"/>
                                            </p:txEl>
                                          </p:spTgt>
                                        </p:tgtEl>
                                        <p:attrNameLst>
                                          <p:attrName>style.visibility</p:attrName>
                                        </p:attrNameLst>
                                      </p:cBhvr>
                                      <p:to>
                                        <p:strVal val="visible"/>
                                      </p:to>
                                    </p:set>
                                    <p:animEffect transition="in" filter="fade">
                                      <p:cBhvr>
                                        <p:cTn id="27" dur="1000"/>
                                        <p:tgtEl>
                                          <p:spTgt spid="42">
                                            <p:txEl>
                                              <p:pRg st="4" end="4"/>
                                            </p:txEl>
                                          </p:spTgt>
                                        </p:tgtEl>
                                      </p:cBhvr>
                                    </p:animEffect>
                                    <p:anim calcmode="lin" valueType="num">
                                      <p:cBhvr>
                                        <p:cTn id="28" dur="1000" fill="hold"/>
                                        <p:tgtEl>
                                          <p:spTgt spid="4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2">
                                            <p:txEl>
                                              <p:pRg st="5" end="5"/>
                                            </p:txEl>
                                          </p:spTgt>
                                        </p:tgtEl>
                                        <p:attrNameLst>
                                          <p:attrName>style.visibility</p:attrName>
                                        </p:attrNameLst>
                                      </p:cBhvr>
                                      <p:to>
                                        <p:strVal val="visible"/>
                                      </p:to>
                                    </p:set>
                                    <p:animEffect transition="in" filter="fade">
                                      <p:cBhvr>
                                        <p:cTn id="34" dur="1000"/>
                                        <p:tgtEl>
                                          <p:spTgt spid="42">
                                            <p:txEl>
                                              <p:pRg st="5" end="5"/>
                                            </p:txEl>
                                          </p:spTgt>
                                        </p:tgtEl>
                                      </p:cBhvr>
                                    </p:animEffect>
                                    <p:anim calcmode="lin" valueType="num">
                                      <p:cBhvr>
                                        <p:cTn id="35" dur="1000" fill="hold"/>
                                        <p:tgtEl>
                                          <p:spTgt spid="42">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2">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2">
                                            <p:txEl>
                                              <p:pRg st="6" end="6"/>
                                            </p:txEl>
                                          </p:spTgt>
                                        </p:tgtEl>
                                        <p:attrNameLst>
                                          <p:attrName>style.visibility</p:attrName>
                                        </p:attrNameLst>
                                      </p:cBhvr>
                                      <p:to>
                                        <p:strVal val="visible"/>
                                      </p:to>
                                    </p:set>
                                    <p:animEffect transition="in" filter="fade">
                                      <p:cBhvr>
                                        <p:cTn id="39" dur="1000"/>
                                        <p:tgtEl>
                                          <p:spTgt spid="42">
                                            <p:txEl>
                                              <p:pRg st="6" end="6"/>
                                            </p:txEl>
                                          </p:spTgt>
                                        </p:tgtEl>
                                      </p:cBhvr>
                                    </p:animEffect>
                                    <p:anim calcmode="lin" valueType="num">
                                      <p:cBhvr>
                                        <p:cTn id="40" dur="1000" fill="hold"/>
                                        <p:tgtEl>
                                          <p:spTgt spid="42">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2">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2">
                                            <p:txEl>
                                              <p:pRg st="7" end="7"/>
                                            </p:txEl>
                                          </p:spTgt>
                                        </p:tgtEl>
                                        <p:attrNameLst>
                                          <p:attrName>style.visibility</p:attrName>
                                        </p:attrNameLst>
                                      </p:cBhvr>
                                      <p:to>
                                        <p:strVal val="visible"/>
                                      </p:to>
                                    </p:set>
                                    <p:animEffect transition="in" filter="fade">
                                      <p:cBhvr>
                                        <p:cTn id="44" dur="1000"/>
                                        <p:tgtEl>
                                          <p:spTgt spid="42">
                                            <p:txEl>
                                              <p:pRg st="7" end="7"/>
                                            </p:txEl>
                                          </p:spTgt>
                                        </p:tgtEl>
                                      </p:cBhvr>
                                    </p:animEffect>
                                    <p:anim calcmode="lin" valueType="num">
                                      <p:cBhvr>
                                        <p:cTn id="45" dur="1000" fill="hold"/>
                                        <p:tgtEl>
                                          <p:spTgt spid="42">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7" y="237517"/>
            <a:ext cx="1826141"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课程信息</a:t>
            </a:r>
          </a:p>
        </p:txBody>
      </p:sp>
      <p:cxnSp>
        <p:nvCxnSpPr>
          <p:cNvPr id="62" name="直接箭头连接符 61">
            <a:extLst>
              <a:ext uri="{FF2B5EF4-FFF2-40B4-BE49-F238E27FC236}">
                <a16:creationId xmlns:a16="http://schemas.microsoft.com/office/drawing/2014/main" id="{A47AECCF-C207-4015-AA6E-F162F8CA8C86}"/>
              </a:ext>
            </a:extLst>
          </p:cNvPr>
          <p:cNvCxnSpPr>
            <a:cxnSpLocks/>
          </p:cNvCxnSpPr>
          <p:nvPr/>
        </p:nvCxnSpPr>
        <p:spPr>
          <a:xfrm flipV="1">
            <a:off x="505335" y="3375441"/>
            <a:ext cx="11249527" cy="11883"/>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37A83224-0838-46D5-A787-454FB65AB198}"/>
              </a:ext>
            </a:extLst>
          </p:cNvPr>
          <p:cNvSpPr/>
          <p:nvPr/>
        </p:nvSpPr>
        <p:spPr>
          <a:xfrm>
            <a:off x="669276" y="3186024"/>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1</a:t>
            </a:r>
          </a:p>
        </p:txBody>
      </p:sp>
      <p:sp>
        <p:nvSpPr>
          <p:cNvPr id="64" name="椭圆 63">
            <a:extLst>
              <a:ext uri="{FF2B5EF4-FFF2-40B4-BE49-F238E27FC236}">
                <a16:creationId xmlns:a16="http://schemas.microsoft.com/office/drawing/2014/main" id="{B08BFF2D-A41F-44B7-BC46-DC94F46CD622}"/>
              </a:ext>
            </a:extLst>
          </p:cNvPr>
          <p:cNvSpPr/>
          <p:nvPr/>
        </p:nvSpPr>
        <p:spPr>
          <a:xfrm>
            <a:off x="1884248" y="3186024"/>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2</a:t>
            </a:r>
          </a:p>
        </p:txBody>
      </p:sp>
      <p:sp>
        <p:nvSpPr>
          <p:cNvPr id="65" name="椭圆 64">
            <a:extLst>
              <a:ext uri="{FF2B5EF4-FFF2-40B4-BE49-F238E27FC236}">
                <a16:creationId xmlns:a16="http://schemas.microsoft.com/office/drawing/2014/main" id="{F5D873B2-CFF5-4715-912C-F8EE3A82920D}"/>
              </a:ext>
            </a:extLst>
          </p:cNvPr>
          <p:cNvSpPr/>
          <p:nvPr/>
        </p:nvSpPr>
        <p:spPr>
          <a:xfrm>
            <a:off x="3056268" y="3186020"/>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3</a:t>
            </a:r>
          </a:p>
        </p:txBody>
      </p:sp>
      <p:sp>
        <p:nvSpPr>
          <p:cNvPr id="66" name="椭圆 65">
            <a:extLst>
              <a:ext uri="{FF2B5EF4-FFF2-40B4-BE49-F238E27FC236}">
                <a16:creationId xmlns:a16="http://schemas.microsoft.com/office/drawing/2014/main" id="{78E6A7CF-7FC8-4A3E-ACC9-557899C19CFD}"/>
              </a:ext>
            </a:extLst>
          </p:cNvPr>
          <p:cNvSpPr/>
          <p:nvPr/>
        </p:nvSpPr>
        <p:spPr>
          <a:xfrm>
            <a:off x="4326616" y="3186208"/>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4</a:t>
            </a:r>
          </a:p>
        </p:txBody>
      </p:sp>
      <p:sp>
        <p:nvSpPr>
          <p:cNvPr id="84" name="文本框 83">
            <a:extLst>
              <a:ext uri="{FF2B5EF4-FFF2-40B4-BE49-F238E27FC236}">
                <a16:creationId xmlns:a16="http://schemas.microsoft.com/office/drawing/2014/main" id="{EE54D6A5-34BB-4A05-AE99-5C641BF3A18A}"/>
              </a:ext>
            </a:extLst>
          </p:cNvPr>
          <p:cNvSpPr txBox="1"/>
          <p:nvPr/>
        </p:nvSpPr>
        <p:spPr>
          <a:xfrm>
            <a:off x="-27775" y="2774479"/>
            <a:ext cx="1772193"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密码学基础</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85" name="文本框 84">
            <a:extLst>
              <a:ext uri="{FF2B5EF4-FFF2-40B4-BE49-F238E27FC236}">
                <a16:creationId xmlns:a16="http://schemas.microsoft.com/office/drawing/2014/main" id="{046339C0-D9E3-4E7D-835B-CFEB75984662}"/>
              </a:ext>
            </a:extLst>
          </p:cNvPr>
          <p:cNvSpPr txBox="1"/>
          <p:nvPr/>
        </p:nvSpPr>
        <p:spPr>
          <a:xfrm>
            <a:off x="2277577" y="2430436"/>
            <a:ext cx="1913051" cy="786626"/>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Hash</a:t>
            </a: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函数与消息认证码</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86" name="文本框 85">
            <a:extLst>
              <a:ext uri="{FF2B5EF4-FFF2-40B4-BE49-F238E27FC236}">
                <a16:creationId xmlns:a16="http://schemas.microsoft.com/office/drawing/2014/main" id="{BA70DA75-19DD-47FC-BCF6-CFC956C481AC}"/>
              </a:ext>
            </a:extLst>
          </p:cNvPr>
          <p:cNvSpPr txBox="1"/>
          <p:nvPr/>
        </p:nvSpPr>
        <p:spPr>
          <a:xfrm>
            <a:off x="1363313" y="3612420"/>
            <a:ext cx="1432387"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对称密码</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87" name="文本框 86">
            <a:extLst>
              <a:ext uri="{FF2B5EF4-FFF2-40B4-BE49-F238E27FC236}">
                <a16:creationId xmlns:a16="http://schemas.microsoft.com/office/drawing/2014/main" id="{697CCB11-AFD5-4EF8-82C7-0A1F92EB85AB}"/>
              </a:ext>
            </a:extLst>
          </p:cNvPr>
          <p:cNvSpPr txBox="1"/>
          <p:nvPr/>
        </p:nvSpPr>
        <p:spPr>
          <a:xfrm>
            <a:off x="3805677" y="3612420"/>
            <a:ext cx="1432387"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公钥密码</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35" name="椭圆 34">
            <a:extLst>
              <a:ext uri="{FF2B5EF4-FFF2-40B4-BE49-F238E27FC236}">
                <a16:creationId xmlns:a16="http://schemas.microsoft.com/office/drawing/2014/main" id="{40A28E09-D126-7546-FB4D-F4F5168677A8}"/>
              </a:ext>
            </a:extLst>
          </p:cNvPr>
          <p:cNvSpPr/>
          <p:nvPr/>
        </p:nvSpPr>
        <p:spPr>
          <a:xfrm>
            <a:off x="5473896" y="3186020"/>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5</a:t>
            </a:r>
          </a:p>
        </p:txBody>
      </p:sp>
      <p:sp>
        <p:nvSpPr>
          <p:cNvPr id="36" name="文本框 35">
            <a:extLst>
              <a:ext uri="{FF2B5EF4-FFF2-40B4-BE49-F238E27FC236}">
                <a16:creationId xmlns:a16="http://schemas.microsoft.com/office/drawing/2014/main" id="{4C99A06A-DA7B-3519-E57A-94B34105E54A}"/>
              </a:ext>
            </a:extLst>
          </p:cNvPr>
          <p:cNvSpPr txBox="1"/>
          <p:nvPr/>
        </p:nvSpPr>
        <p:spPr>
          <a:xfrm>
            <a:off x="4952961" y="2677452"/>
            <a:ext cx="1432387"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数字签名</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37" name="椭圆 36">
            <a:extLst>
              <a:ext uri="{FF2B5EF4-FFF2-40B4-BE49-F238E27FC236}">
                <a16:creationId xmlns:a16="http://schemas.microsoft.com/office/drawing/2014/main" id="{DF0365C4-353D-5364-6302-3FE957EB7D72}"/>
              </a:ext>
            </a:extLst>
          </p:cNvPr>
          <p:cNvSpPr/>
          <p:nvPr/>
        </p:nvSpPr>
        <p:spPr>
          <a:xfrm>
            <a:off x="6621180" y="3186020"/>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6</a:t>
            </a:r>
          </a:p>
        </p:txBody>
      </p:sp>
      <p:sp>
        <p:nvSpPr>
          <p:cNvPr id="38" name="文本框 37">
            <a:extLst>
              <a:ext uri="{FF2B5EF4-FFF2-40B4-BE49-F238E27FC236}">
                <a16:creationId xmlns:a16="http://schemas.microsoft.com/office/drawing/2014/main" id="{870777D6-1A69-5F6E-D985-8A838176C878}"/>
              </a:ext>
            </a:extLst>
          </p:cNvPr>
          <p:cNvSpPr txBox="1"/>
          <p:nvPr/>
        </p:nvSpPr>
        <p:spPr>
          <a:xfrm>
            <a:off x="6100241" y="3596560"/>
            <a:ext cx="1432387"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密钥管理</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39" name="椭圆 38">
            <a:extLst>
              <a:ext uri="{FF2B5EF4-FFF2-40B4-BE49-F238E27FC236}">
                <a16:creationId xmlns:a16="http://schemas.microsoft.com/office/drawing/2014/main" id="{57618AB4-81AB-D59C-E42D-8E0F8FEB2B94}"/>
              </a:ext>
            </a:extLst>
          </p:cNvPr>
          <p:cNvSpPr/>
          <p:nvPr/>
        </p:nvSpPr>
        <p:spPr>
          <a:xfrm>
            <a:off x="7893856" y="3186020"/>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7</a:t>
            </a:r>
          </a:p>
        </p:txBody>
      </p:sp>
      <p:sp>
        <p:nvSpPr>
          <p:cNvPr id="40" name="文本框 39">
            <a:extLst>
              <a:ext uri="{FF2B5EF4-FFF2-40B4-BE49-F238E27FC236}">
                <a16:creationId xmlns:a16="http://schemas.microsoft.com/office/drawing/2014/main" id="{5BADAFD9-BD5A-AE8C-8367-A787F92A9CF3}"/>
              </a:ext>
            </a:extLst>
          </p:cNvPr>
          <p:cNvSpPr txBox="1"/>
          <p:nvPr/>
        </p:nvSpPr>
        <p:spPr>
          <a:xfrm>
            <a:off x="7372921" y="2661412"/>
            <a:ext cx="1432387"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身份认证</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41" name="椭圆 40">
            <a:extLst>
              <a:ext uri="{FF2B5EF4-FFF2-40B4-BE49-F238E27FC236}">
                <a16:creationId xmlns:a16="http://schemas.microsoft.com/office/drawing/2014/main" id="{DE9B38C0-227C-20CB-2142-F5E175AC6B61}"/>
              </a:ext>
            </a:extLst>
          </p:cNvPr>
          <p:cNvSpPr/>
          <p:nvPr/>
        </p:nvSpPr>
        <p:spPr>
          <a:xfrm>
            <a:off x="9154292" y="3180184"/>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8</a:t>
            </a:r>
          </a:p>
        </p:txBody>
      </p:sp>
      <p:sp>
        <p:nvSpPr>
          <p:cNvPr id="42" name="文本框 41">
            <a:extLst>
              <a:ext uri="{FF2B5EF4-FFF2-40B4-BE49-F238E27FC236}">
                <a16:creationId xmlns:a16="http://schemas.microsoft.com/office/drawing/2014/main" id="{6B4E4DEA-77CE-80B8-E332-5AEB84AAADB6}"/>
              </a:ext>
            </a:extLst>
          </p:cNvPr>
          <p:cNvSpPr txBox="1"/>
          <p:nvPr/>
        </p:nvSpPr>
        <p:spPr>
          <a:xfrm>
            <a:off x="8641233" y="3596560"/>
            <a:ext cx="1432387" cy="786626"/>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公钥基础设施</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
        <p:nvSpPr>
          <p:cNvPr id="43" name="椭圆 42">
            <a:extLst>
              <a:ext uri="{FF2B5EF4-FFF2-40B4-BE49-F238E27FC236}">
                <a16:creationId xmlns:a16="http://schemas.microsoft.com/office/drawing/2014/main" id="{2EA2B577-888C-92E8-C313-5A64ABB20B38}"/>
              </a:ext>
            </a:extLst>
          </p:cNvPr>
          <p:cNvSpPr/>
          <p:nvPr/>
        </p:nvSpPr>
        <p:spPr>
          <a:xfrm>
            <a:off x="10429076" y="3180184"/>
            <a:ext cx="390517" cy="390517"/>
          </a:xfrm>
          <a:prstGeom prst="ellipse">
            <a:avLst/>
          </a:prstGeom>
          <a:solidFill>
            <a:srgbClr val="4454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95000"/>
                  </a:schemeClr>
                </a:solidFill>
                <a:cs typeface="+mn-ea"/>
                <a:sym typeface="+mn-lt"/>
              </a:rPr>
              <a:t>9</a:t>
            </a:r>
          </a:p>
        </p:txBody>
      </p:sp>
      <p:sp>
        <p:nvSpPr>
          <p:cNvPr id="44" name="文本框 43">
            <a:extLst>
              <a:ext uri="{FF2B5EF4-FFF2-40B4-BE49-F238E27FC236}">
                <a16:creationId xmlns:a16="http://schemas.microsoft.com/office/drawing/2014/main" id="{C9F42C3F-330F-814B-649D-9F341D7612F1}"/>
              </a:ext>
            </a:extLst>
          </p:cNvPr>
          <p:cNvSpPr txBox="1"/>
          <p:nvPr/>
        </p:nvSpPr>
        <p:spPr>
          <a:xfrm>
            <a:off x="9612511" y="2636096"/>
            <a:ext cx="2023660" cy="439479"/>
          </a:xfrm>
          <a:prstGeom prst="rect">
            <a:avLst/>
          </a:prstGeom>
          <a:noFill/>
        </p:spPr>
        <p:txBody>
          <a:bodyPr wrap="square" rtlCol="0">
            <a:spAutoFit/>
            <a:scene3d>
              <a:camera prst="orthographicFront"/>
              <a:lightRig rig="threePt" dir="t"/>
            </a:scene3d>
            <a:sp3d contourW="12700"/>
          </a:bodyPr>
          <a:lstStyle/>
          <a:p>
            <a:pPr algn="ctr">
              <a:lnSpc>
                <a:spcPct val="94000"/>
              </a:lnSpc>
              <a:defRPr/>
            </a:pPr>
            <a:r>
              <a:rPr lang="zh-CN" altLang="en-US"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rPr>
              <a:t>密码技术应用</a:t>
            </a:r>
            <a:endParaRPr lang="en-US" altLang="zh-CN" sz="2400" b="1" dirty="0">
              <a:solidFill>
                <a:schemeClr val="tx1">
                  <a:lumMod val="75000"/>
                  <a:lumOff val="25000"/>
                </a:schemeClr>
              </a:solidFill>
              <a:latin typeface="宋体" panose="02010600030101010101" pitchFamily="2" charset="-122"/>
              <a:ea typeface="宋体" panose="02010600030101010101" pitchFamily="2" charset="-122"/>
              <a:cs typeface="+mn-ea"/>
              <a:sym typeface="+mn-lt"/>
            </a:endParaRPr>
          </a:p>
        </p:txBody>
      </p:sp>
    </p:spTree>
    <p:extLst>
      <p:ext uri="{BB962C8B-B14F-4D97-AF65-F5344CB8AC3E}">
        <p14:creationId xmlns:p14="http://schemas.microsoft.com/office/powerpoint/2010/main" val="72065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fltVal val="0"/>
                                          </p:val>
                                        </p:tav>
                                        <p:tav tm="100000">
                                          <p:val>
                                            <p:strVal val="#ppt_w"/>
                                          </p:val>
                                        </p:tav>
                                      </p:tavLst>
                                    </p:anim>
                                    <p:anim calcmode="lin" valueType="num">
                                      <p:cBhvr>
                                        <p:cTn id="8" dur="500" fill="hold"/>
                                        <p:tgtEl>
                                          <p:spTgt spid="62"/>
                                        </p:tgtEl>
                                        <p:attrNameLst>
                                          <p:attrName>ppt_h</p:attrName>
                                        </p:attrNameLst>
                                      </p:cBhvr>
                                      <p:tavLst>
                                        <p:tav tm="0">
                                          <p:val>
                                            <p:fltVal val="0"/>
                                          </p:val>
                                        </p:tav>
                                        <p:tav tm="100000">
                                          <p:val>
                                            <p:strVal val="#ppt_h"/>
                                          </p:val>
                                        </p:tav>
                                      </p:tavLst>
                                    </p:anim>
                                    <p:animEffect transition="in" filter="fade">
                                      <p:cBhvr>
                                        <p:cTn id="9" dur="500"/>
                                        <p:tgtEl>
                                          <p:spTgt spid="6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p:cTn id="12" dur="500" fill="hold"/>
                                        <p:tgtEl>
                                          <p:spTgt spid="63"/>
                                        </p:tgtEl>
                                        <p:attrNameLst>
                                          <p:attrName>ppt_w</p:attrName>
                                        </p:attrNameLst>
                                      </p:cBhvr>
                                      <p:tavLst>
                                        <p:tav tm="0">
                                          <p:val>
                                            <p:fltVal val="0"/>
                                          </p:val>
                                        </p:tav>
                                        <p:tav tm="100000">
                                          <p:val>
                                            <p:strVal val="#ppt_w"/>
                                          </p:val>
                                        </p:tav>
                                      </p:tavLst>
                                    </p:anim>
                                    <p:anim calcmode="lin" valueType="num">
                                      <p:cBhvr>
                                        <p:cTn id="13" dur="500" fill="hold"/>
                                        <p:tgtEl>
                                          <p:spTgt spid="63"/>
                                        </p:tgtEl>
                                        <p:attrNameLst>
                                          <p:attrName>ppt_h</p:attrName>
                                        </p:attrNameLst>
                                      </p:cBhvr>
                                      <p:tavLst>
                                        <p:tav tm="0">
                                          <p:val>
                                            <p:fltVal val="0"/>
                                          </p:val>
                                        </p:tav>
                                        <p:tav tm="100000">
                                          <p:val>
                                            <p:strVal val="#ppt_h"/>
                                          </p:val>
                                        </p:tav>
                                      </p:tavLst>
                                    </p:anim>
                                    <p:animEffect transition="in" filter="fade">
                                      <p:cBhvr>
                                        <p:cTn id="14" dur="500"/>
                                        <p:tgtEl>
                                          <p:spTgt spid="6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anim calcmode="lin" valueType="num">
                                      <p:cBhvr>
                                        <p:cTn id="17" dur="500" fill="hold"/>
                                        <p:tgtEl>
                                          <p:spTgt spid="64"/>
                                        </p:tgtEl>
                                        <p:attrNameLst>
                                          <p:attrName>ppt_w</p:attrName>
                                        </p:attrNameLst>
                                      </p:cBhvr>
                                      <p:tavLst>
                                        <p:tav tm="0">
                                          <p:val>
                                            <p:fltVal val="0"/>
                                          </p:val>
                                        </p:tav>
                                        <p:tav tm="100000">
                                          <p:val>
                                            <p:strVal val="#ppt_w"/>
                                          </p:val>
                                        </p:tav>
                                      </p:tavLst>
                                    </p:anim>
                                    <p:anim calcmode="lin" valueType="num">
                                      <p:cBhvr>
                                        <p:cTn id="18" dur="500" fill="hold"/>
                                        <p:tgtEl>
                                          <p:spTgt spid="64"/>
                                        </p:tgtEl>
                                        <p:attrNameLst>
                                          <p:attrName>ppt_h</p:attrName>
                                        </p:attrNameLst>
                                      </p:cBhvr>
                                      <p:tavLst>
                                        <p:tav tm="0">
                                          <p:val>
                                            <p:fltVal val="0"/>
                                          </p:val>
                                        </p:tav>
                                        <p:tav tm="100000">
                                          <p:val>
                                            <p:strVal val="#ppt_h"/>
                                          </p:val>
                                        </p:tav>
                                      </p:tavLst>
                                    </p:anim>
                                    <p:animEffect transition="in" filter="fade">
                                      <p:cBhvr>
                                        <p:cTn id="19" dur="500"/>
                                        <p:tgtEl>
                                          <p:spTgt spid="6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p:cTn id="22" dur="500" fill="hold"/>
                                        <p:tgtEl>
                                          <p:spTgt spid="65"/>
                                        </p:tgtEl>
                                        <p:attrNameLst>
                                          <p:attrName>ppt_w</p:attrName>
                                        </p:attrNameLst>
                                      </p:cBhvr>
                                      <p:tavLst>
                                        <p:tav tm="0">
                                          <p:val>
                                            <p:fltVal val="0"/>
                                          </p:val>
                                        </p:tav>
                                        <p:tav tm="100000">
                                          <p:val>
                                            <p:strVal val="#ppt_w"/>
                                          </p:val>
                                        </p:tav>
                                      </p:tavLst>
                                    </p:anim>
                                    <p:anim calcmode="lin" valueType="num">
                                      <p:cBhvr>
                                        <p:cTn id="23" dur="500" fill="hold"/>
                                        <p:tgtEl>
                                          <p:spTgt spid="65"/>
                                        </p:tgtEl>
                                        <p:attrNameLst>
                                          <p:attrName>ppt_h</p:attrName>
                                        </p:attrNameLst>
                                      </p:cBhvr>
                                      <p:tavLst>
                                        <p:tav tm="0">
                                          <p:val>
                                            <p:fltVal val="0"/>
                                          </p:val>
                                        </p:tav>
                                        <p:tav tm="100000">
                                          <p:val>
                                            <p:strVal val="#ppt_h"/>
                                          </p:val>
                                        </p:tav>
                                      </p:tavLst>
                                    </p:anim>
                                    <p:animEffect transition="in" filter="fade">
                                      <p:cBhvr>
                                        <p:cTn id="24" dur="500"/>
                                        <p:tgtEl>
                                          <p:spTgt spid="6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anim calcmode="lin" valueType="num">
                                      <p:cBhvr>
                                        <p:cTn id="27" dur="500" fill="hold"/>
                                        <p:tgtEl>
                                          <p:spTgt spid="66"/>
                                        </p:tgtEl>
                                        <p:attrNameLst>
                                          <p:attrName>ppt_w</p:attrName>
                                        </p:attrNameLst>
                                      </p:cBhvr>
                                      <p:tavLst>
                                        <p:tav tm="0">
                                          <p:val>
                                            <p:fltVal val="0"/>
                                          </p:val>
                                        </p:tav>
                                        <p:tav tm="100000">
                                          <p:val>
                                            <p:strVal val="#ppt_w"/>
                                          </p:val>
                                        </p:tav>
                                      </p:tavLst>
                                    </p:anim>
                                    <p:anim calcmode="lin" valueType="num">
                                      <p:cBhvr>
                                        <p:cTn id="28" dur="500" fill="hold"/>
                                        <p:tgtEl>
                                          <p:spTgt spid="66"/>
                                        </p:tgtEl>
                                        <p:attrNameLst>
                                          <p:attrName>ppt_h</p:attrName>
                                        </p:attrNameLst>
                                      </p:cBhvr>
                                      <p:tavLst>
                                        <p:tav tm="0">
                                          <p:val>
                                            <p:fltVal val="0"/>
                                          </p:val>
                                        </p:tav>
                                        <p:tav tm="100000">
                                          <p:val>
                                            <p:strVal val="#ppt_h"/>
                                          </p:val>
                                        </p:tav>
                                      </p:tavLst>
                                    </p:anim>
                                    <p:animEffect transition="in" filter="fade">
                                      <p:cBhvr>
                                        <p:cTn id="29" dur="500"/>
                                        <p:tgtEl>
                                          <p:spTgt spid="6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4"/>
                                        </p:tgtEl>
                                        <p:attrNameLst>
                                          <p:attrName>style.visibility</p:attrName>
                                        </p:attrNameLst>
                                      </p:cBhvr>
                                      <p:to>
                                        <p:strVal val="visible"/>
                                      </p:to>
                                    </p:set>
                                    <p:anim calcmode="lin" valueType="num">
                                      <p:cBhvr>
                                        <p:cTn id="32" dur="500" fill="hold"/>
                                        <p:tgtEl>
                                          <p:spTgt spid="84"/>
                                        </p:tgtEl>
                                        <p:attrNameLst>
                                          <p:attrName>ppt_w</p:attrName>
                                        </p:attrNameLst>
                                      </p:cBhvr>
                                      <p:tavLst>
                                        <p:tav tm="0">
                                          <p:val>
                                            <p:fltVal val="0"/>
                                          </p:val>
                                        </p:tav>
                                        <p:tav tm="100000">
                                          <p:val>
                                            <p:strVal val="#ppt_w"/>
                                          </p:val>
                                        </p:tav>
                                      </p:tavLst>
                                    </p:anim>
                                    <p:anim calcmode="lin" valueType="num">
                                      <p:cBhvr>
                                        <p:cTn id="33" dur="500" fill="hold"/>
                                        <p:tgtEl>
                                          <p:spTgt spid="84"/>
                                        </p:tgtEl>
                                        <p:attrNameLst>
                                          <p:attrName>ppt_h</p:attrName>
                                        </p:attrNameLst>
                                      </p:cBhvr>
                                      <p:tavLst>
                                        <p:tav tm="0">
                                          <p:val>
                                            <p:fltVal val="0"/>
                                          </p:val>
                                        </p:tav>
                                        <p:tav tm="100000">
                                          <p:val>
                                            <p:strVal val="#ppt_h"/>
                                          </p:val>
                                        </p:tav>
                                      </p:tavLst>
                                    </p:anim>
                                    <p:animEffect transition="in" filter="fade">
                                      <p:cBhvr>
                                        <p:cTn id="34" dur="500"/>
                                        <p:tgtEl>
                                          <p:spTgt spid="8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p:cTn id="37" dur="500" fill="hold"/>
                                        <p:tgtEl>
                                          <p:spTgt spid="85"/>
                                        </p:tgtEl>
                                        <p:attrNameLst>
                                          <p:attrName>ppt_w</p:attrName>
                                        </p:attrNameLst>
                                      </p:cBhvr>
                                      <p:tavLst>
                                        <p:tav tm="0">
                                          <p:val>
                                            <p:fltVal val="0"/>
                                          </p:val>
                                        </p:tav>
                                        <p:tav tm="100000">
                                          <p:val>
                                            <p:strVal val="#ppt_w"/>
                                          </p:val>
                                        </p:tav>
                                      </p:tavLst>
                                    </p:anim>
                                    <p:anim calcmode="lin" valueType="num">
                                      <p:cBhvr>
                                        <p:cTn id="38" dur="500" fill="hold"/>
                                        <p:tgtEl>
                                          <p:spTgt spid="85"/>
                                        </p:tgtEl>
                                        <p:attrNameLst>
                                          <p:attrName>ppt_h</p:attrName>
                                        </p:attrNameLst>
                                      </p:cBhvr>
                                      <p:tavLst>
                                        <p:tav tm="0">
                                          <p:val>
                                            <p:fltVal val="0"/>
                                          </p:val>
                                        </p:tav>
                                        <p:tav tm="100000">
                                          <p:val>
                                            <p:strVal val="#ppt_h"/>
                                          </p:val>
                                        </p:tav>
                                      </p:tavLst>
                                    </p:anim>
                                    <p:animEffect transition="in" filter="fade">
                                      <p:cBhvr>
                                        <p:cTn id="39" dur="500"/>
                                        <p:tgtEl>
                                          <p:spTgt spid="85"/>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6"/>
                                        </p:tgtEl>
                                        <p:attrNameLst>
                                          <p:attrName>style.visibility</p:attrName>
                                        </p:attrNameLst>
                                      </p:cBhvr>
                                      <p:to>
                                        <p:strVal val="visible"/>
                                      </p:to>
                                    </p:set>
                                    <p:anim calcmode="lin" valueType="num">
                                      <p:cBhvr>
                                        <p:cTn id="42" dur="500" fill="hold"/>
                                        <p:tgtEl>
                                          <p:spTgt spid="86"/>
                                        </p:tgtEl>
                                        <p:attrNameLst>
                                          <p:attrName>ppt_w</p:attrName>
                                        </p:attrNameLst>
                                      </p:cBhvr>
                                      <p:tavLst>
                                        <p:tav tm="0">
                                          <p:val>
                                            <p:fltVal val="0"/>
                                          </p:val>
                                        </p:tav>
                                        <p:tav tm="100000">
                                          <p:val>
                                            <p:strVal val="#ppt_w"/>
                                          </p:val>
                                        </p:tav>
                                      </p:tavLst>
                                    </p:anim>
                                    <p:anim calcmode="lin" valueType="num">
                                      <p:cBhvr>
                                        <p:cTn id="43" dur="500" fill="hold"/>
                                        <p:tgtEl>
                                          <p:spTgt spid="86"/>
                                        </p:tgtEl>
                                        <p:attrNameLst>
                                          <p:attrName>ppt_h</p:attrName>
                                        </p:attrNameLst>
                                      </p:cBhvr>
                                      <p:tavLst>
                                        <p:tav tm="0">
                                          <p:val>
                                            <p:fltVal val="0"/>
                                          </p:val>
                                        </p:tav>
                                        <p:tav tm="100000">
                                          <p:val>
                                            <p:strVal val="#ppt_h"/>
                                          </p:val>
                                        </p:tav>
                                      </p:tavLst>
                                    </p:anim>
                                    <p:animEffect transition="in" filter="fade">
                                      <p:cBhvr>
                                        <p:cTn id="44" dur="500"/>
                                        <p:tgtEl>
                                          <p:spTgt spid="8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anim calcmode="lin" valueType="num">
                                      <p:cBhvr>
                                        <p:cTn id="47" dur="500" fill="hold"/>
                                        <p:tgtEl>
                                          <p:spTgt spid="87"/>
                                        </p:tgtEl>
                                        <p:attrNameLst>
                                          <p:attrName>ppt_w</p:attrName>
                                        </p:attrNameLst>
                                      </p:cBhvr>
                                      <p:tavLst>
                                        <p:tav tm="0">
                                          <p:val>
                                            <p:fltVal val="0"/>
                                          </p:val>
                                        </p:tav>
                                        <p:tav tm="100000">
                                          <p:val>
                                            <p:strVal val="#ppt_w"/>
                                          </p:val>
                                        </p:tav>
                                      </p:tavLst>
                                    </p:anim>
                                    <p:anim calcmode="lin" valueType="num">
                                      <p:cBhvr>
                                        <p:cTn id="48" dur="500" fill="hold"/>
                                        <p:tgtEl>
                                          <p:spTgt spid="87"/>
                                        </p:tgtEl>
                                        <p:attrNameLst>
                                          <p:attrName>ppt_h</p:attrName>
                                        </p:attrNameLst>
                                      </p:cBhvr>
                                      <p:tavLst>
                                        <p:tav tm="0">
                                          <p:val>
                                            <p:fltVal val="0"/>
                                          </p:val>
                                        </p:tav>
                                        <p:tav tm="100000">
                                          <p:val>
                                            <p:strVal val="#ppt_h"/>
                                          </p:val>
                                        </p:tav>
                                      </p:tavLst>
                                    </p:anim>
                                    <p:animEffect transition="in" filter="fade">
                                      <p:cBhvr>
                                        <p:cTn id="49" dur="500"/>
                                        <p:tgtEl>
                                          <p:spTgt spid="87"/>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ppt_w</p:attrName>
                                        </p:attrNameLst>
                                      </p:cBhvr>
                                      <p:tavLst>
                                        <p:tav tm="0">
                                          <p:val>
                                            <p:fltVal val="0"/>
                                          </p:val>
                                        </p:tav>
                                        <p:tav tm="100000">
                                          <p:val>
                                            <p:strVal val="#ppt_w"/>
                                          </p:val>
                                        </p:tav>
                                      </p:tavLst>
                                    </p:anim>
                                    <p:anim calcmode="lin" valueType="num">
                                      <p:cBhvr>
                                        <p:cTn id="53" dur="500" fill="hold"/>
                                        <p:tgtEl>
                                          <p:spTgt spid="35"/>
                                        </p:tgtEl>
                                        <p:attrNameLst>
                                          <p:attrName>ppt_h</p:attrName>
                                        </p:attrNameLst>
                                      </p:cBhvr>
                                      <p:tavLst>
                                        <p:tav tm="0">
                                          <p:val>
                                            <p:fltVal val="0"/>
                                          </p:val>
                                        </p:tav>
                                        <p:tav tm="100000">
                                          <p:val>
                                            <p:strVal val="#ppt_h"/>
                                          </p:val>
                                        </p:tav>
                                      </p:tavLst>
                                    </p:anim>
                                    <p:animEffect transition="in" filter="fade">
                                      <p:cBhvr>
                                        <p:cTn id="54" dur="500"/>
                                        <p:tgtEl>
                                          <p:spTgt spid="3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 calcmode="lin" valueType="num">
                                      <p:cBhvr>
                                        <p:cTn id="57" dur="500" fill="hold"/>
                                        <p:tgtEl>
                                          <p:spTgt spid="36"/>
                                        </p:tgtEl>
                                        <p:attrNameLst>
                                          <p:attrName>ppt_w</p:attrName>
                                        </p:attrNameLst>
                                      </p:cBhvr>
                                      <p:tavLst>
                                        <p:tav tm="0">
                                          <p:val>
                                            <p:fltVal val="0"/>
                                          </p:val>
                                        </p:tav>
                                        <p:tav tm="100000">
                                          <p:val>
                                            <p:strVal val="#ppt_w"/>
                                          </p:val>
                                        </p:tav>
                                      </p:tavLst>
                                    </p:anim>
                                    <p:anim calcmode="lin" valueType="num">
                                      <p:cBhvr>
                                        <p:cTn id="58" dur="500" fill="hold"/>
                                        <p:tgtEl>
                                          <p:spTgt spid="36"/>
                                        </p:tgtEl>
                                        <p:attrNameLst>
                                          <p:attrName>ppt_h</p:attrName>
                                        </p:attrNameLst>
                                      </p:cBhvr>
                                      <p:tavLst>
                                        <p:tav tm="0">
                                          <p:val>
                                            <p:fltVal val="0"/>
                                          </p:val>
                                        </p:tav>
                                        <p:tav tm="100000">
                                          <p:val>
                                            <p:strVal val="#ppt_h"/>
                                          </p:val>
                                        </p:tav>
                                      </p:tavLst>
                                    </p:anim>
                                    <p:animEffect transition="in" filter="fade">
                                      <p:cBhvr>
                                        <p:cTn id="59" dur="500"/>
                                        <p:tgtEl>
                                          <p:spTgt spid="3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 calcmode="lin" valueType="num">
                                      <p:cBhvr>
                                        <p:cTn id="62" dur="500" fill="hold"/>
                                        <p:tgtEl>
                                          <p:spTgt spid="37"/>
                                        </p:tgtEl>
                                        <p:attrNameLst>
                                          <p:attrName>ppt_w</p:attrName>
                                        </p:attrNameLst>
                                      </p:cBhvr>
                                      <p:tavLst>
                                        <p:tav tm="0">
                                          <p:val>
                                            <p:fltVal val="0"/>
                                          </p:val>
                                        </p:tav>
                                        <p:tav tm="100000">
                                          <p:val>
                                            <p:strVal val="#ppt_w"/>
                                          </p:val>
                                        </p:tav>
                                      </p:tavLst>
                                    </p:anim>
                                    <p:anim calcmode="lin" valueType="num">
                                      <p:cBhvr>
                                        <p:cTn id="63" dur="500" fill="hold"/>
                                        <p:tgtEl>
                                          <p:spTgt spid="37"/>
                                        </p:tgtEl>
                                        <p:attrNameLst>
                                          <p:attrName>ppt_h</p:attrName>
                                        </p:attrNameLst>
                                      </p:cBhvr>
                                      <p:tavLst>
                                        <p:tav tm="0">
                                          <p:val>
                                            <p:fltVal val="0"/>
                                          </p:val>
                                        </p:tav>
                                        <p:tav tm="100000">
                                          <p:val>
                                            <p:strVal val="#ppt_h"/>
                                          </p:val>
                                        </p:tav>
                                      </p:tavLst>
                                    </p:anim>
                                    <p:animEffect transition="in" filter="fade">
                                      <p:cBhvr>
                                        <p:cTn id="64" dur="500"/>
                                        <p:tgtEl>
                                          <p:spTgt spid="3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p:cTn id="67" dur="500" fill="hold"/>
                                        <p:tgtEl>
                                          <p:spTgt spid="38"/>
                                        </p:tgtEl>
                                        <p:attrNameLst>
                                          <p:attrName>ppt_w</p:attrName>
                                        </p:attrNameLst>
                                      </p:cBhvr>
                                      <p:tavLst>
                                        <p:tav tm="0">
                                          <p:val>
                                            <p:fltVal val="0"/>
                                          </p:val>
                                        </p:tav>
                                        <p:tav tm="100000">
                                          <p:val>
                                            <p:strVal val="#ppt_w"/>
                                          </p:val>
                                        </p:tav>
                                      </p:tavLst>
                                    </p:anim>
                                    <p:anim calcmode="lin" valueType="num">
                                      <p:cBhvr>
                                        <p:cTn id="68" dur="500" fill="hold"/>
                                        <p:tgtEl>
                                          <p:spTgt spid="38"/>
                                        </p:tgtEl>
                                        <p:attrNameLst>
                                          <p:attrName>ppt_h</p:attrName>
                                        </p:attrNameLst>
                                      </p:cBhvr>
                                      <p:tavLst>
                                        <p:tav tm="0">
                                          <p:val>
                                            <p:fltVal val="0"/>
                                          </p:val>
                                        </p:tav>
                                        <p:tav tm="100000">
                                          <p:val>
                                            <p:strVal val="#ppt_h"/>
                                          </p:val>
                                        </p:tav>
                                      </p:tavLst>
                                    </p:anim>
                                    <p:animEffect transition="in" filter="fade">
                                      <p:cBhvr>
                                        <p:cTn id="69" dur="500"/>
                                        <p:tgtEl>
                                          <p:spTgt spid="3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 calcmode="lin" valueType="num">
                                      <p:cBhvr>
                                        <p:cTn id="72" dur="500" fill="hold"/>
                                        <p:tgtEl>
                                          <p:spTgt spid="39"/>
                                        </p:tgtEl>
                                        <p:attrNameLst>
                                          <p:attrName>ppt_w</p:attrName>
                                        </p:attrNameLst>
                                      </p:cBhvr>
                                      <p:tavLst>
                                        <p:tav tm="0">
                                          <p:val>
                                            <p:fltVal val="0"/>
                                          </p:val>
                                        </p:tav>
                                        <p:tav tm="100000">
                                          <p:val>
                                            <p:strVal val="#ppt_w"/>
                                          </p:val>
                                        </p:tav>
                                      </p:tavLst>
                                    </p:anim>
                                    <p:anim calcmode="lin" valueType="num">
                                      <p:cBhvr>
                                        <p:cTn id="73" dur="500" fill="hold"/>
                                        <p:tgtEl>
                                          <p:spTgt spid="39"/>
                                        </p:tgtEl>
                                        <p:attrNameLst>
                                          <p:attrName>ppt_h</p:attrName>
                                        </p:attrNameLst>
                                      </p:cBhvr>
                                      <p:tavLst>
                                        <p:tav tm="0">
                                          <p:val>
                                            <p:fltVal val="0"/>
                                          </p:val>
                                        </p:tav>
                                        <p:tav tm="100000">
                                          <p:val>
                                            <p:strVal val="#ppt_h"/>
                                          </p:val>
                                        </p:tav>
                                      </p:tavLst>
                                    </p:anim>
                                    <p:animEffect transition="in" filter="fade">
                                      <p:cBhvr>
                                        <p:cTn id="74" dur="500"/>
                                        <p:tgtEl>
                                          <p:spTgt spid="3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 calcmode="lin" valueType="num">
                                      <p:cBhvr>
                                        <p:cTn id="77" dur="500" fill="hold"/>
                                        <p:tgtEl>
                                          <p:spTgt spid="40"/>
                                        </p:tgtEl>
                                        <p:attrNameLst>
                                          <p:attrName>ppt_w</p:attrName>
                                        </p:attrNameLst>
                                      </p:cBhvr>
                                      <p:tavLst>
                                        <p:tav tm="0">
                                          <p:val>
                                            <p:fltVal val="0"/>
                                          </p:val>
                                        </p:tav>
                                        <p:tav tm="100000">
                                          <p:val>
                                            <p:strVal val="#ppt_w"/>
                                          </p:val>
                                        </p:tav>
                                      </p:tavLst>
                                    </p:anim>
                                    <p:anim calcmode="lin" valueType="num">
                                      <p:cBhvr>
                                        <p:cTn id="78" dur="500" fill="hold"/>
                                        <p:tgtEl>
                                          <p:spTgt spid="40"/>
                                        </p:tgtEl>
                                        <p:attrNameLst>
                                          <p:attrName>ppt_h</p:attrName>
                                        </p:attrNameLst>
                                      </p:cBhvr>
                                      <p:tavLst>
                                        <p:tav tm="0">
                                          <p:val>
                                            <p:fltVal val="0"/>
                                          </p:val>
                                        </p:tav>
                                        <p:tav tm="100000">
                                          <p:val>
                                            <p:strVal val="#ppt_h"/>
                                          </p:val>
                                        </p:tav>
                                      </p:tavLst>
                                    </p:anim>
                                    <p:animEffect transition="in" filter="fade">
                                      <p:cBhvr>
                                        <p:cTn id="79" dur="500"/>
                                        <p:tgtEl>
                                          <p:spTgt spid="40"/>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41"/>
                                        </p:tgtEl>
                                        <p:attrNameLst>
                                          <p:attrName>style.visibility</p:attrName>
                                        </p:attrNameLst>
                                      </p:cBhvr>
                                      <p:to>
                                        <p:strVal val="visible"/>
                                      </p:to>
                                    </p:set>
                                    <p:anim calcmode="lin" valueType="num">
                                      <p:cBhvr>
                                        <p:cTn id="82" dur="500" fill="hold"/>
                                        <p:tgtEl>
                                          <p:spTgt spid="41"/>
                                        </p:tgtEl>
                                        <p:attrNameLst>
                                          <p:attrName>ppt_w</p:attrName>
                                        </p:attrNameLst>
                                      </p:cBhvr>
                                      <p:tavLst>
                                        <p:tav tm="0">
                                          <p:val>
                                            <p:fltVal val="0"/>
                                          </p:val>
                                        </p:tav>
                                        <p:tav tm="100000">
                                          <p:val>
                                            <p:strVal val="#ppt_w"/>
                                          </p:val>
                                        </p:tav>
                                      </p:tavLst>
                                    </p:anim>
                                    <p:anim calcmode="lin" valueType="num">
                                      <p:cBhvr>
                                        <p:cTn id="83" dur="500" fill="hold"/>
                                        <p:tgtEl>
                                          <p:spTgt spid="41"/>
                                        </p:tgtEl>
                                        <p:attrNameLst>
                                          <p:attrName>ppt_h</p:attrName>
                                        </p:attrNameLst>
                                      </p:cBhvr>
                                      <p:tavLst>
                                        <p:tav tm="0">
                                          <p:val>
                                            <p:fltVal val="0"/>
                                          </p:val>
                                        </p:tav>
                                        <p:tav tm="100000">
                                          <p:val>
                                            <p:strVal val="#ppt_h"/>
                                          </p:val>
                                        </p:tav>
                                      </p:tavLst>
                                    </p:anim>
                                    <p:animEffect transition="in" filter="fade">
                                      <p:cBhvr>
                                        <p:cTn id="84" dur="500"/>
                                        <p:tgtEl>
                                          <p:spTgt spid="41"/>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 calcmode="lin" valueType="num">
                                      <p:cBhvr>
                                        <p:cTn id="87" dur="500" fill="hold"/>
                                        <p:tgtEl>
                                          <p:spTgt spid="42"/>
                                        </p:tgtEl>
                                        <p:attrNameLst>
                                          <p:attrName>ppt_w</p:attrName>
                                        </p:attrNameLst>
                                      </p:cBhvr>
                                      <p:tavLst>
                                        <p:tav tm="0">
                                          <p:val>
                                            <p:fltVal val="0"/>
                                          </p:val>
                                        </p:tav>
                                        <p:tav tm="100000">
                                          <p:val>
                                            <p:strVal val="#ppt_w"/>
                                          </p:val>
                                        </p:tav>
                                      </p:tavLst>
                                    </p:anim>
                                    <p:anim calcmode="lin" valueType="num">
                                      <p:cBhvr>
                                        <p:cTn id="88" dur="500" fill="hold"/>
                                        <p:tgtEl>
                                          <p:spTgt spid="42"/>
                                        </p:tgtEl>
                                        <p:attrNameLst>
                                          <p:attrName>ppt_h</p:attrName>
                                        </p:attrNameLst>
                                      </p:cBhvr>
                                      <p:tavLst>
                                        <p:tav tm="0">
                                          <p:val>
                                            <p:fltVal val="0"/>
                                          </p:val>
                                        </p:tav>
                                        <p:tav tm="100000">
                                          <p:val>
                                            <p:strVal val="#ppt_h"/>
                                          </p:val>
                                        </p:tav>
                                      </p:tavLst>
                                    </p:anim>
                                    <p:animEffect transition="in" filter="fade">
                                      <p:cBhvr>
                                        <p:cTn id="89" dur="500"/>
                                        <p:tgtEl>
                                          <p:spTgt spid="42"/>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 calcmode="lin" valueType="num">
                                      <p:cBhvr>
                                        <p:cTn id="92" dur="500" fill="hold"/>
                                        <p:tgtEl>
                                          <p:spTgt spid="43"/>
                                        </p:tgtEl>
                                        <p:attrNameLst>
                                          <p:attrName>ppt_w</p:attrName>
                                        </p:attrNameLst>
                                      </p:cBhvr>
                                      <p:tavLst>
                                        <p:tav tm="0">
                                          <p:val>
                                            <p:fltVal val="0"/>
                                          </p:val>
                                        </p:tav>
                                        <p:tav tm="100000">
                                          <p:val>
                                            <p:strVal val="#ppt_w"/>
                                          </p:val>
                                        </p:tav>
                                      </p:tavLst>
                                    </p:anim>
                                    <p:anim calcmode="lin" valueType="num">
                                      <p:cBhvr>
                                        <p:cTn id="93" dur="500" fill="hold"/>
                                        <p:tgtEl>
                                          <p:spTgt spid="43"/>
                                        </p:tgtEl>
                                        <p:attrNameLst>
                                          <p:attrName>ppt_h</p:attrName>
                                        </p:attrNameLst>
                                      </p:cBhvr>
                                      <p:tavLst>
                                        <p:tav tm="0">
                                          <p:val>
                                            <p:fltVal val="0"/>
                                          </p:val>
                                        </p:tav>
                                        <p:tav tm="100000">
                                          <p:val>
                                            <p:strVal val="#ppt_h"/>
                                          </p:val>
                                        </p:tav>
                                      </p:tavLst>
                                    </p:anim>
                                    <p:animEffect transition="in" filter="fade">
                                      <p:cBhvr>
                                        <p:cTn id="94" dur="500"/>
                                        <p:tgtEl>
                                          <p:spTgt spid="43"/>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 calcmode="lin" valueType="num">
                                      <p:cBhvr>
                                        <p:cTn id="97" dur="500" fill="hold"/>
                                        <p:tgtEl>
                                          <p:spTgt spid="44"/>
                                        </p:tgtEl>
                                        <p:attrNameLst>
                                          <p:attrName>ppt_w</p:attrName>
                                        </p:attrNameLst>
                                      </p:cBhvr>
                                      <p:tavLst>
                                        <p:tav tm="0">
                                          <p:val>
                                            <p:fltVal val="0"/>
                                          </p:val>
                                        </p:tav>
                                        <p:tav tm="100000">
                                          <p:val>
                                            <p:strVal val="#ppt_w"/>
                                          </p:val>
                                        </p:tav>
                                      </p:tavLst>
                                    </p:anim>
                                    <p:anim calcmode="lin" valueType="num">
                                      <p:cBhvr>
                                        <p:cTn id="98" dur="500" fill="hold"/>
                                        <p:tgtEl>
                                          <p:spTgt spid="44"/>
                                        </p:tgtEl>
                                        <p:attrNameLst>
                                          <p:attrName>ppt_h</p:attrName>
                                        </p:attrNameLst>
                                      </p:cBhvr>
                                      <p:tavLst>
                                        <p:tav tm="0">
                                          <p:val>
                                            <p:fltVal val="0"/>
                                          </p:val>
                                        </p:tav>
                                        <p:tav tm="100000">
                                          <p:val>
                                            <p:strVal val="#ppt_h"/>
                                          </p:val>
                                        </p:tav>
                                      </p:tavLst>
                                    </p:anim>
                                    <p:animEffect transition="in" filter="fade">
                                      <p:cBhvr>
                                        <p:cTn id="9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3" grpId="1" animBg="1"/>
      <p:bldP spid="64" grpId="0" animBg="1"/>
      <p:bldP spid="64" grpId="1" animBg="1"/>
      <p:bldP spid="65" grpId="0" animBg="1"/>
      <p:bldP spid="65" grpId="1" animBg="1"/>
      <p:bldP spid="66" grpId="0" animBg="1"/>
      <p:bldP spid="66" grpId="1" animBg="1"/>
      <p:bldP spid="84" grpId="0"/>
      <p:bldP spid="84" grpId="1"/>
      <p:bldP spid="85" grpId="0"/>
      <p:bldP spid="85" grpId="1"/>
      <p:bldP spid="86" grpId="0"/>
      <p:bldP spid="86" grpId="1"/>
      <p:bldP spid="87" grpId="0"/>
      <p:bldP spid="87" grpId="1"/>
      <p:bldP spid="35" grpId="0" animBg="1"/>
      <p:bldP spid="35" grpId="1" animBg="1"/>
      <p:bldP spid="36" grpId="0"/>
      <p:bldP spid="36" grpId="1"/>
      <p:bldP spid="37" grpId="0" animBg="1"/>
      <p:bldP spid="37" grpId="1" animBg="1"/>
      <p:bldP spid="38" grpId="0"/>
      <p:bldP spid="38" grpId="1"/>
      <p:bldP spid="39" grpId="0" animBg="1"/>
      <p:bldP spid="39" grpId="1" animBg="1"/>
      <p:bldP spid="40" grpId="0"/>
      <p:bldP spid="40" grpId="1"/>
      <p:bldP spid="41" grpId="0" animBg="1"/>
      <p:bldP spid="41" grpId="1" animBg="1"/>
      <p:bldP spid="42" grpId="0"/>
      <p:bldP spid="42" grpId="1"/>
      <p:bldP spid="43" grpId="0" animBg="1"/>
      <p:bldP spid="43" grpId="1" animBg="1"/>
      <p:bldP spid="44" grpId="0"/>
      <p:bldP spid="4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4" y="237517"/>
            <a:ext cx="3877985"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第一章：密码学基础</a:t>
            </a:r>
          </a:p>
        </p:txBody>
      </p:sp>
      <p:grpSp>
        <p:nvGrpSpPr>
          <p:cNvPr id="29" name="组合 28">
            <a:extLst>
              <a:ext uri="{FF2B5EF4-FFF2-40B4-BE49-F238E27FC236}">
                <a16:creationId xmlns:a16="http://schemas.microsoft.com/office/drawing/2014/main" id="{273CC4E3-0332-4950-B6F7-435C0C0A0B36}"/>
              </a:ext>
            </a:extLst>
          </p:cNvPr>
          <p:cNvGrpSpPr/>
          <p:nvPr/>
        </p:nvGrpSpPr>
        <p:grpSpPr>
          <a:xfrm>
            <a:off x="5777576" y="1343499"/>
            <a:ext cx="5037249" cy="836479"/>
            <a:chOff x="5971177" y="1605306"/>
            <a:chExt cx="5037249" cy="836479"/>
          </a:xfrm>
        </p:grpSpPr>
        <p:sp>
          <p:nvSpPr>
            <p:cNvPr id="30" name="Oval 4">
              <a:extLst>
                <a:ext uri="{FF2B5EF4-FFF2-40B4-BE49-F238E27FC236}">
                  <a16:creationId xmlns:a16="http://schemas.microsoft.com/office/drawing/2014/main" id="{DCB91C34-4CF1-4F6C-8C82-9169626665D0}"/>
                </a:ext>
              </a:extLst>
            </p:cNvPr>
            <p:cNvSpPr/>
            <p:nvPr/>
          </p:nvSpPr>
          <p:spPr>
            <a:xfrm>
              <a:off x="5971177" y="1812130"/>
              <a:ext cx="629655" cy="629655"/>
            </a:xfrm>
            <a:prstGeom prst="ellipse">
              <a:avLst/>
            </a:prstGeom>
            <a:solidFill>
              <a:srgbClr val="44546A"/>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866878" fontAlgn="base">
                <a:lnSpc>
                  <a:spcPct val="120000"/>
                </a:lnSpc>
              </a:pPr>
              <a:r>
                <a:rPr lang="en-US" sz="1327" dirty="0">
                  <a:solidFill>
                    <a:prstClr val="white"/>
                  </a:solidFill>
                  <a:cs typeface="+mn-ea"/>
                  <a:sym typeface="+mn-lt"/>
                </a:rPr>
                <a:t>01</a:t>
              </a:r>
            </a:p>
          </p:txBody>
        </p:sp>
        <p:sp>
          <p:nvSpPr>
            <p:cNvPr id="31" name="文本框 30">
              <a:extLst>
                <a:ext uri="{FF2B5EF4-FFF2-40B4-BE49-F238E27FC236}">
                  <a16:creationId xmlns:a16="http://schemas.microsoft.com/office/drawing/2014/main" id="{F984737F-3898-4882-B2D5-5FE263EF2093}"/>
                </a:ext>
              </a:extLst>
            </p:cNvPr>
            <p:cNvSpPr txBox="1"/>
            <p:nvPr/>
          </p:nvSpPr>
          <p:spPr>
            <a:xfrm>
              <a:off x="6600832" y="1949359"/>
              <a:ext cx="4407594" cy="323165"/>
            </a:xfrm>
            <a:prstGeom prst="rect">
              <a:avLst/>
            </a:prstGeom>
            <a:noFill/>
          </p:spPr>
          <p:txBody>
            <a:bodyPr wrap="square" rtlCol="0">
              <a:spAutoFit/>
            </a:bodyPr>
            <a:lstStyle/>
            <a:p>
              <a:pPr defTabSz="914332">
                <a:lnSpc>
                  <a:spcPts val="1800"/>
                </a:lnSpc>
                <a:defRPr/>
              </a:pPr>
              <a:r>
                <a:rPr lang="zh-CN" altLang="en-US" sz="2000" b="1" dirty="0">
                  <a:solidFill>
                    <a:srgbClr val="222A35"/>
                  </a:solidFill>
                  <a:latin typeface="宋体" panose="02010600030101010101" pitchFamily="2" charset="-122"/>
                  <a:ea typeface="宋体" panose="02010600030101010101" pitchFamily="2" charset="-122"/>
                  <a:cs typeface="+mn-ea"/>
                  <a:sym typeface="+mn-lt"/>
                </a:rPr>
                <a:t>密码学目的</a:t>
              </a:r>
            </a:p>
          </p:txBody>
        </p:sp>
        <p:sp>
          <p:nvSpPr>
            <p:cNvPr id="32" name="文本框 31">
              <a:extLst>
                <a:ext uri="{FF2B5EF4-FFF2-40B4-BE49-F238E27FC236}">
                  <a16:creationId xmlns:a16="http://schemas.microsoft.com/office/drawing/2014/main" id="{EC509CF1-0975-4A96-ABC2-009D28D512D8}"/>
                </a:ext>
              </a:extLst>
            </p:cNvPr>
            <p:cNvSpPr txBox="1"/>
            <p:nvPr/>
          </p:nvSpPr>
          <p:spPr>
            <a:xfrm>
              <a:off x="6626554" y="1605306"/>
              <a:ext cx="1828799" cy="369332"/>
            </a:xfrm>
            <a:prstGeom prst="rect">
              <a:avLst/>
            </a:prstGeom>
            <a:noFill/>
          </p:spPr>
          <p:txBody>
            <a:bodyPr wrap="square" rtlCol="0">
              <a:spAutoFit/>
            </a:bodyPr>
            <a:lstStyle/>
            <a:p>
              <a:pPr defTabSz="914332">
                <a:defRPr/>
              </a:pPr>
              <a:endParaRPr lang="zh-CN" altLang="en-US" b="1" spc="400" dirty="0">
                <a:solidFill>
                  <a:schemeClr val="tx1">
                    <a:lumMod val="75000"/>
                    <a:lumOff val="25000"/>
                  </a:schemeClr>
                </a:solidFill>
                <a:cs typeface="+mn-ea"/>
                <a:sym typeface="+mn-lt"/>
              </a:endParaRPr>
            </a:p>
          </p:txBody>
        </p:sp>
      </p:grpSp>
      <p:grpSp>
        <p:nvGrpSpPr>
          <p:cNvPr id="33" name="组合 32">
            <a:extLst>
              <a:ext uri="{FF2B5EF4-FFF2-40B4-BE49-F238E27FC236}">
                <a16:creationId xmlns:a16="http://schemas.microsoft.com/office/drawing/2014/main" id="{B9879154-C967-469F-925D-10EC56F00C1C}"/>
              </a:ext>
            </a:extLst>
          </p:cNvPr>
          <p:cNvGrpSpPr/>
          <p:nvPr/>
        </p:nvGrpSpPr>
        <p:grpSpPr>
          <a:xfrm>
            <a:off x="5777576" y="2384136"/>
            <a:ext cx="5037249" cy="781661"/>
            <a:chOff x="5971177" y="2728803"/>
            <a:chExt cx="5037249" cy="781661"/>
          </a:xfrm>
        </p:grpSpPr>
        <p:sp>
          <p:nvSpPr>
            <p:cNvPr id="34" name="Oval 19">
              <a:extLst>
                <a:ext uri="{FF2B5EF4-FFF2-40B4-BE49-F238E27FC236}">
                  <a16:creationId xmlns:a16="http://schemas.microsoft.com/office/drawing/2014/main" id="{B49CBD04-1EF5-4F9F-AEC9-FEC376B76853}"/>
                </a:ext>
              </a:extLst>
            </p:cNvPr>
            <p:cNvSpPr/>
            <p:nvPr/>
          </p:nvSpPr>
          <p:spPr>
            <a:xfrm>
              <a:off x="5971177" y="2880809"/>
              <a:ext cx="629655" cy="629655"/>
            </a:xfrm>
            <a:prstGeom prst="ellipse">
              <a:avLst/>
            </a:prstGeom>
            <a:solidFill>
              <a:srgbClr val="44546A"/>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866878" fontAlgn="base">
                <a:lnSpc>
                  <a:spcPct val="120000"/>
                </a:lnSpc>
              </a:pPr>
              <a:r>
                <a:rPr lang="en-US" sz="1327" dirty="0">
                  <a:solidFill>
                    <a:prstClr val="white"/>
                  </a:solidFill>
                  <a:cs typeface="+mn-ea"/>
                  <a:sym typeface="+mn-lt"/>
                </a:rPr>
                <a:t>02</a:t>
              </a:r>
            </a:p>
          </p:txBody>
        </p:sp>
        <p:sp>
          <p:nvSpPr>
            <p:cNvPr id="35" name="文本框 34">
              <a:extLst>
                <a:ext uri="{FF2B5EF4-FFF2-40B4-BE49-F238E27FC236}">
                  <a16:creationId xmlns:a16="http://schemas.microsoft.com/office/drawing/2014/main" id="{3D904637-E5EA-4A7C-B82F-002D078A81B1}"/>
                </a:ext>
              </a:extLst>
            </p:cNvPr>
            <p:cNvSpPr txBox="1"/>
            <p:nvPr/>
          </p:nvSpPr>
          <p:spPr>
            <a:xfrm>
              <a:off x="6600832" y="3072856"/>
              <a:ext cx="4407594" cy="323165"/>
            </a:xfrm>
            <a:prstGeom prst="rect">
              <a:avLst/>
            </a:prstGeom>
            <a:noFill/>
          </p:spPr>
          <p:txBody>
            <a:bodyPr wrap="square" rtlCol="0">
              <a:spAutoFit/>
            </a:bodyPr>
            <a:lstStyle/>
            <a:p>
              <a:pPr defTabSz="914332">
                <a:lnSpc>
                  <a:spcPts val="1800"/>
                </a:lnSpc>
                <a:defRPr/>
              </a:pPr>
              <a:r>
                <a:rPr lang="zh-CN" altLang="en-US" sz="2000" b="1" dirty="0">
                  <a:solidFill>
                    <a:srgbClr val="222A35"/>
                  </a:solidFill>
                  <a:latin typeface="宋体" panose="02010600030101010101" pitchFamily="2" charset="-122"/>
                  <a:ea typeface="宋体" panose="02010600030101010101" pitchFamily="2" charset="-122"/>
                  <a:cs typeface="+mn-ea"/>
                  <a:sym typeface="+mn-lt"/>
                </a:rPr>
                <a:t>密码学的历史</a:t>
              </a:r>
            </a:p>
          </p:txBody>
        </p:sp>
        <p:sp>
          <p:nvSpPr>
            <p:cNvPr id="36" name="文本框 35">
              <a:extLst>
                <a:ext uri="{FF2B5EF4-FFF2-40B4-BE49-F238E27FC236}">
                  <a16:creationId xmlns:a16="http://schemas.microsoft.com/office/drawing/2014/main" id="{045EE030-CF14-4651-B936-2EA142CBC9A0}"/>
                </a:ext>
              </a:extLst>
            </p:cNvPr>
            <p:cNvSpPr txBox="1"/>
            <p:nvPr/>
          </p:nvSpPr>
          <p:spPr>
            <a:xfrm>
              <a:off x="6626554" y="2728803"/>
              <a:ext cx="1828799" cy="369332"/>
            </a:xfrm>
            <a:prstGeom prst="rect">
              <a:avLst/>
            </a:prstGeom>
            <a:noFill/>
          </p:spPr>
          <p:txBody>
            <a:bodyPr wrap="square" rtlCol="0">
              <a:spAutoFit/>
            </a:bodyPr>
            <a:lstStyle/>
            <a:p>
              <a:pPr>
                <a:defRPr/>
              </a:pPr>
              <a:endParaRPr lang="zh-CN" altLang="en-US" b="1" spc="400"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7AE954CD-F818-4DAE-8F43-EADDA56861C8}"/>
              </a:ext>
            </a:extLst>
          </p:cNvPr>
          <p:cNvGrpSpPr/>
          <p:nvPr/>
        </p:nvGrpSpPr>
        <p:grpSpPr>
          <a:xfrm>
            <a:off x="5777576" y="3369151"/>
            <a:ext cx="5037249" cy="799380"/>
            <a:chOff x="5971177" y="3884741"/>
            <a:chExt cx="5037249" cy="799380"/>
          </a:xfrm>
        </p:grpSpPr>
        <p:sp>
          <p:nvSpPr>
            <p:cNvPr id="38" name="Oval 25">
              <a:extLst>
                <a:ext uri="{FF2B5EF4-FFF2-40B4-BE49-F238E27FC236}">
                  <a16:creationId xmlns:a16="http://schemas.microsoft.com/office/drawing/2014/main" id="{D8533F14-64BF-4441-B7B9-CFFE575EA367}"/>
                </a:ext>
              </a:extLst>
            </p:cNvPr>
            <p:cNvSpPr/>
            <p:nvPr/>
          </p:nvSpPr>
          <p:spPr>
            <a:xfrm>
              <a:off x="5971177" y="4054466"/>
              <a:ext cx="629655" cy="629655"/>
            </a:xfrm>
            <a:prstGeom prst="ellipse">
              <a:avLst/>
            </a:prstGeom>
            <a:solidFill>
              <a:srgbClr val="44546A"/>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866878" fontAlgn="base">
                <a:lnSpc>
                  <a:spcPct val="120000"/>
                </a:lnSpc>
              </a:pPr>
              <a:r>
                <a:rPr lang="en-US" sz="1327" dirty="0">
                  <a:solidFill>
                    <a:prstClr val="white"/>
                  </a:solidFill>
                  <a:cs typeface="+mn-ea"/>
                  <a:sym typeface="+mn-lt"/>
                </a:rPr>
                <a:t>03</a:t>
              </a:r>
            </a:p>
          </p:txBody>
        </p:sp>
        <p:sp>
          <p:nvSpPr>
            <p:cNvPr id="39" name="文本框 38">
              <a:extLst>
                <a:ext uri="{FF2B5EF4-FFF2-40B4-BE49-F238E27FC236}">
                  <a16:creationId xmlns:a16="http://schemas.microsoft.com/office/drawing/2014/main" id="{8F5DA75F-4B78-4989-A198-05DC5122BD5E}"/>
                </a:ext>
              </a:extLst>
            </p:cNvPr>
            <p:cNvSpPr txBox="1"/>
            <p:nvPr/>
          </p:nvSpPr>
          <p:spPr>
            <a:xfrm>
              <a:off x="6600832" y="4228794"/>
              <a:ext cx="4407594" cy="323165"/>
            </a:xfrm>
            <a:prstGeom prst="rect">
              <a:avLst/>
            </a:prstGeom>
            <a:noFill/>
          </p:spPr>
          <p:txBody>
            <a:bodyPr wrap="square" rtlCol="0">
              <a:spAutoFit/>
            </a:bodyPr>
            <a:lstStyle/>
            <a:p>
              <a:pPr defTabSz="914332">
                <a:lnSpc>
                  <a:spcPts val="1800"/>
                </a:lnSpc>
                <a:defRPr/>
              </a:pPr>
              <a:r>
                <a:rPr lang="zh-CN" altLang="en-US" sz="2000" b="1" dirty="0">
                  <a:solidFill>
                    <a:srgbClr val="222A35"/>
                  </a:solidFill>
                  <a:latin typeface="宋体" panose="02010600030101010101" pitchFamily="2" charset="-122"/>
                  <a:ea typeface="宋体" panose="02010600030101010101" pitchFamily="2" charset="-122"/>
                  <a:cs typeface="+mn-ea"/>
                  <a:sym typeface="+mn-lt"/>
                </a:rPr>
                <a:t>密码学的分类</a:t>
              </a:r>
            </a:p>
          </p:txBody>
        </p:sp>
        <p:sp>
          <p:nvSpPr>
            <p:cNvPr id="40" name="文本框 39">
              <a:extLst>
                <a:ext uri="{FF2B5EF4-FFF2-40B4-BE49-F238E27FC236}">
                  <a16:creationId xmlns:a16="http://schemas.microsoft.com/office/drawing/2014/main" id="{E8DC5608-6789-46AC-B3A9-9AF2B8096FF1}"/>
                </a:ext>
              </a:extLst>
            </p:cNvPr>
            <p:cNvSpPr txBox="1"/>
            <p:nvPr/>
          </p:nvSpPr>
          <p:spPr>
            <a:xfrm>
              <a:off x="6626554" y="3884741"/>
              <a:ext cx="1828799" cy="369332"/>
            </a:xfrm>
            <a:prstGeom prst="rect">
              <a:avLst/>
            </a:prstGeom>
            <a:noFill/>
          </p:spPr>
          <p:txBody>
            <a:bodyPr wrap="square" rtlCol="0">
              <a:spAutoFit/>
            </a:bodyPr>
            <a:lstStyle/>
            <a:p>
              <a:pPr>
                <a:defRPr/>
              </a:pPr>
              <a:endParaRPr lang="zh-CN" altLang="en-US" b="1" spc="400" dirty="0">
                <a:solidFill>
                  <a:schemeClr val="tx1">
                    <a:lumMod val="75000"/>
                    <a:lumOff val="25000"/>
                  </a:schemeClr>
                </a:solidFill>
                <a:cs typeface="+mn-ea"/>
                <a:sym typeface="+mn-lt"/>
              </a:endParaRPr>
            </a:p>
          </p:txBody>
        </p:sp>
      </p:grpSp>
      <p:grpSp>
        <p:nvGrpSpPr>
          <p:cNvPr id="41" name="组合 40">
            <a:extLst>
              <a:ext uri="{FF2B5EF4-FFF2-40B4-BE49-F238E27FC236}">
                <a16:creationId xmlns:a16="http://schemas.microsoft.com/office/drawing/2014/main" id="{7856F164-3CD1-4C5E-A64E-697F824AC398}"/>
              </a:ext>
            </a:extLst>
          </p:cNvPr>
          <p:cNvGrpSpPr/>
          <p:nvPr/>
        </p:nvGrpSpPr>
        <p:grpSpPr>
          <a:xfrm>
            <a:off x="5777576" y="4392463"/>
            <a:ext cx="5037249" cy="744275"/>
            <a:chOff x="5971177" y="5005999"/>
            <a:chExt cx="5037249" cy="744275"/>
          </a:xfrm>
        </p:grpSpPr>
        <p:sp>
          <p:nvSpPr>
            <p:cNvPr id="42" name="Oval 27">
              <a:extLst>
                <a:ext uri="{FF2B5EF4-FFF2-40B4-BE49-F238E27FC236}">
                  <a16:creationId xmlns:a16="http://schemas.microsoft.com/office/drawing/2014/main" id="{41A6148A-C1B5-4142-9BBD-4AC7AC2A8A65}"/>
                </a:ext>
              </a:extLst>
            </p:cNvPr>
            <p:cNvSpPr/>
            <p:nvPr/>
          </p:nvSpPr>
          <p:spPr>
            <a:xfrm>
              <a:off x="5971177" y="5120619"/>
              <a:ext cx="629655" cy="629655"/>
            </a:xfrm>
            <a:prstGeom prst="ellipse">
              <a:avLst/>
            </a:prstGeom>
            <a:solidFill>
              <a:srgbClr val="44546A"/>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866878" fontAlgn="base">
                <a:lnSpc>
                  <a:spcPct val="120000"/>
                </a:lnSpc>
              </a:pPr>
              <a:r>
                <a:rPr lang="en-US" sz="1327" dirty="0">
                  <a:solidFill>
                    <a:prstClr val="white"/>
                  </a:solidFill>
                  <a:cs typeface="+mn-ea"/>
                  <a:sym typeface="+mn-lt"/>
                </a:rPr>
                <a:t>04</a:t>
              </a:r>
            </a:p>
          </p:txBody>
        </p:sp>
        <p:sp>
          <p:nvSpPr>
            <p:cNvPr id="43" name="文本框 42">
              <a:extLst>
                <a:ext uri="{FF2B5EF4-FFF2-40B4-BE49-F238E27FC236}">
                  <a16:creationId xmlns:a16="http://schemas.microsoft.com/office/drawing/2014/main" id="{754EFAEB-C307-4B20-B45B-9299E9F7C4A3}"/>
                </a:ext>
              </a:extLst>
            </p:cNvPr>
            <p:cNvSpPr txBox="1"/>
            <p:nvPr/>
          </p:nvSpPr>
          <p:spPr>
            <a:xfrm>
              <a:off x="6600832" y="5350052"/>
              <a:ext cx="4407594" cy="323165"/>
            </a:xfrm>
            <a:prstGeom prst="rect">
              <a:avLst/>
            </a:prstGeom>
            <a:noFill/>
          </p:spPr>
          <p:txBody>
            <a:bodyPr wrap="square" rtlCol="0">
              <a:spAutoFit/>
            </a:bodyPr>
            <a:lstStyle/>
            <a:p>
              <a:pPr defTabSz="914332">
                <a:lnSpc>
                  <a:spcPts val="1800"/>
                </a:lnSpc>
                <a:defRPr/>
              </a:pPr>
              <a:r>
                <a:rPr lang="zh-CN" altLang="en-US" sz="2000" b="1" dirty="0">
                  <a:solidFill>
                    <a:srgbClr val="222A35"/>
                  </a:solidFill>
                  <a:latin typeface="宋体" panose="02010600030101010101" pitchFamily="2" charset="-122"/>
                  <a:ea typeface="宋体" panose="02010600030101010101" pitchFamily="2" charset="-122"/>
                  <a:cs typeface="+mn-ea"/>
                  <a:sym typeface="+mn-lt"/>
                </a:rPr>
                <a:t>密码学基础概念</a:t>
              </a:r>
            </a:p>
          </p:txBody>
        </p:sp>
        <p:sp>
          <p:nvSpPr>
            <p:cNvPr id="44" name="文本框 43">
              <a:extLst>
                <a:ext uri="{FF2B5EF4-FFF2-40B4-BE49-F238E27FC236}">
                  <a16:creationId xmlns:a16="http://schemas.microsoft.com/office/drawing/2014/main" id="{CAA1FDC1-70E0-425D-A123-043445DFB013}"/>
                </a:ext>
              </a:extLst>
            </p:cNvPr>
            <p:cNvSpPr txBox="1"/>
            <p:nvPr/>
          </p:nvSpPr>
          <p:spPr>
            <a:xfrm>
              <a:off x="6626554" y="5005999"/>
              <a:ext cx="1828799" cy="369332"/>
            </a:xfrm>
            <a:prstGeom prst="rect">
              <a:avLst/>
            </a:prstGeom>
            <a:noFill/>
          </p:spPr>
          <p:txBody>
            <a:bodyPr wrap="square" rtlCol="0">
              <a:spAutoFit/>
            </a:bodyPr>
            <a:lstStyle/>
            <a:p>
              <a:pPr>
                <a:defRPr/>
              </a:pPr>
              <a:endParaRPr lang="zh-CN" altLang="en-US" b="1" spc="400" dirty="0">
                <a:solidFill>
                  <a:schemeClr val="tx1">
                    <a:lumMod val="75000"/>
                    <a:lumOff val="25000"/>
                  </a:schemeClr>
                </a:solidFill>
                <a:cs typeface="+mn-ea"/>
                <a:sym typeface="+mn-lt"/>
              </a:endParaRPr>
            </a:p>
          </p:txBody>
        </p:sp>
      </p:grpSp>
      <p:sp>
        <p:nvSpPr>
          <p:cNvPr id="45" name="圆角矩形 1">
            <a:extLst>
              <a:ext uri="{FF2B5EF4-FFF2-40B4-BE49-F238E27FC236}">
                <a16:creationId xmlns:a16="http://schemas.microsoft.com/office/drawing/2014/main" id="{396427A7-397A-7DAC-9ECF-3F0B76EAED51}"/>
              </a:ext>
            </a:extLst>
          </p:cNvPr>
          <p:cNvSpPr/>
          <p:nvPr/>
        </p:nvSpPr>
        <p:spPr>
          <a:xfrm>
            <a:off x="1377185" y="1908877"/>
            <a:ext cx="2916000" cy="2916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kumimoji="1" lang="zh-CN" altLang="en-US">
              <a:solidFill>
                <a:prstClr val="white"/>
              </a:solidFill>
              <a:cs typeface="+mn-ea"/>
              <a:sym typeface="+mn-lt"/>
            </a:endParaRPr>
          </a:p>
        </p:txBody>
      </p:sp>
      <p:sp>
        <p:nvSpPr>
          <p:cNvPr id="46" name="圆角矩形 2">
            <a:extLst>
              <a:ext uri="{FF2B5EF4-FFF2-40B4-BE49-F238E27FC236}">
                <a16:creationId xmlns:a16="http://schemas.microsoft.com/office/drawing/2014/main" id="{6A63380A-E935-6AC5-58E6-81EE9D365B82}"/>
              </a:ext>
            </a:extLst>
          </p:cNvPr>
          <p:cNvSpPr/>
          <p:nvPr/>
        </p:nvSpPr>
        <p:spPr>
          <a:xfrm>
            <a:off x="1377194" y="4764598"/>
            <a:ext cx="397329" cy="39732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kumimoji="1" lang="zh-CN" altLang="en-US">
              <a:solidFill>
                <a:prstClr val="white"/>
              </a:solidFill>
              <a:cs typeface="+mn-ea"/>
              <a:sym typeface="+mn-lt"/>
            </a:endParaRPr>
          </a:p>
        </p:txBody>
      </p:sp>
      <p:sp>
        <p:nvSpPr>
          <p:cNvPr id="47" name="圆角矩形 3">
            <a:extLst>
              <a:ext uri="{FF2B5EF4-FFF2-40B4-BE49-F238E27FC236}">
                <a16:creationId xmlns:a16="http://schemas.microsoft.com/office/drawing/2014/main" id="{7CB41443-5816-3EDF-1685-D2DB51772BA0}"/>
              </a:ext>
            </a:extLst>
          </p:cNvPr>
          <p:cNvSpPr/>
          <p:nvPr/>
        </p:nvSpPr>
        <p:spPr>
          <a:xfrm>
            <a:off x="914630" y="4901690"/>
            <a:ext cx="209071" cy="20907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kumimoji="1" lang="zh-CN" altLang="en-US">
              <a:solidFill>
                <a:prstClr val="white"/>
              </a:solidFill>
              <a:cs typeface="+mn-ea"/>
              <a:sym typeface="+mn-lt"/>
            </a:endParaRPr>
          </a:p>
        </p:txBody>
      </p:sp>
      <p:sp>
        <p:nvSpPr>
          <p:cNvPr id="48" name="圆角矩形 7">
            <a:extLst>
              <a:ext uri="{FF2B5EF4-FFF2-40B4-BE49-F238E27FC236}">
                <a16:creationId xmlns:a16="http://schemas.microsoft.com/office/drawing/2014/main" id="{8AC4F972-D795-9B33-AAB3-A29F31CE06AB}"/>
              </a:ext>
            </a:extLst>
          </p:cNvPr>
          <p:cNvSpPr/>
          <p:nvPr/>
        </p:nvSpPr>
        <p:spPr>
          <a:xfrm>
            <a:off x="4288959" y="2408618"/>
            <a:ext cx="209071" cy="20907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kumimoji="1" lang="zh-CN" altLang="en-US">
              <a:solidFill>
                <a:prstClr val="white"/>
              </a:solidFill>
              <a:cs typeface="+mn-ea"/>
              <a:sym typeface="+mn-lt"/>
            </a:endParaRPr>
          </a:p>
        </p:txBody>
      </p:sp>
      <p:sp>
        <p:nvSpPr>
          <p:cNvPr id="49" name="文本框 48">
            <a:extLst>
              <a:ext uri="{FF2B5EF4-FFF2-40B4-BE49-F238E27FC236}">
                <a16:creationId xmlns:a16="http://schemas.microsoft.com/office/drawing/2014/main" id="{E3D9BC42-31FA-2BFA-0C8D-ECF607125682}"/>
              </a:ext>
            </a:extLst>
          </p:cNvPr>
          <p:cNvSpPr txBox="1"/>
          <p:nvPr/>
        </p:nvSpPr>
        <p:spPr>
          <a:xfrm>
            <a:off x="2323449" y="2852948"/>
            <a:ext cx="1017195" cy="584775"/>
          </a:xfrm>
          <a:prstGeom prst="rect">
            <a:avLst/>
          </a:prstGeom>
          <a:noFill/>
        </p:spPr>
        <p:txBody>
          <a:bodyPr wrap="square" rtlCol="0">
            <a:spAutoFit/>
          </a:bodyPr>
          <a:lstStyle/>
          <a:p>
            <a:pPr algn="dist" defTabSz="914332">
              <a:defRPr/>
            </a:pPr>
            <a:r>
              <a:rPr kumimoji="1" lang="zh-CN" altLang="en-US" sz="3200" dirty="0">
                <a:solidFill>
                  <a:srgbClr val="44546A"/>
                </a:solidFill>
                <a:latin typeface="宋体" panose="02010600030101010101" pitchFamily="2" charset="-122"/>
                <a:ea typeface="宋体" panose="02010600030101010101" pitchFamily="2" charset="-122"/>
                <a:cs typeface="+mn-ea"/>
                <a:sym typeface="+mn-lt"/>
              </a:rPr>
              <a:t>目录</a:t>
            </a:r>
          </a:p>
        </p:txBody>
      </p:sp>
      <p:sp>
        <p:nvSpPr>
          <p:cNvPr id="50" name="文本框 49">
            <a:extLst>
              <a:ext uri="{FF2B5EF4-FFF2-40B4-BE49-F238E27FC236}">
                <a16:creationId xmlns:a16="http://schemas.microsoft.com/office/drawing/2014/main" id="{4B443456-726B-2683-399B-DE813D964447}"/>
              </a:ext>
            </a:extLst>
          </p:cNvPr>
          <p:cNvSpPr txBox="1"/>
          <p:nvPr/>
        </p:nvSpPr>
        <p:spPr>
          <a:xfrm>
            <a:off x="3545480" y="3293532"/>
            <a:ext cx="1798045" cy="400110"/>
          </a:xfrm>
          <a:prstGeom prst="rect">
            <a:avLst/>
          </a:prstGeom>
          <a:noFill/>
        </p:spPr>
        <p:txBody>
          <a:bodyPr wrap="square" rtlCol="0">
            <a:spAutoFit/>
          </a:bodyPr>
          <a:lstStyle/>
          <a:p>
            <a:pPr algn="dist" defTabSz="914332">
              <a:defRPr/>
            </a:pPr>
            <a:r>
              <a:rPr kumimoji="1" lang="en-US" altLang="zh-CN" sz="2000" dirty="0">
                <a:solidFill>
                  <a:prstClr val="white"/>
                </a:solidFill>
                <a:latin typeface="宋体" panose="02010600030101010101" pitchFamily="2" charset="-122"/>
                <a:ea typeface="宋体" panose="02010600030101010101" pitchFamily="2" charset="-122"/>
                <a:cs typeface="+mn-ea"/>
                <a:sym typeface="+mn-lt"/>
              </a:rPr>
              <a:t>CON</a:t>
            </a:r>
            <a:r>
              <a:rPr kumimoji="1" lang="en-US" altLang="zh-CN" sz="2000" dirty="0">
                <a:solidFill>
                  <a:srgbClr val="44546A"/>
                </a:solidFill>
                <a:latin typeface="宋体" panose="02010600030101010101" pitchFamily="2" charset="-122"/>
                <a:ea typeface="宋体" panose="02010600030101010101" pitchFamily="2" charset="-122"/>
                <a:cs typeface="+mn-ea"/>
                <a:sym typeface="+mn-lt"/>
              </a:rPr>
              <a:t>TENTS</a:t>
            </a:r>
            <a:endParaRPr kumimoji="1" lang="zh-CN" altLang="en-US" sz="2000" dirty="0">
              <a:solidFill>
                <a:srgbClr val="44546A"/>
              </a:solidFill>
              <a:latin typeface="宋体" panose="02010600030101010101" pitchFamily="2" charset="-122"/>
              <a:ea typeface="宋体" panose="02010600030101010101" pitchFamily="2" charset="-122"/>
              <a:cs typeface="+mn-ea"/>
              <a:sym typeface="+mn-lt"/>
            </a:endParaRPr>
          </a:p>
        </p:txBody>
      </p:sp>
      <p:grpSp>
        <p:nvGrpSpPr>
          <p:cNvPr id="51" name="组合 50">
            <a:extLst>
              <a:ext uri="{FF2B5EF4-FFF2-40B4-BE49-F238E27FC236}">
                <a16:creationId xmlns:a16="http://schemas.microsoft.com/office/drawing/2014/main" id="{12822181-E85A-4B80-ABF8-C6096513C4C4}"/>
              </a:ext>
            </a:extLst>
          </p:cNvPr>
          <p:cNvGrpSpPr/>
          <p:nvPr/>
        </p:nvGrpSpPr>
        <p:grpSpPr>
          <a:xfrm>
            <a:off x="5777576" y="5306909"/>
            <a:ext cx="5037249" cy="744275"/>
            <a:chOff x="5971177" y="5005999"/>
            <a:chExt cx="5037249" cy="744275"/>
          </a:xfrm>
        </p:grpSpPr>
        <p:sp>
          <p:nvSpPr>
            <p:cNvPr id="52" name="Oval 27">
              <a:extLst>
                <a:ext uri="{FF2B5EF4-FFF2-40B4-BE49-F238E27FC236}">
                  <a16:creationId xmlns:a16="http://schemas.microsoft.com/office/drawing/2014/main" id="{9B173629-781D-748C-89F7-F1F5059ED17F}"/>
                </a:ext>
              </a:extLst>
            </p:cNvPr>
            <p:cNvSpPr/>
            <p:nvPr/>
          </p:nvSpPr>
          <p:spPr>
            <a:xfrm>
              <a:off x="5971177" y="5120619"/>
              <a:ext cx="629655" cy="629655"/>
            </a:xfrm>
            <a:prstGeom prst="ellipse">
              <a:avLst/>
            </a:prstGeom>
            <a:solidFill>
              <a:srgbClr val="44546A"/>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866878" fontAlgn="base">
                <a:lnSpc>
                  <a:spcPct val="120000"/>
                </a:lnSpc>
              </a:pPr>
              <a:r>
                <a:rPr lang="en-US" sz="1327" dirty="0">
                  <a:solidFill>
                    <a:prstClr val="white"/>
                  </a:solidFill>
                  <a:cs typeface="+mn-ea"/>
                  <a:sym typeface="+mn-lt"/>
                </a:rPr>
                <a:t>05</a:t>
              </a:r>
            </a:p>
          </p:txBody>
        </p:sp>
        <p:sp>
          <p:nvSpPr>
            <p:cNvPr id="53" name="文本框 52">
              <a:extLst>
                <a:ext uri="{FF2B5EF4-FFF2-40B4-BE49-F238E27FC236}">
                  <a16:creationId xmlns:a16="http://schemas.microsoft.com/office/drawing/2014/main" id="{BE8146F0-47F9-86D3-8AC9-8BA4CEFEA722}"/>
                </a:ext>
              </a:extLst>
            </p:cNvPr>
            <p:cNvSpPr txBox="1"/>
            <p:nvPr/>
          </p:nvSpPr>
          <p:spPr>
            <a:xfrm>
              <a:off x="6600832" y="5350052"/>
              <a:ext cx="4407594" cy="323165"/>
            </a:xfrm>
            <a:prstGeom prst="rect">
              <a:avLst/>
            </a:prstGeom>
            <a:noFill/>
          </p:spPr>
          <p:txBody>
            <a:bodyPr wrap="square" rtlCol="0">
              <a:spAutoFit/>
            </a:bodyPr>
            <a:lstStyle/>
            <a:p>
              <a:pPr defTabSz="914332">
                <a:lnSpc>
                  <a:spcPts val="1800"/>
                </a:lnSpc>
                <a:defRPr/>
              </a:pPr>
              <a:r>
                <a:rPr lang="zh-CN" altLang="en-US" sz="2000" b="1" dirty="0">
                  <a:solidFill>
                    <a:srgbClr val="222A35"/>
                  </a:solidFill>
                  <a:latin typeface="宋体" panose="02010600030101010101" pitchFamily="2" charset="-122"/>
                  <a:ea typeface="宋体" panose="02010600030101010101" pitchFamily="2" charset="-122"/>
                  <a:cs typeface="+mn-ea"/>
                  <a:sym typeface="+mn-lt"/>
                </a:rPr>
                <a:t>古典密码</a:t>
              </a:r>
            </a:p>
          </p:txBody>
        </p:sp>
        <p:sp>
          <p:nvSpPr>
            <p:cNvPr id="54" name="文本框 53">
              <a:extLst>
                <a:ext uri="{FF2B5EF4-FFF2-40B4-BE49-F238E27FC236}">
                  <a16:creationId xmlns:a16="http://schemas.microsoft.com/office/drawing/2014/main" id="{481A1009-D538-20FD-E70B-3264BF194E21}"/>
                </a:ext>
              </a:extLst>
            </p:cNvPr>
            <p:cNvSpPr txBox="1"/>
            <p:nvPr/>
          </p:nvSpPr>
          <p:spPr>
            <a:xfrm>
              <a:off x="6626554" y="5005999"/>
              <a:ext cx="1828799" cy="369332"/>
            </a:xfrm>
            <a:prstGeom prst="rect">
              <a:avLst/>
            </a:prstGeom>
            <a:noFill/>
          </p:spPr>
          <p:txBody>
            <a:bodyPr wrap="square" rtlCol="0">
              <a:spAutoFit/>
            </a:bodyPr>
            <a:lstStyle/>
            <a:p>
              <a:pPr>
                <a:defRPr/>
              </a:pPr>
              <a:endParaRPr lang="zh-CN" altLang="en-US" b="1" spc="400" dirty="0">
                <a:solidFill>
                  <a:schemeClr val="tx1">
                    <a:lumMod val="75000"/>
                    <a:lumOff val="25000"/>
                  </a:schemeClr>
                </a:solidFill>
                <a:cs typeface="+mn-ea"/>
                <a:sym typeface="+mn-lt"/>
              </a:endParaRPr>
            </a:p>
          </p:txBody>
        </p:sp>
      </p:grpSp>
    </p:spTree>
    <p:extLst>
      <p:ext uri="{BB962C8B-B14F-4D97-AF65-F5344CB8AC3E}">
        <p14:creationId xmlns:p14="http://schemas.microsoft.com/office/powerpoint/2010/main" val="238756708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40000">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14:bounceEnd="40000">
                                          <p:cBhvr additive="base">
                                            <p:cTn id="7" dur="500" fill="hold"/>
                                            <p:tgtEl>
                                              <p:spTgt spid="29"/>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40000">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14:bounceEnd="40000">
                                          <p:cBhvr additive="base">
                                            <p:cTn id="12" dur="500" fill="hold"/>
                                            <p:tgtEl>
                                              <p:spTgt spid="33"/>
                                            </p:tgtEl>
                                            <p:attrNameLst>
                                              <p:attrName>ppt_x</p:attrName>
                                            </p:attrNameLst>
                                          </p:cBhvr>
                                          <p:tavLst>
                                            <p:tav tm="0">
                                              <p:val>
                                                <p:strVal val="1+#ppt_w/2"/>
                                              </p:val>
                                            </p:tav>
                                            <p:tav tm="100000">
                                              <p:val>
                                                <p:strVal val="#ppt_x"/>
                                              </p:val>
                                            </p:tav>
                                          </p:tavLst>
                                        </p:anim>
                                        <p:anim calcmode="lin" valueType="num" p14:bounceEnd="40000">
                                          <p:cBhvr additive="base">
                                            <p:cTn id="13" dur="500" fill="hold"/>
                                            <p:tgtEl>
                                              <p:spTgt spid="3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40000">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14:bounceEnd="40000">
                                          <p:cBhvr additive="base">
                                            <p:cTn id="17" dur="500" fill="hold"/>
                                            <p:tgtEl>
                                              <p:spTgt spid="37"/>
                                            </p:tgtEl>
                                            <p:attrNameLst>
                                              <p:attrName>ppt_x</p:attrName>
                                            </p:attrNameLst>
                                          </p:cBhvr>
                                          <p:tavLst>
                                            <p:tav tm="0">
                                              <p:val>
                                                <p:strVal val="1+#ppt_w/2"/>
                                              </p:val>
                                            </p:tav>
                                            <p:tav tm="100000">
                                              <p:val>
                                                <p:strVal val="#ppt_x"/>
                                              </p:val>
                                            </p:tav>
                                          </p:tavLst>
                                        </p:anim>
                                        <p:anim calcmode="lin" valueType="num" p14:bounceEnd="40000">
                                          <p:cBhvr additive="base">
                                            <p:cTn id="18" dur="500" fill="hold"/>
                                            <p:tgtEl>
                                              <p:spTgt spid="3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14:presetBounceEnd="40000">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14:bounceEnd="40000">
                                          <p:cBhvr additive="base">
                                            <p:cTn id="22" dur="500" fill="hold"/>
                                            <p:tgtEl>
                                              <p:spTgt spid="41"/>
                                            </p:tgtEl>
                                            <p:attrNameLst>
                                              <p:attrName>ppt_x</p:attrName>
                                            </p:attrNameLst>
                                          </p:cBhvr>
                                          <p:tavLst>
                                            <p:tav tm="0">
                                              <p:val>
                                                <p:strVal val="1+#ppt_w/2"/>
                                              </p:val>
                                            </p:tav>
                                            <p:tav tm="100000">
                                              <p:val>
                                                <p:strVal val="#ppt_x"/>
                                              </p:val>
                                            </p:tav>
                                          </p:tavLst>
                                        </p:anim>
                                        <p:anim calcmode="lin" valueType="num" p14:bounceEnd="40000">
                                          <p:cBhvr additive="base">
                                            <p:cTn id="23" dur="500" fill="hold"/>
                                            <p:tgtEl>
                                              <p:spTgt spid="4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14:presetBounceEnd="40000">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14:bounceEnd="40000">
                                          <p:cBhvr additive="base">
                                            <p:cTn id="27" dur="500" fill="hold"/>
                                            <p:tgtEl>
                                              <p:spTgt spid="51"/>
                                            </p:tgtEl>
                                            <p:attrNameLst>
                                              <p:attrName>ppt_x</p:attrName>
                                            </p:attrNameLst>
                                          </p:cBhvr>
                                          <p:tavLst>
                                            <p:tav tm="0">
                                              <p:val>
                                                <p:strVal val="1+#ppt_w/2"/>
                                              </p:val>
                                            </p:tav>
                                            <p:tav tm="100000">
                                              <p:val>
                                                <p:strVal val="#ppt_x"/>
                                              </p:val>
                                            </p:tav>
                                          </p:tavLst>
                                        </p:anim>
                                        <p:anim calcmode="lin" valueType="num" p14:bounceEnd="40000">
                                          <p:cBhvr additive="base">
                                            <p:cTn id="28"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fill="hold"/>
                                            <p:tgtEl>
                                              <p:spTgt spid="33"/>
                                            </p:tgtEl>
                                            <p:attrNameLst>
                                              <p:attrName>ppt_x</p:attrName>
                                            </p:attrNameLst>
                                          </p:cBhvr>
                                          <p:tavLst>
                                            <p:tav tm="0">
                                              <p:val>
                                                <p:strVal val="1+#ppt_w/2"/>
                                              </p:val>
                                            </p:tav>
                                            <p:tav tm="100000">
                                              <p:val>
                                                <p:strVal val="#ppt_x"/>
                                              </p:val>
                                            </p:tav>
                                          </p:tavLst>
                                        </p:anim>
                                        <p:anim calcmode="lin" valueType="num">
                                          <p:cBhvr additive="base">
                                            <p:cTn id="13" dur="500" fill="hold"/>
                                            <p:tgtEl>
                                              <p:spTgt spid="3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additive="base">
                                            <p:cTn id="17" dur="500" fill="hold"/>
                                            <p:tgtEl>
                                              <p:spTgt spid="37"/>
                                            </p:tgtEl>
                                            <p:attrNameLst>
                                              <p:attrName>ppt_x</p:attrName>
                                            </p:attrNameLst>
                                          </p:cBhvr>
                                          <p:tavLst>
                                            <p:tav tm="0">
                                              <p:val>
                                                <p:strVal val="1+#ppt_w/2"/>
                                              </p:val>
                                            </p:tav>
                                            <p:tav tm="100000">
                                              <p:val>
                                                <p:strVal val="#ppt_x"/>
                                              </p:val>
                                            </p:tav>
                                          </p:tavLst>
                                        </p:anim>
                                        <p:anim calcmode="lin" valueType="num">
                                          <p:cBhvr additive="base">
                                            <p:cTn id="18" dur="500" fill="hold"/>
                                            <p:tgtEl>
                                              <p:spTgt spid="3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additive="base">
                                            <p:cTn id="22" dur="500" fill="hold"/>
                                            <p:tgtEl>
                                              <p:spTgt spid="41"/>
                                            </p:tgtEl>
                                            <p:attrNameLst>
                                              <p:attrName>ppt_x</p:attrName>
                                            </p:attrNameLst>
                                          </p:cBhvr>
                                          <p:tavLst>
                                            <p:tav tm="0">
                                              <p:val>
                                                <p:strVal val="1+#ppt_w/2"/>
                                              </p:val>
                                            </p:tav>
                                            <p:tav tm="100000">
                                              <p:val>
                                                <p:strVal val="#ppt_x"/>
                                              </p:val>
                                            </p:tav>
                                          </p:tavLst>
                                        </p:anim>
                                        <p:anim calcmode="lin" valueType="num">
                                          <p:cBhvr additive="base">
                                            <p:cTn id="23" dur="500" fill="hold"/>
                                            <p:tgtEl>
                                              <p:spTgt spid="4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1+#ppt_w/2"/>
                                              </p:val>
                                            </p:tav>
                                            <p:tav tm="100000">
                                              <p:val>
                                                <p:strVal val="#ppt_x"/>
                                              </p:val>
                                            </p:tav>
                                          </p:tavLst>
                                        </p:anim>
                                        <p:anim calcmode="lin" valueType="num">
                                          <p:cBhvr additive="base">
                                            <p:cTn id="28"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236510"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密码学目的</a:t>
            </a:r>
          </a:p>
        </p:txBody>
      </p:sp>
      <p:sp>
        <p:nvSpPr>
          <p:cNvPr id="55" name="内容占位符 2">
            <a:extLst>
              <a:ext uri="{FF2B5EF4-FFF2-40B4-BE49-F238E27FC236}">
                <a16:creationId xmlns:a16="http://schemas.microsoft.com/office/drawing/2014/main" id="{AF4A3D1A-AC92-E5B1-5A40-37BBA2F23482}"/>
              </a:ext>
            </a:extLst>
          </p:cNvPr>
          <p:cNvSpPr txBox="1">
            <a:spLocks noChangeArrowheads="1"/>
          </p:cNvSpPr>
          <p:nvPr/>
        </p:nvSpPr>
        <p:spPr>
          <a:xfrm>
            <a:off x="1816100" y="1551308"/>
            <a:ext cx="85598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41966">
              <a:lnSpc>
                <a:spcPct val="100000"/>
              </a:lnSpc>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为不同的应用环境和系统提供密码支持服务，主要包括证书认证、密钥管理、电子签章、移动接入、电子商务支付等密码系统</a:t>
            </a:r>
          </a:p>
        </p:txBody>
      </p:sp>
      <p:pic>
        <p:nvPicPr>
          <p:cNvPr id="56" name="Picture 6" descr="20150227-40593dea9e35667b_600x5000">
            <a:extLst>
              <a:ext uri="{FF2B5EF4-FFF2-40B4-BE49-F238E27FC236}">
                <a16:creationId xmlns:a16="http://schemas.microsoft.com/office/drawing/2014/main" id="{12679563-9A9D-934A-BF37-12736CF01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3888" y="3193293"/>
            <a:ext cx="2447925" cy="174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4">
            <a:extLst>
              <a:ext uri="{FF2B5EF4-FFF2-40B4-BE49-F238E27FC236}">
                <a16:creationId xmlns:a16="http://schemas.microsoft.com/office/drawing/2014/main" id="{E88B0EAD-A95C-8251-DB7C-A5F19AC137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5725" y="3706065"/>
            <a:ext cx="2592387"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139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7" y="237517"/>
            <a:ext cx="1826141"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安全目标</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1712912" y="1746251"/>
            <a:ext cx="8766176" cy="41148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155">
              <a:lnSpc>
                <a:spcPct val="100000"/>
              </a:lnSpc>
              <a:spcBef>
                <a:spcPct val="0"/>
              </a:spcBef>
              <a:buClr>
                <a:schemeClr val="accent1">
                  <a:lumMod val="75000"/>
                </a:schemeClr>
              </a:buClr>
              <a:buSzPct val="60000"/>
              <a:buFont typeface="Wingdings" panose="05000000000000000000" pitchFamily="2" charset="2"/>
              <a:buChar char="n"/>
            </a:pPr>
            <a:r>
              <a:rPr lang="zh-CN" altLang="en-US" dirty="0">
                <a:latin typeface="宋体" panose="02010600030101010101" pitchFamily="2" charset="-122"/>
                <a:ea typeface="宋体" panose="02010600030101010101" pitchFamily="2" charset="-122"/>
              </a:rPr>
              <a:t>密码学是保障信息安全的核心，信息安全是密码学研究与发展的目的</a:t>
            </a:r>
          </a:p>
          <a:p>
            <a:pPr lvl="1" indent="-457155">
              <a:lnSpc>
                <a:spcPct val="100000"/>
              </a:lnSpc>
              <a:spcBef>
                <a:spcPct val="0"/>
              </a:spcBef>
              <a:buClr>
                <a:srgbClr val="FF0000"/>
              </a:buClr>
              <a:buSzPct val="60000"/>
              <a:buFont typeface="Wingdings" panose="05000000000000000000" pitchFamily="2" charset="2"/>
              <a:buChar char="n"/>
            </a:pPr>
            <a:r>
              <a:rPr lang="zh-CN" altLang="en-US" b="1" dirty="0">
                <a:latin typeface="宋体" panose="02010600030101010101" pitchFamily="2" charset="-122"/>
                <a:ea typeface="宋体" panose="02010600030101010101" pitchFamily="2" charset="-122"/>
              </a:rPr>
              <a:t>保密性</a:t>
            </a:r>
            <a:r>
              <a:rPr lang="zh-CN" altLang="en-US" dirty="0">
                <a:latin typeface="宋体" panose="02010600030101010101" pitchFamily="2" charset="-122"/>
                <a:ea typeface="宋体" panose="02010600030101010101" pitchFamily="2" charset="-122"/>
              </a:rPr>
              <a:t>：保证信息不泄漏给未经授权的人。</a:t>
            </a:r>
          </a:p>
          <a:p>
            <a:pPr lvl="1" indent="-457155">
              <a:lnSpc>
                <a:spcPct val="100000"/>
              </a:lnSpc>
              <a:spcBef>
                <a:spcPct val="0"/>
              </a:spcBef>
              <a:buClr>
                <a:srgbClr val="FF0000"/>
              </a:buClr>
              <a:buSzPct val="60000"/>
              <a:buFont typeface="Wingdings" panose="05000000000000000000" pitchFamily="2" charset="2"/>
              <a:buChar char="n"/>
            </a:pPr>
            <a:r>
              <a:rPr lang="zh-CN" altLang="en-US" b="1" dirty="0">
                <a:latin typeface="宋体" panose="02010600030101010101" pitchFamily="2" charset="-122"/>
                <a:ea typeface="宋体" panose="02010600030101010101" pitchFamily="2" charset="-122"/>
              </a:rPr>
              <a:t>完整性</a:t>
            </a:r>
            <a:r>
              <a:rPr lang="zh-CN" altLang="en-US" dirty="0">
                <a:latin typeface="宋体" panose="02010600030101010101" pitchFamily="2" charset="-122"/>
                <a:ea typeface="宋体" panose="02010600030101010101" pitchFamily="2" charset="-122"/>
              </a:rPr>
              <a:t>：保证信息不被篡改。</a:t>
            </a:r>
          </a:p>
          <a:p>
            <a:pPr lvl="1" indent="-457155">
              <a:lnSpc>
                <a:spcPct val="100000"/>
              </a:lnSpc>
              <a:spcBef>
                <a:spcPct val="0"/>
              </a:spcBef>
              <a:buClr>
                <a:srgbClr val="FF0000"/>
              </a:buClr>
              <a:buSzPct val="60000"/>
              <a:buFont typeface="Wingdings" panose="05000000000000000000" pitchFamily="2" charset="2"/>
              <a:buChar char="n"/>
            </a:pPr>
            <a:r>
              <a:rPr lang="zh-CN" altLang="en-US" b="1" dirty="0">
                <a:latin typeface="宋体" panose="02010600030101010101" pitchFamily="2" charset="-122"/>
                <a:ea typeface="宋体" panose="02010600030101010101" pitchFamily="2" charset="-122"/>
              </a:rPr>
              <a:t>认证性：</a:t>
            </a:r>
            <a:r>
              <a:rPr lang="zh-CN" altLang="en-US" dirty="0">
                <a:latin typeface="宋体" panose="02010600030101010101" pitchFamily="2" charset="-122"/>
                <a:ea typeface="宋体" panose="02010600030101010101" pitchFamily="2" charset="-122"/>
              </a:rPr>
              <a:t>保证信息来源不被伪造。</a:t>
            </a:r>
          </a:p>
          <a:p>
            <a:pPr lvl="1" indent="-457155">
              <a:lnSpc>
                <a:spcPct val="100000"/>
              </a:lnSpc>
              <a:spcBef>
                <a:spcPct val="0"/>
              </a:spcBef>
              <a:buClr>
                <a:srgbClr val="FF0000"/>
              </a:buClr>
              <a:buSzPct val="60000"/>
              <a:buFont typeface="Wingdings" panose="05000000000000000000" pitchFamily="2" charset="2"/>
              <a:buChar char="n"/>
            </a:pPr>
            <a:r>
              <a:rPr lang="zh-CN" altLang="en-US" b="1" dirty="0">
                <a:latin typeface="宋体" panose="02010600030101010101" pitchFamily="2" charset="-122"/>
                <a:ea typeface="宋体" panose="02010600030101010101" pitchFamily="2" charset="-122"/>
              </a:rPr>
              <a:t>不可否认性：</a:t>
            </a:r>
            <a:r>
              <a:rPr lang="zh-CN" altLang="en-US" dirty="0">
                <a:latin typeface="宋体" panose="02010600030101010101" pitchFamily="2" charset="-122"/>
                <a:ea typeface="宋体" panose="02010600030101010101" pitchFamily="2" charset="-122"/>
              </a:rPr>
              <a:t>保证信息行为人不能否认其信息行为。</a:t>
            </a:r>
          </a:p>
          <a:p>
            <a:pPr lvl="1" indent="-457155">
              <a:lnSpc>
                <a:spcPct val="100000"/>
              </a:lnSpc>
              <a:spcBef>
                <a:spcPct val="0"/>
              </a:spcBef>
              <a:buClr>
                <a:srgbClr val="FF0000"/>
              </a:buClr>
              <a:buSzPct val="60000"/>
              <a:buFont typeface="Wingdings" panose="05000000000000000000" pitchFamily="2" charset="2"/>
              <a:buChar char="n"/>
            </a:pPr>
            <a:r>
              <a:rPr lang="zh-CN" altLang="en-US" b="1" dirty="0">
                <a:latin typeface="宋体" panose="02010600030101010101" pitchFamily="2" charset="-122"/>
                <a:ea typeface="宋体" panose="02010600030101010101" pitchFamily="2" charset="-122"/>
              </a:rPr>
              <a:t>可用性：</a:t>
            </a:r>
            <a:r>
              <a:rPr lang="zh-CN" altLang="en-US" dirty="0">
                <a:latin typeface="宋体" panose="02010600030101010101" pitchFamily="2" charset="-122"/>
                <a:ea typeface="宋体" panose="02010600030101010101" pitchFamily="2" charset="-122"/>
              </a:rPr>
              <a:t>指信息可被合法用于访问并按要求的特性使用。</a:t>
            </a:r>
          </a:p>
        </p:txBody>
      </p:sp>
    </p:spTree>
    <p:extLst>
      <p:ext uri="{BB962C8B-B14F-4D97-AF65-F5344CB8AC3E}">
        <p14:creationId xmlns:p14="http://schemas.microsoft.com/office/powerpoint/2010/main" val="261555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1" y="237517"/>
            <a:ext cx="1826141" cy="584775"/>
          </a:xfrm>
          <a:prstGeom prst="rect">
            <a:avLst/>
          </a:prstGeom>
          <a:noFill/>
        </p:spPr>
        <p:txBody>
          <a:bodyPr wrap="none" rtlCol="0">
            <a:spAutoFit/>
          </a:bodyPr>
          <a:lstStyle/>
          <a:p>
            <a:pPr algn="ctr" defTabSz="914332">
              <a:defRPr/>
            </a:pPr>
            <a:r>
              <a:rPr kumimoji="1" lang="zh-CN" altLang="en-US" sz="3200" dirty="0">
                <a:solidFill>
                  <a:srgbClr val="44546A"/>
                </a:solidFill>
                <a:cs typeface="+mn-ea"/>
                <a:sym typeface="+mn-lt"/>
              </a:rPr>
              <a:t>安全目标</a:t>
            </a:r>
          </a:p>
        </p:txBody>
      </p:sp>
      <p:sp>
        <p:nvSpPr>
          <p:cNvPr id="4" name="灯片编号占位符 4">
            <a:extLst>
              <a:ext uri="{FF2B5EF4-FFF2-40B4-BE49-F238E27FC236}">
                <a16:creationId xmlns:a16="http://schemas.microsoft.com/office/drawing/2014/main" id="{7E5E043A-269D-50E0-0A63-968377A7376A}"/>
              </a:ext>
            </a:extLst>
          </p:cNvPr>
          <p:cNvSpPr txBox="1">
            <a:spLocks noChangeArrowheads="1"/>
          </p:cNvSpPr>
          <p:nvPr/>
        </p:nvSpPr>
        <p:spPr>
          <a:xfrm>
            <a:off x="9296400" y="6246829"/>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l" defTabSz="914400" rtl="0" eaLnBrk="1" latinLnBrk="0" hangingPunct="1">
              <a:spcBef>
                <a:spcPct val="20000"/>
              </a:spcBef>
              <a:buClr>
                <a:schemeClr val="folHlink"/>
              </a:buClr>
              <a:buSzPct val="60000"/>
              <a:buFont typeface="Wingdings" panose="05000000000000000000" pitchFamily="2" charset="2"/>
              <a:buChar char="n"/>
              <a:defRPr sz="3200" kern="1200">
                <a:solidFill>
                  <a:schemeClr val="tx1"/>
                </a:solidFill>
                <a:latin typeface="Tahoma" panose="020B0604030504040204" pitchFamily="34" charset="0"/>
                <a:ea typeface="宋体" panose="02010600030101010101" pitchFamily="2" charset="-122"/>
                <a:cs typeface="+mn-cs"/>
              </a:defRPr>
            </a:lvl1pPr>
            <a:lvl2pPr marL="742950" indent="-285750" algn="l" defTabSz="914400" rtl="0" eaLnBrk="1" latinLnBrk="0" hangingPunct="1">
              <a:spcBef>
                <a:spcPct val="20000"/>
              </a:spcBef>
              <a:buClr>
                <a:schemeClr val="hlink"/>
              </a:buClr>
              <a:buSzPct val="55000"/>
              <a:buFont typeface="Wingdings" panose="05000000000000000000" pitchFamily="2" charset="2"/>
              <a:buChar char="n"/>
              <a:defRPr sz="2800" kern="1200">
                <a:solidFill>
                  <a:schemeClr val="tx1"/>
                </a:solidFill>
                <a:latin typeface="Tahoma" panose="020B0604030504040204" pitchFamily="34" charset="0"/>
                <a:ea typeface="宋体" panose="02010600030101010101" pitchFamily="2" charset="-122"/>
                <a:cs typeface="+mn-cs"/>
              </a:defRPr>
            </a:lvl2pPr>
            <a:lvl3pPr marL="1143000" indent="-228600" algn="l" defTabSz="914400" rtl="0" eaLnBrk="1" latinLnBrk="0" hangingPunct="1">
              <a:spcBef>
                <a:spcPct val="20000"/>
              </a:spcBef>
              <a:buClr>
                <a:schemeClr val="folHlink"/>
              </a:buClr>
              <a:buSzPct val="50000"/>
              <a:buFont typeface="Wingdings" panose="05000000000000000000" pitchFamily="2" charset="2"/>
              <a:buChar char="n"/>
              <a:defRPr sz="2400" kern="1200">
                <a:solidFill>
                  <a:schemeClr val="tx1"/>
                </a:solidFill>
                <a:latin typeface="Tahoma" panose="020B0604030504040204" pitchFamily="34" charset="0"/>
                <a:ea typeface="宋体" panose="02010600030101010101" pitchFamily="2" charset="-122"/>
                <a:cs typeface="+mn-cs"/>
              </a:defRPr>
            </a:lvl3pPr>
            <a:lvl4pPr marL="1600200" indent="-228600" algn="l" defTabSz="914400" rtl="0" eaLnBrk="1" latinLnBrk="0" hangingPunct="1">
              <a:spcBef>
                <a:spcPct val="20000"/>
              </a:spcBef>
              <a:buClr>
                <a:schemeClr val="accent2"/>
              </a:buClr>
              <a:buSzPct val="55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4pPr>
            <a:lvl5pPr marL="2057400" indent="-228600" algn="l" defTabSz="914400" rtl="0" eaLnBrk="1" latinLnBrk="0" hangingPunct="1">
              <a:spcBef>
                <a:spcPct val="20000"/>
              </a:spcBef>
              <a:buClr>
                <a:schemeClr val="accent1"/>
              </a:buClr>
              <a:buSzPct val="50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Tahoma" panose="020B0604030504040204" pitchFamily="34" charset="0"/>
                <a:ea typeface="宋体" panose="02010600030101010101" pitchFamily="2" charset="-122"/>
                <a:cs typeface="+mn-cs"/>
              </a:defRPr>
            </a:lvl9pPr>
          </a:lstStyle>
          <a:p>
            <a:pPr algn="ctr">
              <a:spcBef>
                <a:spcPct val="0"/>
              </a:spcBef>
              <a:buClrTx/>
              <a:buSzTx/>
              <a:buFontTx/>
              <a:buNone/>
            </a:pPr>
            <a:endParaRPr lang="en-US" altLang="zh-CN" sz="1400" dirty="0"/>
          </a:p>
        </p:txBody>
      </p:sp>
      <p:sp>
        <p:nvSpPr>
          <p:cNvPr id="5" name="内容占位符 2">
            <a:extLst>
              <a:ext uri="{FF2B5EF4-FFF2-40B4-BE49-F238E27FC236}">
                <a16:creationId xmlns:a16="http://schemas.microsoft.com/office/drawing/2014/main" id="{21C483D3-29DC-2304-A18F-457D48068879}"/>
              </a:ext>
            </a:extLst>
          </p:cNvPr>
          <p:cNvSpPr txBox="1">
            <a:spLocks noChangeArrowheads="1"/>
          </p:cNvSpPr>
          <p:nvPr/>
        </p:nvSpPr>
        <p:spPr>
          <a:xfrm>
            <a:off x="1919288" y="2017713"/>
            <a:ext cx="85598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CA" altLang="en-US" dirty="0"/>
          </a:p>
        </p:txBody>
      </p:sp>
      <p:sp>
        <p:nvSpPr>
          <p:cNvPr id="7" name="标题 1">
            <a:extLst>
              <a:ext uri="{FF2B5EF4-FFF2-40B4-BE49-F238E27FC236}">
                <a16:creationId xmlns:a16="http://schemas.microsoft.com/office/drawing/2014/main" id="{7A33CA28-4D48-4CFC-9FF0-C6C2392828E7}"/>
              </a:ext>
            </a:extLst>
          </p:cNvPr>
          <p:cNvSpPr txBox="1">
            <a:spLocks noChangeArrowheads="1"/>
          </p:cNvSpPr>
          <p:nvPr/>
        </p:nvSpPr>
        <p:spPr>
          <a:xfrm>
            <a:off x="1935401" y="376045"/>
            <a:ext cx="8589963" cy="10207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CA" altLang="en-US" dirty="0">
              <a:solidFill>
                <a:srgbClr val="FF0000"/>
              </a:solidFill>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9C7A1A89-5173-9900-B3CB-DDBD660CBF7E}"/>
              </a:ext>
            </a:extLst>
          </p:cNvPr>
          <p:cNvSpPr txBox="1">
            <a:spLocks noChangeArrowheads="1"/>
          </p:cNvSpPr>
          <p:nvPr/>
        </p:nvSpPr>
        <p:spPr>
          <a:xfrm>
            <a:off x="1595439" y="2058988"/>
            <a:ext cx="85598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A" altLang="en-US"/>
              <a:t> </a:t>
            </a:r>
            <a:endParaRPr lang="en-CA" altLang="en-US" dirty="0"/>
          </a:p>
        </p:txBody>
      </p:sp>
      <p:sp>
        <p:nvSpPr>
          <p:cNvPr id="9" name="Text Box 2">
            <a:extLst>
              <a:ext uri="{FF2B5EF4-FFF2-40B4-BE49-F238E27FC236}">
                <a16:creationId xmlns:a16="http://schemas.microsoft.com/office/drawing/2014/main" id="{9F35CE59-07B5-D349-1B57-5943DF044986}"/>
              </a:ext>
            </a:extLst>
          </p:cNvPr>
          <p:cNvSpPr txBox="1">
            <a:spLocks noChangeArrowheads="1"/>
          </p:cNvSpPr>
          <p:nvPr/>
        </p:nvSpPr>
        <p:spPr bwMode="auto">
          <a:xfrm>
            <a:off x="5295905" y="2816208"/>
            <a:ext cx="1339851" cy="400110"/>
          </a:xfrm>
          <a:prstGeom prst="rect">
            <a:avLst/>
          </a:prstGeom>
          <a:solidFill>
            <a:srgbClr val="3333FF"/>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dirty="0">
                <a:solidFill>
                  <a:srgbClr val="FFFF99"/>
                </a:solidFill>
                <a:latin typeface="宋体" panose="02010600030101010101" pitchFamily="2" charset="-122"/>
              </a:rPr>
              <a:t>信息窃取</a:t>
            </a:r>
            <a:endParaRPr kumimoji="1" lang="zh-CN" altLang="en-US" sz="2400" dirty="0">
              <a:solidFill>
                <a:srgbClr val="FFFF99"/>
              </a:solidFill>
              <a:latin typeface="宋体" panose="02010600030101010101" pitchFamily="2" charset="-122"/>
            </a:endParaRPr>
          </a:p>
        </p:txBody>
      </p:sp>
      <p:sp>
        <p:nvSpPr>
          <p:cNvPr id="10" name="AutoShape 3">
            <a:extLst>
              <a:ext uri="{FF2B5EF4-FFF2-40B4-BE49-F238E27FC236}">
                <a16:creationId xmlns:a16="http://schemas.microsoft.com/office/drawing/2014/main" id="{00676F4A-4500-CC93-CB0D-5F6096E19252}"/>
              </a:ext>
            </a:extLst>
          </p:cNvPr>
          <p:cNvSpPr>
            <a:spLocks noChangeArrowheads="1"/>
          </p:cNvSpPr>
          <p:nvPr/>
        </p:nvSpPr>
        <p:spPr bwMode="auto">
          <a:xfrm>
            <a:off x="3611563" y="3541713"/>
            <a:ext cx="3657600" cy="2133600"/>
          </a:xfrm>
          <a:prstGeom prst="cloudCallout">
            <a:avLst>
              <a:gd name="adj1" fmla="val 954"/>
              <a:gd name="adj2" fmla="val 52454"/>
            </a:avLst>
          </a:prstGeom>
          <a:solidFill>
            <a:srgbClr val="66FFFF"/>
          </a:solidFill>
          <a:ln w="9525">
            <a:solidFill>
              <a:srgbClr val="000000"/>
            </a:solidFill>
            <a:round/>
            <a:headEnd/>
            <a:tailEnd/>
          </a:ln>
          <a:effectLst>
            <a:outerShdw dist="107763" dir="2700000" algn="ctr" rotWithShape="0">
              <a:srgbClr val="808080"/>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graphicFrame>
        <p:nvGraphicFramePr>
          <p:cNvPr id="11" name="Object 4">
            <a:extLst>
              <a:ext uri="{FF2B5EF4-FFF2-40B4-BE49-F238E27FC236}">
                <a16:creationId xmlns:a16="http://schemas.microsoft.com/office/drawing/2014/main" id="{63D01822-557F-96E9-0BD1-67394DEA2AB9}"/>
              </a:ext>
            </a:extLst>
          </p:cNvPr>
          <p:cNvGraphicFramePr>
            <a:graphicFrameLocks noChangeAspect="1"/>
          </p:cNvGraphicFramePr>
          <p:nvPr>
            <p:extLst>
              <p:ext uri="{D42A27DB-BD31-4B8C-83A1-F6EECF244321}">
                <p14:modId xmlns:p14="http://schemas.microsoft.com/office/powerpoint/2010/main" val="2231095019"/>
              </p:ext>
            </p:extLst>
          </p:nvPr>
        </p:nvGraphicFramePr>
        <p:xfrm>
          <a:off x="5556262" y="5630871"/>
          <a:ext cx="1073151" cy="1079500"/>
        </p:xfrm>
        <a:graphic>
          <a:graphicData uri="http://schemas.openxmlformats.org/presentationml/2006/ole">
            <mc:AlternateContent xmlns:mc="http://schemas.openxmlformats.org/markup-compatibility/2006">
              <mc:Choice xmlns:v="urn:schemas-microsoft-com:vml" Requires="v">
                <p:oleObj name="剪辑" r:id="rId7" imgW="1847739" imgH="1857572" progId="MS_ClipArt_Gallery.2">
                  <p:embed/>
                </p:oleObj>
              </mc:Choice>
              <mc:Fallback>
                <p:oleObj name="剪辑" r:id="rId7" imgW="1847739" imgH="1857572" progId="MS_ClipArt_Gallery.2">
                  <p:embed/>
                  <p:pic>
                    <p:nvPicPr>
                      <p:cNvPr id="17" name="Object 4">
                        <a:extLst>
                          <a:ext uri="{FF2B5EF4-FFF2-40B4-BE49-F238E27FC236}">
                            <a16:creationId xmlns:a16="http://schemas.microsoft.com/office/drawing/2014/main" id="{CBBEF0F9-C150-4186-A2EB-C3A9B2FA5DE6}"/>
                          </a:ext>
                        </a:extLst>
                      </p:cNvPr>
                      <p:cNvPicPr>
                        <a:picLocks noChangeAspect="1" noChangeArrowheads="1"/>
                      </p:cNvPicPr>
                      <p:nvPr/>
                    </p:nvPicPr>
                    <p:blipFill>
                      <a:blip r:embed="rId8">
                        <a:lum contrast="6000"/>
                        <a:extLst>
                          <a:ext uri="{28A0092B-C50C-407E-A947-70E740481C1C}">
                            <a14:useLocalDpi xmlns:a14="http://schemas.microsoft.com/office/drawing/2010/main" val="0"/>
                          </a:ext>
                        </a:extLst>
                      </a:blip>
                      <a:srcRect/>
                      <a:stretch>
                        <a:fillRect/>
                      </a:stretch>
                    </p:blipFill>
                    <p:spPr bwMode="auto">
                      <a:xfrm>
                        <a:off x="5556262" y="5630871"/>
                        <a:ext cx="1073151"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5">
            <a:extLst>
              <a:ext uri="{FF2B5EF4-FFF2-40B4-BE49-F238E27FC236}">
                <a16:creationId xmlns:a16="http://schemas.microsoft.com/office/drawing/2014/main" id="{C1C41D95-E536-7467-8B2B-62304D6FEADB}"/>
              </a:ext>
            </a:extLst>
          </p:cNvPr>
          <p:cNvGraphicFramePr>
            <a:graphicFrameLocks noChangeAspect="1"/>
          </p:cNvGraphicFramePr>
          <p:nvPr>
            <p:extLst>
              <p:ext uri="{D42A27DB-BD31-4B8C-83A1-F6EECF244321}">
                <p14:modId xmlns:p14="http://schemas.microsoft.com/office/powerpoint/2010/main" val="3304950468"/>
              </p:ext>
            </p:extLst>
          </p:nvPr>
        </p:nvGraphicFramePr>
        <p:xfrm>
          <a:off x="6210305" y="3362335"/>
          <a:ext cx="930275" cy="738188"/>
        </p:xfrm>
        <a:graphic>
          <a:graphicData uri="http://schemas.openxmlformats.org/presentationml/2006/ole">
            <mc:AlternateContent xmlns:mc="http://schemas.openxmlformats.org/markup-compatibility/2006">
              <mc:Choice xmlns:v="urn:schemas-microsoft-com:vml" Requires="v">
                <p:oleObj name="剪辑" r:id="rId9" imgW="4603090" imgH="3652114" progId="MS_ClipArt_Gallery.2">
                  <p:embed/>
                </p:oleObj>
              </mc:Choice>
              <mc:Fallback>
                <p:oleObj name="剪辑" r:id="rId9" imgW="4603090" imgH="3652114" progId="MS_ClipArt_Gallery.2">
                  <p:embed/>
                  <p:pic>
                    <p:nvPicPr>
                      <p:cNvPr id="18" name="Object 5">
                        <a:extLst>
                          <a:ext uri="{FF2B5EF4-FFF2-40B4-BE49-F238E27FC236}">
                            <a16:creationId xmlns:a16="http://schemas.microsoft.com/office/drawing/2014/main" id="{D12FAF57-C449-4BAF-8CDC-65385E5E108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0305" y="3362335"/>
                        <a:ext cx="930275"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6">
            <a:extLst>
              <a:ext uri="{FF2B5EF4-FFF2-40B4-BE49-F238E27FC236}">
                <a16:creationId xmlns:a16="http://schemas.microsoft.com/office/drawing/2014/main" id="{E56E3848-837D-62BC-48F1-5302831AEC00}"/>
              </a:ext>
            </a:extLst>
          </p:cNvPr>
          <p:cNvGraphicFramePr>
            <a:graphicFrameLocks noChangeAspect="1"/>
          </p:cNvGraphicFramePr>
          <p:nvPr>
            <p:extLst>
              <p:ext uri="{D42A27DB-BD31-4B8C-83A1-F6EECF244321}">
                <p14:modId xmlns:p14="http://schemas.microsoft.com/office/powerpoint/2010/main" val="1503537462"/>
              </p:ext>
            </p:extLst>
          </p:nvPr>
        </p:nvGraphicFramePr>
        <p:xfrm>
          <a:off x="3771905" y="4962540"/>
          <a:ext cx="944563" cy="1179513"/>
        </p:xfrm>
        <a:graphic>
          <a:graphicData uri="http://schemas.openxmlformats.org/presentationml/2006/ole">
            <mc:AlternateContent xmlns:mc="http://schemas.openxmlformats.org/markup-compatibility/2006">
              <mc:Choice xmlns:v="urn:schemas-microsoft-com:vml" Requires="v">
                <p:oleObj name="剪辑" r:id="rId11" imgW="944575" imgH="1180490" progId="MS_ClipArt_Gallery.2">
                  <p:embed/>
                </p:oleObj>
              </mc:Choice>
              <mc:Fallback>
                <p:oleObj name="剪辑" r:id="rId11" imgW="944575" imgH="1180490" progId="MS_ClipArt_Gallery.2">
                  <p:embed/>
                  <p:pic>
                    <p:nvPicPr>
                      <p:cNvPr id="19" name="Object 6">
                        <a:extLst>
                          <a:ext uri="{FF2B5EF4-FFF2-40B4-BE49-F238E27FC236}">
                            <a16:creationId xmlns:a16="http://schemas.microsoft.com/office/drawing/2014/main" id="{0F5D3625-F128-4290-9778-624DEAEC1EE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1905" y="4962540"/>
                        <a:ext cx="944563" cy="1179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AutoShape 7">
            <a:extLst>
              <a:ext uri="{FF2B5EF4-FFF2-40B4-BE49-F238E27FC236}">
                <a16:creationId xmlns:a16="http://schemas.microsoft.com/office/drawing/2014/main" id="{88243847-F3B2-0E57-1E04-D38C7B00BE0C}"/>
              </a:ext>
            </a:extLst>
          </p:cNvPr>
          <p:cNvSpPr>
            <a:spLocks noChangeArrowheads="1"/>
          </p:cNvSpPr>
          <p:nvPr/>
        </p:nvSpPr>
        <p:spPr bwMode="auto">
          <a:xfrm rot="19704483">
            <a:off x="4087828" y="4397375"/>
            <a:ext cx="2714625" cy="381000"/>
          </a:xfrm>
          <a:prstGeom prst="notchedRightArrow">
            <a:avLst>
              <a:gd name="adj1" fmla="val 50000"/>
              <a:gd name="adj2" fmla="val 178125"/>
            </a:avLst>
          </a:prstGeom>
          <a:solidFill>
            <a:srgbClr val="FF0000"/>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zh-CN" altLang="zh-CN" sz="2000">
              <a:solidFill>
                <a:schemeClr val="bg1"/>
              </a:solidFill>
              <a:latin typeface="Times New Roman" panose="02020603050405020304" pitchFamily="18" charset="0"/>
              <a:ea typeface="黑体" panose="02010609060101010101" pitchFamily="49" charset="-122"/>
            </a:endParaRPr>
          </a:p>
        </p:txBody>
      </p:sp>
      <p:sp>
        <p:nvSpPr>
          <p:cNvPr id="15" name="Text Box 8">
            <a:extLst>
              <a:ext uri="{FF2B5EF4-FFF2-40B4-BE49-F238E27FC236}">
                <a16:creationId xmlns:a16="http://schemas.microsoft.com/office/drawing/2014/main" id="{4051E6CD-6427-64B8-8396-1DC91A3A6778}"/>
              </a:ext>
            </a:extLst>
          </p:cNvPr>
          <p:cNvSpPr txBox="1">
            <a:spLocks noChangeArrowheads="1"/>
          </p:cNvSpPr>
          <p:nvPr/>
        </p:nvSpPr>
        <p:spPr bwMode="auto">
          <a:xfrm rot="19578566">
            <a:off x="4835535" y="4621184"/>
            <a:ext cx="1220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0">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dirty="0">
                <a:solidFill>
                  <a:srgbClr val="FF0000"/>
                </a:solidFill>
                <a:latin typeface="宋体" panose="02010600030101010101" pitchFamily="2" charset="-122"/>
              </a:rPr>
              <a:t>信息传递</a:t>
            </a:r>
            <a:endParaRPr kumimoji="1" lang="zh-CN" altLang="en-US" sz="2400" dirty="0">
              <a:latin typeface="宋体" panose="02010600030101010101" pitchFamily="2" charset="-122"/>
            </a:endParaRPr>
          </a:p>
        </p:txBody>
      </p:sp>
      <p:sp>
        <p:nvSpPr>
          <p:cNvPr id="16" name="Freeform 9">
            <a:extLst>
              <a:ext uri="{FF2B5EF4-FFF2-40B4-BE49-F238E27FC236}">
                <a16:creationId xmlns:a16="http://schemas.microsoft.com/office/drawing/2014/main" id="{1B44CF6F-412D-5534-AE7E-90395831E3B7}"/>
              </a:ext>
            </a:extLst>
          </p:cNvPr>
          <p:cNvSpPr>
            <a:spLocks/>
          </p:cNvSpPr>
          <p:nvPr/>
        </p:nvSpPr>
        <p:spPr bwMode="auto">
          <a:xfrm rot="1871170">
            <a:off x="4610100" y="3362325"/>
            <a:ext cx="990600" cy="1905000"/>
          </a:xfrm>
          <a:custGeom>
            <a:avLst/>
            <a:gdLst>
              <a:gd name="T0" fmla="*/ 2147483646 w 624"/>
              <a:gd name="T1" fmla="*/ 2147483646 h 1200"/>
              <a:gd name="T2" fmla="*/ 2147483646 w 624"/>
              <a:gd name="T3" fmla="*/ 2147483646 h 1200"/>
              <a:gd name="T4" fmla="*/ 0 w 624"/>
              <a:gd name="T5" fmla="*/ 0 h 1200"/>
              <a:gd name="T6" fmla="*/ 0 60000 65536"/>
              <a:gd name="T7" fmla="*/ 0 60000 65536"/>
              <a:gd name="T8" fmla="*/ 0 60000 65536"/>
              <a:gd name="T9" fmla="*/ 0 w 624"/>
              <a:gd name="T10" fmla="*/ 0 h 1200"/>
              <a:gd name="T11" fmla="*/ 624 w 624"/>
              <a:gd name="T12" fmla="*/ 1200 h 1200"/>
            </a:gdLst>
            <a:ahLst/>
            <a:cxnLst>
              <a:cxn ang="T6">
                <a:pos x="T0" y="T1"/>
              </a:cxn>
              <a:cxn ang="T7">
                <a:pos x="T2" y="T3"/>
              </a:cxn>
              <a:cxn ang="T8">
                <a:pos x="T4" y="T5"/>
              </a:cxn>
            </a:cxnLst>
            <a:rect l="T9" t="T10" r="T11" b="T12"/>
            <a:pathLst>
              <a:path w="624" h="1200">
                <a:moveTo>
                  <a:pt x="288" y="1200"/>
                </a:moveTo>
                <a:cubicBezTo>
                  <a:pt x="456" y="916"/>
                  <a:pt x="624" y="632"/>
                  <a:pt x="576" y="432"/>
                </a:cubicBezTo>
                <a:cubicBezTo>
                  <a:pt x="528" y="232"/>
                  <a:pt x="264" y="116"/>
                  <a:pt x="0" y="0"/>
                </a:cubicBezTo>
              </a:path>
            </a:pathLst>
          </a:custGeom>
          <a:noFill/>
          <a:ln w="15240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p>
        </p:txBody>
      </p:sp>
      <p:graphicFrame>
        <p:nvGraphicFramePr>
          <p:cNvPr id="17" name="Object 10">
            <a:extLst>
              <a:ext uri="{FF2B5EF4-FFF2-40B4-BE49-F238E27FC236}">
                <a16:creationId xmlns:a16="http://schemas.microsoft.com/office/drawing/2014/main" id="{1F891F47-AC6C-777B-4E22-0B5617BF202E}"/>
              </a:ext>
            </a:extLst>
          </p:cNvPr>
          <p:cNvGraphicFramePr>
            <a:graphicFrameLocks noChangeAspect="1"/>
          </p:cNvGraphicFramePr>
          <p:nvPr>
            <p:extLst>
              <p:ext uri="{D42A27DB-BD31-4B8C-83A1-F6EECF244321}">
                <p14:modId xmlns:p14="http://schemas.microsoft.com/office/powerpoint/2010/main" val="830618177"/>
              </p:ext>
            </p:extLst>
          </p:nvPr>
        </p:nvGraphicFramePr>
        <p:xfrm>
          <a:off x="4187825" y="2965451"/>
          <a:ext cx="1016000" cy="1092200"/>
        </p:xfrm>
        <a:graphic>
          <a:graphicData uri="http://schemas.openxmlformats.org/presentationml/2006/ole">
            <mc:AlternateContent xmlns:mc="http://schemas.openxmlformats.org/markup-compatibility/2006">
              <mc:Choice xmlns:v="urn:schemas-microsoft-com:vml" Requires="v">
                <p:oleObj name="剪辑" r:id="rId13" imgW="3025775" imgH="3252788" progId="MS_ClipArt_Gallery.2">
                  <p:embed/>
                </p:oleObj>
              </mc:Choice>
              <mc:Fallback>
                <p:oleObj name="剪辑" r:id="rId13" imgW="3025775" imgH="3252788" progId="MS_ClipArt_Gallery.2">
                  <p:embed/>
                  <p:pic>
                    <p:nvPicPr>
                      <p:cNvPr id="23" name="Object 10">
                        <a:extLst>
                          <a:ext uri="{FF2B5EF4-FFF2-40B4-BE49-F238E27FC236}">
                            <a16:creationId xmlns:a16="http://schemas.microsoft.com/office/drawing/2014/main" id="{67DDCC48-46BE-48B4-AD16-B14810BBBAA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87825" y="2965451"/>
                        <a:ext cx="1016000"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AutoShape 11">
            <a:extLst>
              <a:ext uri="{FF2B5EF4-FFF2-40B4-BE49-F238E27FC236}">
                <a16:creationId xmlns:a16="http://schemas.microsoft.com/office/drawing/2014/main" id="{6DA7F3CD-DF38-CCA0-316D-6EA7C5E3D205}"/>
              </a:ext>
            </a:extLst>
          </p:cNvPr>
          <p:cNvSpPr>
            <a:spLocks noChangeArrowheads="1"/>
          </p:cNvSpPr>
          <p:nvPr/>
        </p:nvSpPr>
        <p:spPr bwMode="auto">
          <a:xfrm rot="17497920">
            <a:off x="5524500" y="4505325"/>
            <a:ext cx="1752600" cy="381000"/>
          </a:xfrm>
          <a:prstGeom prst="notchedRightArrow">
            <a:avLst>
              <a:gd name="adj1" fmla="val 50000"/>
              <a:gd name="adj2" fmla="val 115000"/>
            </a:avLst>
          </a:prstGeom>
          <a:solidFill>
            <a:srgbClr val="3333FF"/>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zh-CN" altLang="zh-CN" sz="2000">
              <a:solidFill>
                <a:schemeClr val="bg1"/>
              </a:solidFill>
              <a:latin typeface="Times New Roman" panose="02020603050405020304" pitchFamily="18" charset="0"/>
              <a:ea typeface="黑体" panose="02010609060101010101" pitchFamily="49" charset="-122"/>
            </a:endParaRPr>
          </a:p>
        </p:txBody>
      </p:sp>
      <p:sp>
        <p:nvSpPr>
          <p:cNvPr id="19" name="Text Box 12">
            <a:extLst>
              <a:ext uri="{FF2B5EF4-FFF2-40B4-BE49-F238E27FC236}">
                <a16:creationId xmlns:a16="http://schemas.microsoft.com/office/drawing/2014/main" id="{0EF31465-E6E6-8097-2C64-BA47A4CA307F}"/>
              </a:ext>
            </a:extLst>
          </p:cNvPr>
          <p:cNvSpPr txBox="1">
            <a:spLocks noChangeArrowheads="1"/>
          </p:cNvSpPr>
          <p:nvPr/>
        </p:nvSpPr>
        <p:spPr bwMode="auto">
          <a:xfrm>
            <a:off x="6667513" y="5570520"/>
            <a:ext cx="1265239" cy="400110"/>
          </a:xfrm>
          <a:prstGeom prst="rect">
            <a:avLst/>
          </a:prstGeom>
          <a:solidFill>
            <a:schemeClr val="tx1"/>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dirty="0">
                <a:solidFill>
                  <a:srgbClr val="FFFF99"/>
                </a:solidFill>
                <a:latin typeface="宋体" panose="02010600030101010101" pitchFamily="2" charset="-122"/>
              </a:rPr>
              <a:t>信息冒充</a:t>
            </a:r>
            <a:endParaRPr kumimoji="1" lang="zh-CN" altLang="en-US" sz="2400" dirty="0">
              <a:solidFill>
                <a:srgbClr val="FFFF99"/>
              </a:solidFill>
              <a:latin typeface="宋体" panose="02010600030101010101" pitchFamily="2" charset="-122"/>
            </a:endParaRPr>
          </a:p>
        </p:txBody>
      </p:sp>
      <p:graphicFrame>
        <p:nvGraphicFramePr>
          <p:cNvPr id="20" name="Object 13">
            <a:extLst>
              <a:ext uri="{FF2B5EF4-FFF2-40B4-BE49-F238E27FC236}">
                <a16:creationId xmlns:a16="http://schemas.microsoft.com/office/drawing/2014/main" id="{4F5F5F52-084D-6F02-F1FF-D20138828563}"/>
              </a:ext>
            </a:extLst>
          </p:cNvPr>
          <p:cNvGraphicFramePr>
            <a:graphicFrameLocks noChangeAspect="1"/>
          </p:cNvGraphicFramePr>
          <p:nvPr>
            <p:extLst>
              <p:ext uri="{D42A27DB-BD31-4B8C-83A1-F6EECF244321}">
                <p14:modId xmlns:p14="http://schemas.microsoft.com/office/powerpoint/2010/main" val="2901548238"/>
              </p:ext>
            </p:extLst>
          </p:nvPr>
        </p:nvGraphicFramePr>
        <p:xfrm>
          <a:off x="6180141" y="2905129"/>
          <a:ext cx="1173163" cy="1057275"/>
        </p:xfrm>
        <a:graphic>
          <a:graphicData uri="http://schemas.openxmlformats.org/presentationml/2006/ole">
            <mc:AlternateContent xmlns:mc="http://schemas.openxmlformats.org/markup-compatibility/2006">
              <mc:Choice xmlns:v="urn:schemas-microsoft-com:vml" Requires="v">
                <p:oleObj name="剪辑" r:id="rId15" imgW="3717925" imgH="3352800" progId="MS_ClipArt_Gallery.2">
                  <p:embed/>
                </p:oleObj>
              </mc:Choice>
              <mc:Fallback>
                <p:oleObj name="剪辑" r:id="rId15" imgW="3717925" imgH="3352800" progId="MS_ClipArt_Gallery.2">
                  <p:embed/>
                  <p:pic>
                    <p:nvPicPr>
                      <p:cNvPr id="26" name="Object 13">
                        <a:extLst>
                          <a:ext uri="{FF2B5EF4-FFF2-40B4-BE49-F238E27FC236}">
                            <a16:creationId xmlns:a16="http://schemas.microsoft.com/office/drawing/2014/main" id="{1BFAB735-461D-4356-8F95-B6C19D3A811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80141" y="2905129"/>
                        <a:ext cx="1173163"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14">
            <a:extLst>
              <a:ext uri="{FF2B5EF4-FFF2-40B4-BE49-F238E27FC236}">
                <a16:creationId xmlns:a16="http://schemas.microsoft.com/office/drawing/2014/main" id="{1E90FB36-69D5-5279-B8B7-D05B0A129E07}"/>
              </a:ext>
            </a:extLst>
          </p:cNvPr>
          <p:cNvSpPr txBox="1">
            <a:spLocks noChangeArrowheads="1"/>
          </p:cNvSpPr>
          <p:nvPr/>
        </p:nvSpPr>
        <p:spPr bwMode="auto">
          <a:xfrm>
            <a:off x="7353314" y="3341670"/>
            <a:ext cx="1298575" cy="400110"/>
          </a:xfrm>
          <a:prstGeom prst="rect">
            <a:avLst/>
          </a:prstGeom>
          <a:solidFill>
            <a:schemeClr val="accent2"/>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dirty="0">
                <a:solidFill>
                  <a:srgbClr val="FFFF99"/>
                </a:solidFill>
                <a:latin typeface="宋体" panose="02010600030101010101" pitchFamily="2" charset="-122"/>
              </a:rPr>
              <a:t>信息篡改</a:t>
            </a:r>
            <a:endParaRPr kumimoji="1" lang="zh-CN" altLang="en-US" sz="2400" dirty="0">
              <a:solidFill>
                <a:srgbClr val="FFFF99"/>
              </a:solidFill>
              <a:latin typeface="宋体" panose="02010600030101010101" pitchFamily="2" charset="-122"/>
            </a:endParaRPr>
          </a:p>
        </p:txBody>
      </p:sp>
      <p:graphicFrame>
        <p:nvGraphicFramePr>
          <p:cNvPr id="22" name="Object 15">
            <a:extLst>
              <a:ext uri="{FF2B5EF4-FFF2-40B4-BE49-F238E27FC236}">
                <a16:creationId xmlns:a16="http://schemas.microsoft.com/office/drawing/2014/main" id="{8984382E-7D8F-BF21-FE7A-6D29D1150F3A}"/>
              </a:ext>
            </a:extLst>
          </p:cNvPr>
          <p:cNvGraphicFramePr>
            <a:graphicFrameLocks noChangeAspect="1"/>
          </p:cNvGraphicFramePr>
          <p:nvPr>
            <p:extLst>
              <p:ext uri="{D42A27DB-BD31-4B8C-83A1-F6EECF244321}">
                <p14:modId xmlns:p14="http://schemas.microsoft.com/office/powerpoint/2010/main" val="1067990617"/>
              </p:ext>
            </p:extLst>
          </p:nvPr>
        </p:nvGraphicFramePr>
        <p:xfrm>
          <a:off x="3314714" y="4657729"/>
          <a:ext cx="1490663" cy="1235075"/>
        </p:xfrm>
        <a:graphic>
          <a:graphicData uri="http://schemas.openxmlformats.org/presentationml/2006/ole">
            <mc:AlternateContent xmlns:mc="http://schemas.openxmlformats.org/markup-compatibility/2006">
              <mc:Choice xmlns:v="urn:schemas-microsoft-com:vml" Requires="v">
                <p:oleObj name="剪辑" r:id="rId17" imgW="4046538" imgH="3352800" progId="MS_ClipArt_Gallery.2">
                  <p:embed/>
                </p:oleObj>
              </mc:Choice>
              <mc:Fallback>
                <p:oleObj name="剪辑" r:id="rId17" imgW="4046538" imgH="3352800" progId="MS_ClipArt_Gallery.2">
                  <p:embed/>
                  <p:pic>
                    <p:nvPicPr>
                      <p:cNvPr id="28" name="Object 15">
                        <a:extLst>
                          <a:ext uri="{FF2B5EF4-FFF2-40B4-BE49-F238E27FC236}">
                            <a16:creationId xmlns:a16="http://schemas.microsoft.com/office/drawing/2014/main" id="{7CDADA47-609C-48FA-B877-1F7E6DEDCAF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14714" y="4657729"/>
                        <a:ext cx="1490663"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Text Box 16">
            <a:extLst>
              <a:ext uri="{FF2B5EF4-FFF2-40B4-BE49-F238E27FC236}">
                <a16:creationId xmlns:a16="http://schemas.microsoft.com/office/drawing/2014/main" id="{3D951D89-0F07-4E29-909A-E012E86772DE}"/>
              </a:ext>
            </a:extLst>
          </p:cNvPr>
          <p:cNvSpPr txBox="1">
            <a:spLocks noChangeArrowheads="1"/>
          </p:cNvSpPr>
          <p:nvPr/>
        </p:nvSpPr>
        <p:spPr bwMode="auto">
          <a:xfrm>
            <a:off x="2316168" y="4579920"/>
            <a:ext cx="1290637" cy="400110"/>
          </a:xfrm>
          <a:prstGeom prst="rect">
            <a:avLst/>
          </a:prstGeom>
          <a:solidFill>
            <a:srgbClr val="336600"/>
          </a:solidFill>
          <a:ln>
            <a:noFill/>
          </a:ln>
          <a:effectLst>
            <a:prstShdw prst="shdw13" dist="53882" dir="13500000">
              <a:srgbClr val="808080"/>
            </a:prstShdw>
          </a:effectLst>
          <a:extLst>
            <a:ext uri="{91240B29-F687-4F45-9708-019B960494DF}">
              <a14:hiddenLine xmlns:a14="http://schemas.microsoft.com/office/drawing/2010/main" w="127000">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000" b="1" dirty="0">
                <a:solidFill>
                  <a:srgbClr val="FFFF99"/>
                </a:solidFill>
                <a:latin typeface="宋体" panose="02010600030101010101" pitchFamily="2" charset="-122"/>
              </a:rPr>
              <a:t>信息抵赖</a:t>
            </a:r>
            <a:endParaRPr kumimoji="1" lang="zh-CN" altLang="en-US" sz="2400" dirty="0">
              <a:solidFill>
                <a:srgbClr val="FFFF99"/>
              </a:solidFill>
              <a:latin typeface="宋体" panose="02010600030101010101" pitchFamily="2" charset="-122"/>
            </a:endParaRPr>
          </a:p>
        </p:txBody>
      </p:sp>
      <p:sp>
        <p:nvSpPr>
          <p:cNvPr id="24" name="AutoShape 17">
            <a:extLst>
              <a:ext uri="{FF2B5EF4-FFF2-40B4-BE49-F238E27FC236}">
                <a16:creationId xmlns:a16="http://schemas.microsoft.com/office/drawing/2014/main" id="{19491C9A-A669-600D-A829-2E8052CEC188}"/>
              </a:ext>
            </a:extLst>
          </p:cNvPr>
          <p:cNvSpPr>
            <a:spLocks noChangeArrowheads="1"/>
          </p:cNvSpPr>
          <p:nvPr/>
        </p:nvSpPr>
        <p:spPr bwMode="auto">
          <a:xfrm>
            <a:off x="7416804" y="1609725"/>
            <a:ext cx="2676525" cy="685800"/>
          </a:xfrm>
          <a:prstGeom prst="wedgeRoundRectCallout">
            <a:avLst>
              <a:gd name="adj1" fmla="val -84755"/>
              <a:gd name="adj2" fmla="val 118750"/>
              <a:gd name="adj3" fmla="val 16667"/>
            </a:avLst>
          </a:prstGeom>
          <a:solidFill>
            <a:srgbClr val="FFFF99"/>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dirty="0">
                <a:solidFill>
                  <a:srgbClr val="FF0000"/>
                </a:solidFill>
                <a:latin typeface="宋体" panose="02010600030101010101" pitchFamily="2" charset="-122"/>
              </a:rPr>
              <a:t>加密技术</a:t>
            </a:r>
            <a:endParaRPr kumimoji="1" lang="zh-CN" altLang="en-US" sz="2400" dirty="0">
              <a:latin typeface="宋体" panose="02010600030101010101" pitchFamily="2" charset="-122"/>
            </a:endParaRPr>
          </a:p>
        </p:txBody>
      </p:sp>
      <p:sp>
        <p:nvSpPr>
          <p:cNvPr id="25" name="AutoShape 18">
            <a:extLst>
              <a:ext uri="{FF2B5EF4-FFF2-40B4-BE49-F238E27FC236}">
                <a16:creationId xmlns:a16="http://schemas.microsoft.com/office/drawing/2014/main" id="{82D45EB5-3657-66B2-4E9E-165FF92D337E}"/>
              </a:ext>
            </a:extLst>
          </p:cNvPr>
          <p:cNvSpPr>
            <a:spLocks noChangeArrowheads="1"/>
          </p:cNvSpPr>
          <p:nvPr/>
        </p:nvSpPr>
        <p:spPr bwMode="auto">
          <a:xfrm>
            <a:off x="8053393" y="3830639"/>
            <a:ext cx="2290763" cy="685800"/>
          </a:xfrm>
          <a:prstGeom prst="wedgeRoundRectCallout">
            <a:avLst>
              <a:gd name="adj1" fmla="val -67463"/>
              <a:gd name="adj2" fmla="val -61343"/>
              <a:gd name="adj3" fmla="val 16667"/>
            </a:avLst>
          </a:prstGeom>
          <a:solidFill>
            <a:srgbClr val="FFFF99"/>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dirty="0">
                <a:solidFill>
                  <a:srgbClr val="FF0000"/>
                </a:solidFill>
                <a:latin typeface="宋体" panose="02010600030101010101" pitchFamily="2" charset="-122"/>
              </a:rPr>
              <a:t>完整性技术</a:t>
            </a:r>
            <a:endParaRPr kumimoji="1" lang="zh-CN" altLang="en-US" sz="2400" dirty="0">
              <a:latin typeface="宋体" panose="02010600030101010101" pitchFamily="2" charset="-122"/>
            </a:endParaRPr>
          </a:p>
        </p:txBody>
      </p:sp>
      <p:sp>
        <p:nvSpPr>
          <p:cNvPr id="26" name="AutoShape 19">
            <a:extLst>
              <a:ext uri="{FF2B5EF4-FFF2-40B4-BE49-F238E27FC236}">
                <a16:creationId xmlns:a16="http://schemas.microsoft.com/office/drawing/2014/main" id="{B7661F65-9D43-F353-E281-04785B7ABE42}"/>
              </a:ext>
            </a:extLst>
          </p:cNvPr>
          <p:cNvSpPr>
            <a:spLocks noChangeArrowheads="1"/>
          </p:cNvSpPr>
          <p:nvPr/>
        </p:nvSpPr>
        <p:spPr bwMode="auto">
          <a:xfrm>
            <a:off x="8077204" y="5054600"/>
            <a:ext cx="2016125" cy="685800"/>
          </a:xfrm>
          <a:prstGeom prst="wedgeRoundRectCallout">
            <a:avLst>
              <a:gd name="adj1" fmla="val -61259"/>
              <a:gd name="adj2" fmla="val 70370"/>
              <a:gd name="adj3" fmla="val 16667"/>
            </a:avLst>
          </a:prstGeom>
          <a:solidFill>
            <a:srgbClr val="FFFF99"/>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dirty="0">
                <a:solidFill>
                  <a:srgbClr val="FF0000"/>
                </a:solidFill>
                <a:latin typeface="宋体" panose="02010600030101010101" pitchFamily="2" charset="-122"/>
              </a:rPr>
              <a:t>认证技术</a:t>
            </a:r>
            <a:endParaRPr kumimoji="1" lang="zh-CN" altLang="en-US" sz="2400" dirty="0">
              <a:latin typeface="宋体" panose="02010600030101010101" pitchFamily="2" charset="-122"/>
            </a:endParaRPr>
          </a:p>
        </p:txBody>
      </p:sp>
      <p:sp>
        <p:nvSpPr>
          <p:cNvPr id="27" name="AutoShape 20">
            <a:extLst>
              <a:ext uri="{FF2B5EF4-FFF2-40B4-BE49-F238E27FC236}">
                <a16:creationId xmlns:a16="http://schemas.microsoft.com/office/drawing/2014/main" id="{CA9A9F8F-51AA-5E0A-FD9A-1912B9EA0C9A}"/>
              </a:ext>
            </a:extLst>
          </p:cNvPr>
          <p:cNvSpPr>
            <a:spLocks noChangeArrowheads="1"/>
          </p:cNvSpPr>
          <p:nvPr/>
        </p:nvSpPr>
        <p:spPr bwMode="auto">
          <a:xfrm>
            <a:off x="2100277" y="2749551"/>
            <a:ext cx="2232025" cy="685800"/>
          </a:xfrm>
          <a:prstGeom prst="wedgeRoundRectCallout">
            <a:avLst>
              <a:gd name="adj1" fmla="val -8537"/>
              <a:gd name="adj2" fmla="val 203935"/>
              <a:gd name="adj3" fmla="val 16667"/>
            </a:avLst>
          </a:prstGeom>
          <a:solidFill>
            <a:srgbClr val="FFFF99"/>
          </a:solidFill>
          <a:ln w="9525">
            <a:solidFill>
              <a:srgbClr val="000000"/>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dirty="0">
                <a:solidFill>
                  <a:srgbClr val="FF0000"/>
                </a:solidFill>
                <a:latin typeface="宋体" panose="02010600030101010101" pitchFamily="2" charset="-122"/>
              </a:rPr>
              <a:t>数字签名</a:t>
            </a:r>
            <a:endParaRPr kumimoji="1" lang="zh-CN" altLang="en-US" sz="2400" dirty="0">
              <a:latin typeface="宋体" panose="02010600030101010101" pitchFamily="2" charset="-122"/>
            </a:endParaRPr>
          </a:p>
        </p:txBody>
      </p:sp>
      <p:sp>
        <p:nvSpPr>
          <p:cNvPr id="28" name="灯片编号占位符 3">
            <a:extLst>
              <a:ext uri="{FF2B5EF4-FFF2-40B4-BE49-F238E27FC236}">
                <a16:creationId xmlns:a16="http://schemas.microsoft.com/office/drawing/2014/main" id="{0C0C365B-7518-9F00-8B7E-35E3E113771E}"/>
              </a:ext>
            </a:extLst>
          </p:cNvPr>
          <p:cNvSpPr txBox="1">
            <a:spLocks/>
          </p:cNvSpPr>
          <p:nvPr/>
        </p:nvSpPr>
        <p:spPr>
          <a:xfrm>
            <a:off x="8610600" y="635635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dirty="0"/>
          </a:p>
        </p:txBody>
      </p:sp>
    </p:spTree>
    <p:extLst>
      <p:ext uri="{BB962C8B-B14F-4D97-AF65-F5344CB8AC3E}">
        <p14:creationId xmlns:p14="http://schemas.microsoft.com/office/powerpoint/2010/main" val="105872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Bottom)">
                                      <p:cBhvr>
                                        <p:cTn id="12" dur="500"/>
                                        <p:tgtEl>
                                          <p:spTgt spid="13"/>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lide(fromBottom)">
                                      <p:cBhvr>
                                        <p:cTn id="16" dur="500"/>
                                        <p:tgtEl>
                                          <p:spTgt spid="12"/>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slide(fromBottom)">
                                      <p:cBhvr>
                                        <p:cTn id="29" dur="500"/>
                                        <p:tgtEl>
                                          <p:spTgt spid="17"/>
                                        </p:tgtEl>
                                      </p:cBhvr>
                                    </p:animEffect>
                                  </p:childTnLst>
                                </p:cTn>
                              </p:par>
                            </p:childTnLst>
                          </p:cTn>
                        </p:par>
                        <p:par>
                          <p:cTn id="30" fill="hold">
                            <p:stCondLst>
                              <p:cond delay="500"/>
                            </p:stCondLst>
                            <p:childTnLst>
                              <p:par>
                                <p:cTn id="31" presetID="22" presetClass="entr" presetSubtype="4"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00"/>
                                        <p:tgtEl>
                                          <p:spTgt spid="16"/>
                                        </p:tgtEl>
                                      </p:cBhvr>
                                    </p:animEffect>
                                  </p:childTnLst>
                                </p:cTn>
                              </p:par>
                            </p:childTnLst>
                          </p:cTn>
                        </p:par>
                        <p:par>
                          <p:cTn id="34" fill="hold">
                            <p:stCondLst>
                              <p:cond delay="1000"/>
                            </p:stCondLst>
                            <p:childTnLst>
                              <p:par>
                                <p:cTn id="35" presetID="12" presetClass="entr" presetSubtype="8"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Left)">
                                      <p:cBhvr>
                                        <p:cTn id="37" dur="500"/>
                                        <p:tgtEl>
                                          <p:spTgt spid="9"/>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slide(fromBottom)">
                                      <p:cBhvr>
                                        <p:cTn id="47" dur="500"/>
                                        <p:tgtEl>
                                          <p:spTgt spid="11"/>
                                        </p:tgtEl>
                                      </p:cBhvr>
                                    </p:animEffec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down)">
                                      <p:cBhvr>
                                        <p:cTn id="51" dur="500"/>
                                        <p:tgtEl>
                                          <p:spTgt spid="18"/>
                                        </p:tgtEl>
                                      </p:cBhvr>
                                    </p:animEffect>
                                  </p:childTnLst>
                                </p:cTn>
                              </p:par>
                            </p:childTnLst>
                          </p:cTn>
                        </p:par>
                        <p:par>
                          <p:cTn id="52" fill="hold">
                            <p:stCondLst>
                              <p:cond delay="1000"/>
                            </p:stCondLst>
                            <p:childTnLst>
                              <p:par>
                                <p:cTn id="53" presetID="12" presetClass="entr" presetSubtype="8"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slide(fromLeft)">
                                      <p:cBhvr>
                                        <p:cTn id="55" dur="500"/>
                                        <p:tgtEl>
                                          <p:spTgt spid="19"/>
                                        </p:tgtEl>
                                      </p:cBhvr>
                                    </p:animEffect>
                                  </p:childTnLst>
                                  <p:subTnLst>
                                    <p:audio>
                                      <p:cMediaNode>
                                        <p:cTn display="0" masterRel="sameClick">
                                          <p:stCondLst>
                                            <p:cond evt="begin" delay="0">
                                              <p:tn val="53"/>
                                            </p:cond>
                                          </p:stCondLst>
                                          <p:endCondLst>
                                            <p:cond evt="onStopAudio" delay="0">
                                              <p:tgtEl>
                                                <p:sldTgt/>
                                              </p:tgtEl>
                                            </p:cond>
                                          </p:endCondLst>
                                        </p:cTn>
                                        <p:tgtEl>
                                          <p:sndTgt r:embed="rId4" name="chimes.wav"/>
                                        </p:tgtEl>
                                      </p:cMediaNode>
                                    </p:audio>
                                  </p:sub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slide(fromBottom)">
                                      <p:cBhvr>
                                        <p:cTn id="65" dur="500"/>
                                        <p:tgtEl>
                                          <p:spTgt spid="20"/>
                                        </p:tgtEl>
                                      </p:cBhvr>
                                    </p:animEffect>
                                  </p:childTnLst>
                                </p:cTn>
                              </p:par>
                            </p:childTnLst>
                          </p:cTn>
                        </p:par>
                        <p:par>
                          <p:cTn id="66" fill="hold">
                            <p:stCondLst>
                              <p:cond delay="500"/>
                            </p:stCondLst>
                            <p:childTnLst>
                              <p:par>
                                <p:cTn id="67" presetID="12" presetClass="entr" presetSubtype="8"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slide(fromLeft)">
                                      <p:cBhvr>
                                        <p:cTn id="69" dur="500"/>
                                        <p:tgtEl>
                                          <p:spTgt spid="21"/>
                                        </p:tgtEl>
                                      </p:cBhvr>
                                    </p:animEffect>
                                  </p:childTnLst>
                                  <p:subTnLst>
                                    <p:audio>
                                      <p:cMediaNode>
                                        <p:cTn display="0" masterRel="sameClick">
                                          <p:stCondLst>
                                            <p:cond evt="begin" delay="0">
                                              <p:tn val="67"/>
                                            </p:cond>
                                          </p:stCondLst>
                                          <p:endCondLst>
                                            <p:cond evt="onStopAudio" delay="0">
                                              <p:tgtEl>
                                                <p:sldTgt/>
                                              </p:tgtEl>
                                            </p:cond>
                                          </p:endCondLst>
                                        </p:cTn>
                                        <p:tgtEl>
                                          <p:sndTgt r:embed="rId5" name="type.wav"/>
                                        </p:tgtEl>
                                      </p:cMediaNode>
                                    </p:audio>
                                  </p:sub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slide(fromBottom)">
                                      <p:cBhvr>
                                        <p:cTn id="79" dur="500"/>
                                        <p:tgtEl>
                                          <p:spTgt spid="22"/>
                                        </p:tgtEl>
                                      </p:cBhvr>
                                    </p:animEffect>
                                  </p:childTnLst>
                                </p:cTn>
                              </p:par>
                            </p:childTnLst>
                          </p:cTn>
                        </p:par>
                        <p:par>
                          <p:cTn id="80" fill="hold">
                            <p:stCondLst>
                              <p:cond delay="500"/>
                            </p:stCondLst>
                            <p:childTnLst>
                              <p:par>
                                <p:cTn id="81" presetID="12" presetClass="entr" presetSubtype="2" fill="hold" grpId="0" nodeType="after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slide(fromRight)">
                                      <p:cBhvr>
                                        <p:cTn id="83" dur="500"/>
                                        <p:tgtEl>
                                          <p:spTgt spid="23"/>
                                        </p:tgtEl>
                                      </p:cBhvr>
                                    </p:animEffect>
                                  </p:childTnLst>
                                  <p:subTnLst>
                                    <p:audio>
                                      <p:cMediaNode>
                                        <p:cTn display="0" masterRel="sameClick">
                                          <p:stCondLst>
                                            <p:cond evt="begin" delay="0">
                                              <p:tn val="81"/>
                                            </p:cond>
                                          </p:stCondLst>
                                          <p:endCondLst>
                                            <p:cond evt="onStopAudio" delay="0">
                                              <p:tgtEl>
                                                <p:sldTgt/>
                                              </p:tgtEl>
                                            </p:cond>
                                          </p:endCondLst>
                                        </p:cTn>
                                        <p:tgtEl>
                                          <p:sndTgt r:embed="rId6" name="cashreg.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down)">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P spid="14" grpId="0" animBg="1"/>
      <p:bldP spid="15" grpId="0" autoUpdateAnimBg="0"/>
      <p:bldP spid="18" grpId="0" animBg="1"/>
      <p:bldP spid="19" grpId="0" animBg="1" autoUpdateAnimBg="0"/>
      <p:bldP spid="21" grpId="0" animBg="1" autoUpdateAnimBg="0"/>
      <p:bldP spid="23" grpId="0" animBg="1" autoUpdateAnimBg="0"/>
      <p:bldP spid="24" grpId="0" animBg="1" autoUpdateAnimBg="0"/>
      <p:bldP spid="25" grpId="0" animBg="1" autoUpdateAnimBg="0"/>
      <p:bldP spid="26" grpId="0" animBg="1" autoUpdateAnimBg="0"/>
      <p:bldP spid="27"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17"/>
            <a:ext cx="3057247"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什么是密码学？</a:t>
            </a:r>
          </a:p>
        </p:txBody>
      </p:sp>
      <p:pic>
        <p:nvPicPr>
          <p:cNvPr id="41" name="그래픽 23">
            <a:extLst>
              <a:ext uri="{FF2B5EF4-FFF2-40B4-BE49-F238E27FC236}">
                <a16:creationId xmlns:a16="http://schemas.microsoft.com/office/drawing/2014/main" id="{6C86BBD7-3855-5344-AE3E-1639ECB7EF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71597" y="2656638"/>
            <a:ext cx="371435" cy="360823"/>
          </a:xfrm>
          <a:prstGeom prst="rect">
            <a:avLst/>
          </a:prstGeom>
        </p:spPr>
      </p:pic>
      <p:sp>
        <p:nvSpPr>
          <p:cNvPr id="43" name="文本框 42">
            <a:extLst>
              <a:ext uri="{FF2B5EF4-FFF2-40B4-BE49-F238E27FC236}">
                <a16:creationId xmlns:a16="http://schemas.microsoft.com/office/drawing/2014/main" id="{2B84975D-3045-284B-81A4-BE8FE68AF373}"/>
              </a:ext>
            </a:extLst>
          </p:cNvPr>
          <p:cNvSpPr txBox="1"/>
          <p:nvPr/>
        </p:nvSpPr>
        <p:spPr>
          <a:xfrm>
            <a:off x="3124932" y="1881622"/>
            <a:ext cx="7224712" cy="688202"/>
          </a:xfrm>
          <a:prstGeom prst="rect">
            <a:avLst/>
          </a:prstGeom>
          <a:noFill/>
        </p:spPr>
        <p:txBody>
          <a:bodyPr wrap="square" rtlCol="0">
            <a:spAutoFit/>
          </a:bodyPr>
          <a:lstStyle/>
          <a:p>
            <a:pPr lvl="0">
              <a:lnSpc>
                <a:spcPct val="150000"/>
              </a:lnSpc>
              <a:defRPr/>
            </a:pPr>
            <a:r>
              <a:rPr kumimoji="1" lang="zh-CN" altLang="en-US" sz="1400" dirty="0">
                <a:latin typeface="宋体" panose="02010600030101010101" pitchFamily="2" charset="-122"/>
                <a:ea typeface="宋体" panose="02010600030101010101" pitchFamily="2" charset="-122"/>
                <a:cs typeface="+mn-ea"/>
                <a:sym typeface="+mn-lt"/>
              </a:rPr>
              <a:t>密码是一种特定暗号或口令字，如个人银行取款使用“密码”，登录计算机和屏幕保护中使用的“密码”，开启保险箱使用的“密码”等等</a:t>
            </a:r>
          </a:p>
        </p:txBody>
      </p:sp>
      <p:sp>
        <p:nvSpPr>
          <p:cNvPr id="44" name="文本框 43">
            <a:extLst>
              <a:ext uri="{FF2B5EF4-FFF2-40B4-BE49-F238E27FC236}">
                <a16:creationId xmlns:a16="http://schemas.microsoft.com/office/drawing/2014/main" id="{78C7E719-A124-FA4E-8812-DA0140BA9A62}"/>
              </a:ext>
            </a:extLst>
          </p:cNvPr>
          <p:cNvSpPr txBox="1"/>
          <p:nvPr/>
        </p:nvSpPr>
        <p:spPr>
          <a:xfrm>
            <a:off x="3124941" y="1519125"/>
            <a:ext cx="1107996" cy="369332"/>
          </a:xfrm>
          <a:prstGeom prst="rect">
            <a:avLst/>
          </a:prstGeom>
          <a:noFill/>
        </p:spPr>
        <p:txBody>
          <a:bodyPr wrap="none" rtlCol="0">
            <a:spAutoFit/>
          </a:bodyPr>
          <a:lstStyle/>
          <a:p>
            <a:pPr defTabSz="914332">
              <a:defRPr/>
            </a:pPr>
            <a:r>
              <a:rPr kumimoji="1" lang="zh-CN" altLang="en-US" dirty="0">
                <a:latin typeface="宋体" panose="02010600030101010101" pitchFamily="2" charset="-122"/>
                <a:ea typeface="宋体" panose="02010600030101010101" pitchFamily="2" charset="-122"/>
                <a:cs typeface="+mn-ea"/>
                <a:sym typeface="+mn-lt"/>
              </a:rPr>
              <a:t>通俗意义</a:t>
            </a:r>
          </a:p>
        </p:txBody>
      </p:sp>
      <p:sp>
        <p:nvSpPr>
          <p:cNvPr id="45" name="文本框 44">
            <a:extLst>
              <a:ext uri="{FF2B5EF4-FFF2-40B4-BE49-F238E27FC236}">
                <a16:creationId xmlns:a16="http://schemas.microsoft.com/office/drawing/2014/main" id="{11C7B133-7EF2-3B4B-BDDD-03190D352602}"/>
              </a:ext>
            </a:extLst>
          </p:cNvPr>
          <p:cNvSpPr txBox="1"/>
          <p:nvPr/>
        </p:nvSpPr>
        <p:spPr>
          <a:xfrm>
            <a:off x="3124941" y="3095765"/>
            <a:ext cx="7224713" cy="1657698"/>
          </a:xfrm>
          <a:prstGeom prst="rect">
            <a:avLst/>
          </a:prstGeom>
          <a:noFill/>
        </p:spPr>
        <p:txBody>
          <a:bodyPr wrap="square" rtlCol="0">
            <a:spAutoFit/>
          </a:bodyPr>
          <a:lstStyle/>
          <a:p>
            <a:pPr marL="171438" indent="-171438">
              <a:lnSpc>
                <a:spcPct val="150000"/>
              </a:lnSpc>
              <a:buFont typeface="Arial" panose="020B0604020202020204" pitchFamily="34" charset="0"/>
              <a:buChar char="•"/>
              <a:defRPr/>
            </a:pPr>
            <a:r>
              <a:rPr kumimoji="1" lang="zh-CN" altLang="en-US" sz="1400" dirty="0">
                <a:latin typeface="宋体" panose="02010600030101010101" pitchFamily="2" charset="-122"/>
                <a:ea typeface="宋体" panose="02010600030101010101" pitchFamily="2" charset="-122"/>
                <a:cs typeface="+mn-ea"/>
                <a:sym typeface="+mn-lt"/>
              </a:rPr>
              <a:t>密码是按照特定法则编成，用以对通信双方的信息进行明文→密文变换符号。或者说，密码是隐藏了真实内容的符号序列。</a:t>
            </a:r>
            <a:endParaRPr kumimoji="1" lang="en-US" altLang="zh-CN" sz="1400" dirty="0">
              <a:latin typeface="宋体" panose="02010600030101010101" pitchFamily="2" charset="-122"/>
              <a:ea typeface="宋体" panose="02010600030101010101" pitchFamily="2" charset="-122"/>
              <a:cs typeface="+mn-ea"/>
              <a:sym typeface="+mn-lt"/>
            </a:endParaRPr>
          </a:p>
          <a:p>
            <a:pPr marL="171438" indent="-171438">
              <a:lnSpc>
                <a:spcPct val="150000"/>
              </a:lnSpc>
              <a:buFont typeface="Arial" panose="020B0604020202020204" pitchFamily="34" charset="0"/>
              <a:buChar char="•"/>
              <a:defRPr/>
            </a:pPr>
            <a:r>
              <a:rPr kumimoji="1" lang="zh-CN" altLang="en-US" sz="1400" dirty="0">
                <a:latin typeface="宋体" panose="02010600030101010101" pitchFamily="2" charset="-122"/>
                <a:ea typeface="宋体" panose="02010600030101010101" pitchFamily="2" charset="-122"/>
                <a:cs typeface="+mn-ea"/>
                <a:sym typeface="+mn-lt"/>
              </a:rPr>
              <a:t>将无法识别的信息进行再加工工作并恢复到原真实内容的过程称为解密，解密前提是必须知道密钥。</a:t>
            </a:r>
          </a:p>
          <a:p>
            <a:pPr marL="171438" indent="-171438">
              <a:lnSpc>
                <a:spcPct val="150000"/>
              </a:lnSpc>
              <a:buFont typeface="Arial" panose="020B0604020202020204" pitchFamily="34" charset="0"/>
              <a:buChar char="•"/>
              <a:defRPr/>
            </a:pPr>
            <a:r>
              <a:rPr kumimoji="1" lang="zh-CN" altLang="en-US" sz="1400" dirty="0">
                <a:latin typeface="宋体" panose="02010600030101010101" pitchFamily="2" charset="-122"/>
                <a:ea typeface="宋体" panose="02010600030101010101" pitchFamily="2" charset="-122"/>
                <a:cs typeface="+mn-ea"/>
                <a:sym typeface="+mn-lt"/>
              </a:rPr>
              <a:t>研究“加密”和“解密”方法的科学称为密码学</a:t>
            </a:r>
            <a:endParaRPr kumimoji="1" lang="en-US" altLang="zh-CN" sz="1400" dirty="0">
              <a:latin typeface="宋体" panose="02010600030101010101" pitchFamily="2" charset="-122"/>
              <a:ea typeface="宋体" panose="02010600030101010101" pitchFamily="2" charset="-122"/>
              <a:cs typeface="+mn-ea"/>
              <a:sym typeface="+mn-lt"/>
            </a:endParaRPr>
          </a:p>
        </p:txBody>
      </p:sp>
      <p:sp>
        <p:nvSpPr>
          <p:cNvPr id="46" name="文本框 45">
            <a:extLst>
              <a:ext uri="{FF2B5EF4-FFF2-40B4-BE49-F238E27FC236}">
                <a16:creationId xmlns:a16="http://schemas.microsoft.com/office/drawing/2014/main" id="{B9D9C659-A255-8D4B-B8B8-3537C0570DEF}"/>
              </a:ext>
            </a:extLst>
          </p:cNvPr>
          <p:cNvSpPr txBox="1"/>
          <p:nvPr/>
        </p:nvSpPr>
        <p:spPr>
          <a:xfrm>
            <a:off x="3124941" y="2648120"/>
            <a:ext cx="1107996" cy="369332"/>
          </a:xfrm>
          <a:prstGeom prst="rect">
            <a:avLst/>
          </a:prstGeom>
          <a:noFill/>
        </p:spPr>
        <p:txBody>
          <a:bodyPr wrap="none" rtlCol="0">
            <a:spAutoFit/>
          </a:bodyPr>
          <a:lstStyle/>
          <a:p>
            <a:pPr defTabSz="914332">
              <a:defRPr/>
            </a:pPr>
            <a:r>
              <a:rPr kumimoji="1" lang="zh-CN" altLang="en-US" dirty="0">
                <a:latin typeface="宋体" panose="02010600030101010101" pitchFamily="2" charset="-122"/>
                <a:ea typeface="宋体" panose="02010600030101010101" pitchFamily="2" charset="-122"/>
                <a:cs typeface="+mn-ea"/>
                <a:sym typeface="+mn-lt"/>
              </a:rPr>
              <a:t>科学意义</a:t>
            </a:r>
          </a:p>
        </p:txBody>
      </p:sp>
      <p:sp>
        <p:nvSpPr>
          <p:cNvPr id="48" name="文本框 47">
            <a:extLst>
              <a:ext uri="{FF2B5EF4-FFF2-40B4-BE49-F238E27FC236}">
                <a16:creationId xmlns:a16="http://schemas.microsoft.com/office/drawing/2014/main" id="{16379D3D-7132-2F4D-9109-C929D920B2FC}"/>
              </a:ext>
            </a:extLst>
          </p:cNvPr>
          <p:cNvSpPr txBox="1"/>
          <p:nvPr/>
        </p:nvSpPr>
        <p:spPr>
          <a:xfrm>
            <a:off x="3124933" y="4843299"/>
            <a:ext cx="7142811" cy="923330"/>
          </a:xfrm>
          <a:prstGeom prst="rect">
            <a:avLst/>
          </a:prstGeom>
          <a:noFill/>
        </p:spPr>
        <p:txBody>
          <a:bodyPr wrap="square" rtlCol="0">
            <a:spAutoFit/>
          </a:bodyPr>
          <a:lstStyle/>
          <a:p>
            <a:pPr>
              <a:defRPr/>
            </a:pPr>
            <a:r>
              <a:rPr kumimoji="1" lang="zh-CN" altLang="en-US" dirty="0">
                <a:latin typeface="宋体" panose="02010600030101010101" pitchFamily="2" charset="-122"/>
                <a:ea typeface="宋体" panose="02010600030101010101" pitchFamily="2" charset="-122"/>
                <a:cs typeface="+mn-ea"/>
                <a:sym typeface="+mn-lt"/>
              </a:rPr>
              <a:t>密码学是研究编制密码和破译密码的技术科学。研究密码变化的客观规律，应用于编制密码以保守通信秘密的，称为编码学；应用于破译密码以获取通信情报的，称为破译学，总称密码学。 </a:t>
            </a:r>
          </a:p>
        </p:txBody>
      </p:sp>
      <p:pic>
        <p:nvPicPr>
          <p:cNvPr id="27" name="그래픽 23">
            <a:extLst>
              <a:ext uri="{FF2B5EF4-FFF2-40B4-BE49-F238E27FC236}">
                <a16:creationId xmlns:a16="http://schemas.microsoft.com/office/drawing/2014/main" id="{F768C3FE-F307-C7A0-2EE0-483F9A5B1BE0}"/>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2671597" y="4714398"/>
            <a:ext cx="371435" cy="360823"/>
          </a:xfrm>
          <a:prstGeom prst="rect">
            <a:avLst/>
          </a:prstGeom>
        </p:spPr>
      </p:pic>
      <p:pic>
        <p:nvPicPr>
          <p:cNvPr id="28" name="그래픽 23">
            <a:extLst>
              <a:ext uri="{FF2B5EF4-FFF2-40B4-BE49-F238E27FC236}">
                <a16:creationId xmlns:a16="http://schemas.microsoft.com/office/drawing/2014/main" id="{8B56E60C-ADDC-CDCA-2343-47B36EFCC5A8}"/>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2671597" y="1514467"/>
            <a:ext cx="371435" cy="360823"/>
          </a:xfrm>
          <a:prstGeom prst="rect">
            <a:avLst/>
          </a:prstGeom>
        </p:spPr>
      </p:pic>
    </p:spTree>
    <p:extLst>
      <p:ext uri="{BB962C8B-B14F-4D97-AF65-F5344CB8AC3E}">
        <p14:creationId xmlns:p14="http://schemas.microsoft.com/office/powerpoint/2010/main" val="412923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dissolve">
                                      <p:cBhvr>
                                        <p:cTn id="10" dur="500"/>
                                        <p:tgtEl>
                                          <p:spTgt spid="4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dissolve">
                                      <p:cBhvr>
                                        <p:cTn id="13" dur="500"/>
                                        <p:tgtEl>
                                          <p:spTgt spid="4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dissolve">
                                      <p:cBhvr>
                                        <p:cTn id="19" dur="500"/>
                                        <p:tgtEl>
                                          <p:spTgt spid="4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dissolve">
                                      <p:cBhvr>
                                        <p:cTn id="22" dur="500"/>
                                        <p:tgtEl>
                                          <p:spTgt spid="48"/>
                                        </p:tgtEl>
                                      </p:cBhvr>
                                    </p:animEffect>
                                  </p:childTnLst>
                                </p:cTn>
                              </p:par>
                              <p:par>
                                <p:cTn id="23" presetID="9"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dissolve">
                                      <p:cBhvr>
                                        <p:cTn id="25" dur="500"/>
                                        <p:tgtEl>
                                          <p:spTgt spid="27"/>
                                        </p:tgtEl>
                                      </p:cBhvr>
                                    </p:animEffect>
                                  </p:childTnLst>
                                </p:cTn>
                              </p:par>
                              <p:par>
                                <p:cTn id="26" presetID="9"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dissolve">
                                      <p:cBhvr>
                                        <p:cTn id="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1860199" y="1371600"/>
            <a:ext cx="8766176" cy="41148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155">
              <a:lnSpc>
                <a:spcPct val="100000"/>
              </a:lnSpc>
              <a:spcBef>
                <a:spcPct val="0"/>
              </a:spcBef>
              <a:buClr>
                <a:schemeClr val="accent1">
                  <a:lumMod val="75000"/>
                </a:schemeClr>
              </a:buClr>
              <a:buSzPct val="60000"/>
              <a:buFont typeface="Wingdings" panose="05000000000000000000" pitchFamily="2" charset="2"/>
              <a:buChar char="n"/>
            </a:pPr>
            <a:r>
              <a:rPr lang="zh-CN" altLang="en-US" sz="2000" dirty="0">
                <a:latin typeface="宋体" panose="02010600030101010101" pitchFamily="2" charset="-122"/>
                <a:ea typeface="宋体" panose="02010600030101010101" pitchFamily="2" charset="-122"/>
              </a:rPr>
              <a:t>自从有了消息的传递</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就有了对消息保密的需要。因此，密码学的研究已有几千年的历史。它的发展历史可大致分为三个阶段。</a:t>
            </a:r>
            <a:endParaRPr lang="en-US" altLang="zh-CN" sz="2000" dirty="0">
              <a:latin typeface="宋体" panose="02010600030101010101" pitchFamily="2" charset="-122"/>
              <a:ea typeface="宋体" panose="02010600030101010101" pitchFamily="2" charset="-122"/>
            </a:endParaRPr>
          </a:p>
          <a:p>
            <a:pPr marL="0" indent="0">
              <a:lnSpc>
                <a:spcPct val="100000"/>
              </a:lnSpc>
              <a:spcBef>
                <a:spcPct val="0"/>
              </a:spcBef>
              <a:buClr>
                <a:schemeClr val="accent1">
                  <a:lumMod val="75000"/>
                </a:schemeClr>
              </a:buClr>
              <a:buSzPct val="60000"/>
              <a:buNone/>
            </a:pPr>
            <a:endParaRPr lang="en-US" altLang="zh-CN" sz="2000" dirty="0">
              <a:latin typeface="宋体" panose="02010600030101010101" pitchFamily="2" charset="-122"/>
              <a:ea typeface="宋体" panose="02010600030101010101" pitchFamily="2" charset="-122"/>
            </a:endParaRPr>
          </a:p>
          <a:p>
            <a:pPr>
              <a:lnSpc>
                <a:spcPct val="100000"/>
              </a:lnSpc>
              <a:spcBef>
                <a:spcPct val="0"/>
              </a:spcBef>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第一阶段</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古典密码体制</a:t>
            </a:r>
          </a:p>
        </p:txBody>
      </p:sp>
      <p:graphicFrame>
        <p:nvGraphicFramePr>
          <p:cNvPr id="4" name="对象 3">
            <a:extLst>
              <a:ext uri="{FF2B5EF4-FFF2-40B4-BE49-F238E27FC236}">
                <a16:creationId xmlns:a16="http://schemas.microsoft.com/office/drawing/2014/main" id="{AD0D4389-6541-5699-F3C0-A25EE966D8DF}"/>
              </a:ext>
            </a:extLst>
          </p:cNvPr>
          <p:cNvGraphicFramePr>
            <a:graphicFrameLocks noChangeAspect="1"/>
          </p:cNvGraphicFramePr>
          <p:nvPr>
            <p:extLst>
              <p:ext uri="{D42A27DB-BD31-4B8C-83A1-F6EECF244321}">
                <p14:modId xmlns:p14="http://schemas.microsoft.com/office/powerpoint/2010/main" val="1433183183"/>
              </p:ext>
            </p:extLst>
          </p:nvPr>
        </p:nvGraphicFramePr>
        <p:xfrm>
          <a:off x="2206774" y="3204523"/>
          <a:ext cx="4341812" cy="2017712"/>
        </p:xfrm>
        <a:graphic>
          <a:graphicData uri="http://schemas.openxmlformats.org/presentationml/2006/ole">
            <mc:AlternateContent xmlns:mc="http://schemas.openxmlformats.org/markup-compatibility/2006">
              <mc:Choice xmlns:v="urn:schemas-microsoft-com:vml" Requires="v">
                <p:oleObj r:id="rId3" imgW="4361905" imgH="1886213" progId="Paint.Picture">
                  <p:embed/>
                </p:oleObj>
              </mc:Choice>
              <mc:Fallback>
                <p:oleObj r:id="rId3" imgW="4361905" imgH="1886213" progId="Paint.Picture">
                  <p:embed/>
                  <p:pic>
                    <p:nvPicPr>
                      <p:cNvPr id="13" name="对象 3">
                        <a:extLst>
                          <a:ext uri="{FF2B5EF4-FFF2-40B4-BE49-F238E27FC236}">
                            <a16:creationId xmlns:a16="http://schemas.microsoft.com/office/drawing/2014/main" id="{14B41226-CE63-4211-B30A-FEF9F0D86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774" y="3204523"/>
                        <a:ext cx="4341812"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 name="图片 5" descr="th">
            <a:extLst>
              <a:ext uri="{FF2B5EF4-FFF2-40B4-BE49-F238E27FC236}">
                <a16:creationId xmlns:a16="http://schemas.microsoft.com/office/drawing/2014/main" id="{8AD45307-4E56-1310-F628-B77D16213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8193" y="3204531"/>
            <a:ext cx="2312417" cy="201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571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1860199" y="1371600"/>
            <a:ext cx="8766176" cy="41148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accent1">
                  <a:lumMod val="75000"/>
                </a:schemeClr>
              </a:buClr>
              <a:buSzPct val="60000"/>
              <a:buNone/>
            </a:pPr>
            <a:r>
              <a:rPr lang="zh-CN" altLang="en-US" sz="2400" dirty="0">
                <a:latin typeface="宋体" panose="02010600030101010101" pitchFamily="2" charset="-122"/>
                <a:ea typeface="宋体" panose="02010600030101010101" pitchFamily="2" charset="-122"/>
              </a:rPr>
              <a:t>第二阶段</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传统密码体制</a:t>
            </a:r>
          </a:p>
          <a:p>
            <a:pPr>
              <a:lnSpc>
                <a:spcPct val="100000"/>
              </a:lnSpc>
              <a:spcBef>
                <a:spcPct val="0"/>
              </a:spcBef>
              <a:buClr>
                <a:schemeClr val="accent1">
                  <a:lumMod val="75000"/>
                </a:schemeClr>
              </a:buClr>
              <a:buSzPct val="60000"/>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1948</a:t>
            </a:r>
            <a:r>
              <a:rPr lang="zh-CN" altLang="en-US" sz="2000" dirty="0">
                <a:latin typeface="宋体" panose="02010600030101010101" pitchFamily="2" charset="-122"/>
                <a:ea typeface="宋体" panose="02010600030101010101" pitchFamily="2" charset="-122"/>
              </a:rPr>
              <a:t>年到</a:t>
            </a:r>
            <a:r>
              <a:rPr lang="en-US" altLang="zh-CN" sz="2000" dirty="0">
                <a:latin typeface="宋体" panose="02010600030101010101" pitchFamily="2" charset="-122"/>
                <a:ea typeface="宋体" panose="02010600030101010101" pitchFamily="2" charset="-122"/>
              </a:rPr>
              <a:t>1975</a:t>
            </a:r>
            <a:r>
              <a:rPr lang="zh-CN" altLang="en-US" sz="2000" dirty="0">
                <a:latin typeface="宋体" panose="02010600030101010101" pitchFamily="2" charset="-122"/>
                <a:ea typeface="宋体" panose="02010600030101010101" pitchFamily="2" charset="-122"/>
              </a:rPr>
              <a:t>年是密码发展的第二阶段。</a:t>
            </a:r>
          </a:p>
          <a:p>
            <a:pPr>
              <a:lnSpc>
                <a:spcPct val="100000"/>
              </a:lnSpc>
              <a:spcBef>
                <a:spcPct val="0"/>
              </a:spcBef>
              <a:buClr>
                <a:schemeClr val="accent1">
                  <a:lumMod val="75000"/>
                </a:schemeClr>
              </a:buClr>
              <a:buSzPct val="60000"/>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1948</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美国数学家</a:t>
            </a:r>
            <a:r>
              <a:rPr lang="en-US" altLang="zh-CN" sz="2000" dirty="0">
                <a:latin typeface="宋体" panose="02010600030101010101" pitchFamily="2" charset="-122"/>
                <a:ea typeface="宋体" panose="02010600030101010101" pitchFamily="2" charset="-122"/>
              </a:rPr>
              <a:t>Shannon. </a:t>
            </a:r>
            <a:r>
              <a:rPr lang="zh-CN" altLang="en-US" sz="2000" dirty="0">
                <a:latin typeface="宋体" panose="02010600030101010101" pitchFamily="2" charset="-122"/>
                <a:ea typeface="宋体" panose="02010600030101010101" pitchFamily="2" charset="-122"/>
              </a:rPr>
              <a:t>发表了题为“保密通信的信息理论”的论文，创立了著名的新理论</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信息论，标志着密码术到密码学的转变。 </a:t>
            </a:r>
          </a:p>
          <a:p>
            <a:pPr>
              <a:lnSpc>
                <a:spcPct val="100000"/>
              </a:lnSpc>
              <a:spcBef>
                <a:spcPct val="0"/>
              </a:spcBef>
              <a:buClr>
                <a:schemeClr val="accent1">
                  <a:lumMod val="75000"/>
                </a:schemeClr>
              </a:buClr>
              <a:buSzPct val="60000"/>
              <a:buFont typeface="Wingdings" panose="05000000000000000000" pitchFamily="2" charset="2"/>
              <a:buChar char="l"/>
            </a:pPr>
            <a:r>
              <a:rPr lang="zh-CN" altLang="en-US" sz="2000" noProof="1">
                <a:latin typeface="宋体" panose="02010600030101010101" pitchFamily="2" charset="-122"/>
                <a:ea typeface="宋体" panose="02010600030101010101" pitchFamily="2" charset="-122"/>
              </a:rPr>
              <a:t>1949年</a:t>
            </a:r>
            <a:r>
              <a:rPr lang="zh-CN" altLang="zh-CN" sz="2000" noProof="1">
                <a:latin typeface="宋体" panose="02010600030101010101" pitchFamily="2" charset="-122"/>
                <a:ea typeface="宋体" panose="02010600030101010101" pitchFamily="2" charset="-122"/>
              </a:rPr>
              <a:t>,</a:t>
            </a:r>
            <a:r>
              <a:rPr lang="zh-CN" altLang="en-US" sz="2000" noProof="1">
                <a:latin typeface="宋体" panose="02010600030101010101" pitchFamily="2" charset="-122"/>
                <a:ea typeface="宋体" panose="02010600030101010101" pitchFamily="2" charset="-122"/>
              </a:rPr>
              <a:t>发表了的论文“保密系统的通信理论”</a:t>
            </a:r>
            <a:r>
              <a:rPr lang="zh-CN" altLang="zh-CN" sz="2000" noProof="1">
                <a:latin typeface="宋体" panose="02010600030101010101" pitchFamily="2" charset="-122"/>
                <a:ea typeface="宋体" panose="02010600030101010101" pitchFamily="2" charset="-122"/>
              </a:rPr>
              <a:t>,</a:t>
            </a:r>
            <a:r>
              <a:rPr lang="zh-CN" altLang="en-US" sz="2000" noProof="1">
                <a:latin typeface="宋体" panose="02010600030101010101" pitchFamily="2" charset="-122"/>
                <a:ea typeface="宋体" panose="02010600030101010101" pitchFamily="2" charset="-122"/>
              </a:rPr>
              <a:t>首次将密码学研究置于坚实的数学基础上。</a:t>
            </a:r>
            <a:endParaRPr lang="zh-CN" altLang="en-US" sz="2400" noProof="1">
              <a:latin typeface="宋体" panose="02010600030101010101" pitchFamily="2" charset="-122"/>
              <a:ea typeface="宋体" panose="02010600030101010101" pitchFamily="2" charset="-122"/>
            </a:endParaRPr>
          </a:p>
          <a:p>
            <a:pPr>
              <a:lnSpc>
                <a:spcPct val="100000"/>
              </a:lnSpc>
              <a:spcBef>
                <a:spcPct val="0"/>
              </a:spcBef>
              <a:buClr>
                <a:schemeClr val="accent1">
                  <a:lumMod val="75000"/>
                </a:schemeClr>
              </a:buClr>
              <a:buSzPct val="60000"/>
              <a:buFont typeface="Wingdings" panose="05000000000000000000" pitchFamily="2" charset="2"/>
              <a:buChar char="l"/>
            </a:pPr>
            <a:endParaRPr lang="zh-CN" altLang="en-US" sz="2000" dirty="0">
              <a:latin typeface="宋体" panose="02010600030101010101" pitchFamily="2" charset="-122"/>
              <a:ea typeface="宋体" panose="02010600030101010101" pitchFamily="2" charset="-122"/>
            </a:endParaRPr>
          </a:p>
        </p:txBody>
      </p:sp>
      <p:pic>
        <p:nvPicPr>
          <p:cNvPr id="7" name="图片 24579" descr="shannon10">
            <a:extLst>
              <a:ext uri="{FF2B5EF4-FFF2-40B4-BE49-F238E27FC236}">
                <a16:creationId xmlns:a16="http://schemas.microsoft.com/office/drawing/2014/main" id="{6AF77121-5CB9-FA5D-2E7F-75EE21454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8184" y="3604872"/>
            <a:ext cx="1903113" cy="303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91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1860199" y="1371600"/>
            <a:ext cx="8766176" cy="41148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accent1">
                  <a:lumMod val="75000"/>
                </a:schemeClr>
              </a:buClr>
              <a:buSzPct val="60000"/>
              <a:buNone/>
            </a:pPr>
            <a:r>
              <a:rPr lang="zh-CN" altLang="en-US" sz="2400" dirty="0">
                <a:latin typeface="宋体" panose="02010600030101010101" pitchFamily="2" charset="-122"/>
                <a:ea typeface="宋体" panose="02010600030101010101" pitchFamily="2" charset="-122"/>
              </a:rPr>
              <a:t>第三阶段</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公钥密码体制</a:t>
            </a:r>
          </a:p>
          <a:p>
            <a:pPr>
              <a:lnSpc>
                <a:spcPct val="100000"/>
              </a:lnSpc>
              <a:spcBef>
                <a:spcPct val="0"/>
              </a:spcBef>
              <a:buClr>
                <a:schemeClr val="accent1">
                  <a:lumMod val="75000"/>
                </a:schemeClr>
              </a:buClr>
              <a:buSzPct val="60000"/>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1976</a:t>
            </a:r>
            <a:r>
              <a:rPr lang="zh-CN" altLang="en-US" sz="2000" dirty="0">
                <a:latin typeface="宋体" panose="02010600030101010101" pitchFamily="2" charset="-122"/>
                <a:ea typeface="宋体" panose="02010600030101010101" pitchFamily="2" charset="-122"/>
              </a:rPr>
              <a:t>年后，美国数据加密标准</a:t>
            </a:r>
            <a:r>
              <a:rPr lang="en-US" altLang="zh-CN" sz="2000" dirty="0">
                <a:latin typeface="宋体" panose="02010600030101010101" pitchFamily="2" charset="-122"/>
                <a:ea typeface="宋体" panose="02010600030101010101" pitchFamily="2" charset="-122"/>
              </a:rPr>
              <a:t>DES</a:t>
            </a:r>
            <a:r>
              <a:rPr lang="zh-CN" altLang="en-US" sz="2000" dirty="0">
                <a:latin typeface="宋体" panose="02010600030101010101" pitchFamily="2" charset="-122"/>
                <a:ea typeface="宋体" panose="02010600030101010101" pitchFamily="2" charset="-122"/>
              </a:rPr>
              <a:t>的公布使密码学的研究公开，于是密码学得到了迅速地发展。</a:t>
            </a:r>
          </a:p>
          <a:p>
            <a:pPr>
              <a:lnSpc>
                <a:spcPct val="100000"/>
              </a:lnSpc>
              <a:spcBef>
                <a:spcPct val="0"/>
              </a:spcBef>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著名密码学专家</a:t>
            </a:r>
            <a:r>
              <a:rPr lang="en-US" altLang="zh-CN" sz="2000" dirty="0" err="1">
                <a:latin typeface="宋体" panose="02010600030101010101" pitchFamily="2" charset="-122"/>
                <a:ea typeface="宋体" panose="02010600030101010101" pitchFamily="2" charset="-122"/>
              </a:rPr>
              <a:t>Diffe</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Hellman</a:t>
            </a:r>
            <a:r>
              <a:rPr lang="zh-CN" altLang="en-US" sz="2000" dirty="0">
                <a:latin typeface="宋体" panose="02010600030101010101" pitchFamily="2" charset="-122"/>
                <a:ea typeface="宋体" panose="02010600030101010101" pitchFamily="2" charset="-122"/>
              </a:rPr>
              <a:t>在“</a:t>
            </a:r>
            <a:r>
              <a:rPr lang="zh-CN" altLang="en-US" sz="2000" b="1" dirty="0">
                <a:latin typeface="宋体" panose="02010600030101010101" pitchFamily="2" charset="-122"/>
                <a:ea typeface="宋体" panose="02010600030101010101" pitchFamily="2" charset="-122"/>
              </a:rPr>
              <a:t>密码编码学新方向</a:t>
            </a:r>
            <a:r>
              <a:rPr lang="zh-CN" altLang="en-US" sz="2000" dirty="0">
                <a:latin typeface="宋体" panose="02010600030101010101" pitchFamily="2" charset="-122"/>
                <a:ea typeface="宋体" panose="02010600030101010101" pitchFamily="2" charset="-122"/>
              </a:rPr>
              <a:t>”一文中提出了公开密钥的思想，这使密码学产生了第二次飞跃，开创了公钥密码学的新纪元。</a:t>
            </a:r>
          </a:p>
        </p:txBody>
      </p:sp>
      <p:pic>
        <p:nvPicPr>
          <p:cNvPr id="8" name="图片 26627" descr="几个穿西装的男人&#10;&#10;描述已自动生成">
            <a:extLst>
              <a:ext uri="{FF2B5EF4-FFF2-40B4-BE49-F238E27FC236}">
                <a16:creationId xmlns:a16="http://schemas.microsoft.com/office/drawing/2014/main" id="{64C128A1-6FEC-6493-2518-551DA6A535D0}"/>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0588" y="3686177"/>
            <a:ext cx="5292725" cy="2598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155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1910045" y="975805"/>
            <a:ext cx="8766176" cy="4114800"/>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0"/>
              </a:spcBef>
              <a:buClr>
                <a:schemeClr val="accent1">
                  <a:lumMod val="75000"/>
                </a:schemeClr>
              </a:buClr>
              <a:buSzPct val="60000"/>
              <a:buFont typeface="Wingdings" panose="05000000000000000000" pitchFamily="2" charset="2"/>
              <a:buChar char="l"/>
            </a:pPr>
            <a:r>
              <a:rPr lang="zh-CN" altLang="en-US" sz="2000" b="1" dirty="0">
                <a:latin typeface="宋体" panose="02010600030101010101" pitchFamily="2" charset="-122"/>
                <a:ea typeface="宋体" panose="02010600030101010101" pitchFamily="2" charset="-122"/>
              </a:rPr>
              <a:t>密码学起源：</a:t>
            </a:r>
            <a:r>
              <a:rPr lang="zh-CN" altLang="en-US" sz="2000" dirty="0">
                <a:latin typeface="宋体" panose="02010600030101010101" pitchFamily="2" charset="-122"/>
                <a:ea typeface="宋体" panose="02010600030101010101" pitchFamily="2" charset="-122"/>
              </a:rPr>
              <a:t>大约在</a:t>
            </a:r>
            <a:r>
              <a:rPr lang="en-US" altLang="zh-CN" sz="2000" dirty="0">
                <a:latin typeface="宋体" panose="02010600030101010101" pitchFamily="2" charset="-122"/>
                <a:ea typeface="宋体" panose="02010600030101010101" pitchFamily="2" charset="-122"/>
              </a:rPr>
              <a:t>4000</a:t>
            </a:r>
            <a:r>
              <a:rPr lang="zh-CN" altLang="en-US" sz="2000" dirty="0">
                <a:latin typeface="宋体" panose="02010600030101010101" pitchFamily="2" charset="-122"/>
                <a:ea typeface="宋体" panose="02010600030101010101" pitchFamily="2" charset="-122"/>
              </a:rPr>
              <a:t>年以前，在古埃及的尼罗河畔，一位擅长书写者在贵族的基碑上书写铭文时有意用加以变形的象形文字而不是普通的象形文字来写铭文，从而揭开了有文字记载的密码史。这篇颇具神秘感的碑文，已具备了密码的基本特征：把一种符号</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明文</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用另一种符号</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密文</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代替</a:t>
            </a:r>
          </a:p>
          <a:p>
            <a:pPr>
              <a:lnSpc>
                <a:spcPct val="100000"/>
              </a:lnSpc>
              <a:spcBef>
                <a:spcPct val="0"/>
              </a:spcBef>
              <a:buClr>
                <a:schemeClr val="accent1">
                  <a:lumMod val="75000"/>
                </a:schemeClr>
              </a:buClr>
              <a:buSzPct val="60000"/>
              <a:buFont typeface="Wingdings" panose="05000000000000000000" pitchFamily="2" charset="2"/>
              <a:buChar char="l"/>
            </a:pPr>
            <a:endParaRPr lang="en-US" altLang="zh-CN" sz="2000" dirty="0">
              <a:latin typeface="宋体" panose="02010600030101010101" pitchFamily="2" charset="-122"/>
              <a:ea typeface="宋体" panose="02010600030101010101" pitchFamily="2" charset="-122"/>
            </a:endParaRPr>
          </a:p>
          <a:p>
            <a:pPr>
              <a:lnSpc>
                <a:spcPct val="100000"/>
              </a:lnSpc>
              <a:spcBef>
                <a:spcPct val="0"/>
              </a:spcBef>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公元前</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世纪，古斯巴达人使用了一种叫做“天书”的器械，这是人类历史上最早使用的密码器械。“天书”是一根用草纸条、皮条或羊皮纸条紧紧缠绕的木棍。密信自上而下写在羊皮纸条上。然后把羊皮纸条解开送出。把羊皮纸条重新缠在一根直径和原木棍相同的木棍上，这样字就一圈圈跳出来。 </a:t>
            </a:r>
          </a:p>
          <a:p>
            <a:pPr>
              <a:lnSpc>
                <a:spcPct val="100000"/>
              </a:lnSpc>
              <a:spcBef>
                <a:spcPct val="0"/>
              </a:spcBef>
              <a:buClr>
                <a:schemeClr val="accent1">
                  <a:lumMod val="75000"/>
                </a:schemeClr>
              </a:buClr>
              <a:buSzPct val="60000"/>
              <a:buFont typeface="Wingdings" panose="05000000000000000000" pitchFamily="2" charset="2"/>
              <a:buChar char="l"/>
            </a:pPr>
            <a:endParaRPr lang="zh-CN" altLang="en-US" sz="2000" dirty="0">
              <a:latin typeface="宋体" panose="02010600030101010101" pitchFamily="2" charset="-122"/>
              <a:ea typeface="宋体" panose="02010600030101010101" pitchFamily="2" charset="-122"/>
            </a:endParaRPr>
          </a:p>
        </p:txBody>
      </p:sp>
      <p:grpSp>
        <p:nvGrpSpPr>
          <p:cNvPr id="5" name="Group 4">
            <a:extLst>
              <a:ext uri="{FF2B5EF4-FFF2-40B4-BE49-F238E27FC236}">
                <a16:creationId xmlns:a16="http://schemas.microsoft.com/office/drawing/2014/main" id="{937C7C89-B800-FDBC-C552-AB2192F085BE}"/>
              </a:ext>
            </a:extLst>
          </p:cNvPr>
          <p:cNvGrpSpPr>
            <a:grpSpLocks/>
          </p:cNvGrpSpPr>
          <p:nvPr/>
        </p:nvGrpSpPr>
        <p:grpSpPr bwMode="auto">
          <a:xfrm>
            <a:off x="3848229" y="4193215"/>
            <a:ext cx="4703763" cy="1438275"/>
            <a:chOff x="480" y="1296"/>
            <a:chExt cx="3840" cy="1474"/>
          </a:xfrm>
        </p:grpSpPr>
        <p:sp>
          <p:nvSpPr>
            <p:cNvPr id="7" name="Oval 5">
              <a:extLst>
                <a:ext uri="{FF2B5EF4-FFF2-40B4-BE49-F238E27FC236}">
                  <a16:creationId xmlns:a16="http://schemas.microsoft.com/office/drawing/2014/main" id="{64B7F800-07D5-0DE2-839A-C87DB0879DBA}"/>
                </a:ext>
              </a:extLst>
            </p:cNvPr>
            <p:cNvSpPr>
              <a:spLocks noChangeArrowheads="1"/>
            </p:cNvSpPr>
            <p:nvPr/>
          </p:nvSpPr>
          <p:spPr bwMode="auto">
            <a:xfrm>
              <a:off x="480" y="1296"/>
              <a:ext cx="432" cy="912"/>
            </a:xfrm>
            <a:prstGeom prst="ellipse">
              <a:avLst/>
            </a:prstGeom>
            <a:solidFill>
              <a:srgbClr val="9966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9" name="Line 6">
              <a:extLst>
                <a:ext uri="{FF2B5EF4-FFF2-40B4-BE49-F238E27FC236}">
                  <a16:creationId xmlns:a16="http://schemas.microsoft.com/office/drawing/2014/main" id="{C67FA021-9E77-8285-5BDA-7C8E950CB04E}"/>
                </a:ext>
              </a:extLst>
            </p:cNvPr>
            <p:cNvSpPr>
              <a:spLocks noChangeShapeType="1"/>
            </p:cNvSpPr>
            <p:nvPr/>
          </p:nvSpPr>
          <p:spPr bwMode="auto">
            <a:xfrm>
              <a:off x="672" y="1296"/>
              <a:ext cx="34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7">
              <a:extLst>
                <a:ext uri="{FF2B5EF4-FFF2-40B4-BE49-F238E27FC236}">
                  <a16:creationId xmlns:a16="http://schemas.microsoft.com/office/drawing/2014/main" id="{213342A1-699A-2E33-DE2C-B50E1EB940DB}"/>
                </a:ext>
              </a:extLst>
            </p:cNvPr>
            <p:cNvSpPr>
              <a:spLocks noChangeShapeType="1"/>
            </p:cNvSpPr>
            <p:nvPr/>
          </p:nvSpPr>
          <p:spPr bwMode="auto">
            <a:xfrm>
              <a:off x="1248" y="2208"/>
              <a:ext cx="28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Freeform 8">
              <a:extLst>
                <a:ext uri="{FF2B5EF4-FFF2-40B4-BE49-F238E27FC236}">
                  <a16:creationId xmlns:a16="http://schemas.microsoft.com/office/drawing/2014/main" id="{714D2BE7-8CDD-4F38-5755-1300EEB0610E}"/>
                </a:ext>
              </a:extLst>
            </p:cNvPr>
            <p:cNvSpPr>
              <a:spLocks/>
            </p:cNvSpPr>
            <p:nvPr/>
          </p:nvSpPr>
          <p:spPr bwMode="auto">
            <a:xfrm>
              <a:off x="680" y="1307"/>
              <a:ext cx="646" cy="1429"/>
            </a:xfrm>
            <a:custGeom>
              <a:avLst/>
              <a:gdLst>
                <a:gd name="T0" fmla="*/ 189 w 646"/>
                <a:gd name="T1" fmla="*/ 778 h 1429"/>
                <a:gd name="T2" fmla="*/ 161 w 646"/>
                <a:gd name="T3" fmla="*/ 860 h 1429"/>
                <a:gd name="T4" fmla="*/ 152 w 646"/>
                <a:gd name="T5" fmla="*/ 887 h 1429"/>
                <a:gd name="T6" fmla="*/ 79 w 646"/>
                <a:gd name="T7" fmla="*/ 1134 h 1429"/>
                <a:gd name="T8" fmla="*/ 6 w 646"/>
                <a:gd name="T9" fmla="*/ 1290 h 1429"/>
                <a:gd name="T10" fmla="*/ 15 w 646"/>
                <a:gd name="T11" fmla="*/ 1317 h 1429"/>
                <a:gd name="T12" fmla="*/ 42 w 646"/>
                <a:gd name="T13" fmla="*/ 1326 h 1429"/>
                <a:gd name="T14" fmla="*/ 106 w 646"/>
                <a:gd name="T15" fmla="*/ 1354 h 1429"/>
                <a:gd name="T16" fmla="*/ 243 w 646"/>
                <a:gd name="T17" fmla="*/ 1418 h 1429"/>
                <a:gd name="T18" fmla="*/ 481 w 646"/>
                <a:gd name="T19" fmla="*/ 1372 h 1429"/>
                <a:gd name="T20" fmla="*/ 518 w 646"/>
                <a:gd name="T21" fmla="*/ 1262 h 1429"/>
                <a:gd name="T22" fmla="*/ 509 w 646"/>
                <a:gd name="T23" fmla="*/ 1098 h 1429"/>
                <a:gd name="T24" fmla="*/ 527 w 646"/>
                <a:gd name="T25" fmla="*/ 1070 h 1429"/>
                <a:gd name="T26" fmla="*/ 563 w 646"/>
                <a:gd name="T27" fmla="*/ 960 h 1429"/>
                <a:gd name="T28" fmla="*/ 646 w 646"/>
                <a:gd name="T29" fmla="*/ 549 h 1429"/>
                <a:gd name="T30" fmla="*/ 609 w 646"/>
                <a:gd name="T31" fmla="*/ 220 h 1429"/>
                <a:gd name="T32" fmla="*/ 563 w 646"/>
                <a:gd name="T33" fmla="*/ 119 h 1429"/>
                <a:gd name="T34" fmla="*/ 509 w 646"/>
                <a:gd name="T35" fmla="*/ 0 h 14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46" h="1429">
                  <a:moveTo>
                    <a:pt x="189" y="778"/>
                  </a:moveTo>
                  <a:cubicBezTo>
                    <a:pt x="172" y="825"/>
                    <a:pt x="183" y="793"/>
                    <a:pt x="161" y="860"/>
                  </a:cubicBezTo>
                  <a:cubicBezTo>
                    <a:pt x="158" y="869"/>
                    <a:pt x="152" y="887"/>
                    <a:pt x="152" y="887"/>
                  </a:cubicBezTo>
                  <a:cubicBezTo>
                    <a:pt x="138" y="972"/>
                    <a:pt x="106" y="1052"/>
                    <a:pt x="79" y="1134"/>
                  </a:cubicBezTo>
                  <a:cubicBezTo>
                    <a:pt x="61" y="1190"/>
                    <a:pt x="48" y="1246"/>
                    <a:pt x="6" y="1290"/>
                  </a:cubicBezTo>
                  <a:cubicBezTo>
                    <a:pt x="9" y="1299"/>
                    <a:pt x="8" y="1310"/>
                    <a:pt x="15" y="1317"/>
                  </a:cubicBezTo>
                  <a:cubicBezTo>
                    <a:pt x="22" y="1324"/>
                    <a:pt x="34" y="1321"/>
                    <a:pt x="42" y="1326"/>
                  </a:cubicBezTo>
                  <a:cubicBezTo>
                    <a:pt x="102" y="1361"/>
                    <a:pt x="0" y="1330"/>
                    <a:pt x="106" y="1354"/>
                  </a:cubicBezTo>
                  <a:cubicBezTo>
                    <a:pt x="153" y="1385"/>
                    <a:pt x="191" y="1399"/>
                    <a:pt x="243" y="1418"/>
                  </a:cubicBezTo>
                  <a:cubicBezTo>
                    <a:pt x="321" y="1409"/>
                    <a:pt x="424" y="1429"/>
                    <a:pt x="481" y="1372"/>
                  </a:cubicBezTo>
                  <a:cubicBezTo>
                    <a:pt x="493" y="1335"/>
                    <a:pt x="506" y="1299"/>
                    <a:pt x="518" y="1262"/>
                  </a:cubicBezTo>
                  <a:cubicBezTo>
                    <a:pt x="499" y="1205"/>
                    <a:pt x="493" y="1159"/>
                    <a:pt x="509" y="1098"/>
                  </a:cubicBezTo>
                  <a:cubicBezTo>
                    <a:pt x="512" y="1087"/>
                    <a:pt x="523" y="1080"/>
                    <a:pt x="527" y="1070"/>
                  </a:cubicBezTo>
                  <a:cubicBezTo>
                    <a:pt x="540" y="1040"/>
                    <a:pt x="556" y="994"/>
                    <a:pt x="563" y="960"/>
                  </a:cubicBezTo>
                  <a:cubicBezTo>
                    <a:pt x="593" y="824"/>
                    <a:pt x="619" y="686"/>
                    <a:pt x="646" y="549"/>
                  </a:cubicBezTo>
                  <a:cubicBezTo>
                    <a:pt x="638" y="439"/>
                    <a:pt x="643" y="325"/>
                    <a:pt x="609" y="220"/>
                  </a:cubicBezTo>
                  <a:cubicBezTo>
                    <a:pt x="597" y="182"/>
                    <a:pt x="591" y="147"/>
                    <a:pt x="563" y="119"/>
                  </a:cubicBezTo>
                  <a:cubicBezTo>
                    <a:pt x="552" y="87"/>
                    <a:pt x="532" y="26"/>
                    <a:pt x="509" y="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2" name="Freeform 9">
              <a:extLst>
                <a:ext uri="{FF2B5EF4-FFF2-40B4-BE49-F238E27FC236}">
                  <a16:creationId xmlns:a16="http://schemas.microsoft.com/office/drawing/2014/main" id="{36D2C4FC-71A0-F66C-407C-650D228FF51A}"/>
                </a:ext>
              </a:extLst>
            </p:cNvPr>
            <p:cNvSpPr>
              <a:spLocks/>
            </p:cNvSpPr>
            <p:nvPr/>
          </p:nvSpPr>
          <p:spPr bwMode="auto">
            <a:xfrm>
              <a:off x="1536" y="1307"/>
              <a:ext cx="91" cy="896"/>
            </a:xfrm>
            <a:custGeom>
              <a:avLst/>
              <a:gdLst>
                <a:gd name="T0" fmla="*/ 0 w 91"/>
                <a:gd name="T1" fmla="*/ 0 h 896"/>
                <a:gd name="T2" fmla="*/ 46 w 91"/>
                <a:gd name="T3" fmla="*/ 74 h 896"/>
                <a:gd name="T4" fmla="*/ 64 w 91"/>
                <a:gd name="T5" fmla="*/ 128 h 896"/>
                <a:gd name="T6" fmla="*/ 73 w 91"/>
                <a:gd name="T7" fmla="*/ 156 h 896"/>
                <a:gd name="T8" fmla="*/ 82 w 91"/>
                <a:gd name="T9" fmla="*/ 183 h 896"/>
                <a:gd name="T10" fmla="*/ 91 w 91"/>
                <a:gd name="T11" fmla="*/ 394 h 896"/>
                <a:gd name="T12" fmla="*/ 64 w 91"/>
                <a:gd name="T13" fmla="*/ 549 h 896"/>
                <a:gd name="T14" fmla="*/ 37 w 91"/>
                <a:gd name="T15" fmla="*/ 732 h 896"/>
                <a:gd name="T16" fmla="*/ 0 w 91"/>
                <a:gd name="T17" fmla="*/ 896 h 8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1" h="896">
                  <a:moveTo>
                    <a:pt x="0" y="0"/>
                  </a:moveTo>
                  <a:cubicBezTo>
                    <a:pt x="17" y="27"/>
                    <a:pt x="23" y="51"/>
                    <a:pt x="46" y="74"/>
                  </a:cubicBezTo>
                  <a:cubicBezTo>
                    <a:pt x="52" y="92"/>
                    <a:pt x="58" y="110"/>
                    <a:pt x="64" y="128"/>
                  </a:cubicBezTo>
                  <a:cubicBezTo>
                    <a:pt x="67" y="137"/>
                    <a:pt x="70" y="147"/>
                    <a:pt x="73" y="156"/>
                  </a:cubicBezTo>
                  <a:cubicBezTo>
                    <a:pt x="76" y="165"/>
                    <a:pt x="82" y="183"/>
                    <a:pt x="82" y="183"/>
                  </a:cubicBezTo>
                  <a:cubicBezTo>
                    <a:pt x="74" y="258"/>
                    <a:pt x="73" y="321"/>
                    <a:pt x="91" y="394"/>
                  </a:cubicBezTo>
                  <a:cubicBezTo>
                    <a:pt x="85" y="452"/>
                    <a:pt x="75" y="494"/>
                    <a:pt x="64" y="549"/>
                  </a:cubicBezTo>
                  <a:cubicBezTo>
                    <a:pt x="58" y="613"/>
                    <a:pt x="53" y="671"/>
                    <a:pt x="37" y="732"/>
                  </a:cubicBezTo>
                  <a:cubicBezTo>
                    <a:pt x="23" y="787"/>
                    <a:pt x="0" y="838"/>
                    <a:pt x="0" y="896"/>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Freeform 10">
              <a:extLst>
                <a:ext uri="{FF2B5EF4-FFF2-40B4-BE49-F238E27FC236}">
                  <a16:creationId xmlns:a16="http://schemas.microsoft.com/office/drawing/2014/main" id="{51FA33BF-68B8-0AEF-4EE5-B66A78195116}"/>
                </a:ext>
              </a:extLst>
            </p:cNvPr>
            <p:cNvSpPr>
              <a:spLocks/>
            </p:cNvSpPr>
            <p:nvPr/>
          </p:nvSpPr>
          <p:spPr bwMode="auto">
            <a:xfrm>
              <a:off x="1801" y="1307"/>
              <a:ext cx="239" cy="915"/>
            </a:xfrm>
            <a:custGeom>
              <a:avLst/>
              <a:gdLst>
                <a:gd name="T0" fmla="*/ 0 w 239"/>
                <a:gd name="T1" fmla="*/ 0 h 915"/>
                <a:gd name="T2" fmla="*/ 82 w 239"/>
                <a:gd name="T3" fmla="*/ 46 h 915"/>
                <a:gd name="T4" fmla="*/ 146 w 239"/>
                <a:gd name="T5" fmla="*/ 101 h 915"/>
                <a:gd name="T6" fmla="*/ 192 w 239"/>
                <a:gd name="T7" fmla="*/ 183 h 915"/>
                <a:gd name="T8" fmla="*/ 210 w 239"/>
                <a:gd name="T9" fmla="*/ 238 h 915"/>
                <a:gd name="T10" fmla="*/ 220 w 239"/>
                <a:gd name="T11" fmla="*/ 266 h 915"/>
                <a:gd name="T12" fmla="*/ 192 w 239"/>
                <a:gd name="T13" fmla="*/ 604 h 915"/>
                <a:gd name="T14" fmla="*/ 137 w 239"/>
                <a:gd name="T15" fmla="*/ 778 h 915"/>
                <a:gd name="T16" fmla="*/ 92 w 239"/>
                <a:gd name="T17" fmla="*/ 851 h 915"/>
                <a:gd name="T18" fmla="*/ 55 w 239"/>
                <a:gd name="T19" fmla="*/ 915 h 9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9" h="915">
                  <a:moveTo>
                    <a:pt x="0" y="0"/>
                  </a:moveTo>
                  <a:cubicBezTo>
                    <a:pt x="27" y="18"/>
                    <a:pt x="56" y="26"/>
                    <a:pt x="82" y="46"/>
                  </a:cubicBezTo>
                  <a:cubicBezTo>
                    <a:pt x="105" y="64"/>
                    <a:pt x="121" y="84"/>
                    <a:pt x="146" y="101"/>
                  </a:cubicBezTo>
                  <a:cubicBezTo>
                    <a:pt x="165" y="128"/>
                    <a:pt x="174" y="155"/>
                    <a:pt x="192" y="183"/>
                  </a:cubicBezTo>
                  <a:cubicBezTo>
                    <a:pt x="198" y="201"/>
                    <a:pt x="204" y="220"/>
                    <a:pt x="210" y="238"/>
                  </a:cubicBezTo>
                  <a:cubicBezTo>
                    <a:pt x="213" y="247"/>
                    <a:pt x="220" y="266"/>
                    <a:pt x="220" y="266"/>
                  </a:cubicBezTo>
                  <a:cubicBezTo>
                    <a:pt x="239" y="380"/>
                    <a:pt x="219" y="493"/>
                    <a:pt x="192" y="604"/>
                  </a:cubicBezTo>
                  <a:cubicBezTo>
                    <a:pt x="177" y="666"/>
                    <a:pt x="173" y="725"/>
                    <a:pt x="137" y="778"/>
                  </a:cubicBezTo>
                  <a:cubicBezTo>
                    <a:pt x="127" y="808"/>
                    <a:pt x="114" y="828"/>
                    <a:pt x="92" y="851"/>
                  </a:cubicBezTo>
                  <a:cubicBezTo>
                    <a:pt x="83" y="876"/>
                    <a:pt x="74" y="896"/>
                    <a:pt x="55" y="91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Arc 11">
              <a:extLst>
                <a:ext uri="{FF2B5EF4-FFF2-40B4-BE49-F238E27FC236}">
                  <a16:creationId xmlns:a16="http://schemas.microsoft.com/office/drawing/2014/main" id="{8C8F9C0F-4E36-15B3-C537-58DB7AB133D7}"/>
                </a:ext>
              </a:extLst>
            </p:cNvPr>
            <p:cNvSpPr>
              <a:spLocks/>
            </p:cNvSpPr>
            <p:nvPr/>
          </p:nvSpPr>
          <p:spPr bwMode="auto">
            <a:xfrm>
              <a:off x="2703" y="1299"/>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rc 12">
              <a:extLst>
                <a:ext uri="{FF2B5EF4-FFF2-40B4-BE49-F238E27FC236}">
                  <a16:creationId xmlns:a16="http://schemas.microsoft.com/office/drawing/2014/main" id="{E00AC1CF-B6B6-2E09-9994-59775D034819}"/>
                </a:ext>
              </a:extLst>
            </p:cNvPr>
            <p:cNvSpPr>
              <a:spLocks/>
            </p:cNvSpPr>
            <p:nvPr/>
          </p:nvSpPr>
          <p:spPr bwMode="auto">
            <a:xfrm>
              <a:off x="3135" y="1296"/>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rc 13">
              <a:extLst>
                <a:ext uri="{FF2B5EF4-FFF2-40B4-BE49-F238E27FC236}">
                  <a16:creationId xmlns:a16="http://schemas.microsoft.com/office/drawing/2014/main" id="{EF78CFBF-FC89-8E35-7550-AA109EF97366}"/>
                </a:ext>
              </a:extLst>
            </p:cNvPr>
            <p:cNvSpPr>
              <a:spLocks/>
            </p:cNvSpPr>
            <p:nvPr/>
          </p:nvSpPr>
          <p:spPr bwMode="auto">
            <a:xfrm>
              <a:off x="3567" y="1296"/>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Arc 14">
              <a:extLst>
                <a:ext uri="{FF2B5EF4-FFF2-40B4-BE49-F238E27FC236}">
                  <a16:creationId xmlns:a16="http://schemas.microsoft.com/office/drawing/2014/main" id="{17B87D5A-CC02-E22F-7E8B-33BD8E78CE77}"/>
                </a:ext>
              </a:extLst>
            </p:cNvPr>
            <p:cNvSpPr>
              <a:spLocks/>
            </p:cNvSpPr>
            <p:nvPr/>
          </p:nvSpPr>
          <p:spPr bwMode="auto">
            <a:xfrm>
              <a:off x="2352" y="1296"/>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rc 15">
              <a:extLst>
                <a:ext uri="{FF2B5EF4-FFF2-40B4-BE49-F238E27FC236}">
                  <a16:creationId xmlns:a16="http://schemas.microsoft.com/office/drawing/2014/main" id="{63821DB9-A23A-578A-F0F5-70FEB4E74229}"/>
                </a:ext>
              </a:extLst>
            </p:cNvPr>
            <p:cNvSpPr>
              <a:spLocks/>
            </p:cNvSpPr>
            <p:nvPr/>
          </p:nvSpPr>
          <p:spPr bwMode="auto">
            <a:xfrm>
              <a:off x="3759" y="1296"/>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Freeform 16">
              <a:extLst>
                <a:ext uri="{FF2B5EF4-FFF2-40B4-BE49-F238E27FC236}">
                  <a16:creationId xmlns:a16="http://schemas.microsoft.com/office/drawing/2014/main" id="{5D51DA48-179F-E212-4730-30E7FB04D05F}"/>
                </a:ext>
              </a:extLst>
            </p:cNvPr>
            <p:cNvSpPr>
              <a:spLocks/>
            </p:cNvSpPr>
            <p:nvPr/>
          </p:nvSpPr>
          <p:spPr bwMode="auto">
            <a:xfrm>
              <a:off x="3794" y="2213"/>
              <a:ext cx="494" cy="557"/>
            </a:xfrm>
            <a:custGeom>
              <a:avLst/>
              <a:gdLst>
                <a:gd name="T0" fmla="*/ 0 w 494"/>
                <a:gd name="T1" fmla="*/ 18 h 557"/>
                <a:gd name="T2" fmla="*/ 37 w 494"/>
                <a:gd name="T3" fmla="*/ 338 h 557"/>
                <a:gd name="T4" fmla="*/ 55 w 494"/>
                <a:gd name="T5" fmla="*/ 420 h 557"/>
                <a:gd name="T6" fmla="*/ 147 w 494"/>
                <a:gd name="T7" fmla="*/ 457 h 557"/>
                <a:gd name="T8" fmla="*/ 201 w 494"/>
                <a:gd name="T9" fmla="*/ 493 h 557"/>
                <a:gd name="T10" fmla="*/ 220 w 494"/>
                <a:gd name="T11" fmla="*/ 512 h 557"/>
                <a:gd name="T12" fmla="*/ 311 w 494"/>
                <a:gd name="T13" fmla="*/ 539 h 557"/>
                <a:gd name="T14" fmla="*/ 421 w 494"/>
                <a:gd name="T15" fmla="*/ 548 h 557"/>
                <a:gd name="T16" fmla="*/ 494 w 494"/>
                <a:gd name="T17" fmla="*/ 512 h 557"/>
                <a:gd name="T18" fmla="*/ 448 w 494"/>
                <a:gd name="T19" fmla="*/ 438 h 557"/>
                <a:gd name="T20" fmla="*/ 412 w 494"/>
                <a:gd name="T21" fmla="*/ 384 h 557"/>
                <a:gd name="T22" fmla="*/ 393 w 494"/>
                <a:gd name="T23" fmla="*/ 356 h 557"/>
                <a:gd name="T24" fmla="*/ 357 w 494"/>
                <a:gd name="T25" fmla="*/ 228 h 557"/>
                <a:gd name="T26" fmla="*/ 302 w 494"/>
                <a:gd name="T27" fmla="*/ 155 h 557"/>
                <a:gd name="T28" fmla="*/ 275 w 494"/>
                <a:gd name="T29" fmla="*/ 73 h 557"/>
                <a:gd name="T30" fmla="*/ 265 w 494"/>
                <a:gd name="T31" fmla="*/ 45 h 557"/>
                <a:gd name="T32" fmla="*/ 284 w 494"/>
                <a:gd name="T33" fmla="*/ 27 h 557"/>
                <a:gd name="T34" fmla="*/ 293 w 494"/>
                <a:gd name="T35" fmla="*/ 0 h 5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4" h="557">
                  <a:moveTo>
                    <a:pt x="0" y="18"/>
                  </a:moveTo>
                  <a:cubicBezTo>
                    <a:pt x="14" y="125"/>
                    <a:pt x="23" y="232"/>
                    <a:pt x="37" y="338"/>
                  </a:cubicBezTo>
                  <a:cubicBezTo>
                    <a:pt x="41" y="366"/>
                    <a:pt x="37" y="398"/>
                    <a:pt x="55" y="420"/>
                  </a:cubicBezTo>
                  <a:cubicBezTo>
                    <a:pt x="75" y="444"/>
                    <a:pt x="120" y="450"/>
                    <a:pt x="147" y="457"/>
                  </a:cubicBezTo>
                  <a:cubicBezTo>
                    <a:pt x="165" y="469"/>
                    <a:pt x="183" y="481"/>
                    <a:pt x="201" y="493"/>
                  </a:cubicBezTo>
                  <a:cubicBezTo>
                    <a:pt x="208" y="498"/>
                    <a:pt x="212" y="508"/>
                    <a:pt x="220" y="512"/>
                  </a:cubicBezTo>
                  <a:cubicBezTo>
                    <a:pt x="241" y="522"/>
                    <a:pt x="286" y="533"/>
                    <a:pt x="311" y="539"/>
                  </a:cubicBezTo>
                  <a:cubicBezTo>
                    <a:pt x="351" y="526"/>
                    <a:pt x="381" y="538"/>
                    <a:pt x="421" y="548"/>
                  </a:cubicBezTo>
                  <a:cubicBezTo>
                    <a:pt x="458" y="543"/>
                    <a:pt x="494" y="557"/>
                    <a:pt x="494" y="512"/>
                  </a:cubicBezTo>
                  <a:cubicBezTo>
                    <a:pt x="494" y="480"/>
                    <a:pt x="465" y="460"/>
                    <a:pt x="448" y="438"/>
                  </a:cubicBezTo>
                  <a:cubicBezTo>
                    <a:pt x="435" y="421"/>
                    <a:pt x="424" y="402"/>
                    <a:pt x="412" y="384"/>
                  </a:cubicBezTo>
                  <a:cubicBezTo>
                    <a:pt x="406" y="375"/>
                    <a:pt x="393" y="356"/>
                    <a:pt x="393" y="356"/>
                  </a:cubicBezTo>
                  <a:cubicBezTo>
                    <a:pt x="380" y="317"/>
                    <a:pt x="371" y="267"/>
                    <a:pt x="357" y="228"/>
                  </a:cubicBezTo>
                  <a:cubicBezTo>
                    <a:pt x="346" y="198"/>
                    <a:pt x="315" y="184"/>
                    <a:pt x="302" y="155"/>
                  </a:cubicBezTo>
                  <a:cubicBezTo>
                    <a:pt x="290" y="129"/>
                    <a:pt x="284" y="100"/>
                    <a:pt x="275" y="73"/>
                  </a:cubicBezTo>
                  <a:cubicBezTo>
                    <a:pt x="272" y="64"/>
                    <a:pt x="265" y="45"/>
                    <a:pt x="265" y="45"/>
                  </a:cubicBezTo>
                  <a:cubicBezTo>
                    <a:pt x="271" y="39"/>
                    <a:pt x="279" y="34"/>
                    <a:pt x="284" y="27"/>
                  </a:cubicBezTo>
                  <a:cubicBezTo>
                    <a:pt x="289" y="19"/>
                    <a:pt x="293" y="0"/>
                    <a:pt x="293" y="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AutoShape 17">
              <a:extLst>
                <a:ext uri="{FF2B5EF4-FFF2-40B4-BE49-F238E27FC236}">
                  <a16:creationId xmlns:a16="http://schemas.microsoft.com/office/drawing/2014/main" id="{E52209FE-67AF-3636-08D0-B2A73CFD73F5}"/>
                </a:ext>
              </a:extLst>
            </p:cNvPr>
            <p:cNvSpPr>
              <a:spLocks/>
            </p:cNvSpPr>
            <p:nvPr/>
          </p:nvSpPr>
          <p:spPr bwMode="auto">
            <a:xfrm>
              <a:off x="4080" y="1296"/>
              <a:ext cx="240" cy="912"/>
            </a:xfrm>
            <a:prstGeom prst="rightBracket">
              <a:avLst>
                <a:gd name="adj" fmla="val 186253"/>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sp>
          <p:nvSpPr>
            <p:cNvPr id="21" name="Arc 18">
              <a:extLst>
                <a:ext uri="{FF2B5EF4-FFF2-40B4-BE49-F238E27FC236}">
                  <a16:creationId xmlns:a16="http://schemas.microsoft.com/office/drawing/2014/main" id="{DE6FAD91-245D-1414-8403-341470FCA02C}"/>
                </a:ext>
              </a:extLst>
            </p:cNvPr>
            <p:cNvSpPr>
              <a:spLocks/>
            </p:cNvSpPr>
            <p:nvPr/>
          </p:nvSpPr>
          <p:spPr bwMode="auto">
            <a:xfrm>
              <a:off x="4080" y="1296"/>
              <a:ext cx="129" cy="90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Lst>
              <a:ahLst/>
              <a:cxnLst>
                <a:cxn ang="T6">
                  <a:pos x="T0" y="T1"/>
                </a:cxn>
                <a:cxn ang="T7">
                  <a:pos x="T2" y="T3"/>
                </a:cxn>
                <a:cxn ang="T8">
                  <a:pos x="T4" y="T5"/>
                </a:cxn>
              </a:cxnLst>
              <a:rect l="0" t="0" r="r" b="b"/>
              <a:pathLst>
                <a:path w="21600" h="43200" fill="none" extrusionOk="0">
                  <a:moveTo>
                    <a:pt x="0" y="0"/>
                  </a:moveTo>
                  <a:cubicBezTo>
                    <a:pt x="11929" y="0"/>
                    <a:pt x="21600" y="9670"/>
                    <a:pt x="21600" y="21600"/>
                  </a:cubicBezTo>
                  <a:cubicBezTo>
                    <a:pt x="21600" y="33518"/>
                    <a:pt x="11947" y="43183"/>
                    <a:pt x="28" y="43199"/>
                  </a:cubicBezTo>
                </a:path>
                <a:path w="21600" h="43200" stroke="0" extrusionOk="0">
                  <a:moveTo>
                    <a:pt x="0" y="0"/>
                  </a:moveTo>
                  <a:cubicBezTo>
                    <a:pt x="11929" y="0"/>
                    <a:pt x="21600" y="9670"/>
                    <a:pt x="21600" y="21600"/>
                  </a:cubicBezTo>
                  <a:cubicBezTo>
                    <a:pt x="21600" y="33518"/>
                    <a:pt x="11947" y="43183"/>
                    <a:pt x="28" y="43199"/>
                  </a:cubicBezTo>
                  <a:lnTo>
                    <a:pt x="0" y="21600"/>
                  </a:lnTo>
                  <a:lnTo>
                    <a:pt x="0" y="0"/>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 name="Group 19">
              <a:extLst>
                <a:ext uri="{FF2B5EF4-FFF2-40B4-BE49-F238E27FC236}">
                  <a16:creationId xmlns:a16="http://schemas.microsoft.com/office/drawing/2014/main" id="{3D8EB68E-EC77-D1BA-1989-958C91AC3E0B}"/>
                </a:ext>
              </a:extLst>
            </p:cNvPr>
            <p:cNvGrpSpPr>
              <a:grpSpLocks/>
            </p:cNvGrpSpPr>
            <p:nvPr/>
          </p:nvGrpSpPr>
          <p:grpSpPr bwMode="auto">
            <a:xfrm>
              <a:off x="1015" y="1518"/>
              <a:ext cx="155" cy="173"/>
              <a:chOff x="1015" y="1518"/>
              <a:chExt cx="155" cy="173"/>
            </a:xfrm>
          </p:grpSpPr>
          <p:sp>
            <p:nvSpPr>
              <p:cNvPr id="45" name="Freeform 20">
                <a:extLst>
                  <a:ext uri="{FF2B5EF4-FFF2-40B4-BE49-F238E27FC236}">
                    <a16:creationId xmlns:a16="http://schemas.microsoft.com/office/drawing/2014/main" id="{AEE1CF62-C84D-A37A-A60C-E1C2B9B70DF8}"/>
                  </a:ext>
                </a:extLst>
              </p:cNvPr>
              <p:cNvSpPr>
                <a:spLocks/>
              </p:cNvSpPr>
              <p:nvPr/>
            </p:nvSpPr>
            <p:spPr bwMode="auto">
              <a:xfrm>
                <a:off x="1015" y="1518"/>
                <a:ext cx="155" cy="173"/>
              </a:xfrm>
              <a:custGeom>
                <a:avLst/>
                <a:gdLst>
                  <a:gd name="T0" fmla="*/ 0 w 155"/>
                  <a:gd name="T1" fmla="*/ 173 h 173"/>
                  <a:gd name="T2" fmla="*/ 36 w 155"/>
                  <a:gd name="T3" fmla="*/ 0 h 173"/>
                  <a:gd name="T4" fmla="*/ 64 w 155"/>
                  <a:gd name="T5" fmla="*/ 9 h 173"/>
                  <a:gd name="T6" fmla="*/ 82 w 155"/>
                  <a:gd name="T7" fmla="*/ 36 h 173"/>
                  <a:gd name="T8" fmla="*/ 137 w 155"/>
                  <a:gd name="T9" fmla="*/ 100 h 173"/>
                  <a:gd name="T10" fmla="*/ 155 w 155"/>
                  <a:gd name="T11" fmla="*/ 155 h 1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173">
                    <a:moveTo>
                      <a:pt x="0" y="173"/>
                    </a:moveTo>
                    <a:cubicBezTo>
                      <a:pt x="7" y="113"/>
                      <a:pt x="24" y="59"/>
                      <a:pt x="36" y="0"/>
                    </a:cubicBezTo>
                    <a:cubicBezTo>
                      <a:pt x="45" y="3"/>
                      <a:pt x="56" y="3"/>
                      <a:pt x="64" y="9"/>
                    </a:cubicBezTo>
                    <a:cubicBezTo>
                      <a:pt x="73" y="16"/>
                      <a:pt x="75" y="27"/>
                      <a:pt x="82" y="36"/>
                    </a:cubicBezTo>
                    <a:cubicBezTo>
                      <a:pt x="100" y="59"/>
                      <a:pt x="120" y="75"/>
                      <a:pt x="137" y="100"/>
                    </a:cubicBezTo>
                    <a:cubicBezTo>
                      <a:pt x="143" y="118"/>
                      <a:pt x="155" y="155"/>
                      <a:pt x="155" y="15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Freeform 21">
                <a:extLst>
                  <a:ext uri="{FF2B5EF4-FFF2-40B4-BE49-F238E27FC236}">
                    <a16:creationId xmlns:a16="http://schemas.microsoft.com/office/drawing/2014/main" id="{DCC5FDDB-3FBD-88B0-0381-2EE38FC948D9}"/>
                  </a:ext>
                </a:extLst>
              </p:cNvPr>
              <p:cNvSpPr>
                <a:spLocks/>
              </p:cNvSpPr>
              <p:nvPr/>
            </p:nvSpPr>
            <p:spPr bwMode="auto">
              <a:xfrm>
                <a:off x="1033" y="1612"/>
                <a:ext cx="119" cy="25"/>
              </a:xfrm>
              <a:custGeom>
                <a:avLst/>
                <a:gdLst>
                  <a:gd name="T0" fmla="*/ 0 w 119"/>
                  <a:gd name="T1" fmla="*/ 25 h 25"/>
                  <a:gd name="T2" fmla="*/ 82 w 119"/>
                  <a:gd name="T3" fmla="*/ 15 h 25"/>
                  <a:gd name="T4" fmla="*/ 119 w 119"/>
                  <a:gd name="T5" fmla="*/ 6 h 25"/>
                  <a:gd name="T6" fmla="*/ 0 60000 65536"/>
                  <a:gd name="T7" fmla="*/ 0 60000 65536"/>
                  <a:gd name="T8" fmla="*/ 0 60000 65536"/>
                </a:gdLst>
                <a:ahLst/>
                <a:cxnLst>
                  <a:cxn ang="T6">
                    <a:pos x="T0" y="T1"/>
                  </a:cxn>
                  <a:cxn ang="T7">
                    <a:pos x="T2" y="T3"/>
                  </a:cxn>
                  <a:cxn ang="T8">
                    <a:pos x="T4" y="T5"/>
                  </a:cxn>
                </a:cxnLst>
                <a:rect l="0" t="0" r="r" b="b"/>
                <a:pathLst>
                  <a:path w="119" h="25">
                    <a:moveTo>
                      <a:pt x="0" y="25"/>
                    </a:moveTo>
                    <a:cubicBezTo>
                      <a:pt x="64" y="3"/>
                      <a:pt x="37" y="0"/>
                      <a:pt x="82" y="15"/>
                    </a:cubicBezTo>
                    <a:cubicBezTo>
                      <a:pt x="94" y="12"/>
                      <a:pt x="119" y="6"/>
                      <a:pt x="119" y="6"/>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 name="Freeform 22">
              <a:extLst>
                <a:ext uri="{FF2B5EF4-FFF2-40B4-BE49-F238E27FC236}">
                  <a16:creationId xmlns:a16="http://schemas.microsoft.com/office/drawing/2014/main" id="{B1C0BD69-07AD-F3C6-A111-B3F5DD51D884}"/>
                </a:ext>
              </a:extLst>
            </p:cNvPr>
            <p:cNvSpPr>
              <a:spLocks/>
            </p:cNvSpPr>
            <p:nvPr/>
          </p:nvSpPr>
          <p:spPr bwMode="auto">
            <a:xfrm>
              <a:off x="1335" y="1508"/>
              <a:ext cx="195" cy="28"/>
            </a:xfrm>
            <a:custGeom>
              <a:avLst/>
              <a:gdLst>
                <a:gd name="T0" fmla="*/ 0 w 195"/>
                <a:gd name="T1" fmla="*/ 28 h 28"/>
                <a:gd name="T2" fmla="*/ 164 w 195"/>
                <a:gd name="T3" fmla="*/ 1 h 28"/>
                <a:gd name="T4" fmla="*/ 192 w 195"/>
                <a:gd name="T5" fmla="*/ 19 h 28"/>
                <a:gd name="T6" fmla="*/ 0 60000 65536"/>
                <a:gd name="T7" fmla="*/ 0 60000 65536"/>
                <a:gd name="T8" fmla="*/ 0 60000 65536"/>
              </a:gdLst>
              <a:ahLst/>
              <a:cxnLst>
                <a:cxn ang="T6">
                  <a:pos x="T0" y="T1"/>
                </a:cxn>
                <a:cxn ang="T7">
                  <a:pos x="T2" y="T3"/>
                </a:cxn>
                <a:cxn ang="T8">
                  <a:pos x="T4" y="T5"/>
                </a:cxn>
              </a:cxnLst>
              <a:rect l="0" t="0" r="r" b="b"/>
              <a:pathLst>
                <a:path w="195" h="28">
                  <a:moveTo>
                    <a:pt x="0" y="28"/>
                  </a:moveTo>
                  <a:cubicBezTo>
                    <a:pt x="63" y="22"/>
                    <a:pt x="107" y="20"/>
                    <a:pt x="164" y="1"/>
                  </a:cubicBezTo>
                  <a:cubicBezTo>
                    <a:pt x="195" y="11"/>
                    <a:pt x="192" y="0"/>
                    <a:pt x="192" y="19"/>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Freeform 23">
              <a:extLst>
                <a:ext uri="{FF2B5EF4-FFF2-40B4-BE49-F238E27FC236}">
                  <a16:creationId xmlns:a16="http://schemas.microsoft.com/office/drawing/2014/main" id="{1F856F5E-642D-4862-6CE0-4E71EE1A7AA1}"/>
                </a:ext>
              </a:extLst>
            </p:cNvPr>
            <p:cNvSpPr>
              <a:spLocks/>
            </p:cNvSpPr>
            <p:nvPr/>
          </p:nvSpPr>
          <p:spPr bwMode="auto">
            <a:xfrm>
              <a:off x="1445" y="1527"/>
              <a:ext cx="57" cy="164"/>
            </a:xfrm>
            <a:custGeom>
              <a:avLst/>
              <a:gdLst>
                <a:gd name="T0" fmla="*/ 0 w 57"/>
                <a:gd name="T1" fmla="*/ 0 h 164"/>
                <a:gd name="T2" fmla="*/ 36 w 57"/>
                <a:gd name="T3" fmla="*/ 82 h 164"/>
                <a:gd name="T4" fmla="*/ 54 w 57"/>
                <a:gd name="T5" fmla="*/ 137 h 164"/>
                <a:gd name="T6" fmla="*/ 45 w 57"/>
                <a:gd name="T7" fmla="*/ 164 h 1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164">
                  <a:moveTo>
                    <a:pt x="0" y="0"/>
                  </a:moveTo>
                  <a:cubicBezTo>
                    <a:pt x="21" y="65"/>
                    <a:pt x="7" y="39"/>
                    <a:pt x="36" y="82"/>
                  </a:cubicBezTo>
                  <a:cubicBezTo>
                    <a:pt x="42" y="100"/>
                    <a:pt x="48" y="119"/>
                    <a:pt x="54" y="137"/>
                  </a:cubicBezTo>
                  <a:cubicBezTo>
                    <a:pt x="57" y="146"/>
                    <a:pt x="45" y="164"/>
                    <a:pt x="45" y="164"/>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 name="Group 24">
              <a:extLst>
                <a:ext uri="{FF2B5EF4-FFF2-40B4-BE49-F238E27FC236}">
                  <a16:creationId xmlns:a16="http://schemas.microsoft.com/office/drawing/2014/main" id="{613E29C1-6D78-0643-198C-29EF5B5BD616}"/>
                </a:ext>
              </a:extLst>
            </p:cNvPr>
            <p:cNvGrpSpPr>
              <a:grpSpLocks/>
            </p:cNvGrpSpPr>
            <p:nvPr/>
          </p:nvGrpSpPr>
          <p:grpSpPr bwMode="auto">
            <a:xfrm>
              <a:off x="1710" y="1499"/>
              <a:ext cx="219" cy="192"/>
              <a:chOff x="1710" y="1499"/>
              <a:chExt cx="219" cy="192"/>
            </a:xfrm>
          </p:grpSpPr>
          <p:sp>
            <p:nvSpPr>
              <p:cNvPr id="43" name="Freeform 25">
                <a:extLst>
                  <a:ext uri="{FF2B5EF4-FFF2-40B4-BE49-F238E27FC236}">
                    <a16:creationId xmlns:a16="http://schemas.microsoft.com/office/drawing/2014/main" id="{784B0E67-0D90-9AD7-22B4-D10173EF541F}"/>
                  </a:ext>
                </a:extLst>
              </p:cNvPr>
              <p:cNvSpPr>
                <a:spLocks/>
              </p:cNvSpPr>
              <p:nvPr/>
            </p:nvSpPr>
            <p:spPr bwMode="auto">
              <a:xfrm>
                <a:off x="1710" y="1499"/>
                <a:ext cx="219" cy="37"/>
              </a:xfrm>
              <a:custGeom>
                <a:avLst/>
                <a:gdLst>
                  <a:gd name="T0" fmla="*/ 0 w 219"/>
                  <a:gd name="T1" fmla="*/ 0 h 37"/>
                  <a:gd name="T2" fmla="*/ 219 w 219"/>
                  <a:gd name="T3" fmla="*/ 37 h 37"/>
                  <a:gd name="T4" fmla="*/ 0 60000 65536"/>
                  <a:gd name="T5" fmla="*/ 0 60000 65536"/>
                </a:gdLst>
                <a:ahLst/>
                <a:cxnLst>
                  <a:cxn ang="T4">
                    <a:pos x="T0" y="T1"/>
                  </a:cxn>
                  <a:cxn ang="T5">
                    <a:pos x="T2" y="T3"/>
                  </a:cxn>
                </a:cxnLst>
                <a:rect l="0" t="0" r="r" b="b"/>
                <a:pathLst>
                  <a:path w="219" h="37">
                    <a:moveTo>
                      <a:pt x="0" y="0"/>
                    </a:moveTo>
                    <a:cubicBezTo>
                      <a:pt x="54" y="20"/>
                      <a:pt x="159" y="37"/>
                      <a:pt x="219" y="37"/>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Freeform 26">
                <a:extLst>
                  <a:ext uri="{FF2B5EF4-FFF2-40B4-BE49-F238E27FC236}">
                    <a16:creationId xmlns:a16="http://schemas.microsoft.com/office/drawing/2014/main" id="{EC235736-36D9-DF0C-675D-EAAAAF4D5A26}"/>
                  </a:ext>
                </a:extLst>
              </p:cNvPr>
              <p:cNvSpPr>
                <a:spLocks/>
              </p:cNvSpPr>
              <p:nvPr/>
            </p:nvSpPr>
            <p:spPr bwMode="auto">
              <a:xfrm>
                <a:off x="1814" y="1545"/>
                <a:ext cx="24" cy="146"/>
              </a:xfrm>
              <a:custGeom>
                <a:avLst/>
                <a:gdLst>
                  <a:gd name="T0" fmla="*/ 24 w 24"/>
                  <a:gd name="T1" fmla="*/ 0 h 146"/>
                  <a:gd name="T2" fmla="*/ 15 w 24"/>
                  <a:gd name="T3" fmla="*/ 119 h 146"/>
                  <a:gd name="T4" fmla="*/ 5 w 24"/>
                  <a:gd name="T5" fmla="*/ 146 h 146"/>
                  <a:gd name="T6" fmla="*/ 0 60000 65536"/>
                  <a:gd name="T7" fmla="*/ 0 60000 65536"/>
                  <a:gd name="T8" fmla="*/ 0 60000 65536"/>
                </a:gdLst>
                <a:ahLst/>
                <a:cxnLst>
                  <a:cxn ang="T6">
                    <a:pos x="T0" y="T1"/>
                  </a:cxn>
                  <a:cxn ang="T7">
                    <a:pos x="T2" y="T3"/>
                  </a:cxn>
                  <a:cxn ang="T8">
                    <a:pos x="T4" y="T5"/>
                  </a:cxn>
                </a:cxnLst>
                <a:rect l="0" t="0" r="r" b="b"/>
                <a:pathLst>
                  <a:path w="24" h="146">
                    <a:moveTo>
                      <a:pt x="24" y="0"/>
                    </a:moveTo>
                    <a:cubicBezTo>
                      <a:pt x="14" y="42"/>
                      <a:pt x="0" y="77"/>
                      <a:pt x="15" y="119"/>
                    </a:cubicBezTo>
                    <a:cubicBezTo>
                      <a:pt x="12" y="128"/>
                      <a:pt x="5" y="146"/>
                      <a:pt x="5" y="146"/>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 name="Group 27">
              <a:extLst>
                <a:ext uri="{FF2B5EF4-FFF2-40B4-BE49-F238E27FC236}">
                  <a16:creationId xmlns:a16="http://schemas.microsoft.com/office/drawing/2014/main" id="{EE07188D-2484-4F9B-B008-8F0C55AD755F}"/>
                </a:ext>
              </a:extLst>
            </p:cNvPr>
            <p:cNvGrpSpPr>
              <a:grpSpLocks/>
            </p:cNvGrpSpPr>
            <p:nvPr/>
          </p:nvGrpSpPr>
          <p:grpSpPr bwMode="auto">
            <a:xfrm>
              <a:off x="2208" y="1536"/>
              <a:ext cx="155" cy="173"/>
              <a:chOff x="1015" y="1518"/>
              <a:chExt cx="155" cy="173"/>
            </a:xfrm>
          </p:grpSpPr>
          <p:sp>
            <p:nvSpPr>
              <p:cNvPr id="41" name="Freeform 28">
                <a:extLst>
                  <a:ext uri="{FF2B5EF4-FFF2-40B4-BE49-F238E27FC236}">
                    <a16:creationId xmlns:a16="http://schemas.microsoft.com/office/drawing/2014/main" id="{F1697FD8-25FC-1A94-0641-2D3947D40F96}"/>
                  </a:ext>
                </a:extLst>
              </p:cNvPr>
              <p:cNvSpPr>
                <a:spLocks/>
              </p:cNvSpPr>
              <p:nvPr/>
            </p:nvSpPr>
            <p:spPr bwMode="auto">
              <a:xfrm>
                <a:off x="1015" y="1518"/>
                <a:ext cx="155" cy="173"/>
              </a:xfrm>
              <a:custGeom>
                <a:avLst/>
                <a:gdLst>
                  <a:gd name="T0" fmla="*/ 0 w 155"/>
                  <a:gd name="T1" fmla="*/ 173 h 173"/>
                  <a:gd name="T2" fmla="*/ 36 w 155"/>
                  <a:gd name="T3" fmla="*/ 0 h 173"/>
                  <a:gd name="T4" fmla="*/ 64 w 155"/>
                  <a:gd name="T5" fmla="*/ 9 h 173"/>
                  <a:gd name="T6" fmla="*/ 82 w 155"/>
                  <a:gd name="T7" fmla="*/ 36 h 173"/>
                  <a:gd name="T8" fmla="*/ 137 w 155"/>
                  <a:gd name="T9" fmla="*/ 100 h 173"/>
                  <a:gd name="T10" fmla="*/ 155 w 155"/>
                  <a:gd name="T11" fmla="*/ 155 h 1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173">
                    <a:moveTo>
                      <a:pt x="0" y="173"/>
                    </a:moveTo>
                    <a:cubicBezTo>
                      <a:pt x="7" y="113"/>
                      <a:pt x="24" y="59"/>
                      <a:pt x="36" y="0"/>
                    </a:cubicBezTo>
                    <a:cubicBezTo>
                      <a:pt x="45" y="3"/>
                      <a:pt x="56" y="3"/>
                      <a:pt x="64" y="9"/>
                    </a:cubicBezTo>
                    <a:cubicBezTo>
                      <a:pt x="73" y="16"/>
                      <a:pt x="75" y="27"/>
                      <a:pt x="82" y="36"/>
                    </a:cubicBezTo>
                    <a:cubicBezTo>
                      <a:pt x="100" y="59"/>
                      <a:pt x="120" y="75"/>
                      <a:pt x="137" y="100"/>
                    </a:cubicBezTo>
                    <a:cubicBezTo>
                      <a:pt x="143" y="118"/>
                      <a:pt x="155" y="155"/>
                      <a:pt x="155" y="15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Freeform 29">
                <a:extLst>
                  <a:ext uri="{FF2B5EF4-FFF2-40B4-BE49-F238E27FC236}">
                    <a16:creationId xmlns:a16="http://schemas.microsoft.com/office/drawing/2014/main" id="{D0255188-936B-4090-EC20-4AB74586D1D6}"/>
                  </a:ext>
                </a:extLst>
              </p:cNvPr>
              <p:cNvSpPr>
                <a:spLocks/>
              </p:cNvSpPr>
              <p:nvPr/>
            </p:nvSpPr>
            <p:spPr bwMode="auto">
              <a:xfrm>
                <a:off x="1033" y="1612"/>
                <a:ext cx="119" cy="25"/>
              </a:xfrm>
              <a:custGeom>
                <a:avLst/>
                <a:gdLst>
                  <a:gd name="T0" fmla="*/ 0 w 119"/>
                  <a:gd name="T1" fmla="*/ 25 h 25"/>
                  <a:gd name="T2" fmla="*/ 82 w 119"/>
                  <a:gd name="T3" fmla="*/ 15 h 25"/>
                  <a:gd name="T4" fmla="*/ 119 w 119"/>
                  <a:gd name="T5" fmla="*/ 6 h 25"/>
                  <a:gd name="T6" fmla="*/ 0 60000 65536"/>
                  <a:gd name="T7" fmla="*/ 0 60000 65536"/>
                  <a:gd name="T8" fmla="*/ 0 60000 65536"/>
                </a:gdLst>
                <a:ahLst/>
                <a:cxnLst>
                  <a:cxn ang="T6">
                    <a:pos x="T0" y="T1"/>
                  </a:cxn>
                  <a:cxn ang="T7">
                    <a:pos x="T2" y="T3"/>
                  </a:cxn>
                  <a:cxn ang="T8">
                    <a:pos x="T4" y="T5"/>
                  </a:cxn>
                </a:cxnLst>
                <a:rect l="0" t="0" r="r" b="b"/>
                <a:pathLst>
                  <a:path w="119" h="25">
                    <a:moveTo>
                      <a:pt x="0" y="25"/>
                    </a:moveTo>
                    <a:cubicBezTo>
                      <a:pt x="64" y="3"/>
                      <a:pt x="37" y="0"/>
                      <a:pt x="82" y="15"/>
                    </a:cubicBezTo>
                    <a:cubicBezTo>
                      <a:pt x="94" y="12"/>
                      <a:pt x="119" y="6"/>
                      <a:pt x="119" y="6"/>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 name="Freeform 30">
              <a:extLst>
                <a:ext uri="{FF2B5EF4-FFF2-40B4-BE49-F238E27FC236}">
                  <a16:creationId xmlns:a16="http://schemas.microsoft.com/office/drawing/2014/main" id="{4C65B20B-AF02-64B5-1CE0-66B390502414}"/>
                </a:ext>
              </a:extLst>
            </p:cNvPr>
            <p:cNvSpPr>
              <a:spLocks/>
            </p:cNvSpPr>
            <p:nvPr/>
          </p:nvSpPr>
          <p:spPr bwMode="auto">
            <a:xfrm>
              <a:off x="2607" y="1502"/>
              <a:ext cx="145" cy="217"/>
            </a:xfrm>
            <a:custGeom>
              <a:avLst/>
              <a:gdLst>
                <a:gd name="T0" fmla="*/ 118 w 145"/>
                <a:gd name="T1" fmla="*/ 34 h 217"/>
                <a:gd name="T2" fmla="*/ 26 w 145"/>
                <a:gd name="T3" fmla="*/ 52 h 217"/>
                <a:gd name="T4" fmla="*/ 81 w 145"/>
                <a:gd name="T5" fmla="*/ 217 h 217"/>
                <a:gd name="T6" fmla="*/ 145 w 145"/>
                <a:gd name="T7" fmla="*/ 171 h 2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217">
                  <a:moveTo>
                    <a:pt x="118" y="34"/>
                  </a:moveTo>
                  <a:cubicBezTo>
                    <a:pt x="83" y="0"/>
                    <a:pt x="51" y="15"/>
                    <a:pt x="26" y="52"/>
                  </a:cubicBezTo>
                  <a:cubicBezTo>
                    <a:pt x="0" y="132"/>
                    <a:pt x="6" y="167"/>
                    <a:pt x="81" y="217"/>
                  </a:cubicBezTo>
                  <a:cubicBezTo>
                    <a:pt x="112" y="207"/>
                    <a:pt x="123" y="193"/>
                    <a:pt x="145" y="171"/>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Freeform 31">
              <a:extLst>
                <a:ext uri="{FF2B5EF4-FFF2-40B4-BE49-F238E27FC236}">
                  <a16:creationId xmlns:a16="http://schemas.microsoft.com/office/drawing/2014/main" id="{C7C6EBDC-3A6F-0ABC-F73D-8D4488DE4FB1}"/>
                </a:ext>
              </a:extLst>
            </p:cNvPr>
            <p:cNvSpPr>
              <a:spLocks/>
            </p:cNvSpPr>
            <p:nvPr/>
          </p:nvSpPr>
          <p:spPr bwMode="auto">
            <a:xfrm>
              <a:off x="3008" y="1509"/>
              <a:ext cx="55" cy="210"/>
            </a:xfrm>
            <a:custGeom>
              <a:avLst/>
              <a:gdLst>
                <a:gd name="T0" fmla="*/ 0 w 55"/>
                <a:gd name="T1" fmla="*/ 0 h 210"/>
                <a:gd name="T2" fmla="*/ 37 w 55"/>
                <a:gd name="T3" fmla="*/ 91 h 210"/>
                <a:gd name="T4" fmla="*/ 55 w 55"/>
                <a:gd name="T5" fmla="*/ 146 h 210"/>
                <a:gd name="T6" fmla="*/ 46 w 55"/>
                <a:gd name="T7" fmla="*/ 210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210">
                  <a:moveTo>
                    <a:pt x="0" y="0"/>
                  </a:moveTo>
                  <a:cubicBezTo>
                    <a:pt x="21" y="31"/>
                    <a:pt x="26" y="55"/>
                    <a:pt x="37" y="91"/>
                  </a:cubicBezTo>
                  <a:cubicBezTo>
                    <a:pt x="43" y="109"/>
                    <a:pt x="55" y="146"/>
                    <a:pt x="55" y="146"/>
                  </a:cubicBezTo>
                  <a:cubicBezTo>
                    <a:pt x="44" y="191"/>
                    <a:pt x="46" y="170"/>
                    <a:pt x="46" y="2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Freeform 32">
              <a:extLst>
                <a:ext uri="{FF2B5EF4-FFF2-40B4-BE49-F238E27FC236}">
                  <a16:creationId xmlns:a16="http://schemas.microsoft.com/office/drawing/2014/main" id="{4841A4D2-7E80-6B2D-A84E-0746693B0822}"/>
                </a:ext>
              </a:extLst>
            </p:cNvPr>
            <p:cNvSpPr>
              <a:spLocks/>
            </p:cNvSpPr>
            <p:nvPr/>
          </p:nvSpPr>
          <p:spPr bwMode="auto">
            <a:xfrm>
              <a:off x="3054" y="1478"/>
              <a:ext cx="101" cy="122"/>
            </a:xfrm>
            <a:custGeom>
              <a:avLst/>
              <a:gdLst>
                <a:gd name="T0" fmla="*/ 0 w 101"/>
                <a:gd name="T1" fmla="*/ 122 h 122"/>
                <a:gd name="T2" fmla="*/ 64 w 101"/>
                <a:gd name="T3" fmla="*/ 58 h 122"/>
                <a:gd name="T4" fmla="*/ 73 w 101"/>
                <a:gd name="T5" fmla="*/ 3 h 122"/>
                <a:gd name="T6" fmla="*/ 0 60000 65536"/>
                <a:gd name="T7" fmla="*/ 0 60000 65536"/>
                <a:gd name="T8" fmla="*/ 0 60000 65536"/>
              </a:gdLst>
              <a:ahLst/>
              <a:cxnLst>
                <a:cxn ang="T6">
                  <a:pos x="T0" y="T1"/>
                </a:cxn>
                <a:cxn ang="T7">
                  <a:pos x="T2" y="T3"/>
                </a:cxn>
                <a:cxn ang="T8">
                  <a:pos x="T4" y="T5"/>
                </a:cxn>
              </a:cxnLst>
              <a:rect l="0" t="0" r="r" b="b"/>
              <a:pathLst>
                <a:path w="101" h="122">
                  <a:moveTo>
                    <a:pt x="0" y="122"/>
                  </a:moveTo>
                  <a:cubicBezTo>
                    <a:pt x="29" y="102"/>
                    <a:pt x="44" y="87"/>
                    <a:pt x="64" y="58"/>
                  </a:cubicBezTo>
                  <a:cubicBezTo>
                    <a:pt x="83" y="0"/>
                    <a:pt x="101" y="3"/>
                    <a:pt x="73" y="3"/>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Freeform 33">
              <a:extLst>
                <a:ext uri="{FF2B5EF4-FFF2-40B4-BE49-F238E27FC236}">
                  <a16:creationId xmlns:a16="http://schemas.microsoft.com/office/drawing/2014/main" id="{C6112C9E-6384-29BB-7173-844005CBAFBE}"/>
                </a:ext>
              </a:extLst>
            </p:cNvPr>
            <p:cNvSpPr>
              <a:spLocks/>
            </p:cNvSpPr>
            <p:nvPr/>
          </p:nvSpPr>
          <p:spPr bwMode="auto">
            <a:xfrm>
              <a:off x="3054" y="1600"/>
              <a:ext cx="114" cy="128"/>
            </a:xfrm>
            <a:custGeom>
              <a:avLst/>
              <a:gdLst>
                <a:gd name="T0" fmla="*/ 0 w 55"/>
                <a:gd name="T1" fmla="*/ 0 h 27"/>
                <a:gd name="T2" fmla="*/ 5920 w 55"/>
                <a:gd name="T3" fmla="*/ 488420 h 27"/>
                <a:gd name="T4" fmla="*/ 9031 w 55"/>
                <a:gd name="T5" fmla="*/ 1453724 h 27"/>
                <a:gd name="T6" fmla="*/ 0 60000 65536"/>
                <a:gd name="T7" fmla="*/ 0 60000 65536"/>
                <a:gd name="T8" fmla="*/ 0 60000 65536"/>
              </a:gdLst>
              <a:ahLst/>
              <a:cxnLst>
                <a:cxn ang="T6">
                  <a:pos x="T0" y="T1"/>
                </a:cxn>
                <a:cxn ang="T7">
                  <a:pos x="T2" y="T3"/>
                </a:cxn>
                <a:cxn ang="T8">
                  <a:pos x="T4" y="T5"/>
                </a:cxn>
              </a:cxnLst>
              <a:rect l="0" t="0" r="r" b="b"/>
              <a:pathLst>
                <a:path w="55" h="27">
                  <a:moveTo>
                    <a:pt x="0" y="0"/>
                  </a:moveTo>
                  <a:cubicBezTo>
                    <a:pt x="12" y="3"/>
                    <a:pt x="25" y="4"/>
                    <a:pt x="36" y="9"/>
                  </a:cubicBezTo>
                  <a:cubicBezTo>
                    <a:pt x="44" y="13"/>
                    <a:pt x="55" y="27"/>
                    <a:pt x="55" y="27"/>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Freeform 34">
              <a:extLst>
                <a:ext uri="{FF2B5EF4-FFF2-40B4-BE49-F238E27FC236}">
                  <a16:creationId xmlns:a16="http://schemas.microsoft.com/office/drawing/2014/main" id="{195CA3B1-0530-2361-9AEE-E88EA1D0A9A3}"/>
                </a:ext>
              </a:extLst>
            </p:cNvPr>
            <p:cNvSpPr>
              <a:spLocks/>
            </p:cNvSpPr>
            <p:nvPr/>
          </p:nvSpPr>
          <p:spPr bwMode="auto">
            <a:xfrm>
              <a:off x="1325" y="1920"/>
              <a:ext cx="211" cy="32"/>
            </a:xfrm>
            <a:custGeom>
              <a:avLst/>
              <a:gdLst>
                <a:gd name="T0" fmla="*/ 0 w 211"/>
                <a:gd name="T1" fmla="*/ 14 h 32"/>
                <a:gd name="T2" fmla="*/ 138 w 211"/>
                <a:gd name="T3" fmla="*/ 32 h 32"/>
                <a:gd name="T4" fmla="*/ 211 w 211"/>
                <a:gd name="T5" fmla="*/ 23 h 32"/>
                <a:gd name="T6" fmla="*/ 0 60000 65536"/>
                <a:gd name="T7" fmla="*/ 0 60000 65536"/>
                <a:gd name="T8" fmla="*/ 0 60000 65536"/>
              </a:gdLst>
              <a:ahLst/>
              <a:cxnLst>
                <a:cxn ang="T6">
                  <a:pos x="T0" y="T1"/>
                </a:cxn>
                <a:cxn ang="T7">
                  <a:pos x="T2" y="T3"/>
                </a:cxn>
                <a:cxn ang="T8">
                  <a:pos x="T4" y="T5"/>
                </a:cxn>
              </a:cxnLst>
              <a:rect l="0" t="0" r="r" b="b"/>
              <a:pathLst>
                <a:path w="211" h="32">
                  <a:moveTo>
                    <a:pt x="0" y="14"/>
                  </a:moveTo>
                  <a:cubicBezTo>
                    <a:pt x="44" y="0"/>
                    <a:pt x="93" y="23"/>
                    <a:pt x="138" y="32"/>
                  </a:cubicBezTo>
                  <a:cubicBezTo>
                    <a:pt x="198" y="22"/>
                    <a:pt x="174" y="23"/>
                    <a:pt x="211" y="23"/>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Freeform 35">
              <a:extLst>
                <a:ext uri="{FF2B5EF4-FFF2-40B4-BE49-F238E27FC236}">
                  <a16:creationId xmlns:a16="http://schemas.microsoft.com/office/drawing/2014/main" id="{2CF6CC87-3E36-FA80-9BC4-D210890D70F4}"/>
                </a:ext>
              </a:extLst>
            </p:cNvPr>
            <p:cNvSpPr>
              <a:spLocks/>
            </p:cNvSpPr>
            <p:nvPr/>
          </p:nvSpPr>
          <p:spPr bwMode="auto">
            <a:xfrm>
              <a:off x="1371" y="1957"/>
              <a:ext cx="57" cy="182"/>
            </a:xfrm>
            <a:custGeom>
              <a:avLst/>
              <a:gdLst>
                <a:gd name="T0" fmla="*/ 55 w 57"/>
                <a:gd name="T1" fmla="*/ 0 h 182"/>
                <a:gd name="T2" fmla="*/ 10 w 57"/>
                <a:gd name="T3" fmla="*/ 155 h 182"/>
                <a:gd name="T4" fmla="*/ 0 w 57"/>
                <a:gd name="T5" fmla="*/ 182 h 182"/>
                <a:gd name="T6" fmla="*/ 0 60000 65536"/>
                <a:gd name="T7" fmla="*/ 0 60000 65536"/>
                <a:gd name="T8" fmla="*/ 0 60000 65536"/>
              </a:gdLst>
              <a:ahLst/>
              <a:cxnLst>
                <a:cxn ang="T6">
                  <a:pos x="T0" y="T1"/>
                </a:cxn>
                <a:cxn ang="T7">
                  <a:pos x="T2" y="T3"/>
                </a:cxn>
                <a:cxn ang="T8">
                  <a:pos x="T4" y="T5"/>
                </a:cxn>
              </a:cxnLst>
              <a:rect l="0" t="0" r="r" b="b"/>
              <a:pathLst>
                <a:path w="57" h="182">
                  <a:moveTo>
                    <a:pt x="55" y="0"/>
                  </a:moveTo>
                  <a:cubicBezTo>
                    <a:pt x="48" y="69"/>
                    <a:pt x="57" y="108"/>
                    <a:pt x="10" y="155"/>
                  </a:cubicBezTo>
                  <a:cubicBezTo>
                    <a:pt x="7" y="164"/>
                    <a:pt x="0" y="182"/>
                    <a:pt x="0" y="182"/>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Freeform 36">
              <a:extLst>
                <a:ext uri="{FF2B5EF4-FFF2-40B4-BE49-F238E27FC236}">
                  <a16:creationId xmlns:a16="http://schemas.microsoft.com/office/drawing/2014/main" id="{9C0CCC83-A9F6-9FA4-83A6-2AA6D5EE56C5}"/>
                </a:ext>
              </a:extLst>
            </p:cNvPr>
            <p:cNvSpPr>
              <a:spLocks/>
            </p:cNvSpPr>
            <p:nvPr/>
          </p:nvSpPr>
          <p:spPr bwMode="auto">
            <a:xfrm>
              <a:off x="1646" y="1963"/>
              <a:ext cx="164" cy="158"/>
            </a:xfrm>
            <a:custGeom>
              <a:avLst/>
              <a:gdLst>
                <a:gd name="T0" fmla="*/ 100 w 164"/>
                <a:gd name="T1" fmla="*/ 3 h 158"/>
                <a:gd name="T2" fmla="*/ 0 w 164"/>
                <a:gd name="T3" fmla="*/ 112 h 158"/>
                <a:gd name="T4" fmla="*/ 9 w 164"/>
                <a:gd name="T5" fmla="*/ 140 h 158"/>
                <a:gd name="T6" fmla="*/ 64 w 164"/>
                <a:gd name="T7" fmla="*/ 158 h 158"/>
                <a:gd name="T8" fmla="*/ 137 w 164"/>
                <a:gd name="T9" fmla="*/ 140 h 158"/>
                <a:gd name="T10" fmla="*/ 155 w 164"/>
                <a:gd name="T11" fmla="*/ 85 h 158"/>
                <a:gd name="T12" fmla="*/ 119 w 164"/>
                <a:gd name="T13" fmla="*/ 30 h 158"/>
                <a:gd name="T14" fmla="*/ 100 w 164"/>
                <a:gd name="T15" fmla="*/ 3 h 1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4" h="158">
                  <a:moveTo>
                    <a:pt x="100" y="3"/>
                  </a:moveTo>
                  <a:cubicBezTo>
                    <a:pt x="45" y="21"/>
                    <a:pt x="18" y="58"/>
                    <a:pt x="0" y="112"/>
                  </a:cubicBezTo>
                  <a:cubicBezTo>
                    <a:pt x="3" y="121"/>
                    <a:pt x="1" y="134"/>
                    <a:pt x="9" y="140"/>
                  </a:cubicBezTo>
                  <a:cubicBezTo>
                    <a:pt x="25" y="151"/>
                    <a:pt x="64" y="158"/>
                    <a:pt x="64" y="158"/>
                  </a:cubicBezTo>
                  <a:cubicBezTo>
                    <a:pt x="73" y="156"/>
                    <a:pt x="133" y="146"/>
                    <a:pt x="137" y="140"/>
                  </a:cubicBezTo>
                  <a:cubicBezTo>
                    <a:pt x="148" y="124"/>
                    <a:pt x="155" y="85"/>
                    <a:pt x="155" y="85"/>
                  </a:cubicBezTo>
                  <a:cubicBezTo>
                    <a:pt x="135" y="3"/>
                    <a:pt x="164" y="84"/>
                    <a:pt x="119" y="30"/>
                  </a:cubicBezTo>
                  <a:cubicBezTo>
                    <a:pt x="94" y="0"/>
                    <a:pt x="123" y="3"/>
                    <a:pt x="100" y="3"/>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Freeform 37">
              <a:extLst>
                <a:ext uri="{FF2B5EF4-FFF2-40B4-BE49-F238E27FC236}">
                  <a16:creationId xmlns:a16="http://schemas.microsoft.com/office/drawing/2014/main" id="{682B67A0-06C9-7E70-45EB-B42688C6151E}"/>
                </a:ext>
              </a:extLst>
            </p:cNvPr>
            <p:cNvSpPr>
              <a:spLocks/>
            </p:cNvSpPr>
            <p:nvPr/>
          </p:nvSpPr>
          <p:spPr bwMode="auto">
            <a:xfrm>
              <a:off x="1993" y="1975"/>
              <a:ext cx="284" cy="201"/>
            </a:xfrm>
            <a:custGeom>
              <a:avLst/>
              <a:gdLst>
                <a:gd name="T0" fmla="*/ 0 w 284"/>
                <a:gd name="T1" fmla="*/ 164 h 201"/>
                <a:gd name="T2" fmla="*/ 64 w 284"/>
                <a:gd name="T3" fmla="*/ 137 h 201"/>
                <a:gd name="T4" fmla="*/ 110 w 284"/>
                <a:gd name="T5" fmla="*/ 91 h 201"/>
                <a:gd name="T6" fmla="*/ 137 w 284"/>
                <a:gd name="T7" fmla="*/ 0 h 201"/>
                <a:gd name="T8" fmla="*/ 174 w 284"/>
                <a:gd name="T9" fmla="*/ 128 h 201"/>
                <a:gd name="T10" fmla="*/ 201 w 284"/>
                <a:gd name="T11" fmla="*/ 110 h 201"/>
                <a:gd name="T12" fmla="*/ 247 w 284"/>
                <a:gd name="T13" fmla="*/ 64 h 201"/>
                <a:gd name="T14" fmla="*/ 274 w 284"/>
                <a:gd name="T15" fmla="*/ 9 h 201"/>
                <a:gd name="T16" fmla="*/ 284 w 284"/>
                <a:gd name="T17" fmla="*/ 36 h 201"/>
                <a:gd name="T18" fmla="*/ 256 w 284"/>
                <a:gd name="T19" fmla="*/ 164 h 201"/>
                <a:gd name="T20" fmla="*/ 229 w 284"/>
                <a:gd name="T21" fmla="*/ 201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4" h="201">
                  <a:moveTo>
                    <a:pt x="0" y="164"/>
                  </a:moveTo>
                  <a:cubicBezTo>
                    <a:pt x="33" y="156"/>
                    <a:pt x="39" y="159"/>
                    <a:pt x="64" y="137"/>
                  </a:cubicBezTo>
                  <a:cubicBezTo>
                    <a:pt x="80" y="123"/>
                    <a:pt x="110" y="91"/>
                    <a:pt x="110" y="91"/>
                  </a:cubicBezTo>
                  <a:cubicBezTo>
                    <a:pt x="132" y="24"/>
                    <a:pt x="123" y="55"/>
                    <a:pt x="137" y="0"/>
                  </a:cubicBezTo>
                  <a:cubicBezTo>
                    <a:pt x="175" y="36"/>
                    <a:pt x="168" y="73"/>
                    <a:pt x="174" y="128"/>
                  </a:cubicBezTo>
                  <a:cubicBezTo>
                    <a:pt x="183" y="122"/>
                    <a:pt x="193" y="117"/>
                    <a:pt x="201" y="110"/>
                  </a:cubicBezTo>
                  <a:cubicBezTo>
                    <a:pt x="217" y="96"/>
                    <a:pt x="247" y="64"/>
                    <a:pt x="247" y="64"/>
                  </a:cubicBezTo>
                  <a:cubicBezTo>
                    <a:pt x="249" y="58"/>
                    <a:pt x="262" y="9"/>
                    <a:pt x="274" y="9"/>
                  </a:cubicBezTo>
                  <a:cubicBezTo>
                    <a:pt x="284" y="9"/>
                    <a:pt x="281" y="27"/>
                    <a:pt x="284" y="36"/>
                  </a:cubicBezTo>
                  <a:cubicBezTo>
                    <a:pt x="282" y="52"/>
                    <a:pt x="274" y="145"/>
                    <a:pt x="256" y="164"/>
                  </a:cubicBezTo>
                  <a:cubicBezTo>
                    <a:pt x="233" y="188"/>
                    <a:pt x="242" y="175"/>
                    <a:pt x="229" y="201"/>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Freeform 38">
              <a:extLst>
                <a:ext uri="{FF2B5EF4-FFF2-40B4-BE49-F238E27FC236}">
                  <a16:creationId xmlns:a16="http://schemas.microsoft.com/office/drawing/2014/main" id="{CCDE7540-784E-9E7E-E180-283A77421E0F}"/>
                </a:ext>
              </a:extLst>
            </p:cNvPr>
            <p:cNvSpPr>
              <a:spLocks/>
            </p:cNvSpPr>
            <p:nvPr/>
          </p:nvSpPr>
          <p:spPr bwMode="auto">
            <a:xfrm>
              <a:off x="2500" y="1947"/>
              <a:ext cx="203" cy="156"/>
            </a:xfrm>
            <a:custGeom>
              <a:avLst/>
              <a:gdLst>
                <a:gd name="T0" fmla="*/ 42 w 203"/>
                <a:gd name="T1" fmla="*/ 19 h 156"/>
                <a:gd name="T2" fmla="*/ 42 w 203"/>
                <a:gd name="T3" fmla="*/ 156 h 156"/>
                <a:gd name="T4" fmla="*/ 161 w 203"/>
                <a:gd name="T5" fmla="*/ 128 h 156"/>
                <a:gd name="T6" fmla="*/ 161 w 203"/>
                <a:gd name="T7" fmla="*/ 19 h 156"/>
                <a:gd name="T8" fmla="*/ 106 w 203"/>
                <a:gd name="T9" fmla="*/ 0 h 156"/>
                <a:gd name="T10" fmla="*/ 42 w 203"/>
                <a:gd name="T11" fmla="*/ 19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3" h="156">
                  <a:moveTo>
                    <a:pt x="42" y="19"/>
                  </a:moveTo>
                  <a:cubicBezTo>
                    <a:pt x="2" y="56"/>
                    <a:pt x="0" y="116"/>
                    <a:pt x="42" y="156"/>
                  </a:cubicBezTo>
                  <a:cubicBezTo>
                    <a:pt x="82" y="146"/>
                    <a:pt x="122" y="142"/>
                    <a:pt x="161" y="128"/>
                  </a:cubicBezTo>
                  <a:cubicBezTo>
                    <a:pt x="184" y="94"/>
                    <a:pt x="203" y="52"/>
                    <a:pt x="161" y="19"/>
                  </a:cubicBezTo>
                  <a:cubicBezTo>
                    <a:pt x="146" y="7"/>
                    <a:pt x="124" y="7"/>
                    <a:pt x="106" y="0"/>
                  </a:cubicBezTo>
                  <a:cubicBezTo>
                    <a:pt x="48" y="20"/>
                    <a:pt x="70" y="19"/>
                    <a:pt x="42" y="19"/>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Freeform 39">
              <a:extLst>
                <a:ext uri="{FF2B5EF4-FFF2-40B4-BE49-F238E27FC236}">
                  <a16:creationId xmlns:a16="http://schemas.microsoft.com/office/drawing/2014/main" id="{2F25478B-A0EA-D27C-02EF-2DD4EB1EACF9}"/>
                </a:ext>
              </a:extLst>
            </p:cNvPr>
            <p:cNvSpPr>
              <a:spLocks/>
            </p:cNvSpPr>
            <p:nvPr/>
          </p:nvSpPr>
          <p:spPr bwMode="auto">
            <a:xfrm>
              <a:off x="2862" y="1938"/>
              <a:ext cx="218" cy="211"/>
            </a:xfrm>
            <a:custGeom>
              <a:avLst/>
              <a:gdLst>
                <a:gd name="T0" fmla="*/ 0 w 218"/>
                <a:gd name="T1" fmla="*/ 183 h 211"/>
                <a:gd name="T2" fmla="*/ 55 w 218"/>
                <a:gd name="T3" fmla="*/ 83 h 211"/>
                <a:gd name="T4" fmla="*/ 73 w 218"/>
                <a:gd name="T5" fmla="*/ 19 h 211"/>
                <a:gd name="T6" fmla="*/ 137 w 218"/>
                <a:gd name="T7" fmla="*/ 0 h 211"/>
                <a:gd name="T8" fmla="*/ 192 w 218"/>
                <a:gd name="T9" fmla="*/ 73 h 211"/>
                <a:gd name="T10" fmla="*/ 119 w 218"/>
                <a:gd name="T11" fmla="*/ 110 h 211"/>
                <a:gd name="T12" fmla="*/ 91 w 218"/>
                <a:gd name="T13" fmla="*/ 119 h 211"/>
                <a:gd name="T14" fmla="*/ 146 w 218"/>
                <a:gd name="T15" fmla="*/ 192 h 211"/>
                <a:gd name="T16" fmla="*/ 164 w 218"/>
                <a:gd name="T17" fmla="*/ 211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8" h="211">
                  <a:moveTo>
                    <a:pt x="0" y="183"/>
                  </a:moveTo>
                  <a:cubicBezTo>
                    <a:pt x="26" y="143"/>
                    <a:pt x="38" y="132"/>
                    <a:pt x="55" y="83"/>
                  </a:cubicBezTo>
                  <a:cubicBezTo>
                    <a:pt x="62" y="62"/>
                    <a:pt x="59" y="36"/>
                    <a:pt x="73" y="19"/>
                  </a:cubicBezTo>
                  <a:cubicBezTo>
                    <a:pt x="78" y="13"/>
                    <a:pt x="136" y="0"/>
                    <a:pt x="137" y="0"/>
                  </a:cubicBezTo>
                  <a:cubicBezTo>
                    <a:pt x="188" y="13"/>
                    <a:pt x="218" y="4"/>
                    <a:pt x="192" y="73"/>
                  </a:cubicBezTo>
                  <a:cubicBezTo>
                    <a:pt x="183" y="98"/>
                    <a:pt x="133" y="105"/>
                    <a:pt x="119" y="110"/>
                  </a:cubicBezTo>
                  <a:cubicBezTo>
                    <a:pt x="110" y="113"/>
                    <a:pt x="91" y="119"/>
                    <a:pt x="91" y="119"/>
                  </a:cubicBezTo>
                  <a:cubicBezTo>
                    <a:pt x="107" y="168"/>
                    <a:pt x="92" y="138"/>
                    <a:pt x="146" y="192"/>
                  </a:cubicBezTo>
                  <a:cubicBezTo>
                    <a:pt x="152" y="198"/>
                    <a:pt x="164" y="211"/>
                    <a:pt x="164" y="211"/>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Freeform 40">
              <a:extLst>
                <a:ext uri="{FF2B5EF4-FFF2-40B4-BE49-F238E27FC236}">
                  <a16:creationId xmlns:a16="http://schemas.microsoft.com/office/drawing/2014/main" id="{515B0136-733E-3B93-8CBA-6638F20D579B}"/>
                </a:ext>
              </a:extLst>
            </p:cNvPr>
            <p:cNvSpPr>
              <a:spLocks/>
            </p:cNvSpPr>
            <p:nvPr/>
          </p:nvSpPr>
          <p:spPr bwMode="auto">
            <a:xfrm>
              <a:off x="3310" y="1865"/>
              <a:ext cx="195" cy="256"/>
            </a:xfrm>
            <a:custGeom>
              <a:avLst/>
              <a:gdLst>
                <a:gd name="T0" fmla="*/ 0 w 195"/>
                <a:gd name="T1" fmla="*/ 256 h 256"/>
                <a:gd name="T2" fmla="*/ 27 w 195"/>
                <a:gd name="T3" fmla="*/ 73 h 256"/>
                <a:gd name="T4" fmla="*/ 27 w 195"/>
                <a:gd name="T5" fmla="*/ 18 h 256"/>
                <a:gd name="T6" fmla="*/ 82 w 195"/>
                <a:gd name="T7" fmla="*/ 0 h 256"/>
                <a:gd name="T8" fmla="*/ 183 w 195"/>
                <a:gd name="T9" fmla="*/ 55 h 256"/>
                <a:gd name="T10" fmla="*/ 155 w 195"/>
                <a:gd name="T11" fmla="*/ 128 h 256"/>
                <a:gd name="T12" fmla="*/ 100 w 195"/>
                <a:gd name="T13" fmla="*/ 146 h 256"/>
                <a:gd name="T14" fmla="*/ 55 w 195"/>
                <a:gd name="T15" fmla="*/ 156 h 256"/>
                <a:gd name="T16" fmla="*/ 27 w 195"/>
                <a:gd name="T17" fmla="*/ 165 h 256"/>
                <a:gd name="T18" fmla="*/ 100 w 195"/>
                <a:gd name="T19" fmla="*/ 220 h 256"/>
                <a:gd name="T20" fmla="*/ 164 w 195"/>
                <a:gd name="T21" fmla="*/ 256 h 2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5" h="256">
                  <a:moveTo>
                    <a:pt x="0" y="256"/>
                  </a:moveTo>
                  <a:cubicBezTo>
                    <a:pt x="6" y="192"/>
                    <a:pt x="17" y="136"/>
                    <a:pt x="27" y="73"/>
                  </a:cubicBezTo>
                  <a:cubicBezTo>
                    <a:pt x="22" y="59"/>
                    <a:pt x="7" y="32"/>
                    <a:pt x="27" y="18"/>
                  </a:cubicBezTo>
                  <a:cubicBezTo>
                    <a:pt x="43" y="7"/>
                    <a:pt x="82" y="0"/>
                    <a:pt x="82" y="0"/>
                  </a:cubicBezTo>
                  <a:cubicBezTo>
                    <a:pt x="150" y="22"/>
                    <a:pt x="129" y="20"/>
                    <a:pt x="183" y="55"/>
                  </a:cubicBezTo>
                  <a:cubicBezTo>
                    <a:pt x="195" y="90"/>
                    <a:pt x="194" y="111"/>
                    <a:pt x="155" y="128"/>
                  </a:cubicBezTo>
                  <a:cubicBezTo>
                    <a:pt x="137" y="136"/>
                    <a:pt x="100" y="146"/>
                    <a:pt x="100" y="146"/>
                  </a:cubicBezTo>
                  <a:cubicBezTo>
                    <a:pt x="65" y="183"/>
                    <a:pt x="101" y="156"/>
                    <a:pt x="55" y="156"/>
                  </a:cubicBezTo>
                  <a:cubicBezTo>
                    <a:pt x="45" y="156"/>
                    <a:pt x="36" y="162"/>
                    <a:pt x="27" y="165"/>
                  </a:cubicBezTo>
                  <a:cubicBezTo>
                    <a:pt x="48" y="197"/>
                    <a:pt x="65" y="207"/>
                    <a:pt x="100" y="220"/>
                  </a:cubicBezTo>
                  <a:cubicBezTo>
                    <a:pt x="121" y="239"/>
                    <a:pt x="139" y="244"/>
                    <a:pt x="164" y="256"/>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Freeform 41">
              <a:extLst>
                <a:ext uri="{FF2B5EF4-FFF2-40B4-BE49-F238E27FC236}">
                  <a16:creationId xmlns:a16="http://schemas.microsoft.com/office/drawing/2014/main" id="{B33FC4B7-AE8A-D2A0-1BC2-B2EDDDD68D67}"/>
                </a:ext>
              </a:extLst>
            </p:cNvPr>
            <p:cNvSpPr>
              <a:spLocks/>
            </p:cNvSpPr>
            <p:nvPr/>
          </p:nvSpPr>
          <p:spPr bwMode="auto">
            <a:xfrm>
              <a:off x="3696" y="1920"/>
              <a:ext cx="144" cy="192"/>
            </a:xfrm>
            <a:custGeom>
              <a:avLst/>
              <a:gdLst>
                <a:gd name="T0" fmla="*/ 5 w 193"/>
                <a:gd name="T1" fmla="*/ 0 h 201"/>
                <a:gd name="T2" fmla="*/ 10 w 193"/>
                <a:gd name="T3" fmla="*/ 146 h 201"/>
                <a:gd name="T4" fmla="*/ 17 w 193"/>
                <a:gd name="T5" fmla="*/ 133 h 201"/>
                <a:gd name="T6" fmla="*/ 21 w 193"/>
                <a:gd name="T7" fmla="*/ 127 h 201"/>
                <a:gd name="T8" fmla="*/ 19 w 193"/>
                <a:gd name="T9" fmla="*/ 80 h 201"/>
                <a:gd name="T10" fmla="*/ 5 w 193"/>
                <a:gd name="T11" fmla="*/ 0 h 2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3" h="201">
                  <a:moveTo>
                    <a:pt x="42" y="0"/>
                  </a:moveTo>
                  <a:cubicBezTo>
                    <a:pt x="0" y="80"/>
                    <a:pt x="17" y="140"/>
                    <a:pt x="78" y="201"/>
                  </a:cubicBezTo>
                  <a:cubicBezTo>
                    <a:pt x="96" y="195"/>
                    <a:pt x="115" y="189"/>
                    <a:pt x="133" y="183"/>
                  </a:cubicBezTo>
                  <a:cubicBezTo>
                    <a:pt x="142" y="180"/>
                    <a:pt x="160" y="174"/>
                    <a:pt x="160" y="174"/>
                  </a:cubicBezTo>
                  <a:cubicBezTo>
                    <a:pt x="193" y="141"/>
                    <a:pt x="169" y="151"/>
                    <a:pt x="142" y="110"/>
                  </a:cubicBezTo>
                  <a:cubicBezTo>
                    <a:pt x="119" y="39"/>
                    <a:pt x="115" y="29"/>
                    <a:pt x="42" y="0"/>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Freeform 42">
              <a:extLst>
                <a:ext uri="{FF2B5EF4-FFF2-40B4-BE49-F238E27FC236}">
                  <a16:creationId xmlns:a16="http://schemas.microsoft.com/office/drawing/2014/main" id="{642D3C07-5B9C-AA3C-0AC1-BE404C1D0180}"/>
                </a:ext>
              </a:extLst>
            </p:cNvPr>
            <p:cNvSpPr>
              <a:spLocks/>
            </p:cNvSpPr>
            <p:nvPr/>
          </p:nvSpPr>
          <p:spPr bwMode="auto">
            <a:xfrm>
              <a:off x="3880" y="1883"/>
              <a:ext cx="234" cy="291"/>
            </a:xfrm>
            <a:custGeom>
              <a:avLst/>
              <a:gdLst>
                <a:gd name="T0" fmla="*/ 33 w 234"/>
                <a:gd name="T1" fmla="*/ 0 h 291"/>
                <a:gd name="T2" fmla="*/ 33 w 234"/>
                <a:gd name="T3" fmla="*/ 220 h 291"/>
                <a:gd name="T4" fmla="*/ 24 w 234"/>
                <a:gd name="T5" fmla="*/ 247 h 291"/>
                <a:gd name="T6" fmla="*/ 6 w 234"/>
                <a:gd name="T7" fmla="*/ 266 h 291"/>
                <a:gd name="T8" fmla="*/ 61 w 234"/>
                <a:gd name="T9" fmla="*/ 238 h 291"/>
                <a:gd name="T10" fmla="*/ 106 w 234"/>
                <a:gd name="T11" fmla="*/ 165 h 291"/>
                <a:gd name="T12" fmla="*/ 106 w 234"/>
                <a:gd name="T13" fmla="*/ 256 h 291"/>
                <a:gd name="T14" fmla="*/ 97 w 234"/>
                <a:gd name="T15" fmla="*/ 284 h 291"/>
                <a:gd name="T16" fmla="*/ 143 w 234"/>
                <a:gd name="T17" fmla="*/ 275 h 291"/>
                <a:gd name="T18" fmla="*/ 198 w 234"/>
                <a:gd name="T19" fmla="*/ 211 h 291"/>
                <a:gd name="T20" fmla="*/ 234 w 234"/>
                <a:gd name="T21" fmla="*/ 74 h 2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4" h="291">
                  <a:moveTo>
                    <a:pt x="33" y="0"/>
                  </a:moveTo>
                  <a:cubicBezTo>
                    <a:pt x="55" y="92"/>
                    <a:pt x="48" y="46"/>
                    <a:pt x="33" y="220"/>
                  </a:cubicBezTo>
                  <a:cubicBezTo>
                    <a:pt x="32" y="229"/>
                    <a:pt x="29" y="239"/>
                    <a:pt x="24" y="247"/>
                  </a:cubicBezTo>
                  <a:cubicBezTo>
                    <a:pt x="20" y="255"/>
                    <a:pt x="0" y="260"/>
                    <a:pt x="6" y="266"/>
                  </a:cubicBezTo>
                  <a:cubicBezTo>
                    <a:pt x="12" y="272"/>
                    <a:pt x="61" y="238"/>
                    <a:pt x="61" y="238"/>
                  </a:cubicBezTo>
                  <a:cubicBezTo>
                    <a:pt x="79" y="211"/>
                    <a:pt x="96" y="195"/>
                    <a:pt x="106" y="165"/>
                  </a:cubicBezTo>
                  <a:cubicBezTo>
                    <a:pt x="121" y="209"/>
                    <a:pt x="119" y="190"/>
                    <a:pt x="106" y="256"/>
                  </a:cubicBezTo>
                  <a:cubicBezTo>
                    <a:pt x="104" y="266"/>
                    <a:pt x="88" y="280"/>
                    <a:pt x="97" y="284"/>
                  </a:cubicBezTo>
                  <a:cubicBezTo>
                    <a:pt x="111" y="291"/>
                    <a:pt x="128" y="278"/>
                    <a:pt x="143" y="275"/>
                  </a:cubicBezTo>
                  <a:cubicBezTo>
                    <a:pt x="163" y="254"/>
                    <a:pt x="177" y="231"/>
                    <a:pt x="198" y="211"/>
                  </a:cubicBezTo>
                  <a:cubicBezTo>
                    <a:pt x="213" y="166"/>
                    <a:pt x="234" y="122"/>
                    <a:pt x="234" y="74"/>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43">
              <a:extLst>
                <a:ext uri="{FF2B5EF4-FFF2-40B4-BE49-F238E27FC236}">
                  <a16:creationId xmlns:a16="http://schemas.microsoft.com/office/drawing/2014/main" id="{6A092003-4D6A-C46B-9DE8-490F4F35D419}"/>
                </a:ext>
              </a:extLst>
            </p:cNvPr>
            <p:cNvSpPr>
              <a:spLocks noChangeShapeType="1"/>
            </p:cNvSpPr>
            <p:nvPr/>
          </p:nvSpPr>
          <p:spPr bwMode="auto">
            <a:xfrm>
              <a:off x="672" y="2208"/>
              <a:ext cx="1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47" name="Picture 3" descr="skytale">
            <a:extLst>
              <a:ext uri="{FF2B5EF4-FFF2-40B4-BE49-F238E27FC236}">
                <a16:creationId xmlns:a16="http://schemas.microsoft.com/office/drawing/2014/main" id="{434BEF6E-5C12-227F-DA1E-D41EB56879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9591" y="3526535"/>
            <a:ext cx="1790700" cy="302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 name="组合 110">
            <a:extLst>
              <a:ext uri="{FF2B5EF4-FFF2-40B4-BE49-F238E27FC236}">
                <a16:creationId xmlns:a16="http://schemas.microsoft.com/office/drawing/2014/main" id="{A36BCAA1-ECC0-AD88-D1F5-048EDADA6043}"/>
              </a:ext>
            </a:extLst>
          </p:cNvPr>
          <p:cNvGrpSpPr>
            <a:grpSpLocks/>
          </p:cNvGrpSpPr>
          <p:nvPr/>
        </p:nvGrpSpPr>
        <p:grpSpPr bwMode="auto">
          <a:xfrm>
            <a:off x="1706845" y="5752375"/>
            <a:ext cx="8686800" cy="685800"/>
            <a:chOff x="228600" y="5636891"/>
            <a:chExt cx="8686800" cy="685800"/>
          </a:xfrm>
        </p:grpSpPr>
        <p:sp>
          <p:nvSpPr>
            <p:cNvPr id="49" name="Rectangle 44">
              <a:extLst>
                <a:ext uri="{FF2B5EF4-FFF2-40B4-BE49-F238E27FC236}">
                  <a16:creationId xmlns:a16="http://schemas.microsoft.com/office/drawing/2014/main" id="{943D6C66-419B-74BD-3D7D-8ED80DF52DF7}"/>
                </a:ext>
              </a:extLst>
            </p:cNvPr>
            <p:cNvSpPr>
              <a:spLocks noChangeArrowheads="1"/>
            </p:cNvSpPr>
            <p:nvPr/>
          </p:nvSpPr>
          <p:spPr bwMode="auto">
            <a:xfrm>
              <a:off x="228600" y="5636891"/>
              <a:ext cx="86868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imes New Roman" panose="02020603050405020304" pitchFamily="18" charset="0"/>
              </a:endParaRPr>
            </a:p>
          </p:txBody>
        </p:sp>
        <p:grpSp>
          <p:nvGrpSpPr>
            <p:cNvPr id="50" name="组合 89">
              <a:extLst>
                <a:ext uri="{FF2B5EF4-FFF2-40B4-BE49-F238E27FC236}">
                  <a16:creationId xmlns:a16="http://schemas.microsoft.com/office/drawing/2014/main" id="{DD5585F2-FAA1-0301-6E19-5EFD4E1AD4EC}"/>
                </a:ext>
              </a:extLst>
            </p:cNvPr>
            <p:cNvGrpSpPr>
              <a:grpSpLocks/>
            </p:cNvGrpSpPr>
            <p:nvPr/>
          </p:nvGrpSpPr>
          <p:grpSpPr bwMode="auto">
            <a:xfrm>
              <a:off x="431800" y="5733256"/>
              <a:ext cx="8305800" cy="493713"/>
              <a:chOff x="431800" y="5283200"/>
              <a:chExt cx="8305800" cy="493713"/>
            </a:xfrm>
          </p:grpSpPr>
          <p:grpSp>
            <p:nvGrpSpPr>
              <p:cNvPr id="51" name="Group 45">
                <a:extLst>
                  <a:ext uri="{FF2B5EF4-FFF2-40B4-BE49-F238E27FC236}">
                    <a16:creationId xmlns:a16="http://schemas.microsoft.com/office/drawing/2014/main" id="{61D49271-8740-80B2-7063-2C51FF0A3C1C}"/>
                  </a:ext>
                </a:extLst>
              </p:cNvPr>
              <p:cNvGrpSpPr>
                <a:grpSpLocks/>
              </p:cNvGrpSpPr>
              <p:nvPr/>
            </p:nvGrpSpPr>
            <p:grpSpPr bwMode="auto">
              <a:xfrm>
                <a:off x="431800" y="5283200"/>
                <a:ext cx="304800" cy="333375"/>
                <a:chOff x="512" y="3328"/>
                <a:chExt cx="192" cy="210"/>
              </a:xfrm>
            </p:grpSpPr>
            <p:sp>
              <p:nvSpPr>
                <p:cNvPr id="69" name="Freeform 46">
                  <a:extLst>
                    <a:ext uri="{FF2B5EF4-FFF2-40B4-BE49-F238E27FC236}">
                      <a16:creationId xmlns:a16="http://schemas.microsoft.com/office/drawing/2014/main" id="{41BA0F2A-4098-F76D-9681-62366C9F1ED5}"/>
                    </a:ext>
                  </a:extLst>
                </p:cNvPr>
                <p:cNvSpPr>
                  <a:spLocks/>
                </p:cNvSpPr>
                <p:nvPr/>
              </p:nvSpPr>
              <p:spPr bwMode="auto">
                <a:xfrm>
                  <a:off x="512" y="3328"/>
                  <a:ext cx="192" cy="210"/>
                </a:xfrm>
                <a:custGeom>
                  <a:avLst/>
                  <a:gdLst>
                    <a:gd name="T0" fmla="*/ 18 w 192"/>
                    <a:gd name="T1" fmla="*/ 0 h 210"/>
                    <a:gd name="T2" fmla="*/ 55 w 192"/>
                    <a:gd name="T3" fmla="*/ 37 h 210"/>
                    <a:gd name="T4" fmla="*/ 110 w 192"/>
                    <a:gd name="T5" fmla="*/ 55 h 210"/>
                    <a:gd name="T6" fmla="*/ 192 w 192"/>
                    <a:gd name="T7" fmla="*/ 101 h 210"/>
                    <a:gd name="T8" fmla="*/ 128 w 192"/>
                    <a:gd name="T9" fmla="*/ 137 h 210"/>
                    <a:gd name="T10" fmla="*/ 73 w 192"/>
                    <a:gd name="T11" fmla="*/ 155 h 210"/>
                    <a:gd name="T12" fmla="*/ 55 w 192"/>
                    <a:gd name="T13" fmla="*/ 174 h 210"/>
                    <a:gd name="T14" fmla="*/ 0 w 192"/>
                    <a:gd name="T15" fmla="*/ 210 h 2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2" h="210">
                      <a:moveTo>
                        <a:pt x="18" y="0"/>
                      </a:moveTo>
                      <a:cubicBezTo>
                        <a:pt x="31" y="12"/>
                        <a:pt x="39" y="29"/>
                        <a:pt x="55" y="37"/>
                      </a:cubicBezTo>
                      <a:cubicBezTo>
                        <a:pt x="72" y="46"/>
                        <a:pt x="110" y="55"/>
                        <a:pt x="110" y="55"/>
                      </a:cubicBezTo>
                      <a:cubicBezTo>
                        <a:pt x="173" y="96"/>
                        <a:pt x="144" y="83"/>
                        <a:pt x="192" y="101"/>
                      </a:cubicBezTo>
                      <a:cubicBezTo>
                        <a:pt x="153" y="140"/>
                        <a:pt x="181" y="121"/>
                        <a:pt x="128" y="137"/>
                      </a:cubicBezTo>
                      <a:cubicBezTo>
                        <a:pt x="109" y="142"/>
                        <a:pt x="73" y="155"/>
                        <a:pt x="73" y="155"/>
                      </a:cubicBezTo>
                      <a:cubicBezTo>
                        <a:pt x="67" y="161"/>
                        <a:pt x="62" y="169"/>
                        <a:pt x="55" y="174"/>
                      </a:cubicBezTo>
                      <a:cubicBezTo>
                        <a:pt x="38" y="185"/>
                        <a:pt x="0" y="182"/>
                        <a:pt x="0" y="2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Freeform 47">
                  <a:extLst>
                    <a:ext uri="{FF2B5EF4-FFF2-40B4-BE49-F238E27FC236}">
                      <a16:creationId xmlns:a16="http://schemas.microsoft.com/office/drawing/2014/main" id="{9018A489-7D54-3B5C-CAAF-6654BB2495D9}"/>
                    </a:ext>
                  </a:extLst>
                </p:cNvPr>
                <p:cNvSpPr>
                  <a:spLocks/>
                </p:cNvSpPr>
                <p:nvPr/>
              </p:nvSpPr>
              <p:spPr bwMode="auto">
                <a:xfrm>
                  <a:off x="575" y="3365"/>
                  <a:ext cx="41" cy="118"/>
                </a:xfrm>
                <a:custGeom>
                  <a:avLst/>
                  <a:gdLst>
                    <a:gd name="T0" fmla="*/ 10 w 41"/>
                    <a:gd name="T1" fmla="*/ 118 h 118"/>
                    <a:gd name="T2" fmla="*/ 1 w 41"/>
                    <a:gd name="T3" fmla="*/ 91 h 118"/>
                    <a:gd name="T4" fmla="*/ 19 w 41"/>
                    <a:gd name="T5" fmla="*/ 0 h 118"/>
                    <a:gd name="T6" fmla="*/ 0 60000 65536"/>
                    <a:gd name="T7" fmla="*/ 0 60000 65536"/>
                    <a:gd name="T8" fmla="*/ 0 60000 65536"/>
                  </a:gdLst>
                  <a:ahLst/>
                  <a:cxnLst>
                    <a:cxn ang="T6">
                      <a:pos x="T0" y="T1"/>
                    </a:cxn>
                    <a:cxn ang="T7">
                      <a:pos x="T2" y="T3"/>
                    </a:cxn>
                    <a:cxn ang="T8">
                      <a:pos x="T4" y="T5"/>
                    </a:cxn>
                  </a:cxnLst>
                  <a:rect l="0" t="0" r="r" b="b"/>
                  <a:pathLst>
                    <a:path w="41" h="118">
                      <a:moveTo>
                        <a:pt x="10" y="118"/>
                      </a:moveTo>
                      <a:cubicBezTo>
                        <a:pt x="7" y="109"/>
                        <a:pt x="0" y="100"/>
                        <a:pt x="1" y="91"/>
                      </a:cubicBezTo>
                      <a:cubicBezTo>
                        <a:pt x="4" y="66"/>
                        <a:pt x="41" y="22"/>
                        <a:pt x="19" y="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 name="Freeform 48">
                <a:extLst>
                  <a:ext uri="{FF2B5EF4-FFF2-40B4-BE49-F238E27FC236}">
                    <a16:creationId xmlns:a16="http://schemas.microsoft.com/office/drawing/2014/main" id="{A366CE87-120D-BE28-4E27-1039FD1D048A}"/>
                  </a:ext>
                </a:extLst>
              </p:cNvPr>
              <p:cNvSpPr>
                <a:spLocks/>
              </p:cNvSpPr>
              <p:nvPr/>
            </p:nvSpPr>
            <p:spPr bwMode="auto">
              <a:xfrm>
                <a:off x="925513" y="5340350"/>
                <a:ext cx="319087" cy="261938"/>
              </a:xfrm>
              <a:custGeom>
                <a:avLst/>
                <a:gdLst>
                  <a:gd name="T0" fmla="*/ 0 w 201"/>
                  <a:gd name="T1" fmla="*/ 2147483646 h 165"/>
                  <a:gd name="T2" fmla="*/ 2147483646 w 201"/>
                  <a:gd name="T3" fmla="*/ 2147483646 h 165"/>
                  <a:gd name="T4" fmla="*/ 2147483646 w 201"/>
                  <a:gd name="T5" fmla="*/ 2147483646 h 165"/>
                  <a:gd name="T6" fmla="*/ 2147483646 w 201"/>
                  <a:gd name="T7" fmla="*/ 2147483646 h 165"/>
                  <a:gd name="T8" fmla="*/ 2147483646 w 201"/>
                  <a:gd name="T9" fmla="*/ 2147483646 h 165"/>
                  <a:gd name="T10" fmla="*/ 2147483646 w 201"/>
                  <a:gd name="T11" fmla="*/ 2147483646 h 1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 h="165">
                    <a:moveTo>
                      <a:pt x="0" y="65"/>
                    </a:moveTo>
                    <a:cubicBezTo>
                      <a:pt x="59" y="77"/>
                      <a:pt x="84" y="83"/>
                      <a:pt x="146" y="74"/>
                    </a:cubicBezTo>
                    <a:cubicBezTo>
                      <a:pt x="198" y="57"/>
                      <a:pt x="164" y="78"/>
                      <a:pt x="164" y="10"/>
                    </a:cubicBezTo>
                    <a:cubicBezTo>
                      <a:pt x="164" y="0"/>
                      <a:pt x="171" y="28"/>
                      <a:pt x="174" y="37"/>
                    </a:cubicBezTo>
                    <a:cubicBezTo>
                      <a:pt x="178" y="49"/>
                      <a:pt x="180" y="62"/>
                      <a:pt x="183" y="74"/>
                    </a:cubicBezTo>
                    <a:cubicBezTo>
                      <a:pt x="192" y="105"/>
                      <a:pt x="201" y="132"/>
                      <a:pt x="201" y="16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Freeform 49">
                <a:extLst>
                  <a:ext uri="{FF2B5EF4-FFF2-40B4-BE49-F238E27FC236}">
                    <a16:creationId xmlns:a16="http://schemas.microsoft.com/office/drawing/2014/main" id="{92F790DB-474F-C1FE-1F4A-EE9D1AA94F6C}"/>
                  </a:ext>
                </a:extLst>
              </p:cNvPr>
              <p:cNvSpPr>
                <a:spLocks/>
              </p:cNvSpPr>
              <p:nvPr/>
            </p:nvSpPr>
            <p:spPr bwMode="auto">
              <a:xfrm>
                <a:off x="1524000" y="5334000"/>
                <a:ext cx="319088" cy="261938"/>
              </a:xfrm>
              <a:custGeom>
                <a:avLst/>
                <a:gdLst>
                  <a:gd name="T0" fmla="*/ 0 w 201"/>
                  <a:gd name="T1" fmla="*/ 2147483646 h 165"/>
                  <a:gd name="T2" fmla="*/ 2147483646 w 201"/>
                  <a:gd name="T3" fmla="*/ 2147483646 h 165"/>
                  <a:gd name="T4" fmla="*/ 2147483646 w 201"/>
                  <a:gd name="T5" fmla="*/ 2147483646 h 165"/>
                  <a:gd name="T6" fmla="*/ 2147483646 w 201"/>
                  <a:gd name="T7" fmla="*/ 2147483646 h 165"/>
                  <a:gd name="T8" fmla="*/ 2147483646 w 201"/>
                  <a:gd name="T9" fmla="*/ 2147483646 h 165"/>
                  <a:gd name="T10" fmla="*/ 2147483646 w 201"/>
                  <a:gd name="T11" fmla="*/ 2147483646 h 1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 h="165">
                    <a:moveTo>
                      <a:pt x="0" y="65"/>
                    </a:moveTo>
                    <a:cubicBezTo>
                      <a:pt x="59" y="77"/>
                      <a:pt x="84" y="83"/>
                      <a:pt x="146" y="74"/>
                    </a:cubicBezTo>
                    <a:cubicBezTo>
                      <a:pt x="198" y="57"/>
                      <a:pt x="164" y="78"/>
                      <a:pt x="164" y="10"/>
                    </a:cubicBezTo>
                    <a:cubicBezTo>
                      <a:pt x="164" y="0"/>
                      <a:pt x="171" y="28"/>
                      <a:pt x="174" y="37"/>
                    </a:cubicBezTo>
                    <a:cubicBezTo>
                      <a:pt x="178" y="49"/>
                      <a:pt x="180" y="62"/>
                      <a:pt x="183" y="74"/>
                    </a:cubicBezTo>
                    <a:cubicBezTo>
                      <a:pt x="192" y="105"/>
                      <a:pt x="201" y="132"/>
                      <a:pt x="201" y="16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Freeform 50">
                <a:extLst>
                  <a:ext uri="{FF2B5EF4-FFF2-40B4-BE49-F238E27FC236}">
                    <a16:creationId xmlns:a16="http://schemas.microsoft.com/office/drawing/2014/main" id="{3134C52E-1918-7323-6A50-D218BBA86ADA}"/>
                  </a:ext>
                </a:extLst>
              </p:cNvPr>
              <p:cNvSpPr>
                <a:spLocks/>
              </p:cNvSpPr>
              <p:nvPr/>
            </p:nvSpPr>
            <p:spPr bwMode="auto">
              <a:xfrm>
                <a:off x="4419600" y="5334000"/>
                <a:ext cx="419100" cy="249238"/>
              </a:xfrm>
              <a:custGeom>
                <a:avLst/>
                <a:gdLst>
                  <a:gd name="T0" fmla="*/ 2147483646 w 264"/>
                  <a:gd name="T1" fmla="*/ 0 h 157"/>
                  <a:gd name="T2" fmla="*/ 2147483646 w 264"/>
                  <a:gd name="T3" fmla="*/ 2147483646 h 157"/>
                  <a:gd name="T4" fmla="*/ 2147483646 w 264"/>
                  <a:gd name="T5" fmla="*/ 2147483646 h 157"/>
                  <a:gd name="T6" fmla="*/ 2147483646 w 264"/>
                  <a:gd name="T7" fmla="*/ 2147483646 h 157"/>
                  <a:gd name="T8" fmla="*/ 2147483646 w 264"/>
                  <a:gd name="T9" fmla="*/ 2147483646 h 157"/>
                  <a:gd name="T10" fmla="*/ 2147483646 w 264"/>
                  <a:gd name="T11" fmla="*/ 2147483646 h 157"/>
                  <a:gd name="T12" fmla="*/ 2147483646 w 264"/>
                  <a:gd name="T13" fmla="*/ 0 h 1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4" h="157">
                    <a:moveTo>
                      <a:pt x="194" y="0"/>
                    </a:moveTo>
                    <a:cubicBezTo>
                      <a:pt x="126" y="6"/>
                      <a:pt x="83" y="1"/>
                      <a:pt x="29" y="36"/>
                    </a:cubicBezTo>
                    <a:cubicBezTo>
                      <a:pt x="23" y="54"/>
                      <a:pt x="0" y="75"/>
                      <a:pt x="11" y="91"/>
                    </a:cubicBezTo>
                    <a:cubicBezTo>
                      <a:pt x="54" y="157"/>
                      <a:pt x="26" y="141"/>
                      <a:pt x="84" y="155"/>
                    </a:cubicBezTo>
                    <a:cubicBezTo>
                      <a:pt x="136" y="147"/>
                      <a:pt x="189" y="145"/>
                      <a:pt x="239" y="128"/>
                    </a:cubicBezTo>
                    <a:cubicBezTo>
                      <a:pt x="245" y="122"/>
                      <a:pt x="257" y="118"/>
                      <a:pt x="258" y="109"/>
                    </a:cubicBezTo>
                    <a:cubicBezTo>
                      <a:pt x="264" y="67"/>
                      <a:pt x="230" y="18"/>
                      <a:pt x="194" y="0"/>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Freeform 51">
                <a:extLst>
                  <a:ext uri="{FF2B5EF4-FFF2-40B4-BE49-F238E27FC236}">
                    <a16:creationId xmlns:a16="http://schemas.microsoft.com/office/drawing/2014/main" id="{3FCF5BBD-831D-F4AF-9A93-F54B69288AC0}"/>
                  </a:ext>
                </a:extLst>
              </p:cNvPr>
              <p:cNvSpPr>
                <a:spLocks/>
              </p:cNvSpPr>
              <p:nvPr/>
            </p:nvSpPr>
            <p:spPr bwMode="auto">
              <a:xfrm>
                <a:off x="2819400" y="5334000"/>
                <a:ext cx="319088" cy="261938"/>
              </a:xfrm>
              <a:custGeom>
                <a:avLst/>
                <a:gdLst>
                  <a:gd name="T0" fmla="*/ 0 w 201"/>
                  <a:gd name="T1" fmla="*/ 2147483646 h 165"/>
                  <a:gd name="T2" fmla="*/ 2147483646 w 201"/>
                  <a:gd name="T3" fmla="*/ 2147483646 h 165"/>
                  <a:gd name="T4" fmla="*/ 2147483646 w 201"/>
                  <a:gd name="T5" fmla="*/ 2147483646 h 165"/>
                  <a:gd name="T6" fmla="*/ 2147483646 w 201"/>
                  <a:gd name="T7" fmla="*/ 2147483646 h 165"/>
                  <a:gd name="T8" fmla="*/ 2147483646 w 201"/>
                  <a:gd name="T9" fmla="*/ 2147483646 h 165"/>
                  <a:gd name="T10" fmla="*/ 2147483646 w 201"/>
                  <a:gd name="T11" fmla="*/ 2147483646 h 1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1" h="165">
                    <a:moveTo>
                      <a:pt x="0" y="65"/>
                    </a:moveTo>
                    <a:cubicBezTo>
                      <a:pt x="59" y="77"/>
                      <a:pt x="84" y="83"/>
                      <a:pt x="146" y="74"/>
                    </a:cubicBezTo>
                    <a:cubicBezTo>
                      <a:pt x="198" y="57"/>
                      <a:pt x="164" y="78"/>
                      <a:pt x="164" y="10"/>
                    </a:cubicBezTo>
                    <a:cubicBezTo>
                      <a:pt x="164" y="0"/>
                      <a:pt x="171" y="28"/>
                      <a:pt x="174" y="37"/>
                    </a:cubicBezTo>
                    <a:cubicBezTo>
                      <a:pt x="178" y="49"/>
                      <a:pt x="180" y="62"/>
                      <a:pt x="183" y="74"/>
                    </a:cubicBezTo>
                    <a:cubicBezTo>
                      <a:pt x="192" y="105"/>
                      <a:pt x="201" y="132"/>
                      <a:pt x="201" y="165"/>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Freeform 52">
                <a:extLst>
                  <a:ext uri="{FF2B5EF4-FFF2-40B4-BE49-F238E27FC236}">
                    <a16:creationId xmlns:a16="http://schemas.microsoft.com/office/drawing/2014/main" id="{14F0EDB9-29C5-E877-577D-B62602AE712A}"/>
                  </a:ext>
                </a:extLst>
              </p:cNvPr>
              <p:cNvSpPr>
                <a:spLocks/>
              </p:cNvSpPr>
              <p:nvPr/>
            </p:nvSpPr>
            <p:spPr bwMode="auto">
              <a:xfrm>
                <a:off x="3349625" y="5316538"/>
                <a:ext cx="333375" cy="330200"/>
              </a:xfrm>
              <a:custGeom>
                <a:avLst/>
                <a:gdLst>
                  <a:gd name="T0" fmla="*/ 0 w 210"/>
                  <a:gd name="T1" fmla="*/ 2147483646 h 208"/>
                  <a:gd name="T2" fmla="*/ 2147483646 w 210"/>
                  <a:gd name="T3" fmla="*/ 2147483646 h 208"/>
                  <a:gd name="T4" fmla="*/ 2147483646 w 210"/>
                  <a:gd name="T5" fmla="*/ 2147483646 h 208"/>
                  <a:gd name="T6" fmla="*/ 2147483646 w 210"/>
                  <a:gd name="T7" fmla="*/ 2147483646 h 208"/>
                  <a:gd name="T8" fmla="*/ 2147483646 w 210"/>
                  <a:gd name="T9" fmla="*/ 2147483646 h 208"/>
                  <a:gd name="T10" fmla="*/ 2147483646 w 210"/>
                  <a:gd name="T11" fmla="*/ 2147483646 h 208"/>
                  <a:gd name="T12" fmla="*/ 2147483646 w 210"/>
                  <a:gd name="T13" fmla="*/ 2147483646 h 208"/>
                  <a:gd name="T14" fmla="*/ 2147483646 w 210"/>
                  <a:gd name="T15" fmla="*/ 2147483646 h 208"/>
                  <a:gd name="T16" fmla="*/ 2147483646 w 210"/>
                  <a:gd name="T17" fmla="*/ 2147483646 h 2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0" h="208">
                    <a:moveTo>
                      <a:pt x="0" y="16"/>
                    </a:moveTo>
                    <a:cubicBezTo>
                      <a:pt x="44" y="0"/>
                      <a:pt x="111" y="21"/>
                      <a:pt x="155" y="25"/>
                    </a:cubicBezTo>
                    <a:cubicBezTo>
                      <a:pt x="167" y="28"/>
                      <a:pt x="185" y="23"/>
                      <a:pt x="192" y="34"/>
                    </a:cubicBezTo>
                    <a:cubicBezTo>
                      <a:pt x="197" y="41"/>
                      <a:pt x="181" y="48"/>
                      <a:pt x="173" y="52"/>
                    </a:cubicBezTo>
                    <a:cubicBezTo>
                      <a:pt x="165" y="57"/>
                      <a:pt x="155" y="58"/>
                      <a:pt x="146" y="61"/>
                    </a:cubicBezTo>
                    <a:cubicBezTo>
                      <a:pt x="137" y="67"/>
                      <a:pt x="129" y="75"/>
                      <a:pt x="119" y="80"/>
                    </a:cubicBezTo>
                    <a:cubicBezTo>
                      <a:pt x="110" y="84"/>
                      <a:pt x="86" y="81"/>
                      <a:pt x="91" y="89"/>
                    </a:cubicBezTo>
                    <a:cubicBezTo>
                      <a:pt x="107" y="116"/>
                      <a:pt x="176" y="145"/>
                      <a:pt x="210" y="153"/>
                    </a:cubicBezTo>
                    <a:cubicBezTo>
                      <a:pt x="167" y="167"/>
                      <a:pt x="87" y="208"/>
                      <a:pt x="45" y="208"/>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 name="Group 53">
                <a:extLst>
                  <a:ext uri="{FF2B5EF4-FFF2-40B4-BE49-F238E27FC236}">
                    <a16:creationId xmlns:a16="http://schemas.microsoft.com/office/drawing/2014/main" id="{C9087F08-0159-D4E5-48ED-278D5B947BF6}"/>
                  </a:ext>
                </a:extLst>
              </p:cNvPr>
              <p:cNvGrpSpPr>
                <a:grpSpLocks/>
              </p:cNvGrpSpPr>
              <p:nvPr/>
            </p:nvGrpSpPr>
            <p:grpSpPr bwMode="auto">
              <a:xfrm>
                <a:off x="3962400" y="5334000"/>
                <a:ext cx="304800" cy="333375"/>
                <a:chOff x="512" y="3328"/>
                <a:chExt cx="192" cy="210"/>
              </a:xfrm>
            </p:grpSpPr>
            <p:sp>
              <p:nvSpPr>
                <p:cNvPr id="67" name="Freeform 54">
                  <a:extLst>
                    <a:ext uri="{FF2B5EF4-FFF2-40B4-BE49-F238E27FC236}">
                      <a16:creationId xmlns:a16="http://schemas.microsoft.com/office/drawing/2014/main" id="{B94E1767-9F5A-F102-2116-3B3C716D6B55}"/>
                    </a:ext>
                  </a:extLst>
                </p:cNvPr>
                <p:cNvSpPr>
                  <a:spLocks/>
                </p:cNvSpPr>
                <p:nvPr/>
              </p:nvSpPr>
              <p:spPr bwMode="auto">
                <a:xfrm>
                  <a:off x="512" y="3328"/>
                  <a:ext cx="192" cy="210"/>
                </a:xfrm>
                <a:custGeom>
                  <a:avLst/>
                  <a:gdLst>
                    <a:gd name="T0" fmla="*/ 18 w 192"/>
                    <a:gd name="T1" fmla="*/ 0 h 210"/>
                    <a:gd name="T2" fmla="*/ 55 w 192"/>
                    <a:gd name="T3" fmla="*/ 37 h 210"/>
                    <a:gd name="T4" fmla="*/ 110 w 192"/>
                    <a:gd name="T5" fmla="*/ 55 h 210"/>
                    <a:gd name="T6" fmla="*/ 192 w 192"/>
                    <a:gd name="T7" fmla="*/ 101 h 210"/>
                    <a:gd name="T8" fmla="*/ 128 w 192"/>
                    <a:gd name="T9" fmla="*/ 137 h 210"/>
                    <a:gd name="T10" fmla="*/ 73 w 192"/>
                    <a:gd name="T11" fmla="*/ 155 h 210"/>
                    <a:gd name="T12" fmla="*/ 55 w 192"/>
                    <a:gd name="T13" fmla="*/ 174 h 210"/>
                    <a:gd name="T14" fmla="*/ 0 w 192"/>
                    <a:gd name="T15" fmla="*/ 210 h 2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2" h="210">
                      <a:moveTo>
                        <a:pt x="18" y="0"/>
                      </a:moveTo>
                      <a:cubicBezTo>
                        <a:pt x="31" y="12"/>
                        <a:pt x="39" y="29"/>
                        <a:pt x="55" y="37"/>
                      </a:cubicBezTo>
                      <a:cubicBezTo>
                        <a:pt x="72" y="46"/>
                        <a:pt x="110" y="55"/>
                        <a:pt x="110" y="55"/>
                      </a:cubicBezTo>
                      <a:cubicBezTo>
                        <a:pt x="173" y="96"/>
                        <a:pt x="144" y="83"/>
                        <a:pt x="192" y="101"/>
                      </a:cubicBezTo>
                      <a:cubicBezTo>
                        <a:pt x="153" y="140"/>
                        <a:pt x="181" y="121"/>
                        <a:pt x="128" y="137"/>
                      </a:cubicBezTo>
                      <a:cubicBezTo>
                        <a:pt x="109" y="142"/>
                        <a:pt x="73" y="155"/>
                        <a:pt x="73" y="155"/>
                      </a:cubicBezTo>
                      <a:cubicBezTo>
                        <a:pt x="67" y="161"/>
                        <a:pt x="62" y="169"/>
                        <a:pt x="55" y="174"/>
                      </a:cubicBezTo>
                      <a:cubicBezTo>
                        <a:pt x="38" y="185"/>
                        <a:pt x="0" y="182"/>
                        <a:pt x="0" y="2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Freeform 55">
                  <a:extLst>
                    <a:ext uri="{FF2B5EF4-FFF2-40B4-BE49-F238E27FC236}">
                      <a16:creationId xmlns:a16="http://schemas.microsoft.com/office/drawing/2014/main" id="{DB655F90-5718-8E99-8F6B-77292642EDE8}"/>
                    </a:ext>
                  </a:extLst>
                </p:cNvPr>
                <p:cNvSpPr>
                  <a:spLocks/>
                </p:cNvSpPr>
                <p:nvPr/>
              </p:nvSpPr>
              <p:spPr bwMode="auto">
                <a:xfrm>
                  <a:off x="575" y="3365"/>
                  <a:ext cx="41" cy="118"/>
                </a:xfrm>
                <a:custGeom>
                  <a:avLst/>
                  <a:gdLst>
                    <a:gd name="T0" fmla="*/ 10 w 41"/>
                    <a:gd name="T1" fmla="*/ 118 h 118"/>
                    <a:gd name="T2" fmla="*/ 1 w 41"/>
                    <a:gd name="T3" fmla="*/ 91 h 118"/>
                    <a:gd name="T4" fmla="*/ 19 w 41"/>
                    <a:gd name="T5" fmla="*/ 0 h 118"/>
                    <a:gd name="T6" fmla="*/ 0 60000 65536"/>
                    <a:gd name="T7" fmla="*/ 0 60000 65536"/>
                    <a:gd name="T8" fmla="*/ 0 60000 65536"/>
                  </a:gdLst>
                  <a:ahLst/>
                  <a:cxnLst>
                    <a:cxn ang="T6">
                      <a:pos x="T0" y="T1"/>
                    </a:cxn>
                    <a:cxn ang="T7">
                      <a:pos x="T2" y="T3"/>
                    </a:cxn>
                    <a:cxn ang="T8">
                      <a:pos x="T4" y="T5"/>
                    </a:cxn>
                  </a:cxnLst>
                  <a:rect l="0" t="0" r="r" b="b"/>
                  <a:pathLst>
                    <a:path w="41" h="118">
                      <a:moveTo>
                        <a:pt x="10" y="118"/>
                      </a:moveTo>
                      <a:cubicBezTo>
                        <a:pt x="7" y="109"/>
                        <a:pt x="0" y="100"/>
                        <a:pt x="1" y="91"/>
                      </a:cubicBezTo>
                      <a:cubicBezTo>
                        <a:pt x="4" y="66"/>
                        <a:pt x="41" y="22"/>
                        <a:pt x="19" y="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 name="Freeform 56">
                <a:extLst>
                  <a:ext uri="{FF2B5EF4-FFF2-40B4-BE49-F238E27FC236}">
                    <a16:creationId xmlns:a16="http://schemas.microsoft.com/office/drawing/2014/main" id="{14C424B2-4CD6-6F90-BF91-98712EE92DC4}"/>
                  </a:ext>
                </a:extLst>
              </p:cNvPr>
              <p:cNvSpPr>
                <a:spLocks/>
              </p:cNvSpPr>
              <p:nvPr/>
            </p:nvSpPr>
            <p:spPr bwMode="auto">
              <a:xfrm>
                <a:off x="2209800" y="5334000"/>
                <a:ext cx="419100" cy="249238"/>
              </a:xfrm>
              <a:custGeom>
                <a:avLst/>
                <a:gdLst>
                  <a:gd name="T0" fmla="*/ 2147483646 w 264"/>
                  <a:gd name="T1" fmla="*/ 0 h 157"/>
                  <a:gd name="T2" fmla="*/ 2147483646 w 264"/>
                  <a:gd name="T3" fmla="*/ 2147483646 h 157"/>
                  <a:gd name="T4" fmla="*/ 2147483646 w 264"/>
                  <a:gd name="T5" fmla="*/ 2147483646 h 157"/>
                  <a:gd name="T6" fmla="*/ 2147483646 w 264"/>
                  <a:gd name="T7" fmla="*/ 2147483646 h 157"/>
                  <a:gd name="T8" fmla="*/ 2147483646 w 264"/>
                  <a:gd name="T9" fmla="*/ 2147483646 h 157"/>
                  <a:gd name="T10" fmla="*/ 2147483646 w 264"/>
                  <a:gd name="T11" fmla="*/ 2147483646 h 157"/>
                  <a:gd name="T12" fmla="*/ 2147483646 w 264"/>
                  <a:gd name="T13" fmla="*/ 0 h 1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4" h="157">
                    <a:moveTo>
                      <a:pt x="194" y="0"/>
                    </a:moveTo>
                    <a:cubicBezTo>
                      <a:pt x="126" y="6"/>
                      <a:pt x="83" y="1"/>
                      <a:pt x="29" y="36"/>
                    </a:cubicBezTo>
                    <a:cubicBezTo>
                      <a:pt x="23" y="54"/>
                      <a:pt x="0" y="75"/>
                      <a:pt x="11" y="91"/>
                    </a:cubicBezTo>
                    <a:cubicBezTo>
                      <a:pt x="54" y="157"/>
                      <a:pt x="26" y="141"/>
                      <a:pt x="84" y="155"/>
                    </a:cubicBezTo>
                    <a:cubicBezTo>
                      <a:pt x="136" y="147"/>
                      <a:pt x="189" y="145"/>
                      <a:pt x="239" y="128"/>
                    </a:cubicBezTo>
                    <a:cubicBezTo>
                      <a:pt x="245" y="122"/>
                      <a:pt x="257" y="118"/>
                      <a:pt x="258" y="109"/>
                    </a:cubicBezTo>
                    <a:cubicBezTo>
                      <a:pt x="264" y="67"/>
                      <a:pt x="230" y="18"/>
                      <a:pt x="194" y="0"/>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Freeform 57">
                <a:extLst>
                  <a:ext uri="{FF2B5EF4-FFF2-40B4-BE49-F238E27FC236}">
                    <a16:creationId xmlns:a16="http://schemas.microsoft.com/office/drawing/2014/main" id="{F6C7F968-6E0A-B825-6964-FF338A5FA610}"/>
                  </a:ext>
                </a:extLst>
              </p:cNvPr>
              <p:cNvSpPr>
                <a:spLocks/>
              </p:cNvSpPr>
              <p:nvPr/>
            </p:nvSpPr>
            <p:spPr bwMode="auto">
              <a:xfrm>
                <a:off x="5075238" y="5341938"/>
                <a:ext cx="427037" cy="217487"/>
              </a:xfrm>
              <a:custGeom>
                <a:avLst/>
                <a:gdLst>
                  <a:gd name="T0" fmla="*/ 2147483646 w 269"/>
                  <a:gd name="T1" fmla="*/ 2147483646 h 137"/>
                  <a:gd name="T2" fmla="*/ 2147483646 w 269"/>
                  <a:gd name="T3" fmla="*/ 2147483646 h 137"/>
                  <a:gd name="T4" fmla="*/ 2147483646 w 269"/>
                  <a:gd name="T5" fmla="*/ 2147483646 h 137"/>
                  <a:gd name="T6" fmla="*/ 2147483646 w 269"/>
                  <a:gd name="T7" fmla="*/ 0 h 137"/>
                  <a:gd name="T8" fmla="*/ 2147483646 w 269"/>
                  <a:gd name="T9" fmla="*/ 2147483646 h 137"/>
                  <a:gd name="T10" fmla="*/ 2147483646 w 269"/>
                  <a:gd name="T11" fmla="*/ 2147483646 h 1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9" h="137">
                    <a:moveTo>
                      <a:pt x="46" y="137"/>
                    </a:moveTo>
                    <a:cubicBezTo>
                      <a:pt x="0" y="89"/>
                      <a:pt x="22" y="87"/>
                      <a:pt x="56" y="45"/>
                    </a:cubicBezTo>
                    <a:cubicBezTo>
                      <a:pt x="63" y="37"/>
                      <a:pt x="66" y="25"/>
                      <a:pt x="74" y="18"/>
                    </a:cubicBezTo>
                    <a:cubicBezTo>
                      <a:pt x="80" y="13"/>
                      <a:pt x="136" y="1"/>
                      <a:pt x="138" y="0"/>
                    </a:cubicBezTo>
                    <a:cubicBezTo>
                      <a:pt x="196" y="8"/>
                      <a:pt x="209" y="8"/>
                      <a:pt x="248" y="45"/>
                    </a:cubicBezTo>
                    <a:cubicBezTo>
                      <a:pt x="256" y="69"/>
                      <a:pt x="269" y="128"/>
                      <a:pt x="229" y="128"/>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Freeform 58">
                <a:extLst>
                  <a:ext uri="{FF2B5EF4-FFF2-40B4-BE49-F238E27FC236}">
                    <a16:creationId xmlns:a16="http://schemas.microsoft.com/office/drawing/2014/main" id="{FACB8159-6725-8988-DF30-5C8D800718DE}"/>
                  </a:ext>
                </a:extLst>
              </p:cNvPr>
              <p:cNvSpPr>
                <a:spLocks/>
              </p:cNvSpPr>
              <p:nvPr/>
            </p:nvSpPr>
            <p:spPr bwMode="auto">
              <a:xfrm>
                <a:off x="5614988" y="5297488"/>
                <a:ext cx="619125" cy="333375"/>
              </a:xfrm>
              <a:custGeom>
                <a:avLst/>
                <a:gdLst>
                  <a:gd name="T0" fmla="*/ 2147483646 w 390"/>
                  <a:gd name="T1" fmla="*/ 0 h 210"/>
                  <a:gd name="T2" fmla="*/ 2147483646 w 390"/>
                  <a:gd name="T3" fmla="*/ 0 h 210"/>
                  <a:gd name="T4" fmla="*/ 2147483646 w 390"/>
                  <a:gd name="T5" fmla="*/ 2147483646 h 210"/>
                  <a:gd name="T6" fmla="*/ 2147483646 w 390"/>
                  <a:gd name="T7" fmla="*/ 2147483646 h 210"/>
                  <a:gd name="T8" fmla="*/ 2147483646 w 390"/>
                  <a:gd name="T9" fmla="*/ 2147483646 h 210"/>
                  <a:gd name="T10" fmla="*/ 2147483646 w 390"/>
                  <a:gd name="T11" fmla="*/ 2147483646 h 210"/>
                  <a:gd name="T12" fmla="*/ 2147483646 w 390"/>
                  <a:gd name="T13" fmla="*/ 2147483646 h 210"/>
                  <a:gd name="T14" fmla="*/ 2147483646 w 390"/>
                  <a:gd name="T15" fmla="*/ 2147483646 h 210"/>
                  <a:gd name="T16" fmla="*/ 2147483646 w 390"/>
                  <a:gd name="T17" fmla="*/ 2147483646 h 210"/>
                  <a:gd name="T18" fmla="*/ 2147483646 w 390"/>
                  <a:gd name="T19" fmla="*/ 2147483646 h 210"/>
                  <a:gd name="T20" fmla="*/ 2147483646 w 390"/>
                  <a:gd name="T21" fmla="*/ 2147483646 h 210"/>
                  <a:gd name="T22" fmla="*/ 2147483646 w 390"/>
                  <a:gd name="T23" fmla="*/ 214748364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10">
                    <a:moveTo>
                      <a:pt x="17" y="0"/>
                    </a:moveTo>
                    <a:cubicBezTo>
                      <a:pt x="85" y="22"/>
                      <a:pt x="0" y="0"/>
                      <a:pt x="81" y="0"/>
                    </a:cubicBezTo>
                    <a:cubicBezTo>
                      <a:pt x="166" y="0"/>
                      <a:pt x="252" y="6"/>
                      <a:pt x="337" y="9"/>
                    </a:cubicBezTo>
                    <a:cubicBezTo>
                      <a:pt x="390" y="26"/>
                      <a:pt x="376" y="62"/>
                      <a:pt x="383" y="119"/>
                    </a:cubicBezTo>
                    <a:cubicBezTo>
                      <a:pt x="366" y="171"/>
                      <a:pt x="370" y="184"/>
                      <a:pt x="319" y="201"/>
                    </a:cubicBezTo>
                    <a:cubicBezTo>
                      <a:pt x="301" y="195"/>
                      <a:pt x="282" y="189"/>
                      <a:pt x="264" y="183"/>
                    </a:cubicBezTo>
                    <a:cubicBezTo>
                      <a:pt x="255" y="180"/>
                      <a:pt x="237" y="174"/>
                      <a:pt x="237" y="174"/>
                    </a:cubicBezTo>
                    <a:cubicBezTo>
                      <a:pt x="224" y="133"/>
                      <a:pt x="238" y="84"/>
                      <a:pt x="218" y="46"/>
                    </a:cubicBezTo>
                    <a:cubicBezTo>
                      <a:pt x="212" y="35"/>
                      <a:pt x="199" y="63"/>
                      <a:pt x="191" y="73"/>
                    </a:cubicBezTo>
                    <a:cubicBezTo>
                      <a:pt x="184" y="82"/>
                      <a:pt x="180" y="93"/>
                      <a:pt x="173" y="101"/>
                    </a:cubicBezTo>
                    <a:cubicBezTo>
                      <a:pt x="159" y="117"/>
                      <a:pt x="115" y="168"/>
                      <a:pt x="90" y="183"/>
                    </a:cubicBezTo>
                    <a:cubicBezTo>
                      <a:pt x="51" y="206"/>
                      <a:pt x="71" y="175"/>
                      <a:pt x="54" y="2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Freeform 59">
                <a:extLst>
                  <a:ext uri="{FF2B5EF4-FFF2-40B4-BE49-F238E27FC236}">
                    <a16:creationId xmlns:a16="http://schemas.microsoft.com/office/drawing/2014/main" id="{79A9F455-904C-CC08-217E-60686B71A3E3}"/>
                  </a:ext>
                </a:extLst>
              </p:cNvPr>
              <p:cNvSpPr>
                <a:spLocks/>
              </p:cNvSpPr>
              <p:nvPr/>
            </p:nvSpPr>
            <p:spPr bwMode="auto">
              <a:xfrm>
                <a:off x="6513513" y="5311775"/>
                <a:ext cx="217487" cy="279400"/>
              </a:xfrm>
              <a:custGeom>
                <a:avLst/>
                <a:gdLst>
                  <a:gd name="T0" fmla="*/ 2147483646 w 137"/>
                  <a:gd name="T1" fmla="*/ 0 h 176"/>
                  <a:gd name="T2" fmla="*/ 2147483646 w 137"/>
                  <a:gd name="T3" fmla="*/ 2147483646 h 176"/>
                  <a:gd name="T4" fmla="*/ 0 w 137"/>
                  <a:gd name="T5" fmla="*/ 2147483646 h 176"/>
                  <a:gd name="T6" fmla="*/ 0 60000 65536"/>
                  <a:gd name="T7" fmla="*/ 0 60000 65536"/>
                  <a:gd name="T8" fmla="*/ 0 60000 65536"/>
                </a:gdLst>
                <a:ahLst/>
                <a:cxnLst>
                  <a:cxn ang="T6">
                    <a:pos x="T0" y="T1"/>
                  </a:cxn>
                  <a:cxn ang="T7">
                    <a:pos x="T2" y="T3"/>
                  </a:cxn>
                  <a:cxn ang="T8">
                    <a:pos x="T4" y="T5"/>
                  </a:cxn>
                </a:cxnLst>
                <a:rect l="0" t="0" r="r" b="b"/>
                <a:pathLst>
                  <a:path w="137" h="176">
                    <a:moveTo>
                      <a:pt x="137" y="0"/>
                    </a:moveTo>
                    <a:cubicBezTo>
                      <a:pt x="119" y="74"/>
                      <a:pt x="91" y="101"/>
                      <a:pt x="36" y="156"/>
                    </a:cubicBezTo>
                    <a:cubicBezTo>
                      <a:pt x="16" y="176"/>
                      <a:pt x="17" y="174"/>
                      <a:pt x="0" y="174"/>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Freeform 60">
                <a:extLst>
                  <a:ext uri="{FF2B5EF4-FFF2-40B4-BE49-F238E27FC236}">
                    <a16:creationId xmlns:a16="http://schemas.microsoft.com/office/drawing/2014/main" id="{2140678B-3663-BE7E-7DA9-A0F07EBE85FA}"/>
                  </a:ext>
                </a:extLst>
              </p:cNvPr>
              <p:cNvSpPr>
                <a:spLocks/>
              </p:cNvSpPr>
              <p:nvPr/>
            </p:nvSpPr>
            <p:spPr bwMode="auto">
              <a:xfrm>
                <a:off x="6731000" y="5311775"/>
                <a:ext cx="203200" cy="290513"/>
              </a:xfrm>
              <a:custGeom>
                <a:avLst/>
                <a:gdLst>
                  <a:gd name="T0" fmla="*/ 0 w 128"/>
                  <a:gd name="T1" fmla="*/ 0 h 183"/>
                  <a:gd name="T2" fmla="*/ 2147483646 w 128"/>
                  <a:gd name="T3" fmla="*/ 2147483646 h 183"/>
                  <a:gd name="T4" fmla="*/ 2147483646 w 128"/>
                  <a:gd name="T5" fmla="*/ 2147483646 h 183"/>
                  <a:gd name="T6" fmla="*/ 0 60000 65536"/>
                  <a:gd name="T7" fmla="*/ 0 60000 65536"/>
                  <a:gd name="T8" fmla="*/ 0 60000 65536"/>
                </a:gdLst>
                <a:ahLst/>
                <a:cxnLst>
                  <a:cxn ang="T6">
                    <a:pos x="T0" y="T1"/>
                  </a:cxn>
                  <a:cxn ang="T7">
                    <a:pos x="T2" y="T3"/>
                  </a:cxn>
                  <a:cxn ang="T8">
                    <a:pos x="T4" y="T5"/>
                  </a:cxn>
                </a:cxnLst>
                <a:rect l="0" t="0" r="r" b="b"/>
                <a:pathLst>
                  <a:path w="128" h="183">
                    <a:moveTo>
                      <a:pt x="0" y="0"/>
                    </a:moveTo>
                    <a:cubicBezTo>
                      <a:pt x="12" y="73"/>
                      <a:pt x="34" y="132"/>
                      <a:pt x="110" y="156"/>
                    </a:cubicBezTo>
                    <a:cubicBezTo>
                      <a:pt x="116" y="165"/>
                      <a:pt x="128" y="183"/>
                      <a:pt x="128" y="183"/>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Freeform 61">
                <a:extLst>
                  <a:ext uri="{FF2B5EF4-FFF2-40B4-BE49-F238E27FC236}">
                    <a16:creationId xmlns:a16="http://schemas.microsoft.com/office/drawing/2014/main" id="{70CE622F-F984-6848-0A82-081017A2C128}"/>
                  </a:ext>
                </a:extLst>
              </p:cNvPr>
              <p:cNvSpPr>
                <a:spLocks/>
              </p:cNvSpPr>
              <p:nvPr/>
            </p:nvSpPr>
            <p:spPr bwMode="auto">
              <a:xfrm>
                <a:off x="6457950" y="5295900"/>
                <a:ext cx="534988" cy="57150"/>
              </a:xfrm>
              <a:custGeom>
                <a:avLst/>
                <a:gdLst>
                  <a:gd name="T0" fmla="*/ 2147483646 w 337"/>
                  <a:gd name="T1" fmla="*/ 2147483646 h 36"/>
                  <a:gd name="T2" fmla="*/ 2147483646 w 337"/>
                  <a:gd name="T3" fmla="*/ 2147483646 h 36"/>
                  <a:gd name="T4" fmla="*/ 2147483646 w 337"/>
                  <a:gd name="T5" fmla="*/ 2147483646 h 36"/>
                  <a:gd name="T6" fmla="*/ 2147483646 w 337"/>
                  <a:gd name="T7" fmla="*/ 2147483646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7" h="36">
                    <a:moveTo>
                      <a:pt x="35" y="29"/>
                    </a:moveTo>
                    <a:cubicBezTo>
                      <a:pt x="113" y="0"/>
                      <a:pt x="0" y="36"/>
                      <a:pt x="99" y="29"/>
                    </a:cubicBezTo>
                    <a:cubicBezTo>
                      <a:pt x="130" y="27"/>
                      <a:pt x="159" y="10"/>
                      <a:pt x="190" y="10"/>
                    </a:cubicBezTo>
                    <a:cubicBezTo>
                      <a:pt x="239" y="10"/>
                      <a:pt x="288" y="10"/>
                      <a:pt x="337" y="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Freeform 62">
                <a:extLst>
                  <a:ext uri="{FF2B5EF4-FFF2-40B4-BE49-F238E27FC236}">
                    <a16:creationId xmlns:a16="http://schemas.microsoft.com/office/drawing/2014/main" id="{4979F244-6028-C4B8-7139-AF29A27FB01A}"/>
                  </a:ext>
                </a:extLst>
              </p:cNvPr>
              <p:cNvSpPr>
                <a:spLocks/>
              </p:cNvSpPr>
              <p:nvPr/>
            </p:nvSpPr>
            <p:spPr bwMode="auto">
              <a:xfrm>
                <a:off x="7086600" y="5334000"/>
                <a:ext cx="619125" cy="333375"/>
              </a:xfrm>
              <a:custGeom>
                <a:avLst/>
                <a:gdLst>
                  <a:gd name="T0" fmla="*/ 2147483646 w 390"/>
                  <a:gd name="T1" fmla="*/ 0 h 210"/>
                  <a:gd name="T2" fmla="*/ 2147483646 w 390"/>
                  <a:gd name="T3" fmla="*/ 0 h 210"/>
                  <a:gd name="T4" fmla="*/ 2147483646 w 390"/>
                  <a:gd name="T5" fmla="*/ 2147483646 h 210"/>
                  <a:gd name="T6" fmla="*/ 2147483646 w 390"/>
                  <a:gd name="T7" fmla="*/ 2147483646 h 210"/>
                  <a:gd name="T8" fmla="*/ 2147483646 w 390"/>
                  <a:gd name="T9" fmla="*/ 2147483646 h 210"/>
                  <a:gd name="T10" fmla="*/ 2147483646 w 390"/>
                  <a:gd name="T11" fmla="*/ 2147483646 h 210"/>
                  <a:gd name="T12" fmla="*/ 2147483646 w 390"/>
                  <a:gd name="T13" fmla="*/ 2147483646 h 210"/>
                  <a:gd name="T14" fmla="*/ 2147483646 w 390"/>
                  <a:gd name="T15" fmla="*/ 2147483646 h 210"/>
                  <a:gd name="T16" fmla="*/ 2147483646 w 390"/>
                  <a:gd name="T17" fmla="*/ 2147483646 h 210"/>
                  <a:gd name="T18" fmla="*/ 2147483646 w 390"/>
                  <a:gd name="T19" fmla="*/ 2147483646 h 210"/>
                  <a:gd name="T20" fmla="*/ 2147483646 w 390"/>
                  <a:gd name="T21" fmla="*/ 2147483646 h 210"/>
                  <a:gd name="T22" fmla="*/ 2147483646 w 390"/>
                  <a:gd name="T23" fmla="*/ 214748364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10">
                    <a:moveTo>
                      <a:pt x="17" y="0"/>
                    </a:moveTo>
                    <a:cubicBezTo>
                      <a:pt x="85" y="22"/>
                      <a:pt x="0" y="0"/>
                      <a:pt x="81" y="0"/>
                    </a:cubicBezTo>
                    <a:cubicBezTo>
                      <a:pt x="166" y="0"/>
                      <a:pt x="252" y="6"/>
                      <a:pt x="337" y="9"/>
                    </a:cubicBezTo>
                    <a:cubicBezTo>
                      <a:pt x="390" y="26"/>
                      <a:pt x="376" y="62"/>
                      <a:pt x="383" y="119"/>
                    </a:cubicBezTo>
                    <a:cubicBezTo>
                      <a:pt x="366" y="171"/>
                      <a:pt x="370" y="184"/>
                      <a:pt x="319" y="201"/>
                    </a:cubicBezTo>
                    <a:cubicBezTo>
                      <a:pt x="301" y="195"/>
                      <a:pt x="282" y="189"/>
                      <a:pt x="264" y="183"/>
                    </a:cubicBezTo>
                    <a:cubicBezTo>
                      <a:pt x="255" y="180"/>
                      <a:pt x="237" y="174"/>
                      <a:pt x="237" y="174"/>
                    </a:cubicBezTo>
                    <a:cubicBezTo>
                      <a:pt x="224" y="133"/>
                      <a:pt x="238" y="84"/>
                      <a:pt x="218" y="46"/>
                    </a:cubicBezTo>
                    <a:cubicBezTo>
                      <a:pt x="212" y="35"/>
                      <a:pt x="199" y="63"/>
                      <a:pt x="191" y="73"/>
                    </a:cubicBezTo>
                    <a:cubicBezTo>
                      <a:pt x="184" y="82"/>
                      <a:pt x="180" y="93"/>
                      <a:pt x="173" y="101"/>
                    </a:cubicBezTo>
                    <a:cubicBezTo>
                      <a:pt x="159" y="117"/>
                      <a:pt x="115" y="168"/>
                      <a:pt x="90" y="183"/>
                    </a:cubicBezTo>
                    <a:cubicBezTo>
                      <a:pt x="51" y="206"/>
                      <a:pt x="71" y="175"/>
                      <a:pt x="54" y="210"/>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Freeform 63">
                <a:extLst>
                  <a:ext uri="{FF2B5EF4-FFF2-40B4-BE49-F238E27FC236}">
                    <a16:creationId xmlns:a16="http://schemas.microsoft.com/office/drawing/2014/main" id="{768739CB-ABDA-E30D-B871-7FF9357442A0}"/>
                  </a:ext>
                </a:extLst>
              </p:cNvPr>
              <p:cNvSpPr>
                <a:spLocks/>
              </p:cNvSpPr>
              <p:nvPr/>
            </p:nvSpPr>
            <p:spPr bwMode="auto">
              <a:xfrm>
                <a:off x="7772400" y="5334000"/>
                <a:ext cx="419100" cy="249238"/>
              </a:xfrm>
              <a:custGeom>
                <a:avLst/>
                <a:gdLst>
                  <a:gd name="T0" fmla="*/ 2147483646 w 264"/>
                  <a:gd name="T1" fmla="*/ 0 h 157"/>
                  <a:gd name="T2" fmla="*/ 2147483646 w 264"/>
                  <a:gd name="T3" fmla="*/ 2147483646 h 157"/>
                  <a:gd name="T4" fmla="*/ 2147483646 w 264"/>
                  <a:gd name="T5" fmla="*/ 2147483646 h 157"/>
                  <a:gd name="T6" fmla="*/ 2147483646 w 264"/>
                  <a:gd name="T7" fmla="*/ 2147483646 h 157"/>
                  <a:gd name="T8" fmla="*/ 2147483646 w 264"/>
                  <a:gd name="T9" fmla="*/ 2147483646 h 157"/>
                  <a:gd name="T10" fmla="*/ 2147483646 w 264"/>
                  <a:gd name="T11" fmla="*/ 2147483646 h 157"/>
                  <a:gd name="T12" fmla="*/ 2147483646 w 264"/>
                  <a:gd name="T13" fmla="*/ 0 h 1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4" h="157">
                    <a:moveTo>
                      <a:pt x="194" y="0"/>
                    </a:moveTo>
                    <a:cubicBezTo>
                      <a:pt x="126" y="6"/>
                      <a:pt x="83" y="1"/>
                      <a:pt x="29" y="36"/>
                    </a:cubicBezTo>
                    <a:cubicBezTo>
                      <a:pt x="23" y="54"/>
                      <a:pt x="0" y="75"/>
                      <a:pt x="11" y="91"/>
                    </a:cubicBezTo>
                    <a:cubicBezTo>
                      <a:pt x="54" y="157"/>
                      <a:pt x="26" y="141"/>
                      <a:pt x="84" y="155"/>
                    </a:cubicBezTo>
                    <a:cubicBezTo>
                      <a:pt x="136" y="147"/>
                      <a:pt x="189" y="145"/>
                      <a:pt x="239" y="128"/>
                    </a:cubicBezTo>
                    <a:cubicBezTo>
                      <a:pt x="245" y="122"/>
                      <a:pt x="257" y="118"/>
                      <a:pt x="258" y="109"/>
                    </a:cubicBezTo>
                    <a:cubicBezTo>
                      <a:pt x="264" y="67"/>
                      <a:pt x="230" y="18"/>
                      <a:pt x="194" y="0"/>
                    </a:cubicBezTo>
                    <a:close/>
                  </a:path>
                </a:pathLst>
              </a:custGeom>
              <a:noFill/>
              <a:ln w="127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Freeform 64">
                <a:extLst>
                  <a:ext uri="{FF2B5EF4-FFF2-40B4-BE49-F238E27FC236}">
                    <a16:creationId xmlns:a16="http://schemas.microsoft.com/office/drawing/2014/main" id="{7580ACD0-6600-E92E-5141-016B5D4AC303}"/>
                  </a:ext>
                </a:extLst>
              </p:cNvPr>
              <p:cNvSpPr>
                <a:spLocks/>
              </p:cNvSpPr>
              <p:nvPr/>
            </p:nvSpPr>
            <p:spPr bwMode="auto">
              <a:xfrm>
                <a:off x="8374063" y="5326063"/>
                <a:ext cx="363537" cy="450850"/>
              </a:xfrm>
              <a:custGeom>
                <a:avLst/>
                <a:gdLst>
                  <a:gd name="T0" fmla="*/ 2147483646 w 229"/>
                  <a:gd name="T1" fmla="*/ 0 h 284"/>
                  <a:gd name="T2" fmla="*/ 2147483646 w 229"/>
                  <a:gd name="T3" fmla="*/ 2147483646 h 284"/>
                  <a:gd name="T4" fmla="*/ 2147483646 w 229"/>
                  <a:gd name="T5" fmla="*/ 2147483646 h 284"/>
                  <a:gd name="T6" fmla="*/ 0 w 229"/>
                  <a:gd name="T7" fmla="*/ 2147483646 h 284"/>
                  <a:gd name="T8" fmla="*/ 2147483646 w 229"/>
                  <a:gd name="T9" fmla="*/ 2147483646 h 284"/>
                  <a:gd name="T10" fmla="*/ 2147483646 w 229"/>
                  <a:gd name="T11" fmla="*/ 2147483646 h 284"/>
                  <a:gd name="T12" fmla="*/ 2147483646 w 229"/>
                  <a:gd name="T13" fmla="*/ 2147483646 h 284"/>
                  <a:gd name="T14" fmla="*/ 2147483646 w 229"/>
                  <a:gd name="T15" fmla="*/ 2147483646 h 284"/>
                  <a:gd name="T16" fmla="*/ 2147483646 w 229"/>
                  <a:gd name="T17" fmla="*/ 2147483646 h 284"/>
                  <a:gd name="T18" fmla="*/ 2147483646 w 229"/>
                  <a:gd name="T19" fmla="*/ 2147483646 h 284"/>
                  <a:gd name="T20" fmla="*/ 2147483646 w 229"/>
                  <a:gd name="T21" fmla="*/ 2147483646 h 284"/>
                  <a:gd name="T22" fmla="*/ 2147483646 w 229"/>
                  <a:gd name="T23" fmla="*/ 2147483646 h 2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9" h="284">
                    <a:moveTo>
                      <a:pt x="192" y="0"/>
                    </a:moveTo>
                    <a:cubicBezTo>
                      <a:pt x="186" y="9"/>
                      <a:pt x="183" y="21"/>
                      <a:pt x="174" y="28"/>
                    </a:cubicBezTo>
                    <a:cubicBezTo>
                      <a:pt x="165" y="36"/>
                      <a:pt x="103" y="46"/>
                      <a:pt x="101" y="46"/>
                    </a:cubicBezTo>
                    <a:cubicBezTo>
                      <a:pt x="67" y="54"/>
                      <a:pt x="33" y="62"/>
                      <a:pt x="0" y="74"/>
                    </a:cubicBezTo>
                    <a:cubicBezTo>
                      <a:pt x="22" y="95"/>
                      <a:pt x="43" y="117"/>
                      <a:pt x="74" y="128"/>
                    </a:cubicBezTo>
                    <a:cubicBezTo>
                      <a:pt x="92" y="134"/>
                      <a:pt x="128" y="147"/>
                      <a:pt x="128" y="147"/>
                    </a:cubicBezTo>
                    <a:cubicBezTo>
                      <a:pt x="134" y="153"/>
                      <a:pt x="147" y="156"/>
                      <a:pt x="147" y="165"/>
                    </a:cubicBezTo>
                    <a:cubicBezTo>
                      <a:pt x="147" y="172"/>
                      <a:pt x="101" y="202"/>
                      <a:pt x="101" y="202"/>
                    </a:cubicBezTo>
                    <a:cubicBezTo>
                      <a:pt x="83" y="210"/>
                      <a:pt x="46" y="220"/>
                      <a:pt x="46" y="220"/>
                    </a:cubicBezTo>
                    <a:cubicBezTo>
                      <a:pt x="37" y="226"/>
                      <a:pt x="19" y="227"/>
                      <a:pt x="19" y="238"/>
                    </a:cubicBezTo>
                    <a:cubicBezTo>
                      <a:pt x="19" y="258"/>
                      <a:pt x="59" y="273"/>
                      <a:pt x="74" y="275"/>
                    </a:cubicBezTo>
                    <a:cubicBezTo>
                      <a:pt x="163" y="284"/>
                      <a:pt x="175" y="284"/>
                      <a:pt x="229" y="284"/>
                    </a:cubicBez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71" name="Picture 4">
            <a:extLst>
              <a:ext uri="{FF2B5EF4-FFF2-40B4-BE49-F238E27FC236}">
                <a16:creationId xmlns:a16="http://schemas.microsoft.com/office/drawing/2014/main" id="{CB1E57B4-DFC9-9F2C-0021-5E200B7BC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401325" y="2656032"/>
            <a:ext cx="4460661" cy="155740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9815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6" name="内容占位符 2">
            <a:extLst>
              <a:ext uri="{FF2B5EF4-FFF2-40B4-BE49-F238E27FC236}">
                <a16:creationId xmlns:a16="http://schemas.microsoft.com/office/drawing/2014/main" id="{AC79286B-D3FF-A766-E875-E911CE85E3D9}"/>
              </a:ext>
            </a:extLst>
          </p:cNvPr>
          <p:cNvSpPr txBox="1">
            <a:spLocks noChangeArrowheads="1"/>
          </p:cNvSpPr>
          <p:nvPr/>
        </p:nvSpPr>
        <p:spPr>
          <a:xfrm>
            <a:off x="595996" y="2163263"/>
            <a:ext cx="5031555" cy="2316684"/>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panose="05000000000000000000" pitchFamily="2" charset="2"/>
              <a:buNone/>
            </a:pPr>
            <a:r>
              <a:rPr lang="zh-CN" altLang="en-US" sz="1200" b="1" dirty="0"/>
              <a:t> </a:t>
            </a:r>
            <a:r>
              <a:rPr lang="zh-CN" altLang="en-US" sz="2400" b="1" dirty="0">
                <a:latin typeface="楷体_GB2312" pitchFamily="49" charset="-122"/>
                <a:ea typeface="楷体_GB2312" pitchFamily="49" charset="-122"/>
              </a:rPr>
              <a:t>吴用智赚玉麒麟 </a:t>
            </a:r>
          </a:p>
          <a:p>
            <a:pPr marL="0" indent="0">
              <a:buNone/>
            </a:pPr>
            <a:endParaRPr lang="zh-CN" altLang="en-US" sz="1200" b="1" dirty="0">
              <a:latin typeface="楷体_GB2312" pitchFamily="49" charset="-122"/>
              <a:ea typeface="楷体_GB2312" pitchFamily="49" charset="-122"/>
            </a:endParaRPr>
          </a:p>
          <a:p>
            <a:pPr eaLnBrk="1" hangingPunct="1">
              <a:buFont typeface="Wingdings" panose="05000000000000000000" pitchFamily="2" charset="2"/>
              <a:buNone/>
            </a:pPr>
            <a:r>
              <a:rPr lang="zh-CN" altLang="en-US" sz="2000" b="1" dirty="0">
                <a:latin typeface="楷体_GB2312" pitchFamily="49" charset="-122"/>
                <a:ea typeface="楷体_GB2312" pitchFamily="49" charset="-122"/>
              </a:rPr>
              <a:t>卢花滩上有扁舟，俊杰黄昏独自游。</a:t>
            </a:r>
          </a:p>
          <a:p>
            <a:pPr eaLnBrk="1" hangingPunct="1">
              <a:buFont typeface="Wingdings" panose="05000000000000000000" pitchFamily="2" charset="2"/>
              <a:buNone/>
            </a:pPr>
            <a:r>
              <a:rPr lang="zh-CN" altLang="en-US" sz="2000" b="1" dirty="0">
                <a:latin typeface="楷体_GB2312" pitchFamily="49" charset="-122"/>
                <a:ea typeface="楷体_GB2312" pitchFamily="49" charset="-122"/>
              </a:rPr>
              <a:t>义到尽头原是命，反躬逃难必无忧。 </a:t>
            </a:r>
          </a:p>
          <a:p>
            <a:pPr marL="0" indent="0">
              <a:lnSpc>
                <a:spcPct val="100000"/>
              </a:lnSpc>
              <a:spcBef>
                <a:spcPct val="0"/>
              </a:spcBef>
              <a:buClr>
                <a:schemeClr val="accent1">
                  <a:lumMod val="75000"/>
                </a:schemeClr>
              </a:buClr>
              <a:buSzPct val="60000"/>
              <a:buNone/>
            </a:pPr>
            <a:endParaRPr lang="zh-CN" altLang="en-US" sz="2000" dirty="0">
              <a:latin typeface="宋体" panose="02010600030101010101" pitchFamily="2" charset="-122"/>
              <a:ea typeface="宋体" panose="02010600030101010101" pitchFamily="2" charset="-122"/>
            </a:endParaRPr>
          </a:p>
        </p:txBody>
      </p:sp>
      <p:grpSp>
        <p:nvGrpSpPr>
          <p:cNvPr id="5" name="Group 11">
            <a:extLst>
              <a:ext uri="{FF2B5EF4-FFF2-40B4-BE49-F238E27FC236}">
                <a16:creationId xmlns:a16="http://schemas.microsoft.com/office/drawing/2014/main" id="{88A381EF-22C8-C6A2-09FD-0E320E899A03}"/>
              </a:ext>
            </a:extLst>
          </p:cNvPr>
          <p:cNvGrpSpPr>
            <a:grpSpLocks/>
          </p:cNvGrpSpPr>
          <p:nvPr/>
        </p:nvGrpSpPr>
        <p:grpSpPr bwMode="auto">
          <a:xfrm>
            <a:off x="656650" y="2912325"/>
            <a:ext cx="2362711" cy="702319"/>
            <a:chOff x="336" y="1942"/>
            <a:chExt cx="2632" cy="635"/>
          </a:xfrm>
        </p:grpSpPr>
        <p:sp>
          <p:nvSpPr>
            <p:cNvPr id="7" name="Oval 4">
              <a:extLst>
                <a:ext uri="{FF2B5EF4-FFF2-40B4-BE49-F238E27FC236}">
                  <a16:creationId xmlns:a16="http://schemas.microsoft.com/office/drawing/2014/main" id="{19EF8202-E554-823A-10B2-57D4F19F32E7}"/>
                </a:ext>
              </a:extLst>
            </p:cNvPr>
            <p:cNvSpPr>
              <a:spLocks noChangeArrowheads="1"/>
            </p:cNvSpPr>
            <p:nvPr/>
          </p:nvSpPr>
          <p:spPr bwMode="auto">
            <a:xfrm>
              <a:off x="2605" y="1942"/>
              <a:ext cx="363" cy="31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9" name="Oval 5">
              <a:extLst>
                <a:ext uri="{FF2B5EF4-FFF2-40B4-BE49-F238E27FC236}">
                  <a16:creationId xmlns:a16="http://schemas.microsoft.com/office/drawing/2014/main" id="{C195AA63-809C-5B8F-B34C-CA5F0E2063D8}"/>
                </a:ext>
              </a:extLst>
            </p:cNvPr>
            <p:cNvSpPr>
              <a:spLocks noChangeArrowheads="1"/>
            </p:cNvSpPr>
            <p:nvPr/>
          </p:nvSpPr>
          <p:spPr bwMode="auto">
            <a:xfrm>
              <a:off x="340" y="1942"/>
              <a:ext cx="317" cy="317"/>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10" name="Oval 6">
              <a:extLst>
                <a:ext uri="{FF2B5EF4-FFF2-40B4-BE49-F238E27FC236}">
                  <a16:creationId xmlns:a16="http://schemas.microsoft.com/office/drawing/2014/main" id="{81434902-0591-B6F2-5608-40A58237EE7B}"/>
                </a:ext>
              </a:extLst>
            </p:cNvPr>
            <p:cNvSpPr>
              <a:spLocks noChangeArrowheads="1"/>
            </p:cNvSpPr>
            <p:nvPr/>
          </p:nvSpPr>
          <p:spPr bwMode="auto">
            <a:xfrm>
              <a:off x="2600" y="2259"/>
              <a:ext cx="363" cy="31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11" name="Oval 7">
              <a:extLst>
                <a:ext uri="{FF2B5EF4-FFF2-40B4-BE49-F238E27FC236}">
                  <a16:creationId xmlns:a16="http://schemas.microsoft.com/office/drawing/2014/main" id="{A8F27473-55E5-383C-C855-F84C653A3915}"/>
                </a:ext>
              </a:extLst>
            </p:cNvPr>
            <p:cNvSpPr>
              <a:spLocks noChangeArrowheads="1"/>
            </p:cNvSpPr>
            <p:nvPr/>
          </p:nvSpPr>
          <p:spPr bwMode="auto">
            <a:xfrm>
              <a:off x="336" y="2259"/>
              <a:ext cx="318" cy="31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grpSp>
      <p:sp>
        <p:nvSpPr>
          <p:cNvPr id="12" name="文本框 11">
            <a:extLst>
              <a:ext uri="{FF2B5EF4-FFF2-40B4-BE49-F238E27FC236}">
                <a16:creationId xmlns:a16="http://schemas.microsoft.com/office/drawing/2014/main" id="{7A9180F1-81BA-031C-7B17-F7CE8C7C5BBE}"/>
              </a:ext>
            </a:extLst>
          </p:cNvPr>
          <p:cNvSpPr txBox="1"/>
          <p:nvPr/>
        </p:nvSpPr>
        <p:spPr>
          <a:xfrm>
            <a:off x="5627550" y="1933466"/>
            <a:ext cx="6097023" cy="2585323"/>
          </a:xfrm>
          <a:prstGeom prst="rect">
            <a:avLst/>
          </a:prstGeom>
          <a:noFill/>
        </p:spPr>
        <p:txBody>
          <a:bodyPr wrap="square">
            <a:spAutoFit/>
          </a:bodyPr>
          <a:lstStyle/>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我</a:t>
            </a:r>
            <a:r>
              <a:rPr lang="zh-CN" altLang="en-US" dirty="0">
                <a:latin typeface="楷体_GB2312" pitchFamily="49" charset="-122"/>
                <a:ea typeface="楷体_GB2312" pitchFamily="49" charset="-122"/>
              </a:rPr>
              <a:t>康宣，今年一十八岁，姑苏人氏，身家清白，素无过犯。只</a:t>
            </a:r>
          </a:p>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为</a:t>
            </a:r>
            <a:r>
              <a:rPr lang="zh-CN" altLang="en-US" dirty="0">
                <a:latin typeface="楷体_GB2312" pitchFamily="49" charset="-122"/>
                <a:ea typeface="楷体_GB2312" pitchFamily="49" charset="-122"/>
              </a:rPr>
              <a:t>家况清贫，卖身华相府中，充当书僮。身价银五十两，自</a:t>
            </a:r>
          </a:p>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秋</a:t>
            </a:r>
            <a:r>
              <a:rPr lang="zh-CN" altLang="en-US" dirty="0">
                <a:latin typeface="楷体_GB2312" pitchFamily="49" charset="-122"/>
                <a:ea typeface="楷体_GB2312" pitchFamily="49" charset="-122"/>
              </a:rPr>
              <a:t>节起，暂存帐房，以三年后支取，从此承值书房，每日焚</a:t>
            </a:r>
          </a:p>
          <a:p>
            <a:pPr eaLnBrk="1" hangingPunct="1">
              <a:buFont typeface="Wingdings" panose="05000000000000000000" pitchFamily="2" charset="2"/>
              <a:buNone/>
            </a:pPr>
            <a:r>
              <a:rPr lang="zh-CN" altLang="en-US" dirty="0">
                <a:solidFill>
                  <a:srgbClr val="FF0000"/>
                </a:solidFill>
                <a:latin typeface="楷体_GB2312" pitchFamily="49" charset="-122"/>
                <a:ea typeface="楷体_GB2312" pitchFamily="49" charset="-122"/>
              </a:rPr>
              <a:t>香</a:t>
            </a:r>
            <a:r>
              <a:rPr lang="zh-CN" altLang="en-US" dirty="0">
                <a:latin typeface="楷体_GB2312" pitchFamily="49" charset="-122"/>
                <a:ea typeface="楷体_GB2312" pitchFamily="49" charset="-122"/>
              </a:rPr>
              <a:t>扫地，洗砚、磨墨等事，听凭使唤。从头做起。立此契凭。        </a:t>
            </a:r>
            <a:endParaRPr lang="en-US" altLang="zh-CN" dirty="0">
              <a:latin typeface="楷体_GB2312" pitchFamily="49" charset="-122"/>
              <a:ea typeface="楷体_GB2312" pitchFamily="49" charset="-122"/>
            </a:endParaRPr>
          </a:p>
          <a:p>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唐伯虎的卖身契</a:t>
            </a:r>
          </a:p>
        </p:txBody>
      </p:sp>
    </p:spTree>
    <p:extLst>
      <p:ext uri="{BB962C8B-B14F-4D97-AF65-F5344CB8AC3E}">
        <p14:creationId xmlns:p14="http://schemas.microsoft.com/office/powerpoint/2010/main" val="283894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fltVal val="0"/>
                                          </p:val>
                                        </p:tav>
                                        <p:tav tm="100000">
                                          <p:val>
                                            <p:strVal val="#ppt_w"/>
                                          </p:val>
                                        </p:tav>
                                      </p:tavLst>
                                    </p:anim>
                                    <p:anim calcmode="lin" valueType="num">
                                      <p:cBhvr>
                                        <p:cTn id="13" dur="1000" fill="hold"/>
                                        <p:tgtEl>
                                          <p:spTgt spid="12"/>
                                        </p:tgtEl>
                                        <p:attrNameLst>
                                          <p:attrName>ppt_h</p:attrName>
                                        </p:attrNameLst>
                                      </p:cBhvr>
                                      <p:tavLst>
                                        <p:tav tm="0">
                                          <p:val>
                                            <p:fltVal val="0"/>
                                          </p:val>
                                        </p:tav>
                                        <p:tav tm="100000">
                                          <p:val>
                                            <p:strVal val="#ppt_h"/>
                                          </p:val>
                                        </p:tav>
                                      </p:tavLst>
                                    </p:anim>
                                    <p:anim calcmode="lin" valueType="num">
                                      <p:cBhvr>
                                        <p:cTn id="14" dur="1000" fill="hold"/>
                                        <p:tgtEl>
                                          <p:spTgt spid="12"/>
                                        </p:tgtEl>
                                        <p:attrNameLst>
                                          <p:attrName>style.rotation</p:attrName>
                                        </p:attrNameLst>
                                      </p:cBhvr>
                                      <p:tavLst>
                                        <p:tav tm="0">
                                          <p:val>
                                            <p:fltVal val="90"/>
                                          </p:val>
                                        </p:tav>
                                        <p:tav tm="100000">
                                          <p:val>
                                            <p:fltVal val="0"/>
                                          </p:val>
                                        </p:tav>
                                      </p:tavLst>
                                    </p:anim>
                                    <p:animEffect transition="in" filter="fad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13" name="文本框 12">
            <a:extLst>
              <a:ext uri="{FF2B5EF4-FFF2-40B4-BE49-F238E27FC236}">
                <a16:creationId xmlns:a16="http://schemas.microsoft.com/office/drawing/2014/main" id="{51C7E4FE-0FC1-DDD9-200E-89C8FC31799F}"/>
              </a:ext>
            </a:extLst>
          </p:cNvPr>
          <p:cNvSpPr txBox="1"/>
          <p:nvPr/>
        </p:nvSpPr>
        <p:spPr>
          <a:xfrm>
            <a:off x="292396" y="1505397"/>
            <a:ext cx="11743660" cy="3539430"/>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密码学历史回顾</a:t>
            </a:r>
            <a:endParaRPr lang="en-US" altLang="zh-CN" sz="2400" dirty="0">
              <a:latin typeface="宋体" panose="02010600030101010101" pitchFamily="2" charset="-122"/>
              <a:ea typeface="宋体" panose="02010600030101010101" pitchFamily="2" charset="-122"/>
            </a:endParaRPr>
          </a:p>
          <a:p>
            <a:pPr marL="342891" indent="-342891">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1949</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1975</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 </a:t>
            </a:r>
            <a:endParaRPr lang="en-CA" altLang="zh-CN" sz="2000" dirty="0">
              <a:latin typeface="宋体" panose="02010600030101010101" pitchFamily="2" charset="-122"/>
              <a:ea typeface="宋体" panose="02010600030101010101" pitchFamily="2" charset="-122"/>
            </a:endParaRPr>
          </a:p>
          <a:p>
            <a:pPr marL="800080" indent="-457189" defTabSz="0">
              <a:buFont typeface="+mj-lt"/>
              <a:buAutoNum type="arabicPeriod"/>
            </a:pPr>
            <a:r>
              <a:rPr lang="zh-CN" altLang="en-US" sz="2000" dirty="0">
                <a:latin typeface="宋体" panose="02010600030101010101" pitchFamily="2" charset="-122"/>
                <a:ea typeface="宋体" panose="02010600030101010101" pitchFamily="2" charset="-122"/>
              </a:rPr>
              <a:t>计算机使得基于复杂计算的密码成为可能</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1949</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Shannon</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The Communication Theory of Secret Systems” </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1967</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David Kahn</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《The Codebreakers》</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1971-73</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IBM Watson</a:t>
            </a:r>
            <a:r>
              <a:rPr lang="zh-CN" altLang="en-US" sz="2000" dirty="0">
                <a:latin typeface="宋体" panose="02010600030101010101" pitchFamily="2" charset="-122"/>
                <a:ea typeface="宋体" panose="02010600030101010101" pitchFamily="2" charset="-122"/>
              </a:rPr>
              <a:t>实验室的</a:t>
            </a:r>
            <a:r>
              <a:rPr lang="en-US" altLang="zh-CN" sz="2000" dirty="0">
                <a:latin typeface="宋体" panose="02010600030101010101" pitchFamily="2" charset="-122"/>
                <a:ea typeface="宋体" panose="02010600030101010101" pitchFamily="2" charset="-122"/>
              </a:rPr>
              <a:t>Horst Feistel</a:t>
            </a:r>
            <a:r>
              <a:rPr lang="zh-CN" altLang="en-US" sz="2000" dirty="0">
                <a:latin typeface="宋体" panose="02010600030101010101" pitchFamily="2" charset="-122"/>
                <a:ea typeface="宋体" panose="02010600030101010101" pitchFamily="2" charset="-122"/>
              </a:rPr>
              <a:t>等的几篇技术报告：</a:t>
            </a:r>
            <a:endParaRPr lang="en-US" altLang="zh-CN" sz="2000" dirty="0">
              <a:latin typeface="宋体" panose="02010600030101010101" pitchFamily="2" charset="-122"/>
              <a:ea typeface="宋体" panose="02010600030101010101" pitchFamily="2" charset="-122"/>
            </a:endParaRPr>
          </a:p>
          <a:p>
            <a:pPr marL="342891" defTabSz="0" latinLnBrk="1"/>
            <a:r>
              <a:rPr lang="fr-FR" altLang="zh-CN" sz="2000" dirty="0">
                <a:latin typeface="宋体" panose="02010600030101010101" pitchFamily="2" charset="-122"/>
                <a:ea typeface="宋体" panose="02010600030101010101" pitchFamily="2" charset="-122"/>
              </a:rPr>
              <a:t>   A Cryptographic Device for Data Communication,1971</a:t>
            </a:r>
          </a:p>
          <a:p>
            <a:pPr marL="342891" defTabSz="0" latinLnBrk="1"/>
            <a:r>
              <a:rPr lang="en-US" altLang="zh-CN" sz="2000" dirty="0">
                <a:latin typeface="宋体" panose="02010600030101010101" pitchFamily="2" charset="-122"/>
                <a:ea typeface="宋体" panose="02010600030101010101" pitchFamily="2" charset="-122"/>
              </a:rPr>
              <a:t>   An Experimental Application of Cryptography to a remotely Accessed Data System,1972</a:t>
            </a:r>
          </a:p>
          <a:p>
            <a:pPr marL="342891" defTabSz="0" latinLnBrk="1"/>
            <a:r>
              <a:rPr lang="en-US" altLang="zh-CN" sz="2000" dirty="0">
                <a:latin typeface="宋体" panose="02010600030101010101" pitchFamily="2" charset="-122"/>
                <a:ea typeface="宋体" panose="02010600030101010101" pitchFamily="2" charset="-122"/>
              </a:rPr>
              <a:t>   Cryptography and Computer Privacy,1973</a:t>
            </a:r>
          </a:p>
          <a:p>
            <a:pPr marL="342891" defTabSz="0" latinLnBrk="1"/>
            <a:endParaRPr lang="en-US" altLang="zh-CN" sz="2000" dirty="0">
              <a:latin typeface="宋体" panose="02010600030101010101" pitchFamily="2" charset="-122"/>
              <a:ea typeface="宋体" panose="02010600030101010101" pitchFamily="2" charset="-122"/>
            </a:endParaRPr>
          </a:p>
          <a:p>
            <a:pPr marL="342891" defTabSz="0" latinLnBrk="1"/>
            <a:r>
              <a:rPr lang="zh-CN" altLang="en-US" sz="2000" b="1" dirty="0">
                <a:ea typeface="楷体_GB2312" pitchFamily="49" charset="-122"/>
              </a:rPr>
              <a:t>数据的安全基于</a:t>
            </a:r>
            <a:r>
              <a:rPr lang="zh-CN" altLang="en-US" sz="2000" b="1" dirty="0">
                <a:solidFill>
                  <a:srgbClr val="FF0000"/>
                </a:solidFill>
                <a:ea typeface="楷体_GB2312" pitchFamily="49" charset="-122"/>
              </a:rPr>
              <a:t>密钥</a:t>
            </a:r>
            <a:r>
              <a:rPr lang="zh-CN" altLang="en-US" sz="2000" b="1" dirty="0">
                <a:ea typeface="楷体_GB2312" pitchFamily="49" charset="-122"/>
              </a:rPr>
              <a:t>而不是算法的保密</a:t>
            </a:r>
            <a:endParaRPr lang="en-US" altLang="zh-CN"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7133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2" y="237517"/>
            <a:ext cx="2646878"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密码学的历史</a:t>
            </a:r>
          </a:p>
        </p:txBody>
      </p:sp>
      <p:sp>
        <p:nvSpPr>
          <p:cNvPr id="13" name="文本框 12">
            <a:extLst>
              <a:ext uri="{FF2B5EF4-FFF2-40B4-BE49-F238E27FC236}">
                <a16:creationId xmlns:a16="http://schemas.microsoft.com/office/drawing/2014/main" id="{51C7E4FE-0FC1-DDD9-200E-89C8FC31799F}"/>
              </a:ext>
            </a:extLst>
          </p:cNvPr>
          <p:cNvSpPr txBox="1"/>
          <p:nvPr/>
        </p:nvSpPr>
        <p:spPr>
          <a:xfrm>
            <a:off x="994145" y="1505396"/>
            <a:ext cx="9892740" cy="4462760"/>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密码学历史回顾</a:t>
            </a:r>
            <a:endParaRPr lang="en-US" altLang="zh-CN" sz="2400" dirty="0">
              <a:latin typeface="宋体" panose="02010600030101010101" pitchFamily="2" charset="-122"/>
              <a:ea typeface="宋体" panose="02010600030101010101" pitchFamily="2" charset="-122"/>
            </a:endParaRPr>
          </a:p>
          <a:p>
            <a:pPr marL="342891" indent="-342891">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1976</a:t>
            </a:r>
            <a:r>
              <a:rPr lang="zh-CN" altLang="en-US" sz="2000" dirty="0">
                <a:latin typeface="宋体" panose="02010600030101010101" pitchFamily="2" charset="-122"/>
                <a:ea typeface="宋体" panose="02010600030101010101" pitchFamily="2" charset="-122"/>
              </a:rPr>
              <a:t>后</a:t>
            </a:r>
            <a:r>
              <a:rPr lang="en-US" altLang="zh-CN" sz="2000" dirty="0">
                <a:latin typeface="宋体" panose="02010600030101010101" pitchFamily="2" charset="-122"/>
                <a:ea typeface="宋体" panose="02010600030101010101" pitchFamily="2" charset="-122"/>
              </a:rPr>
              <a:t>: </a:t>
            </a:r>
            <a:endParaRPr lang="en-CA" altLang="zh-CN" sz="2000" dirty="0">
              <a:latin typeface="宋体" panose="02010600030101010101" pitchFamily="2" charset="-122"/>
              <a:ea typeface="宋体" panose="02010600030101010101" pitchFamily="2" charset="-122"/>
            </a:endParaRP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1976</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Diffie &amp; Hellman</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New Directions in Cryptography”</a:t>
            </a:r>
            <a:r>
              <a:rPr lang="zh-CN" altLang="en-US" sz="2000" dirty="0">
                <a:latin typeface="宋体" panose="02010600030101010101" pitchFamily="2" charset="-122"/>
                <a:ea typeface="宋体" panose="02010600030101010101" pitchFamily="2" charset="-122"/>
              </a:rPr>
              <a:t>提出了不对称密钥密码</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1977</a:t>
            </a:r>
            <a:r>
              <a:rPr lang="zh-CN" altLang="en-US" sz="2000" dirty="0">
                <a:latin typeface="宋体" panose="02010600030101010101" pitchFamily="2" charset="-122"/>
                <a:ea typeface="宋体" panose="02010600030101010101" pitchFamily="2" charset="-122"/>
              </a:rPr>
              <a:t>年</a:t>
            </a:r>
            <a:r>
              <a:rPr lang="en-US" altLang="zh-CN" sz="2000" dirty="0" err="1">
                <a:latin typeface="宋体" panose="02010600030101010101" pitchFamily="2" charset="-122"/>
                <a:ea typeface="宋体" panose="02010600030101010101" pitchFamily="2" charset="-122"/>
              </a:rPr>
              <a:t>Rivest,Shamir</a:t>
            </a:r>
            <a:r>
              <a:rPr lang="en-US" altLang="zh-CN" sz="2000" dirty="0">
                <a:latin typeface="宋体" panose="02010600030101010101" pitchFamily="2" charset="-122"/>
                <a:ea typeface="宋体" panose="02010600030101010101" pitchFamily="2" charset="-122"/>
              </a:rPr>
              <a:t> &amp; Adleman</a:t>
            </a:r>
            <a:r>
              <a:rPr lang="zh-CN" altLang="en-US" sz="2000" dirty="0">
                <a:latin typeface="宋体" panose="02010600030101010101" pitchFamily="2" charset="-122"/>
                <a:ea typeface="宋体" panose="02010600030101010101" pitchFamily="2" charset="-122"/>
              </a:rPr>
              <a:t>提出了</a:t>
            </a:r>
            <a:r>
              <a:rPr lang="en-US" altLang="zh-CN" sz="2000" dirty="0">
                <a:latin typeface="宋体" panose="02010600030101010101" pitchFamily="2" charset="-122"/>
                <a:ea typeface="宋体" panose="02010600030101010101" pitchFamily="2" charset="-122"/>
              </a:rPr>
              <a:t>RSA</a:t>
            </a:r>
            <a:r>
              <a:rPr lang="zh-CN" altLang="en-US" sz="2000" dirty="0">
                <a:latin typeface="宋体" panose="02010600030101010101" pitchFamily="2" charset="-122"/>
                <a:ea typeface="宋体" panose="02010600030101010101" pitchFamily="2" charset="-122"/>
              </a:rPr>
              <a:t>公钥算法</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1967</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David Kahn</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《The Codebreakers》</a:t>
            </a:r>
          </a:p>
          <a:p>
            <a:pPr marL="800080" indent="-457189" defTabSz="0">
              <a:buFont typeface="+mj-lt"/>
              <a:buAutoNum type="arabicPeriod"/>
            </a:pPr>
            <a:r>
              <a:rPr lang="en-US" altLang="zh-CN" sz="2000" dirty="0">
                <a:latin typeface="宋体" panose="02010600030101010101" pitchFamily="2" charset="-122"/>
                <a:ea typeface="宋体" panose="02010600030101010101" pitchFamily="2" charset="-122"/>
              </a:rPr>
              <a:t>90</a:t>
            </a:r>
            <a:r>
              <a:rPr lang="zh-CN" altLang="en-US" sz="2000" dirty="0">
                <a:latin typeface="宋体" panose="02010600030101010101" pitchFamily="2" charset="-122"/>
                <a:ea typeface="宋体" panose="02010600030101010101" pitchFamily="2" charset="-122"/>
              </a:rPr>
              <a:t>年代逐步出现椭圆曲线等其它公钥算法</a:t>
            </a:r>
            <a:endParaRPr lang="en-US" altLang="zh-CN" sz="2000" dirty="0">
              <a:latin typeface="宋体" panose="02010600030101010101" pitchFamily="2" charset="-122"/>
              <a:ea typeface="宋体" panose="02010600030101010101" pitchFamily="2" charset="-122"/>
            </a:endParaRPr>
          </a:p>
          <a:p>
            <a:pPr marL="342891" indent="-342891" defTabSz="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公钥密码使得发送端和接收端无密钥传输的保密通信成为可能！！</a:t>
            </a:r>
            <a:endParaRPr lang="en-US" altLang="zh-CN" sz="2000" dirty="0">
              <a:latin typeface="宋体" panose="02010600030101010101" pitchFamily="2" charset="-122"/>
              <a:ea typeface="宋体" panose="02010600030101010101" pitchFamily="2" charset="-122"/>
            </a:endParaRPr>
          </a:p>
          <a:p>
            <a:pPr marL="342891" indent="-342891" defTabSz="0">
              <a:buFont typeface="Wingdings" panose="05000000000000000000" pitchFamily="2" charset="2"/>
              <a:buChar char="l"/>
            </a:pPr>
            <a:r>
              <a:rPr lang="en-US" altLang="zh-CN" sz="2000" dirty="0">
                <a:latin typeface="宋体" panose="02010600030101010101" pitchFamily="2" charset="-122"/>
                <a:ea typeface="宋体" panose="02010600030101010101" pitchFamily="2" charset="-122"/>
              </a:rPr>
              <a:t>1976</a:t>
            </a:r>
            <a:r>
              <a:rPr lang="zh-CN" altLang="en-US" sz="2000" dirty="0">
                <a:latin typeface="宋体" panose="02010600030101010101" pitchFamily="2" charset="-122"/>
                <a:ea typeface="宋体" panose="02010600030101010101" pitchFamily="2" charset="-122"/>
              </a:rPr>
              <a:t>年以后</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对称密钥密码算法进一步发展</a:t>
            </a:r>
          </a:p>
          <a:p>
            <a:pPr marL="359991" indent="179996" defTabSz="0">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1977</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DES</a:t>
            </a:r>
            <a:r>
              <a:rPr lang="zh-CN" altLang="en-US" sz="2000" dirty="0">
                <a:latin typeface="宋体" panose="02010600030101010101" pitchFamily="2" charset="-122"/>
                <a:ea typeface="宋体" panose="02010600030101010101" pitchFamily="2" charset="-122"/>
              </a:rPr>
              <a:t>正式成为标准</a:t>
            </a:r>
          </a:p>
          <a:p>
            <a:pPr marL="359991" indent="179996" defTabSz="0">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80</a:t>
            </a:r>
            <a:r>
              <a:rPr lang="zh-CN" altLang="en-US" sz="2000" dirty="0">
                <a:latin typeface="宋体" panose="02010600030101010101" pitchFamily="2" charset="-122"/>
                <a:ea typeface="宋体" panose="02010600030101010101" pitchFamily="2" charset="-122"/>
              </a:rPr>
              <a:t>年代出现“过渡性”的“</a:t>
            </a:r>
            <a:r>
              <a:rPr lang="en-US" altLang="zh-CN" sz="2000" dirty="0">
                <a:latin typeface="宋体" panose="02010600030101010101" pitchFamily="2" charset="-122"/>
                <a:ea typeface="宋体" panose="02010600030101010101" pitchFamily="2" charset="-122"/>
              </a:rPr>
              <a:t>post DES”</a:t>
            </a:r>
            <a:r>
              <a:rPr lang="zh-CN" altLang="en-US" sz="2000" dirty="0">
                <a:latin typeface="宋体" panose="02010600030101010101" pitchFamily="2" charset="-122"/>
                <a:ea typeface="宋体" panose="02010600030101010101" pitchFamily="2" charset="-122"/>
              </a:rPr>
              <a:t>算法</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如</a:t>
            </a:r>
            <a:r>
              <a:rPr lang="en-US" altLang="zh-CN" sz="2000" dirty="0" err="1">
                <a:latin typeface="宋体" panose="02010600030101010101" pitchFamily="2" charset="-122"/>
                <a:ea typeface="宋体" panose="02010600030101010101" pitchFamily="2" charset="-122"/>
              </a:rPr>
              <a:t>IDEA,RCx,CAST</a:t>
            </a:r>
            <a:r>
              <a:rPr lang="zh-CN" altLang="en-US" sz="2000" dirty="0">
                <a:latin typeface="宋体" panose="02010600030101010101" pitchFamily="2" charset="-122"/>
                <a:ea typeface="宋体" panose="02010600030101010101" pitchFamily="2" charset="-122"/>
              </a:rPr>
              <a:t>等</a:t>
            </a:r>
          </a:p>
          <a:p>
            <a:pPr marL="359991" indent="179996" defTabSz="0">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90</a:t>
            </a:r>
            <a:r>
              <a:rPr lang="zh-CN" altLang="en-US" sz="2000" dirty="0">
                <a:latin typeface="宋体" panose="02010600030101010101" pitchFamily="2" charset="-122"/>
                <a:ea typeface="宋体" panose="02010600030101010101" pitchFamily="2" charset="-122"/>
              </a:rPr>
              <a:t>年代对称密钥密码进一步成熟 </a:t>
            </a:r>
            <a:r>
              <a:rPr lang="en-US" altLang="zh-CN" sz="2000" dirty="0">
                <a:latin typeface="宋体" panose="02010600030101010101" pitchFamily="2" charset="-122"/>
                <a:ea typeface="宋体" panose="02010600030101010101" pitchFamily="2" charset="-122"/>
              </a:rPr>
              <a:t>Rijndael,RC6,MARS, </a:t>
            </a:r>
            <a:r>
              <a:rPr lang="en-US" altLang="zh-CN" sz="2000" dirty="0" err="1">
                <a:latin typeface="宋体" panose="02010600030101010101" pitchFamily="2" charset="-122"/>
                <a:ea typeface="宋体" panose="02010600030101010101" pitchFamily="2" charset="-122"/>
              </a:rPr>
              <a:t>Twofish,Serpent</a:t>
            </a:r>
            <a:r>
              <a:rPr lang="zh-CN" altLang="en-US" sz="2000" dirty="0">
                <a:latin typeface="宋体" panose="02010600030101010101" pitchFamily="2" charset="-122"/>
                <a:ea typeface="宋体" panose="02010600030101010101" pitchFamily="2" charset="-122"/>
              </a:rPr>
              <a:t>等出现</a:t>
            </a:r>
          </a:p>
          <a:p>
            <a:pPr marL="359991" indent="179996" defTabSz="0">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2001</a:t>
            </a:r>
            <a:r>
              <a:rPr lang="zh-CN" altLang="en-US" sz="2000" dirty="0">
                <a:latin typeface="宋体" panose="02010600030101010101" pitchFamily="2" charset="-122"/>
                <a:ea typeface="宋体" panose="02010600030101010101" pitchFamily="2" charset="-122"/>
              </a:rPr>
              <a:t>年</a:t>
            </a:r>
            <a:r>
              <a:rPr lang="en-US" altLang="zh-CN" sz="2000" dirty="0">
                <a:latin typeface="宋体" panose="02010600030101010101" pitchFamily="2" charset="-122"/>
                <a:ea typeface="宋体" panose="02010600030101010101" pitchFamily="2" charset="-122"/>
              </a:rPr>
              <a:t>Rijndael</a:t>
            </a:r>
            <a:r>
              <a:rPr lang="zh-CN" altLang="en-US" sz="2000" dirty="0">
                <a:latin typeface="宋体" panose="02010600030101010101" pitchFamily="2" charset="-122"/>
                <a:ea typeface="宋体" panose="02010600030101010101" pitchFamily="2" charset="-122"/>
              </a:rPr>
              <a:t>成为</a:t>
            </a:r>
            <a:r>
              <a:rPr lang="en-US" altLang="zh-CN" sz="2000" dirty="0">
                <a:latin typeface="宋体" panose="02010600030101010101" pitchFamily="2" charset="-122"/>
                <a:ea typeface="宋体" panose="02010600030101010101" pitchFamily="2" charset="-122"/>
              </a:rPr>
              <a:t>DES</a:t>
            </a:r>
            <a:r>
              <a:rPr lang="zh-CN" altLang="en-US" sz="2000" dirty="0">
                <a:latin typeface="宋体" panose="02010600030101010101" pitchFamily="2" charset="-122"/>
                <a:ea typeface="宋体" panose="02010600030101010101" pitchFamily="2" charset="-122"/>
              </a:rPr>
              <a:t>的替代者</a:t>
            </a:r>
          </a:p>
          <a:p>
            <a:pPr marL="359991" indent="179996" defTabSz="0">
              <a:buFont typeface="Arial" panose="020B0604020202020204" pitchFamily="34" charset="0"/>
              <a:buChar char="•"/>
            </a:pP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69277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1" y="237517"/>
            <a:ext cx="3467616"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现代密码学的分类</a:t>
            </a:r>
          </a:p>
        </p:txBody>
      </p:sp>
      <p:sp>
        <p:nvSpPr>
          <p:cNvPr id="5" name="Rectangle 4">
            <a:extLst>
              <a:ext uri="{FF2B5EF4-FFF2-40B4-BE49-F238E27FC236}">
                <a16:creationId xmlns:a16="http://schemas.microsoft.com/office/drawing/2014/main" id="{588D49C8-313B-D126-A838-5A52BD2FA54E}"/>
              </a:ext>
            </a:extLst>
          </p:cNvPr>
          <p:cNvSpPr>
            <a:spLocks noChangeArrowheads="1"/>
          </p:cNvSpPr>
          <p:nvPr/>
        </p:nvSpPr>
        <p:spPr bwMode="auto">
          <a:xfrm>
            <a:off x="2758811" y="2968619"/>
            <a:ext cx="1143000" cy="5334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b="1" dirty="0"/>
              <a:t>密码学</a:t>
            </a:r>
          </a:p>
        </p:txBody>
      </p:sp>
      <p:sp>
        <p:nvSpPr>
          <p:cNvPr id="6" name="Rectangle 5">
            <a:extLst>
              <a:ext uri="{FF2B5EF4-FFF2-40B4-BE49-F238E27FC236}">
                <a16:creationId xmlns:a16="http://schemas.microsoft.com/office/drawing/2014/main" id="{80A58174-3E8F-7ABE-7894-F86F1E0B5AE8}"/>
              </a:ext>
            </a:extLst>
          </p:cNvPr>
          <p:cNvSpPr>
            <a:spLocks noChangeArrowheads="1"/>
          </p:cNvSpPr>
          <p:nvPr/>
        </p:nvSpPr>
        <p:spPr bwMode="auto">
          <a:xfrm>
            <a:off x="4168511" y="1955449"/>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密码设计（防）</a:t>
            </a:r>
          </a:p>
        </p:txBody>
      </p:sp>
      <p:sp>
        <p:nvSpPr>
          <p:cNvPr id="7" name="Rectangle 6">
            <a:extLst>
              <a:ext uri="{FF2B5EF4-FFF2-40B4-BE49-F238E27FC236}">
                <a16:creationId xmlns:a16="http://schemas.microsoft.com/office/drawing/2014/main" id="{E27FCD0F-2719-FAD9-71AD-5C6CCCB13564}"/>
              </a:ext>
            </a:extLst>
          </p:cNvPr>
          <p:cNvSpPr>
            <a:spLocks noChangeArrowheads="1"/>
          </p:cNvSpPr>
          <p:nvPr/>
        </p:nvSpPr>
        <p:spPr bwMode="auto">
          <a:xfrm>
            <a:off x="4168511" y="3936649"/>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密码分析（攻）</a:t>
            </a:r>
          </a:p>
        </p:txBody>
      </p:sp>
      <p:sp>
        <p:nvSpPr>
          <p:cNvPr id="8" name="Line 7">
            <a:extLst>
              <a:ext uri="{FF2B5EF4-FFF2-40B4-BE49-F238E27FC236}">
                <a16:creationId xmlns:a16="http://schemas.microsoft.com/office/drawing/2014/main" id="{C806A161-67C1-2D0A-C859-5FBE646BA348}"/>
              </a:ext>
            </a:extLst>
          </p:cNvPr>
          <p:cNvSpPr>
            <a:spLocks noChangeShapeType="1"/>
          </p:cNvSpPr>
          <p:nvPr/>
        </p:nvSpPr>
        <p:spPr bwMode="auto">
          <a:xfrm flipV="1">
            <a:off x="3330311" y="2184049"/>
            <a:ext cx="7620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8">
            <a:extLst>
              <a:ext uri="{FF2B5EF4-FFF2-40B4-BE49-F238E27FC236}">
                <a16:creationId xmlns:a16="http://schemas.microsoft.com/office/drawing/2014/main" id="{454C7BA0-6020-46B2-E57F-D0FA567964EC}"/>
              </a:ext>
            </a:extLst>
          </p:cNvPr>
          <p:cNvSpPr>
            <a:spLocks noChangeShapeType="1"/>
          </p:cNvSpPr>
          <p:nvPr/>
        </p:nvSpPr>
        <p:spPr bwMode="auto">
          <a:xfrm>
            <a:off x="3330311" y="3631849"/>
            <a:ext cx="685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9">
            <a:extLst>
              <a:ext uri="{FF2B5EF4-FFF2-40B4-BE49-F238E27FC236}">
                <a16:creationId xmlns:a16="http://schemas.microsoft.com/office/drawing/2014/main" id="{2815E9E5-271D-3F53-941D-7D1C2A8D4FA3}"/>
              </a:ext>
            </a:extLst>
          </p:cNvPr>
          <p:cNvSpPr>
            <a:spLocks noChangeShapeType="1"/>
          </p:cNvSpPr>
          <p:nvPr/>
        </p:nvSpPr>
        <p:spPr bwMode="auto">
          <a:xfrm>
            <a:off x="6378311" y="1574449"/>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0">
            <a:extLst>
              <a:ext uri="{FF2B5EF4-FFF2-40B4-BE49-F238E27FC236}">
                <a16:creationId xmlns:a16="http://schemas.microsoft.com/office/drawing/2014/main" id="{84C9A73C-F283-E2C1-7F90-C033C8218E40}"/>
              </a:ext>
            </a:extLst>
          </p:cNvPr>
          <p:cNvSpPr>
            <a:spLocks noChangeShapeType="1"/>
          </p:cNvSpPr>
          <p:nvPr/>
        </p:nvSpPr>
        <p:spPr bwMode="auto">
          <a:xfrm>
            <a:off x="6378311" y="1574449"/>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1">
            <a:extLst>
              <a:ext uri="{FF2B5EF4-FFF2-40B4-BE49-F238E27FC236}">
                <a16:creationId xmlns:a16="http://schemas.microsoft.com/office/drawing/2014/main" id="{E26A497B-A296-CA30-AA99-FA3A2ABC03C0}"/>
              </a:ext>
            </a:extLst>
          </p:cNvPr>
          <p:cNvSpPr>
            <a:spLocks noChangeShapeType="1"/>
          </p:cNvSpPr>
          <p:nvPr/>
        </p:nvSpPr>
        <p:spPr bwMode="auto">
          <a:xfrm>
            <a:off x="6378311" y="2793649"/>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a:extLst>
              <a:ext uri="{FF2B5EF4-FFF2-40B4-BE49-F238E27FC236}">
                <a16:creationId xmlns:a16="http://schemas.microsoft.com/office/drawing/2014/main" id="{4214F09A-FA2F-A197-19D8-9EE3E9F7870A}"/>
              </a:ext>
            </a:extLst>
          </p:cNvPr>
          <p:cNvSpPr>
            <a:spLocks noChangeShapeType="1"/>
          </p:cNvSpPr>
          <p:nvPr/>
        </p:nvSpPr>
        <p:spPr bwMode="auto">
          <a:xfrm>
            <a:off x="5921111" y="2184049"/>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a:extLst>
              <a:ext uri="{FF2B5EF4-FFF2-40B4-BE49-F238E27FC236}">
                <a16:creationId xmlns:a16="http://schemas.microsoft.com/office/drawing/2014/main" id="{93EB016B-8B69-0806-0EC6-F3566D35BF71}"/>
              </a:ext>
            </a:extLst>
          </p:cNvPr>
          <p:cNvSpPr>
            <a:spLocks noChangeShapeType="1"/>
          </p:cNvSpPr>
          <p:nvPr/>
        </p:nvSpPr>
        <p:spPr bwMode="auto">
          <a:xfrm>
            <a:off x="5921111" y="4165249"/>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a:extLst>
              <a:ext uri="{FF2B5EF4-FFF2-40B4-BE49-F238E27FC236}">
                <a16:creationId xmlns:a16="http://schemas.microsoft.com/office/drawing/2014/main" id="{7B1835BF-22F2-FAC6-7F1C-C7EF086EFA58}"/>
              </a:ext>
            </a:extLst>
          </p:cNvPr>
          <p:cNvSpPr>
            <a:spLocks noChangeShapeType="1"/>
          </p:cNvSpPr>
          <p:nvPr/>
        </p:nvSpPr>
        <p:spPr bwMode="auto">
          <a:xfrm>
            <a:off x="6378311" y="3555649"/>
            <a:ext cx="0"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a:extLst>
              <a:ext uri="{FF2B5EF4-FFF2-40B4-BE49-F238E27FC236}">
                <a16:creationId xmlns:a16="http://schemas.microsoft.com/office/drawing/2014/main" id="{C43462EA-EBC0-00C0-4BCB-90874BFF396A}"/>
              </a:ext>
            </a:extLst>
          </p:cNvPr>
          <p:cNvSpPr>
            <a:spLocks noChangeShapeType="1"/>
          </p:cNvSpPr>
          <p:nvPr/>
        </p:nvSpPr>
        <p:spPr bwMode="auto">
          <a:xfrm>
            <a:off x="6378311" y="4851049"/>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6">
            <a:extLst>
              <a:ext uri="{FF2B5EF4-FFF2-40B4-BE49-F238E27FC236}">
                <a16:creationId xmlns:a16="http://schemas.microsoft.com/office/drawing/2014/main" id="{06AA4920-E64A-2348-4E10-1D64012EE3A9}"/>
              </a:ext>
            </a:extLst>
          </p:cNvPr>
          <p:cNvSpPr>
            <a:spLocks noChangeShapeType="1"/>
          </p:cNvSpPr>
          <p:nvPr/>
        </p:nvSpPr>
        <p:spPr bwMode="auto">
          <a:xfrm>
            <a:off x="6378311" y="3555649"/>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Rectangle 17">
            <a:extLst>
              <a:ext uri="{FF2B5EF4-FFF2-40B4-BE49-F238E27FC236}">
                <a16:creationId xmlns:a16="http://schemas.microsoft.com/office/drawing/2014/main" id="{43F25F5A-A2EF-72AA-8ABB-6B0C7B98378C}"/>
              </a:ext>
            </a:extLst>
          </p:cNvPr>
          <p:cNvSpPr>
            <a:spLocks noChangeArrowheads="1"/>
          </p:cNvSpPr>
          <p:nvPr/>
        </p:nvSpPr>
        <p:spPr bwMode="auto">
          <a:xfrm>
            <a:off x="6987911" y="1345849"/>
            <a:ext cx="16002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hlinkClick r:id="" action="ppaction://hlinkshowjump?jump=nextslide">
                  <a:extLst>
                    <a:ext uri="{A12FA001-AC4F-418D-AE19-62706E023703}">
                      <ahyp:hlinkClr xmlns:ahyp="http://schemas.microsoft.com/office/drawing/2018/hyperlinkcolor" val="tx"/>
                    </a:ext>
                  </a:extLst>
                </a:hlinkClick>
              </a:rPr>
              <a:t>基本原语</a:t>
            </a:r>
            <a:endParaRPr lang="zh-CN" altLang="en-US" sz="1800" b="1" dirty="0"/>
          </a:p>
        </p:txBody>
      </p:sp>
      <p:sp>
        <p:nvSpPr>
          <p:cNvPr id="20" name="Rectangle 18">
            <a:extLst>
              <a:ext uri="{FF2B5EF4-FFF2-40B4-BE49-F238E27FC236}">
                <a16:creationId xmlns:a16="http://schemas.microsoft.com/office/drawing/2014/main" id="{BA2BACB9-7FE7-5D32-07F9-2E3C0BBA0175}"/>
              </a:ext>
            </a:extLst>
          </p:cNvPr>
          <p:cNvSpPr>
            <a:spLocks noChangeArrowheads="1"/>
          </p:cNvSpPr>
          <p:nvPr/>
        </p:nvSpPr>
        <p:spPr bwMode="auto">
          <a:xfrm>
            <a:off x="6987911" y="2565049"/>
            <a:ext cx="16002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hlinkClick r:id="rId3" action="ppaction://hlinksldjump">
                  <a:extLst>
                    <a:ext uri="{A12FA001-AC4F-418D-AE19-62706E023703}">
                      <ahyp:hlinkClr xmlns:ahyp="http://schemas.microsoft.com/office/drawing/2018/hyperlinkcolor" val="tx"/>
                    </a:ext>
                  </a:extLst>
                </a:hlinkClick>
              </a:rPr>
              <a:t>密码协议</a:t>
            </a:r>
            <a:endParaRPr lang="zh-CN" altLang="en-US" sz="1800" b="1" dirty="0"/>
          </a:p>
        </p:txBody>
      </p:sp>
      <p:sp>
        <p:nvSpPr>
          <p:cNvPr id="21" name="Rectangle 19">
            <a:extLst>
              <a:ext uri="{FF2B5EF4-FFF2-40B4-BE49-F238E27FC236}">
                <a16:creationId xmlns:a16="http://schemas.microsoft.com/office/drawing/2014/main" id="{39948D63-8149-2F81-9F2F-559936CAE7E5}"/>
              </a:ext>
            </a:extLst>
          </p:cNvPr>
          <p:cNvSpPr>
            <a:spLocks noChangeArrowheads="1"/>
          </p:cNvSpPr>
          <p:nvPr/>
        </p:nvSpPr>
        <p:spPr bwMode="auto">
          <a:xfrm>
            <a:off x="6987911" y="3327049"/>
            <a:ext cx="16002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hlinkClick r:id="rId4" action="ppaction://hlinksldjump">
                  <a:extLst>
                    <a:ext uri="{A12FA001-AC4F-418D-AE19-62706E023703}">
                      <ahyp:hlinkClr xmlns:ahyp="http://schemas.microsoft.com/office/drawing/2018/hyperlinkcolor" val="tx"/>
                    </a:ext>
                  </a:extLst>
                </a:hlinkClick>
              </a:rPr>
              <a:t>被动攻击</a:t>
            </a:r>
            <a:endParaRPr lang="zh-CN" altLang="en-US" sz="1800" b="1" dirty="0"/>
          </a:p>
        </p:txBody>
      </p:sp>
      <p:sp>
        <p:nvSpPr>
          <p:cNvPr id="22" name="Rectangle 20">
            <a:extLst>
              <a:ext uri="{FF2B5EF4-FFF2-40B4-BE49-F238E27FC236}">
                <a16:creationId xmlns:a16="http://schemas.microsoft.com/office/drawing/2014/main" id="{63945E72-B204-9DA2-A353-89E216F0690B}"/>
              </a:ext>
            </a:extLst>
          </p:cNvPr>
          <p:cNvSpPr>
            <a:spLocks noChangeArrowheads="1"/>
          </p:cNvSpPr>
          <p:nvPr/>
        </p:nvSpPr>
        <p:spPr bwMode="auto">
          <a:xfrm>
            <a:off x="6987911" y="4670255"/>
            <a:ext cx="16002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hlinkClick r:id="rId4" action="ppaction://hlinksldjump">
                  <a:extLst>
                    <a:ext uri="{A12FA001-AC4F-418D-AE19-62706E023703}">
                      <ahyp:hlinkClr xmlns:ahyp="http://schemas.microsoft.com/office/drawing/2018/hyperlinkcolor" val="tx"/>
                    </a:ext>
                  </a:extLst>
                </a:hlinkClick>
              </a:rPr>
              <a:t>主动攻击</a:t>
            </a:r>
            <a:endParaRPr lang="zh-CN" altLang="en-US" sz="1800" b="1" dirty="0"/>
          </a:p>
        </p:txBody>
      </p:sp>
    </p:spTree>
    <p:extLst>
      <p:ext uri="{BB962C8B-B14F-4D97-AF65-F5344CB8AC3E}">
        <p14:creationId xmlns:p14="http://schemas.microsoft.com/office/powerpoint/2010/main" val="211633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dissolv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dissolve">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dissolv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dissolv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dissolve">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9"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1" y="237517"/>
            <a:ext cx="3467616"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现代密码学的分类</a:t>
            </a:r>
          </a:p>
        </p:txBody>
      </p:sp>
      <p:sp>
        <p:nvSpPr>
          <p:cNvPr id="23" name="内容占位符 2">
            <a:extLst>
              <a:ext uri="{FF2B5EF4-FFF2-40B4-BE49-F238E27FC236}">
                <a16:creationId xmlns:a16="http://schemas.microsoft.com/office/drawing/2014/main" id="{651F7693-1626-793B-11D8-D3DE3F98FB2A}"/>
              </a:ext>
            </a:extLst>
          </p:cNvPr>
          <p:cNvSpPr txBox="1">
            <a:spLocks noChangeArrowheads="1"/>
          </p:cNvSpPr>
          <p:nvPr/>
        </p:nvSpPr>
        <p:spPr>
          <a:xfrm>
            <a:off x="1986795" y="1704731"/>
            <a:ext cx="8559800"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altLang="en-US"/>
              <a:t> </a:t>
            </a:r>
            <a:endParaRPr lang="en-CA" altLang="en-US" dirty="0"/>
          </a:p>
        </p:txBody>
      </p:sp>
      <p:sp>
        <p:nvSpPr>
          <p:cNvPr id="24" name="Rectangle 4">
            <a:extLst>
              <a:ext uri="{FF2B5EF4-FFF2-40B4-BE49-F238E27FC236}">
                <a16:creationId xmlns:a16="http://schemas.microsoft.com/office/drawing/2014/main" id="{4DE11CFB-E6FC-D40B-6E65-79473B7AF5D8}"/>
              </a:ext>
            </a:extLst>
          </p:cNvPr>
          <p:cNvSpPr>
            <a:spLocks noChangeArrowheads="1"/>
          </p:cNvSpPr>
          <p:nvPr/>
        </p:nvSpPr>
        <p:spPr bwMode="auto">
          <a:xfrm>
            <a:off x="2048707" y="3412881"/>
            <a:ext cx="16002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基本原语</a:t>
            </a:r>
          </a:p>
        </p:txBody>
      </p:sp>
      <p:sp>
        <p:nvSpPr>
          <p:cNvPr id="25" name="Line 5">
            <a:extLst>
              <a:ext uri="{FF2B5EF4-FFF2-40B4-BE49-F238E27FC236}">
                <a16:creationId xmlns:a16="http://schemas.microsoft.com/office/drawing/2014/main" id="{F5335E87-FC52-C462-E75E-FE003C6D2F59}"/>
              </a:ext>
            </a:extLst>
          </p:cNvPr>
          <p:cNvSpPr>
            <a:spLocks noChangeShapeType="1"/>
          </p:cNvSpPr>
          <p:nvPr/>
        </p:nvSpPr>
        <p:spPr bwMode="auto">
          <a:xfrm>
            <a:off x="3648907" y="3641481"/>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6">
            <a:extLst>
              <a:ext uri="{FF2B5EF4-FFF2-40B4-BE49-F238E27FC236}">
                <a16:creationId xmlns:a16="http://schemas.microsoft.com/office/drawing/2014/main" id="{47238B79-B2AF-EE79-187E-D9A137F67FD4}"/>
              </a:ext>
            </a:extLst>
          </p:cNvPr>
          <p:cNvSpPr>
            <a:spLocks noChangeShapeType="1"/>
          </p:cNvSpPr>
          <p:nvPr/>
        </p:nvSpPr>
        <p:spPr bwMode="auto">
          <a:xfrm>
            <a:off x="3877507" y="2041281"/>
            <a:ext cx="0" cy="3505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7">
            <a:extLst>
              <a:ext uri="{FF2B5EF4-FFF2-40B4-BE49-F238E27FC236}">
                <a16:creationId xmlns:a16="http://schemas.microsoft.com/office/drawing/2014/main" id="{AC7B7A4C-2C77-D32C-925B-016159197954}"/>
              </a:ext>
            </a:extLst>
          </p:cNvPr>
          <p:cNvSpPr>
            <a:spLocks noChangeShapeType="1"/>
          </p:cNvSpPr>
          <p:nvPr/>
        </p:nvSpPr>
        <p:spPr bwMode="auto">
          <a:xfrm>
            <a:off x="3877507" y="2041281"/>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8">
            <a:extLst>
              <a:ext uri="{FF2B5EF4-FFF2-40B4-BE49-F238E27FC236}">
                <a16:creationId xmlns:a16="http://schemas.microsoft.com/office/drawing/2014/main" id="{D5E3597A-A6F3-ED44-6A39-6733E6FBA836}"/>
              </a:ext>
            </a:extLst>
          </p:cNvPr>
          <p:cNvSpPr>
            <a:spLocks noChangeShapeType="1"/>
          </p:cNvSpPr>
          <p:nvPr/>
        </p:nvSpPr>
        <p:spPr bwMode="auto">
          <a:xfrm>
            <a:off x="3877507" y="3641481"/>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9">
            <a:extLst>
              <a:ext uri="{FF2B5EF4-FFF2-40B4-BE49-F238E27FC236}">
                <a16:creationId xmlns:a16="http://schemas.microsoft.com/office/drawing/2014/main" id="{8F1E2BDB-D649-14A5-CFCE-9E0A682FF45E}"/>
              </a:ext>
            </a:extLst>
          </p:cNvPr>
          <p:cNvSpPr>
            <a:spLocks noChangeShapeType="1"/>
          </p:cNvSpPr>
          <p:nvPr/>
        </p:nvSpPr>
        <p:spPr bwMode="auto">
          <a:xfrm>
            <a:off x="3877507" y="5546481"/>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Rectangle 10">
            <a:extLst>
              <a:ext uri="{FF2B5EF4-FFF2-40B4-BE49-F238E27FC236}">
                <a16:creationId xmlns:a16="http://schemas.microsoft.com/office/drawing/2014/main" id="{AC860B61-1C01-699C-1481-EDE513FE4812}"/>
              </a:ext>
            </a:extLst>
          </p:cNvPr>
          <p:cNvSpPr>
            <a:spLocks noChangeArrowheads="1"/>
          </p:cNvSpPr>
          <p:nvPr/>
        </p:nvSpPr>
        <p:spPr bwMode="auto">
          <a:xfrm>
            <a:off x="4334707" y="1584081"/>
            <a:ext cx="914400" cy="9144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无密钥</a:t>
            </a:r>
          </a:p>
          <a:p>
            <a:pPr algn="ctr" eaLnBrk="1" hangingPunct="1">
              <a:spcBef>
                <a:spcPct val="0"/>
              </a:spcBef>
              <a:buClrTx/>
              <a:buSzTx/>
              <a:buFontTx/>
              <a:buNone/>
            </a:pPr>
            <a:r>
              <a:rPr lang="en-US" altLang="zh-CN" sz="1800" b="1" dirty="0">
                <a:solidFill>
                  <a:srgbClr val="FF0000"/>
                </a:solidFill>
              </a:rPr>
              <a:t>(</a:t>
            </a:r>
            <a:r>
              <a:rPr lang="zh-CN" altLang="en-US" sz="1800" b="1" dirty="0">
                <a:solidFill>
                  <a:srgbClr val="FF0000"/>
                </a:solidFill>
              </a:rPr>
              <a:t>白盒</a:t>
            </a:r>
            <a:r>
              <a:rPr lang="en-US" altLang="zh-CN" sz="1800" dirty="0">
                <a:solidFill>
                  <a:srgbClr val="FF0000"/>
                </a:solidFill>
              </a:rPr>
              <a:t>)</a:t>
            </a:r>
          </a:p>
        </p:txBody>
      </p:sp>
      <p:sp>
        <p:nvSpPr>
          <p:cNvPr id="31" name="Rectangle 11">
            <a:extLst>
              <a:ext uri="{FF2B5EF4-FFF2-40B4-BE49-F238E27FC236}">
                <a16:creationId xmlns:a16="http://schemas.microsoft.com/office/drawing/2014/main" id="{F19AAAB8-7DC8-21E5-5FAC-3D6B6D0F1592}"/>
              </a:ext>
            </a:extLst>
          </p:cNvPr>
          <p:cNvSpPr>
            <a:spLocks noChangeArrowheads="1"/>
          </p:cNvSpPr>
          <p:nvPr/>
        </p:nvSpPr>
        <p:spPr bwMode="auto">
          <a:xfrm>
            <a:off x="4334707" y="3336681"/>
            <a:ext cx="914400" cy="9144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单密钥</a:t>
            </a:r>
          </a:p>
          <a:p>
            <a:pPr algn="ctr" eaLnBrk="1" hangingPunct="1">
              <a:spcBef>
                <a:spcPct val="0"/>
              </a:spcBef>
              <a:buClrTx/>
              <a:buSzTx/>
              <a:buFontTx/>
              <a:buNone/>
            </a:pPr>
            <a:r>
              <a:rPr lang="en-US" altLang="zh-CN" sz="1800" b="1" dirty="0">
                <a:solidFill>
                  <a:srgbClr val="FF0000"/>
                </a:solidFill>
              </a:rPr>
              <a:t>(</a:t>
            </a:r>
            <a:r>
              <a:rPr lang="zh-CN" altLang="en-US" sz="1800" b="1" dirty="0">
                <a:solidFill>
                  <a:srgbClr val="FF0000"/>
                </a:solidFill>
              </a:rPr>
              <a:t>一个锁，两把钥匙</a:t>
            </a:r>
            <a:r>
              <a:rPr lang="en-US" altLang="zh-CN" sz="1800" b="1" dirty="0">
                <a:solidFill>
                  <a:srgbClr val="FF0000"/>
                </a:solidFill>
              </a:rPr>
              <a:t>)</a:t>
            </a:r>
          </a:p>
        </p:txBody>
      </p:sp>
      <p:sp>
        <p:nvSpPr>
          <p:cNvPr id="32" name="Rectangle 12">
            <a:extLst>
              <a:ext uri="{FF2B5EF4-FFF2-40B4-BE49-F238E27FC236}">
                <a16:creationId xmlns:a16="http://schemas.microsoft.com/office/drawing/2014/main" id="{F025CD11-6A4D-F560-EEE3-5F322FD4ED44}"/>
              </a:ext>
            </a:extLst>
          </p:cNvPr>
          <p:cNvSpPr>
            <a:spLocks noChangeArrowheads="1"/>
          </p:cNvSpPr>
          <p:nvPr/>
        </p:nvSpPr>
        <p:spPr bwMode="auto">
          <a:xfrm>
            <a:off x="4334707" y="5089281"/>
            <a:ext cx="914400" cy="9144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双密钥</a:t>
            </a:r>
          </a:p>
          <a:p>
            <a:pPr algn="ctr" eaLnBrk="1" hangingPunct="1">
              <a:spcBef>
                <a:spcPct val="0"/>
              </a:spcBef>
              <a:buClrTx/>
              <a:buSzTx/>
              <a:buFontTx/>
              <a:buNone/>
            </a:pPr>
            <a:r>
              <a:rPr lang="en-US" altLang="zh-CN" sz="1800" b="1" dirty="0">
                <a:solidFill>
                  <a:srgbClr val="FF0000"/>
                </a:solidFill>
              </a:rPr>
              <a:t>(</a:t>
            </a:r>
            <a:r>
              <a:rPr lang="zh-CN" altLang="en-US" sz="1800" b="1" dirty="0">
                <a:solidFill>
                  <a:srgbClr val="FF0000"/>
                </a:solidFill>
              </a:rPr>
              <a:t>意见箱</a:t>
            </a:r>
            <a:r>
              <a:rPr lang="en-US" altLang="zh-CN" sz="1800" b="1" dirty="0">
                <a:solidFill>
                  <a:srgbClr val="FF0000"/>
                </a:solidFill>
              </a:rPr>
              <a:t>)</a:t>
            </a:r>
          </a:p>
          <a:p>
            <a:pPr algn="ctr" eaLnBrk="1" hangingPunct="1">
              <a:spcBef>
                <a:spcPct val="0"/>
              </a:spcBef>
              <a:buClrTx/>
              <a:buSzTx/>
              <a:buFontTx/>
              <a:buNone/>
            </a:pPr>
            <a:endParaRPr lang="en-US" altLang="zh-CN" sz="1800" dirty="0"/>
          </a:p>
        </p:txBody>
      </p:sp>
      <p:sp>
        <p:nvSpPr>
          <p:cNvPr id="33" name="Line 13">
            <a:extLst>
              <a:ext uri="{FF2B5EF4-FFF2-40B4-BE49-F238E27FC236}">
                <a16:creationId xmlns:a16="http://schemas.microsoft.com/office/drawing/2014/main" id="{47B667FA-1FD4-E4C0-0DC6-BBFB25A4E842}"/>
              </a:ext>
            </a:extLst>
          </p:cNvPr>
          <p:cNvSpPr>
            <a:spLocks noChangeShapeType="1"/>
          </p:cNvSpPr>
          <p:nvPr/>
        </p:nvSpPr>
        <p:spPr bwMode="auto">
          <a:xfrm>
            <a:off x="5249107" y="2041281"/>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4">
            <a:extLst>
              <a:ext uri="{FF2B5EF4-FFF2-40B4-BE49-F238E27FC236}">
                <a16:creationId xmlns:a16="http://schemas.microsoft.com/office/drawing/2014/main" id="{347E3F9B-C910-9DE3-C1F1-499F8D0EB8CD}"/>
              </a:ext>
            </a:extLst>
          </p:cNvPr>
          <p:cNvSpPr>
            <a:spLocks noChangeShapeType="1"/>
          </p:cNvSpPr>
          <p:nvPr/>
        </p:nvSpPr>
        <p:spPr bwMode="auto">
          <a:xfrm>
            <a:off x="5249107" y="3641481"/>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5">
            <a:extLst>
              <a:ext uri="{FF2B5EF4-FFF2-40B4-BE49-F238E27FC236}">
                <a16:creationId xmlns:a16="http://schemas.microsoft.com/office/drawing/2014/main" id="{312556C4-6738-9FD5-8516-8E355CB869F5}"/>
              </a:ext>
            </a:extLst>
          </p:cNvPr>
          <p:cNvSpPr>
            <a:spLocks noChangeShapeType="1"/>
          </p:cNvSpPr>
          <p:nvPr/>
        </p:nvSpPr>
        <p:spPr bwMode="auto">
          <a:xfrm>
            <a:off x="5249107" y="5546481"/>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6">
            <a:extLst>
              <a:ext uri="{FF2B5EF4-FFF2-40B4-BE49-F238E27FC236}">
                <a16:creationId xmlns:a16="http://schemas.microsoft.com/office/drawing/2014/main" id="{190CE11B-7DE0-6224-B572-AA646FBA1ECF}"/>
              </a:ext>
            </a:extLst>
          </p:cNvPr>
          <p:cNvSpPr>
            <a:spLocks noChangeShapeType="1"/>
          </p:cNvSpPr>
          <p:nvPr/>
        </p:nvSpPr>
        <p:spPr bwMode="auto">
          <a:xfrm>
            <a:off x="5553907" y="1431681"/>
            <a:ext cx="0"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7">
            <a:extLst>
              <a:ext uri="{FF2B5EF4-FFF2-40B4-BE49-F238E27FC236}">
                <a16:creationId xmlns:a16="http://schemas.microsoft.com/office/drawing/2014/main" id="{32381FCB-AB71-9F8F-9AAE-83E7196F7C4D}"/>
              </a:ext>
            </a:extLst>
          </p:cNvPr>
          <p:cNvSpPr>
            <a:spLocks noChangeShapeType="1"/>
          </p:cNvSpPr>
          <p:nvPr/>
        </p:nvSpPr>
        <p:spPr bwMode="auto">
          <a:xfrm>
            <a:off x="5553907" y="14316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8">
            <a:extLst>
              <a:ext uri="{FF2B5EF4-FFF2-40B4-BE49-F238E27FC236}">
                <a16:creationId xmlns:a16="http://schemas.microsoft.com/office/drawing/2014/main" id="{1B6004D8-B6DE-8BD0-1D59-880178FC0219}"/>
              </a:ext>
            </a:extLst>
          </p:cNvPr>
          <p:cNvSpPr>
            <a:spLocks noChangeShapeType="1"/>
          </p:cNvSpPr>
          <p:nvPr/>
        </p:nvSpPr>
        <p:spPr bwMode="auto">
          <a:xfrm>
            <a:off x="5553907" y="20412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9">
            <a:extLst>
              <a:ext uri="{FF2B5EF4-FFF2-40B4-BE49-F238E27FC236}">
                <a16:creationId xmlns:a16="http://schemas.microsoft.com/office/drawing/2014/main" id="{CE7E6A0F-1540-B1B3-F48E-4B119F586808}"/>
              </a:ext>
            </a:extLst>
          </p:cNvPr>
          <p:cNvSpPr>
            <a:spLocks noChangeShapeType="1"/>
          </p:cNvSpPr>
          <p:nvPr/>
        </p:nvSpPr>
        <p:spPr bwMode="auto">
          <a:xfrm>
            <a:off x="5553907" y="27270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20">
            <a:extLst>
              <a:ext uri="{FF2B5EF4-FFF2-40B4-BE49-F238E27FC236}">
                <a16:creationId xmlns:a16="http://schemas.microsoft.com/office/drawing/2014/main" id="{1520B8CC-9EF1-DFE3-6E63-23CF29A46E1D}"/>
              </a:ext>
            </a:extLst>
          </p:cNvPr>
          <p:cNvSpPr>
            <a:spLocks noChangeShapeType="1"/>
          </p:cNvSpPr>
          <p:nvPr/>
        </p:nvSpPr>
        <p:spPr bwMode="auto">
          <a:xfrm>
            <a:off x="5587245" y="3336689"/>
            <a:ext cx="0" cy="1079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21">
            <a:extLst>
              <a:ext uri="{FF2B5EF4-FFF2-40B4-BE49-F238E27FC236}">
                <a16:creationId xmlns:a16="http://schemas.microsoft.com/office/drawing/2014/main" id="{96C0ACF6-D234-749B-0080-68D39A3536E7}"/>
              </a:ext>
            </a:extLst>
          </p:cNvPr>
          <p:cNvSpPr>
            <a:spLocks noChangeShapeType="1"/>
          </p:cNvSpPr>
          <p:nvPr/>
        </p:nvSpPr>
        <p:spPr bwMode="auto">
          <a:xfrm>
            <a:off x="5553907" y="4860681"/>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2">
            <a:extLst>
              <a:ext uri="{FF2B5EF4-FFF2-40B4-BE49-F238E27FC236}">
                <a16:creationId xmlns:a16="http://schemas.microsoft.com/office/drawing/2014/main" id="{2A9AEAB7-714F-93D9-F359-3FB4A5B4425C}"/>
              </a:ext>
            </a:extLst>
          </p:cNvPr>
          <p:cNvSpPr>
            <a:spLocks noChangeShapeType="1"/>
          </p:cNvSpPr>
          <p:nvPr/>
        </p:nvSpPr>
        <p:spPr bwMode="auto">
          <a:xfrm flipV="1">
            <a:off x="5587248" y="3336681"/>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3">
            <a:extLst>
              <a:ext uri="{FF2B5EF4-FFF2-40B4-BE49-F238E27FC236}">
                <a16:creationId xmlns:a16="http://schemas.microsoft.com/office/drawing/2014/main" id="{831B031C-933C-D751-33AA-9D87D25BAEAA}"/>
              </a:ext>
            </a:extLst>
          </p:cNvPr>
          <p:cNvSpPr>
            <a:spLocks noChangeShapeType="1"/>
          </p:cNvSpPr>
          <p:nvPr/>
        </p:nvSpPr>
        <p:spPr bwMode="auto">
          <a:xfrm>
            <a:off x="5553907" y="44034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4">
            <a:extLst>
              <a:ext uri="{FF2B5EF4-FFF2-40B4-BE49-F238E27FC236}">
                <a16:creationId xmlns:a16="http://schemas.microsoft.com/office/drawing/2014/main" id="{82FA4021-FE88-61A9-176E-E824C990C1F2}"/>
              </a:ext>
            </a:extLst>
          </p:cNvPr>
          <p:cNvSpPr>
            <a:spLocks noChangeShapeType="1"/>
          </p:cNvSpPr>
          <p:nvPr/>
        </p:nvSpPr>
        <p:spPr bwMode="auto">
          <a:xfrm>
            <a:off x="5553907" y="48606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5">
            <a:extLst>
              <a:ext uri="{FF2B5EF4-FFF2-40B4-BE49-F238E27FC236}">
                <a16:creationId xmlns:a16="http://schemas.microsoft.com/office/drawing/2014/main" id="{A20DDEDA-D335-D573-A9FA-F65AB41F36ED}"/>
              </a:ext>
            </a:extLst>
          </p:cNvPr>
          <p:cNvSpPr>
            <a:spLocks noChangeShapeType="1"/>
          </p:cNvSpPr>
          <p:nvPr/>
        </p:nvSpPr>
        <p:spPr bwMode="auto">
          <a:xfrm>
            <a:off x="5553907" y="55464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Rectangle 26">
            <a:extLst>
              <a:ext uri="{FF2B5EF4-FFF2-40B4-BE49-F238E27FC236}">
                <a16:creationId xmlns:a16="http://schemas.microsoft.com/office/drawing/2014/main" id="{B6FA503F-18BA-73D1-A56B-C411EBCC4C79}"/>
              </a:ext>
            </a:extLst>
          </p:cNvPr>
          <p:cNvSpPr>
            <a:spLocks noChangeArrowheads="1"/>
          </p:cNvSpPr>
          <p:nvPr/>
        </p:nvSpPr>
        <p:spPr bwMode="auto">
          <a:xfrm>
            <a:off x="5934907" y="12030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b="1" dirty="0"/>
              <a:t>Hash</a:t>
            </a:r>
            <a:r>
              <a:rPr lang="zh-CN" altLang="en-US" sz="1800" b="1" dirty="0"/>
              <a:t>函数</a:t>
            </a:r>
          </a:p>
        </p:txBody>
      </p:sp>
      <p:sp>
        <p:nvSpPr>
          <p:cNvPr id="47" name="Rectangle 27">
            <a:extLst>
              <a:ext uri="{FF2B5EF4-FFF2-40B4-BE49-F238E27FC236}">
                <a16:creationId xmlns:a16="http://schemas.microsoft.com/office/drawing/2014/main" id="{C1C43ED9-1A54-5A83-D0F2-6DEBB72BDD1D}"/>
              </a:ext>
            </a:extLst>
          </p:cNvPr>
          <p:cNvSpPr>
            <a:spLocks noChangeArrowheads="1"/>
          </p:cNvSpPr>
          <p:nvPr/>
        </p:nvSpPr>
        <p:spPr bwMode="auto">
          <a:xfrm>
            <a:off x="5934907" y="1812681"/>
            <a:ext cx="20574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随机序列生成器</a:t>
            </a:r>
          </a:p>
        </p:txBody>
      </p:sp>
      <p:sp>
        <p:nvSpPr>
          <p:cNvPr id="48" name="Rectangle 28">
            <a:extLst>
              <a:ext uri="{FF2B5EF4-FFF2-40B4-BE49-F238E27FC236}">
                <a16:creationId xmlns:a16="http://schemas.microsoft.com/office/drawing/2014/main" id="{16F8E3B2-FD42-65F4-35D7-3982FDFD460A}"/>
              </a:ext>
            </a:extLst>
          </p:cNvPr>
          <p:cNvSpPr>
            <a:spLocks noChangeArrowheads="1"/>
          </p:cNvSpPr>
          <p:nvPr/>
        </p:nvSpPr>
        <p:spPr bwMode="auto">
          <a:xfrm>
            <a:off x="5934907" y="24222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单向函数</a:t>
            </a:r>
          </a:p>
        </p:txBody>
      </p:sp>
      <p:sp>
        <p:nvSpPr>
          <p:cNvPr id="49" name="Rectangle 29">
            <a:extLst>
              <a:ext uri="{FF2B5EF4-FFF2-40B4-BE49-F238E27FC236}">
                <a16:creationId xmlns:a16="http://schemas.microsoft.com/office/drawing/2014/main" id="{00346CD9-F3A8-7530-D6C0-85A5579928AE}"/>
              </a:ext>
            </a:extLst>
          </p:cNvPr>
          <p:cNvSpPr>
            <a:spLocks noChangeArrowheads="1"/>
          </p:cNvSpPr>
          <p:nvPr/>
        </p:nvSpPr>
        <p:spPr bwMode="auto">
          <a:xfrm>
            <a:off x="5947607" y="31207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对称加密</a:t>
            </a:r>
          </a:p>
        </p:txBody>
      </p:sp>
      <p:sp>
        <p:nvSpPr>
          <p:cNvPr id="50" name="Rectangle 30">
            <a:extLst>
              <a:ext uri="{FF2B5EF4-FFF2-40B4-BE49-F238E27FC236}">
                <a16:creationId xmlns:a16="http://schemas.microsoft.com/office/drawing/2014/main" id="{F8A264FE-ABB4-4868-B56B-6850B8A37328}"/>
              </a:ext>
            </a:extLst>
          </p:cNvPr>
          <p:cNvSpPr>
            <a:spLocks noChangeArrowheads="1"/>
          </p:cNvSpPr>
          <p:nvPr/>
        </p:nvSpPr>
        <p:spPr bwMode="auto">
          <a:xfrm>
            <a:off x="5934907" y="40986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消息鉴别码</a:t>
            </a:r>
          </a:p>
        </p:txBody>
      </p:sp>
      <p:sp>
        <p:nvSpPr>
          <p:cNvPr id="51" name="Rectangle 31">
            <a:extLst>
              <a:ext uri="{FF2B5EF4-FFF2-40B4-BE49-F238E27FC236}">
                <a16:creationId xmlns:a16="http://schemas.microsoft.com/office/drawing/2014/main" id="{FEC07402-70B5-B1CD-66D7-8BCF35AA22A2}"/>
              </a:ext>
            </a:extLst>
          </p:cNvPr>
          <p:cNvSpPr>
            <a:spLocks noChangeArrowheads="1"/>
          </p:cNvSpPr>
          <p:nvPr/>
        </p:nvSpPr>
        <p:spPr bwMode="auto">
          <a:xfrm>
            <a:off x="5934907" y="46320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公钥加密</a:t>
            </a:r>
          </a:p>
        </p:txBody>
      </p:sp>
      <p:sp>
        <p:nvSpPr>
          <p:cNvPr id="52" name="Rectangle 32">
            <a:extLst>
              <a:ext uri="{FF2B5EF4-FFF2-40B4-BE49-F238E27FC236}">
                <a16:creationId xmlns:a16="http://schemas.microsoft.com/office/drawing/2014/main" id="{8EC67024-B053-6579-C333-938B779DA9EF}"/>
              </a:ext>
            </a:extLst>
          </p:cNvPr>
          <p:cNvSpPr>
            <a:spLocks noChangeArrowheads="1"/>
          </p:cNvSpPr>
          <p:nvPr/>
        </p:nvSpPr>
        <p:spPr bwMode="auto">
          <a:xfrm>
            <a:off x="5934907" y="53178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数字签名</a:t>
            </a:r>
          </a:p>
        </p:txBody>
      </p:sp>
      <p:sp>
        <p:nvSpPr>
          <p:cNvPr id="53" name="Line 33">
            <a:extLst>
              <a:ext uri="{FF2B5EF4-FFF2-40B4-BE49-F238E27FC236}">
                <a16:creationId xmlns:a16="http://schemas.microsoft.com/office/drawing/2014/main" id="{5B2CF400-345D-4F3C-78C0-0B7717BACA9B}"/>
              </a:ext>
            </a:extLst>
          </p:cNvPr>
          <p:cNvSpPr>
            <a:spLocks noChangeShapeType="1"/>
          </p:cNvSpPr>
          <p:nvPr/>
        </p:nvSpPr>
        <p:spPr bwMode="auto">
          <a:xfrm>
            <a:off x="7747831" y="3265243"/>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34">
            <a:extLst>
              <a:ext uri="{FF2B5EF4-FFF2-40B4-BE49-F238E27FC236}">
                <a16:creationId xmlns:a16="http://schemas.microsoft.com/office/drawing/2014/main" id="{31463CF2-4C16-AFA7-FA70-4BE35085A545}"/>
              </a:ext>
            </a:extLst>
          </p:cNvPr>
          <p:cNvSpPr>
            <a:spLocks noChangeShapeType="1"/>
          </p:cNvSpPr>
          <p:nvPr/>
        </p:nvSpPr>
        <p:spPr bwMode="auto">
          <a:xfrm>
            <a:off x="8068507" y="2498481"/>
            <a:ext cx="0"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35">
            <a:extLst>
              <a:ext uri="{FF2B5EF4-FFF2-40B4-BE49-F238E27FC236}">
                <a16:creationId xmlns:a16="http://schemas.microsoft.com/office/drawing/2014/main" id="{CE416C48-CB2A-D72F-0330-90B010B82F14}"/>
              </a:ext>
            </a:extLst>
          </p:cNvPr>
          <p:cNvSpPr>
            <a:spLocks noChangeShapeType="1"/>
          </p:cNvSpPr>
          <p:nvPr/>
        </p:nvSpPr>
        <p:spPr bwMode="auto">
          <a:xfrm>
            <a:off x="8068507" y="24984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36">
            <a:extLst>
              <a:ext uri="{FF2B5EF4-FFF2-40B4-BE49-F238E27FC236}">
                <a16:creationId xmlns:a16="http://schemas.microsoft.com/office/drawing/2014/main" id="{40D07674-A203-EADA-EA1F-0407C8DB1A0E}"/>
              </a:ext>
            </a:extLst>
          </p:cNvPr>
          <p:cNvSpPr>
            <a:spLocks noChangeShapeType="1"/>
          </p:cNvSpPr>
          <p:nvPr/>
        </p:nvSpPr>
        <p:spPr bwMode="auto">
          <a:xfrm>
            <a:off x="8068507" y="3793881"/>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Rectangle 37">
            <a:extLst>
              <a:ext uri="{FF2B5EF4-FFF2-40B4-BE49-F238E27FC236}">
                <a16:creationId xmlns:a16="http://schemas.microsoft.com/office/drawing/2014/main" id="{190DEB84-13F2-F390-389D-2A8EE29D448C}"/>
              </a:ext>
            </a:extLst>
          </p:cNvPr>
          <p:cNvSpPr>
            <a:spLocks noChangeArrowheads="1"/>
          </p:cNvSpPr>
          <p:nvPr/>
        </p:nvSpPr>
        <p:spPr bwMode="auto">
          <a:xfrm>
            <a:off x="8449507" y="22698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流密码</a:t>
            </a:r>
          </a:p>
        </p:txBody>
      </p:sp>
      <p:sp>
        <p:nvSpPr>
          <p:cNvPr id="58" name="Rectangle 38">
            <a:extLst>
              <a:ext uri="{FF2B5EF4-FFF2-40B4-BE49-F238E27FC236}">
                <a16:creationId xmlns:a16="http://schemas.microsoft.com/office/drawing/2014/main" id="{CD01712A-B349-D911-28E1-B4212DFC1925}"/>
              </a:ext>
            </a:extLst>
          </p:cNvPr>
          <p:cNvSpPr>
            <a:spLocks noChangeArrowheads="1"/>
          </p:cNvSpPr>
          <p:nvPr/>
        </p:nvSpPr>
        <p:spPr bwMode="auto">
          <a:xfrm>
            <a:off x="8449507" y="3565281"/>
            <a:ext cx="18288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分组密码</a:t>
            </a:r>
          </a:p>
        </p:txBody>
      </p:sp>
    </p:spTree>
    <p:extLst>
      <p:ext uri="{BB962C8B-B14F-4D97-AF65-F5344CB8AC3E}">
        <p14:creationId xmlns:p14="http://schemas.microsoft.com/office/powerpoint/2010/main" val="135168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dissolv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dissolve">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dissolve">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dissolve">
                                      <p:cBhvr>
                                        <p:cTn id="39" dur="500"/>
                                        <p:tgtEl>
                                          <p:spTgt spid="2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dissolv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dissolve">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dissolve">
                                      <p:cBhvr>
                                        <p:cTn id="58" dur="500"/>
                                        <p:tgtEl>
                                          <p:spTgt spid="37"/>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dissolve">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dissolve">
                                      <p:cBhvr>
                                        <p:cTn id="76" dur="500"/>
                                        <p:tgtEl>
                                          <p:spTgt spid="39"/>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dissolve">
                                      <p:cBhvr>
                                        <p:cTn id="85" dur="500"/>
                                        <p:tgtEl>
                                          <p:spTgt spid="34"/>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dissolve">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dissolve">
                                      <p:cBhvr>
                                        <p:cTn id="95" dur="500"/>
                                        <p:tgtEl>
                                          <p:spTgt spid="42"/>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nodeType="click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dissolve">
                                      <p:cBhvr>
                                        <p:cTn id="104" dur="500"/>
                                        <p:tgtEl>
                                          <p:spTgt spid="53"/>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dissolve">
                                      <p:cBhvr>
                                        <p:cTn id="109" dur="500"/>
                                        <p:tgtEl>
                                          <p:spTgt spid="54"/>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nodeType="clickEffect">
                                  <p:stCondLst>
                                    <p:cond delay="0"/>
                                  </p:stCondLst>
                                  <p:childTnLst>
                                    <p:set>
                                      <p:cBhvr>
                                        <p:cTn id="113" dur="1" fill="hold">
                                          <p:stCondLst>
                                            <p:cond delay="0"/>
                                          </p:stCondLst>
                                        </p:cTn>
                                        <p:tgtEl>
                                          <p:spTgt spid="55"/>
                                        </p:tgtEl>
                                        <p:attrNameLst>
                                          <p:attrName>style.visibility</p:attrName>
                                        </p:attrNameLst>
                                      </p:cBhvr>
                                      <p:to>
                                        <p:strVal val="visible"/>
                                      </p:to>
                                    </p:set>
                                    <p:animEffect transition="in" filter="dissolve">
                                      <p:cBhvr>
                                        <p:cTn id="114" dur="500"/>
                                        <p:tgtEl>
                                          <p:spTgt spid="55"/>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nodeType="clickEffect">
                                  <p:stCondLst>
                                    <p:cond delay="0"/>
                                  </p:stCondLst>
                                  <p:childTnLst>
                                    <p:set>
                                      <p:cBhvr>
                                        <p:cTn id="122" dur="1" fill="hold">
                                          <p:stCondLst>
                                            <p:cond delay="0"/>
                                          </p:stCondLst>
                                        </p:cTn>
                                        <p:tgtEl>
                                          <p:spTgt spid="56"/>
                                        </p:tgtEl>
                                        <p:attrNameLst>
                                          <p:attrName>style.visibility</p:attrName>
                                        </p:attrNameLst>
                                      </p:cBhvr>
                                      <p:to>
                                        <p:strVal val="visible"/>
                                      </p:to>
                                    </p:set>
                                    <p:animEffect transition="in" filter="dissolve">
                                      <p:cBhvr>
                                        <p:cTn id="123" dur="500"/>
                                        <p:tgtEl>
                                          <p:spTgt spid="56"/>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58"/>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nodeType="click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dissolve">
                                      <p:cBhvr>
                                        <p:cTn id="132" dur="500"/>
                                        <p:tgtEl>
                                          <p:spTgt spid="43"/>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43"/>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50"/>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nodeType="clickEffect">
                                  <p:stCondLst>
                                    <p:cond delay="0"/>
                                  </p:stCondLst>
                                  <p:childTnLst>
                                    <p:set>
                                      <p:cBhvr>
                                        <p:cTn id="144" dur="1" fill="hold">
                                          <p:stCondLst>
                                            <p:cond delay="0"/>
                                          </p:stCondLst>
                                        </p:cTn>
                                        <p:tgtEl>
                                          <p:spTgt spid="35"/>
                                        </p:tgtEl>
                                        <p:attrNameLst>
                                          <p:attrName>style.visibility</p:attrName>
                                        </p:attrNameLst>
                                      </p:cBhvr>
                                      <p:to>
                                        <p:strVal val="visible"/>
                                      </p:to>
                                    </p:set>
                                    <p:animEffect transition="in" filter="dissolve">
                                      <p:cBhvr>
                                        <p:cTn id="145" dur="500"/>
                                        <p:tgtEl>
                                          <p:spTgt spid="35"/>
                                        </p:tgtEl>
                                      </p:cBhvr>
                                    </p:animEffec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nodeType="clickEffect">
                                  <p:stCondLst>
                                    <p:cond delay="0"/>
                                  </p:stCondLst>
                                  <p:childTnLst>
                                    <p:set>
                                      <p:cBhvr>
                                        <p:cTn id="149" dur="1" fill="hold">
                                          <p:stCondLst>
                                            <p:cond delay="0"/>
                                          </p:stCondLst>
                                        </p:cTn>
                                        <p:tgtEl>
                                          <p:spTgt spid="41"/>
                                        </p:tgtEl>
                                        <p:attrNameLst>
                                          <p:attrName>style.visibility</p:attrName>
                                        </p:attrNameLst>
                                      </p:cBhvr>
                                      <p:to>
                                        <p:strVal val="visible"/>
                                      </p:to>
                                    </p:set>
                                    <p:animEffect transition="in" filter="dissolve">
                                      <p:cBhvr>
                                        <p:cTn id="150" dur="500"/>
                                        <p:tgtEl>
                                          <p:spTgt spid="41"/>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nodeType="clickEffect">
                                  <p:stCondLst>
                                    <p:cond delay="0"/>
                                  </p:stCondLst>
                                  <p:childTnLst>
                                    <p:set>
                                      <p:cBhvr>
                                        <p:cTn id="154" dur="1" fill="hold">
                                          <p:stCondLst>
                                            <p:cond delay="0"/>
                                          </p:stCondLst>
                                        </p:cTn>
                                        <p:tgtEl>
                                          <p:spTgt spid="44"/>
                                        </p:tgtEl>
                                        <p:attrNameLst>
                                          <p:attrName>style.visibility</p:attrName>
                                        </p:attrNameLst>
                                      </p:cBhvr>
                                      <p:to>
                                        <p:strVal val="visible"/>
                                      </p:to>
                                    </p:set>
                                    <p:animEffect transition="in" filter="dissolve">
                                      <p:cBhvr>
                                        <p:cTn id="155" dur="500"/>
                                        <p:tgtEl>
                                          <p:spTgt spid="44"/>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51"/>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9" presetClass="entr" presetSubtype="0" fill="hold" nodeType="clickEffect">
                                  <p:stCondLst>
                                    <p:cond delay="0"/>
                                  </p:stCondLst>
                                  <p:childTnLst>
                                    <p:set>
                                      <p:cBhvr>
                                        <p:cTn id="163" dur="1" fill="hold">
                                          <p:stCondLst>
                                            <p:cond delay="0"/>
                                          </p:stCondLst>
                                        </p:cTn>
                                        <p:tgtEl>
                                          <p:spTgt spid="45"/>
                                        </p:tgtEl>
                                        <p:attrNameLst>
                                          <p:attrName>style.visibility</p:attrName>
                                        </p:attrNameLst>
                                      </p:cBhvr>
                                      <p:to>
                                        <p:strVal val="visible"/>
                                      </p:to>
                                    </p:set>
                                    <p:animEffect transition="in" filter="dissolve">
                                      <p:cBhvr>
                                        <p:cTn id="164" dur="500"/>
                                        <p:tgtEl>
                                          <p:spTgt spid="45"/>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0" grpId="0" animBg="1"/>
      <p:bldP spid="31" grpId="0" animBg="1"/>
      <p:bldP spid="32" grpId="0" animBg="1"/>
      <p:bldP spid="46" grpId="0" animBg="1"/>
      <p:bldP spid="47" grpId="0" animBg="1"/>
      <p:bldP spid="48" grpId="0" animBg="1"/>
      <p:bldP spid="49" grpId="0" animBg="1"/>
      <p:bldP spid="50" grpId="0" animBg="1"/>
      <p:bldP spid="51" grpId="0" animBg="1"/>
      <p:bldP spid="52" grpId="0" animBg="1"/>
      <p:bldP spid="57" grpId="0" animBg="1"/>
      <p:bldP spid="5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11" y="237517"/>
            <a:ext cx="3467616" cy="584775"/>
          </a:xfrm>
          <a:prstGeom prst="rect">
            <a:avLst/>
          </a:prstGeom>
          <a:noFill/>
        </p:spPr>
        <p:txBody>
          <a:bodyPr wrap="none" rtlCol="0">
            <a:spAutoFit/>
          </a:bodyPr>
          <a:lstStyle/>
          <a:p>
            <a:pPr defTabSz="914332">
              <a:defRPr/>
            </a:pPr>
            <a:r>
              <a:rPr kumimoji="1" lang="zh-CN" altLang="en-US" sz="3200" dirty="0">
                <a:solidFill>
                  <a:srgbClr val="44546A"/>
                </a:solidFill>
                <a:cs typeface="+mn-ea"/>
                <a:sym typeface="+mn-lt"/>
              </a:rPr>
              <a:t>现代密码学的分类</a:t>
            </a:r>
          </a:p>
        </p:txBody>
      </p:sp>
      <p:sp>
        <p:nvSpPr>
          <p:cNvPr id="23" name="Rectangle 4">
            <a:extLst>
              <a:ext uri="{FF2B5EF4-FFF2-40B4-BE49-F238E27FC236}">
                <a16:creationId xmlns:a16="http://schemas.microsoft.com/office/drawing/2014/main" id="{B2446BA6-DDB9-EB74-6B44-FB69FEBF9C72}"/>
              </a:ext>
            </a:extLst>
          </p:cNvPr>
          <p:cNvSpPr>
            <a:spLocks noChangeArrowheads="1"/>
          </p:cNvSpPr>
          <p:nvPr/>
        </p:nvSpPr>
        <p:spPr bwMode="auto">
          <a:xfrm>
            <a:off x="3073029" y="34290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dirty="0"/>
              <a:t>密码协议</a:t>
            </a:r>
          </a:p>
        </p:txBody>
      </p:sp>
      <p:sp>
        <p:nvSpPr>
          <p:cNvPr id="24" name="Line 5">
            <a:extLst>
              <a:ext uri="{FF2B5EF4-FFF2-40B4-BE49-F238E27FC236}">
                <a16:creationId xmlns:a16="http://schemas.microsoft.com/office/drawing/2014/main" id="{8221B5ED-7CFD-26B1-751E-E10C9782F80E}"/>
              </a:ext>
            </a:extLst>
          </p:cNvPr>
          <p:cNvSpPr>
            <a:spLocks noChangeShapeType="1"/>
          </p:cNvSpPr>
          <p:nvPr/>
        </p:nvSpPr>
        <p:spPr bwMode="auto">
          <a:xfrm>
            <a:off x="4825629" y="3657600"/>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5" name="Line 6">
            <a:extLst>
              <a:ext uri="{FF2B5EF4-FFF2-40B4-BE49-F238E27FC236}">
                <a16:creationId xmlns:a16="http://schemas.microsoft.com/office/drawing/2014/main" id="{229AA529-CE38-836C-232B-F6DBA51643B1}"/>
              </a:ext>
            </a:extLst>
          </p:cNvPr>
          <p:cNvSpPr>
            <a:spLocks noChangeShapeType="1"/>
          </p:cNvSpPr>
          <p:nvPr/>
        </p:nvSpPr>
        <p:spPr bwMode="auto">
          <a:xfrm>
            <a:off x="5100267" y="1641480"/>
            <a:ext cx="0" cy="3311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6" name="Line 7">
            <a:extLst>
              <a:ext uri="{FF2B5EF4-FFF2-40B4-BE49-F238E27FC236}">
                <a16:creationId xmlns:a16="http://schemas.microsoft.com/office/drawing/2014/main" id="{653C2908-6BCD-5C8A-8165-CDB461AE12AD}"/>
              </a:ext>
            </a:extLst>
          </p:cNvPr>
          <p:cNvSpPr>
            <a:spLocks noChangeShapeType="1"/>
          </p:cNvSpPr>
          <p:nvPr/>
        </p:nvSpPr>
        <p:spPr bwMode="auto">
          <a:xfrm>
            <a:off x="5130429" y="1676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7" name="Line 8">
            <a:extLst>
              <a:ext uri="{FF2B5EF4-FFF2-40B4-BE49-F238E27FC236}">
                <a16:creationId xmlns:a16="http://schemas.microsoft.com/office/drawing/2014/main" id="{EB36B18E-B1F0-2D79-FE81-6AE29944CD0B}"/>
              </a:ext>
            </a:extLst>
          </p:cNvPr>
          <p:cNvSpPr>
            <a:spLocks noChangeShapeType="1"/>
          </p:cNvSpPr>
          <p:nvPr/>
        </p:nvSpPr>
        <p:spPr bwMode="auto">
          <a:xfrm>
            <a:off x="5130429" y="22098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8" name="Line 9">
            <a:extLst>
              <a:ext uri="{FF2B5EF4-FFF2-40B4-BE49-F238E27FC236}">
                <a16:creationId xmlns:a16="http://schemas.microsoft.com/office/drawing/2014/main" id="{EFD85118-3EF8-E686-EA4C-51B50CF2682C}"/>
              </a:ext>
            </a:extLst>
          </p:cNvPr>
          <p:cNvSpPr>
            <a:spLocks noChangeShapeType="1"/>
          </p:cNvSpPr>
          <p:nvPr/>
        </p:nvSpPr>
        <p:spPr bwMode="auto">
          <a:xfrm>
            <a:off x="5130429" y="2743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29" name="Line 10">
            <a:extLst>
              <a:ext uri="{FF2B5EF4-FFF2-40B4-BE49-F238E27FC236}">
                <a16:creationId xmlns:a16="http://schemas.microsoft.com/office/drawing/2014/main" id="{5DF6B72D-8AF0-5397-5E2A-D5B224A7555E}"/>
              </a:ext>
            </a:extLst>
          </p:cNvPr>
          <p:cNvSpPr>
            <a:spLocks noChangeShapeType="1"/>
          </p:cNvSpPr>
          <p:nvPr/>
        </p:nvSpPr>
        <p:spPr bwMode="auto">
          <a:xfrm>
            <a:off x="5130429" y="32766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30" name="Line 11">
            <a:extLst>
              <a:ext uri="{FF2B5EF4-FFF2-40B4-BE49-F238E27FC236}">
                <a16:creationId xmlns:a16="http://schemas.microsoft.com/office/drawing/2014/main" id="{ECFCC2CD-A908-E982-F2DE-55EF55526B34}"/>
              </a:ext>
            </a:extLst>
          </p:cNvPr>
          <p:cNvSpPr>
            <a:spLocks noChangeShapeType="1"/>
          </p:cNvSpPr>
          <p:nvPr/>
        </p:nvSpPr>
        <p:spPr bwMode="auto">
          <a:xfrm>
            <a:off x="5130429" y="3886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31" name="Rectangle 12">
            <a:extLst>
              <a:ext uri="{FF2B5EF4-FFF2-40B4-BE49-F238E27FC236}">
                <a16:creationId xmlns:a16="http://schemas.microsoft.com/office/drawing/2014/main" id="{9914A8D6-E691-20C2-EA03-00CE728CFBD1}"/>
              </a:ext>
            </a:extLst>
          </p:cNvPr>
          <p:cNvSpPr>
            <a:spLocks noChangeArrowheads="1"/>
          </p:cNvSpPr>
          <p:nvPr/>
        </p:nvSpPr>
        <p:spPr bwMode="auto">
          <a:xfrm>
            <a:off x="5968629" y="14478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密钥管理</a:t>
            </a:r>
          </a:p>
        </p:txBody>
      </p:sp>
      <p:sp>
        <p:nvSpPr>
          <p:cNvPr id="32" name="Rectangle 13">
            <a:extLst>
              <a:ext uri="{FF2B5EF4-FFF2-40B4-BE49-F238E27FC236}">
                <a16:creationId xmlns:a16="http://schemas.microsoft.com/office/drawing/2014/main" id="{5F0A7C75-F9E0-1453-D62D-C096D064632A}"/>
              </a:ext>
            </a:extLst>
          </p:cNvPr>
          <p:cNvSpPr>
            <a:spLocks noChangeArrowheads="1"/>
          </p:cNvSpPr>
          <p:nvPr/>
        </p:nvSpPr>
        <p:spPr bwMode="auto">
          <a:xfrm>
            <a:off x="5968629" y="19812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身份鉴别</a:t>
            </a:r>
          </a:p>
        </p:txBody>
      </p:sp>
      <p:sp>
        <p:nvSpPr>
          <p:cNvPr id="33" name="Rectangle 14">
            <a:extLst>
              <a:ext uri="{FF2B5EF4-FFF2-40B4-BE49-F238E27FC236}">
                <a16:creationId xmlns:a16="http://schemas.microsoft.com/office/drawing/2014/main" id="{180A45AD-FDA8-540D-F626-30560DE714E2}"/>
              </a:ext>
            </a:extLst>
          </p:cNvPr>
          <p:cNvSpPr>
            <a:spLocks noChangeArrowheads="1"/>
          </p:cNvSpPr>
          <p:nvPr/>
        </p:nvSpPr>
        <p:spPr bwMode="auto">
          <a:xfrm>
            <a:off x="5968629" y="25146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安全多方计算</a:t>
            </a:r>
          </a:p>
        </p:txBody>
      </p:sp>
      <p:sp>
        <p:nvSpPr>
          <p:cNvPr id="34" name="Rectangle 15">
            <a:extLst>
              <a:ext uri="{FF2B5EF4-FFF2-40B4-BE49-F238E27FC236}">
                <a16:creationId xmlns:a16="http://schemas.microsoft.com/office/drawing/2014/main" id="{CC30E9A9-78C1-47F3-12F6-C0E0461838DD}"/>
              </a:ext>
            </a:extLst>
          </p:cNvPr>
          <p:cNvSpPr>
            <a:spLocks noChangeArrowheads="1"/>
          </p:cNvSpPr>
          <p:nvPr/>
        </p:nvSpPr>
        <p:spPr bwMode="auto">
          <a:xfrm>
            <a:off x="5968629" y="30480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电子货币</a:t>
            </a:r>
          </a:p>
        </p:txBody>
      </p:sp>
      <p:sp>
        <p:nvSpPr>
          <p:cNvPr id="35" name="Rectangle 16">
            <a:extLst>
              <a:ext uri="{FF2B5EF4-FFF2-40B4-BE49-F238E27FC236}">
                <a16:creationId xmlns:a16="http://schemas.microsoft.com/office/drawing/2014/main" id="{DA88725C-A835-C328-1ECC-B3E89D23BD2B}"/>
              </a:ext>
            </a:extLst>
          </p:cNvPr>
          <p:cNvSpPr>
            <a:spLocks noChangeArrowheads="1"/>
          </p:cNvSpPr>
          <p:nvPr/>
        </p:nvSpPr>
        <p:spPr bwMode="auto">
          <a:xfrm>
            <a:off x="5968629" y="36576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电子选举</a:t>
            </a:r>
          </a:p>
        </p:txBody>
      </p:sp>
      <p:sp>
        <p:nvSpPr>
          <p:cNvPr id="36" name="Line 18">
            <a:extLst>
              <a:ext uri="{FF2B5EF4-FFF2-40B4-BE49-F238E27FC236}">
                <a16:creationId xmlns:a16="http://schemas.microsoft.com/office/drawing/2014/main" id="{7D8CC0CC-5FAA-F7CF-8891-61B79D151C24}"/>
              </a:ext>
            </a:extLst>
          </p:cNvPr>
          <p:cNvSpPr>
            <a:spLocks noChangeShapeType="1"/>
          </p:cNvSpPr>
          <p:nvPr/>
        </p:nvSpPr>
        <p:spPr bwMode="auto">
          <a:xfrm>
            <a:off x="5130429" y="44958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37" name="Rectangle 19">
            <a:extLst>
              <a:ext uri="{FF2B5EF4-FFF2-40B4-BE49-F238E27FC236}">
                <a16:creationId xmlns:a16="http://schemas.microsoft.com/office/drawing/2014/main" id="{2A924E61-B49B-2FDB-AE8E-D65F8201C867}"/>
              </a:ext>
            </a:extLst>
          </p:cNvPr>
          <p:cNvSpPr>
            <a:spLocks noChangeArrowheads="1"/>
          </p:cNvSpPr>
          <p:nvPr/>
        </p:nvSpPr>
        <p:spPr bwMode="auto">
          <a:xfrm>
            <a:off x="5968629" y="42672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电子拍卖</a:t>
            </a:r>
          </a:p>
        </p:txBody>
      </p:sp>
      <p:sp>
        <p:nvSpPr>
          <p:cNvPr id="38" name="Line 20">
            <a:extLst>
              <a:ext uri="{FF2B5EF4-FFF2-40B4-BE49-F238E27FC236}">
                <a16:creationId xmlns:a16="http://schemas.microsoft.com/office/drawing/2014/main" id="{B0F422B5-8893-B6F2-E3ED-B48D7AA97540}"/>
              </a:ext>
            </a:extLst>
          </p:cNvPr>
          <p:cNvSpPr>
            <a:spLocks noChangeShapeType="1"/>
          </p:cNvSpPr>
          <p:nvPr/>
        </p:nvSpPr>
        <p:spPr bwMode="auto">
          <a:xfrm>
            <a:off x="5130429" y="50292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sp>
        <p:nvSpPr>
          <p:cNvPr id="39" name="Rectangle 21">
            <a:extLst>
              <a:ext uri="{FF2B5EF4-FFF2-40B4-BE49-F238E27FC236}">
                <a16:creationId xmlns:a16="http://schemas.microsoft.com/office/drawing/2014/main" id="{DF2777D8-882E-94C2-D11D-03AC29E4BE95}"/>
              </a:ext>
            </a:extLst>
          </p:cNvPr>
          <p:cNvSpPr>
            <a:spLocks noChangeArrowheads="1"/>
          </p:cNvSpPr>
          <p:nvPr/>
        </p:nvSpPr>
        <p:spPr bwMode="auto">
          <a:xfrm>
            <a:off x="5968629" y="4800600"/>
            <a:ext cx="1752600" cy="457200"/>
          </a:xfrm>
          <a:prstGeom prst="rect">
            <a:avLst/>
          </a:prstGeom>
          <a:solidFill>
            <a:schemeClr val="bg2"/>
          </a:solidFill>
          <a:ln w="9525">
            <a:solidFill>
              <a:schemeClr val="tx1"/>
            </a:solidFill>
            <a:miter lim="800000"/>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a:t>零知识证明</a:t>
            </a:r>
          </a:p>
        </p:txBody>
      </p:sp>
    </p:spTree>
    <p:extLst>
      <p:ext uri="{BB962C8B-B14F-4D97-AF65-F5344CB8AC3E}">
        <p14:creationId xmlns:p14="http://schemas.microsoft.com/office/powerpoint/2010/main" val="8437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dissolv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dissolv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dissolv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dissolv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dissolve">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dissolve">
                                      <p:cBhvr>
                                        <p:cTn id="75" dur="500"/>
                                        <p:tgtEl>
                                          <p:spTgt spid="38"/>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animBg="1"/>
      <p:bldP spid="32" grpId="0" animBg="1"/>
      <p:bldP spid="33" grpId="0" animBg="1"/>
      <p:bldP spid="34" grpId="0" animBg="1"/>
      <p:bldP spid="35" grpId="0" animBg="1"/>
      <p:bldP spid="37" grpId="0" animBg="1"/>
      <p:bldP spid="3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3467616"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p>
        </p:txBody>
      </p:sp>
      <p:grpSp>
        <p:nvGrpSpPr>
          <p:cNvPr id="35" name="Group 6">
            <a:extLst>
              <a:ext uri="{FF2B5EF4-FFF2-40B4-BE49-F238E27FC236}">
                <a16:creationId xmlns:a16="http://schemas.microsoft.com/office/drawing/2014/main" id="{5B1D6B75-B176-481F-8495-AA717704F79C}"/>
              </a:ext>
            </a:extLst>
          </p:cNvPr>
          <p:cNvGrpSpPr/>
          <p:nvPr/>
        </p:nvGrpSpPr>
        <p:grpSpPr bwMode="auto">
          <a:xfrm>
            <a:off x="436767" y="1993284"/>
            <a:ext cx="910341" cy="910513"/>
            <a:chOff x="0" y="0"/>
            <a:chExt cx="1591420" cy="1591420"/>
          </a:xfrm>
          <a:solidFill>
            <a:srgbClr val="44546A"/>
          </a:solidFill>
        </p:grpSpPr>
        <p:sp>
          <p:nvSpPr>
            <p:cNvPr id="36" name="AutoShape 7">
              <a:extLst>
                <a:ext uri="{FF2B5EF4-FFF2-40B4-BE49-F238E27FC236}">
                  <a16:creationId xmlns:a16="http://schemas.microsoft.com/office/drawing/2014/main" id="{B74173CC-15F5-42DF-ADC5-1BE62187DA7C}"/>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37" name="AutoShape 8">
              <a:extLst>
                <a:ext uri="{FF2B5EF4-FFF2-40B4-BE49-F238E27FC236}">
                  <a16:creationId xmlns:a16="http://schemas.microsoft.com/office/drawing/2014/main" id="{79A6C68E-8A98-4D57-AB79-388EF809C5B1}"/>
                </a:ext>
              </a:extLst>
            </p:cNvPr>
            <p:cNvSpPr/>
            <p:nvPr/>
          </p:nvSpPr>
          <p:spPr bwMode="auto">
            <a:xfrm>
              <a:off x="0" y="547945"/>
              <a:ext cx="1591420" cy="4955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20000"/>
                </a:lnSpc>
              </a:pPr>
              <a:r>
                <a:rPr lang="zh-CN" altLang="en-US" sz="2000" b="0" dirty="0">
                  <a:solidFill>
                    <a:schemeClr val="bg1"/>
                  </a:solidFill>
                  <a:latin typeface="宋体" panose="02010600030101010101" pitchFamily="2" charset="-122"/>
                  <a:ea typeface="宋体" panose="02010600030101010101" pitchFamily="2" charset="-122"/>
                  <a:cs typeface="+mn-ea"/>
                  <a:sym typeface="+mn-lt"/>
                </a:rPr>
                <a:t>明文</a:t>
              </a:r>
              <a:endParaRPr lang="en-US" sz="2000" b="0" dirty="0">
                <a:solidFill>
                  <a:schemeClr val="bg1"/>
                </a:solidFill>
                <a:latin typeface="宋体" panose="02010600030101010101" pitchFamily="2" charset="-122"/>
                <a:ea typeface="宋体" panose="02010600030101010101" pitchFamily="2" charset="-122"/>
                <a:cs typeface="+mn-ea"/>
                <a:sym typeface="+mn-lt"/>
              </a:endParaRPr>
            </a:p>
          </p:txBody>
        </p:sp>
      </p:grpSp>
      <p:grpSp>
        <p:nvGrpSpPr>
          <p:cNvPr id="40" name="Group 11">
            <a:extLst>
              <a:ext uri="{FF2B5EF4-FFF2-40B4-BE49-F238E27FC236}">
                <a16:creationId xmlns:a16="http://schemas.microsoft.com/office/drawing/2014/main" id="{C63F7107-4202-4167-B8EC-4E7F49284DD5}"/>
              </a:ext>
            </a:extLst>
          </p:cNvPr>
          <p:cNvGrpSpPr/>
          <p:nvPr/>
        </p:nvGrpSpPr>
        <p:grpSpPr bwMode="auto">
          <a:xfrm>
            <a:off x="4141683" y="1946852"/>
            <a:ext cx="955675" cy="956945"/>
            <a:chOff x="0" y="0"/>
            <a:chExt cx="1591420" cy="1591420"/>
          </a:xfrm>
          <a:solidFill>
            <a:srgbClr val="44546A"/>
          </a:solidFill>
        </p:grpSpPr>
        <p:sp>
          <p:nvSpPr>
            <p:cNvPr id="41" name="AutoShape 12">
              <a:extLst>
                <a:ext uri="{FF2B5EF4-FFF2-40B4-BE49-F238E27FC236}">
                  <a16:creationId xmlns:a16="http://schemas.microsoft.com/office/drawing/2014/main" id="{B181AF41-33C6-4FCC-9C0F-85A08830D101}"/>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42" name="AutoShape 13">
              <a:extLst>
                <a:ext uri="{FF2B5EF4-FFF2-40B4-BE49-F238E27FC236}">
                  <a16:creationId xmlns:a16="http://schemas.microsoft.com/office/drawing/2014/main" id="{3408E486-3B5C-40B7-A873-C71853017079}"/>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加密</a:t>
              </a:r>
              <a:endParaRPr lang="en-US" altLang="zh-CN" sz="2000" dirty="0">
                <a:solidFill>
                  <a:schemeClr val="bg1"/>
                </a:solidFill>
                <a:latin typeface="宋体" panose="02010600030101010101" pitchFamily="2" charset="-122"/>
                <a:ea typeface="宋体" panose="02010600030101010101" pitchFamily="2" charset="-122"/>
                <a:cs typeface="+mn-ea"/>
                <a:sym typeface="+mn-lt"/>
              </a:endParaRPr>
            </a:p>
          </p:txBody>
        </p:sp>
      </p:grpSp>
      <p:sp>
        <p:nvSpPr>
          <p:cNvPr id="43" name="AutoShape 14">
            <a:extLst>
              <a:ext uri="{FF2B5EF4-FFF2-40B4-BE49-F238E27FC236}">
                <a16:creationId xmlns:a16="http://schemas.microsoft.com/office/drawing/2014/main" id="{5B8FAF15-4D98-4286-8352-7FAB4DD2918C}"/>
              </a:ext>
            </a:extLst>
          </p:cNvPr>
          <p:cNvSpPr/>
          <p:nvPr/>
        </p:nvSpPr>
        <p:spPr bwMode="auto">
          <a:xfrm>
            <a:off x="4166870" y="3446146"/>
            <a:ext cx="1576071" cy="2462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72" eaLnBrk="1"/>
            <a:r>
              <a:rPr lang="zh-CN" altLang="en-US" sz="1600" b="0" dirty="0">
                <a:latin typeface="+mn-lt"/>
                <a:ea typeface="+mn-ea"/>
                <a:cs typeface="+mn-ea"/>
                <a:sym typeface="+mn-lt"/>
              </a:rPr>
              <a:t>请替换文字内容</a:t>
            </a:r>
          </a:p>
        </p:txBody>
      </p:sp>
      <p:grpSp>
        <p:nvGrpSpPr>
          <p:cNvPr id="45" name="Group 16">
            <a:extLst>
              <a:ext uri="{FF2B5EF4-FFF2-40B4-BE49-F238E27FC236}">
                <a16:creationId xmlns:a16="http://schemas.microsoft.com/office/drawing/2014/main" id="{D749AAA0-8B02-48E8-B9B6-C53FA1DFC020}"/>
              </a:ext>
            </a:extLst>
          </p:cNvPr>
          <p:cNvGrpSpPr/>
          <p:nvPr/>
        </p:nvGrpSpPr>
        <p:grpSpPr bwMode="auto">
          <a:xfrm>
            <a:off x="2210110" y="1992808"/>
            <a:ext cx="903605" cy="903605"/>
            <a:chOff x="0" y="0"/>
            <a:chExt cx="1591420" cy="1591420"/>
          </a:xfrm>
          <a:solidFill>
            <a:srgbClr val="44546A"/>
          </a:solidFill>
        </p:grpSpPr>
        <p:sp>
          <p:nvSpPr>
            <p:cNvPr id="46" name="AutoShape 17">
              <a:extLst>
                <a:ext uri="{FF2B5EF4-FFF2-40B4-BE49-F238E27FC236}">
                  <a16:creationId xmlns:a16="http://schemas.microsoft.com/office/drawing/2014/main" id="{0301FF06-401D-493A-B5D8-D7F1A19AD63A}"/>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78" name="AutoShape 18">
              <a:extLst>
                <a:ext uri="{FF2B5EF4-FFF2-40B4-BE49-F238E27FC236}">
                  <a16:creationId xmlns:a16="http://schemas.microsoft.com/office/drawing/2014/main" id="{FDD44F6C-1550-4A23-973C-E13D6F03776F}"/>
                </a:ext>
              </a:extLst>
            </p:cNvPr>
            <p:cNvSpPr/>
            <p:nvPr/>
          </p:nvSpPr>
          <p:spPr bwMode="auto">
            <a:xfrm>
              <a:off x="0" y="554297"/>
              <a:ext cx="1591420" cy="4828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密文</a:t>
              </a:r>
              <a:endParaRPr lang="en-US" sz="2000" dirty="0">
                <a:solidFill>
                  <a:schemeClr val="bg1"/>
                </a:solidFill>
                <a:latin typeface="宋体" panose="02010600030101010101" pitchFamily="2" charset="-122"/>
                <a:ea typeface="宋体" panose="02010600030101010101" pitchFamily="2" charset="-122"/>
                <a:cs typeface="+mn-ea"/>
                <a:sym typeface="+mn-lt"/>
              </a:endParaRPr>
            </a:p>
          </p:txBody>
        </p:sp>
      </p:grpSp>
      <p:sp>
        <p:nvSpPr>
          <p:cNvPr id="79" name="AutoShape 19">
            <a:extLst>
              <a:ext uri="{FF2B5EF4-FFF2-40B4-BE49-F238E27FC236}">
                <a16:creationId xmlns:a16="http://schemas.microsoft.com/office/drawing/2014/main" id="{AC07286E-14F9-47BA-AD1D-A4E76E3C7614}"/>
              </a:ext>
            </a:extLst>
          </p:cNvPr>
          <p:cNvSpPr/>
          <p:nvPr/>
        </p:nvSpPr>
        <p:spPr bwMode="auto">
          <a:xfrm>
            <a:off x="6659246" y="3471546"/>
            <a:ext cx="1553845" cy="2462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876300" eaLnBrk="0">
              <a:defRPr sz="2500" b="1">
                <a:solidFill>
                  <a:srgbClr val="FFFFFF"/>
                </a:solidFill>
                <a:latin typeface="Lato" charset="0"/>
                <a:ea typeface="MS PGothic" panose="020B0600070205080204" pitchFamily="34" charset="-128"/>
                <a:sym typeface="Lato" charset="0"/>
              </a:defRPr>
            </a:lvl1pPr>
            <a:lvl2pPr marL="742950" indent="-285750" defTabSz="876300" eaLnBrk="0">
              <a:defRPr sz="2500" b="1">
                <a:solidFill>
                  <a:srgbClr val="FFFFFF"/>
                </a:solidFill>
                <a:latin typeface="Lato" charset="0"/>
                <a:ea typeface="MS PGothic" panose="020B0600070205080204" pitchFamily="34" charset="-128"/>
                <a:sym typeface="Lato" charset="0"/>
              </a:defRPr>
            </a:lvl2pPr>
            <a:lvl3pPr marL="1143000" indent="-228600" defTabSz="876300" eaLnBrk="0">
              <a:defRPr sz="2500" b="1">
                <a:solidFill>
                  <a:srgbClr val="FFFFFF"/>
                </a:solidFill>
                <a:latin typeface="Lato" charset="0"/>
                <a:ea typeface="MS PGothic" panose="020B0600070205080204" pitchFamily="34" charset="-128"/>
                <a:sym typeface="Lato" charset="0"/>
              </a:defRPr>
            </a:lvl3pPr>
            <a:lvl4pPr marL="1600200" indent="-228600" defTabSz="876300" eaLnBrk="0">
              <a:defRPr sz="2500" b="1">
                <a:solidFill>
                  <a:srgbClr val="FFFFFF"/>
                </a:solidFill>
                <a:latin typeface="Lato" charset="0"/>
                <a:ea typeface="MS PGothic" panose="020B0600070205080204" pitchFamily="34" charset="-128"/>
                <a:sym typeface="Lato" charset="0"/>
              </a:defRPr>
            </a:lvl4pPr>
            <a:lvl5pPr marL="2057400" indent="-228600" defTabSz="876300" eaLnBrk="0">
              <a:defRPr sz="2500" b="1">
                <a:solidFill>
                  <a:srgbClr val="FFFFFF"/>
                </a:solidFill>
                <a:latin typeface="Lato" charset="0"/>
                <a:ea typeface="MS PGothic" panose="020B0600070205080204" pitchFamily="34" charset="-128"/>
                <a:sym typeface="Lato" charset="0"/>
              </a:defRPr>
            </a:lvl5pPr>
            <a:lvl6pPr marL="25146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zh-CN" altLang="en-US" sz="1600" b="0" dirty="0">
                <a:latin typeface="+mn-lt"/>
                <a:ea typeface="+mn-ea"/>
                <a:cs typeface="+mn-ea"/>
                <a:sym typeface="+mn-lt"/>
              </a:rPr>
              <a:t>请替换文字内容</a:t>
            </a:r>
          </a:p>
        </p:txBody>
      </p:sp>
      <p:grpSp>
        <p:nvGrpSpPr>
          <p:cNvPr id="81" name="Group 21">
            <a:extLst>
              <a:ext uri="{FF2B5EF4-FFF2-40B4-BE49-F238E27FC236}">
                <a16:creationId xmlns:a16="http://schemas.microsoft.com/office/drawing/2014/main" id="{5AF987DA-4F9E-4ED5-AD34-8DA6603AE07C}"/>
              </a:ext>
            </a:extLst>
          </p:cNvPr>
          <p:cNvGrpSpPr/>
          <p:nvPr/>
        </p:nvGrpSpPr>
        <p:grpSpPr bwMode="auto">
          <a:xfrm>
            <a:off x="6125325" y="1934885"/>
            <a:ext cx="955675" cy="957580"/>
            <a:chOff x="0" y="0"/>
            <a:chExt cx="1591420" cy="1591420"/>
          </a:xfrm>
          <a:solidFill>
            <a:srgbClr val="44546A"/>
          </a:solidFill>
        </p:grpSpPr>
        <p:sp>
          <p:nvSpPr>
            <p:cNvPr id="82" name="AutoShape 22">
              <a:extLst>
                <a:ext uri="{FF2B5EF4-FFF2-40B4-BE49-F238E27FC236}">
                  <a16:creationId xmlns:a16="http://schemas.microsoft.com/office/drawing/2014/main" id="{CA647646-C478-419E-93CB-CB9FF2BF2106}"/>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83" name="AutoShape 23">
              <a:extLst>
                <a:ext uri="{FF2B5EF4-FFF2-40B4-BE49-F238E27FC236}">
                  <a16:creationId xmlns:a16="http://schemas.microsoft.com/office/drawing/2014/main" id="{A8735519-6530-4523-8235-C4D1ECAC671D}"/>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解密</a:t>
              </a:r>
              <a:endParaRPr lang="en-US" altLang="es-ES" sz="2000" dirty="0">
                <a:solidFill>
                  <a:schemeClr val="bg1"/>
                </a:solidFill>
                <a:latin typeface="宋体" panose="02010600030101010101" pitchFamily="2" charset="-122"/>
                <a:ea typeface="宋体" panose="02010600030101010101" pitchFamily="2" charset="-122"/>
                <a:cs typeface="+mn-ea"/>
                <a:sym typeface="+mn-lt"/>
              </a:endParaRPr>
            </a:p>
          </p:txBody>
        </p:sp>
      </p:grpSp>
      <p:sp>
        <p:nvSpPr>
          <p:cNvPr id="84" name="AutoShape 24">
            <a:extLst>
              <a:ext uri="{FF2B5EF4-FFF2-40B4-BE49-F238E27FC236}">
                <a16:creationId xmlns:a16="http://schemas.microsoft.com/office/drawing/2014/main" id="{659147A1-F1EB-45DF-A1ED-04ACE39334EE}"/>
              </a:ext>
            </a:extLst>
          </p:cNvPr>
          <p:cNvSpPr/>
          <p:nvPr/>
        </p:nvSpPr>
        <p:spPr bwMode="auto">
          <a:xfrm>
            <a:off x="9360535" y="3458210"/>
            <a:ext cx="1671320" cy="24622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72" eaLnBrk="1"/>
            <a:r>
              <a:rPr lang="zh-CN" altLang="en-US" sz="1600" b="0" dirty="0">
                <a:latin typeface="+mn-lt"/>
                <a:ea typeface="+mn-ea"/>
                <a:cs typeface="+mn-ea"/>
                <a:sym typeface="+mn-lt"/>
              </a:rPr>
              <a:t>请替换文字内容</a:t>
            </a:r>
          </a:p>
        </p:txBody>
      </p:sp>
      <p:sp>
        <p:nvSpPr>
          <p:cNvPr id="85" name="AutoShape 25">
            <a:extLst>
              <a:ext uri="{FF2B5EF4-FFF2-40B4-BE49-F238E27FC236}">
                <a16:creationId xmlns:a16="http://schemas.microsoft.com/office/drawing/2014/main" id="{D4014B80-8C8C-4CE4-AB24-A81EEFFAFBBB}"/>
              </a:ext>
            </a:extLst>
          </p:cNvPr>
          <p:cNvSpPr/>
          <p:nvPr/>
        </p:nvSpPr>
        <p:spPr bwMode="auto">
          <a:xfrm>
            <a:off x="346125" y="3118153"/>
            <a:ext cx="1520825" cy="110799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rPr>
              <a:t>发送方将要发送的消息；</a:t>
            </a:r>
          </a:p>
        </p:txBody>
      </p:sp>
      <p:sp>
        <p:nvSpPr>
          <p:cNvPr id="89" name="AutoShape 29">
            <a:extLst>
              <a:ext uri="{FF2B5EF4-FFF2-40B4-BE49-F238E27FC236}">
                <a16:creationId xmlns:a16="http://schemas.microsoft.com/office/drawing/2014/main" id="{E050CBF0-B2A3-435F-8456-C5872B830B97}"/>
              </a:ext>
            </a:extLst>
          </p:cNvPr>
          <p:cNvSpPr/>
          <p:nvPr/>
        </p:nvSpPr>
        <p:spPr bwMode="auto">
          <a:xfrm>
            <a:off x="5979478" y="3057402"/>
            <a:ext cx="1359535" cy="1477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cs typeface="+mn-ea"/>
                <a:sym typeface="+mn-lt"/>
              </a:rPr>
              <a:t>密文恢复出原明文的过程称为解密；</a:t>
            </a:r>
          </a:p>
        </p:txBody>
      </p:sp>
      <p:sp>
        <p:nvSpPr>
          <p:cNvPr id="31" name="AutoShape 25">
            <a:extLst>
              <a:ext uri="{FF2B5EF4-FFF2-40B4-BE49-F238E27FC236}">
                <a16:creationId xmlns:a16="http://schemas.microsoft.com/office/drawing/2014/main" id="{719B8F10-7D0C-1128-D9C8-2F05D2C2F366}"/>
              </a:ext>
            </a:extLst>
          </p:cNvPr>
          <p:cNvSpPr/>
          <p:nvPr/>
        </p:nvSpPr>
        <p:spPr bwMode="auto">
          <a:xfrm>
            <a:off x="1985218" y="3097435"/>
            <a:ext cx="1520825" cy="1477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rPr>
              <a:t>明文被变换成看似无意义的随机消息；</a:t>
            </a:r>
          </a:p>
        </p:txBody>
      </p:sp>
      <p:sp>
        <p:nvSpPr>
          <p:cNvPr id="32" name="AutoShape 25">
            <a:extLst>
              <a:ext uri="{FF2B5EF4-FFF2-40B4-BE49-F238E27FC236}">
                <a16:creationId xmlns:a16="http://schemas.microsoft.com/office/drawing/2014/main" id="{793D4C89-D90F-ED4D-27DC-576969767CF1}"/>
              </a:ext>
            </a:extLst>
          </p:cNvPr>
          <p:cNvSpPr/>
          <p:nvPr/>
        </p:nvSpPr>
        <p:spPr bwMode="auto">
          <a:xfrm>
            <a:off x="3980822" y="3091030"/>
            <a:ext cx="1520825" cy="1477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rPr>
              <a:t>明文变换成密文的过程称为加密；</a:t>
            </a:r>
          </a:p>
        </p:txBody>
      </p:sp>
      <p:grpSp>
        <p:nvGrpSpPr>
          <p:cNvPr id="33" name="Group 21">
            <a:extLst>
              <a:ext uri="{FF2B5EF4-FFF2-40B4-BE49-F238E27FC236}">
                <a16:creationId xmlns:a16="http://schemas.microsoft.com/office/drawing/2014/main" id="{68C1557A-4062-E181-3A1E-BC507C0EB18A}"/>
              </a:ext>
            </a:extLst>
          </p:cNvPr>
          <p:cNvGrpSpPr/>
          <p:nvPr/>
        </p:nvGrpSpPr>
        <p:grpSpPr bwMode="auto">
          <a:xfrm>
            <a:off x="7950747" y="1946215"/>
            <a:ext cx="955676" cy="957580"/>
            <a:chOff x="-2" y="0"/>
            <a:chExt cx="1591422" cy="1591420"/>
          </a:xfrm>
          <a:solidFill>
            <a:srgbClr val="44546A"/>
          </a:solidFill>
        </p:grpSpPr>
        <p:sp>
          <p:nvSpPr>
            <p:cNvPr id="47" name="AutoShape 22">
              <a:extLst>
                <a:ext uri="{FF2B5EF4-FFF2-40B4-BE49-F238E27FC236}">
                  <a16:creationId xmlns:a16="http://schemas.microsoft.com/office/drawing/2014/main" id="{71D59B6F-71A9-0819-66EB-EFDA04C8CE97}"/>
                </a:ext>
              </a:extLst>
            </p:cNvPr>
            <p:cNvSpPr/>
            <p:nvPr/>
          </p:nvSpPr>
          <p:spPr bwMode="auto">
            <a:xfrm>
              <a:off x="-2"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48" name="AutoShape 23">
              <a:extLst>
                <a:ext uri="{FF2B5EF4-FFF2-40B4-BE49-F238E27FC236}">
                  <a16:creationId xmlns:a16="http://schemas.microsoft.com/office/drawing/2014/main" id="{57C58C50-7C55-F650-B82A-BEA7B29F9ABD}"/>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加密</a:t>
              </a:r>
              <a:endParaRPr lang="en-US" altLang="zh-CN" sz="2000" dirty="0">
                <a:solidFill>
                  <a:schemeClr val="bg1"/>
                </a:solidFill>
                <a:latin typeface="宋体" panose="02010600030101010101" pitchFamily="2" charset="-122"/>
                <a:ea typeface="宋体" panose="02010600030101010101" pitchFamily="2" charset="-122"/>
                <a:cs typeface="+mn-ea"/>
                <a:sym typeface="+mn-lt"/>
              </a:endParaRPr>
            </a:p>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算法</a:t>
              </a:r>
              <a:endParaRPr lang="en-US" altLang="es-ES" sz="2000" dirty="0">
                <a:solidFill>
                  <a:schemeClr val="bg1"/>
                </a:solidFill>
                <a:latin typeface="宋体" panose="02010600030101010101" pitchFamily="2" charset="-122"/>
                <a:ea typeface="宋体" panose="02010600030101010101" pitchFamily="2" charset="-122"/>
                <a:cs typeface="+mn-ea"/>
                <a:sym typeface="+mn-lt"/>
              </a:endParaRPr>
            </a:p>
          </p:txBody>
        </p:sp>
      </p:grpSp>
      <p:sp>
        <p:nvSpPr>
          <p:cNvPr id="49" name="AutoShape 29">
            <a:extLst>
              <a:ext uri="{FF2B5EF4-FFF2-40B4-BE49-F238E27FC236}">
                <a16:creationId xmlns:a16="http://schemas.microsoft.com/office/drawing/2014/main" id="{BB6D1F85-1F10-756B-6DCD-84EA77119578}"/>
              </a:ext>
            </a:extLst>
          </p:cNvPr>
          <p:cNvSpPr/>
          <p:nvPr/>
        </p:nvSpPr>
        <p:spPr bwMode="auto">
          <a:xfrm>
            <a:off x="7772058" y="3097435"/>
            <a:ext cx="1359535" cy="1477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cs typeface="+mn-ea"/>
                <a:sym typeface="+mn-lt"/>
              </a:rPr>
              <a:t>对明文进行加密时所采用的一组规则；</a:t>
            </a:r>
          </a:p>
        </p:txBody>
      </p:sp>
      <p:grpSp>
        <p:nvGrpSpPr>
          <p:cNvPr id="50" name="Group 21">
            <a:extLst>
              <a:ext uri="{FF2B5EF4-FFF2-40B4-BE49-F238E27FC236}">
                <a16:creationId xmlns:a16="http://schemas.microsoft.com/office/drawing/2014/main" id="{D7FD1F40-0277-0B0D-08FD-97FBB59E3786}"/>
              </a:ext>
            </a:extLst>
          </p:cNvPr>
          <p:cNvGrpSpPr/>
          <p:nvPr/>
        </p:nvGrpSpPr>
        <p:grpSpPr bwMode="auto">
          <a:xfrm>
            <a:off x="9776168" y="1931467"/>
            <a:ext cx="955675" cy="957580"/>
            <a:chOff x="0" y="0"/>
            <a:chExt cx="1591420" cy="1591420"/>
          </a:xfrm>
          <a:solidFill>
            <a:srgbClr val="44546A"/>
          </a:solidFill>
        </p:grpSpPr>
        <p:sp>
          <p:nvSpPr>
            <p:cNvPr id="51" name="AutoShape 22">
              <a:extLst>
                <a:ext uri="{FF2B5EF4-FFF2-40B4-BE49-F238E27FC236}">
                  <a16:creationId xmlns:a16="http://schemas.microsoft.com/office/drawing/2014/main" id="{7B0FCCC4-3B37-1701-8746-AF5FBEAA086F}"/>
                </a:ext>
              </a:extLst>
            </p:cNvPr>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52" name="AutoShape 23">
              <a:extLst>
                <a:ext uri="{FF2B5EF4-FFF2-40B4-BE49-F238E27FC236}">
                  <a16:creationId xmlns:a16="http://schemas.microsoft.com/office/drawing/2014/main" id="{698C5D4C-F2C0-F187-41B3-09270FE2F695}"/>
                </a:ext>
              </a:extLst>
            </p:cNvPr>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解密</a:t>
              </a:r>
              <a:endParaRPr lang="en-US" altLang="zh-CN" sz="2000" dirty="0">
                <a:solidFill>
                  <a:schemeClr val="bg1"/>
                </a:solidFill>
                <a:latin typeface="宋体" panose="02010600030101010101" pitchFamily="2" charset="-122"/>
                <a:ea typeface="宋体" panose="02010600030101010101" pitchFamily="2" charset="-122"/>
                <a:cs typeface="+mn-ea"/>
                <a:sym typeface="+mn-lt"/>
              </a:endParaRPr>
            </a:p>
            <a:p>
              <a:pPr algn="ctr">
                <a:lnSpc>
                  <a:spcPct val="120000"/>
                </a:lnSpc>
                <a:defRPr/>
              </a:pPr>
              <a:r>
                <a:rPr lang="zh-CN" altLang="en-US" sz="2000" dirty="0">
                  <a:solidFill>
                    <a:schemeClr val="bg1"/>
                  </a:solidFill>
                  <a:latin typeface="宋体" panose="02010600030101010101" pitchFamily="2" charset="-122"/>
                  <a:ea typeface="宋体" panose="02010600030101010101" pitchFamily="2" charset="-122"/>
                  <a:cs typeface="+mn-ea"/>
                  <a:sym typeface="+mn-lt"/>
                </a:rPr>
                <a:t>算法</a:t>
              </a:r>
              <a:endParaRPr lang="en-US" altLang="es-ES" sz="2000" dirty="0">
                <a:solidFill>
                  <a:schemeClr val="bg1"/>
                </a:solidFill>
                <a:latin typeface="宋体" panose="02010600030101010101" pitchFamily="2" charset="-122"/>
                <a:ea typeface="宋体" panose="02010600030101010101" pitchFamily="2" charset="-122"/>
                <a:cs typeface="+mn-ea"/>
                <a:sym typeface="+mn-lt"/>
              </a:endParaRPr>
            </a:p>
          </p:txBody>
        </p:sp>
      </p:grpSp>
      <p:sp>
        <p:nvSpPr>
          <p:cNvPr id="54" name="AutoShape 29">
            <a:extLst>
              <a:ext uri="{FF2B5EF4-FFF2-40B4-BE49-F238E27FC236}">
                <a16:creationId xmlns:a16="http://schemas.microsoft.com/office/drawing/2014/main" id="{374BECFA-D001-E55C-97ED-DCDC6B36EE1F}"/>
              </a:ext>
            </a:extLst>
          </p:cNvPr>
          <p:cNvSpPr/>
          <p:nvPr/>
        </p:nvSpPr>
        <p:spPr bwMode="auto">
          <a:xfrm>
            <a:off x="9574238" y="3097435"/>
            <a:ext cx="1359535" cy="14773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2400" dirty="0">
                <a:solidFill>
                  <a:schemeClr val="tx1"/>
                </a:solidFill>
                <a:latin typeface="宋体" panose="02010600030101010101" pitchFamily="2" charset="-122"/>
                <a:ea typeface="宋体" panose="02010600030101010101" pitchFamily="2" charset="-122"/>
                <a:cs typeface="+mn-ea"/>
                <a:sym typeface="+mn-lt"/>
              </a:rPr>
              <a:t>对密文进行解密时所采用的一组规则；</a:t>
            </a:r>
          </a:p>
        </p:txBody>
      </p:sp>
      <p:sp>
        <p:nvSpPr>
          <p:cNvPr id="55" name="文本框 54">
            <a:extLst>
              <a:ext uri="{FF2B5EF4-FFF2-40B4-BE49-F238E27FC236}">
                <a16:creationId xmlns:a16="http://schemas.microsoft.com/office/drawing/2014/main" id="{7BA8DABA-2C37-241F-FAE8-FA6300CB2D54}"/>
              </a:ext>
            </a:extLst>
          </p:cNvPr>
          <p:cNvSpPr txBox="1"/>
          <p:nvPr/>
        </p:nvSpPr>
        <p:spPr>
          <a:xfrm>
            <a:off x="619830" y="4997539"/>
            <a:ext cx="11218276" cy="830997"/>
          </a:xfrm>
          <a:prstGeom prst="rect">
            <a:avLst/>
          </a:prstGeom>
          <a:noFill/>
        </p:spPr>
        <p:txBody>
          <a:bodyPr wrap="square">
            <a:spAutoFit/>
          </a:bodyPr>
          <a:lstStyle/>
          <a:p>
            <a:pPr marL="0" lvl="1">
              <a:buClr>
                <a:schemeClr val="accent1">
                  <a:lumMod val="75000"/>
                </a:schemeClr>
              </a:buClr>
              <a:buSzPct val="60000"/>
            </a:pPr>
            <a:r>
              <a:rPr lang="zh-CN" altLang="en-US" sz="2400" b="1" dirty="0">
                <a:latin typeface="宋体" panose="02010600030101010101" pitchFamily="2" charset="-122"/>
                <a:ea typeface="宋体" panose="02010600030101010101" pitchFamily="2" charset="-122"/>
              </a:rPr>
              <a:t>加密和解密算法的操作通常都是在一组密钥控制下进行的，分别称为加密密钥和解密密钥。</a:t>
            </a:r>
          </a:p>
        </p:txBody>
      </p:sp>
    </p:spTree>
    <p:extLst>
      <p:ext uri="{BB962C8B-B14F-4D97-AF65-F5344CB8AC3E}">
        <p14:creationId xmlns:p14="http://schemas.microsoft.com/office/powerpoint/2010/main" val="421647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53" presetClass="entr" presetSubtype="16" fill="hold" nodeType="with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p:cTn id="12" dur="500" fill="hold"/>
                                        <p:tgtEl>
                                          <p:spTgt spid="40"/>
                                        </p:tgtEl>
                                        <p:attrNameLst>
                                          <p:attrName>ppt_w</p:attrName>
                                        </p:attrNameLst>
                                      </p:cBhvr>
                                      <p:tavLst>
                                        <p:tav tm="0">
                                          <p:val>
                                            <p:fltVal val="0"/>
                                          </p:val>
                                        </p:tav>
                                        <p:tav tm="100000">
                                          <p:val>
                                            <p:strVal val="#ppt_w"/>
                                          </p:val>
                                        </p:tav>
                                      </p:tavLst>
                                    </p:anim>
                                    <p:anim calcmode="lin" valueType="num">
                                      <p:cBhvr>
                                        <p:cTn id="13" dur="500" fill="hold"/>
                                        <p:tgtEl>
                                          <p:spTgt spid="40"/>
                                        </p:tgtEl>
                                        <p:attrNameLst>
                                          <p:attrName>ppt_h</p:attrName>
                                        </p:attrNameLst>
                                      </p:cBhvr>
                                      <p:tavLst>
                                        <p:tav tm="0">
                                          <p:val>
                                            <p:fltVal val="0"/>
                                          </p:val>
                                        </p:tav>
                                        <p:tav tm="100000">
                                          <p:val>
                                            <p:strVal val="#ppt_h"/>
                                          </p:val>
                                        </p:tav>
                                      </p:tavLst>
                                    </p:anim>
                                    <p:animEffect transition="in" filter="fade">
                                      <p:cBhvr>
                                        <p:cTn id="14" dur="500"/>
                                        <p:tgtEl>
                                          <p:spTgt spid="4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500" fill="hold"/>
                                        <p:tgtEl>
                                          <p:spTgt spid="43"/>
                                        </p:tgtEl>
                                        <p:attrNameLst>
                                          <p:attrName>ppt_w</p:attrName>
                                        </p:attrNameLst>
                                      </p:cBhvr>
                                      <p:tavLst>
                                        <p:tav tm="0">
                                          <p:val>
                                            <p:fltVal val="0"/>
                                          </p:val>
                                        </p:tav>
                                        <p:tav tm="100000">
                                          <p:val>
                                            <p:strVal val="#ppt_w"/>
                                          </p:val>
                                        </p:tav>
                                      </p:tavLst>
                                    </p:anim>
                                    <p:anim calcmode="lin" valueType="num">
                                      <p:cBhvr>
                                        <p:cTn id="18" dur="500" fill="hold"/>
                                        <p:tgtEl>
                                          <p:spTgt spid="43"/>
                                        </p:tgtEl>
                                        <p:attrNameLst>
                                          <p:attrName>ppt_h</p:attrName>
                                        </p:attrNameLst>
                                      </p:cBhvr>
                                      <p:tavLst>
                                        <p:tav tm="0">
                                          <p:val>
                                            <p:fltVal val="0"/>
                                          </p:val>
                                        </p:tav>
                                        <p:tav tm="100000">
                                          <p:val>
                                            <p:strVal val="#ppt_h"/>
                                          </p:val>
                                        </p:tav>
                                      </p:tavLst>
                                    </p:anim>
                                    <p:animEffect transition="in" filter="fade">
                                      <p:cBhvr>
                                        <p:cTn id="19" dur="500"/>
                                        <p:tgtEl>
                                          <p:spTgt spid="43"/>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anim calcmode="lin" valueType="num">
                                      <p:cBhvr>
                                        <p:cTn id="27" dur="500" fill="hold"/>
                                        <p:tgtEl>
                                          <p:spTgt spid="79"/>
                                        </p:tgtEl>
                                        <p:attrNameLst>
                                          <p:attrName>ppt_w</p:attrName>
                                        </p:attrNameLst>
                                      </p:cBhvr>
                                      <p:tavLst>
                                        <p:tav tm="0">
                                          <p:val>
                                            <p:fltVal val="0"/>
                                          </p:val>
                                        </p:tav>
                                        <p:tav tm="100000">
                                          <p:val>
                                            <p:strVal val="#ppt_w"/>
                                          </p:val>
                                        </p:tav>
                                      </p:tavLst>
                                    </p:anim>
                                    <p:anim calcmode="lin" valueType="num">
                                      <p:cBhvr>
                                        <p:cTn id="28" dur="500" fill="hold"/>
                                        <p:tgtEl>
                                          <p:spTgt spid="79"/>
                                        </p:tgtEl>
                                        <p:attrNameLst>
                                          <p:attrName>ppt_h</p:attrName>
                                        </p:attrNameLst>
                                      </p:cBhvr>
                                      <p:tavLst>
                                        <p:tav tm="0">
                                          <p:val>
                                            <p:fltVal val="0"/>
                                          </p:val>
                                        </p:tav>
                                        <p:tav tm="100000">
                                          <p:val>
                                            <p:strVal val="#ppt_h"/>
                                          </p:val>
                                        </p:tav>
                                      </p:tavLst>
                                    </p:anim>
                                    <p:animEffect transition="in" filter="fade">
                                      <p:cBhvr>
                                        <p:cTn id="29" dur="500"/>
                                        <p:tgtEl>
                                          <p:spTgt spid="79"/>
                                        </p:tgtEl>
                                      </p:cBhvr>
                                    </p:animEffect>
                                  </p:childTnLst>
                                </p:cTn>
                              </p:par>
                              <p:par>
                                <p:cTn id="30" presetID="53" presetClass="entr" presetSubtype="16" fill="hold" nodeType="withEffect">
                                  <p:stCondLst>
                                    <p:cond delay="0"/>
                                  </p:stCondLst>
                                  <p:childTnLst>
                                    <p:set>
                                      <p:cBhvr>
                                        <p:cTn id="31" dur="1" fill="hold">
                                          <p:stCondLst>
                                            <p:cond delay="0"/>
                                          </p:stCondLst>
                                        </p:cTn>
                                        <p:tgtEl>
                                          <p:spTgt spid="81"/>
                                        </p:tgtEl>
                                        <p:attrNameLst>
                                          <p:attrName>style.visibility</p:attrName>
                                        </p:attrNameLst>
                                      </p:cBhvr>
                                      <p:to>
                                        <p:strVal val="visible"/>
                                      </p:to>
                                    </p:set>
                                    <p:anim calcmode="lin" valueType="num">
                                      <p:cBhvr>
                                        <p:cTn id="32" dur="500" fill="hold"/>
                                        <p:tgtEl>
                                          <p:spTgt spid="81"/>
                                        </p:tgtEl>
                                        <p:attrNameLst>
                                          <p:attrName>ppt_w</p:attrName>
                                        </p:attrNameLst>
                                      </p:cBhvr>
                                      <p:tavLst>
                                        <p:tav tm="0">
                                          <p:val>
                                            <p:fltVal val="0"/>
                                          </p:val>
                                        </p:tav>
                                        <p:tav tm="100000">
                                          <p:val>
                                            <p:strVal val="#ppt_w"/>
                                          </p:val>
                                        </p:tav>
                                      </p:tavLst>
                                    </p:anim>
                                    <p:anim calcmode="lin" valueType="num">
                                      <p:cBhvr>
                                        <p:cTn id="33" dur="500" fill="hold"/>
                                        <p:tgtEl>
                                          <p:spTgt spid="81"/>
                                        </p:tgtEl>
                                        <p:attrNameLst>
                                          <p:attrName>ppt_h</p:attrName>
                                        </p:attrNameLst>
                                      </p:cBhvr>
                                      <p:tavLst>
                                        <p:tav tm="0">
                                          <p:val>
                                            <p:fltVal val="0"/>
                                          </p:val>
                                        </p:tav>
                                        <p:tav tm="100000">
                                          <p:val>
                                            <p:strVal val="#ppt_h"/>
                                          </p:val>
                                        </p:tav>
                                      </p:tavLst>
                                    </p:anim>
                                    <p:animEffect transition="in" filter="fade">
                                      <p:cBhvr>
                                        <p:cTn id="34" dur="500"/>
                                        <p:tgtEl>
                                          <p:spTgt spid="8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4"/>
                                        </p:tgtEl>
                                        <p:attrNameLst>
                                          <p:attrName>style.visibility</p:attrName>
                                        </p:attrNameLst>
                                      </p:cBhvr>
                                      <p:to>
                                        <p:strVal val="visible"/>
                                      </p:to>
                                    </p:set>
                                    <p:anim calcmode="lin" valueType="num">
                                      <p:cBhvr>
                                        <p:cTn id="37" dur="500" fill="hold"/>
                                        <p:tgtEl>
                                          <p:spTgt spid="84"/>
                                        </p:tgtEl>
                                        <p:attrNameLst>
                                          <p:attrName>ppt_w</p:attrName>
                                        </p:attrNameLst>
                                      </p:cBhvr>
                                      <p:tavLst>
                                        <p:tav tm="0">
                                          <p:val>
                                            <p:fltVal val="0"/>
                                          </p:val>
                                        </p:tav>
                                        <p:tav tm="100000">
                                          <p:val>
                                            <p:strVal val="#ppt_w"/>
                                          </p:val>
                                        </p:tav>
                                      </p:tavLst>
                                    </p:anim>
                                    <p:anim calcmode="lin" valueType="num">
                                      <p:cBhvr>
                                        <p:cTn id="38" dur="500" fill="hold"/>
                                        <p:tgtEl>
                                          <p:spTgt spid="84"/>
                                        </p:tgtEl>
                                        <p:attrNameLst>
                                          <p:attrName>ppt_h</p:attrName>
                                        </p:attrNameLst>
                                      </p:cBhvr>
                                      <p:tavLst>
                                        <p:tav tm="0">
                                          <p:val>
                                            <p:fltVal val="0"/>
                                          </p:val>
                                        </p:tav>
                                        <p:tav tm="100000">
                                          <p:val>
                                            <p:strVal val="#ppt_h"/>
                                          </p:val>
                                        </p:tav>
                                      </p:tavLst>
                                    </p:anim>
                                    <p:animEffect transition="in" filter="fade">
                                      <p:cBhvr>
                                        <p:cTn id="39" dur="500"/>
                                        <p:tgtEl>
                                          <p:spTgt spid="8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5"/>
                                        </p:tgtEl>
                                        <p:attrNameLst>
                                          <p:attrName>style.visibility</p:attrName>
                                        </p:attrNameLst>
                                      </p:cBhvr>
                                      <p:to>
                                        <p:strVal val="visible"/>
                                      </p:to>
                                    </p:set>
                                    <p:anim calcmode="lin" valueType="num">
                                      <p:cBhvr>
                                        <p:cTn id="42" dur="500" fill="hold"/>
                                        <p:tgtEl>
                                          <p:spTgt spid="85"/>
                                        </p:tgtEl>
                                        <p:attrNameLst>
                                          <p:attrName>ppt_w</p:attrName>
                                        </p:attrNameLst>
                                      </p:cBhvr>
                                      <p:tavLst>
                                        <p:tav tm="0">
                                          <p:val>
                                            <p:fltVal val="0"/>
                                          </p:val>
                                        </p:tav>
                                        <p:tav tm="100000">
                                          <p:val>
                                            <p:strVal val="#ppt_w"/>
                                          </p:val>
                                        </p:tav>
                                      </p:tavLst>
                                    </p:anim>
                                    <p:anim calcmode="lin" valueType="num">
                                      <p:cBhvr>
                                        <p:cTn id="43" dur="500" fill="hold"/>
                                        <p:tgtEl>
                                          <p:spTgt spid="85"/>
                                        </p:tgtEl>
                                        <p:attrNameLst>
                                          <p:attrName>ppt_h</p:attrName>
                                        </p:attrNameLst>
                                      </p:cBhvr>
                                      <p:tavLst>
                                        <p:tav tm="0">
                                          <p:val>
                                            <p:fltVal val="0"/>
                                          </p:val>
                                        </p:tav>
                                        <p:tav tm="100000">
                                          <p:val>
                                            <p:strVal val="#ppt_h"/>
                                          </p:val>
                                        </p:tav>
                                      </p:tavLst>
                                    </p:anim>
                                    <p:animEffect transition="in" filter="fade">
                                      <p:cBhvr>
                                        <p:cTn id="44" dur="500"/>
                                        <p:tgtEl>
                                          <p:spTgt spid="8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9"/>
                                        </p:tgtEl>
                                        <p:attrNameLst>
                                          <p:attrName>style.visibility</p:attrName>
                                        </p:attrNameLst>
                                      </p:cBhvr>
                                      <p:to>
                                        <p:strVal val="visible"/>
                                      </p:to>
                                    </p:set>
                                    <p:anim calcmode="lin" valueType="num">
                                      <p:cBhvr>
                                        <p:cTn id="47" dur="500" fill="hold"/>
                                        <p:tgtEl>
                                          <p:spTgt spid="89"/>
                                        </p:tgtEl>
                                        <p:attrNameLst>
                                          <p:attrName>ppt_w</p:attrName>
                                        </p:attrNameLst>
                                      </p:cBhvr>
                                      <p:tavLst>
                                        <p:tav tm="0">
                                          <p:val>
                                            <p:fltVal val="0"/>
                                          </p:val>
                                        </p:tav>
                                        <p:tav tm="100000">
                                          <p:val>
                                            <p:strVal val="#ppt_w"/>
                                          </p:val>
                                        </p:tav>
                                      </p:tavLst>
                                    </p:anim>
                                    <p:anim calcmode="lin" valueType="num">
                                      <p:cBhvr>
                                        <p:cTn id="48" dur="500" fill="hold"/>
                                        <p:tgtEl>
                                          <p:spTgt spid="89"/>
                                        </p:tgtEl>
                                        <p:attrNameLst>
                                          <p:attrName>ppt_h</p:attrName>
                                        </p:attrNameLst>
                                      </p:cBhvr>
                                      <p:tavLst>
                                        <p:tav tm="0">
                                          <p:val>
                                            <p:fltVal val="0"/>
                                          </p:val>
                                        </p:tav>
                                        <p:tav tm="100000">
                                          <p:val>
                                            <p:strVal val="#ppt_h"/>
                                          </p:val>
                                        </p:tav>
                                      </p:tavLst>
                                    </p:anim>
                                    <p:animEffect transition="in" filter="fade">
                                      <p:cBhvr>
                                        <p:cTn id="49" dur="500"/>
                                        <p:tgtEl>
                                          <p:spTgt spid="8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p:cTn id="52" dur="500" fill="hold"/>
                                        <p:tgtEl>
                                          <p:spTgt spid="31"/>
                                        </p:tgtEl>
                                        <p:attrNameLst>
                                          <p:attrName>ppt_w</p:attrName>
                                        </p:attrNameLst>
                                      </p:cBhvr>
                                      <p:tavLst>
                                        <p:tav tm="0">
                                          <p:val>
                                            <p:fltVal val="0"/>
                                          </p:val>
                                        </p:tav>
                                        <p:tav tm="100000">
                                          <p:val>
                                            <p:strVal val="#ppt_w"/>
                                          </p:val>
                                        </p:tav>
                                      </p:tavLst>
                                    </p:anim>
                                    <p:anim calcmode="lin" valueType="num">
                                      <p:cBhvr>
                                        <p:cTn id="53" dur="500" fill="hold"/>
                                        <p:tgtEl>
                                          <p:spTgt spid="31"/>
                                        </p:tgtEl>
                                        <p:attrNameLst>
                                          <p:attrName>ppt_h</p:attrName>
                                        </p:attrNameLst>
                                      </p:cBhvr>
                                      <p:tavLst>
                                        <p:tav tm="0">
                                          <p:val>
                                            <p:fltVal val="0"/>
                                          </p:val>
                                        </p:tav>
                                        <p:tav tm="100000">
                                          <p:val>
                                            <p:strVal val="#ppt_h"/>
                                          </p:val>
                                        </p:tav>
                                      </p:tavLst>
                                    </p:anim>
                                    <p:animEffect transition="in" filter="fade">
                                      <p:cBhvr>
                                        <p:cTn id="54" dur="500"/>
                                        <p:tgtEl>
                                          <p:spTgt spid="3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par>
                                <p:cTn id="60" presetID="53" presetClass="entr" presetSubtype="16" fill="hold" nodeType="with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 calcmode="lin" valueType="num">
                                      <p:cBhvr>
                                        <p:cTn id="67" dur="500" fill="hold"/>
                                        <p:tgtEl>
                                          <p:spTgt spid="49"/>
                                        </p:tgtEl>
                                        <p:attrNameLst>
                                          <p:attrName>ppt_w</p:attrName>
                                        </p:attrNameLst>
                                      </p:cBhvr>
                                      <p:tavLst>
                                        <p:tav tm="0">
                                          <p:val>
                                            <p:fltVal val="0"/>
                                          </p:val>
                                        </p:tav>
                                        <p:tav tm="100000">
                                          <p:val>
                                            <p:strVal val="#ppt_w"/>
                                          </p:val>
                                        </p:tav>
                                      </p:tavLst>
                                    </p:anim>
                                    <p:anim calcmode="lin" valueType="num">
                                      <p:cBhvr>
                                        <p:cTn id="68" dur="500" fill="hold"/>
                                        <p:tgtEl>
                                          <p:spTgt spid="49"/>
                                        </p:tgtEl>
                                        <p:attrNameLst>
                                          <p:attrName>ppt_h</p:attrName>
                                        </p:attrNameLst>
                                      </p:cBhvr>
                                      <p:tavLst>
                                        <p:tav tm="0">
                                          <p:val>
                                            <p:fltVal val="0"/>
                                          </p:val>
                                        </p:tav>
                                        <p:tav tm="100000">
                                          <p:val>
                                            <p:strVal val="#ppt_h"/>
                                          </p:val>
                                        </p:tav>
                                      </p:tavLst>
                                    </p:anim>
                                    <p:animEffect transition="in" filter="fade">
                                      <p:cBhvr>
                                        <p:cTn id="69" dur="500"/>
                                        <p:tgtEl>
                                          <p:spTgt spid="49"/>
                                        </p:tgtEl>
                                      </p:cBhvr>
                                    </p:animEffect>
                                  </p:childTnLst>
                                </p:cTn>
                              </p:par>
                              <p:par>
                                <p:cTn id="70" presetID="53" presetClass="entr" presetSubtype="16" fill="hold" nodeType="withEffect">
                                  <p:stCondLst>
                                    <p:cond delay="0"/>
                                  </p:stCondLst>
                                  <p:childTnLst>
                                    <p:set>
                                      <p:cBhvr>
                                        <p:cTn id="71" dur="1" fill="hold">
                                          <p:stCondLst>
                                            <p:cond delay="0"/>
                                          </p:stCondLst>
                                        </p:cTn>
                                        <p:tgtEl>
                                          <p:spTgt spid="50"/>
                                        </p:tgtEl>
                                        <p:attrNameLst>
                                          <p:attrName>style.visibility</p:attrName>
                                        </p:attrNameLst>
                                      </p:cBhvr>
                                      <p:to>
                                        <p:strVal val="visible"/>
                                      </p:to>
                                    </p:set>
                                    <p:anim calcmode="lin" valueType="num">
                                      <p:cBhvr>
                                        <p:cTn id="72" dur="500" fill="hold"/>
                                        <p:tgtEl>
                                          <p:spTgt spid="50"/>
                                        </p:tgtEl>
                                        <p:attrNameLst>
                                          <p:attrName>ppt_w</p:attrName>
                                        </p:attrNameLst>
                                      </p:cBhvr>
                                      <p:tavLst>
                                        <p:tav tm="0">
                                          <p:val>
                                            <p:fltVal val="0"/>
                                          </p:val>
                                        </p:tav>
                                        <p:tav tm="100000">
                                          <p:val>
                                            <p:strVal val="#ppt_w"/>
                                          </p:val>
                                        </p:tav>
                                      </p:tavLst>
                                    </p:anim>
                                    <p:anim calcmode="lin" valueType="num">
                                      <p:cBhvr>
                                        <p:cTn id="73" dur="500" fill="hold"/>
                                        <p:tgtEl>
                                          <p:spTgt spid="50"/>
                                        </p:tgtEl>
                                        <p:attrNameLst>
                                          <p:attrName>ppt_h</p:attrName>
                                        </p:attrNameLst>
                                      </p:cBhvr>
                                      <p:tavLst>
                                        <p:tav tm="0">
                                          <p:val>
                                            <p:fltVal val="0"/>
                                          </p:val>
                                        </p:tav>
                                        <p:tav tm="100000">
                                          <p:val>
                                            <p:strVal val="#ppt_h"/>
                                          </p:val>
                                        </p:tav>
                                      </p:tavLst>
                                    </p:anim>
                                    <p:animEffect transition="in" filter="fade">
                                      <p:cBhvr>
                                        <p:cTn id="74" dur="500"/>
                                        <p:tgtEl>
                                          <p:spTgt spid="5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54"/>
                                        </p:tgtEl>
                                        <p:attrNameLst>
                                          <p:attrName>style.visibility</p:attrName>
                                        </p:attrNameLst>
                                      </p:cBhvr>
                                      <p:to>
                                        <p:strVal val="visible"/>
                                      </p:to>
                                    </p:set>
                                    <p:anim calcmode="lin" valueType="num">
                                      <p:cBhvr>
                                        <p:cTn id="77" dur="500" fill="hold"/>
                                        <p:tgtEl>
                                          <p:spTgt spid="54"/>
                                        </p:tgtEl>
                                        <p:attrNameLst>
                                          <p:attrName>ppt_w</p:attrName>
                                        </p:attrNameLst>
                                      </p:cBhvr>
                                      <p:tavLst>
                                        <p:tav tm="0">
                                          <p:val>
                                            <p:fltVal val="0"/>
                                          </p:val>
                                        </p:tav>
                                        <p:tav tm="100000">
                                          <p:val>
                                            <p:strVal val="#ppt_w"/>
                                          </p:val>
                                        </p:tav>
                                      </p:tavLst>
                                    </p:anim>
                                    <p:anim calcmode="lin" valueType="num">
                                      <p:cBhvr>
                                        <p:cTn id="78" dur="500" fill="hold"/>
                                        <p:tgtEl>
                                          <p:spTgt spid="54"/>
                                        </p:tgtEl>
                                        <p:attrNameLst>
                                          <p:attrName>ppt_h</p:attrName>
                                        </p:attrNameLst>
                                      </p:cBhvr>
                                      <p:tavLst>
                                        <p:tav tm="0">
                                          <p:val>
                                            <p:fltVal val="0"/>
                                          </p:val>
                                        </p:tav>
                                        <p:tav tm="100000">
                                          <p:val>
                                            <p:strVal val="#ppt_h"/>
                                          </p:val>
                                        </p:tav>
                                      </p:tavLst>
                                    </p:anim>
                                    <p:animEffect transition="in" filter="fade">
                                      <p:cBhvr>
                                        <p:cTn id="79" dur="500"/>
                                        <p:tgtEl>
                                          <p:spTgt spid="54"/>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55">
                                            <p:txEl>
                                              <p:pRg st="0" end="0"/>
                                            </p:txEl>
                                          </p:spTgt>
                                        </p:tgtEl>
                                        <p:attrNameLst>
                                          <p:attrName>style.visibility</p:attrName>
                                        </p:attrNameLst>
                                      </p:cBhvr>
                                      <p:to>
                                        <p:strVal val="visible"/>
                                      </p:to>
                                    </p:set>
                                    <p:anim calcmode="lin" valueType="num">
                                      <p:cBhvr additive="base">
                                        <p:cTn id="84"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5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79" grpId="0" animBg="1"/>
      <p:bldP spid="79" grpId="1" animBg="1"/>
      <p:bldP spid="84" grpId="0" animBg="1"/>
      <p:bldP spid="84" grpId="1" animBg="1"/>
      <p:bldP spid="85" grpId="0"/>
      <p:bldP spid="85" grpId="1"/>
      <p:bldP spid="89" grpId="0"/>
      <p:bldP spid="89" grpId="1"/>
      <p:bldP spid="31" grpId="0"/>
      <p:bldP spid="31" grpId="1"/>
      <p:bldP spid="32" grpId="0"/>
      <p:bldP spid="32" grpId="1"/>
      <p:bldP spid="49" grpId="0"/>
      <p:bldP spid="49" grpId="1"/>
      <p:bldP spid="54" grpId="0"/>
      <p:bldP spid="5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716093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网络通信安全模型</a:t>
            </a:r>
          </a:p>
        </p:txBody>
      </p:sp>
      <p:grpSp>
        <p:nvGrpSpPr>
          <p:cNvPr id="34" name="Group 2">
            <a:extLst>
              <a:ext uri="{FF2B5EF4-FFF2-40B4-BE49-F238E27FC236}">
                <a16:creationId xmlns:a16="http://schemas.microsoft.com/office/drawing/2014/main" id="{1C316131-9816-092C-48C5-21E7CB24BAA6}"/>
              </a:ext>
            </a:extLst>
          </p:cNvPr>
          <p:cNvGrpSpPr>
            <a:grpSpLocks/>
          </p:cNvGrpSpPr>
          <p:nvPr/>
        </p:nvGrpSpPr>
        <p:grpSpPr bwMode="auto">
          <a:xfrm>
            <a:off x="2321799" y="1788319"/>
            <a:ext cx="7924800" cy="3281363"/>
            <a:chOff x="576" y="1104"/>
            <a:chExt cx="4992" cy="2067"/>
          </a:xfrm>
        </p:grpSpPr>
        <p:sp>
          <p:nvSpPr>
            <p:cNvPr id="38" name="Text Box 3">
              <a:extLst>
                <a:ext uri="{FF2B5EF4-FFF2-40B4-BE49-F238E27FC236}">
                  <a16:creationId xmlns:a16="http://schemas.microsoft.com/office/drawing/2014/main" id="{BF9A4D7B-84CC-5074-A5BD-74B3D1B20093}"/>
                </a:ext>
              </a:extLst>
            </p:cNvPr>
            <p:cNvSpPr txBox="1">
              <a:spLocks noChangeArrowheads="1"/>
            </p:cNvSpPr>
            <p:nvPr/>
          </p:nvSpPr>
          <p:spPr bwMode="auto">
            <a:xfrm>
              <a:off x="1152" y="1680"/>
              <a:ext cx="576"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明文</a:t>
              </a:r>
            </a:p>
          </p:txBody>
        </p:sp>
        <p:sp>
          <p:nvSpPr>
            <p:cNvPr id="39" name="Text Box 4">
              <a:extLst>
                <a:ext uri="{FF2B5EF4-FFF2-40B4-BE49-F238E27FC236}">
                  <a16:creationId xmlns:a16="http://schemas.microsoft.com/office/drawing/2014/main" id="{58DD1DEE-46A7-FC72-B0B7-84FCF333174B}"/>
                </a:ext>
              </a:extLst>
            </p:cNvPr>
            <p:cNvSpPr txBox="1">
              <a:spLocks noChangeArrowheads="1"/>
            </p:cNvSpPr>
            <p:nvPr/>
          </p:nvSpPr>
          <p:spPr bwMode="auto">
            <a:xfrm>
              <a:off x="576" y="1968"/>
              <a:ext cx="528" cy="291"/>
            </a:xfrm>
            <a:prstGeom prst="rect">
              <a:avLst/>
            </a:prstGeom>
            <a:noFill/>
            <a:ln w="9525">
              <a:solidFill>
                <a:schemeClr val="tx1"/>
              </a:solidFill>
              <a:miter lim="800000"/>
              <a:headEnd/>
              <a:tailEnd/>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信源</a:t>
              </a:r>
            </a:p>
          </p:txBody>
        </p:sp>
        <p:sp>
          <p:nvSpPr>
            <p:cNvPr id="44" name="Text Box 5">
              <a:extLst>
                <a:ext uri="{FF2B5EF4-FFF2-40B4-BE49-F238E27FC236}">
                  <a16:creationId xmlns:a16="http://schemas.microsoft.com/office/drawing/2014/main" id="{42608737-7BBD-11B2-583B-2F18C9FE1E1D}"/>
                </a:ext>
              </a:extLst>
            </p:cNvPr>
            <p:cNvSpPr txBox="1">
              <a:spLocks noChangeArrowheads="1"/>
            </p:cNvSpPr>
            <p:nvPr/>
          </p:nvSpPr>
          <p:spPr bwMode="auto">
            <a:xfrm>
              <a:off x="1776" y="1968"/>
              <a:ext cx="912"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加密变换</a:t>
              </a:r>
            </a:p>
          </p:txBody>
        </p:sp>
        <p:sp>
          <p:nvSpPr>
            <p:cNvPr id="53" name="Text Box 6">
              <a:extLst>
                <a:ext uri="{FF2B5EF4-FFF2-40B4-BE49-F238E27FC236}">
                  <a16:creationId xmlns:a16="http://schemas.microsoft.com/office/drawing/2014/main" id="{E274E59E-655F-4614-336E-D70AABC01ADE}"/>
                </a:ext>
              </a:extLst>
            </p:cNvPr>
            <p:cNvSpPr txBox="1">
              <a:spLocks noChangeArrowheads="1"/>
            </p:cNvSpPr>
            <p:nvPr/>
          </p:nvSpPr>
          <p:spPr bwMode="auto">
            <a:xfrm>
              <a:off x="3504" y="1968"/>
              <a:ext cx="912"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解密变换</a:t>
              </a:r>
            </a:p>
          </p:txBody>
        </p:sp>
        <p:sp>
          <p:nvSpPr>
            <p:cNvPr id="56" name="Text Box 7">
              <a:extLst>
                <a:ext uri="{FF2B5EF4-FFF2-40B4-BE49-F238E27FC236}">
                  <a16:creationId xmlns:a16="http://schemas.microsoft.com/office/drawing/2014/main" id="{CB3DA773-E27C-3AD8-E927-5F7CE6850D45}"/>
                </a:ext>
              </a:extLst>
            </p:cNvPr>
            <p:cNvSpPr txBox="1">
              <a:spLocks noChangeArrowheads="1"/>
            </p:cNvSpPr>
            <p:nvPr/>
          </p:nvSpPr>
          <p:spPr bwMode="auto">
            <a:xfrm>
              <a:off x="4896" y="1968"/>
              <a:ext cx="528" cy="291"/>
            </a:xfrm>
            <a:prstGeom prst="rect">
              <a:avLst/>
            </a:prstGeom>
            <a:noFill/>
            <a:ln w="9525">
              <a:solidFill>
                <a:schemeClr val="tx1"/>
              </a:solidFill>
              <a:miter lim="800000"/>
              <a:headEnd/>
              <a:tailEnd/>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信宿</a:t>
              </a:r>
            </a:p>
          </p:txBody>
        </p:sp>
        <p:sp>
          <p:nvSpPr>
            <p:cNvPr id="57" name="Text Box 8">
              <a:extLst>
                <a:ext uri="{FF2B5EF4-FFF2-40B4-BE49-F238E27FC236}">
                  <a16:creationId xmlns:a16="http://schemas.microsoft.com/office/drawing/2014/main" id="{33C68B7A-305B-A201-E070-7AA7703067E1}"/>
                </a:ext>
              </a:extLst>
            </p:cNvPr>
            <p:cNvSpPr txBox="1">
              <a:spLocks noChangeArrowheads="1"/>
            </p:cNvSpPr>
            <p:nvPr/>
          </p:nvSpPr>
          <p:spPr bwMode="auto">
            <a:xfrm>
              <a:off x="2544" y="2880"/>
              <a:ext cx="960" cy="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密码分析</a:t>
              </a:r>
            </a:p>
          </p:txBody>
        </p:sp>
        <p:sp>
          <p:nvSpPr>
            <p:cNvPr id="58" name="Line 9">
              <a:extLst>
                <a:ext uri="{FF2B5EF4-FFF2-40B4-BE49-F238E27FC236}">
                  <a16:creationId xmlns:a16="http://schemas.microsoft.com/office/drawing/2014/main" id="{3C4B99DB-5B44-FE37-6E17-B8B91CF9A08B}"/>
                </a:ext>
              </a:extLst>
            </p:cNvPr>
            <p:cNvSpPr>
              <a:spLocks noChangeShapeType="1"/>
            </p:cNvSpPr>
            <p:nvPr/>
          </p:nvSpPr>
          <p:spPr bwMode="auto">
            <a:xfrm>
              <a:off x="1104" y="2112"/>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59" name="Line 10">
              <a:extLst>
                <a:ext uri="{FF2B5EF4-FFF2-40B4-BE49-F238E27FC236}">
                  <a16:creationId xmlns:a16="http://schemas.microsoft.com/office/drawing/2014/main" id="{A8F2AA69-77BA-B4F4-4EFB-19469836E8CB}"/>
                </a:ext>
              </a:extLst>
            </p:cNvPr>
            <p:cNvSpPr>
              <a:spLocks noChangeShapeType="1"/>
            </p:cNvSpPr>
            <p:nvPr/>
          </p:nvSpPr>
          <p:spPr bwMode="auto">
            <a:xfrm>
              <a:off x="2688" y="211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60" name="Line 11">
              <a:extLst>
                <a:ext uri="{FF2B5EF4-FFF2-40B4-BE49-F238E27FC236}">
                  <a16:creationId xmlns:a16="http://schemas.microsoft.com/office/drawing/2014/main" id="{4C04CC45-F917-5B69-1C8B-97398748CD51}"/>
                </a:ext>
              </a:extLst>
            </p:cNvPr>
            <p:cNvSpPr>
              <a:spLocks noChangeShapeType="1"/>
            </p:cNvSpPr>
            <p:nvPr/>
          </p:nvSpPr>
          <p:spPr bwMode="auto">
            <a:xfrm>
              <a:off x="4416" y="211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61" name="Line 12">
              <a:extLst>
                <a:ext uri="{FF2B5EF4-FFF2-40B4-BE49-F238E27FC236}">
                  <a16:creationId xmlns:a16="http://schemas.microsoft.com/office/drawing/2014/main" id="{7BBC7261-162F-32C4-F377-ADF95D3677FB}"/>
                </a:ext>
              </a:extLst>
            </p:cNvPr>
            <p:cNvSpPr>
              <a:spLocks noChangeShapeType="1"/>
            </p:cNvSpPr>
            <p:nvPr/>
          </p:nvSpPr>
          <p:spPr bwMode="auto">
            <a:xfrm>
              <a:off x="2880" y="2256"/>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62" name="Line 13">
              <a:extLst>
                <a:ext uri="{FF2B5EF4-FFF2-40B4-BE49-F238E27FC236}">
                  <a16:creationId xmlns:a16="http://schemas.microsoft.com/office/drawing/2014/main" id="{A127C6B0-ADE8-9C51-20A2-9CFE6E691C23}"/>
                </a:ext>
              </a:extLst>
            </p:cNvPr>
            <p:cNvSpPr>
              <a:spLocks noChangeShapeType="1"/>
            </p:cNvSpPr>
            <p:nvPr/>
          </p:nvSpPr>
          <p:spPr bwMode="auto">
            <a:xfrm flipV="1">
              <a:off x="3216" y="2208"/>
              <a:ext cx="0"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63" name="Text Box 14">
              <a:extLst>
                <a:ext uri="{FF2B5EF4-FFF2-40B4-BE49-F238E27FC236}">
                  <a16:creationId xmlns:a16="http://schemas.microsoft.com/office/drawing/2014/main" id="{F741F39C-0CAA-9035-6F8F-4BF3CEC1C017}"/>
                </a:ext>
              </a:extLst>
            </p:cNvPr>
            <p:cNvSpPr txBox="1">
              <a:spLocks noChangeArrowheads="1"/>
            </p:cNvSpPr>
            <p:nvPr/>
          </p:nvSpPr>
          <p:spPr bwMode="auto">
            <a:xfrm>
              <a:off x="2832" y="1584"/>
              <a:ext cx="528"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密文</a:t>
              </a:r>
            </a:p>
          </p:txBody>
        </p:sp>
        <p:sp>
          <p:nvSpPr>
            <p:cNvPr id="64" name="Text Box 15">
              <a:extLst>
                <a:ext uri="{FF2B5EF4-FFF2-40B4-BE49-F238E27FC236}">
                  <a16:creationId xmlns:a16="http://schemas.microsoft.com/office/drawing/2014/main" id="{D3243D01-AA62-ADE0-6BA8-CC4BC8641FF5}"/>
                </a:ext>
              </a:extLst>
            </p:cNvPr>
            <p:cNvSpPr txBox="1">
              <a:spLocks noChangeArrowheads="1"/>
            </p:cNvSpPr>
            <p:nvPr/>
          </p:nvSpPr>
          <p:spPr bwMode="auto">
            <a:xfrm>
              <a:off x="4416" y="1728"/>
              <a:ext cx="576"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明文</a:t>
              </a:r>
            </a:p>
          </p:txBody>
        </p:sp>
        <p:sp>
          <p:nvSpPr>
            <p:cNvPr id="65" name="Text Box 16">
              <a:extLst>
                <a:ext uri="{FF2B5EF4-FFF2-40B4-BE49-F238E27FC236}">
                  <a16:creationId xmlns:a16="http://schemas.microsoft.com/office/drawing/2014/main" id="{F73BFA70-ADD0-FF07-0FF2-56863FEE8834}"/>
                </a:ext>
              </a:extLst>
            </p:cNvPr>
            <p:cNvSpPr txBox="1">
              <a:spLocks noChangeArrowheads="1"/>
            </p:cNvSpPr>
            <p:nvPr/>
          </p:nvSpPr>
          <p:spPr bwMode="auto">
            <a:xfrm>
              <a:off x="2208" y="2448"/>
              <a:ext cx="576"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zh-CN" altLang="en-US" sz="2400" b="1" dirty="0">
                  <a:latin typeface="宋体" panose="02010600030101010101" pitchFamily="2" charset="-122"/>
                  <a:ea typeface="宋体" panose="02010600030101010101" pitchFamily="2" charset="-122"/>
                </a:rPr>
                <a:t>窃听</a:t>
              </a:r>
            </a:p>
          </p:txBody>
        </p:sp>
        <p:sp>
          <p:nvSpPr>
            <p:cNvPr id="66" name="Text Box 17">
              <a:extLst>
                <a:ext uri="{FF2B5EF4-FFF2-40B4-BE49-F238E27FC236}">
                  <a16:creationId xmlns:a16="http://schemas.microsoft.com/office/drawing/2014/main" id="{1669D597-45D3-075E-1620-42B1AB6C46C1}"/>
                </a:ext>
              </a:extLst>
            </p:cNvPr>
            <p:cNvSpPr txBox="1">
              <a:spLocks noChangeArrowheads="1"/>
            </p:cNvSpPr>
            <p:nvPr/>
          </p:nvSpPr>
          <p:spPr bwMode="auto">
            <a:xfrm>
              <a:off x="3360" y="2448"/>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干扰</a:t>
              </a:r>
            </a:p>
          </p:txBody>
        </p:sp>
        <p:sp>
          <p:nvSpPr>
            <p:cNvPr id="67" name="Text Box 18">
              <a:extLst>
                <a:ext uri="{FF2B5EF4-FFF2-40B4-BE49-F238E27FC236}">
                  <a16:creationId xmlns:a16="http://schemas.microsoft.com/office/drawing/2014/main" id="{815F823A-9DC6-6283-1F8E-003E3E418507}"/>
                </a:ext>
              </a:extLst>
            </p:cNvPr>
            <p:cNvSpPr txBox="1">
              <a:spLocks noChangeArrowheads="1"/>
            </p:cNvSpPr>
            <p:nvPr/>
          </p:nvSpPr>
          <p:spPr bwMode="auto">
            <a:xfrm>
              <a:off x="1728" y="1104"/>
              <a:ext cx="10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加密密钥</a:t>
              </a:r>
            </a:p>
          </p:txBody>
        </p:sp>
        <p:sp>
          <p:nvSpPr>
            <p:cNvPr id="68" name="Text Box 19">
              <a:extLst>
                <a:ext uri="{FF2B5EF4-FFF2-40B4-BE49-F238E27FC236}">
                  <a16:creationId xmlns:a16="http://schemas.microsoft.com/office/drawing/2014/main" id="{199A812D-4B87-4C42-E4FE-A132A9A66307}"/>
                </a:ext>
              </a:extLst>
            </p:cNvPr>
            <p:cNvSpPr txBox="1">
              <a:spLocks noChangeArrowheads="1"/>
            </p:cNvSpPr>
            <p:nvPr/>
          </p:nvSpPr>
          <p:spPr bwMode="auto">
            <a:xfrm>
              <a:off x="3456" y="1152"/>
              <a:ext cx="10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宋体" panose="02010600030101010101" pitchFamily="2" charset="-122"/>
                </a:rPr>
                <a:t>解密密钥</a:t>
              </a:r>
            </a:p>
          </p:txBody>
        </p:sp>
        <p:sp>
          <p:nvSpPr>
            <p:cNvPr id="69" name="Line 20">
              <a:extLst>
                <a:ext uri="{FF2B5EF4-FFF2-40B4-BE49-F238E27FC236}">
                  <a16:creationId xmlns:a16="http://schemas.microsoft.com/office/drawing/2014/main" id="{70D3A6AB-6DCB-57C4-355E-A33941CC1293}"/>
                </a:ext>
              </a:extLst>
            </p:cNvPr>
            <p:cNvSpPr>
              <a:spLocks noChangeShapeType="1"/>
            </p:cNvSpPr>
            <p:nvPr/>
          </p:nvSpPr>
          <p:spPr bwMode="auto">
            <a:xfrm>
              <a:off x="2256" y="144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70" name="Line 21">
              <a:extLst>
                <a:ext uri="{FF2B5EF4-FFF2-40B4-BE49-F238E27FC236}">
                  <a16:creationId xmlns:a16="http://schemas.microsoft.com/office/drawing/2014/main" id="{225CC0B9-FFF4-DBA3-4EE7-C983AA58F7A9}"/>
                </a:ext>
              </a:extLst>
            </p:cNvPr>
            <p:cNvSpPr>
              <a:spLocks noChangeShapeType="1"/>
            </p:cNvSpPr>
            <p:nvPr/>
          </p:nvSpPr>
          <p:spPr bwMode="auto">
            <a:xfrm>
              <a:off x="3888" y="1488"/>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宋体" panose="02010600030101010101" pitchFamily="2" charset="-122"/>
                <a:ea typeface="宋体" panose="02010600030101010101" pitchFamily="2" charset="-122"/>
              </a:endParaRPr>
            </a:p>
          </p:txBody>
        </p:sp>
        <p:sp>
          <p:nvSpPr>
            <p:cNvPr id="71" name="Text Box 22">
              <a:extLst>
                <a:ext uri="{FF2B5EF4-FFF2-40B4-BE49-F238E27FC236}">
                  <a16:creationId xmlns:a16="http://schemas.microsoft.com/office/drawing/2014/main" id="{24D897DD-2978-A803-79F1-706760826C09}"/>
                </a:ext>
              </a:extLst>
            </p:cNvPr>
            <p:cNvSpPr txBox="1">
              <a:spLocks noChangeArrowheads="1"/>
            </p:cNvSpPr>
            <p:nvPr/>
          </p:nvSpPr>
          <p:spPr bwMode="auto">
            <a:xfrm>
              <a:off x="576" y="2352"/>
              <a:ext cx="716"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en-US" altLang="zh-CN" sz="2400" b="1" dirty="0">
                  <a:latin typeface="宋体" panose="02010600030101010101" pitchFamily="2" charset="-122"/>
                  <a:ea typeface="宋体" panose="02010600030101010101" pitchFamily="2" charset="-122"/>
                </a:rPr>
                <a:t>Alice</a:t>
              </a:r>
            </a:p>
          </p:txBody>
        </p:sp>
        <p:sp>
          <p:nvSpPr>
            <p:cNvPr id="72" name="Text Box 23">
              <a:extLst>
                <a:ext uri="{FF2B5EF4-FFF2-40B4-BE49-F238E27FC236}">
                  <a16:creationId xmlns:a16="http://schemas.microsoft.com/office/drawing/2014/main" id="{71B6CD9F-ED96-8F1A-41BD-D60AF03E8159}"/>
                </a:ext>
              </a:extLst>
            </p:cNvPr>
            <p:cNvSpPr txBox="1">
              <a:spLocks noChangeArrowheads="1"/>
            </p:cNvSpPr>
            <p:nvPr/>
          </p:nvSpPr>
          <p:spPr bwMode="auto">
            <a:xfrm>
              <a:off x="4992" y="2400"/>
              <a:ext cx="576" cy="291"/>
            </a:xfrm>
            <a:prstGeom prst="rect">
              <a:avLst/>
            </a:prstGeom>
            <a:noFill/>
            <a:ln>
              <a:noFill/>
            </a:ln>
            <a:effectLst/>
          </p:spPr>
          <p:txBody>
            <a:bodyPr>
              <a:spAutoFit/>
            </a:bodyPr>
            <a:lstStyle>
              <a:lvl1pPr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1pPr>
              <a:lvl2pPr marL="742950" indent="-28575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2pPr>
              <a:lvl3pPr marL="11430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3pPr>
              <a:lvl4pPr marL="16002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4pPr>
              <a:lvl5pPr marL="2057400" indent="-228600" algn="l" eaLnBrk="0" hangingPunct="0">
                <a:lnSpc>
                  <a:spcPct val="120000"/>
                </a:lnSpc>
                <a:spcBef>
                  <a:spcPct val="20000"/>
                </a:spcBef>
                <a:defRPr kumimoji="1" sz="2800">
                  <a:solidFill>
                    <a:schemeClr val="tx1"/>
                  </a:solidFill>
                  <a:latin typeface="Times New Roman" panose="02020603050405020304" pitchFamily="18" charset="0"/>
                  <a:ea typeface="楷体_GB2312" pitchFamily="49" charset="-122"/>
                </a:defRPr>
              </a:lvl5pPr>
              <a:lvl6pPr marL="25146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6pPr>
              <a:lvl7pPr marL="29718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7pPr>
              <a:lvl8pPr marL="34290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8pPr>
              <a:lvl9pPr marL="3886200" indent="-228600" eaLnBrk="0" fontAlgn="base" hangingPunct="0">
                <a:lnSpc>
                  <a:spcPct val="120000"/>
                </a:lnSpc>
                <a:spcBef>
                  <a:spcPct val="20000"/>
                </a:spcBef>
                <a:spcAft>
                  <a:spcPct val="0"/>
                </a:spcAft>
                <a:defRPr kumimoji="1" sz="28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50000"/>
                </a:spcBef>
                <a:defRPr/>
              </a:pPr>
              <a:r>
                <a:rPr lang="en-US" altLang="zh-CN" sz="2400" b="1" dirty="0">
                  <a:latin typeface="宋体" panose="02010600030101010101" pitchFamily="2" charset="-122"/>
                  <a:ea typeface="宋体" panose="02010600030101010101" pitchFamily="2" charset="-122"/>
                </a:rPr>
                <a:t>Bob</a:t>
              </a:r>
            </a:p>
          </p:txBody>
        </p:sp>
      </p:grpSp>
    </p:spTree>
    <p:extLst>
      <p:ext uri="{BB962C8B-B14F-4D97-AF65-F5344CB8AC3E}">
        <p14:creationId xmlns:p14="http://schemas.microsoft.com/office/powerpoint/2010/main" val="407765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6750566"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安全性攻击分类</a:t>
            </a:r>
          </a:p>
        </p:txBody>
      </p:sp>
      <p:sp>
        <p:nvSpPr>
          <p:cNvPr id="26" name="文本框 25">
            <a:extLst>
              <a:ext uri="{FF2B5EF4-FFF2-40B4-BE49-F238E27FC236}">
                <a16:creationId xmlns:a16="http://schemas.microsoft.com/office/drawing/2014/main" id="{14083B43-F40C-35C3-D1DD-972141FFC6CF}"/>
              </a:ext>
            </a:extLst>
          </p:cNvPr>
          <p:cNvSpPr txBox="1"/>
          <p:nvPr/>
        </p:nvSpPr>
        <p:spPr>
          <a:xfrm>
            <a:off x="542260" y="2049729"/>
            <a:ext cx="11254563" cy="2775760"/>
          </a:xfrm>
          <a:prstGeom prst="rect">
            <a:avLst/>
          </a:prstGeom>
          <a:noFill/>
        </p:spPr>
        <p:txBody>
          <a:bodyPr wrap="square">
            <a:spAutoFit/>
          </a:bodyPr>
          <a:lstStyle/>
          <a:p>
            <a:pPr>
              <a:lnSpc>
                <a:spcPct val="150000"/>
              </a:lnSpc>
              <a:buClr>
                <a:schemeClr val="accent1">
                  <a:lumMod val="75000"/>
                </a:schemeClr>
              </a:buClr>
              <a:buSzPct val="60000"/>
              <a:buFont typeface="Wingdings" panose="05000000000000000000" pitchFamily="2" charset="2"/>
              <a:buChar char="n"/>
            </a:pPr>
            <a:r>
              <a:rPr kumimoji="1" lang="zh-CN" altLang="en-US" sz="2400" dirty="0">
                <a:latin typeface="宋体" panose="02010600030101010101" pitchFamily="2" charset="-122"/>
                <a:ea typeface="宋体" panose="02010600030101010101" pitchFamily="2" charset="-122"/>
              </a:rPr>
              <a:t>被动攻击：即窃听，是对系统的保密性进行攻击，如搭线窃听、对文件或程序的非法拷贝等，以获取他人的信息。</a:t>
            </a:r>
            <a:endParaRPr kumimoji="1" lang="en-CA" altLang="zh-CN" sz="2400" dirty="0">
              <a:latin typeface="宋体" panose="02010600030101010101" pitchFamily="2" charset="-122"/>
              <a:ea typeface="宋体" panose="02010600030101010101" pitchFamily="2" charset="-122"/>
            </a:endParaRPr>
          </a:p>
          <a:p>
            <a:pPr>
              <a:lnSpc>
                <a:spcPct val="150000"/>
              </a:lnSpc>
              <a:buClr>
                <a:schemeClr val="accent1">
                  <a:lumMod val="75000"/>
                </a:schemeClr>
              </a:buClr>
              <a:buSzPct val="60000"/>
              <a:buFont typeface="Wingdings" panose="05000000000000000000" pitchFamily="2" charset="2"/>
              <a:buChar char="n"/>
            </a:pPr>
            <a:endParaRPr kumimoji="1" lang="zh-CN" altLang="en-US" sz="2400" dirty="0">
              <a:latin typeface="宋体" panose="02010600030101010101" pitchFamily="2" charset="-122"/>
              <a:ea typeface="宋体" panose="02010600030101010101" pitchFamily="2" charset="-122"/>
            </a:endParaRPr>
          </a:p>
          <a:p>
            <a:pPr>
              <a:lnSpc>
                <a:spcPct val="150000"/>
              </a:lnSpc>
              <a:buClr>
                <a:schemeClr val="accent1">
                  <a:lumMod val="75000"/>
                </a:schemeClr>
              </a:buClr>
              <a:buSzPct val="60000"/>
              <a:buFont typeface="Wingdings" panose="05000000000000000000" pitchFamily="2" charset="2"/>
              <a:buChar char="n"/>
            </a:pPr>
            <a:r>
              <a:rPr kumimoji="1" lang="zh-CN" altLang="en-US" sz="2400" dirty="0">
                <a:latin typeface="宋体" panose="02010600030101010101" pitchFamily="2" charset="-122"/>
                <a:ea typeface="宋体" panose="02010600030101010101" pitchFamily="2" charset="-122"/>
              </a:rPr>
              <a:t>主动攻击：包括对数据流的某些篡改或产生某些假的数据流。主动攻击又可分为中断、篡改（有中生变）、伪造（无中生有）、重放等。</a:t>
            </a:r>
          </a:p>
        </p:txBody>
      </p:sp>
    </p:spTree>
    <p:extLst>
      <p:ext uri="{BB962C8B-B14F-4D97-AF65-F5344CB8AC3E}">
        <p14:creationId xmlns:p14="http://schemas.microsoft.com/office/powerpoint/2010/main" val="3521950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主动攻击</a:t>
            </a:r>
          </a:p>
        </p:txBody>
      </p:sp>
      <p:sp>
        <p:nvSpPr>
          <p:cNvPr id="26" name="文本框 25">
            <a:extLst>
              <a:ext uri="{FF2B5EF4-FFF2-40B4-BE49-F238E27FC236}">
                <a16:creationId xmlns:a16="http://schemas.microsoft.com/office/drawing/2014/main" id="{14083B43-F40C-35C3-D1DD-972141FFC6CF}"/>
              </a:ext>
            </a:extLst>
          </p:cNvPr>
          <p:cNvSpPr txBox="1"/>
          <p:nvPr/>
        </p:nvSpPr>
        <p:spPr>
          <a:xfrm>
            <a:off x="1072554" y="1280685"/>
            <a:ext cx="6443759" cy="2185214"/>
          </a:xfrm>
          <a:prstGeom prst="rect">
            <a:avLst/>
          </a:prstGeom>
          <a:noFill/>
        </p:spPr>
        <p:txBody>
          <a:bodyPr wrap="square">
            <a:spAutoFit/>
          </a:bodyPr>
          <a:lstStyle/>
          <a:p>
            <a:pPr marL="342891" indent="-342891">
              <a:lnSpc>
                <a:spcPct val="80000"/>
              </a:lnSpc>
              <a:spcBef>
                <a:spcPts val="600"/>
              </a:spcBef>
              <a:spcAft>
                <a:spcPts val="600"/>
              </a:spcAft>
              <a:buClr>
                <a:schemeClr val="accent1">
                  <a:lumMod val="75000"/>
                </a:schemeClr>
              </a:buClr>
              <a:buSzPct val="60000"/>
              <a:buFont typeface="Wingdings" panose="05000000000000000000" pitchFamily="2" charset="2"/>
              <a:buChar char="l"/>
            </a:pPr>
            <a:r>
              <a:rPr kumimoji="1" lang="zh-CN" altLang="en-US" sz="2400" dirty="0">
                <a:latin typeface="宋体" panose="02010600030101010101" pitchFamily="2" charset="-122"/>
                <a:ea typeface="宋体" panose="02010600030101010101" pitchFamily="2" charset="-122"/>
              </a:rPr>
              <a:t>中断，</a:t>
            </a:r>
            <a:r>
              <a:rPr kumimoji="1" lang="en-US" altLang="zh-CN" sz="2400" dirty="0">
                <a:latin typeface="宋体" panose="02010600030101010101" pitchFamily="2" charset="-122"/>
                <a:ea typeface="宋体" panose="02010600030101010101" pitchFamily="2" charset="-122"/>
              </a:rPr>
              <a:t>interruption </a:t>
            </a:r>
          </a:p>
          <a:p>
            <a:pPr marL="342891" indent="-342891">
              <a:lnSpc>
                <a:spcPct val="80000"/>
              </a:lnSpc>
              <a:spcBef>
                <a:spcPts val="600"/>
              </a:spcBef>
              <a:spcAft>
                <a:spcPts val="600"/>
              </a:spcAft>
              <a:buClr>
                <a:schemeClr val="accent1">
                  <a:lumMod val="75000"/>
                </a:schemeClr>
              </a:buClr>
              <a:buSzPct val="60000"/>
              <a:buFont typeface="Wingdings" panose="05000000000000000000" pitchFamily="2" charset="2"/>
              <a:buChar char="l"/>
            </a:pPr>
            <a:r>
              <a:rPr kumimoji="1" lang="zh-CN" altLang="en-US" sz="2400" dirty="0">
                <a:latin typeface="宋体" panose="02010600030101010101" pitchFamily="2" charset="-122"/>
                <a:ea typeface="宋体" panose="02010600030101010101" pitchFamily="2" charset="-122"/>
              </a:rPr>
              <a:t>重放，</a:t>
            </a:r>
            <a:r>
              <a:rPr kumimoji="1" lang="en-US" altLang="zh-CN" sz="2400" dirty="0">
                <a:latin typeface="宋体" panose="02010600030101010101" pitchFamily="2" charset="-122"/>
                <a:ea typeface="宋体" panose="02010600030101010101" pitchFamily="2" charset="-122"/>
              </a:rPr>
              <a:t>replay </a:t>
            </a:r>
          </a:p>
          <a:p>
            <a:pPr marL="342891" indent="-342891">
              <a:lnSpc>
                <a:spcPct val="80000"/>
              </a:lnSpc>
              <a:spcBef>
                <a:spcPts val="600"/>
              </a:spcBef>
              <a:spcAft>
                <a:spcPts val="600"/>
              </a:spcAft>
              <a:buClr>
                <a:schemeClr val="accent1">
                  <a:lumMod val="75000"/>
                </a:schemeClr>
              </a:buClr>
              <a:buSzPct val="60000"/>
              <a:buFont typeface="Wingdings" panose="05000000000000000000" pitchFamily="2" charset="2"/>
              <a:buChar char="l"/>
            </a:pPr>
            <a:r>
              <a:rPr kumimoji="1" lang="zh-CN" altLang="en-US" sz="2400" dirty="0">
                <a:latin typeface="宋体" panose="02010600030101010101" pitchFamily="2" charset="-122"/>
                <a:ea typeface="宋体" panose="02010600030101010101" pitchFamily="2" charset="-122"/>
              </a:rPr>
              <a:t>篡改，</a:t>
            </a:r>
            <a:r>
              <a:rPr kumimoji="1" lang="en-US" altLang="zh-CN" sz="2400" dirty="0">
                <a:latin typeface="宋体" panose="02010600030101010101" pitchFamily="2" charset="-122"/>
                <a:ea typeface="宋体" panose="02010600030101010101" pitchFamily="2" charset="-122"/>
              </a:rPr>
              <a:t>modification </a:t>
            </a:r>
          </a:p>
          <a:p>
            <a:pPr marL="342891" indent="-342891">
              <a:lnSpc>
                <a:spcPct val="80000"/>
              </a:lnSpc>
              <a:spcBef>
                <a:spcPts val="600"/>
              </a:spcBef>
              <a:spcAft>
                <a:spcPts val="600"/>
              </a:spcAft>
              <a:buClr>
                <a:schemeClr val="accent1">
                  <a:lumMod val="75000"/>
                </a:schemeClr>
              </a:buClr>
              <a:buSzPct val="60000"/>
              <a:buFont typeface="Wingdings" panose="05000000000000000000" pitchFamily="2" charset="2"/>
              <a:buChar char="l"/>
            </a:pPr>
            <a:r>
              <a:rPr kumimoji="1" lang="zh-CN" altLang="en-US" sz="2400" dirty="0">
                <a:latin typeface="宋体" panose="02010600030101010101" pitchFamily="2" charset="-122"/>
                <a:ea typeface="宋体" panose="02010600030101010101" pitchFamily="2" charset="-122"/>
              </a:rPr>
              <a:t>伪造，</a:t>
            </a:r>
            <a:r>
              <a:rPr kumimoji="1" lang="en-US" altLang="zh-CN" sz="2400" dirty="0">
                <a:latin typeface="宋体" panose="02010600030101010101" pitchFamily="2" charset="-122"/>
                <a:ea typeface="宋体" panose="02010600030101010101" pitchFamily="2" charset="-122"/>
              </a:rPr>
              <a:t>fabrication</a:t>
            </a:r>
          </a:p>
          <a:p>
            <a:pPr marL="342891" indent="-342891">
              <a:lnSpc>
                <a:spcPct val="80000"/>
              </a:lnSpc>
              <a:spcBef>
                <a:spcPts val="600"/>
              </a:spcBef>
              <a:spcAft>
                <a:spcPts val="600"/>
              </a:spcAft>
              <a:buClr>
                <a:schemeClr val="accent1">
                  <a:lumMod val="75000"/>
                </a:schemeClr>
              </a:buClr>
              <a:buSzPct val="60000"/>
              <a:buFont typeface="Wingdings" panose="05000000000000000000" pitchFamily="2" charset="2"/>
              <a:buChar char="l"/>
            </a:pPr>
            <a:endParaRPr kumimoji="1" lang="zh-CN" altLang="en-US" sz="2400" dirty="0">
              <a:latin typeface="宋体" panose="02010600030101010101" pitchFamily="2" charset="-122"/>
              <a:ea typeface="宋体" panose="02010600030101010101" pitchFamily="2" charset="-122"/>
            </a:endParaRPr>
          </a:p>
        </p:txBody>
      </p:sp>
      <p:grpSp>
        <p:nvGrpSpPr>
          <p:cNvPr id="4" name="Group 59">
            <a:extLst>
              <a:ext uri="{FF2B5EF4-FFF2-40B4-BE49-F238E27FC236}">
                <a16:creationId xmlns:a16="http://schemas.microsoft.com/office/drawing/2014/main" id="{C5A87143-A9C2-43E4-8DDB-A06D8C054EE4}"/>
              </a:ext>
            </a:extLst>
          </p:cNvPr>
          <p:cNvGrpSpPr>
            <a:grpSpLocks/>
          </p:cNvGrpSpPr>
          <p:nvPr/>
        </p:nvGrpSpPr>
        <p:grpSpPr bwMode="auto">
          <a:xfrm>
            <a:off x="5411981" y="1418525"/>
            <a:ext cx="3600451" cy="1441451"/>
            <a:chOff x="2971" y="799"/>
            <a:chExt cx="2268" cy="908"/>
          </a:xfrm>
        </p:grpSpPr>
        <p:sp>
          <p:nvSpPr>
            <p:cNvPr id="5" name="Rectangle 32">
              <a:extLst>
                <a:ext uri="{FF2B5EF4-FFF2-40B4-BE49-F238E27FC236}">
                  <a16:creationId xmlns:a16="http://schemas.microsoft.com/office/drawing/2014/main" id="{52C60118-B006-4F60-07D2-8332E346D56F}"/>
                </a:ext>
              </a:extLst>
            </p:cNvPr>
            <p:cNvSpPr>
              <a:spLocks noChangeArrowheads="1"/>
            </p:cNvSpPr>
            <p:nvPr/>
          </p:nvSpPr>
          <p:spPr bwMode="auto">
            <a:xfrm>
              <a:off x="2971" y="799"/>
              <a:ext cx="2268" cy="90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dirty="0">
                <a:latin typeface="Arial" panose="020B0604020202020204" pitchFamily="34" charset="0"/>
              </a:endParaRPr>
            </a:p>
            <a:p>
              <a:pPr algn="ctr" eaLnBrk="1" hangingPunct="1">
                <a:spcBef>
                  <a:spcPct val="0"/>
                </a:spcBef>
                <a:buClrTx/>
                <a:buSzTx/>
                <a:buFontTx/>
                <a:buNone/>
              </a:pPr>
              <a:endParaRPr lang="en-US" altLang="zh-CN" sz="1800" dirty="0">
                <a:latin typeface="Arial" panose="020B0604020202020204" pitchFamily="34" charset="0"/>
              </a:endParaRPr>
            </a:p>
            <a:p>
              <a:pPr algn="ctr" eaLnBrk="1" hangingPunct="1">
                <a:spcBef>
                  <a:spcPct val="0"/>
                </a:spcBef>
                <a:buClrTx/>
                <a:buSzTx/>
                <a:buFontTx/>
                <a:buNone/>
              </a:pPr>
              <a:endParaRPr lang="en-US" altLang="zh-CN" sz="1800" dirty="0">
                <a:latin typeface="Arial" panose="020B0604020202020204" pitchFamily="34" charset="0"/>
              </a:endParaRPr>
            </a:p>
            <a:p>
              <a:pPr algn="ctr" eaLnBrk="1" hangingPunct="1">
                <a:spcBef>
                  <a:spcPct val="0"/>
                </a:spcBef>
                <a:buClrTx/>
                <a:buSzTx/>
                <a:buFontTx/>
                <a:buNone/>
              </a:pPr>
              <a:r>
                <a:rPr lang="zh-CN" altLang="en-US" sz="1600" b="1" dirty="0">
                  <a:latin typeface="Arial" panose="020B0604020202020204" pitchFamily="34" charset="0"/>
                </a:rPr>
                <a:t>正常流 </a:t>
              </a:r>
              <a:r>
                <a:rPr lang="en-US" altLang="zh-CN" sz="1600" b="1" dirty="0">
                  <a:latin typeface="Arial" panose="020B0604020202020204" pitchFamily="34" charset="0"/>
                </a:rPr>
                <a:t>Normal flow </a:t>
              </a:r>
            </a:p>
          </p:txBody>
        </p:sp>
        <p:sp>
          <p:nvSpPr>
            <p:cNvPr id="6" name="AutoShape 33">
              <a:extLst>
                <a:ext uri="{FF2B5EF4-FFF2-40B4-BE49-F238E27FC236}">
                  <a16:creationId xmlns:a16="http://schemas.microsoft.com/office/drawing/2014/main" id="{933890A4-7975-CBFB-FEEB-C80EEEBF2454}"/>
                </a:ext>
              </a:extLst>
            </p:cNvPr>
            <p:cNvSpPr>
              <a:spLocks noChangeArrowheads="1"/>
            </p:cNvSpPr>
            <p:nvPr/>
          </p:nvSpPr>
          <p:spPr bwMode="auto">
            <a:xfrm>
              <a:off x="3425" y="982"/>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7" name="AutoShape 34">
              <a:extLst>
                <a:ext uri="{FF2B5EF4-FFF2-40B4-BE49-F238E27FC236}">
                  <a16:creationId xmlns:a16="http://schemas.microsoft.com/office/drawing/2014/main" id="{F8856746-9936-2B73-4DBD-35D76EEF5839}"/>
                </a:ext>
              </a:extLst>
            </p:cNvPr>
            <p:cNvSpPr>
              <a:spLocks noChangeArrowheads="1"/>
            </p:cNvSpPr>
            <p:nvPr/>
          </p:nvSpPr>
          <p:spPr bwMode="auto">
            <a:xfrm>
              <a:off x="4514" y="982"/>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8" name="Line 35">
              <a:extLst>
                <a:ext uri="{FF2B5EF4-FFF2-40B4-BE49-F238E27FC236}">
                  <a16:creationId xmlns:a16="http://schemas.microsoft.com/office/drawing/2014/main" id="{5587E9B4-2875-3A97-8A30-C1C7842D7DDF}"/>
                </a:ext>
              </a:extLst>
            </p:cNvPr>
            <p:cNvSpPr>
              <a:spLocks noChangeShapeType="1"/>
            </p:cNvSpPr>
            <p:nvPr/>
          </p:nvSpPr>
          <p:spPr bwMode="auto">
            <a:xfrm>
              <a:off x="3606" y="1072"/>
              <a:ext cx="9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Text Box 36">
              <a:extLst>
                <a:ext uri="{FF2B5EF4-FFF2-40B4-BE49-F238E27FC236}">
                  <a16:creationId xmlns:a16="http://schemas.microsoft.com/office/drawing/2014/main" id="{60CE5417-D705-AD2A-7C0D-1DCBC3347733}"/>
                </a:ext>
              </a:extLst>
            </p:cNvPr>
            <p:cNvSpPr txBox="1">
              <a:spLocks noChangeArrowheads="1"/>
            </p:cNvSpPr>
            <p:nvPr/>
          </p:nvSpPr>
          <p:spPr bwMode="auto">
            <a:xfrm>
              <a:off x="3288" y="1152"/>
              <a:ext cx="38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400" b="1">
                  <a:latin typeface="Arial" panose="020B0604020202020204" pitchFamily="34" charset="0"/>
                </a:rPr>
                <a:t>信源</a:t>
              </a:r>
            </a:p>
          </p:txBody>
        </p:sp>
        <p:sp>
          <p:nvSpPr>
            <p:cNvPr id="10" name="Text Box 37">
              <a:extLst>
                <a:ext uri="{FF2B5EF4-FFF2-40B4-BE49-F238E27FC236}">
                  <a16:creationId xmlns:a16="http://schemas.microsoft.com/office/drawing/2014/main" id="{78923B84-C0BC-AA60-D6C6-F8405BF13F20}"/>
                </a:ext>
              </a:extLst>
            </p:cNvPr>
            <p:cNvSpPr txBox="1">
              <a:spLocks noChangeArrowheads="1"/>
            </p:cNvSpPr>
            <p:nvPr/>
          </p:nvSpPr>
          <p:spPr bwMode="auto">
            <a:xfrm>
              <a:off x="4428" y="1152"/>
              <a:ext cx="34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400" b="1">
                  <a:latin typeface="Arial" panose="020B0604020202020204" pitchFamily="34" charset="0"/>
                </a:rPr>
                <a:t>信宿</a:t>
              </a:r>
            </a:p>
          </p:txBody>
        </p:sp>
        <p:pic>
          <p:nvPicPr>
            <p:cNvPr id="11" name="Picture 39">
              <a:extLst>
                <a:ext uri="{FF2B5EF4-FFF2-40B4-BE49-F238E27FC236}">
                  <a16:creationId xmlns:a16="http://schemas.microsoft.com/office/drawing/2014/main" id="{6A004D84-03BE-D64F-A188-04E596D06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 y="845"/>
              <a:ext cx="324"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0">
              <a:extLst>
                <a:ext uri="{FF2B5EF4-FFF2-40B4-BE49-F238E27FC236}">
                  <a16:creationId xmlns:a16="http://schemas.microsoft.com/office/drawing/2014/main" id="{572F4F17-87BC-9E73-D2CD-5301F254AE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3" y="887"/>
              <a:ext cx="45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Group 55">
            <a:extLst>
              <a:ext uri="{FF2B5EF4-FFF2-40B4-BE49-F238E27FC236}">
                <a16:creationId xmlns:a16="http://schemas.microsoft.com/office/drawing/2014/main" id="{D7C1EC68-2240-873B-40A8-21FB0EDF9866}"/>
              </a:ext>
            </a:extLst>
          </p:cNvPr>
          <p:cNvGrpSpPr>
            <a:grpSpLocks/>
          </p:cNvGrpSpPr>
          <p:nvPr/>
        </p:nvGrpSpPr>
        <p:grpSpPr bwMode="auto">
          <a:xfrm>
            <a:off x="1000972" y="3429001"/>
            <a:ext cx="3600451" cy="1368425"/>
            <a:chOff x="521" y="1933"/>
            <a:chExt cx="2268" cy="862"/>
          </a:xfrm>
        </p:grpSpPr>
        <p:sp>
          <p:nvSpPr>
            <p:cNvPr id="14" name="Rectangle 5">
              <a:extLst>
                <a:ext uri="{FF2B5EF4-FFF2-40B4-BE49-F238E27FC236}">
                  <a16:creationId xmlns:a16="http://schemas.microsoft.com/office/drawing/2014/main" id="{2C01FAA2-8A24-554B-F23B-5A7AAB036419}"/>
                </a:ext>
              </a:extLst>
            </p:cNvPr>
            <p:cNvSpPr>
              <a:spLocks noChangeArrowheads="1"/>
            </p:cNvSpPr>
            <p:nvPr/>
          </p:nvSpPr>
          <p:spPr bwMode="auto">
            <a:xfrm>
              <a:off x="521" y="1933"/>
              <a:ext cx="2268" cy="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zh-CN" altLang="en-US" sz="1600" b="1">
                  <a:latin typeface="Arial" panose="020B0604020202020204" pitchFamily="34" charset="0"/>
                </a:rPr>
                <a:t>中断</a:t>
              </a:r>
              <a:r>
                <a:rPr lang="en-US" altLang="zh-CN" sz="1600" b="1">
                  <a:latin typeface="Arial" panose="020B0604020202020204" pitchFamily="34" charset="0"/>
                </a:rPr>
                <a:t>(</a:t>
              </a:r>
              <a:r>
                <a:rPr lang="zh-CN" altLang="en-US" sz="1600" b="1">
                  <a:latin typeface="Arial" panose="020B0604020202020204" pitchFamily="34" charset="0"/>
                </a:rPr>
                <a:t>干扰</a:t>
              </a:r>
              <a:r>
                <a:rPr lang="en-US" altLang="zh-CN" sz="1600" b="1">
                  <a:latin typeface="Arial" panose="020B0604020202020204" pitchFamily="34" charset="0"/>
                </a:rPr>
                <a:t>) Interruption</a:t>
              </a:r>
            </a:p>
          </p:txBody>
        </p:sp>
        <p:sp>
          <p:nvSpPr>
            <p:cNvPr id="15" name="AutoShape 6">
              <a:extLst>
                <a:ext uri="{FF2B5EF4-FFF2-40B4-BE49-F238E27FC236}">
                  <a16:creationId xmlns:a16="http://schemas.microsoft.com/office/drawing/2014/main" id="{E9ACFAC2-F669-D424-B858-1370BB8F4ABF}"/>
                </a:ext>
              </a:extLst>
            </p:cNvPr>
            <p:cNvSpPr>
              <a:spLocks noChangeArrowheads="1"/>
            </p:cNvSpPr>
            <p:nvPr/>
          </p:nvSpPr>
          <p:spPr bwMode="auto">
            <a:xfrm>
              <a:off x="1019" y="2206"/>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16" name="AutoShape 7">
              <a:extLst>
                <a:ext uri="{FF2B5EF4-FFF2-40B4-BE49-F238E27FC236}">
                  <a16:creationId xmlns:a16="http://schemas.microsoft.com/office/drawing/2014/main" id="{E7A1EA1E-2E89-3D95-3736-B6A855D573F4}"/>
                </a:ext>
              </a:extLst>
            </p:cNvPr>
            <p:cNvSpPr>
              <a:spLocks noChangeArrowheads="1"/>
            </p:cNvSpPr>
            <p:nvPr/>
          </p:nvSpPr>
          <p:spPr bwMode="auto">
            <a:xfrm>
              <a:off x="2108" y="2206"/>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17" name="Line 8">
              <a:extLst>
                <a:ext uri="{FF2B5EF4-FFF2-40B4-BE49-F238E27FC236}">
                  <a16:creationId xmlns:a16="http://schemas.microsoft.com/office/drawing/2014/main" id="{29570AB3-0088-2E08-CAC3-6B1A25D9BFE8}"/>
                </a:ext>
              </a:extLst>
            </p:cNvPr>
            <p:cNvSpPr>
              <a:spLocks noChangeShapeType="1"/>
            </p:cNvSpPr>
            <p:nvPr/>
          </p:nvSpPr>
          <p:spPr bwMode="auto">
            <a:xfrm>
              <a:off x="1200" y="2296"/>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Rectangle 9">
              <a:extLst>
                <a:ext uri="{FF2B5EF4-FFF2-40B4-BE49-F238E27FC236}">
                  <a16:creationId xmlns:a16="http://schemas.microsoft.com/office/drawing/2014/main" id="{8136FA12-F5A2-45EF-9267-A325B06AAA77}"/>
                </a:ext>
              </a:extLst>
            </p:cNvPr>
            <p:cNvSpPr>
              <a:spLocks noChangeArrowheads="1"/>
            </p:cNvSpPr>
            <p:nvPr/>
          </p:nvSpPr>
          <p:spPr bwMode="auto">
            <a:xfrm>
              <a:off x="1609" y="2115"/>
              <a:ext cx="45" cy="31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pic>
          <p:nvPicPr>
            <p:cNvPr id="19" name="Picture 41">
              <a:extLst>
                <a:ext uri="{FF2B5EF4-FFF2-40B4-BE49-F238E27FC236}">
                  <a16:creationId xmlns:a16="http://schemas.microsoft.com/office/drawing/2014/main" id="{F50911A9-118F-62FB-536D-E5A583502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2069"/>
              <a:ext cx="324"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2">
              <a:extLst>
                <a:ext uri="{FF2B5EF4-FFF2-40B4-BE49-F238E27FC236}">
                  <a16:creationId xmlns:a16="http://schemas.microsoft.com/office/drawing/2014/main" id="{C79FDDB7-F487-1ED9-30B9-E3F58933C7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5" y="2115"/>
              <a:ext cx="45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1" name="Group 56">
            <a:extLst>
              <a:ext uri="{FF2B5EF4-FFF2-40B4-BE49-F238E27FC236}">
                <a16:creationId xmlns:a16="http://schemas.microsoft.com/office/drawing/2014/main" id="{25FDF85A-B0FB-A0FB-3D48-D1CA8BE0A6FE}"/>
              </a:ext>
            </a:extLst>
          </p:cNvPr>
          <p:cNvGrpSpPr>
            <a:grpSpLocks/>
          </p:cNvGrpSpPr>
          <p:nvPr/>
        </p:nvGrpSpPr>
        <p:grpSpPr bwMode="auto">
          <a:xfrm>
            <a:off x="5411981" y="3429001"/>
            <a:ext cx="3600451" cy="1368425"/>
            <a:chOff x="3016" y="1933"/>
            <a:chExt cx="2268" cy="862"/>
          </a:xfrm>
        </p:grpSpPr>
        <p:sp>
          <p:nvSpPr>
            <p:cNvPr id="22" name="Rectangle 11">
              <a:extLst>
                <a:ext uri="{FF2B5EF4-FFF2-40B4-BE49-F238E27FC236}">
                  <a16:creationId xmlns:a16="http://schemas.microsoft.com/office/drawing/2014/main" id="{375237A0-2950-68A2-1DA5-FEB886DFDE08}"/>
                </a:ext>
              </a:extLst>
            </p:cNvPr>
            <p:cNvSpPr>
              <a:spLocks noChangeArrowheads="1"/>
            </p:cNvSpPr>
            <p:nvPr/>
          </p:nvSpPr>
          <p:spPr bwMode="auto">
            <a:xfrm>
              <a:off x="3016" y="1933"/>
              <a:ext cx="2268" cy="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zh-CN" altLang="en-US" sz="1600" b="1">
                  <a:latin typeface="Arial" panose="020B0604020202020204" pitchFamily="34" charset="0"/>
                </a:rPr>
                <a:t>重放 </a:t>
              </a:r>
              <a:r>
                <a:rPr lang="en-US" altLang="zh-CN" sz="1600" b="1">
                  <a:latin typeface="Arial" panose="020B0604020202020204" pitchFamily="34" charset="0"/>
                </a:rPr>
                <a:t>Replay</a:t>
              </a:r>
            </a:p>
          </p:txBody>
        </p:sp>
        <p:sp>
          <p:nvSpPr>
            <p:cNvPr id="23" name="AutoShape 12">
              <a:extLst>
                <a:ext uri="{FF2B5EF4-FFF2-40B4-BE49-F238E27FC236}">
                  <a16:creationId xmlns:a16="http://schemas.microsoft.com/office/drawing/2014/main" id="{FA9C5A75-8176-1BFD-ADFD-E14ABD02B5BB}"/>
                </a:ext>
              </a:extLst>
            </p:cNvPr>
            <p:cNvSpPr>
              <a:spLocks noChangeArrowheads="1"/>
            </p:cNvSpPr>
            <p:nvPr/>
          </p:nvSpPr>
          <p:spPr bwMode="auto">
            <a:xfrm>
              <a:off x="3424" y="2070"/>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24" name="AutoShape 13">
              <a:extLst>
                <a:ext uri="{FF2B5EF4-FFF2-40B4-BE49-F238E27FC236}">
                  <a16:creationId xmlns:a16="http://schemas.microsoft.com/office/drawing/2014/main" id="{7F039591-F187-C5F0-AC02-32BE36DA823D}"/>
                </a:ext>
              </a:extLst>
            </p:cNvPr>
            <p:cNvSpPr>
              <a:spLocks noChangeArrowheads="1"/>
            </p:cNvSpPr>
            <p:nvPr/>
          </p:nvSpPr>
          <p:spPr bwMode="auto">
            <a:xfrm>
              <a:off x="4513" y="2070"/>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25" name="Line 14">
              <a:extLst>
                <a:ext uri="{FF2B5EF4-FFF2-40B4-BE49-F238E27FC236}">
                  <a16:creationId xmlns:a16="http://schemas.microsoft.com/office/drawing/2014/main" id="{62004E02-5B12-460C-158F-8F98E72FDD64}"/>
                </a:ext>
              </a:extLst>
            </p:cNvPr>
            <p:cNvSpPr>
              <a:spLocks noChangeShapeType="1"/>
            </p:cNvSpPr>
            <p:nvPr/>
          </p:nvSpPr>
          <p:spPr bwMode="auto">
            <a:xfrm>
              <a:off x="3605" y="2160"/>
              <a:ext cx="9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AutoShape 15">
              <a:extLst>
                <a:ext uri="{FF2B5EF4-FFF2-40B4-BE49-F238E27FC236}">
                  <a16:creationId xmlns:a16="http://schemas.microsoft.com/office/drawing/2014/main" id="{2798E2D9-320B-2C27-B092-3306BC56A9D4}"/>
                </a:ext>
              </a:extLst>
            </p:cNvPr>
            <p:cNvSpPr>
              <a:spLocks noChangeArrowheads="1"/>
            </p:cNvSpPr>
            <p:nvPr/>
          </p:nvSpPr>
          <p:spPr bwMode="auto">
            <a:xfrm>
              <a:off x="4151" y="2342"/>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28" name="Line 16">
              <a:extLst>
                <a:ext uri="{FF2B5EF4-FFF2-40B4-BE49-F238E27FC236}">
                  <a16:creationId xmlns:a16="http://schemas.microsoft.com/office/drawing/2014/main" id="{910F3AEB-37FF-B0BA-2448-1EC4DE585452}"/>
                </a:ext>
              </a:extLst>
            </p:cNvPr>
            <p:cNvSpPr>
              <a:spLocks noChangeShapeType="1"/>
            </p:cNvSpPr>
            <p:nvPr/>
          </p:nvSpPr>
          <p:spPr bwMode="auto">
            <a:xfrm>
              <a:off x="4014" y="2160"/>
              <a:ext cx="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9" name="Picture 43">
              <a:extLst>
                <a:ext uri="{FF2B5EF4-FFF2-40B4-BE49-F238E27FC236}">
                  <a16:creationId xmlns:a16="http://schemas.microsoft.com/office/drawing/2014/main" id="{E54B6482-858C-97B3-5159-79F6866A2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7" y="1979"/>
              <a:ext cx="324"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44">
              <a:extLst>
                <a:ext uri="{FF2B5EF4-FFF2-40B4-BE49-F238E27FC236}">
                  <a16:creationId xmlns:a16="http://schemas.microsoft.com/office/drawing/2014/main" id="{2BCECD4B-B148-A2B6-2D50-1693B4E29F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3" y="2069"/>
              <a:ext cx="45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45">
              <a:extLst>
                <a:ext uri="{FF2B5EF4-FFF2-40B4-BE49-F238E27FC236}">
                  <a16:creationId xmlns:a16="http://schemas.microsoft.com/office/drawing/2014/main" id="{81620AE3-8843-F13C-71E7-BFAC40E173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7" y="2296"/>
              <a:ext cx="31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Line 46">
              <a:extLst>
                <a:ext uri="{FF2B5EF4-FFF2-40B4-BE49-F238E27FC236}">
                  <a16:creationId xmlns:a16="http://schemas.microsoft.com/office/drawing/2014/main" id="{ACEAF111-D6C7-4CE6-52F3-747867A0A08D}"/>
                </a:ext>
              </a:extLst>
            </p:cNvPr>
            <p:cNvSpPr>
              <a:spLocks noChangeShapeType="1"/>
            </p:cNvSpPr>
            <p:nvPr/>
          </p:nvSpPr>
          <p:spPr bwMode="auto">
            <a:xfrm flipV="1">
              <a:off x="4332" y="2432"/>
              <a:ext cx="18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AutoShape 47">
              <a:extLst>
                <a:ext uri="{FF2B5EF4-FFF2-40B4-BE49-F238E27FC236}">
                  <a16:creationId xmlns:a16="http://schemas.microsoft.com/office/drawing/2014/main" id="{5E954D4B-99DC-132F-48A0-A12394C080A3}"/>
                </a:ext>
              </a:extLst>
            </p:cNvPr>
            <p:cNvSpPr>
              <a:spLocks noChangeArrowheads="1"/>
            </p:cNvSpPr>
            <p:nvPr/>
          </p:nvSpPr>
          <p:spPr bwMode="auto">
            <a:xfrm>
              <a:off x="4513" y="2341"/>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grpSp>
      <p:grpSp>
        <p:nvGrpSpPr>
          <p:cNvPr id="34" name="Group 57">
            <a:extLst>
              <a:ext uri="{FF2B5EF4-FFF2-40B4-BE49-F238E27FC236}">
                <a16:creationId xmlns:a16="http://schemas.microsoft.com/office/drawing/2014/main" id="{F12F01A9-375E-1DCD-5417-B9A7F534D578}"/>
              </a:ext>
            </a:extLst>
          </p:cNvPr>
          <p:cNvGrpSpPr>
            <a:grpSpLocks/>
          </p:cNvGrpSpPr>
          <p:nvPr/>
        </p:nvGrpSpPr>
        <p:grpSpPr bwMode="auto">
          <a:xfrm>
            <a:off x="1000972" y="5056075"/>
            <a:ext cx="3600451" cy="1512888"/>
            <a:chOff x="476" y="3022"/>
            <a:chExt cx="2358" cy="953"/>
          </a:xfrm>
        </p:grpSpPr>
        <p:sp>
          <p:nvSpPr>
            <p:cNvPr id="35" name="Rectangle 17">
              <a:extLst>
                <a:ext uri="{FF2B5EF4-FFF2-40B4-BE49-F238E27FC236}">
                  <a16:creationId xmlns:a16="http://schemas.microsoft.com/office/drawing/2014/main" id="{1E3C4C45-DEDB-AE85-3BB5-6100071322A1}"/>
                </a:ext>
              </a:extLst>
            </p:cNvPr>
            <p:cNvSpPr>
              <a:spLocks noChangeArrowheads="1"/>
            </p:cNvSpPr>
            <p:nvPr/>
          </p:nvSpPr>
          <p:spPr bwMode="auto">
            <a:xfrm>
              <a:off x="476" y="3022"/>
              <a:ext cx="2358" cy="95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en-US" altLang="zh-CN" sz="1800">
                  <a:latin typeface="Arial" panose="020B0604020202020204" pitchFamily="34" charset="0"/>
                </a:rPr>
                <a:t>             </a:t>
              </a:r>
            </a:p>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zh-CN" altLang="en-US" sz="1600" b="1">
                  <a:latin typeface="Arial" panose="020B0604020202020204" pitchFamily="34" charset="0"/>
                </a:rPr>
                <a:t>篡改 </a:t>
              </a:r>
              <a:r>
                <a:rPr lang="en-US" altLang="zh-CN" sz="1600" b="1">
                  <a:latin typeface="Arial" panose="020B0604020202020204" pitchFamily="34" charset="0"/>
                </a:rPr>
                <a:t>Modification</a:t>
              </a:r>
            </a:p>
          </p:txBody>
        </p:sp>
        <p:sp>
          <p:nvSpPr>
            <p:cNvPr id="36" name="Line 18">
              <a:extLst>
                <a:ext uri="{FF2B5EF4-FFF2-40B4-BE49-F238E27FC236}">
                  <a16:creationId xmlns:a16="http://schemas.microsoft.com/office/drawing/2014/main" id="{E351E664-B3AF-C223-A6D4-B8FF3D0F3EDC}"/>
                </a:ext>
              </a:extLst>
            </p:cNvPr>
            <p:cNvSpPr>
              <a:spLocks noChangeShapeType="1"/>
            </p:cNvSpPr>
            <p:nvPr/>
          </p:nvSpPr>
          <p:spPr bwMode="auto">
            <a:xfrm>
              <a:off x="1474" y="3249"/>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7" name="Group 19">
              <a:extLst>
                <a:ext uri="{FF2B5EF4-FFF2-40B4-BE49-F238E27FC236}">
                  <a16:creationId xmlns:a16="http://schemas.microsoft.com/office/drawing/2014/main" id="{9D9D5D8F-7198-DDBE-666A-59CC24BF7968}"/>
                </a:ext>
              </a:extLst>
            </p:cNvPr>
            <p:cNvGrpSpPr>
              <a:grpSpLocks/>
            </p:cNvGrpSpPr>
            <p:nvPr/>
          </p:nvGrpSpPr>
          <p:grpSpPr bwMode="auto">
            <a:xfrm>
              <a:off x="930" y="3158"/>
              <a:ext cx="1418" cy="543"/>
              <a:chOff x="1156" y="3295"/>
              <a:chExt cx="1270" cy="543"/>
            </a:xfrm>
          </p:grpSpPr>
          <p:sp>
            <p:nvSpPr>
              <p:cNvPr id="41" name="AutoShape 20">
                <a:extLst>
                  <a:ext uri="{FF2B5EF4-FFF2-40B4-BE49-F238E27FC236}">
                    <a16:creationId xmlns:a16="http://schemas.microsoft.com/office/drawing/2014/main" id="{8E303503-A228-D83E-7BF0-43D43F16464E}"/>
                  </a:ext>
                </a:extLst>
              </p:cNvPr>
              <p:cNvSpPr>
                <a:spLocks noChangeArrowheads="1"/>
              </p:cNvSpPr>
              <p:nvPr/>
            </p:nvSpPr>
            <p:spPr bwMode="auto">
              <a:xfrm>
                <a:off x="1156" y="3295"/>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42" name="AutoShape 21">
                <a:extLst>
                  <a:ext uri="{FF2B5EF4-FFF2-40B4-BE49-F238E27FC236}">
                    <a16:creationId xmlns:a16="http://schemas.microsoft.com/office/drawing/2014/main" id="{D8B82BD2-879A-0F82-20F0-34A1A78A15EE}"/>
                  </a:ext>
                </a:extLst>
              </p:cNvPr>
              <p:cNvSpPr>
                <a:spLocks noChangeArrowheads="1"/>
              </p:cNvSpPr>
              <p:nvPr/>
            </p:nvSpPr>
            <p:spPr bwMode="auto">
              <a:xfrm>
                <a:off x="2245" y="3295"/>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43" name="Line 22">
                <a:extLst>
                  <a:ext uri="{FF2B5EF4-FFF2-40B4-BE49-F238E27FC236}">
                    <a16:creationId xmlns:a16="http://schemas.microsoft.com/office/drawing/2014/main" id="{296331CD-D1D3-D04F-1F1C-B8D58C7E3ECD}"/>
                  </a:ext>
                </a:extLst>
              </p:cNvPr>
              <p:cNvSpPr>
                <a:spLocks noChangeShapeType="1"/>
              </p:cNvSpPr>
              <p:nvPr/>
            </p:nvSpPr>
            <p:spPr bwMode="auto">
              <a:xfrm>
                <a:off x="1338" y="3385"/>
                <a:ext cx="3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3">
                <a:extLst>
                  <a:ext uri="{FF2B5EF4-FFF2-40B4-BE49-F238E27FC236}">
                    <a16:creationId xmlns:a16="http://schemas.microsoft.com/office/drawing/2014/main" id="{0A17B767-6EA0-88E1-EF00-942EAD7CCA5C}"/>
                  </a:ext>
                </a:extLst>
              </p:cNvPr>
              <p:cNvSpPr>
                <a:spLocks noChangeShapeType="1"/>
              </p:cNvSpPr>
              <p:nvPr/>
            </p:nvSpPr>
            <p:spPr bwMode="auto">
              <a:xfrm>
                <a:off x="1837" y="3385"/>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AutoShape 24">
                <a:extLst>
                  <a:ext uri="{FF2B5EF4-FFF2-40B4-BE49-F238E27FC236}">
                    <a16:creationId xmlns:a16="http://schemas.microsoft.com/office/drawing/2014/main" id="{C3FF1A5D-C9DB-F492-B200-432DAA3F0684}"/>
                  </a:ext>
                </a:extLst>
              </p:cNvPr>
              <p:cNvSpPr>
                <a:spLocks noChangeArrowheads="1"/>
              </p:cNvSpPr>
              <p:nvPr/>
            </p:nvSpPr>
            <p:spPr bwMode="auto">
              <a:xfrm>
                <a:off x="1610" y="3612"/>
                <a:ext cx="272" cy="226"/>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46" name="Line 25">
                <a:extLst>
                  <a:ext uri="{FF2B5EF4-FFF2-40B4-BE49-F238E27FC236}">
                    <a16:creationId xmlns:a16="http://schemas.microsoft.com/office/drawing/2014/main" id="{24633514-201A-461A-F101-275FF8DFE3E6}"/>
                  </a:ext>
                </a:extLst>
              </p:cNvPr>
              <p:cNvSpPr>
                <a:spLocks noChangeShapeType="1"/>
              </p:cNvSpPr>
              <p:nvPr/>
            </p:nvSpPr>
            <p:spPr bwMode="auto">
              <a:xfrm>
                <a:off x="1837" y="3385"/>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8" name="Picture 48">
              <a:extLst>
                <a:ext uri="{FF2B5EF4-FFF2-40B4-BE49-F238E27FC236}">
                  <a16:creationId xmlns:a16="http://schemas.microsoft.com/office/drawing/2014/main" id="{BB806AFD-6B08-8020-8AF1-C82983926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3158"/>
              <a:ext cx="36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49">
              <a:extLst>
                <a:ext uri="{FF2B5EF4-FFF2-40B4-BE49-F238E27FC236}">
                  <a16:creationId xmlns:a16="http://schemas.microsoft.com/office/drawing/2014/main" id="{CD71C8B9-3D1A-38FA-8F6E-A42E7464EB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 y="3113"/>
              <a:ext cx="45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50">
              <a:extLst>
                <a:ext uri="{FF2B5EF4-FFF2-40B4-BE49-F238E27FC236}">
                  <a16:creationId xmlns:a16="http://schemas.microsoft.com/office/drawing/2014/main" id="{33AB4913-334E-B3CE-35BE-940241258A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 y="3462"/>
              <a:ext cx="31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 name="Group 58">
            <a:extLst>
              <a:ext uri="{FF2B5EF4-FFF2-40B4-BE49-F238E27FC236}">
                <a16:creationId xmlns:a16="http://schemas.microsoft.com/office/drawing/2014/main" id="{581F4C89-6473-F8F3-60B0-668EFAD4A621}"/>
              </a:ext>
            </a:extLst>
          </p:cNvPr>
          <p:cNvGrpSpPr>
            <a:grpSpLocks/>
          </p:cNvGrpSpPr>
          <p:nvPr/>
        </p:nvGrpSpPr>
        <p:grpSpPr bwMode="auto">
          <a:xfrm>
            <a:off x="5411980" y="5056075"/>
            <a:ext cx="3600451" cy="1512888"/>
            <a:chOff x="3016" y="3022"/>
            <a:chExt cx="2268" cy="953"/>
          </a:xfrm>
        </p:grpSpPr>
        <p:sp>
          <p:nvSpPr>
            <p:cNvPr id="48" name="Rectangle 26">
              <a:extLst>
                <a:ext uri="{FF2B5EF4-FFF2-40B4-BE49-F238E27FC236}">
                  <a16:creationId xmlns:a16="http://schemas.microsoft.com/office/drawing/2014/main" id="{329B254A-5D46-4EC4-58A6-C46D83A6A726}"/>
                </a:ext>
              </a:extLst>
            </p:cNvPr>
            <p:cNvSpPr>
              <a:spLocks noChangeArrowheads="1"/>
            </p:cNvSpPr>
            <p:nvPr/>
          </p:nvSpPr>
          <p:spPr bwMode="auto">
            <a:xfrm>
              <a:off x="3016" y="3022"/>
              <a:ext cx="2268" cy="95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en-US" altLang="zh-CN" sz="1800">
                  <a:latin typeface="Arial" panose="020B0604020202020204" pitchFamily="34" charset="0"/>
                </a:rPr>
                <a:t>             </a:t>
              </a:r>
            </a:p>
            <a:p>
              <a:pPr algn="ctr" eaLnBrk="1" hangingPunct="1">
                <a:spcBef>
                  <a:spcPct val="0"/>
                </a:spcBef>
                <a:buClrTx/>
                <a:buSzTx/>
                <a:buFontTx/>
                <a:buNone/>
              </a:pPr>
              <a:endParaRPr lang="en-US" altLang="zh-CN" sz="1800">
                <a:latin typeface="Arial" panose="020B0604020202020204" pitchFamily="34" charset="0"/>
              </a:endParaRPr>
            </a:p>
            <a:p>
              <a:pPr algn="ctr" eaLnBrk="1" hangingPunct="1">
                <a:spcBef>
                  <a:spcPct val="0"/>
                </a:spcBef>
                <a:buClrTx/>
                <a:buSzTx/>
                <a:buFontTx/>
                <a:buNone/>
              </a:pPr>
              <a:r>
                <a:rPr lang="zh-CN" altLang="en-US" sz="1600" b="1">
                  <a:latin typeface="Arial" panose="020B0604020202020204" pitchFamily="34" charset="0"/>
                </a:rPr>
                <a:t>伪造  </a:t>
              </a:r>
              <a:r>
                <a:rPr lang="en-US" altLang="zh-CN" sz="1600" b="1">
                  <a:latin typeface="Arial" panose="020B0604020202020204" pitchFamily="34" charset="0"/>
                </a:rPr>
                <a:t>Fabrication</a:t>
              </a:r>
            </a:p>
          </p:txBody>
        </p:sp>
        <p:sp>
          <p:nvSpPr>
            <p:cNvPr id="49" name="AutoShape 27">
              <a:extLst>
                <a:ext uri="{FF2B5EF4-FFF2-40B4-BE49-F238E27FC236}">
                  <a16:creationId xmlns:a16="http://schemas.microsoft.com/office/drawing/2014/main" id="{A05C5BEB-E23F-EFCF-A916-F4988E821814}"/>
                </a:ext>
              </a:extLst>
            </p:cNvPr>
            <p:cNvSpPr>
              <a:spLocks noChangeArrowheads="1"/>
            </p:cNvSpPr>
            <p:nvPr/>
          </p:nvSpPr>
          <p:spPr bwMode="auto">
            <a:xfrm>
              <a:off x="3423" y="3204"/>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50" name="AutoShape 28">
              <a:extLst>
                <a:ext uri="{FF2B5EF4-FFF2-40B4-BE49-F238E27FC236}">
                  <a16:creationId xmlns:a16="http://schemas.microsoft.com/office/drawing/2014/main" id="{7FC0A9F1-B722-453D-B081-7B36B44D7E3C}"/>
                </a:ext>
              </a:extLst>
            </p:cNvPr>
            <p:cNvSpPr>
              <a:spLocks noChangeArrowheads="1"/>
            </p:cNvSpPr>
            <p:nvPr/>
          </p:nvSpPr>
          <p:spPr bwMode="auto">
            <a:xfrm>
              <a:off x="4512" y="3204"/>
              <a:ext cx="181" cy="181"/>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51" name="Line 29">
              <a:extLst>
                <a:ext uri="{FF2B5EF4-FFF2-40B4-BE49-F238E27FC236}">
                  <a16:creationId xmlns:a16="http://schemas.microsoft.com/office/drawing/2014/main" id="{5C3B69F4-2C6B-6D3A-BDE4-64B41D30E21E}"/>
                </a:ext>
              </a:extLst>
            </p:cNvPr>
            <p:cNvSpPr>
              <a:spLocks noChangeShapeType="1"/>
            </p:cNvSpPr>
            <p:nvPr/>
          </p:nvSpPr>
          <p:spPr bwMode="auto">
            <a:xfrm>
              <a:off x="4104" y="3294"/>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AutoShape 30">
              <a:extLst>
                <a:ext uri="{FF2B5EF4-FFF2-40B4-BE49-F238E27FC236}">
                  <a16:creationId xmlns:a16="http://schemas.microsoft.com/office/drawing/2014/main" id="{B14F8831-B3E7-7C11-5853-B3FFF52FDE81}"/>
                </a:ext>
              </a:extLst>
            </p:cNvPr>
            <p:cNvSpPr>
              <a:spLocks noChangeArrowheads="1"/>
            </p:cNvSpPr>
            <p:nvPr/>
          </p:nvSpPr>
          <p:spPr bwMode="auto">
            <a:xfrm>
              <a:off x="3878" y="3475"/>
              <a:ext cx="272" cy="226"/>
            </a:xfrm>
            <a:prstGeom prst="octagon">
              <a:avLst>
                <a:gd name="adj" fmla="val 29287"/>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latin typeface="Times New Roman" panose="02020603050405020304" pitchFamily="18" charset="0"/>
              </a:endParaRPr>
            </a:p>
          </p:txBody>
        </p:sp>
        <p:sp>
          <p:nvSpPr>
            <p:cNvPr id="53" name="Line 31">
              <a:extLst>
                <a:ext uri="{FF2B5EF4-FFF2-40B4-BE49-F238E27FC236}">
                  <a16:creationId xmlns:a16="http://schemas.microsoft.com/office/drawing/2014/main" id="{3C69DDE0-BC34-1EAB-1427-33711060B3BF}"/>
                </a:ext>
              </a:extLst>
            </p:cNvPr>
            <p:cNvSpPr>
              <a:spLocks noChangeShapeType="1"/>
            </p:cNvSpPr>
            <p:nvPr/>
          </p:nvSpPr>
          <p:spPr bwMode="auto">
            <a:xfrm>
              <a:off x="4104" y="3294"/>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54" name="Picture 51">
              <a:extLst>
                <a:ext uri="{FF2B5EF4-FFF2-40B4-BE49-F238E27FC236}">
                  <a16:creationId xmlns:a16="http://schemas.microsoft.com/office/drawing/2014/main" id="{665B14AB-EFF7-9D80-05BC-93E821DF1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 y="3158"/>
              <a:ext cx="324"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52">
              <a:extLst>
                <a:ext uri="{FF2B5EF4-FFF2-40B4-BE49-F238E27FC236}">
                  <a16:creationId xmlns:a16="http://schemas.microsoft.com/office/drawing/2014/main" id="{3A2F6253-0411-E1CA-95ED-F7FB8DEFE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0" y="3158"/>
              <a:ext cx="45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3">
              <a:extLst>
                <a:ext uri="{FF2B5EF4-FFF2-40B4-BE49-F238E27FC236}">
                  <a16:creationId xmlns:a16="http://schemas.microsoft.com/office/drawing/2014/main" id="{B48B64ED-8A15-61A4-0189-B04071A229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0" y="3475"/>
              <a:ext cx="31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781621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密码体制</a:t>
            </a:r>
          </a:p>
        </p:txBody>
      </p:sp>
      <mc:AlternateContent xmlns:mc="http://schemas.openxmlformats.org/markup-compatibility/2006" xmlns:a14="http://schemas.microsoft.com/office/drawing/2010/main">
        <mc:Choice Requires="a14">
          <p:sp>
            <p:nvSpPr>
              <p:cNvPr id="57" name="Text Box 9">
                <a:extLst>
                  <a:ext uri="{FF2B5EF4-FFF2-40B4-BE49-F238E27FC236}">
                    <a16:creationId xmlns:a16="http://schemas.microsoft.com/office/drawing/2014/main" id="{86987416-83E1-70DF-309C-3D148EE0907D}"/>
                  </a:ext>
                </a:extLst>
              </p:cNvPr>
              <p:cNvSpPr txBox="1">
                <a:spLocks noChangeArrowheads="1"/>
              </p:cNvSpPr>
              <p:nvPr/>
            </p:nvSpPr>
            <p:spPr bwMode="auto">
              <a:xfrm>
                <a:off x="347331" y="2052042"/>
                <a:ext cx="11722395" cy="23310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zh-CN" altLang="en-US" sz="2400" b="1" dirty="0">
                    <a:latin typeface="宋体" panose="02010600030101010101" pitchFamily="2" charset="-122"/>
                  </a:rPr>
                  <a:t>一个好的密码体制至少应满足的两个条件：</a:t>
                </a:r>
                <a:endParaRPr lang="en-US" altLang="zh-CN" sz="2400" b="1" dirty="0">
                  <a:latin typeface="宋体" panose="02010600030101010101" pitchFamily="2" charset="-122"/>
                </a:endParaRPr>
              </a:p>
              <a:p>
                <a:pPr marL="342891" indent="-342891">
                  <a:lnSpc>
                    <a:spcPct val="150000"/>
                  </a:lnSpc>
                  <a:spcBef>
                    <a:spcPct val="50000"/>
                  </a:spcBef>
                  <a:buClrTx/>
                  <a:buSzTx/>
                  <a:buFont typeface="Wingdings" panose="05000000000000000000" pitchFamily="2" charset="2"/>
                  <a:buChar char="l"/>
                </a:pPr>
                <a:r>
                  <a:rPr lang="zh-CN" altLang="en-US" sz="2000" b="1" dirty="0">
                    <a:latin typeface="宋体" panose="02010600030101010101" pitchFamily="2" charset="-122"/>
                  </a:rPr>
                  <a:t>在已知明文</a:t>
                </a:r>
                <a:r>
                  <a:rPr lang="en-US" altLang="zh-CN" sz="2000" b="1" dirty="0">
                    <a:latin typeface="宋体" panose="02010600030101010101" pitchFamily="2" charset="-122"/>
                  </a:rPr>
                  <a:t>m</a:t>
                </a:r>
                <a:r>
                  <a:rPr lang="zh-CN" altLang="en-US" sz="2000" b="1" dirty="0">
                    <a:latin typeface="宋体" panose="02010600030101010101" pitchFamily="2" charset="-122"/>
                  </a:rPr>
                  <a:t>和加密密钥</a:t>
                </a:r>
                <a14:m>
                  <m:oMath xmlns:m="http://schemas.openxmlformats.org/officeDocument/2006/math">
                    <m:sSub>
                      <m:sSubPr>
                        <m:ctrlPr>
                          <a:rPr lang="zh-CN" altLang="en-US" sz="2000" i="1" dirty="0">
                            <a:solidFill>
                              <a:srgbClr val="836967"/>
                            </a:solidFill>
                            <a:latin typeface="Cambria Math" panose="02040503050406030204" pitchFamily="18" charset="0"/>
                          </a:rPr>
                        </m:ctrlPr>
                      </m:sSubPr>
                      <m:e>
                        <m:r>
                          <m:rPr>
                            <m:sty m:val="p"/>
                          </m:rPr>
                          <a:rPr lang="zh-CN" altLang="en-US" sz="2000" dirty="0">
                            <a:latin typeface="Cambria Math" panose="02040503050406030204" pitchFamily="18" charset="0"/>
                          </a:rPr>
                          <m:t>k</m:t>
                        </m:r>
                      </m:e>
                      <m:sub>
                        <m:r>
                          <a:rPr lang="zh-CN" altLang="en-US" sz="2000" dirty="0">
                            <a:latin typeface="Cambria Math" panose="02040503050406030204" pitchFamily="18" charset="0"/>
                          </a:rPr>
                          <m:t>1</m:t>
                        </m:r>
                      </m:sub>
                    </m:sSub>
                  </m:oMath>
                </a14:m>
                <a:r>
                  <a:rPr lang="zh-CN" altLang="en-US" sz="2000" b="1" dirty="0">
                    <a:latin typeface="宋体" panose="02010600030101010101" pitchFamily="2" charset="-122"/>
                  </a:rPr>
                  <a:t>时，计算</a:t>
                </a:r>
                <a14:m>
                  <m:oMath xmlns:m="http://schemas.openxmlformats.org/officeDocument/2006/math">
                    <m:r>
                      <a:rPr lang="en-US" altLang="zh-CN" sz="2000" b="1" i="1" smtClean="0">
                        <a:latin typeface="Cambria Math" panose="02040503050406030204" pitchFamily="18" charset="0"/>
                      </a:rPr>
                      <m:t>𝒄</m:t>
                    </m:r>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𝑬</m:t>
                        </m:r>
                      </m:e>
                      <m:sub>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𝒌</m:t>
                            </m:r>
                          </m:e>
                          <m:sub>
                            <m:r>
                              <a:rPr lang="en-US" altLang="zh-CN" sz="2000" b="1" i="1" smtClean="0">
                                <a:latin typeface="Cambria Math" panose="02040503050406030204" pitchFamily="18" charset="0"/>
                              </a:rPr>
                              <m:t>𝟏</m:t>
                            </m:r>
                          </m:sub>
                        </m:sSub>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𝒎</m:t>
                    </m:r>
                    <m:r>
                      <a:rPr lang="en-US" altLang="zh-CN" sz="2000" b="1" i="1" smtClean="0">
                        <a:latin typeface="Cambria Math" panose="02040503050406030204" pitchFamily="18" charset="0"/>
                      </a:rPr>
                      <m:t>)</m:t>
                    </m:r>
                  </m:oMath>
                </a14:m>
                <a:r>
                  <a:rPr lang="zh-CN" altLang="en-US" sz="2000" b="1" dirty="0">
                    <a:latin typeface="宋体" panose="02010600030101010101" pitchFamily="2" charset="-122"/>
                  </a:rPr>
                  <a:t>容易，在已知密文</a:t>
                </a:r>
                <a:r>
                  <a:rPr lang="en-US" altLang="zh-CN" sz="2000" b="1" dirty="0">
                    <a:latin typeface="宋体" panose="02010600030101010101" pitchFamily="2" charset="-122"/>
                  </a:rPr>
                  <a:t>c</a:t>
                </a:r>
                <a:r>
                  <a:rPr lang="zh-CN" altLang="en-US" sz="2000" b="1" dirty="0">
                    <a:latin typeface="宋体" panose="02010600030101010101" pitchFamily="2" charset="-122"/>
                  </a:rPr>
                  <a:t>和解密密钥</a:t>
                </a:r>
                <a14:m>
                  <m:oMath xmlns:m="http://schemas.openxmlformats.org/officeDocument/2006/math">
                    <m:sSub>
                      <m:sSubPr>
                        <m:ctrlPr>
                          <a:rPr lang="zh-CN" altLang="en-US" sz="2000" i="1">
                            <a:solidFill>
                              <a:srgbClr val="836967"/>
                            </a:solidFill>
                            <a:latin typeface="Cambria Math" panose="02040503050406030204" pitchFamily="18" charset="0"/>
                          </a:rPr>
                        </m:ctrlPr>
                      </m:sSubPr>
                      <m:e>
                        <m:r>
                          <m:rPr>
                            <m:sty m:val="p"/>
                          </m:rPr>
                          <a:rPr lang="zh-CN" altLang="en-US" sz="2000">
                            <a:latin typeface="Cambria Math" panose="02040503050406030204" pitchFamily="18" charset="0"/>
                          </a:rPr>
                          <m:t>k</m:t>
                        </m:r>
                      </m:e>
                      <m:sub>
                        <m:r>
                          <a:rPr lang="zh-CN" altLang="en-US" sz="2000">
                            <a:latin typeface="Cambria Math" panose="02040503050406030204" pitchFamily="18" charset="0"/>
                          </a:rPr>
                          <m:t>2</m:t>
                        </m:r>
                      </m:sub>
                    </m:sSub>
                  </m:oMath>
                </a14:m>
                <a:r>
                  <a:rPr lang="zh-CN" altLang="en-US" sz="2000" b="1" dirty="0">
                    <a:latin typeface="宋体" panose="02010600030101010101" pitchFamily="2" charset="-122"/>
                  </a:rPr>
                  <a:t>时</a:t>
                </a:r>
                <a:r>
                  <a:rPr lang="en-US" altLang="zh-CN" sz="2000" b="1" dirty="0">
                    <a:latin typeface="宋体" panose="02010600030101010101" pitchFamily="2" charset="-122"/>
                  </a:rPr>
                  <a:t>,</a:t>
                </a:r>
                <a:r>
                  <a:rPr lang="zh-CN" altLang="en-US" sz="2000" b="1" dirty="0">
                    <a:latin typeface="宋体" panose="02010600030101010101" pitchFamily="2" charset="-122"/>
                  </a:rPr>
                  <a:t>计算</a:t>
                </a:r>
                <a14:m>
                  <m:oMath xmlns:m="http://schemas.openxmlformats.org/officeDocument/2006/math">
                    <m:r>
                      <a:rPr lang="en-US" altLang="zh-CN" sz="2000" b="1" i="1" smtClean="0">
                        <a:latin typeface="Cambria Math" panose="02040503050406030204" pitchFamily="18" charset="0"/>
                      </a:rPr>
                      <m:t>𝒎</m:t>
                    </m:r>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𝑫</m:t>
                        </m:r>
                      </m:e>
                      <m:sub>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𝒌</m:t>
                            </m:r>
                          </m:e>
                          <m:sub>
                            <m:r>
                              <a:rPr lang="en-US" altLang="zh-CN" sz="2000" b="1" i="1" smtClean="0">
                                <a:latin typeface="Cambria Math" panose="02040503050406030204" pitchFamily="18" charset="0"/>
                              </a:rPr>
                              <m:t>𝟐</m:t>
                            </m:r>
                          </m:sub>
                        </m:sSub>
                      </m:sub>
                    </m:sSub>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𝒄</m:t>
                    </m:r>
                    <m:r>
                      <a:rPr lang="en-US" altLang="zh-CN" sz="2000" b="1" i="1" smtClean="0">
                        <a:latin typeface="Cambria Math" panose="02040503050406030204" pitchFamily="18" charset="0"/>
                      </a:rPr>
                      <m:t>)</m:t>
                    </m:r>
                  </m:oMath>
                </a14:m>
                <a:r>
                  <a:rPr lang="zh-CN" altLang="en-US" sz="2000" b="1" dirty="0">
                    <a:latin typeface="宋体" panose="02010600030101010101" pitchFamily="2" charset="-122"/>
                  </a:rPr>
                  <a:t>容易。</a:t>
                </a:r>
                <a:endParaRPr lang="en-US" altLang="zh-CN" sz="2000" b="1" dirty="0">
                  <a:latin typeface="宋体" panose="02010600030101010101" pitchFamily="2" charset="-122"/>
                </a:endParaRPr>
              </a:p>
              <a:p>
                <a:pPr marL="342891" indent="-342891">
                  <a:lnSpc>
                    <a:spcPct val="150000"/>
                  </a:lnSpc>
                  <a:spcBef>
                    <a:spcPct val="50000"/>
                  </a:spcBef>
                  <a:buClrTx/>
                  <a:buSzTx/>
                  <a:buFont typeface="Wingdings" panose="05000000000000000000" pitchFamily="2" charset="2"/>
                  <a:buChar char="l"/>
                </a:pPr>
                <a:r>
                  <a:rPr lang="zh-CN" altLang="en-US" sz="2000" b="1" dirty="0">
                    <a:latin typeface="宋体" panose="02010600030101010101" pitchFamily="2" charset="-122"/>
                  </a:rPr>
                  <a:t>在不知道解密密钥</a:t>
                </a:r>
                <a14:m>
                  <m:oMath xmlns:m="http://schemas.openxmlformats.org/officeDocument/2006/math">
                    <m:sSub>
                      <m:sSubPr>
                        <m:ctrlPr>
                          <a:rPr lang="zh-CN" altLang="en-US" sz="2000" i="1">
                            <a:solidFill>
                              <a:srgbClr val="836967"/>
                            </a:solidFill>
                            <a:latin typeface="Cambria Math" panose="02040503050406030204" pitchFamily="18" charset="0"/>
                          </a:rPr>
                        </m:ctrlPr>
                      </m:sSubPr>
                      <m:e>
                        <m:r>
                          <m:rPr>
                            <m:sty m:val="p"/>
                          </m:rPr>
                          <a:rPr lang="zh-CN" altLang="en-US" sz="2000">
                            <a:latin typeface="Cambria Math" panose="02040503050406030204" pitchFamily="18" charset="0"/>
                          </a:rPr>
                          <m:t>k</m:t>
                        </m:r>
                      </m:e>
                      <m:sub>
                        <m:r>
                          <a:rPr lang="zh-CN" altLang="en-US" sz="2000">
                            <a:latin typeface="Cambria Math" panose="02040503050406030204" pitchFamily="18" charset="0"/>
                          </a:rPr>
                          <m:t>2</m:t>
                        </m:r>
                      </m:sub>
                    </m:sSub>
                  </m:oMath>
                </a14:m>
                <a:r>
                  <a:rPr lang="zh-CN" altLang="en-US" sz="2000" b="1" dirty="0">
                    <a:latin typeface="宋体" panose="02010600030101010101" pitchFamily="2" charset="-122"/>
                  </a:rPr>
                  <a:t>时，不可能由密文</a:t>
                </a:r>
                <a:r>
                  <a:rPr lang="en-US" altLang="zh-CN" sz="2000" b="1" dirty="0">
                    <a:latin typeface="宋体" panose="02010600030101010101" pitchFamily="2" charset="-122"/>
                  </a:rPr>
                  <a:t>c</a:t>
                </a:r>
                <a:r>
                  <a:rPr lang="zh-CN" altLang="en-US" sz="2000" b="1" dirty="0">
                    <a:latin typeface="宋体" panose="02010600030101010101" pitchFamily="2" charset="-122"/>
                  </a:rPr>
                  <a:t>恢复出明文</a:t>
                </a:r>
                <a:r>
                  <a:rPr lang="en-US" altLang="zh-CN" sz="2000" b="1" dirty="0">
                    <a:latin typeface="宋体" panose="02010600030101010101" pitchFamily="2" charset="-122"/>
                  </a:rPr>
                  <a:t>m</a:t>
                </a:r>
                <a:r>
                  <a:rPr lang="zh-CN" altLang="en-US" sz="2000" b="1" dirty="0">
                    <a:latin typeface="宋体" panose="02010600030101010101" pitchFamily="2" charset="-122"/>
                  </a:rPr>
                  <a:t>。</a:t>
                </a:r>
              </a:p>
            </p:txBody>
          </p:sp>
        </mc:Choice>
        <mc:Fallback xmlns="">
          <p:sp>
            <p:nvSpPr>
              <p:cNvPr id="57" name="Text Box 9">
                <a:extLst>
                  <a:ext uri="{FF2B5EF4-FFF2-40B4-BE49-F238E27FC236}">
                    <a16:creationId xmlns:a16="http://schemas.microsoft.com/office/drawing/2014/main" id="{86987416-83E1-70DF-309C-3D148EE0907D}"/>
                  </a:ext>
                </a:extLst>
              </p:cNvPr>
              <p:cNvSpPr txBox="1">
                <a:spLocks noRot="1" noChangeAspect="1" noMove="1" noResize="1" noEditPoints="1" noAdjustHandles="1" noChangeArrowheads="1" noChangeShapeType="1" noTextEdit="1"/>
              </p:cNvSpPr>
              <p:nvPr/>
            </p:nvSpPr>
            <p:spPr bwMode="auto">
              <a:xfrm>
                <a:off x="347331" y="2052042"/>
                <a:ext cx="11722395" cy="2331087"/>
              </a:xfrm>
              <a:prstGeom prst="rect">
                <a:avLst/>
              </a:prstGeom>
              <a:blipFill>
                <a:blip r:embed="rId3"/>
                <a:stretch>
                  <a:fillRect l="-832" r="-312" b="-34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262696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密码体制的攻击方法</a:t>
            </a:r>
          </a:p>
        </p:txBody>
      </p:sp>
      <p:sp>
        <p:nvSpPr>
          <p:cNvPr id="26" name="文本框 25">
            <a:extLst>
              <a:ext uri="{FF2B5EF4-FFF2-40B4-BE49-F238E27FC236}">
                <a16:creationId xmlns:a16="http://schemas.microsoft.com/office/drawing/2014/main" id="{14083B43-F40C-35C3-D1DD-972141FFC6CF}"/>
              </a:ext>
            </a:extLst>
          </p:cNvPr>
          <p:cNvSpPr txBox="1"/>
          <p:nvPr/>
        </p:nvSpPr>
        <p:spPr>
          <a:xfrm>
            <a:off x="2874122" y="1618217"/>
            <a:ext cx="6443759" cy="423193"/>
          </a:xfrm>
          <a:prstGeom prst="rect">
            <a:avLst/>
          </a:prstGeom>
          <a:noFill/>
        </p:spPr>
        <p:txBody>
          <a:bodyPr wrap="square">
            <a:spAutoFit/>
          </a:bodyPr>
          <a:lstStyle/>
          <a:p>
            <a:pPr marL="702882" indent="-342891">
              <a:lnSpc>
                <a:spcPts val="2880"/>
              </a:lnSpc>
              <a:spcBef>
                <a:spcPts val="600"/>
              </a:spcBef>
              <a:spcAft>
                <a:spcPts val="600"/>
              </a:spcAft>
              <a:buClr>
                <a:schemeClr val="accent1">
                  <a:lumMod val="75000"/>
                </a:schemeClr>
              </a:buClr>
              <a:buSzPct val="60000"/>
              <a:buFont typeface="Wingdings" panose="05000000000000000000" pitchFamily="2" charset="2"/>
              <a:buChar char="l"/>
            </a:pPr>
            <a:endParaRPr kumimoji="1" lang="zh-CN" altLang="en-US" sz="2400" dirty="0">
              <a:latin typeface="宋体" panose="02010600030101010101" pitchFamily="2" charset="-122"/>
              <a:ea typeface="宋体" panose="02010600030101010101" pitchFamily="2" charset="-122"/>
            </a:endParaRPr>
          </a:p>
        </p:txBody>
      </p:sp>
      <p:sp>
        <p:nvSpPr>
          <p:cNvPr id="57" name="Text Box 9">
            <a:extLst>
              <a:ext uri="{FF2B5EF4-FFF2-40B4-BE49-F238E27FC236}">
                <a16:creationId xmlns:a16="http://schemas.microsoft.com/office/drawing/2014/main" id="{86987416-83E1-70DF-309C-3D148EE0907D}"/>
              </a:ext>
            </a:extLst>
          </p:cNvPr>
          <p:cNvSpPr txBox="1">
            <a:spLocks noChangeArrowheads="1"/>
          </p:cNvSpPr>
          <p:nvPr/>
        </p:nvSpPr>
        <p:spPr bwMode="auto">
          <a:xfrm>
            <a:off x="770860" y="2041409"/>
            <a:ext cx="10919638" cy="263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891" indent="-342891">
              <a:lnSpc>
                <a:spcPct val="150000"/>
              </a:lnSpc>
              <a:spcBef>
                <a:spcPct val="50000"/>
              </a:spcBef>
              <a:buClrTx/>
              <a:buSzTx/>
              <a:buFont typeface="Wingdings" panose="05000000000000000000" pitchFamily="2" charset="2"/>
              <a:buChar char="l"/>
            </a:pPr>
            <a:r>
              <a:rPr lang="zh-CN" altLang="en-US" sz="2000" b="1" dirty="0">
                <a:latin typeface="宋体" panose="02010600030101010101" pitchFamily="2" charset="-122"/>
              </a:rPr>
              <a:t>穷举攻击：</a:t>
            </a:r>
            <a:r>
              <a:rPr lang="zh-CN" altLang="en-US" sz="2000" dirty="0">
                <a:latin typeface="宋体" panose="02010600030101010101" pitchFamily="2" charset="-122"/>
              </a:rPr>
              <a:t>通过试遍所有的密钥来进行破译。</a:t>
            </a:r>
            <a:r>
              <a:rPr lang="zh-CN" altLang="en-US" sz="2000">
                <a:latin typeface="宋体" panose="02010600030101010101" pitchFamily="2" charset="-122"/>
              </a:rPr>
              <a:t>对抗：增加密钥</a:t>
            </a:r>
            <a:r>
              <a:rPr lang="zh-CN" altLang="en-US" sz="2000" dirty="0">
                <a:latin typeface="宋体" panose="02010600030101010101" pitchFamily="2" charset="-122"/>
              </a:rPr>
              <a:t>的数量。</a:t>
            </a:r>
            <a:endParaRPr lang="en-US" altLang="zh-CN" sz="2000" dirty="0">
              <a:latin typeface="宋体" panose="02010600030101010101" pitchFamily="2" charset="-122"/>
            </a:endParaRPr>
          </a:p>
          <a:p>
            <a:pPr marL="342891" indent="-342891">
              <a:lnSpc>
                <a:spcPct val="150000"/>
              </a:lnSpc>
              <a:spcBef>
                <a:spcPct val="50000"/>
              </a:spcBef>
              <a:buClrTx/>
              <a:buSzTx/>
              <a:buFont typeface="Wingdings" panose="05000000000000000000" pitchFamily="2" charset="2"/>
              <a:buChar char="l"/>
            </a:pPr>
            <a:r>
              <a:rPr lang="zh-CN" altLang="en-US" sz="2000" b="1" dirty="0">
                <a:latin typeface="宋体" panose="02010600030101010101" pitchFamily="2" charset="-122"/>
              </a:rPr>
              <a:t>统计分析攻击：</a:t>
            </a:r>
            <a:r>
              <a:rPr lang="zh-CN" altLang="en-US" sz="2000" dirty="0">
                <a:latin typeface="宋体" panose="02010600030101010101" pitchFamily="2" charset="-122"/>
              </a:rPr>
              <a:t>通过分析密文和明文的统计规律来破译。对抗：设法使明文和密文的统计规律不一样。</a:t>
            </a:r>
          </a:p>
          <a:p>
            <a:pPr marL="342891" indent="-342891">
              <a:lnSpc>
                <a:spcPct val="150000"/>
              </a:lnSpc>
              <a:spcBef>
                <a:spcPct val="50000"/>
              </a:spcBef>
              <a:buClrTx/>
              <a:buSzTx/>
              <a:buFont typeface="Wingdings" panose="05000000000000000000" pitchFamily="2" charset="2"/>
              <a:buChar char="l"/>
            </a:pPr>
            <a:r>
              <a:rPr lang="zh-CN" altLang="en-US" sz="2000" b="1" dirty="0">
                <a:latin typeface="宋体" panose="02010600030101010101" pitchFamily="2" charset="-122"/>
              </a:rPr>
              <a:t>解密变换攻击：</a:t>
            </a:r>
            <a:r>
              <a:rPr lang="zh-CN" altLang="en-US" sz="2000" dirty="0">
                <a:latin typeface="宋体" panose="02010600030101010101" pitchFamily="2" charset="-122"/>
              </a:rPr>
              <a:t>针对加密变换的数学基础，通过数学求解设法找到解密变换。对抗：选用具有坚实的数学基础和足够复杂的加密算法。</a:t>
            </a:r>
          </a:p>
        </p:txBody>
      </p:sp>
    </p:spTree>
    <p:extLst>
      <p:ext uri="{BB962C8B-B14F-4D97-AF65-F5344CB8AC3E}">
        <p14:creationId xmlns:p14="http://schemas.microsoft.com/office/powerpoint/2010/main" val="262539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0-#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密码分析分类</a:t>
            </a:r>
          </a:p>
        </p:txBody>
      </p:sp>
      <p:sp>
        <p:nvSpPr>
          <p:cNvPr id="26" name="文本框 25">
            <a:extLst>
              <a:ext uri="{FF2B5EF4-FFF2-40B4-BE49-F238E27FC236}">
                <a16:creationId xmlns:a16="http://schemas.microsoft.com/office/drawing/2014/main" id="{14083B43-F40C-35C3-D1DD-972141FFC6CF}"/>
              </a:ext>
            </a:extLst>
          </p:cNvPr>
          <p:cNvSpPr txBox="1"/>
          <p:nvPr/>
        </p:nvSpPr>
        <p:spPr>
          <a:xfrm>
            <a:off x="2929354" y="1304521"/>
            <a:ext cx="6443759" cy="423193"/>
          </a:xfrm>
          <a:prstGeom prst="rect">
            <a:avLst/>
          </a:prstGeom>
          <a:noFill/>
        </p:spPr>
        <p:txBody>
          <a:bodyPr wrap="square">
            <a:spAutoFit/>
          </a:bodyPr>
          <a:lstStyle/>
          <a:p>
            <a:pPr marL="702882" indent="-342891">
              <a:lnSpc>
                <a:spcPts val="2880"/>
              </a:lnSpc>
              <a:spcBef>
                <a:spcPts val="600"/>
              </a:spcBef>
              <a:spcAft>
                <a:spcPts val="600"/>
              </a:spcAft>
              <a:buClr>
                <a:schemeClr val="accent1">
                  <a:lumMod val="75000"/>
                </a:schemeClr>
              </a:buClr>
              <a:buSzPct val="60000"/>
              <a:buFont typeface="Wingdings" panose="05000000000000000000" pitchFamily="2" charset="2"/>
              <a:buChar char="l"/>
            </a:pPr>
            <a:endParaRPr kumimoji="1" lang="zh-CN" altLang="en-US" sz="2400" dirty="0">
              <a:latin typeface="宋体" panose="02010600030101010101" pitchFamily="2" charset="-122"/>
              <a:ea typeface="宋体" panose="02010600030101010101" pitchFamily="2" charset="-122"/>
            </a:endParaRPr>
          </a:p>
        </p:txBody>
      </p:sp>
      <p:sp>
        <p:nvSpPr>
          <p:cNvPr id="5" name="Rectangle 3">
            <a:extLst>
              <a:ext uri="{FF2B5EF4-FFF2-40B4-BE49-F238E27FC236}">
                <a16:creationId xmlns:a16="http://schemas.microsoft.com/office/drawing/2014/main" id="{72C0DA78-98B0-83D9-DE49-B710B8254C50}"/>
              </a:ext>
            </a:extLst>
          </p:cNvPr>
          <p:cNvSpPr txBox="1">
            <a:spLocks noChangeArrowheads="1"/>
          </p:cNvSpPr>
          <p:nvPr/>
        </p:nvSpPr>
        <p:spPr>
          <a:xfrm>
            <a:off x="616688" y="822283"/>
            <a:ext cx="11249247" cy="496887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r>
              <a:rPr lang="en-US" altLang="zh-CN" sz="2000" dirty="0">
                <a:latin typeface="隶书" pitchFamily="49" charset="-122"/>
                <a:ea typeface="隶书" pitchFamily="49" charset="-122"/>
              </a:rPr>
              <a:t>1</a:t>
            </a:r>
            <a:r>
              <a:rPr lang="zh-CN" altLang="en-US" sz="2000" dirty="0">
                <a:latin typeface="隶书" pitchFamily="49" charset="-122"/>
                <a:ea typeface="隶书" pitchFamily="49" charset="-122"/>
              </a:rPr>
              <a:t>、</a:t>
            </a:r>
            <a:r>
              <a:rPr kumimoji="1" lang="zh-CN" altLang="en-US" sz="2000" dirty="0">
                <a:latin typeface="宋体" panose="02010600030101010101" pitchFamily="2" charset="-122"/>
                <a:ea typeface="宋体" panose="02010600030101010101" pitchFamily="2" charset="-122"/>
              </a:rPr>
              <a:t>唯密文攻击</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破译者已知：加密算法、待破译的密文  </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目标：密钥，已经获得的密文对应的明文</a:t>
            </a:r>
          </a:p>
          <a:p>
            <a:pPr>
              <a:buClr>
                <a:schemeClr val="accent1">
                  <a:lumMod val="75000"/>
                </a:schemeClr>
              </a:buClr>
              <a:buSzPct val="60000"/>
              <a:buFont typeface="Wingdings" panose="05000000000000000000" pitchFamily="2" charset="2"/>
              <a:buChar char="n"/>
            </a:pP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a:t>
            </a:r>
            <a:r>
              <a:rPr kumimoji="1" lang="zh-CN" altLang="en-US" sz="2000" dirty="0">
                <a:latin typeface="宋体" panose="02010600030101010101" pitchFamily="2" charset="-122"/>
                <a:ea typeface="宋体" panose="02010600030101010101" pitchFamily="2" charset="-122"/>
              </a:rPr>
              <a:t>已知明文攻击</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破译者已知：加密算法、一定数量的密文和对应的明文 </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目标：密钥，任意密文对应的明文</a:t>
            </a:r>
          </a:p>
          <a:p>
            <a:pPr>
              <a:buClr>
                <a:schemeClr val="accent1">
                  <a:lumMod val="75000"/>
                </a:schemeClr>
              </a:buClr>
              <a:buSzPct val="60000"/>
              <a:buFont typeface="Wingdings" panose="05000000000000000000" pitchFamily="2" charset="2"/>
              <a:buChar char="n"/>
            </a:pPr>
            <a:r>
              <a:rPr kumimoji="1" lang="en-US" altLang="zh-CN" sz="2000" dirty="0">
                <a:latin typeface="宋体" panose="02010600030101010101" pitchFamily="2" charset="-122"/>
                <a:ea typeface="宋体" panose="02010600030101010101" pitchFamily="2" charset="-122"/>
              </a:rPr>
              <a:t>3</a:t>
            </a:r>
            <a:r>
              <a:rPr kumimoji="1" lang="zh-CN" altLang="en-US" sz="2000" dirty="0">
                <a:latin typeface="宋体" panose="02010600030101010101" pitchFamily="2" charset="-122"/>
                <a:ea typeface="宋体" panose="02010600030101010101" pitchFamily="2" charset="-122"/>
              </a:rPr>
              <a:t>、选择明文攻击</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破译者已知：加密算法、由任意选定的明文可得到对应的密文</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目标：密钥，任意密文对应的明文</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616688" y="4088224"/>
            <a:ext cx="10853352" cy="2541181"/>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r>
              <a:rPr kumimoji="1" lang="en-US" altLang="zh-CN" sz="2000" dirty="0">
                <a:latin typeface="宋体" panose="02010600030101010101" pitchFamily="2" charset="-122"/>
                <a:ea typeface="宋体" panose="02010600030101010101" pitchFamily="2" charset="-122"/>
              </a:rPr>
              <a:t>4</a:t>
            </a:r>
            <a:r>
              <a:rPr kumimoji="1" lang="zh-CN" altLang="en-US" sz="2000" dirty="0">
                <a:latin typeface="宋体" panose="02010600030101010101" pitchFamily="2" charset="-122"/>
                <a:ea typeface="宋体" panose="02010600030101010101" pitchFamily="2" charset="-122"/>
              </a:rPr>
              <a:t>、选择密文攻击</a:t>
            </a: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破译者已知：加密算法、选定的明文和对应的密文、选定的密文和对应的明文</a:t>
            </a:r>
            <a:endParaRPr kumimoji="1" lang="en-US" altLang="zh-CN" sz="2000" dirty="0">
              <a:latin typeface="宋体" panose="02010600030101010101" pitchFamily="2" charset="-122"/>
              <a:ea typeface="宋体" panose="02010600030101010101" pitchFamily="2" charset="-122"/>
            </a:endParaRPr>
          </a:p>
          <a:p>
            <a:pPr lvl="1">
              <a:buClr>
                <a:srgbClr val="FF0000"/>
              </a:buClr>
              <a:buSzPct val="60000"/>
              <a:buFont typeface="Wingdings" panose="05000000000000000000" pitchFamily="2" charset="2"/>
              <a:buChar char="n"/>
            </a:pPr>
            <a:r>
              <a:rPr kumimoji="1" lang="zh-CN" altLang="en-US" sz="2000" dirty="0">
                <a:latin typeface="宋体" panose="02010600030101010101" pitchFamily="2" charset="-122"/>
                <a:ea typeface="宋体" panose="02010600030101010101" pitchFamily="2" charset="-122"/>
              </a:rPr>
              <a:t>目标：密钥，任意密文对应的明文</a:t>
            </a:r>
            <a:endParaRPr kumimoji="1" lang="en-CA" altLang="zh-CN" sz="2000" dirty="0">
              <a:latin typeface="宋体" panose="02010600030101010101" pitchFamily="2" charset="-122"/>
              <a:ea typeface="宋体" panose="02010600030101010101" pitchFamily="2" charset="-122"/>
            </a:endParaRPr>
          </a:p>
          <a:p>
            <a:pPr>
              <a:buClr>
                <a:schemeClr val="accent1">
                  <a:lumMod val="75000"/>
                </a:schemeClr>
              </a:buClr>
              <a:buSzPct val="60000"/>
              <a:buFont typeface="Wingdings" panose="05000000000000000000" pitchFamily="2" charset="2"/>
              <a:buChar char="n"/>
            </a:pPr>
            <a:r>
              <a:rPr kumimoji="1" lang="zh-CN" altLang="en-US" sz="2000" dirty="0">
                <a:latin typeface="宋体" panose="02010600030101010101" pitchFamily="2" charset="-122"/>
              </a:rPr>
              <a:t>唯密文攻击是难度最大的</a:t>
            </a:r>
          </a:p>
          <a:p>
            <a:pPr>
              <a:buClr>
                <a:schemeClr val="accent1">
                  <a:lumMod val="75000"/>
                </a:schemeClr>
              </a:buClr>
              <a:buSzPct val="60000"/>
              <a:buFont typeface="Wingdings" panose="05000000000000000000" pitchFamily="2" charset="2"/>
              <a:buChar char="n"/>
            </a:pPr>
            <a:r>
              <a:rPr kumimoji="1" lang="zh-CN" altLang="en-US" sz="2000" dirty="0">
                <a:latin typeface="宋体" panose="02010600030101010101" pitchFamily="2" charset="-122"/>
              </a:rPr>
              <a:t>上述攻击的强度是递增的</a:t>
            </a:r>
          </a:p>
          <a:p>
            <a:pPr>
              <a:buClr>
                <a:schemeClr val="accent1">
                  <a:lumMod val="75000"/>
                </a:schemeClr>
              </a:buClr>
              <a:buSzPct val="60000"/>
              <a:buFont typeface="Wingdings" panose="05000000000000000000" pitchFamily="2" charset="2"/>
              <a:buChar char="n"/>
            </a:pPr>
            <a:r>
              <a:rPr kumimoji="1" lang="zh-CN" altLang="en-US" sz="2000" dirty="0">
                <a:latin typeface="宋体" panose="02010600030101010101" pitchFamily="2" charset="-122"/>
              </a:rPr>
              <a:t>一个密码体制是安全的，通常是指在前三种攻击下的安全性</a:t>
            </a:r>
          </a:p>
        </p:txBody>
      </p:sp>
    </p:spTree>
    <p:extLst>
      <p:ext uri="{BB962C8B-B14F-4D97-AF65-F5344CB8AC3E}">
        <p14:creationId xmlns:p14="http://schemas.microsoft.com/office/powerpoint/2010/main" val="374297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 calcmode="lin" valueType="num">
                                      <p:cBhvr additive="base">
                                        <p:cTn id="3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 calcmode="lin" valueType="num">
                                      <p:cBhvr additive="base">
                                        <p:cTn id="3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anim calcmode="lin" valueType="num">
                                      <p:cBhvr additive="base">
                                        <p:cTn id="4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
                                            <p:txEl>
                                              <p:pRg st="1" end="1"/>
                                            </p:txEl>
                                          </p:spTgt>
                                        </p:tgtEl>
                                        <p:attrNameLst>
                                          <p:attrName>style.visibility</p:attrName>
                                        </p:attrNameLst>
                                      </p:cBhvr>
                                      <p:to>
                                        <p:strVal val="visible"/>
                                      </p:to>
                                    </p:set>
                                    <p:anim calcmode="lin" valueType="num">
                                      <p:cBhvr additive="base">
                                        <p:cTn id="5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 calcmode="lin" valueType="num">
                                      <p:cBhvr additive="base">
                                        <p:cTn id="5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6">
                                            <p:txEl>
                                              <p:pRg st="3" end="3"/>
                                            </p:txEl>
                                          </p:spTgt>
                                        </p:tgtEl>
                                        <p:attrNameLst>
                                          <p:attrName>style.visibility</p:attrName>
                                        </p:attrNameLst>
                                      </p:cBhvr>
                                      <p:to>
                                        <p:strVal val="visible"/>
                                      </p:to>
                                    </p:set>
                                    <p:anim calcmode="lin" valueType="num">
                                      <p:cBhvr additive="base">
                                        <p:cTn id="6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6">
                                            <p:txEl>
                                              <p:pRg st="4" end="4"/>
                                            </p:txEl>
                                          </p:spTgt>
                                        </p:tgtEl>
                                        <p:attrNameLst>
                                          <p:attrName>style.visibility</p:attrName>
                                        </p:attrNameLst>
                                      </p:cBhvr>
                                      <p:to>
                                        <p:strVal val="visible"/>
                                      </p:to>
                                    </p:set>
                                    <p:anim calcmode="lin" valueType="num">
                                      <p:cBhvr additive="base">
                                        <p:cTn id="6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6">
                                            <p:txEl>
                                              <p:pRg st="5" end="5"/>
                                            </p:txEl>
                                          </p:spTgt>
                                        </p:tgtEl>
                                        <p:attrNameLst>
                                          <p:attrName>style.visibility</p:attrName>
                                        </p:attrNameLst>
                                      </p:cBhvr>
                                      <p:to>
                                        <p:strVal val="visible"/>
                                      </p:to>
                                    </p:set>
                                    <p:anim calcmode="lin" valueType="num">
                                      <p:cBhvr additive="base">
                                        <p:cTn id="7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5519460"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一个密码系统实际安全的条件</a:t>
            </a:r>
          </a:p>
        </p:txBody>
      </p:sp>
      <p:sp>
        <p:nvSpPr>
          <p:cNvPr id="5" name="Rectangle 3">
            <a:extLst>
              <a:ext uri="{FF2B5EF4-FFF2-40B4-BE49-F238E27FC236}">
                <a16:creationId xmlns:a16="http://schemas.microsoft.com/office/drawing/2014/main" id="{72C0DA78-98B0-83D9-DE49-B710B8254C50}"/>
              </a:ext>
            </a:extLst>
          </p:cNvPr>
          <p:cNvSpPr txBox="1">
            <a:spLocks noChangeArrowheads="1"/>
          </p:cNvSpPr>
          <p:nvPr/>
        </p:nvSpPr>
        <p:spPr>
          <a:xfrm>
            <a:off x="1267548" y="1570246"/>
            <a:ext cx="9957500" cy="3626068"/>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Clr>
                <a:schemeClr val="accent1">
                  <a:lumMod val="75000"/>
                </a:schemeClr>
              </a:buClr>
              <a:buSzPct val="60000"/>
              <a:buFont typeface="Wingdings" panose="05000000000000000000" pitchFamily="2" charset="2"/>
              <a:buChar char="n"/>
            </a:pPr>
            <a:r>
              <a:rPr kumimoji="1" lang="zh-CN" altLang="en-US" sz="2400" dirty="0">
                <a:latin typeface="宋体" panose="02010600030101010101" pitchFamily="2" charset="-122"/>
                <a:ea typeface="宋体" panose="02010600030101010101" pitchFamily="2" charset="-122"/>
              </a:rPr>
              <a:t>每一个加密函数和每一个解密函数都能有效地计算</a:t>
            </a:r>
            <a:endParaRPr kumimoji="1" lang="en-US" altLang="zh-CN" sz="2400" dirty="0">
              <a:latin typeface="宋体" panose="02010600030101010101" pitchFamily="2" charset="-122"/>
              <a:ea typeface="宋体" panose="02010600030101010101" pitchFamily="2" charset="-122"/>
            </a:endParaRPr>
          </a:p>
          <a:p>
            <a:pPr>
              <a:lnSpc>
                <a:spcPct val="200000"/>
              </a:lnSpc>
              <a:buClr>
                <a:schemeClr val="accent1">
                  <a:lumMod val="75000"/>
                </a:schemeClr>
              </a:buClr>
              <a:buSzPct val="60000"/>
              <a:buFont typeface="Wingdings" panose="05000000000000000000" pitchFamily="2" charset="2"/>
              <a:buChar char="n"/>
            </a:pPr>
            <a:r>
              <a:rPr kumimoji="1" lang="zh-CN" altLang="en-US" sz="2400" dirty="0">
                <a:latin typeface="宋体" panose="02010600030101010101" pitchFamily="2" charset="-122"/>
                <a:ea typeface="宋体" panose="02010600030101010101" pitchFamily="2" charset="-122"/>
              </a:rPr>
              <a:t>破译者取得密文后将不能在有效的时间或成本范围内破解出密钥或明文</a:t>
            </a:r>
            <a:endParaRPr kumimoji="1" lang="en-US" altLang="zh-CN" sz="2400" dirty="0">
              <a:latin typeface="宋体" panose="02010600030101010101" pitchFamily="2" charset="-122"/>
              <a:ea typeface="宋体" panose="02010600030101010101" pitchFamily="2" charset="-122"/>
            </a:endParaRPr>
          </a:p>
          <a:p>
            <a:pPr>
              <a:lnSpc>
                <a:spcPct val="200000"/>
              </a:lnSpc>
              <a:buClr>
                <a:schemeClr val="accent1">
                  <a:lumMod val="75000"/>
                </a:schemeClr>
              </a:buClr>
              <a:buSzPct val="60000"/>
              <a:buFont typeface="Wingdings" panose="05000000000000000000" pitchFamily="2" charset="2"/>
              <a:buChar char="n"/>
            </a:pPr>
            <a:r>
              <a:rPr kumimoji="1" lang="zh-CN" altLang="en-US" sz="2400" dirty="0">
                <a:latin typeface="宋体" panose="02010600030101010101" pitchFamily="2" charset="-122"/>
                <a:ea typeface="宋体" panose="02010600030101010101" pitchFamily="2" charset="-122"/>
              </a:rPr>
              <a:t>一个密码系统是安全的必要条件：穷举密钥搜索将是不可行的</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Tree>
    <p:extLst>
      <p:ext uri="{BB962C8B-B14F-4D97-AF65-F5344CB8AC3E}">
        <p14:creationId xmlns:p14="http://schemas.microsoft.com/office/powerpoint/2010/main" val="296675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nodePh="1">
                                  <p:stCondLst>
                                    <p:cond delay="0"/>
                                  </p:stCondLst>
                                  <p:endCondLst>
                                    <p:cond evt="begin" delay="0">
                                      <p:tn val="23"/>
                                    </p:cond>
                                  </p:end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271723" y="250121"/>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穷举攻击</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7" name="Rectangle 3">
            <a:extLst>
              <a:ext uri="{FF2B5EF4-FFF2-40B4-BE49-F238E27FC236}">
                <a16:creationId xmlns:a16="http://schemas.microsoft.com/office/drawing/2014/main" id="{D771B1EC-ADB7-BF33-C479-77240CB38946}"/>
              </a:ext>
            </a:extLst>
          </p:cNvPr>
          <p:cNvSpPr txBox="1">
            <a:spLocks noChangeArrowheads="1"/>
          </p:cNvSpPr>
          <p:nvPr/>
        </p:nvSpPr>
        <p:spPr>
          <a:xfrm>
            <a:off x="1151905" y="1823019"/>
            <a:ext cx="9380585" cy="3937931"/>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要想能抵抗穷举攻击</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一个密码算法的可能密钥总数不能太少</a:t>
            </a:r>
            <a:r>
              <a:rPr lang="en-US" altLang="zh-CN" sz="2400" dirty="0">
                <a:latin typeface="宋体" panose="02010600030101010101" pitchFamily="2" charset="-122"/>
                <a:ea typeface="宋体" panose="02010600030101010101" pitchFamily="2" charset="-122"/>
              </a:rPr>
              <a:t>!</a:t>
            </a:r>
          </a:p>
          <a:p>
            <a:pPr>
              <a:lnSpc>
                <a:spcPct val="200000"/>
              </a:lnSpc>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一个密码算法的可能密钥的总数称为该密码算法的密钥变化量</a:t>
            </a:r>
            <a:r>
              <a:rPr lang="en-US" altLang="zh-CN" sz="2400" dirty="0">
                <a:latin typeface="宋体" panose="02010600030101010101" pitchFamily="2" charset="-122"/>
                <a:ea typeface="宋体" panose="02010600030101010101" pitchFamily="2" charset="-122"/>
              </a:rPr>
              <a:t>.</a:t>
            </a:r>
          </a:p>
          <a:p>
            <a:pPr>
              <a:lnSpc>
                <a:spcPct val="200000"/>
              </a:lnSpc>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目前</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密钥变化量少于</a:t>
            </a:r>
            <a:r>
              <a:rPr lang="en-US" altLang="zh-CN" sz="2400" dirty="0">
                <a:latin typeface="宋体" panose="02010600030101010101" pitchFamily="2" charset="-122"/>
                <a:ea typeface="宋体" panose="02010600030101010101" pitchFamily="2" charset="-122"/>
              </a:rPr>
              <a:t>2</a:t>
            </a:r>
            <a:r>
              <a:rPr lang="en-US" altLang="zh-CN" sz="2400" baseline="30000" dirty="0">
                <a:latin typeface="宋体" panose="02010600030101010101" pitchFamily="2" charset="-122"/>
                <a:ea typeface="宋体" panose="02010600030101010101" pitchFamily="2" charset="-122"/>
              </a:rPr>
              <a:t>80</a:t>
            </a:r>
            <a:r>
              <a:rPr lang="zh-CN" altLang="en-US" sz="2400" dirty="0">
                <a:latin typeface="宋体" panose="02010600030101010101" pitchFamily="2" charset="-122"/>
                <a:ea typeface="宋体" panose="02010600030101010101" pitchFamily="2" charset="-122"/>
              </a:rPr>
              <a:t>的密码算法是不安全的</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密钥变化量为</a:t>
            </a:r>
            <a:r>
              <a:rPr lang="en-US" altLang="zh-CN" sz="2400" dirty="0">
                <a:latin typeface="宋体" panose="02010600030101010101" pitchFamily="2" charset="-122"/>
                <a:ea typeface="宋体" panose="02010600030101010101" pitchFamily="2" charset="-122"/>
              </a:rPr>
              <a:t>2</a:t>
            </a:r>
            <a:r>
              <a:rPr lang="en-US" altLang="zh-CN" sz="2400" baseline="30000" dirty="0">
                <a:latin typeface="宋体" panose="02010600030101010101" pitchFamily="2" charset="-122"/>
                <a:ea typeface="宋体" panose="02010600030101010101" pitchFamily="2" charset="-122"/>
              </a:rPr>
              <a:t>128</a:t>
            </a:r>
            <a:r>
              <a:rPr lang="zh-CN" altLang="en-US" sz="2400" dirty="0">
                <a:latin typeface="宋体" panose="02010600030101010101" pitchFamily="2" charset="-122"/>
                <a:ea typeface="宋体" panose="02010600030101010101" pitchFamily="2" charset="-122"/>
              </a:rPr>
              <a:t>的密码算法是安全的</a:t>
            </a:r>
            <a:r>
              <a:rPr lang="en-US" altLang="zh-CN" sz="2400"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18286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3057247"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穷举攻击的方法</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611702" y="1179262"/>
            <a:ext cx="10006661" cy="4685552"/>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ct val="0"/>
              </a:spcBef>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假设密钥变化量为</a:t>
            </a:r>
            <a:r>
              <a:rPr lang="en-US" altLang="zh-CN" dirty="0">
                <a:latin typeface="宋体" panose="02010600030101010101" pitchFamily="2" charset="-122"/>
                <a:ea typeface="宋体" panose="02010600030101010101" pitchFamily="2" charset="-122"/>
              </a:rPr>
              <a:t>2</a:t>
            </a:r>
            <a:r>
              <a:rPr lang="en-US" altLang="zh-CN" baseline="30000" dirty="0">
                <a:latin typeface="宋体" panose="02010600030101010101" pitchFamily="2" charset="-122"/>
                <a:ea typeface="宋体" panose="02010600030101010101" pitchFamily="2" charset="-122"/>
              </a:rPr>
              <a:t>128</a:t>
            </a:r>
            <a:r>
              <a:rPr lang="en-US" altLang="zh-CN" dirty="0">
                <a:latin typeface="宋体" panose="02010600030101010101" pitchFamily="2" charset="-122"/>
                <a:ea typeface="宋体" panose="02010600030101010101" pitchFamily="2" charset="-122"/>
                <a:cs typeface="Times New Roman" panose="02020603050405020304" pitchFamily="18" charset="0"/>
              </a:rPr>
              <a:t>≈10</a:t>
            </a:r>
            <a:r>
              <a:rPr lang="en-US" altLang="zh-CN" baseline="30000" dirty="0">
                <a:latin typeface="宋体" panose="02010600030101010101" pitchFamily="2" charset="-122"/>
                <a:ea typeface="宋体" panose="02010600030101010101" pitchFamily="2" charset="-122"/>
                <a:cs typeface="Times New Roman" panose="02020603050405020304" pitchFamily="18" charset="0"/>
              </a:rPr>
              <a:t>128×0.301</a:t>
            </a:r>
            <a:r>
              <a:rPr lang="zh-CN" altLang="en-US" dirty="0">
                <a:latin typeface="宋体" panose="02010600030101010101" pitchFamily="2" charset="-122"/>
                <a:ea typeface="宋体" panose="02010600030101010101" pitchFamily="2" charset="-122"/>
                <a:cs typeface="Times New Roman" panose="02020603050405020304" pitchFamily="18" charset="0"/>
              </a:rPr>
              <a:t>＝</a:t>
            </a:r>
            <a:r>
              <a:rPr lang="en-US" altLang="zh-CN" dirty="0">
                <a:latin typeface="宋体" panose="02010600030101010101" pitchFamily="2" charset="-122"/>
                <a:ea typeface="宋体" panose="02010600030101010101" pitchFamily="2" charset="-122"/>
                <a:cs typeface="Times New Roman" panose="02020603050405020304" pitchFamily="18" charset="0"/>
              </a:rPr>
              <a:t>10</a:t>
            </a:r>
            <a:r>
              <a:rPr lang="en-US" altLang="zh-CN" baseline="30000" dirty="0">
                <a:latin typeface="宋体" panose="02010600030101010101" pitchFamily="2" charset="-122"/>
                <a:ea typeface="宋体" panose="02010600030101010101" pitchFamily="2" charset="-122"/>
                <a:cs typeface="Times New Roman" panose="02020603050405020304" pitchFamily="18" charset="0"/>
              </a:rPr>
              <a:t>38.5</a:t>
            </a:r>
          </a:p>
          <a:p>
            <a:pPr algn="just">
              <a:lnSpc>
                <a:spcPct val="150000"/>
              </a:lnSpc>
              <a:spcBef>
                <a:spcPct val="0"/>
              </a:spcBef>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考查该密码算法的抗</a:t>
            </a:r>
            <a:r>
              <a:rPr lang="zh-CN" altLang="en-US" sz="2400" b="1" u="sng" dirty="0">
                <a:latin typeface="宋体" panose="02010600030101010101" pitchFamily="2" charset="-122"/>
                <a:ea typeface="宋体" panose="02010600030101010101" pitchFamily="2" charset="-122"/>
              </a:rPr>
              <a:t>穷举攻击</a:t>
            </a:r>
            <a:r>
              <a:rPr lang="zh-CN" altLang="en-US" sz="2400" dirty="0">
                <a:latin typeface="宋体" panose="02010600030101010101" pitchFamily="2" charset="-122"/>
                <a:ea typeface="宋体" panose="02010600030101010101" pitchFamily="2" charset="-122"/>
              </a:rPr>
              <a:t>能力。</a:t>
            </a:r>
          </a:p>
          <a:p>
            <a:pPr algn="just">
              <a:lnSpc>
                <a:spcPct val="150000"/>
              </a:lnSpc>
              <a:spcBef>
                <a:spcPct val="0"/>
              </a:spcBef>
              <a:buClr>
                <a:schemeClr val="accent1">
                  <a:lumMod val="75000"/>
                </a:schemeClr>
              </a:buClr>
              <a:buSzPct val="60000"/>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假想为计算机速度为</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亿次</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每秒</a:t>
            </a:r>
          </a:p>
          <a:p>
            <a:pPr algn="ctr">
              <a:lnSpc>
                <a:spcPct val="150000"/>
              </a:lnSpc>
              <a:spcBef>
                <a:spcPct val="0"/>
              </a:spcBef>
              <a:buClr>
                <a:schemeClr val="accent1">
                  <a:lumMod val="75000"/>
                </a:schemeClr>
              </a:buClr>
              <a:buSzPct val="60000"/>
              <a:buFont typeface="Wingdings" panose="05000000000000000000" pitchFamily="2" charset="2"/>
              <a:buChar char="n"/>
            </a:pP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亿＝</a:t>
            </a:r>
            <a:r>
              <a:rPr lang="en-US" altLang="zh-CN" sz="2400" dirty="0">
                <a:latin typeface="宋体" panose="02010600030101010101" pitchFamily="2" charset="-122"/>
                <a:ea typeface="宋体" panose="02010600030101010101" pitchFamily="2" charset="-122"/>
              </a:rPr>
              <a:t>10</a:t>
            </a:r>
            <a:r>
              <a:rPr lang="en-US" altLang="zh-CN" sz="2400" baseline="30000" dirty="0">
                <a:latin typeface="宋体" panose="02010600030101010101" pitchFamily="2" charset="-122"/>
                <a:ea typeface="宋体" panose="02010600030101010101" pitchFamily="2" charset="-122"/>
              </a:rPr>
              <a:t>9</a:t>
            </a:r>
          </a:p>
          <a:p>
            <a:pPr algn="ctr">
              <a:lnSpc>
                <a:spcPct val="150000"/>
              </a:lnSpc>
              <a:spcBef>
                <a:spcPct val="0"/>
              </a:spcBef>
              <a:buClr>
                <a:schemeClr val="accent1">
                  <a:lumMod val="75000"/>
                </a:schemeClr>
              </a:buClr>
              <a:buSzPct val="60000"/>
              <a:buFont typeface="Wingdings" panose="05000000000000000000" pitchFamily="2" charset="2"/>
              <a:buChar char="n"/>
            </a:pP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年＝</a:t>
            </a:r>
            <a:r>
              <a:rPr lang="en-US" altLang="zh-CN" sz="2400" dirty="0">
                <a:latin typeface="宋体" panose="02010600030101010101" pitchFamily="2" charset="-122"/>
                <a:ea typeface="宋体" panose="02010600030101010101" pitchFamily="2" charset="-122"/>
              </a:rPr>
              <a:t>365×24×3600</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3.15×10</a:t>
            </a:r>
            <a:r>
              <a:rPr lang="en-US" altLang="zh-CN" sz="2400" baseline="300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秒</a:t>
            </a:r>
          </a:p>
          <a:p>
            <a:pPr>
              <a:lnSpc>
                <a:spcPct val="150000"/>
              </a:lnSpc>
              <a:spcBef>
                <a:spcPct val="0"/>
              </a:spcBef>
              <a:buClr>
                <a:schemeClr val="accent1">
                  <a:lumMod val="75000"/>
                </a:schemeClr>
              </a:buClr>
              <a:buSzPct val="60000"/>
              <a:buFont typeface="Wingdings" panose="05000000000000000000" pitchFamily="2" charset="2"/>
              <a:buChar char="n"/>
            </a:pP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年可以穷举的密钥量为：</a:t>
            </a:r>
          </a:p>
          <a:p>
            <a:pPr algn="ctr">
              <a:lnSpc>
                <a:spcPct val="150000"/>
              </a:lnSpc>
              <a:spcBef>
                <a:spcPct val="0"/>
              </a:spcBef>
              <a:buClr>
                <a:schemeClr val="accent1">
                  <a:lumMod val="75000"/>
                </a:schemeClr>
              </a:buClr>
              <a:buSzPct val="60000"/>
              <a:buFont typeface="Wingdings" panose="05000000000000000000" pitchFamily="2" charset="2"/>
              <a:buChar char="n"/>
            </a:pPr>
            <a:r>
              <a:rPr lang="en-US" altLang="zh-CN" sz="2400" dirty="0">
                <a:latin typeface="宋体" panose="02010600030101010101" pitchFamily="2" charset="-122"/>
                <a:ea typeface="宋体" panose="02010600030101010101" pitchFamily="2" charset="-122"/>
              </a:rPr>
              <a:t>3.15×10</a:t>
            </a:r>
            <a:r>
              <a:rPr lang="en-US" altLang="zh-CN" sz="2400" baseline="30000" dirty="0">
                <a:latin typeface="宋体" panose="02010600030101010101" pitchFamily="2" charset="-122"/>
                <a:ea typeface="宋体" panose="02010600030101010101" pitchFamily="2" charset="-122"/>
              </a:rPr>
              <a:t>7</a:t>
            </a:r>
            <a:r>
              <a:rPr lang="en-US" altLang="zh-CN" sz="2400" dirty="0">
                <a:latin typeface="宋体" panose="02010600030101010101" pitchFamily="2" charset="-122"/>
                <a:ea typeface="宋体" panose="02010600030101010101" pitchFamily="2" charset="-122"/>
              </a:rPr>
              <a:t>× 10</a:t>
            </a:r>
            <a:r>
              <a:rPr lang="en-US" altLang="zh-CN" sz="2400" baseline="30000" dirty="0">
                <a:latin typeface="宋体" panose="02010600030101010101" pitchFamily="2" charset="-122"/>
                <a:ea typeface="宋体" panose="02010600030101010101" pitchFamily="2" charset="-122"/>
              </a:rPr>
              <a:t>9</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3.15×10</a:t>
            </a:r>
            <a:r>
              <a:rPr lang="en-US" altLang="zh-CN" sz="2400" baseline="300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个密钥</a:t>
            </a:r>
          </a:p>
          <a:p>
            <a:pPr algn="just">
              <a:lnSpc>
                <a:spcPct val="150000"/>
              </a:lnSpc>
              <a:spcBef>
                <a:spcPct val="0"/>
              </a:spcBef>
              <a:buClr>
                <a:schemeClr val="accent1">
                  <a:lumMod val="75000"/>
                </a:schemeClr>
              </a:buClr>
              <a:buSzPct val="60000"/>
              <a:buFont typeface="Wingdings" panose="05000000000000000000" pitchFamily="2" charset="2"/>
              <a:buChar char="n"/>
            </a:pPr>
            <a:r>
              <a:rPr lang="en-US" altLang="zh-CN" sz="2400" dirty="0">
                <a:latin typeface="宋体" panose="02010600030101010101" pitchFamily="2" charset="-122"/>
                <a:ea typeface="宋体" panose="02010600030101010101" pitchFamily="2" charset="-122"/>
              </a:rPr>
              <a:t>2</a:t>
            </a:r>
            <a:r>
              <a:rPr lang="en-US" altLang="zh-CN" sz="2400" baseline="30000" dirty="0">
                <a:latin typeface="宋体" panose="02010600030101010101" pitchFamily="2" charset="-122"/>
                <a:ea typeface="宋体" panose="02010600030101010101" pitchFamily="2" charset="-122"/>
              </a:rPr>
              <a:t>128</a:t>
            </a:r>
            <a:r>
              <a:rPr lang="zh-CN" altLang="en-US" sz="2400" dirty="0">
                <a:latin typeface="宋体" panose="02010600030101010101" pitchFamily="2" charset="-122"/>
                <a:ea typeface="宋体" panose="02010600030101010101" pitchFamily="2" charset="-122"/>
              </a:rPr>
              <a:t>个密钥需要</a:t>
            </a:r>
            <a:r>
              <a:rPr lang="en-US" altLang="zh-CN" sz="2400" dirty="0">
                <a:latin typeface="宋体" panose="02010600030101010101" pitchFamily="2" charset="-122"/>
                <a:ea typeface="宋体" panose="02010600030101010101" pitchFamily="2" charset="-122"/>
                <a:cs typeface="Times New Roman" panose="02020603050405020304" pitchFamily="18" charset="0"/>
              </a:rPr>
              <a:t>10</a:t>
            </a:r>
            <a:r>
              <a:rPr lang="en-US" altLang="zh-CN" sz="2400" baseline="30000" dirty="0">
                <a:latin typeface="宋体" panose="02010600030101010101" pitchFamily="2" charset="-122"/>
                <a:ea typeface="宋体" panose="02010600030101010101" pitchFamily="2" charset="-122"/>
                <a:cs typeface="Times New Roman" panose="02020603050405020304" pitchFamily="18" charset="0"/>
              </a:rPr>
              <a:t>38.5</a:t>
            </a:r>
            <a:r>
              <a:rPr lang="en-US" altLang="zh-CN" sz="2400" dirty="0">
                <a:latin typeface="宋体" panose="02010600030101010101" pitchFamily="2" charset="-122"/>
                <a:ea typeface="宋体" panose="02010600030101010101" pitchFamily="2" charset="-122"/>
                <a:cs typeface="Times New Roman" panose="02020603050405020304" pitchFamily="18" charset="0"/>
              </a:rPr>
              <a:t>/ </a:t>
            </a:r>
            <a:r>
              <a:rPr lang="en-US" altLang="zh-CN" sz="2400" dirty="0">
                <a:latin typeface="宋体" panose="02010600030101010101" pitchFamily="2" charset="-122"/>
                <a:ea typeface="宋体" panose="02010600030101010101" pitchFamily="2" charset="-122"/>
              </a:rPr>
              <a:t>3.15×10</a:t>
            </a:r>
            <a:r>
              <a:rPr lang="en-US" altLang="zh-CN" sz="2400" baseline="30000" dirty="0">
                <a:latin typeface="宋体" panose="02010600030101010101" pitchFamily="2" charset="-122"/>
                <a:ea typeface="宋体" panose="02010600030101010101" pitchFamily="2" charset="-122"/>
              </a:rPr>
              <a:t>16</a:t>
            </a:r>
            <a:r>
              <a:rPr lang="en-US" altLang="zh-CN" sz="2400" dirty="0">
                <a:latin typeface="宋体" panose="02010600030101010101" pitchFamily="2" charset="-122"/>
                <a:ea typeface="宋体" panose="02010600030101010101" pitchFamily="2" charset="-122"/>
                <a:cs typeface="Times New Roman" panose="02020603050405020304" pitchFamily="18" charset="0"/>
              </a:rPr>
              <a:t>≈10</a:t>
            </a:r>
            <a:r>
              <a:rPr lang="en-US" altLang="zh-CN" sz="2400" baseline="30000" dirty="0">
                <a:latin typeface="宋体" panose="02010600030101010101" pitchFamily="2" charset="-122"/>
                <a:ea typeface="宋体" panose="02010600030101010101" pitchFamily="2" charset="-122"/>
                <a:cs typeface="Times New Roman" panose="02020603050405020304" pitchFamily="18" charset="0"/>
              </a:rPr>
              <a:t>22</a:t>
            </a:r>
            <a:r>
              <a:rPr lang="zh-CN" altLang="en-US" sz="2400" dirty="0">
                <a:latin typeface="宋体" panose="02010600030101010101" pitchFamily="2" charset="-122"/>
                <a:ea typeface="宋体" panose="02010600030101010101" pitchFamily="2" charset="-122"/>
                <a:cs typeface="Times New Roman" panose="02020603050405020304" pitchFamily="18" charset="0"/>
              </a:rPr>
              <a:t>年</a:t>
            </a:r>
            <a:r>
              <a:rPr lang="zh-CN" altLang="en-US" sz="2400" dirty="0">
                <a:latin typeface="宋体" panose="02010600030101010101" pitchFamily="2" charset="-122"/>
                <a:ea typeface="宋体" panose="02010600030101010101" pitchFamily="2" charset="-122"/>
              </a:rPr>
              <a:t>才能穷举完。（</a:t>
            </a:r>
            <a:r>
              <a:rPr lang="zh-CN" altLang="en-US" sz="2400" b="1" dirty="0">
                <a:latin typeface="宋体" panose="02010600030101010101" pitchFamily="2" charset="-122"/>
                <a:ea typeface="宋体" panose="02010600030101010101" pitchFamily="2" charset="-122"/>
              </a:rPr>
              <a:t>一万亿亿年</a:t>
            </a:r>
            <a:r>
              <a:rPr lang="zh-CN" altLang="en-US" sz="2400"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238756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blinds(horizontal)">
                                      <p:cBhvr>
                                        <p:cTn id="18" dur="500"/>
                                        <p:tgtEl>
                                          <p:spTgt spid="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blinds(horizontal)">
                                      <p:cBhvr>
                                        <p:cTn id="23" dur="500"/>
                                        <p:tgtEl>
                                          <p:spTgt spid="5">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blinds(horizontal)">
                                      <p:cBhvr>
                                        <p:cTn id="26" dur="500"/>
                                        <p:tgtEl>
                                          <p:spTgt spid="5">
                                            <p:txEl>
                                              <p:pRg st="3" end="3"/>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checkerboard(across)">
                                      <p:cBhvr>
                                        <p:cTn id="29" dur="500"/>
                                        <p:tgtEl>
                                          <p:spTgt spid="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Effect transition="in" filter="checkerboard(across)">
                                      <p:cBhvr>
                                        <p:cTn id="34" dur="500"/>
                                        <p:tgtEl>
                                          <p:spTgt spid="5">
                                            <p:txEl>
                                              <p:pRg st="5" end="5"/>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checkerboard(across)">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526318" y="1277273"/>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Bef>
                <a:spcPct val="0"/>
              </a:spcBef>
              <a:buClr>
                <a:schemeClr val="accent1">
                  <a:lumMod val="75000"/>
                </a:schemeClr>
              </a:buClr>
              <a:buSzPct val="60000"/>
              <a:buNone/>
            </a:pPr>
            <a:r>
              <a:rPr lang="zh-CN" altLang="en-US" sz="2400" dirty="0">
                <a:latin typeface="宋体" panose="02010600030101010101" pitchFamily="2" charset="-122"/>
                <a:ea typeface="宋体" panose="02010600030101010101" pitchFamily="2" charset="-122"/>
              </a:rPr>
              <a:t>考虑一个加密系统：用户</a:t>
            </a:r>
            <a:r>
              <a:rPr lang="en-US" altLang="zh-CN" sz="2400" dirty="0">
                <a:latin typeface="宋体" panose="02010600030101010101" pitchFamily="2" charset="-122"/>
                <a:ea typeface="宋体" panose="02010600030101010101" pitchFamily="2" charset="-122"/>
              </a:rPr>
              <a:t>Alice</a:t>
            </a:r>
            <a:r>
              <a:rPr lang="zh-CN" altLang="en-US" sz="2400" dirty="0">
                <a:latin typeface="宋体" panose="02010600030101010101" pitchFamily="2" charset="-122"/>
                <a:ea typeface="宋体" panose="02010600030101010101" pitchFamily="2" charset="-122"/>
              </a:rPr>
              <a:t>和用户</a:t>
            </a:r>
            <a:r>
              <a:rPr lang="en-US" altLang="zh-CN" sz="2400" dirty="0">
                <a:latin typeface="宋体" panose="02010600030101010101" pitchFamily="2" charset="-122"/>
                <a:ea typeface="宋体" panose="02010600030101010101" pitchFamily="2" charset="-122"/>
              </a:rPr>
              <a:t>Bob</a:t>
            </a:r>
            <a:r>
              <a:rPr lang="zh-CN" altLang="en-US" sz="2400" dirty="0">
                <a:latin typeface="宋体" panose="02010600030101010101" pitchFamily="2" charset="-122"/>
                <a:ea typeface="宋体" panose="02010600030101010101" pitchFamily="2" charset="-122"/>
              </a:rPr>
              <a:t>是一对通信伙伴。</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是攻击者</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违法入侵者</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p>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E1AB021F-162F-F842-7C1F-B58D01C9B57A}"/>
                  </a:ext>
                </a:extLst>
              </p:cNvPr>
              <p:cNvSpPr txBox="1">
                <a:spLocks/>
              </p:cNvSpPr>
              <p:nvPr/>
            </p:nvSpPr>
            <p:spPr>
              <a:xfrm>
                <a:off x="1478997" y="2205626"/>
                <a:ext cx="8589963" cy="3912879"/>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lumMod val="75000"/>
                    </a:schemeClr>
                  </a:buClr>
                  <a:buSzPct val="6000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cs typeface="Tahoma" panose="020B0604030504040204" pitchFamily="34" charset="0"/>
                  </a:rPr>
                  <a:t>Alice</a:t>
                </a:r>
                <a:r>
                  <a:rPr lang="zh-CN" altLang="en-US" sz="2400" dirty="0">
                    <a:latin typeface="宋体" panose="02010600030101010101" pitchFamily="2" charset="-122"/>
                    <a:ea typeface="宋体" panose="02010600030101010101" pitchFamily="2" charset="-122"/>
                  </a:rPr>
                  <a:t>欲发送一个消息</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𝑚</m:t>
                    </m:r>
                  </m:oMath>
                </a14:m>
                <a:r>
                  <a:rPr lang="zh-CN" altLang="en-US" sz="2400" dirty="0">
                    <a:latin typeface="宋体" panose="02010600030101010101" pitchFamily="2" charset="-122"/>
                    <a:ea typeface="宋体" panose="02010600030101010101" pitchFamily="2" charset="-122"/>
                  </a:rPr>
                  <a:t>给</a:t>
                </a:r>
                <a:r>
                  <a:rPr lang="en-US" altLang="zh-CN" sz="2400" dirty="0">
                    <a:latin typeface="宋体" panose="02010600030101010101" pitchFamily="2" charset="-122"/>
                    <a:ea typeface="宋体" panose="02010600030101010101" pitchFamily="2" charset="-122"/>
                    <a:cs typeface="Tahoma" panose="020B0604030504040204" pitchFamily="34" charset="0"/>
                  </a:rPr>
                  <a:t>Bob</a:t>
                </a:r>
                <a:r>
                  <a:rPr lang="zh-CN" altLang="en-US" sz="2400" dirty="0">
                    <a:latin typeface="宋体" panose="02010600030101010101" pitchFamily="2" charset="-122"/>
                    <a:ea typeface="宋体" panose="02010600030101010101" pitchFamily="2" charset="-122"/>
                  </a:rPr>
                  <a:t>，</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称为</a:t>
                </a:r>
                <a:r>
                  <a:rPr lang="zh-CN" altLang="en-US" sz="2400" u="sng" dirty="0">
                    <a:latin typeface="宋体" panose="02010600030101010101" pitchFamily="2" charset="-122"/>
                    <a:ea typeface="宋体" panose="02010600030101010101" pitchFamily="2" charset="-122"/>
                  </a:rPr>
                  <a:t>明文</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00000"/>
                  </a:lnSpc>
                  <a:buClr>
                    <a:schemeClr val="accent1">
                      <a:lumMod val="75000"/>
                    </a:schemeClr>
                  </a:buClr>
                  <a:buSzPct val="6000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Alice</a:t>
                </a:r>
                <a:r>
                  <a:rPr lang="zh-CN" altLang="en-US" sz="2400" dirty="0">
                    <a:latin typeface="宋体" panose="02010600030101010101" pitchFamily="2" charset="-122"/>
                    <a:ea typeface="宋体" panose="02010600030101010101" pitchFamily="2" charset="-122"/>
                  </a:rPr>
                  <a:t>使用</a:t>
                </a:r>
                <a:r>
                  <a:rPr lang="zh-CN" altLang="en-US" sz="2400" u="sng" dirty="0">
                    <a:latin typeface="宋体" panose="02010600030101010101" pitchFamily="2" charset="-122"/>
                    <a:ea typeface="宋体" panose="02010600030101010101" pitchFamily="2" charset="-122"/>
                  </a:rPr>
                  <a:t>加密密钥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𝑧</m:t>
                    </m:r>
                  </m:oMath>
                </a14:m>
                <a:r>
                  <a:rPr lang="zh-CN" altLang="en-US" sz="2400" dirty="0">
                    <a:latin typeface="宋体" panose="02010600030101010101" pitchFamily="2" charset="-122"/>
                    <a:ea typeface="宋体" panose="02010600030101010101" pitchFamily="2" charset="-122"/>
                  </a:rPr>
                  <a:t>，使用</a:t>
                </a:r>
                <a:r>
                  <a:rPr lang="zh-CN" altLang="en-US" sz="2400" u="sng" dirty="0">
                    <a:latin typeface="宋体" panose="02010600030101010101" pitchFamily="2" charset="-122"/>
                    <a:ea typeface="宋体" panose="02010600030101010101" pitchFamily="2" charset="-122"/>
                  </a:rPr>
                  <a:t>加密算法</a:t>
                </a:r>
                <a14:m>
                  <m:oMath xmlns:m="http://schemas.openxmlformats.org/officeDocument/2006/math">
                    <m:r>
                      <a:rPr lang="en-US" altLang="zh-CN" sz="2400" i="1" dirty="0">
                        <a:latin typeface="Cambria Math" panose="02040503050406030204" pitchFamily="18" charset="0"/>
                        <a:ea typeface="宋体" panose="02010600030101010101" pitchFamily="2" charset="-122"/>
                      </a:rPr>
                      <m:t>𝐸</m:t>
                    </m:r>
                  </m:oMath>
                </a14:m>
                <a:r>
                  <a:rPr lang="zh-CN" altLang="en-US" sz="2400" dirty="0">
                    <a:latin typeface="宋体" panose="02010600030101010101" pitchFamily="2" charset="-122"/>
                    <a:ea typeface="宋体" panose="02010600030101010101" pitchFamily="2" charset="-122"/>
                  </a:rPr>
                  <a:t>，对明文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做以下变化，称为加密变化：</a:t>
                </a:r>
                <a:endParaRPr lang="en-US" altLang="zh-CN" sz="2400" dirty="0">
                  <a:latin typeface="宋体" panose="02010600030101010101" pitchFamily="2" charset="-122"/>
                  <a:ea typeface="宋体" panose="02010600030101010101" pitchFamily="2" charset="-122"/>
                </a:endParaRPr>
              </a:p>
              <a:p>
                <a:pPr marL="0" indent="0">
                  <a:lnSpc>
                    <a:spcPct val="100000"/>
                  </a:lnSpc>
                  <a:buClr>
                    <a:schemeClr val="accent1">
                      <a:lumMod val="75000"/>
                    </a:schemeClr>
                  </a:buClr>
                  <a:buSzPct val="60000"/>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rPr>
                        <m:t>𝑐</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𝐸</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𝑚</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𝑧</m:t>
                      </m:r>
                      <m:r>
                        <a:rPr lang="en-US" altLang="zh-CN" sz="2400" i="1">
                          <a:latin typeface="Cambria Math" panose="02040503050406030204" pitchFamily="18" charset="0"/>
                          <a:ea typeface="宋体" panose="02010600030101010101" pitchFamily="2" charset="-122"/>
                        </a:rPr>
                        <m:t>)</m:t>
                      </m:r>
                    </m:oMath>
                  </m:oMathPara>
                </a14:m>
                <a:endParaRPr lang="en-US" altLang="zh-CN" sz="2400" dirty="0">
                  <a:latin typeface="宋体" panose="02010600030101010101" pitchFamily="2" charset="-122"/>
                  <a:ea typeface="宋体" panose="02010600030101010101" pitchFamily="2" charset="-122"/>
                </a:endParaRPr>
              </a:p>
              <a:p>
                <a:pPr>
                  <a:lnSpc>
                    <a:spcPct val="100000"/>
                  </a:lnSpc>
                  <a:buClr>
                    <a:schemeClr val="accent1">
                      <a:lumMod val="75000"/>
                    </a:schemeClr>
                  </a:buClr>
                  <a:buSzPct val="60000"/>
                  <a:buFont typeface="Wingdings" panose="05000000000000000000" pitchFamily="2" charset="2"/>
                  <a:buChar char="l"/>
                </a:pP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𝑐</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称为</a:t>
                </a:r>
                <a:r>
                  <a:rPr lang="zh-CN" altLang="en-US" sz="2400" u="sng" dirty="0">
                    <a:latin typeface="宋体" panose="02010600030101010101" pitchFamily="2" charset="-122"/>
                    <a:ea typeface="宋体" panose="02010600030101010101" pitchFamily="2" charset="-122"/>
                  </a:rPr>
                  <a:t>密文</a:t>
                </a:r>
                <a:r>
                  <a:rPr lang="zh-CN" altLang="en-US" sz="2400" dirty="0">
                    <a:latin typeface="宋体" panose="02010600030101010101" pitchFamily="2" charset="-122"/>
                    <a:ea typeface="宋体" panose="02010600030101010101" pitchFamily="2" charset="-122"/>
                    <a:cs typeface="Tahoma" panose="020B0604030504040204" pitchFamily="34" charset="0"/>
                  </a:rPr>
                  <a:t>。</a:t>
                </a:r>
                <a:endParaRPr lang="en-US" altLang="zh-CN" sz="2400" dirty="0">
                  <a:latin typeface="宋体" panose="02010600030101010101" pitchFamily="2" charset="-122"/>
                  <a:ea typeface="宋体" panose="02010600030101010101" pitchFamily="2" charset="-122"/>
                  <a:cs typeface="Tahoma" panose="020B0604030504040204" pitchFamily="34" charset="0"/>
                </a:endParaRPr>
              </a:p>
              <a:p>
                <a:pPr>
                  <a:lnSpc>
                    <a:spcPct val="100000"/>
                  </a:lnSpc>
                  <a:buClr>
                    <a:schemeClr val="accent1">
                      <a:lumMod val="75000"/>
                    </a:schemeClr>
                  </a:buClr>
                  <a:buSzPct val="6000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cs typeface="Tahoma" panose="020B0604030504040204" pitchFamily="34" charset="0"/>
                  </a:rPr>
                  <a:t>Alice</a:t>
                </a:r>
                <a:r>
                  <a:rPr lang="zh-CN" altLang="en-US" sz="2400" dirty="0">
                    <a:latin typeface="宋体" panose="02010600030101010101" pitchFamily="2" charset="-122"/>
                    <a:ea typeface="宋体" panose="02010600030101010101" pitchFamily="2" charset="-122"/>
                    <a:cs typeface="Tahoma" panose="020B0604030504040204" pitchFamily="34" charset="0"/>
                  </a:rPr>
                  <a:t>将密文</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𝑐</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通过不安全的公共信道发送给</a:t>
                </a:r>
                <a:r>
                  <a:rPr lang="en-US" altLang="zh-CN" sz="2400" dirty="0">
                    <a:latin typeface="宋体" panose="02010600030101010101" pitchFamily="2" charset="-122"/>
                    <a:ea typeface="宋体" panose="02010600030101010101" pitchFamily="2" charset="-122"/>
                    <a:cs typeface="Tahoma" panose="020B0604030504040204" pitchFamily="34" charset="0"/>
                  </a:rPr>
                  <a:t>Bob</a:t>
                </a:r>
                <a:r>
                  <a:rPr lang="zh-CN" altLang="en-US" sz="2400" dirty="0">
                    <a:latin typeface="宋体" panose="02010600030101010101" pitchFamily="2" charset="-122"/>
                    <a:ea typeface="宋体" panose="02010600030101010101" pitchFamily="2" charset="-122"/>
                    <a:cs typeface="Tahoma" panose="020B0604030504040204" pitchFamily="34" charset="0"/>
                  </a:rPr>
                  <a:t>。</a:t>
                </a:r>
                <a:endParaRPr lang="en-US" altLang="zh-CN" sz="2400" dirty="0">
                  <a:latin typeface="宋体" panose="02010600030101010101" pitchFamily="2" charset="-122"/>
                  <a:ea typeface="宋体" panose="02010600030101010101" pitchFamily="2" charset="-122"/>
                  <a:cs typeface="Tahoma" panose="020B0604030504040204" pitchFamily="34" charset="0"/>
                </a:endParaRPr>
              </a:p>
              <a:p>
                <a:pPr>
                  <a:lnSpc>
                    <a:spcPct val="100000"/>
                  </a:lnSpc>
                  <a:buClr>
                    <a:schemeClr val="accent1">
                      <a:lumMod val="75000"/>
                    </a:schemeClr>
                  </a:buClr>
                  <a:buSzPct val="6000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cs typeface="Tahoma" panose="020B0604030504040204" pitchFamily="34" charset="0"/>
                  </a:rPr>
                  <a:t>Bob</a:t>
                </a:r>
                <a:r>
                  <a:rPr lang="zh-CN" altLang="en-US" sz="2400" dirty="0">
                    <a:latin typeface="宋体" panose="02010600030101010101" pitchFamily="2" charset="-122"/>
                    <a:ea typeface="宋体" panose="02010600030101010101" pitchFamily="2" charset="-122"/>
                    <a:cs typeface="Tahoma" panose="020B0604030504040204" pitchFamily="34" charset="0"/>
                  </a:rPr>
                  <a:t>使用</a:t>
                </a:r>
                <a:r>
                  <a:rPr lang="zh-CN" altLang="en-US" sz="2400" u="sng" dirty="0">
                    <a:latin typeface="宋体" panose="02010600030101010101" pitchFamily="2" charset="-122"/>
                    <a:ea typeface="宋体" panose="02010600030101010101" pitchFamily="2" charset="-122"/>
                  </a:rPr>
                  <a:t>解密密钥</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𝑘</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，使用</a:t>
                </a:r>
                <a:r>
                  <a:rPr lang="zh-CN" altLang="en-US" sz="2400" u="sng" dirty="0">
                    <a:latin typeface="宋体" panose="02010600030101010101" pitchFamily="2" charset="-122"/>
                    <a:ea typeface="宋体" panose="02010600030101010101" pitchFamily="2" charset="-122"/>
                  </a:rPr>
                  <a:t>解密算法</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𝐷</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，对密文</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𝑐</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做以下的反变换，称为解密变化：</a:t>
                </a:r>
                <a:endParaRPr lang="en-US" altLang="zh-CN" sz="2400" dirty="0">
                  <a:latin typeface="宋体" panose="02010600030101010101" pitchFamily="2" charset="-122"/>
                  <a:ea typeface="宋体" panose="02010600030101010101" pitchFamily="2" charset="-122"/>
                  <a:cs typeface="Tahoma" panose="020B0604030504040204" pitchFamily="34" charset="0"/>
                </a:endParaRPr>
              </a:p>
              <a:p>
                <a:pPr marL="0" indent="0">
                  <a:lnSpc>
                    <a:spcPct val="100000"/>
                  </a:lnSpc>
                  <a:buClr>
                    <a:schemeClr val="accent1">
                      <a:lumMod val="75000"/>
                    </a:schemeClr>
                  </a:buClr>
                  <a:buSzPct val="60000"/>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𝑚</m:t>
                      </m:r>
                      <m:r>
                        <a:rPr lang="en-US" altLang="zh-CN" sz="2400">
                          <a:latin typeface="Cambria Math" panose="02040503050406030204" pitchFamily="18" charset="0"/>
                        </a:rPr>
                        <m:t>=</m:t>
                      </m:r>
                      <m:r>
                        <a:rPr lang="en-US" altLang="zh-CN" sz="2400" i="1">
                          <a:latin typeface="Cambria Math" panose="02040503050406030204" pitchFamily="18" charset="0"/>
                        </a:rPr>
                        <m:t>𝐷</m:t>
                      </m:r>
                      <m:r>
                        <a:rPr lang="en-US" altLang="zh-CN" sz="2400">
                          <a:latin typeface="Cambria Math" panose="02040503050406030204" pitchFamily="18" charset="0"/>
                        </a:rPr>
                        <m:t>(</m:t>
                      </m:r>
                      <m:r>
                        <a:rPr lang="en-US" altLang="zh-CN" sz="2400" i="1">
                          <a:latin typeface="Cambria Math" panose="02040503050406030204" pitchFamily="18" charset="0"/>
                        </a:rPr>
                        <m:t>𝑐</m:t>
                      </m:r>
                      <m:r>
                        <a:rPr lang="en-US" altLang="zh-CN" sz="2400">
                          <a:latin typeface="Cambria Math" panose="02040503050406030204" pitchFamily="18" charset="0"/>
                        </a:rPr>
                        <m:t>,</m:t>
                      </m:r>
                      <m:r>
                        <a:rPr lang="en-US" altLang="zh-CN" sz="2400" i="1">
                          <a:latin typeface="Cambria Math" panose="02040503050406030204" pitchFamily="18" charset="0"/>
                        </a:rPr>
                        <m:t>𝑘</m:t>
                      </m:r>
                      <m:r>
                        <a:rPr lang="en-US" altLang="zh-CN" sz="2400">
                          <a:latin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cs typeface="Tahoma" panose="020B0604030504040204" pitchFamily="34" charset="0"/>
                </a:endParaRP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ahoma" panose="020B0604030504040204" pitchFamily="34" charset="0"/>
                  </a:rPr>
                  <a:t>于是</a:t>
                </a:r>
                <a:r>
                  <a:rPr lang="en-US" altLang="zh-CN" sz="2400" dirty="0">
                    <a:latin typeface="宋体" panose="02010600030101010101" pitchFamily="2" charset="-122"/>
                    <a:ea typeface="宋体" panose="02010600030101010101" pitchFamily="2" charset="-122"/>
                    <a:cs typeface="Tahoma" panose="020B0604030504040204" pitchFamily="34" charset="0"/>
                  </a:rPr>
                  <a:t>Bob</a:t>
                </a:r>
                <a:r>
                  <a:rPr lang="zh-CN" altLang="en-US" sz="2400" dirty="0">
                    <a:latin typeface="宋体" panose="02010600030101010101" pitchFamily="2" charset="-122"/>
                    <a:ea typeface="宋体" panose="02010600030101010101" pitchFamily="2" charset="-122"/>
                    <a:cs typeface="Tahoma" panose="020B0604030504040204" pitchFamily="34" charset="0"/>
                  </a:rPr>
                  <a:t>获得明文</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𝑚</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a:t>
                </a:r>
                <a:endParaRPr lang="en-US" altLang="zh-CN" sz="2400" dirty="0">
                  <a:latin typeface="宋体" panose="02010600030101010101" pitchFamily="2" charset="-122"/>
                  <a:ea typeface="宋体" panose="02010600030101010101" pitchFamily="2" charset="-122"/>
                  <a:cs typeface="Tahoma" panose="020B0604030504040204" pitchFamily="34" charset="0"/>
                </a:endParaRPr>
              </a:p>
            </p:txBody>
          </p:sp>
        </mc:Choice>
        <mc:Fallback xmlns="">
          <p:sp>
            <p:nvSpPr>
              <p:cNvPr id="7" name="内容占位符 2">
                <a:extLst>
                  <a:ext uri="{FF2B5EF4-FFF2-40B4-BE49-F238E27FC236}">
                    <a16:creationId xmlns:a16="http://schemas.microsoft.com/office/drawing/2014/main" id="{E1AB021F-162F-F842-7C1F-B58D01C9B57A}"/>
                  </a:ext>
                </a:extLst>
              </p:cNvPr>
              <p:cNvSpPr txBox="1">
                <a:spLocks noRot="1" noChangeAspect="1" noMove="1" noResize="1" noEditPoints="1" noAdjustHandles="1" noChangeArrowheads="1" noChangeShapeType="1" noTextEdit="1"/>
              </p:cNvSpPr>
              <p:nvPr/>
            </p:nvSpPr>
            <p:spPr>
              <a:xfrm>
                <a:off x="1478997" y="2205626"/>
                <a:ext cx="8589963" cy="3912879"/>
              </a:xfrm>
              <a:prstGeom prst="rect">
                <a:avLst/>
              </a:prstGeom>
              <a:blipFill>
                <a:blip r:embed="rId3"/>
                <a:stretch>
                  <a:fillRect l="-142" t="-1713" r="-4613" b="-152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146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 calcmode="lin" valueType="num">
                                      <p:cBhvr additive="base">
                                        <p:cTn id="1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 calcmode="lin" valueType="num">
                                      <p:cBhvr additive="base">
                                        <p:cTn id="24"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 calcmode="lin" valueType="num">
                                      <p:cBhvr additive="base">
                                        <p:cTn id="30"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xEl>
                                              <p:pRg st="3" end="3"/>
                                            </p:txEl>
                                          </p:spTgt>
                                        </p:tgtEl>
                                        <p:attrNameLst>
                                          <p:attrName>style.visibility</p:attrName>
                                        </p:attrNameLst>
                                      </p:cBhvr>
                                      <p:to>
                                        <p:strVal val="visible"/>
                                      </p:to>
                                    </p:set>
                                    <p:anim calcmode="lin" valueType="num">
                                      <p:cBhvr additive="base">
                                        <p:cTn id="36"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 calcmode="lin" valueType="num">
                                      <p:cBhvr additive="base">
                                        <p:cTn id="42"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7">
                                            <p:txEl>
                                              <p:pRg st="5" end="5"/>
                                            </p:txEl>
                                          </p:spTgt>
                                        </p:tgtEl>
                                        <p:attrNameLst>
                                          <p:attrName>style.visibility</p:attrName>
                                        </p:attrNameLst>
                                      </p:cBhvr>
                                      <p:to>
                                        <p:strVal val="visible"/>
                                      </p:to>
                                    </p:set>
                                    <p:anim calcmode="lin" valueType="num">
                                      <p:cBhvr additive="base">
                                        <p:cTn id="48"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 calcmode="lin" valueType="num">
                                      <p:cBhvr additive="base">
                                        <p:cTn id="54"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7">
                                            <p:txEl>
                                              <p:pRg st="7" end="7"/>
                                            </p:txEl>
                                          </p:spTgt>
                                        </p:tgtEl>
                                        <p:attrNameLst>
                                          <p:attrName>style.visibility</p:attrName>
                                        </p:attrNameLst>
                                      </p:cBhvr>
                                      <p:to>
                                        <p:strVal val="visible"/>
                                      </p:to>
                                    </p:set>
                                    <p:anim calcmode="lin" valueType="num">
                                      <p:cBhvr additive="base">
                                        <p:cTn id="60"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478997" y="1424558"/>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0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D6B4230C-8804-E9DC-474F-8374F299BB03}"/>
                  </a:ext>
                </a:extLst>
              </p:cNvPr>
              <p:cNvSpPr txBox="1">
                <a:spLocks/>
              </p:cNvSpPr>
              <p:nvPr/>
            </p:nvSpPr>
            <p:spPr>
              <a:xfrm>
                <a:off x="1392696" y="1248629"/>
                <a:ext cx="8085944" cy="375035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400" b="1" dirty="0">
                    <a:latin typeface="宋体" panose="02010600030101010101" pitchFamily="2" charset="-122"/>
                    <a:ea typeface="宋体" panose="02010600030101010101" pitchFamily="2" charset="-122"/>
                  </a:rPr>
                  <a:t>参数与计算的小结</a:t>
                </a:r>
                <a:r>
                  <a:rPr lang="en-US" altLang="zh-CN" sz="2400" b="1" dirty="0">
                    <a:latin typeface="宋体" panose="02010600030101010101" pitchFamily="2" charset="-122"/>
                    <a:ea typeface="宋体" panose="02010600030101010101" pitchFamily="2" charset="-122"/>
                  </a:rPr>
                  <a:t>:</a:t>
                </a:r>
              </a:p>
              <a:p>
                <a:pPr marL="702882" indent="-342891">
                  <a:lnSpc>
                    <a:spcPct val="150000"/>
                  </a:lnSpc>
                  <a:spcBef>
                    <a:spcPts val="0"/>
                  </a:spcBef>
                </a:pPr>
                <a:r>
                  <a:rPr lang="zh-CN" altLang="en-US" sz="2400" dirty="0">
                    <a:latin typeface="宋体" panose="02010600030101010101" pitchFamily="2" charset="-122"/>
                    <a:ea typeface="宋体" panose="02010600030101010101" pitchFamily="2" charset="-122"/>
                  </a:rPr>
                  <a:t>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，密文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702882" indent="-342891">
                  <a:lnSpc>
                    <a:spcPct val="150000"/>
                  </a:lnSpc>
                  <a:spcBef>
                    <a:spcPts val="0"/>
                  </a:spcBef>
                </a:pPr>
                <a:r>
                  <a:rPr lang="zh-CN" altLang="en-US" sz="2400" dirty="0">
                    <a:latin typeface="宋体" panose="02010600030101010101" pitchFamily="2" charset="-122"/>
                    <a:ea typeface="宋体" panose="02010600030101010101" pitchFamily="2" charset="-122"/>
                  </a:rPr>
                  <a:t>加密算法</a:t>
                </a:r>
                <a14:m>
                  <m:oMath xmlns:m="http://schemas.openxmlformats.org/officeDocument/2006/math">
                    <m:r>
                      <a:rPr lang="en-US" altLang="zh-CN" sz="2400" i="1" dirty="0">
                        <a:latin typeface="Cambria Math" panose="02040503050406030204" pitchFamily="18" charset="0"/>
                        <a:ea typeface="宋体" panose="02010600030101010101" pitchFamily="2" charset="-122"/>
                      </a:rPr>
                      <m:t>𝐸</m:t>
                    </m:r>
                  </m:oMath>
                </a14:m>
                <a:r>
                  <a:rPr lang="zh-CN" altLang="en-US" sz="2400" dirty="0">
                    <a:latin typeface="宋体" panose="02010600030101010101" pitchFamily="2" charset="-122"/>
                    <a:ea typeface="宋体" panose="02010600030101010101" pitchFamily="2" charset="-122"/>
                  </a:rPr>
                  <a:t>，解密算法</a:t>
                </a:r>
                <a14:m>
                  <m:oMath xmlns:m="http://schemas.openxmlformats.org/officeDocument/2006/math">
                    <m:r>
                      <a:rPr lang="en-US" altLang="zh-CN" sz="2400" i="1" dirty="0">
                        <a:latin typeface="Cambria Math" panose="02040503050406030204" pitchFamily="18" charset="0"/>
                        <a:ea typeface="宋体" panose="02010600030101010101" pitchFamily="2" charset="-122"/>
                      </a:rPr>
                      <m:t>𝐷</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702882" indent="-342891">
                  <a:lnSpc>
                    <a:spcPct val="150000"/>
                  </a:lnSpc>
                  <a:spcBef>
                    <a:spcPts val="0"/>
                  </a:spcBef>
                </a:pPr>
                <a:r>
                  <a:rPr lang="zh-CN" altLang="en-US" sz="2400" dirty="0">
                    <a:latin typeface="宋体" panose="02010600030101010101" pitchFamily="2" charset="-122"/>
                    <a:ea typeface="宋体" panose="02010600030101010101" pitchFamily="2" charset="-122"/>
                  </a:rPr>
                  <a:t>加密密钥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𝑧</m:t>
                    </m:r>
                  </m:oMath>
                </a14:m>
                <a:r>
                  <a:rPr lang="zh-CN" altLang="en-US" sz="2400" dirty="0">
                    <a:latin typeface="宋体" panose="02010600030101010101" pitchFamily="2" charset="-122"/>
                    <a:ea typeface="宋体" panose="02010600030101010101" pitchFamily="2" charset="-122"/>
                  </a:rPr>
                  <a:t>，解密密钥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𝑘</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702882" indent="-342891">
                  <a:lnSpc>
                    <a:spcPct val="150000"/>
                  </a:lnSpc>
                  <a:spcBef>
                    <a:spcPts val="0"/>
                  </a:spcBef>
                </a:pPr>
                <a:r>
                  <a:rPr lang="zh-CN" altLang="en-US" sz="2400" dirty="0">
                    <a:latin typeface="宋体" panose="02010600030101010101" pitchFamily="2" charset="-122"/>
                    <a:ea typeface="宋体" panose="02010600030101010101" pitchFamily="2" charset="-122"/>
                  </a:rPr>
                  <a:t>加密变换</a:t>
                </a:r>
                <a14:m>
                  <m:oMath xmlns:m="http://schemas.openxmlformats.org/officeDocument/2006/math">
                    <m:r>
                      <a:rPr lang="en-US" altLang="zh-CN" sz="2400" i="1">
                        <a:latin typeface="Cambria Math" panose="02040503050406030204" pitchFamily="18" charset="0"/>
                        <a:ea typeface="宋体" panose="02010600030101010101" pitchFamily="2" charset="-122"/>
                      </a:rPr>
                      <m:t>𝑐</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𝐸</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𝑚</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𝑧</m:t>
                    </m:r>
                    <m:r>
                      <a:rPr lang="en-US" altLang="zh-CN" sz="2400" i="1">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，将明文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变为密文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702882" indent="-342891">
                  <a:lnSpc>
                    <a:spcPct val="150000"/>
                  </a:lnSpc>
                  <a:spcBef>
                    <a:spcPts val="0"/>
                  </a:spcBef>
                </a:pPr>
                <a:r>
                  <a:rPr lang="zh-CN" altLang="en-US" sz="2400" dirty="0">
                    <a:latin typeface="宋体" panose="02010600030101010101" pitchFamily="2" charset="-122"/>
                    <a:ea typeface="宋体" panose="02010600030101010101" pitchFamily="2" charset="-122"/>
                  </a:rPr>
                  <a:t>解密变换</a:t>
                </a:r>
                <a14:m>
                  <m:oMath xmlns:m="http://schemas.openxmlformats.org/officeDocument/2006/math">
                    <m:r>
                      <a:rPr lang="en-US" altLang="zh-CN" sz="2400" i="1">
                        <a:latin typeface="Cambria Math" panose="02040503050406030204" pitchFamily="18" charset="0"/>
                      </a:rPr>
                      <m:t>𝑚</m:t>
                    </m:r>
                    <m:r>
                      <a:rPr lang="en-US" altLang="zh-CN" sz="2400">
                        <a:latin typeface="Cambria Math" panose="02040503050406030204" pitchFamily="18" charset="0"/>
                      </a:rPr>
                      <m:t>=</m:t>
                    </m:r>
                    <m:r>
                      <a:rPr lang="en-US" altLang="zh-CN" sz="2400" i="1">
                        <a:latin typeface="Cambria Math" panose="02040503050406030204" pitchFamily="18" charset="0"/>
                      </a:rPr>
                      <m:t>𝐷</m:t>
                    </m:r>
                    <m:r>
                      <a:rPr lang="en-US" altLang="zh-CN" sz="2400">
                        <a:latin typeface="Cambria Math" panose="02040503050406030204" pitchFamily="18" charset="0"/>
                      </a:rPr>
                      <m:t>(</m:t>
                    </m:r>
                    <m:r>
                      <a:rPr lang="en-US" altLang="zh-CN" sz="2400" i="1">
                        <a:latin typeface="Cambria Math" panose="02040503050406030204" pitchFamily="18" charset="0"/>
                      </a:rPr>
                      <m:t>𝑐</m:t>
                    </m:r>
                    <m:r>
                      <a:rPr lang="en-US" altLang="zh-CN" sz="2400">
                        <a:latin typeface="Cambria Math" panose="02040503050406030204" pitchFamily="18" charset="0"/>
                      </a:rPr>
                      <m:t>,</m:t>
                    </m:r>
                    <m:r>
                      <a:rPr lang="en-US" altLang="zh-CN" sz="2400" i="1">
                        <a:latin typeface="Cambria Math" panose="02040503050406030204" pitchFamily="18" charset="0"/>
                      </a:rPr>
                      <m:t>𝑘</m:t>
                    </m:r>
                    <m:r>
                      <a:rPr lang="en-US" altLang="zh-CN" sz="2400">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，将密文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变为明文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mc:Choice>
        <mc:Fallback xmlns="">
          <p:sp>
            <p:nvSpPr>
              <p:cNvPr id="8" name="内容占位符 2">
                <a:extLst>
                  <a:ext uri="{FF2B5EF4-FFF2-40B4-BE49-F238E27FC236}">
                    <a16:creationId xmlns:a16="http://schemas.microsoft.com/office/drawing/2014/main" id="{D6B4230C-8804-E9DC-474F-8374F299BB03}"/>
                  </a:ext>
                </a:extLst>
              </p:cNvPr>
              <p:cNvSpPr txBox="1">
                <a:spLocks noRot="1" noChangeAspect="1" noMove="1" noResize="1" noEditPoints="1" noAdjustHandles="1" noChangeArrowheads="1" noChangeShapeType="1" noTextEdit="1"/>
              </p:cNvSpPr>
              <p:nvPr/>
            </p:nvSpPr>
            <p:spPr>
              <a:xfrm>
                <a:off x="1392696" y="1248629"/>
                <a:ext cx="8085944" cy="3750350"/>
              </a:xfrm>
              <a:prstGeom prst="rect">
                <a:avLst/>
              </a:prstGeom>
              <a:blipFill>
                <a:blip r:embed="rId3"/>
                <a:stretch>
                  <a:fillRect l="-11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739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478997" y="1424558"/>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000" dirty="0">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D6B4230C-8804-E9DC-474F-8374F299BB03}"/>
              </a:ext>
            </a:extLst>
          </p:cNvPr>
          <p:cNvSpPr txBox="1">
            <a:spLocks/>
          </p:cNvSpPr>
          <p:nvPr/>
        </p:nvSpPr>
        <p:spPr>
          <a:xfrm>
            <a:off x="1151905" y="975438"/>
            <a:ext cx="9788166" cy="3979863"/>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latin typeface="宋体" panose="02010600030101010101" pitchFamily="2" charset="-122"/>
                <a:ea typeface="宋体" panose="02010600030101010101" pitchFamily="2" charset="-122"/>
              </a:rPr>
              <a:t>攻击者</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所拥有的基本资源</a:t>
            </a:r>
            <a:r>
              <a:rPr lang="en-US" altLang="zh-CN" sz="2000" b="1" dirty="0">
                <a:latin typeface="宋体" panose="02010600030101010101" pitchFamily="2" charset="-122"/>
                <a:ea typeface="宋体" panose="02010600030101010101" pitchFamily="2" charset="-122"/>
              </a:rPr>
              <a:t>:</a:t>
            </a: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在不安全的公共信道上截获了密文𝑐。</a:t>
            </a: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知道加密算法𝐸和解密算法𝐷。</a:t>
            </a:r>
          </a:p>
          <a:p>
            <a:pPr marL="0" indent="0">
              <a:buNone/>
            </a:pPr>
            <a:r>
              <a:rPr lang="zh-CN" altLang="en-US" sz="2000" b="1" dirty="0">
                <a:latin typeface="宋体" panose="02010600030101010101" pitchFamily="2" charset="-122"/>
                <a:ea typeface="宋体" panose="02010600030101010101" pitchFamily="2" charset="-122"/>
              </a:rPr>
              <a:t>攻击者</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可能拥有的更多资源</a:t>
            </a:r>
            <a:r>
              <a:rPr lang="en-US" altLang="zh-CN" sz="2000" b="1" dirty="0">
                <a:latin typeface="宋体" panose="02010600030101010101" pitchFamily="2" charset="-122"/>
                <a:ea typeface="宋体" panose="02010600030101010101" pitchFamily="2" charset="-122"/>
              </a:rPr>
              <a:t>:</a:t>
            </a: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可能知道密文𝑐所对应的明文𝑚。（此时所进行的攻击称为已知明文攻击）</a:t>
            </a: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可能拥有强大的计算能力。</a:t>
            </a:r>
            <a:endParaRPr lang="en-US"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可能缴获了一台加密机（也称为加密黑盒子），可以任意地输入明文，输出密文。（所进行的攻击称为选择明文攻击）</a:t>
            </a:r>
          </a:p>
          <a:p>
            <a:endParaRPr lang="zh-CN" altLang="en-US" sz="2000" dirty="0">
              <a:latin typeface="宋体" panose="02010600030101010101" pitchFamily="2" charset="-122"/>
              <a:ea typeface="宋体" panose="02010600030101010101" pitchFamily="2" charset="-122"/>
            </a:endParaRPr>
          </a:p>
          <a:p>
            <a:endParaRPr lang="en-US" altLang="zh-CN" sz="2000" b="1" dirty="0">
              <a:latin typeface="宋体" panose="02010600030101010101" pitchFamily="2" charset="-122"/>
              <a:ea typeface="宋体" panose="02010600030101010101" pitchFamily="2" charset="-122"/>
            </a:endParaRPr>
          </a:p>
          <a:p>
            <a:pPr marL="0" indent="0">
              <a:buNone/>
            </a:pPr>
            <a:endParaRPr lang="zh-CN" altLang="en-US" sz="2000" b="1" dirty="0">
              <a:latin typeface="宋体" panose="02010600030101010101" pitchFamily="2" charset="-122"/>
              <a:ea typeface="宋体" panose="02010600030101010101" pitchFamily="2" charset="-122"/>
            </a:endParaRPr>
          </a:p>
          <a:p>
            <a:pPr marL="0" indent="0">
              <a:buNone/>
            </a:pPr>
            <a:endParaRPr lang="en-US" altLang="zh-CN" sz="2000" b="1" dirty="0">
              <a:latin typeface="宋体" panose="02010600030101010101" pitchFamily="2" charset="-122"/>
              <a:ea typeface="宋体" panose="02010600030101010101" pitchFamily="2" charset="-122"/>
            </a:endParaRPr>
          </a:p>
        </p:txBody>
      </p:sp>
      <p:sp>
        <p:nvSpPr>
          <p:cNvPr id="9" name="内容占位符 2">
            <a:extLst>
              <a:ext uri="{FF2B5EF4-FFF2-40B4-BE49-F238E27FC236}">
                <a16:creationId xmlns:a16="http://schemas.microsoft.com/office/drawing/2014/main" id="{9A7E3E8C-513A-FA30-B485-DB9CD35CC1E8}"/>
              </a:ext>
            </a:extLst>
          </p:cNvPr>
          <p:cNvSpPr txBox="1">
            <a:spLocks/>
          </p:cNvSpPr>
          <p:nvPr/>
        </p:nvSpPr>
        <p:spPr>
          <a:xfrm>
            <a:off x="1151905" y="4400282"/>
            <a:ext cx="9788166" cy="2284297"/>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latin typeface="宋体" panose="02010600030101010101" pitchFamily="2" charset="-122"/>
                <a:ea typeface="宋体" panose="02010600030101010101" pitchFamily="2" charset="-122"/>
              </a:rPr>
              <a:t>攻击者</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不可能拥有的资源</a:t>
            </a:r>
            <a:r>
              <a:rPr lang="en-US" altLang="zh-CN" sz="2000" b="1" dirty="0">
                <a:latin typeface="宋体" panose="02010600030101010101" pitchFamily="2" charset="-122"/>
                <a:ea typeface="宋体" panose="02010600030101010101" pitchFamily="2" charset="-122"/>
              </a:rPr>
              <a:t>:</a:t>
            </a:r>
          </a:p>
          <a:p>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不知道加密密钥𝑧和解密密钥𝑘。</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事实上，在进行安全性分析时，有时也假设</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知道了密钥的一部分，但绝不能全部知道</a:t>
            </a:r>
            <a:r>
              <a:rPr lang="en-US" altLang="zh-CN"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marL="0" indent="0">
              <a:buNone/>
            </a:pPr>
            <a:r>
              <a:rPr lang="zh-CN" altLang="en-US" sz="2000" b="1" dirty="0">
                <a:latin typeface="宋体" panose="02010600030101010101" pitchFamily="2" charset="-122"/>
                <a:ea typeface="宋体" panose="02010600030101010101" pitchFamily="2" charset="-122"/>
              </a:rPr>
              <a:t>攻击者</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的目的</a:t>
            </a:r>
            <a:r>
              <a:rPr lang="en-US" altLang="zh-CN" sz="2000" b="1" dirty="0">
                <a:latin typeface="宋体" panose="02010600030101010101" pitchFamily="2" charset="-122"/>
                <a:ea typeface="宋体" panose="02010600030101010101" pitchFamily="2" charset="-122"/>
              </a:rPr>
              <a:t>:</a:t>
            </a:r>
          </a:p>
          <a:p>
            <a:r>
              <a:rPr lang="zh-CN" altLang="en-US" sz="2000" dirty="0">
                <a:latin typeface="宋体" panose="02010600030101010101" pitchFamily="2" charset="-122"/>
                <a:ea typeface="宋体" panose="02010600030101010101" pitchFamily="2" charset="-122"/>
              </a:rPr>
              <a:t>此时</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是被动攻击者，他的目的是试图获取明文的信息。</a:t>
            </a:r>
          </a:p>
        </p:txBody>
      </p:sp>
    </p:spTree>
    <p:extLst>
      <p:ext uri="{BB962C8B-B14F-4D97-AF65-F5344CB8AC3E}">
        <p14:creationId xmlns:p14="http://schemas.microsoft.com/office/powerpoint/2010/main" val="351696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478997" y="1424558"/>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000" dirty="0">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D6B4230C-8804-E9DC-474F-8374F299BB03}"/>
              </a:ext>
            </a:extLst>
          </p:cNvPr>
          <p:cNvSpPr txBox="1">
            <a:spLocks/>
          </p:cNvSpPr>
          <p:nvPr/>
        </p:nvSpPr>
        <p:spPr>
          <a:xfrm>
            <a:off x="2854127" y="975438"/>
            <a:ext cx="8085944" cy="3979863"/>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400" b="1" dirty="0">
              <a:latin typeface="宋体" panose="02010600030101010101" pitchFamily="2" charset="-122"/>
              <a:ea typeface="宋体" panose="02010600030101010101" pitchFamily="2" charset="-122"/>
            </a:endParaRPr>
          </a:p>
        </p:txBody>
      </p:sp>
      <p:sp>
        <p:nvSpPr>
          <p:cNvPr id="9" name="内容占位符 2">
            <a:extLst>
              <a:ext uri="{FF2B5EF4-FFF2-40B4-BE49-F238E27FC236}">
                <a16:creationId xmlns:a16="http://schemas.microsoft.com/office/drawing/2014/main" id="{9A7E3E8C-513A-FA30-B485-DB9CD35CC1E8}"/>
              </a:ext>
            </a:extLst>
          </p:cNvPr>
          <p:cNvSpPr txBox="1">
            <a:spLocks/>
          </p:cNvSpPr>
          <p:nvPr/>
        </p:nvSpPr>
        <p:spPr>
          <a:xfrm>
            <a:off x="2854127" y="4400282"/>
            <a:ext cx="8085944" cy="254495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dirty="0">
              <a:latin typeface="宋体" panose="02010600030101010101" pitchFamily="2" charset="-122"/>
              <a:ea typeface="宋体" panose="02010600030101010101" pitchFamily="2" charset="-122"/>
            </a:endParaRPr>
          </a:p>
        </p:txBody>
      </p:sp>
      <p:sp>
        <p:nvSpPr>
          <p:cNvPr id="7" name="Rectangle 3">
            <a:extLst>
              <a:ext uri="{FF2B5EF4-FFF2-40B4-BE49-F238E27FC236}">
                <a16:creationId xmlns:a16="http://schemas.microsoft.com/office/drawing/2014/main" id="{59D95ACC-C944-1783-5964-25947E57893A}"/>
              </a:ext>
            </a:extLst>
          </p:cNvPr>
          <p:cNvSpPr txBox="1">
            <a:spLocks noChangeArrowheads="1"/>
          </p:cNvSpPr>
          <p:nvPr/>
        </p:nvSpPr>
        <p:spPr>
          <a:xfrm>
            <a:off x="1874970" y="1781986"/>
            <a:ext cx="8347420" cy="2943439"/>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pitchFamily="2" charset="2"/>
              <a:buNone/>
            </a:pPr>
            <a:r>
              <a:rPr lang="zh-CN" altLang="en-US" sz="2000" b="1" dirty="0">
                <a:latin typeface="宋体" panose="02010600030101010101" pitchFamily="2" charset="-122"/>
                <a:ea typeface="宋体" panose="02010600030101010101" pitchFamily="2" charset="-122"/>
              </a:rPr>
              <a:t>攻击者</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攻击成功的标志</a:t>
            </a:r>
            <a:r>
              <a:rPr lang="en-US" altLang="zh-CN" sz="2000" b="1" dirty="0">
                <a:latin typeface="宋体" panose="02010600030101010101" pitchFamily="2" charset="-122"/>
                <a:ea typeface="宋体" panose="02010600030101010101" pitchFamily="2" charset="-122"/>
              </a:rPr>
              <a:t>:</a:t>
            </a:r>
          </a:p>
          <a:p>
            <a:pPr marL="359991" indent="179996">
              <a:lnSpc>
                <a:spcPct val="100000"/>
              </a:lnSpc>
              <a:spcBef>
                <a:spcPts val="0"/>
              </a:spcBef>
              <a:buNone/>
            </a:pP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的思路是“不拘一格”。只要</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以某种方式获取了明文的一定量的信息，就可以算作一种攻击成功。但“攻击成功”的程度有高低之分。比如：能够持续不断地直接获取明文是最高的攻击成功；掌握在未来获取明文的技巧则是低一级的攻击成功；获得明文的某些统计特性是更低一级的攻击成功。</a:t>
            </a:r>
          </a:p>
        </p:txBody>
      </p:sp>
    </p:spTree>
    <p:extLst>
      <p:ext uri="{BB962C8B-B14F-4D97-AF65-F5344CB8AC3E}">
        <p14:creationId xmlns:p14="http://schemas.microsoft.com/office/powerpoint/2010/main" val="111622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D6B4230C-8804-E9DC-474F-8374F299BB03}"/>
              </a:ext>
            </a:extLst>
          </p:cNvPr>
          <p:cNvSpPr txBox="1">
            <a:spLocks/>
          </p:cNvSpPr>
          <p:nvPr/>
        </p:nvSpPr>
        <p:spPr>
          <a:xfrm>
            <a:off x="2854127" y="975438"/>
            <a:ext cx="8085944" cy="3979863"/>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400" b="1" dirty="0">
              <a:latin typeface="宋体" panose="02010600030101010101" pitchFamily="2" charset="-122"/>
              <a:ea typeface="宋体" panose="02010600030101010101" pitchFamily="2" charset="-122"/>
            </a:endParaRPr>
          </a:p>
        </p:txBody>
      </p:sp>
      <p:sp>
        <p:nvSpPr>
          <p:cNvPr id="9" name="内容占位符 2">
            <a:extLst>
              <a:ext uri="{FF2B5EF4-FFF2-40B4-BE49-F238E27FC236}">
                <a16:creationId xmlns:a16="http://schemas.microsoft.com/office/drawing/2014/main" id="{9A7E3E8C-513A-FA30-B485-DB9CD35CC1E8}"/>
              </a:ext>
            </a:extLst>
          </p:cNvPr>
          <p:cNvSpPr txBox="1">
            <a:spLocks/>
          </p:cNvSpPr>
          <p:nvPr/>
        </p:nvSpPr>
        <p:spPr>
          <a:xfrm>
            <a:off x="2854127" y="4400282"/>
            <a:ext cx="8085944" cy="254495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dirty="0">
              <a:latin typeface="宋体" panose="02010600030101010101" pitchFamily="2" charset="-122"/>
              <a:ea typeface="宋体" panose="02010600030101010101" pitchFamily="2" charset="-122"/>
            </a:endParaRPr>
          </a:p>
        </p:txBody>
      </p:sp>
      <p:sp>
        <p:nvSpPr>
          <p:cNvPr id="7" name="Rectangle 3">
            <a:extLst>
              <a:ext uri="{FF2B5EF4-FFF2-40B4-BE49-F238E27FC236}">
                <a16:creationId xmlns:a16="http://schemas.microsoft.com/office/drawing/2014/main" id="{59D95ACC-C944-1783-5964-25947E57893A}"/>
              </a:ext>
            </a:extLst>
          </p:cNvPr>
          <p:cNvSpPr txBox="1">
            <a:spLocks noChangeArrowheads="1"/>
          </p:cNvSpPr>
          <p:nvPr/>
        </p:nvSpPr>
        <p:spPr>
          <a:xfrm>
            <a:off x="1874970" y="1781986"/>
            <a:ext cx="8347420" cy="2943439"/>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pitchFamily="2" charset="2"/>
              <a:buNone/>
            </a:pPr>
            <a:endParaRPr lang="zh-CN" altLang="en-US" sz="2400" dirty="0">
              <a:latin typeface="宋体" panose="02010600030101010101" pitchFamily="2" charset="-122"/>
              <a:ea typeface="宋体" panose="02010600030101010101" pitchFamily="2" charset="-122"/>
            </a:endParaRPr>
          </a:p>
        </p:txBody>
      </p:sp>
      <p:sp>
        <p:nvSpPr>
          <p:cNvPr id="10" name="矩形 9">
            <a:extLst>
              <a:ext uri="{FF2B5EF4-FFF2-40B4-BE49-F238E27FC236}">
                <a16:creationId xmlns:a16="http://schemas.microsoft.com/office/drawing/2014/main" id="{8FCFF76B-615B-FAF1-5F19-CCA3B23E02F2}"/>
              </a:ext>
            </a:extLst>
          </p:cNvPr>
          <p:cNvSpPr/>
          <p:nvPr/>
        </p:nvSpPr>
        <p:spPr>
          <a:xfrm>
            <a:off x="972777" y="1824217"/>
            <a:ext cx="4983651" cy="283289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6747148-DADC-1391-83AB-CEE479A5DF65}"/>
                  </a:ext>
                </a:extLst>
              </p:cNvPr>
              <p:cNvSpPr txBox="1"/>
              <p:nvPr/>
            </p:nvSpPr>
            <p:spPr>
              <a:xfrm>
                <a:off x="1230042" y="2279292"/>
                <a:ext cx="4537501" cy="2340321"/>
              </a:xfrm>
              <a:prstGeom prst="rect">
                <a:avLst/>
              </a:prstGeom>
              <a:noFill/>
            </p:spPr>
            <p:txBody>
              <a:bodyPr wrap="square" rtlCol="0">
                <a:spAutoFit/>
              </a:bodyPr>
              <a:lstStyle/>
              <a:p>
                <a:pPr indent="457155"/>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从商用的角度出发，要求加解密算法</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𝐸</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𝐷</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应该是公共的标准算法，是</a:t>
                </a:r>
                <a:r>
                  <a:rPr lang="zh-CN" altLang="en-US" u="sng" dirty="0">
                    <a:latin typeface="宋体" panose="02010600030101010101" pitchFamily="2" charset="-122"/>
                    <a:ea typeface="宋体" panose="02010600030101010101" pitchFamily="2" charset="-122"/>
                  </a:rPr>
                  <a:t>公开</a:t>
                </a:r>
                <a:r>
                  <a:rPr lang="zh-CN" altLang="en-US" dirty="0">
                    <a:latin typeface="宋体" panose="02010600030101010101" pitchFamily="2" charset="-122"/>
                    <a:ea typeface="宋体" panose="02010600030101010101" pitchFamily="2" charset="-122"/>
                  </a:rPr>
                  <a:t>的。因此，包括攻击者</a:t>
                </a:r>
                <a:r>
                  <a:rPr lang="en-US" altLang="zh-CN" dirty="0">
                    <a:latin typeface="宋体" panose="02010600030101010101" pitchFamily="2" charset="-122"/>
                    <a:ea typeface="宋体" panose="02010600030101010101" pitchFamily="2" charset="-122"/>
                  </a:rPr>
                  <a:t>Eve</a:t>
                </a:r>
                <a:r>
                  <a:rPr lang="zh-CN" altLang="en-US" dirty="0">
                    <a:latin typeface="宋体" panose="02010600030101010101" pitchFamily="2" charset="-122"/>
                    <a:ea typeface="宋体" panose="02010600030101010101" pitchFamily="2" charset="-122"/>
                  </a:rPr>
                  <a:t>在内的所有人都知道加解密算法</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𝐸</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𝐷</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要求安全性不依赖于加解密算法</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𝐸</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𝐷</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是否保密，</a:t>
                </a:r>
                <a:r>
                  <a:rPr lang="zh-CN" altLang="en-US" u="sng" dirty="0">
                    <a:latin typeface="宋体" panose="02010600030101010101" pitchFamily="2" charset="-122"/>
                    <a:ea typeface="宋体" panose="02010600030101010101" pitchFamily="2" charset="-122"/>
                  </a:rPr>
                  <a:t>而仅仅依赖于密钥是否保密</a:t>
                </a:r>
                <a:r>
                  <a:rPr lang="zh-CN" altLang="en-US" dirty="0">
                    <a:latin typeface="宋体" panose="02010600030101010101" pitchFamily="2" charset="-122"/>
                    <a:ea typeface="宋体" panose="02010600030101010101" pitchFamily="2" charset="-122"/>
                  </a:rPr>
                  <a:t>。</a:t>
                </a:r>
              </a:p>
              <a:p>
                <a:pPr defTabSz="914377">
                  <a:lnSpc>
                    <a:spcPct val="130000"/>
                  </a:lnSpc>
                  <a:defRPr/>
                </a:pPr>
                <a:endParaRPr kumimoji="1" lang="zh-CN" altLang="en-US" dirty="0">
                  <a:solidFill>
                    <a:prstClr val="white">
                      <a:lumMod val="50000"/>
                    </a:prstClr>
                  </a:solidFill>
                  <a:latin typeface="宋体" panose="02010600030101010101" pitchFamily="2" charset="-122"/>
                  <a:ea typeface="宋体" panose="02010600030101010101" pitchFamily="2" charset="-122"/>
                  <a:cs typeface="+mn-ea"/>
                  <a:sym typeface="+mn-lt"/>
                </a:endParaRPr>
              </a:p>
            </p:txBody>
          </p:sp>
        </mc:Choice>
        <mc:Fallback xmlns="">
          <p:sp>
            <p:nvSpPr>
              <p:cNvPr id="11" name="文本框 10">
                <a:extLst>
                  <a:ext uri="{FF2B5EF4-FFF2-40B4-BE49-F238E27FC236}">
                    <a16:creationId xmlns:a16="http://schemas.microsoft.com/office/drawing/2014/main" id="{A6747148-DADC-1391-83AB-CEE479A5DF65}"/>
                  </a:ext>
                </a:extLst>
              </p:cNvPr>
              <p:cNvSpPr txBox="1">
                <a:spLocks noRot="1" noChangeAspect="1" noMove="1" noResize="1" noEditPoints="1" noAdjustHandles="1" noChangeArrowheads="1" noChangeShapeType="1" noTextEdit="1"/>
              </p:cNvSpPr>
              <p:nvPr/>
            </p:nvSpPr>
            <p:spPr>
              <a:xfrm>
                <a:off x="1230042" y="2279292"/>
                <a:ext cx="4537501" cy="2340321"/>
              </a:xfrm>
              <a:prstGeom prst="rect">
                <a:avLst/>
              </a:prstGeom>
              <a:blipFill>
                <a:blip r:embed="rId3"/>
                <a:stretch>
                  <a:fillRect l="-121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17D54B1A-7E66-0E4C-C72A-BEE27CDE3D62}"/>
              </a:ext>
            </a:extLst>
          </p:cNvPr>
          <p:cNvSpPr txBox="1"/>
          <p:nvPr/>
        </p:nvSpPr>
        <p:spPr>
          <a:xfrm>
            <a:off x="1230042" y="1984816"/>
            <a:ext cx="4392549" cy="400110"/>
          </a:xfrm>
          <a:prstGeom prst="rect">
            <a:avLst/>
          </a:prstGeom>
          <a:noFill/>
        </p:spPr>
        <p:txBody>
          <a:bodyPr wrap="none" rtlCol="0">
            <a:spAutoFit/>
          </a:bodyPr>
          <a:lstStyle/>
          <a:p>
            <a:pPr lvl="0">
              <a:defRPr/>
            </a:pPr>
            <a:r>
              <a:rPr kumimoji="1" lang="zh-CN" altLang="en-US" sz="2000" dirty="0">
                <a:solidFill>
                  <a:srgbClr val="44546A"/>
                </a:solidFill>
                <a:latin typeface="宋体" panose="02010600030101010101" pitchFamily="2" charset="-122"/>
                <a:ea typeface="宋体" panose="02010600030101010101" pitchFamily="2" charset="-122"/>
                <a:cs typeface="+mn-ea"/>
                <a:sym typeface="+mn-lt"/>
              </a:rPr>
              <a:t>注解一：</a:t>
            </a:r>
            <a:r>
              <a:rPr kumimoji="1" lang="zh-CN" altLang="en-US" sz="2000" dirty="0">
                <a:latin typeface="宋体" panose="02010600030101010101" pitchFamily="2" charset="-122"/>
                <a:ea typeface="宋体" panose="02010600030101010101" pitchFamily="2" charset="-122"/>
                <a:cs typeface="+mn-ea"/>
                <a:sym typeface="+mn-lt"/>
              </a:rPr>
              <a:t>关于加密算法𝑬和解密算法𝑫</a:t>
            </a:r>
          </a:p>
        </p:txBody>
      </p:sp>
      <p:sp>
        <p:nvSpPr>
          <p:cNvPr id="13" name="矩形 12">
            <a:extLst>
              <a:ext uri="{FF2B5EF4-FFF2-40B4-BE49-F238E27FC236}">
                <a16:creationId xmlns:a16="http://schemas.microsoft.com/office/drawing/2014/main" id="{A170BCE5-4E2C-57D4-5E72-D26FD76F0464}"/>
              </a:ext>
            </a:extLst>
          </p:cNvPr>
          <p:cNvSpPr/>
          <p:nvPr/>
        </p:nvSpPr>
        <p:spPr>
          <a:xfrm>
            <a:off x="972777" y="1768785"/>
            <a:ext cx="4983643"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14" name="矩形 13">
            <a:extLst>
              <a:ext uri="{FF2B5EF4-FFF2-40B4-BE49-F238E27FC236}">
                <a16:creationId xmlns:a16="http://schemas.microsoft.com/office/drawing/2014/main" id="{269729F6-9715-1A8E-2A4A-20C2351E26ED}"/>
              </a:ext>
            </a:extLst>
          </p:cNvPr>
          <p:cNvSpPr/>
          <p:nvPr/>
        </p:nvSpPr>
        <p:spPr>
          <a:xfrm>
            <a:off x="6858611" y="1030867"/>
            <a:ext cx="4983651" cy="550378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86FEC6B-5600-777D-223F-88BA6B2927AF}"/>
                  </a:ext>
                </a:extLst>
              </p:cNvPr>
              <p:cNvSpPr txBox="1"/>
              <p:nvPr/>
            </p:nvSpPr>
            <p:spPr>
              <a:xfrm>
                <a:off x="7071072" y="1357372"/>
                <a:ext cx="4537501" cy="5387309"/>
              </a:xfrm>
              <a:prstGeom prst="rect">
                <a:avLst/>
              </a:prstGeom>
              <a:noFill/>
            </p:spPr>
            <p:txBody>
              <a:bodyPr wrap="square" rtlCol="0">
                <a:spAutoFit/>
              </a:bodyPr>
              <a:lstStyle/>
              <a:p>
                <a:pPr indent="457155"/>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如果每一次加密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解密过程，都要选择一次加解密密钥</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𝑧</m:t>
                    </m:r>
                    <m:r>
                      <a:rPr lang="en-US" altLang="zh-CN" i="1" dirty="0" err="1">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𝑘</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，则加解密方式称为</a:t>
                </a:r>
                <a:r>
                  <a:rPr lang="zh-CN" altLang="en-US" u="sng" dirty="0">
                    <a:latin typeface="宋体" panose="02010600030101010101" pitchFamily="2" charset="-122"/>
                    <a:ea typeface="宋体" panose="02010600030101010101" pitchFamily="2" charset="-122"/>
                  </a:rPr>
                  <a:t>一次一密</a:t>
                </a:r>
                <a:r>
                  <a:rPr lang="zh-CN" altLang="en-US" dirty="0">
                    <a:latin typeface="宋体" panose="02010600030101010101" pitchFamily="2" charset="-122"/>
                    <a:ea typeface="宋体" panose="02010600030101010101" pitchFamily="2" charset="-122"/>
                  </a:rPr>
                  <a:t>的。</a:t>
                </a:r>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一次一密的加解密方式通常具有很好的安全性。但是需要频繁地更换密钥，每次通信之前都需要通信伙伴之间进行协商来确定新的密钥</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𝑧</m:t>
                    </m:r>
                    <m:r>
                      <a:rPr lang="en-US" altLang="zh-CN" i="1" dirty="0" err="1">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𝑘</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。因此一次一密的加解密方式是不实用的。如果加解密密钥</a:t>
                </a:r>
                <a14:m>
                  <m:oMath xmlns:m="http://schemas.openxmlformats.org/officeDocument/2006/math">
                    <m:r>
                      <a:rPr lang="en-US" altLang="zh-CN" i="1" dirty="0">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𝑧</m:t>
                    </m:r>
                    <m:r>
                      <a:rPr lang="en-US" altLang="zh-CN" i="1" dirty="0" err="1">
                        <a:latin typeface="Cambria Math" panose="02040503050406030204" pitchFamily="18" charset="0"/>
                        <a:ea typeface="宋体" panose="02010600030101010101" pitchFamily="2" charset="-122"/>
                      </a:rPr>
                      <m:t>,</m:t>
                    </m:r>
                    <m:r>
                      <a:rPr lang="en-US" altLang="zh-CN" i="1" dirty="0" err="1">
                        <a:latin typeface="Cambria Math" panose="02040503050406030204" pitchFamily="18" charset="0"/>
                        <a:ea typeface="宋体" panose="02010600030101010101" pitchFamily="2" charset="-122"/>
                      </a:rPr>
                      <m:t>𝑘</m:t>
                    </m:r>
                    <m:r>
                      <a:rPr lang="en-US" altLang="zh-CN" i="1" dirty="0">
                        <a:latin typeface="Cambria Math" panose="02040503050406030204" pitchFamily="18" charset="0"/>
                        <a:ea typeface="宋体" panose="02010600030101010101" pitchFamily="2" charset="-122"/>
                      </a:rPr>
                      <m:t>)</m:t>
                    </m:r>
                  </m:oMath>
                </a14:m>
                <a:r>
                  <a:rPr lang="zh-CN" altLang="en-US" dirty="0">
                    <a:latin typeface="宋体" panose="02010600030101010101" pitchFamily="2" charset="-122"/>
                    <a:ea typeface="宋体" panose="02010600030101010101" pitchFamily="2" charset="-122"/>
                  </a:rPr>
                  <a:t>在多次加密</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解密过程中反复地重复使用，则加解密方式称为</a:t>
                </a:r>
                <a:r>
                  <a:rPr lang="zh-CN" altLang="en-US" u="sng" dirty="0">
                    <a:latin typeface="宋体" panose="02010600030101010101" pitchFamily="2" charset="-122"/>
                    <a:ea typeface="宋体" panose="02010600030101010101" pitchFamily="2" charset="-122"/>
                  </a:rPr>
                  <a:t>多次一密</a:t>
                </a:r>
                <a:r>
                  <a:rPr lang="zh-CN" altLang="en-US" dirty="0">
                    <a:latin typeface="宋体" panose="02010600030101010101" pitchFamily="2" charset="-122"/>
                    <a:ea typeface="宋体" panose="02010600030101010101" pitchFamily="2" charset="-122"/>
                  </a:rPr>
                  <a:t>的。</a:t>
                </a:r>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现有的实用加解密方式都是多次一密的。</a:t>
                </a:r>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多次一密的加解密方式极大地省去了通信伙伴的工作量。</a:t>
                </a:r>
                <a:endParaRPr lang="en-US" altLang="zh-CN" dirty="0">
                  <a:latin typeface="宋体" panose="02010600030101010101" pitchFamily="2" charset="-122"/>
                  <a:ea typeface="宋体" panose="02010600030101010101" pitchFamily="2" charset="-122"/>
                </a:endParaRPr>
              </a:p>
              <a:p>
                <a:pPr indent="457155"/>
                <a:r>
                  <a:rPr lang="zh-CN" altLang="en-US" dirty="0">
                    <a:latin typeface="宋体" panose="02010600030101010101" pitchFamily="2" charset="-122"/>
                    <a:ea typeface="宋体" panose="02010600030101010101" pitchFamily="2" charset="-122"/>
                  </a:rPr>
                  <a:t>但同时，多次一密的加解密方式使得攻击者增加了集中新的攻击手段，其中包括：</a:t>
                </a:r>
                <a:r>
                  <a:rPr lang="zh-CN" altLang="en-US" u="sng" dirty="0">
                    <a:latin typeface="宋体" panose="02010600030101010101" pitchFamily="2" charset="-122"/>
                    <a:ea typeface="宋体" panose="02010600030101010101" pitchFamily="2" charset="-122"/>
                  </a:rPr>
                  <a:t>已知明文攻击</a:t>
                </a:r>
                <a:r>
                  <a:rPr lang="zh-CN" altLang="en-US" dirty="0">
                    <a:latin typeface="宋体" panose="02010600030101010101" pitchFamily="2" charset="-122"/>
                    <a:ea typeface="宋体" panose="02010600030101010101" pitchFamily="2" charset="-122"/>
                  </a:rPr>
                  <a:t>。</a:t>
                </a:r>
              </a:p>
              <a:p>
                <a:pPr indent="457155"/>
                <a:endParaRPr lang="zh-CN" altLang="en-US" dirty="0">
                  <a:latin typeface="宋体" panose="02010600030101010101" pitchFamily="2" charset="-122"/>
                  <a:ea typeface="宋体" panose="02010600030101010101" pitchFamily="2" charset="-122"/>
                </a:endParaRPr>
              </a:p>
              <a:p>
                <a:pPr defTabSz="914377">
                  <a:lnSpc>
                    <a:spcPct val="130000"/>
                  </a:lnSpc>
                  <a:defRPr/>
                </a:pPr>
                <a:endParaRPr kumimoji="1" lang="zh-CN" altLang="en-US" dirty="0">
                  <a:solidFill>
                    <a:prstClr val="white">
                      <a:lumMod val="50000"/>
                    </a:prstClr>
                  </a:solidFill>
                  <a:latin typeface="宋体" panose="02010600030101010101" pitchFamily="2" charset="-122"/>
                  <a:ea typeface="宋体" panose="02010600030101010101" pitchFamily="2" charset="-122"/>
                  <a:cs typeface="+mn-ea"/>
                  <a:sym typeface="+mn-lt"/>
                </a:endParaRPr>
              </a:p>
            </p:txBody>
          </p:sp>
        </mc:Choice>
        <mc:Fallback xmlns="">
          <p:sp>
            <p:nvSpPr>
              <p:cNvPr id="15" name="文本框 14">
                <a:extLst>
                  <a:ext uri="{FF2B5EF4-FFF2-40B4-BE49-F238E27FC236}">
                    <a16:creationId xmlns:a16="http://schemas.microsoft.com/office/drawing/2014/main" id="{A86FEC6B-5600-777D-223F-88BA6B2927AF}"/>
                  </a:ext>
                </a:extLst>
              </p:cNvPr>
              <p:cNvSpPr txBox="1">
                <a:spLocks noRot="1" noChangeAspect="1" noMove="1" noResize="1" noEditPoints="1" noAdjustHandles="1" noChangeArrowheads="1" noChangeShapeType="1" noTextEdit="1"/>
              </p:cNvSpPr>
              <p:nvPr/>
            </p:nvSpPr>
            <p:spPr>
              <a:xfrm>
                <a:off x="7071072" y="1357372"/>
                <a:ext cx="4537501" cy="5387309"/>
              </a:xfrm>
              <a:prstGeom prst="rect">
                <a:avLst/>
              </a:prstGeom>
              <a:blipFill>
                <a:blip r:embed="rId4"/>
                <a:stretch>
                  <a:fillRect l="-1210" r="-5914"/>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AFABB23D-872D-DC66-7601-330C91F70594}"/>
              </a:ext>
            </a:extLst>
          </p:cNvPr>
          <p:cNvSpPr txBox="1"/>
          <p:nvPr/>
        </p:nvSpPr>
        <p:spPr>
          <a:xfrm>
            <a:off x="7115874" y="1191468"/>
            <a:ext cx="3262432" cy="400110"/>
          </a:xfrm>
          <a:prstGeom prst="rect">
            <a:avLst/>
          </a:prstGeom>
          <a:noFill/>
        </p:spPr>
        <p:txBody>
          <a:bodyPr wrap="none" rtlCol="0">
            <a:spAutoFit/>
          </a:bodyPr>
          <a:lstStyle/>
          <a:p>
            <a:pPr lvl="0">
              <a:defRPr/>
            </a:pPr>
            <a:r>
              <a:rPr kumimoji="1" lang="zh-CN" altLang="en-US" sz="2000" dirty="0">
                <a:solidFill>
                  <a:srgbClr val="44546A"/>
                </a:solidFill>
                <a:latin typeface="宋体" panose="02010600030101010101" pitchFamily="2" charset="-122"/>
                <a:ea typeface="宋体" panose="02010600030101010101" pitchFamily="2" charset="-122"/>
                <a:cs typeface="+mn-ea"/>
                <a:sym typeface="+mn-lt"/>
              </a:rPr>
              <a:t>注解二：</a:t>
            </a:r>
            <a:r>
              <a:rPr kumimoji="1" lang="zh-CN" altLang="en-US" sz="2000" dirty="0">
                <a:latin typeface="宋体" panose="02010600030101010101" pitchFamily="2" charset="-122"/>
                <a:ea typeface="宋体" panose="02010600030101010101" pitchFamily="2" charset="-122"/>
                <a:cs typeface="+mn-ea"/>
                <a:sym typeface="+mn-lt"/>
              </a:rPr>
              <a:t>关于已知明文攻击</a:t>
            </a:r>
          </a:p>
        </p:txBody>
      </p:sp>
      <p:sp>
        <p:nvSpPr>
          <p:cNvPr id="17" name="矩形 16">
            <a:extLst>
              <a:ext uri="{FF2B5EF4-FFF2-40B4-BE49-F238E27FC236}">
                <a16:creationId xmlns:a16="http://schemas.microsoft.com/office/drawing/2014/main" id="{C670C1D7-BB11-3B3F-41E9-2AABD1BBC4F9}"/>
              </a:ext>
            </a:extLst>
          </p:cNvPr>
          <p:cNvSpPr/>
          <p:nvPr/>
        </p:nvSpPr>
        <p:spPr>
          <a:xfrm>
            <a:off x="6858611" y="975436"/>
            <a:ext cx="4983643"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Tree>
    <p:extLst>
      <p:ext uri="{BB962C8B-B14F-4D97-AF65-F5344CB8AC3E}">
        <p14:creationId xmlns:p14="http://schemas.microsoft.com/office/powerpoint/2010/main" val="140646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9"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500"/>
                                        <p:tgtEl>
                                          <p:spTgt spid="11"/>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par>
                                <p:cTn id="27" presetID="9"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dissolve">
                                      <p:cBhvr>
                                        <p:cTn id="29" dur="500"/>
                                        <p:tgtEl>
                                          <p:spTgt spid="15"/>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Effect transition="in" filter="fade">
                                      <p:cBhvr>
                                        <p:cTn id="42" dur="500"/>
                                        <p:tgtEl>
                                          <p:spTgt spid="15">
                                            <p:txEl>
                                              <p:pRg st="1" end="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xEl>
                                              <p:pRg st="2" end="2"/>
                                            </p:txEl>
                                          </p:spTgt>
                                        </p:tgtEl>
                                        <p:attrNameLst>
                                          <p:attrName>style.visibility</p:attrName>
                                        </p:attrNameLst>
                                      </p:cBhvr>
                                      <p:to>
                                        <p:strVal val="visible"/>
                                      </p:to>
                                    </p:set>
                                    <p:animEffect transition="in" filter="fade">
                                      <p:cBhvr>
                                        <p:cTn id="45" dur="500"/>
                                        <p:tgtEl>
                                          <p:spTgt spid="15">
                                            <p:txEl>
                                              <p:pRg st="2" end="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xEl>
                                              <p:pRg st="3" end="3"/>
                                            </p:txEl>
                                          </p:spTgt>
                                        </p:tgtEl>
                                        <p:attrNameLst>
                                          <p:attrName>style.visibility</p:attrName>
                                        </p:attrNameLst>
                                      </p:cBhvr>
                                      <p:to>
                                        <p:strVal val="visible"/>
                                      </p:to>
                                    </p:set>
                                    <p:animEffect transition="in" filter="fade">
                                      <p:cBhvr>
                                        <p:cTn id="48" dur="500"/>
                                        <p:tgtEl>
                                          <p:spTgt spid="15">
                                            <p:txEl>
                                              <p:pRg st="3" end="3"/>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5">
                                            <p:txEl>
                                              <p:pRg st="4" end="4"/>
                                            </p:txEl>
                                          </p:spTgt>
                                        </p:tgtEl>
                                        <p:attrNameLst>
                                          <p:attrName>style.visibility</p:attrName>
                                        </p:attrNameLst>
                                      </p:cBhvr>
                                      <p:to>
                                        <p:strVal val="visible"/>
                                      </p:to>
                                    </p:set>
                                    <p:animEffect transition="in" filter="fade">
                                      <p:cBhvr>
                                        <p:cTn id="51" dur="500"/>
                                        <p:tgtEl>
                                          <p:spTgt spid="15">
                                            <p:txEl>
                                              <p:pRg st="4" end="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xEl>
                                              <p:pRg st="5" end="5"/>
                                            </p:txEl>
                                          </p:spTgt>
                                        </p:tgtEl>
                                        <p:attrNameLst>
                                          <p:attrName>style.visibility</p:attrName>
                                        </p:attrNameLst>
                                      </p:cBhvr>
                                      <p:to>
                                        <p:strVal val="visible"/>
                                      </p:to>
                                    </p:set>
                                    <p:animEffect transition="in" filter="fade">
                                      <p:cBhvr>
                                        <p:cTn id="54"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animBg="1"/>
      <p:bldP spid="14" grpId="0" animBg="1"/>
      <p:bldP spid="15" grpId="0"/>
      <p:bldP spid="16" grpId="0"/>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478997" y="1424558"/>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000" dirty="0">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D6B4230C-8804-E9DC-474F-8374F299BB03}"/>
              </a:ext>
            </a:extLst>
          </p:cNvPr>
          <p:cNvSpPr txBox="1">
            <a:spLocks/>
          </p:cNvSpPr>
          <p:nvPr/>
        </p:nvSpPr>
        <p:spPr>
          <a:xfrm>
            <a:off x="2854127" y="975438"/>
            <a:ext cx="8085944" cy="3979863"/>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tLang="zh-CN" sz="2400" b="1" dirty="0">
              <a:latin typeface="宋体" panose="02010600030101010101" pitchFamily="2" charset="-122"/>
              <a:ea typeface="宋体" panose="02010600030101010101" pitchFamily="2" charset="-122"/>
            </a:endParaRPr>
          </a:p>
        </p:txBody>
      </p:sp>
      <p:sp>
        <p:nvSpPr>
          <p:cNvPr id="9" name="内容占位符 2">
            <a:extLst>
              <a:ext uri="{FF2B5EF4-FFF2-40B4-BE49-F238E27FC236}">
                <a16:creationId xmlns:a16="http://schemas.microsoft.com/office/drawing/2014/main" id="{9A7E3E8C-513A-FA30-B485-DB9CD35CC1E8}"/>
              </a:ext>
            </a:extLst>
          </p:cNvPr>
          <p:cNvSpPr txBox="1">
            <a:spLocks/>
          </p:cNvSpPr>
          <p:nvPr/>
        </p:nvSpPr>
        <p:spPr>
          <a:xfrm>
            <a:off x="2854127" y="4400282"/>
            <a:ext cx="8085944" cy="254495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dirty="0">
              <a:latin typeface="宋体" panose="02010600030101010101" pitchFamily="2" charset="-122"/>
              <a:ea typeface="宋体" panose="02010600030101010101" pitchFamily="2" charset="-122"/>
            </a:endParaRPr>
          </a:p>
        </p:txBody>
      </p:sp>
      <p:sp>
        <p:nvSpPr>
          <p:cNvPr id="7" name="Rectangle 3">
            <a:extLst>
              <a:ext uri="{FF2B5EF4-FFF2-40B4-BE49-F238E27FC236}">
                <a16:creationId xmlns:a16="http://schemas.microsoft.com/office/drawing/2014/main" id="{59D95ACC-C944-1783-5964-25947E57893A}"/>
              </a:ext>
            </a:extLst>
          </p:cNvPr>
          <p:cNvSpPr txBox="1">
            <a:spLocks noChangeArrowheads="1"/>
          </p:cNvSpPr>
          <p:nvPr/>
        </p:nvSpPr>
        <p:spPr>
          <a:xfrm>
            <a:off x="194547" y="1038998"/>
            <a:ext cx="8347420" cy="58477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已知明文攻击：</a:t>
            </a:r>
            <a:endParaRPr lang="en-US" altLang="zh-CN" b="1"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0" name="内容占位符 2">
                <a:extLst>
                  <a:ext uri="{FF2B5EF4-FFF2-40B4-BE49-F238E27FC236}">
                    <a16:creationId xmlns:a16="http://schemas.microsoft.com/office/drawing/2014/main" id="{3AB7D348-B2AB-A2E1-AD0D-5FFFBC87D84A}"/>
                  </a:ext>
                </a:extLst>
              </p:cNvPr>
              <p:cNvSpPr txBox="1">
                <a:spLocks/>
              </p:cNvSpPr>
              <p:nvPr/>
            </p:nvSpPr>
            <p:spPr>
              <a:xfrm>
                <a:off x="425575" y="1526653"/>
                <a:ext cx="5914016" cy="3325247"/>
              </a:xfrm>
              <a:prstGeom prst="rect">
                <a:avLst/>
              </a:prstGeom>
            </p:spPr>
            <p:txBody>
              <a:bodyPr>
                <a:normAutofit fontScale="85000" lnSpcReduction="10000"/>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dirty="0">
                    <a:latin typeface="宋体" panose="02010600030101010101" pitchFamily="2" charset="-122"/>
                    <a:ea typeface="宋体" panose="02010600030101010101" pitchFamily="2" charset="-122"/>
                  </a:rPr>
                  <a:t>设攻击者</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截获了密文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，并且知道了密文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所对应的明文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。（这种情况是怎样发生的呢？当明文</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是已经过期的消息，可能无法再保密，也可能必须将其公开。因此，这种情况是经常发生的）于是：</a:t>
                </a:r>
                <a:endParaRPr lang="en-US" altLang="zh-CN" sz="2400" dirty="0">
                  <a:latin typeface="宋体" panose="02010600030101010101" pitchFamily="2" charset="-122"/>
                  <a:ea typeface="宋体" panose="02010600030101010101" pitchFamily="2" charset="-122"/>
                </a:endParaRPr>
              </a:p>
              <a:p>
                <a:pPr>
                  <a:lnSpc>
                    <a:spcPct val="100000"/>
                  </a:lnSpc>
                  <a:buClr>
                    <a:schemeClr val="accent1">
                      <a:lumMod val="75000"/>
                    </a:schemeClr>
                  </a:buClr>
                </a:pPr>
                <a:r>
                  <a:rPr lang="zh-CN" altLang="en-US" sz="2400" dirty="0">
                    <a:latin typeface="宋体" panose="02010600030101010101" pitchFamily="2" charset="-122"/>
                    <a:ea typeface="宋体" panose="02010600030101010101" pitchFamily="2" charset="-122"/>
                  </a:rPr>
                  <a:t>在解密方程</a:t>
                </a:r>
                <a14:m>
                  <m:oMath xmlns:m="http://schemas.openxmlformats.org/officeDocument/2006/math">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𝐷</m:t>
                    </m:r>
                    <m:r>
                      <a:rPr lang="en-US" altLang="zh-CN" sz="2400" i="1">
                        <a:latin typeface="Cambria Math" panose="02040503050406030204" pitchFamily="18" charset="0"/>
                      </a:rPr>
                      <m:t>(</m:t>
                    </m:r>
                    <m:r>
                      <a:rPr lang="en-US" altLang="zh-CN" sz="2400" i="1">
                        <a:latin typeface="Cambria Math" panose="02040503050406030204" pitchFamily="18" charset="0"/>
                      </a:rPr>
                      <m:t>𝑐</m:t>
                    </m:r>
                    <m:r>
                      <a:rPr lang="en-US" altLang="zh-CN" sz="2400" i="1">
                        <a:latin typeface="Cambria Math" panose="02040503050406030204" pitchFamily="18" charset="0"/>
                      </a:rPr>
                      <m:t>,</m:t>
                    </m:r>
                    <m:r>
                      <a:rPr lang="en-US" altLang="zh-CN" sz="2400" i="1">
                        <a:latin typeface="Cambria Math" panose="02040503050406030204" pitchFamily="18" charset="0"/>
                      </a:rPr>
                      <m:t>𝑘</m:t>
                    </m:r>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中，</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知道</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，仅仅不知道解密密钥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𝑘</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00000"/>
                  </a:lnSpc>
                  <a:buClr>
                    <a:schemeClr val="accent1">
                      <a:lumMod val="75000"/>
                    </a:schemeClr>
                  </a:buClr>
                </a:pPr>
                <a:r>
                  <a:rPr lang="zh-CN" altLang="en-US" sz="2400" dirty="0">
                    <a:latin typeface="宋体" panose="02010600030101010101" pitchFamily="2" charset="-122"/>
                    <a:ea typeface="宋体" panose="02010600030101010101" pitchFamily="2" charset="-122"/>
                  </a:rPr>
                  <a:t>在加密方程</a:t>
                </a:r>
                <a14:m>
                  <m:oMath xmlns:m="http://schemas.openxmlformats.org/officeDocument/2006/math">
                    <m:r>
                      <a:rPr lang="en-US" altLang="zh-CN" sz="2400" i="1">
                        <a:latin typeface="Cambria Math" panose="02040503050406030204" pitchFamily="18" charset="0"/>
                      </a:rPr>
                      <m:t>𝑐</m:t>
                    </m:r>
                    <m:r>
                      <a:rPr lang="en-US" altLang="zh-CN" sz="2400" i="1">
                        <a:latin typeface="Cambria Math" panose="02040503050406030204" pitchFamily="18" charset="0"/>
                      </a:rPr>
                      <m:t>=</m:t>
                    </m:r>
                    <m:r>
                      <a:rPr lang="en-US" altLang="zh-CN" sz="2400" i="1">
                        <a:latin typeface="Cambria Math" panose="02040503050406030204" pitchFamily="18" charset="0"/>
                      </a:rPr>
                      <m:t>𝐸</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𝑧</m:t>
                    </m:r>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中，</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知道</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oMath>
                </a14:m>
                <a:r>
                  <a:rPr lang="zh-CN" altLang="en-US" sz="2400" dirty="0">
                    <a:latin typeface="宋体" panose="02010600030101010101" pitchFamily="2" charset="-122"/>
                    <a:ea typeface="宋体" panose="02010600030101010101" pitchFamily="2" charset="-122"/>
                  </a:rPr>
                  <a:t>，仅仅不知道加密密钥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𝑧</m:t>
                    </m:r>
                  </m:oMath>
                </a14:m>
                <a:r>
                  <a:rPr lang="zh-CN" altLang="en-US" sz="2400" dirty="0">
                    <a:latin typeface="宋体" panose="02010600030101010101" pitchFamily="2" charset="-122"/>
                    <a:ea typeface="宋体" panose="02010600030101010101" pitchFamily="2" charset="-122"/>
                  </a:rPr>
                  <a:t>。</a:t>
                </a:r>
              </a:p>
            </p:txBody>
          </p:sp>
        </mc:Choice>
        <mc:Fallback xmlns="">
          <p:sp>
            <p:nvSpPr>
              <p:cNvPr id="10" name="内容占位符 2">
                <a:extLst>
                  <a:ext uri="{FF2B5EF4-FFF2-40B4-BE49-F238E27FC236}">
                    <a16:creationId xmlns:a16="http://schemas.microsoft.com/office/drawing/2014/main" id="{3AB7D348-B2AB-A2E1-AD0D-5FFFBC87D84A}"/>
                  </a:ext>
                </a:extLst>
              </p:cNvPr>
              <p:cNvSpPr txBox="1">
                <a:spLocks noRot="1" noChangeAspect="1" noMove="1" noResize="1" noEditPoints="1" noAdjustHandles="1" noChangeArrowheads="1" noChangeShapeType="1" noTextEdit="1"/>
              </p:cNvSpPr>
              <p:nvPr/>
            </p:nvSpPr>
            <p:spPr>
              <a:xfrm>
                <a:off x="425575" y="1526653"/>
                <a:ext cx="5914016" cy="3325247"/>
              </a:xfrm>
              <a:prstGeom prst="rect">
                <a:avLst/>
              </a:prstGeom>
              <a:blipFill>
                <a:blip r:embed="rId3"/>
                <a:stretch>
                  <a:fillRect l="-1134" t="-2198" r="-1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BF7C3B35-17AD-C1D2-D492-C4A854BB3F71}"/>
                  </a:ext>
                </a:extLst>
              </p:cNvPr>
              <p:cNvSpPr txBox="1">
                <a:spLocks/>
              </p:cNvSpPr>
              <p:nvPr/>
            </p:nvSpPr>
            <p:spPr>
              <a:xfrm>
                <a:off x="6466179" y="1457946"/>
                <a:ext cx="5554172" cy="3600964"/>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从解密方程</a:t>
                </a:r>
                <a:endParaRPr lang="en-US" altLang="zh-CN" sz="2000" b="1"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𝑚</m:t>
                      </m:r>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r>
                        <a:rPr lang="en-US" altLang="zh-CN" sz="2000" i="1">
                          <a:latin typeface="Cambria Math" panose="02040503050406030204" pitchFamily="18" charset="0"/>
                        </a:rPr>
                        <m:t>𝑐</m:t>
                      </m:r>
                      <m:r>
                        <a:rPr lang="en-US" altLang="zh-CN" sz="2000" i="1">
                          <a:latin typeface="Cambria Math" panose="02040503050406030204" pitchFamily="18" charset="0"/>
                        </a:rPr>
                        <m:t>,</m:t>
                      </m:r>
                      <m:r>
                        <a:rPr lang="en-US" altLang="zh-CN" sz="2000" i="1">
                          <a:latin typeface="Cambria Math" panose="02040503050406030204" pitchFamily="18" charset="0"/>
                        </a:rPr>
                        <m:t>𝑘</m:t>
                      </m:r>
                      <m:r>
                        <a:rPr lang="en-US" altLang="zh-CN" sz="2000" i="1">
                          <a:latin typeface="Cambria Math" panose="02040503050406030204" pitchFamily="18" charset="0"/>
                        </a:rPr>
                        <m:t>)</m:t>
                      </m:r>
                    </m:oMath>
                  </m:oMathPara>
                </a14:m>
                <a:endParaRPr lang="en-US" altLang="zh-CN" sz="2000" dirty="0"/>
              </a:p>
              <a:p>
                <a:pPr marL="0" indent="0">
                  <a:lnSpc>
                    <a:spcPct val="100000"/>
                  </a:lnSpc>
                  <a:buNone/>
                </a:pPr>
                <a:r>
                  <a:rPr lang="zh-CN" altLang="en-US" sz="2000" dirty="0">
                    <a:latin typeface="宋体" panose="02010600030101010101" pitchFamily="2" charset="-122"/>
                    <a:ea typeface="宋体" panose="02010600030101010101" pitchFamily="2" charset="-122"/>
                  </a:rPr>
                  <a:t>中计算出解密密钥</a:t>
                </a:r>
                <a14:m>
                  <m:oMath xmlns:m="http://schemas.openxmlformats.org/officeDocument/2006/math">
                    <m:r>
                      <a:rPr lang="en-US" altLang="zh-CN" sz="2000" i="1" dirty="0">
                        <a:latin typeface="Cambria Math" panose="02040503050406030204" pitchFamily="18" charset="0"/>
                        <a:ea typeface="宋体" panose="02010600030101010101" pitchFamily="2" charset="-122"/>
                      </a:rPr>
                      <m:t>𝑘</m:t>
                    </m:r>
                  </m:oMath>
                </a14:m>
                <a:r>
                  <a:rPr lang="zh-CN" altLang="en-US" sz="2000" dirty="0">
                    <a:latin typeface="宋体" panose="02010600030101010101" pitchFamily="2" charset="-122"/>
                    <a:ea typeface="宋体" panose="02010600030101010101" pitchFamily="2" charset="-122"/>
                  </a:rPr>
                  <a:t>，则令</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今后就可以像</a:t>
                </a:r>
                <a:r>
                  <a:rPr lang="en-US" altLang="zh-CN" sz="2000" dirty="0">
                    <a:latin typeface="宋体" panose="02010600030101010101" pitchFamily="2" charset="-122"/>
                    <a:ea typeface="宋体" panose="02010600030101010101" pitchFamily="2" charset="-122"/>
                  </a:rPr>
                  <a:t>Bob</a:t>
                </a:r>
                <a:r>
                  <a:rPr lang="zh-CN" altLang="en-US" sz="2000" dirty="0">
                    <a:latin typeface="宋体" panose="02010600030101010101" pitchFamily="2" charset="-122"/>
                    <a:ea typeface="宋体" panose="02010600030101010101" pitchFamily="2" charset="-122"/>
                  </a:rPr>
                  <a:t>一样对任何密文</a:t>
                </a:r>
                <a14:m>
                  <m:oMath xmlns:m="http://schemas.openxmlformats.org/officeDocument/2006/math">
                    <m:sSup>
                      <m:sSupPr>
                        <m:ctrlPr>
                          <a:rPr lang="zh-CN" altLang="en-US" sz="2000" i="1">
                            <a:solidFill>
                              <a:srgbClr val="836967"/>
                            </a:solidFill>
                            <a:latin typeface="Cambria Math" panose="02040503050406030204" pitchFamily="18" charset="0"/>
                          </a:rPr>
                        </m:ctrlPr>
                      </m:sSupPr>
                      <m:e>
                        <m:r>
                          <a:rPr lang="zh-CN" altLang="en-US" sz="2000" i="1">
                            <a:solidFill>
                              <a:srgbClr val="836967"/>
                            </a:solidFill>
                            <a:latin typeface="Cambria Math" panose="02040503050406030204" pitchFamily="18" charset="0"/>
                          </a:rPr>
                          <m:t>𝑐</m:t>
                        </m:r>
                      </m:e>
                      <m:sup>
                        <m:r>
                          <a:rPr lang="zh-CN" altLang="en-US" sz="2000" i="1">
                            <a:solidFill>
                              <a:srgbClr val="836967"/>
                            </a:solidFill>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进行解密： </a:t>
                </a:r>
                <a14:m>
                  <m:oMath xmlns:m="http://schemas.openxmlformats.org/officeDocument/2006/math">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𝑚</m:t>
                        </m:r>
                      </m:e>
                      <m:sup>
                        <m:r>
                          <a:rPr lang="zh-CN" altLang="en-US" sz="2000">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𝐷</m:t>
                    </m:r>
                    <m:r>
                      <a:rPr lang="en-US" altLang="zh-CN" sz="2000" i="1">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𝑐</m:t>
                        </m:r>
                      </m:e>
                      <m:sup>
                        <m:r>
                          <a:rPr lang="zh-CN" altLang="en-US" sz="2000">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𝑘</m:t>
                    </m:r>
                    <m:r>
                      <a:rPr lang="en-US" altLang="zh-CN" sz="2000" i="1">
                        <a:latin typeface="Cambria Math" panose="02040503050406030204" pitchFamily="18" charset="0"/>
                      </a:rPr>
                      <m:t>)</m:t>
                    </m:r>
                  </m:oMath>
                </a14:m>
                <a:r>
                  <a:rPr lang="zh-CN" altLang="en-US" sz="2000" dirty="0"/>
                  <a:t>。</a:t>
                </a:r>
                <a:endParaRPr lang="en-US" altLang="zh-CN" sz="2000" dirty="0"/>
              </a:p>
              <a:p>
                <a:pPr marL="0" indent="0">
                  <a:lnSpc>
                    <a:spcPct val="100000"/>
                  </a:lnSpc>
                  <a:buNone/>
                </a:pPr>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Eve</a:t>
                </a:r>
                <a:r>
                  <a:rPr lang="zh-CN" altLang="en-US" sz="2000" b="1" dirty="0">
                    <a:latin typeface="宋体" panose="02010600030101010101" pitchFamily="2" charset="-122"/>
                    <a:ea typeface="宋体" panose="02010600030101010101" pitchFamily="2" charset="-122"/>
                  </a:rPr>
                  <a:t>从加密方程</a:t>
                </a:r>
                <a:endParaRPr lang="en-US" altLang="zh-CN" sz="2000" b="1"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𝑐</m:t>
                      </m:r>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𝑚</m:t>
                      </m:r>
                      <m:r>
                        <a:rPr lang="en-US" altLang="zh-CN" sz="2000" i="1">
                          <a:latin typeface="Cambria Math" panose="02040503050406030204" pitchFamily="18" charset="0"/>
                        </a:rPr>
                        <m:t>,</m:t>
                      </m:r>
                      <m:r>
                        <a:rPr lang="en-US" altLang="zh-CN" sz="2000" i="1">
                          <a:latin typeface="Cambria Math" panose="02040503050406030204" pitchFamily="18" charset="0"/>
                        </a:rPr>
                        <m:t>𝑧</m:t>
                      </m:r>
                      <m:r>
                        <a:rPr lang="en-US" altLang="zh-CN" sz="2000" i="1">
                          <a:latin typeface="Cambria Math" panose="02040503050406030204" pitchFamily="18" charset="0"/>
                        </a:rPr>
                        <m:t>)</m:t>
                      </m:r>
                    </m:oMath>
                  </m:oMathPara>
                </a14:m>
                <a:endParaRPr lang="en-US" altLang="zh-CN" sz="2000" dirty="0"/>
              </a:p>
              <a:p>
                <a:pPr marL="0" indent="0">
                  <a:lnSpc>
                    <a:spcPct val="100000"/>
                  </a:lnSpc>
                  <a:buNone/>
                </a:pPr>
                <a:r>
                  <a:rPr lang="zh-CN" altLang="en-US" sz="2000" dirty="0">
                    <a:latin typeface="宋体" panose="02010600030101010101" pitchFamily="2" charset="-122"/>
                    <a:ea typeface="宋体" panose="02010600030101010101" pitchFamily="2" charset="-122"/>
                  </a:rPr>
                  <a:t>中计算出加密密钥</a:t>
                </a:r>
                <a14:m>
                  <m:oMath xmlns:m="http://schemas.openxmlformats.org/officeDocument/2006/math">
                    <m:r>
                      <a:rPr lang="en-US" altLang="zh-CN" sz="2000" i="1" dirty="0">
                        <a:latin typeface="Cambria Math" panose="02040503050406030204" pitchFamily="18" charset="0"/>
                        <a:ea typeface="宋体" panose="02010600030101010101" pitchFamily="2" charset="-122"/>
                      </a:rPr>
                      <m:t>𝑧</m:t>
                    </m:r>
                  </m:oMath>
                </a14:m>
                <a:r>
                  <a:rPr lang="zh-CN" altLang="en-US" sz="2000" dirty="0">
                    <a:latin typeface="宋体" panose="02010600030101010101" pitchFamily="2" charset="-122"/>
                    <a:ea typeface="宋体" panose="02010600030101010101" pitchFamily="2" charset="-122"/>
                  </a:rPr>
                  <a:t>，则</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今后就就可以像</a:t>
                </a:r>
                <a:r>
                  <a:rPr lang="en-US" altLang="zh-CN" sz="2000" dirty="0">
                    <a:latin typeface="宋体" panose="02010600030101010101" pitchFamily="2" charset="-122"/>
                    <a:ea typeface="宋体" panose="02010600030101010101" pitchFamily="2" charset="-122"/>
                  </a:rPr>
                  <a:t>Alice</a:t>
                </a:r>
                <a:r>
                  <a:rPr lang="zh-CN" altLang="en-US" sz="2000" dirty="0">
                    <a:latin typeface="宋体" panose="02010600030101010101" pitchFamily="2" charset="-122"/>
                    <a:ea typeface="宋体" panose="02010600030101010101" pitchFamily="2" charset="-122"/>
                  </a:rPr>
                  <a:t>一样对任何明文</a:t>
                </a:r>
                <a14:m>
                  <m:oMath xmlns:m="http://schemas.openxmlformats.org/officeDocument/2006/math">
                    <m:sSup>
                      <m:sSupPr>
                        <m:ctrlPr>
                          <a:rPr lang="zh-CN" altLang="en-US" sz="2000" i="1">
                            <a:solidFill>
                              <a:srgbClr val="836967"/>
                            </a:solidFill>
                            <a:latin typeface="Cambria Math" panose="02040503050406030204" pitchFamily="18" charset="0"/>
                          </a:rPr>
                        </m:ctrlPr>
                      </m:sSupPr>
                      <m:e>
                        <m:r>
                          <a:rPr lang="zh-CN" altLang="en-US" sz="2000" i="1">
                            <a:solidFill>
                              <a:srgbClr val="836967"/>
                            </a:solidFill>
                            <a:latin typeface="Cambria Math" panose="02040503050406030204" pitchFamily="18" charset="0"/>
                          </a:rPr>
                          <m:t>𝑚</m:t>
                        </m:r>
                      </m:e>
                      <m:sup>
                        <m:r>
                          <a:rPr lang="zh-CN" altLang="en-US" sz="2000" i="1">
                            <a:solidFill>
                              <a:srgbClr val="836967"/>
                            </a:solidFill>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进行加密： </a:t>
                </a:r>
                <a14:m>
                  <m:oMath xmlns:m="http://schemas.openxmlformats.org/officeDocument/2006/math">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𝑐</m:t>
                        </m:r>
                      </m:e>
                      <m:sup>
                        <m:r>
                          <a:rPr lang="zh-CN" altLang="en-US" sz="2000">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𝐸</m:t>
                    </m:r>
                    <m:r>
                      <a:rPr lang="en-US" altLang="zh-CN" sz="2000" i="1">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𝑚</m:t>
                        </m:r>
                      </m:e>
                      <m:sup>
                        <m:r>
                          <a:rPr lang="zh-CN" altLang="en-US" sz="2000">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𝑧</m:t>
                    </m:r>
                    <m:r>
                      <a:rPr lang="en-US" altLang="zh-CN" sz="2000" i="1">
                        <a:latin typeface="Cambria Math" panose="02040503050406030204" pitchFamily="18" charset="0"/>
                      </a:rPr>
                      <m:t>)</m:t>
                    </m:r>
                  </m:oMath>
                </a14:m>
                <a:r>
                  <a:rPr lang="zh-CN" altLang="en-US" sz="2000" dirty="0"/>
                  <a:t>。</a:t>
                </a:r>
              </a:p>
            </p:txBody>
          </p:sp>
        </mc:Choice>
        <mc:Fallback xmlns="">
          <p:sp>
            <p:nvSpPr>
              <p:cNvPr id="11" name="内容占位符 2">
                <a:extLst>
                  <a:ext uri="{FF2B5EF4-FFF2-40B4-BE49-F238E27FC236}">
                    <a16:creationId xmlns:a16="http://schemas.microsoft.com/office/drawing/2014/main" id="{BF7C3B35-17AD-C1D2-D492-C4A854BB3F71}"/>
                  </a:ext>
                </a:extLst>
              </p:cNvPr>
              <p:cNvSpPr txBox="1">
                <a:spLocks noRot="1" noChangeAspect="1" noMove="1" noResize="1" noEditPoints="1" noAdjustHandles="1" noChangeArrowheads="1" noChangeShapeType="1" noTextEdit="1"/>
              </p:cNvSpPr>
              <p:nvPr/>
            </p:nvSpPr>
            <p:spPr>
              <a:xfrm>
                <a:off x="6466179" y="1457946"/>
                <a:ext cx="5554172" cy="3600964"/>
              </a:xfrm>
              <a:prstGeom prst="rect">
                <a:avLst/>
              </a:prstGeom>
              <a:blipFill>
                <a:blip r:embed="rId4"/>
                <a:stretch>
                  <a:fillRect l="-1207" t="-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822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1000"/>
                                        <p:tgtEl>
                                          <p:spTgt spid="10">
                                            <p:txEl>
                                              <p:pRg st="0" end="0"/>
                                            </p:txEl>
                                          </p:spTgt>
                                        </p:tgtEl>
                                      </p:cBhvr>
                                    </p:animEffect>
                                    <p:anim calcmode="lin" valueType="num">
                                      <p:cBhvr>
                                        <p:cTn id="1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animEffect transition="in" filter="fade">
                                      <p:cBhvr>
                                        <p:cTn id="23" dur="1000"/>
                                        <p:tgtEl>
                                          <p:spTgt spid="10">
                                            <p:txEl>
                                              <p:pRg st="1" end="1"/>
                                            </p:txEl>
                                          </p:spTgt>
                                        </p:tgtEl>
                                      </p:cBhvr>
                                    </p:animEffect>
                                    <p:anim calcmode="lin" valueType="num">
                                      <p:cBhvr>
                                        <p:cTn id="24"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1000"/>
                                        <p:tgtEl>
                                          <p:spTgt spid="10">
                                            <p:txEl>
                                              <p:pRg st="2" end="2"/>
                                            </p:txEl>
                                          </p:spTgt>
                                        </p:tgtEl>
                                      </p:cBhvr>
                                    </p:animEffect>
                                    <p:anim calcmode="lin" valueType="num">
                                      <p:cBhvr>
                                        <p:cTn id="2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 calcmode="lin" valueType="num">
                                      <p:cBhvr additive="base">
                                        <p:cTn id="3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anim calcmode="lin" valueType="num">
                                      <p:cBhvr additive="base">
                                        <p:cTn id="39"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anim calcmode="lin" valueType="num">
                                      <p:cBhvr additive="base">
                                        <p:cTn id="43"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anim calcmode="lin" valueType="num">
                                      <p:cBhvr additive="base">
                                        <p:cTn id="47"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3" end="3"/>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1">
                                            <p:txEl>
                                              <p:pRg st="4" end="4"/>
                                            </p:txEl>
                                          </p:spTgt>
                                        </p:tgtEl>
                                        <p:attrNameLst>
                                          <p:attrName>style.visibility</p:attrName>
                                        </p:attrNameLst>
                                      </p:cBhvr>
                                      <p:to>
                                        <p:strVal val="visible"/>
                                      </p:to>
                                    </p:set>
                                    <p:anim calcmode="lin" valueType="num">
                                      <p:cBhvr additive="base">
                                        <p:cTn id="51"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1">
                                            <p:txEl>
                                              <p:pRg st="5" end="5"/>
                                            </p:txEl>
                                          </p:spTgt>
                                        </p:tgtEl>
                                        <p:attrNameLst>
                                          <p:attrName>style.visibility</p:attrName>
                                        </p:attrNameLst>
                                      </p:cBhvr>
                                      <p:to>
                                        <p:strVal val="visible"/>
                                      </p:to>
                                    </p:set>
                                    <p:anim calcmode="lin" valueType="num">
                                      <p:cBhvr additive="base">
                                        <p:cTn id="55"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5" name="Rectangle 3">
            <a:extLst>
              <a:ext uri="{FF2B5EF4-FFF2-40B4-BE49-F238E27FC236}">
                <a16:creationId xmlns:a16="http://schemas.microsoft.com/office/drawing/2014/main" id="{ABB4854B-3EF8-2473-D4C0-61D7F16E82C4}"/>
              </a:ext>
            </a:extLst>
          </p:cNvPr>
          <p:cNvSpPr txBox="1">
            <a:spLocks noChangeArrowheads="1"/>
          </p:cNvSpPr>
          <p:nvPr/>
        </p:nvSpPr>
        <p:spPr>
          <a:xfrm>
            <a:off x="1478997" y="1424558"/>
            <a:ext cx="9139367" cy="4440255"/>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spcBef>
                <a:spcPct val="0"/>
              </a:spcBef>
              <a:buClr>
                <a:schemeClr val="accent1">
                  <a:lumMod val="75000"/>
                </a:schemeClr>
              </a:buClr>
              <a:buSzPct val="60000"/>
              <a:buFont typeface="Wingdings" panose="05000000000000000000" pitchFamily="2" charset="2"/>
              <a:buChar char="n"/>
            </a:pPr>
            <a:endParaRPr lang="zh-CN" altLang="en-US" sz="2000" dirty="0">
              <a:latin typeface="宋体" panose="02010600030101010101" pitchFamily="2" charset="-122"/>
              <a:ea typeface="宋体" panose="02010600030101010101" pitchFamily="2" charset="-122"/>
            </a:endParaRPr>
          </a:p>
        </p:txBody>
      </p:sp>
      <p:sp>
        <p:nvSpPr>
          <p:cNvPr id="9" name="内容占位符 2">
            <a:extLst>
              <a:ext uri="{FF2B5EF4-FFF2-40B4-BE49-F238E27FC236}">
                <a16:creationId xmlns:a16="http://schemas.microsoft.com/office/drawing/2014/main" id="{9A7E3E8C-513A-FA30-B485-DB9CD35CC1E8}"/>
              </a:ext>
            </a:extLst>
          </p:cNvPr>
          <p:cNvSpPr txBox="1">
            <a:spLocks/>
          </p:cNvSpPr>
          <p:nvPr/>
        </p:nvSpPr>
        <p:spPr>
          <a:xfrm>
            <a:off x="2854127" y="4400282"/>
            <a:ext cx="8085944" cy="254495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57E0BF45-7369-4210-D28E-9E5EF4660135}"/>
                  </a:ext>
                </a:extLst>
              </p:cNvPr>
              <p:cNvSpPr txBox="1">
                <a:spLocks/>
              </p:cNvSpPr>
              <p:nvPr/>
            </p:nvSpPr>
            <p:spPr>
              <a:xfrm>
                <a:off x="1703120" y="1514507"/>
                <a:ext cx="9180227" cy="4657872"/>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zh-CN" altLang="en-US" sz="2000" dirty="0">
                    <a:latin typeface="宋体" panose="02010600030101010101" pitchFamily="2" charset="-122"/>
                    <a:ea typeface="宋体" panose="02010600030101010101" pitchFamily="2" charset="-122"/>
                  </a:rPr>
                  <a:t>还可以给更加宽松的条件。设攻击者</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获得了以往废弃的</a:t>
                </a:r>
                <a14:m>
                  <m:oMath xmlns:m="http://schemas.openxmlformats.org/officeDocument/2006/math">
                    <m:r>
                      <a:rPr lang="en-US" altLang="zh-CN" sz="2000" i="1" dirty="0">
                        <a:latin typeface="Cambria Math" panose="02040503050406030204" pitchFamily="18" charset="0"/>
                        <a:ea typeface="宋体" panose="02010600030101010101" pitchFamily="2" charset="-122"/>
                      </a:rPr>
                      <m:t>𝑛</m:t>
                    </m:r>
                  </m:oMath>
                </a14:m>
                <a:r>
                  <a:rPr lang="zh-CN" altLang="en-US" sz="2000" dirty="0">
                    <a:latin typeface="宋体" panose="02010600030101010101" pitchFamily="2" charset="-122"/>
                    <a:ea typeface="宋体" panose="02010600030101010101" pitchFamily="2" charset="-122"/>
                  </a:rPr>
                  <a:t>组明文</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密文对：</a:t>
                </a:r>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1</m:t>
                              </m:r>
                            </m:sub>
                          </m:sSub>
                        </m:e>
                      </m:d>
                      <m:r>
                        <a:rPr lang="en-US" altLang="zh-CN" sz="2000" i="1">
                          <a:latin typeface="Cambria Math" panose="02040503050406030204" pitchFamily="18" charset="0"/>
                          <a:ea typeface="宋体" panose="02010600030101010101" pitchFamily="2" charset="-122"/>
                        </a:rPr>
                        <m:t>,</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2</m:t>
                              </m:r>
                            </m:sub>
                          </m:sSub>
                        </m:e>
                      </m:d>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Cambria Math" panose="02040503050406030204" pitchFamily="18" charset="0"/>
                        </a:rPr>
                        <m:t>⋯,</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𝑛</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𝑛</m:t>
                              </m:r>
                            </m:sub>
                          </m:sSub>
                        </m:e>
                      </m:d>
                    </m:oMath>
                  </m:oMathPara>
                </a14:m>
                <a:endParaRPr lang="en-US" altLang="zh-CN" sz="2000" dirty="0">
                  <a:latin typeface="宋体" panose="02010600030101010101" pitchFamily="2" charset="-122"/>
                  <a:ea typeface="宋体" panose="02010600030101010101" pitchFamily="2" charset="-122"/>
                </a:endParaRPr>
              </a:p>
              <a:p>
                <a:pPr marL="0" indent="0">
                  <a:lnSpc>
                    <a:spcPct val="110000"/>
                  </a:lnSpc>
                  <a:buNone/>
                </a:pPr>
                <a:r>
                  <a:rPr lang="zh-CN" altLang="en-US" sz="2000" dirty="0">
                    <a:latin typeface="宋体" panose="02010600030101010101" pitchFamily="2" charset="-122"/>
                    <a:ea typeface="宋体" panose="02010600030101010101" pitchFamily="2" charset="-122"/>
                  </a:rPr>
                  <a:t>于是</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获得了关于解密密钥</a:t>
                </a:r>
                <a:r>
                  <a:rPr lang="en-US" altLang="zh-CN" sz="2000" dirty="0">
                    <a:latin typeface="宋体" panose="02010600030101010101" pitchFamily="2" charset="-122"/>
                    <a:ea typeface="宋体" panose="02010600030101010101" pitchFamily="2" charset="-122"/>
                  </a:rPr>
                  <a:t>k</a:t>
                </a:r>
                <a:r>
                  <a:rPr lang="zh-CN" altLang="en-US" sz="2000" dirty="0">
                    <a:latin typeface="宋体" panose="02010600030101010101" pitchFamily="2" charset="-122"/>
                    <a:ea typeface="宋体" panose="02010600030101010101" pitchFamily="2" charset="-122"/>
                  </a:rPr>
                  <a:t>的方程组：</a:t>
                </a:r>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𝐷</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𝑘</m:t>
                          </m:r>
                        </m:e>
                      </m:d>
                      <m:r>
                        <a:rPr lang="en-US" altLang="zh-CN" sz="2000" i="1">
                          <a:latin typeface="Cambria Math" panose="02040503050406030204" pitchFamily="18" charset="0"/>
                          <a:ea typeface="宋体" panose="02010600030101010101" pitchFamily="2" charset="-122"/>
                        </a:rPr>
                        <m:t>, </m:t>
                      </m:r>
                    </m:oMath>
                  </m:oMathPara>
                </a14:m>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𝐷</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𝑘</m:t>
                          </m:r>
                        </m:e>
                      </m:d>
                      <m:r>
                        <a:rPr lang="en-US" altLang="zh-CN" sz="2000" i="1">
                          <a:latin typeface="Cambria Math" panose="02040503050406030204" pitchFamily="18" charset="0"/>
                          <a:ea typeface="宋体" panose="02010600030101010101" pitchFamily="2" charset="-122"/>
                        </a:rPr>
                        <m:t>,</m:t>
                      </m:r>
                    </m:oMath>
                  </m:oMathPara>
                </a14:m>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宋体" panose="02010600030101010101" pitchFamily="2" charset="-122"/>
                        </a:rPr>
                        <m:t>,</m:t>
                      </m:r>
                    </m:oMath>
                  </m:oMathPara>
                </a14:m>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𝑚</m:t>
                          </m:r>
                        </m:e>
                        <m:sub>
                          <m:r>
                            <a:rPr lang="en-US" altLang="zh-CN" sz="2000" i="1">
                              <a:latin typeface="Cambria Math" panose="02040503050406030204" pitchFamily="18" charset="0"/>
                              <a:ea typeface="宋体" panose="02010600030101010101" pitchFamily="2" charset="-122"/>
                            </a:rPr>
                            <m:t>𝑛</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𝐷</m:t>
                      </m:r>
                      <m:d>
                        <m:dPr>
                          <m:ctrlPr>
                            <a:rPr lang="en-US" altLang="zh-CN" sz="2000" i="1">
                              <a:latin typeface="Cambria Math" panose="02040503050406030204" pitchFamily="18" charset="0"/>
                              <a:ea typeface="宋体" panose="02010600030101010101" pitchFamily="2" charset="-122"/>
                            </a:rPr>
                          </m:ctrlPr>
                        </m:dPr>
                        <m:e>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𝑐</m:t>
                              </m:r>
                            </m:e>
                            <m:sub>
                              <m:r>
                                <a:rPr lang="en-US" altLang="zh-CN" sz="2000" i="1">
                                  <a:latin typeface="Cambria Math" panose="02040503050406030204" pitchFamily="18" charset="0"/>
                                  <a:ea typeface="宋体" panose="02010600030101010101" pitchFamily="2" charset="-122"/>
                                </a:rPr>
                                <m:t>𝑛</m:t>
                              </m:r>
                            </m:sub>
                          </m:sSub>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𝑘</m:t>
                          </m:r>
                        </m:e>
                      </m:d>
                      <m:r>
                        <a:rPr lang="zh-CN" altLang="en-US" sz="2000" i="1">
                          <a:latin typeface="Cambria Math" panose="02040503050406030204" pitchFamily="18" charset="0"/>
                          <a:ea typeface="宋体" panose="02010600030101010101" pitchFamily="2" charset="-122"/>
                        </a:rPr>
                        <m:t>。</m:t>
                      </m:r>
                    </m:oMath>
                  </m:oMathPara>
                </a14:m>
                <a:endParaRPr lang="en-US" altLang="zh-CN" sz="2000" dirty="0">
                  <a:latin typeface="宋体" panose="02010600030101010101" pitchFamily="2" charset="-122"/>
                  <a:ea typeface="宋体" panose="02010600030101010101" pitchFamily="2" charset="-122"/>
                </a:endParaRPr>
              </a:p>
              <a:p>
                <a:pPr marL="0" indent="0">
                  <a:lnSpc>
                    <a:spcPct val="110000"/>
                  </a:lnSpc>
                  <a:buNone/>
                </a:pPr>
                <a14:m>
                  <m:oMathPara xmlns:m="http://schemas.openxmlformats.org/officeDocument/2006/math">
                    <m:oMathParaPr>
                      <m:jc m:val="centerGroup"/>
                    </m:oMathParaPr>
                    <m:oMath xmlns:m="http://schemas.openxmlformats.org/officeDocument/2006/math">
                      <m:r>
                        <a:rPr lang="zh-CN" altLang="en-US" sz="2000" i="1" dirty="0">
                          <a:latin typeface="Cambria Math" panose="02040503050406030204" pitchFamily="18" charset="0"/>
                          <a:ea typeface="宋体" panose="02010600030101010101" pitchFamily="2" charset="-122"/>
                        </a:rPr>
                        <m:t>（</m:t>
                      </m:r>
                      <m:r>
                        <a:rPr lang="en-US" altLang="zh-CN" sz="2000" i="1" dirty="0">
                          <a:latin typeface="Cambria Math" panose="02040503050406030204" pitchFamily="18" charset="0"/>
                          <a:ea typeface="宋体" panose="02010600030101010101" pitchFamily="2" charset="-122"/>
                        </a:rPr>
                        <m:t>𝑛</m:t>
                      </m:r>
                      <m:r>
                        <a:rPr lang="zh-CN" altLang="en-US" sz="2000" i="1" dirty="0">
                          <a:latin typeface="Cambria Math" panose="02040503050406030204" pitchFamily="18" charset="0"/>
                          <a:ea typeface="宋体" panose="02010600030101010101" pitchFamily="2" charset="-122"/>
                        </a:rPr>
                        <m:t>越大，解密密钥</m:t>
                      </m:r>
                      <m:r>
                        <a:rPr lang="en-US" altLang="zh-CN" sz="2000" i="1" dirty="0">
                          <a:latin typeface="Cambria Math" panose="02040503050406030204" pitchFamily="18" charset="0"/>
                          <a:ea typeface="宋体" panose="02010600030101010101" pitchFamily="2" charset="-122"/>
                        </a:rPr>
                        <m:t>𝑘</m:t>
                      </m:r>
                      <m:r>
                        <a:rPr lang="zh-CN" altLang="en-US" sz="2000" i="1" dirty="0">
                          <a:latin typeface="Cambria Math" panose="02040503050406030204" pitchFamily="18" charset="0"/>
                          <a:ea typeface="宋体" panose="02010600030101010101" pitchFamily="2" charset="-122"/>
                        </a:rPr>
                        <m:t>就越容易确定。）</m:t>
                      </m:r>
                    </m:oMath>
                  </m:oMathPara>
                </a14:m>
                <a:endParaRPr lang="zh-CN" altLang="en-US" sz="2000" dirty="0">
                  <a:latin typeface="宋体" panose="02010600030101010101" pitchFamily="2" charset="-122"/>
                  <a:ea typeface="宋体" panose="02010600030101010101" pitchFamily="2" charset="-122"/>
                </a:endParaRPr>
              </a:p>
            </p:txBody>
          </p:sp>
        </mc:Choice>
        <mc:Fallback xmlns="">
          <p:sp>
            <p:nvSpPr>
              <p:cNvPr id="12" name="内容占位符 2">
                <a:extLst>
                  <a:ext uri="{FF2B5EF4-FFF2-40B4-BE49-F238E27FC236}">
                    <a16:creationId xmlns:a16="http://schemas.microsoft.com/office/drawing/2014/main" id="{57E0BF45-7369-4210-D28E-9E5EF4660135}"/>
                  </a:ext>
                </a:extLst>
              </p:cNvPr>
              <p:cNvSpPr txBox="1">
                <a:spLocks noRot="1" noChangeAspect="1" noMove="1" noResize="1" noEditPoints="1" noAdjustHandles="1" noChangeArrowheads="1" noChangeShapeType="1" noTextEdit="1"/>
              </p:cNvSpPr>
              <p:nvPr/>
            </p:nvSpPr>
            <p:spPr>
              <a:xfrm>
                <a:off x="1703120" y="1514507"/>
                <a:ext cx="9180227" cy="4657872"/>
              </a:xfrm>
              <a:prstGeom prst="rect">
                <a:avLst/>
              </a:prstGeom>
              <a:blipFill>
                <a:blip r:embed="rId3"/>
                <a:stretch>
                  <a:fillRect l="-664" t="-9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19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901F753C-B5AF-6C06-5A93-9C3D1E9CDF03}"/>
                  </a:ext>
                </a:extLst>
              </p:cNvPr>
              <p:cNvSpPr txBox="1">
                <a:spLocks/>
              </p:cNvSpPr>
              <p:nvPr/>
            </p:nvSpPr>
            <p:spPr>
              <a:xfrm>
                <a:off x="357923" y="1068617"/>
                <a:ext cx="5423051" cy="4351339"/>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dirty="0">
                    <a:latin typeface="宋体" panose="02010600030101010101" pitchFamily="2" charset="-122"/>
                    <a:ea typeface="宋体" panose="02010600030101010101" pitchFamily="2" charset="-122"/>
                  </a:rPr>
                  <a:t>以上就是已知明文攻击</a:t>
                </a:r>
                <a:endParaRPr lang="en-US" altLang="zh-CN" sz="2400" dirty="0">
                  <a:latin typeface="宋体" panose="02010600030101010101" pitchFamily="2" charset="-122"/>
                  <a:ea typeface="宋体" panose="02010600030101010101" pitchFamily="2" charset="-122"/>
                </a:endParaRPr>
              </a:p>
              <a:p>
                <a:pPr marL="0" indent="0">
                  <a:lnSpc>
                    <a:spcPct val="100000"/>
                  </a:lnSpc>
                  <a:buNone/>
                </a:pPr>
                <a:r>
                  <a:rPr lang="zh-CN" altLang="en-US" sz="2400" dirty="0">
                    <a:latin typeface="宋体" panose="02010600030101010101" pitchFamily="2" charset="-122"/>
                    <a:ea typeface="宋体" panose="02010600030101010101" pitchFamily="2" charset="-122"/>
                  </a:rPr>
                  <a:t>要抵抗已知明文攻击，必须精心地设计加解密算法</a:t>
                </a:r>
                <a14:m>
                  <m:oMath xmlns:m="http://schemas.openxmlformats.org/officeDocument/2006/math">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𝐸</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𝐷</m:t>
                    </m:r>
                    <m:r>
                      <a:rPr lang="en-US" altLang="zh-CN" sz="2400" i="1" dirty="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0" indent="0">
                  <a:lnSpc>
                    <a:spcPct val="100000"/>
                  </a:lnSpc>
                  <a:buNone/>
                </a:pP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1 </a:t>
                </a:r>
                <a:r>
                  <a:rPr lang="zh-CN" altLang="en-US" sz="2400" dirty="0">
                    <a:latin typeface="宋体" panose="02010600030101010101" pitchFamily="2" charset="-122"/>
                    <a:ea typeface="宋体" panose="02010600030101010101" pitchFamily="2" charset="-122"/>
                  </a:rPr>
                  <a:t>设：加密密钥等于解密密钥：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𝑧</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𝑘</m:t>
                    </m:r>
                  </m:oMath>
                </a14:m>
                <a:r>
                  <a:rPr lang="zh-CN" altLang="en-US" sz="2400" dirty="0">
                    <a:latin typeface="宋体" panose="02010600030101010101" pitchFamily="2" charset="-122"/>
                    <a:ea typeface="宋体" panose="02010600030101010101" pitchFamily="2" charset="-122"/>
                  </a:rPr>
                  <a:t>；加密算法为</a:t>
                </a:r>
                <a14:m>
                  <m:oMath xmlns:m="http://schemas.openxmlformats.org/officeDocument/2006/math">
                    <m:r>
                      <a:rPr lang="en-US" altLang="zh-CN" sz="2400" i="1" dirty="0">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m:t>
                    </m:r>
                    <m:r>
                      <a:rPr lang="en-US" altLang="zh-CN" sz="2400" i="1" dirty="0" err="1">
                        <a:latin typeface="Cambria Math" panose="02040503050406030204" pitchFamily="18" charset="0"/>
                        <a:ea typeface="宋体" panose="02010600030101010101" pitchFamily="2" charset="-122"/>
                      </a:rPr>
                      <m:t>𝑚</m:t>
                    </m:r>
                    <m:r>
                      <a:rPr lang="en-US" altLang="zh-CN" sz="2400" i="1" dirty="0" err="1">
                        <a:latin typeface="Cambria Math" panose="02040503050406030204" pitchFamily="18" charset="0"/>
                        <a:ea typeface="宋体" panose="02010600030101010101" pitchFamily="2" charset="-122"/>
                      </a:rPr>
                      <m:t>+</m:t>
                    </m:r>
                    <m:r>
                      <a:rPr lang="en-US" altLang="zh-CN" sz="2400" i="1" dirty="0" err="1">
                        <a:latin typeface="Cambria Math" panose="02040503050406030204" pitchFamily="18" charset="0"/>
                        <a:ea typeface="宋体" panose="02010600030101010101" pitchFamily="2" charset="-122"/>
                      </a:rPr>
                      <m:t>𝑧</m:t>
                    </m:r>
                  </m:oMath>
                </a14:m>
                <a:r>
                  <a:rPr lang="zh-CN" altLang="en-US" sz="2400" dirty="0">
                    <a:latin typeface="宋体" panose="02010600030101010101" pitchFamily="2" charset="-122"/>
                    <a:ea typeface="宋体" panose="02010600030101010101" pitchFamily="2" charset="-122"/>
                  </a:rPr>
                  <a:t>；对应的解密算法为</a:t>
                </a:r>
                <a14:m>
                  <m:oMath xmlns:m="http://schemas.openxmlformats.org/officeDocument/2006/math">
                    <m:r>
                      <a:rPr lang="en-US" altLang="zh-CN" sz="2400" i="1" dirty="0">
                        <a:latin typeface="Cambria Math" panose="02040503050406030204" pitchFamily="18" charset="0"/>
                        <a:ea typeface="宋体" panose="02010600030101010101" pitchFamily="2" charset="-122"/>
                      </a:rPr>
                      <m:t>𝑚</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𝑘</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𝑧</m:t>
                    </m:r>
                  </m:oMath>
                </a14:m>
                <a:r>
                  <a:rPr lang="zh-CN" altLang="en-US" sz="2400" dirty="0">
                    <a:latin typeface="宋体" panose="02010600030101010101" pitchFamily="2" charset="-122"/>
                    <a:ea typeface="宋体" panose="02010600030101010101" pitchFamily="2" charset="-122"/>
                  </a:rPr>
                  <a:t>。（普通加减法）</a:t>
                </a:r>
                <a:endParaRPr lang="en-US" altLang="zh-CN" sz="2400" dirty="0">
                  <a:latin typeface="宋体" panose="02010600030101010101" pitchFamily="2" charset="-122"/>
                  <a:ea typeface="宋体" panose="02010600030101010101" pitchFamily="2" charset="-122"/>
                </a:endParaRPr>
              </a:p>
              <a:p>
                <a:pPr marL="0" indent="0">
                  <a:lnSpc>
                    <a:spcPct val="100000"/>
                  </a:lnSpc>
                  <a:buNone/>
                </a:pPr>
                <a:r>
                  <a:rPr lang="zh-CN" altLang="en-US" sz="2400" dirty="0">
                    <a:latin typeface="宋体" panose="02010600030101010101" pitchFamily="2" charset="-122"/>
                    <a:ea typeface="宋体" panose="02010600030101010101" pitchFamily="2" charset="-122"/>
                  </a:rPr>
                  <a:t>注意到此时</a:t>
                </a:r>
                <a14:m>
                  <m:oMath xmlns:m="http://schemas.openxmlformats.org/officeDocument/2006/math">
                    <m:r>
                      <a:rPr lang="en-US" altLang="zh-CN" sz="2400" i="1" dirty="0">
                        <a:latin typeface="Cambria Math" panose="02040503050406030204" pitchFamily="18" charset="0"/>
                        <a:ea typeface="宋体" panose="02010600030101010101" pitchFamily="2" charset="-122"/>
                      </a:rPr>
                      <m:t>𝑘</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𝑚</m:t>
                    </m:r>
                  </m:oMath>
                </a14:m>
                <a:r>
                  <a:rPr lang="zh-CN" altLang="en-US" sz="2400" dirty="0">
                    <a:latin typeface="宋体" panose="02010600030101010101" pitchFamily="2" charset="-122"/>
                    <a:ea typeface="宋体" panose="02010600030101010101" pitchFamily="2" charset="-122"/>
                  </a:rPr>
                  <a:t>。这就是说，只要知道了一组明文</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密文对</a:t>
                </a:r>
                <a14:m>
                  <m:oMath xmlns:m="http://schemas.openxmlformats.org/officeDocument/2006/math">
                    <m:r>
                      <a:rPr lang="en-US" altLang="zh-CN" sz="2400" i="1" dirty="0">
                        <a:latin typeface="Cambria Math" panose="02040503050406030204" pitchFamily="18" charset="0"/>
                        <a:ea typeface="宋体" panose="02010600030101010101" pitchFamily="2" charset="-122"/>
                      </a:rPr>
                      <m:t>(</m:t>
                    </m:r>
                    <m:r>
                      <a:rPr lang="en-US" altLang="zh-CN" sz="2400" i="1" dirty="0" err="1">
                        <a:latin typeface="Cambria Math" panose="02040503050406030204" pitchFamily="18" charset="0"/>
                        <a:ea typeface="宋体" panose="02010600030101010101" pitchFamily="2" charset="-122"/>
                      </a:rPr>
                      <m:t>𝑚</m:t>
                    </m:r>
                    <m:r>
                      <a:rPr lang="en-US" altLang="zh-CN" sz="2400" i="1" dirty="0" err="1">
                        <a:latin typeface="Cambria Math" panose="02040503050406030204" pitchFamily="18" charset="0"/>
                        <a:ea typeface="宋体" panose="02010600030101010101" pitchFamily="2" charset="-122"/>
                      </a:rPr>
                      <m:t>,</m:t>
                    </m:r>
                    <m:r>
                      <a:rPr lang="en-US" altLang="zh-CN" sz="2400" i="1" dirty="0" err="1">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，就能计算出解密密钥</a:t>
                </a:r>
                <a14:m>
                  <m:oMath xmlns:m="http://schemas.openxmlformats.org/officeDocument/2006/math">
                    <m:r>
                      <a:rPr lang="en-US" altLang="zh-CN" sz="2400" i="1" dirty="0">
                        <a:latin typeface="Cambria Math" panose="02040503050406030204" pitchFamily="18" charset="0"/>
                        <a:ea typeface="宋体" panose="02010600030101010101" pitchFamily="2" charset="-122"/>
                      </a:rPr>
                      <m:t>𝑘</m:t>
                    </m:r>
                  </m:oMath>
                </a14:m>
                <a:r>
                  <a:rPr lang="zh-CN" altLang="en-US" sz="2400" dirty="0">
                    <a:latin typeface="宋体" panose="02010600030101010101" pitchFamily="2" charset="-122"/>
                    <a:ea typeface="宋体" panose="02010600030101010101" pitchFamily="2" charset="-122"/>
                  </a:rPr>
                  <a:t>。</a:t>
                </a:r>
              </a:p>
            </p:txBody>
          </p:sp>
        </mc:Choice>
        <mc:Fallback xmlns="">
          <p:sp>
            <p:nvSpPr>
              <p:cNvPr id="7" name="内容占位符 2">
                <a:extLst>
                  <a:ext uri="{FF2B5EF4-FFF2-40B4-BE49-F238E27FC236}">
                    <a16:creationId xmlns:a16="http://schemas.microsoft.com/office/drawing/2014/main" id="{901F753C-B5AF-6C06-5A93-9C3D1E9CDF03}"/>
                  </a:ext>
                </a:extLst>
              </p:cNvPr>
              <p:cNvSpPr txBox="1">
                <a:spLocks noRot="1" noChangeAspect="1" noMove="1" noResize="1" noEditPoints="1" noAdjustHandles="1" noChangeArrowheads="1" noChangeShapeType="1" noTextEdit="1"/>
              </p:cNvSpPr>
              <p:nvPr/>
            </p:nvSpPr>
            <p:spPr>
              <a:xfrm>
                <a:off x="357923" y="1068617"/>
                <a:ext cx="5423051" cy="4351339"/>
              </a:xfrm>
              <a:prstGeom prst="rect">
                <a:avLst/>
              </a:prstGeom>
              <a:blipFill>
                <a:blip r:embed="rId3"/>
                <a:stretch>
                  <a:fillRect l="-1800" t="-1120" r="-9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2 </a:t>
                </a:r>
                <a:r>
                  <a:rPr lang="zh-CN" altLang="en-US" sz="2400" dirty="0">
                    <a:latin typeface="宋体" panose="02010600030101010101" pitchFamily="2" charset="-122"/>
                    <a:ea typeface="宋体" panose="02010600030101010101" pitchFamily="2" charset="-122"/>
                  </a:rPr>
                  <a:t>设：加密密钥等于解密密钥，</a:t>
                </a:r>
                <a14:m>
                  <m:oMath xmlns:m="http://schemas.openxmlformats.org/officeDocument/2006/math">
                    <m:r>
                      <a:rPr lang="en-US" altLang="zh-CN" sz="2400" i="1">
                        <a:latin typeface="Cambria Math" panose="02040503050406030204" pitchFamily="18" charset="0"/>
                      </a:rPr>
                      <m:t>𝑧</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；加密算法为</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r>
                          <a:rPr lang="en-US" altLang="zh-CN" sz="2400" i="1">
                            <a:latin typeface="Cambria Math" panose="02040503050406030204" pitchFamily="18" charset="0"/>
                          </a:rPr>
                          <m:t>=</m:t>
                        </m:r>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𝑚</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rPr>
                  <a:t>；对应的解密算法为</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r>
                          <a:rPr lang="en-US" altLang="zh-CN" sz="2400" i="1">
                            <a:latin typeface="Cambria Math" panose="02040503050406030204" pitchFamily="18" charset="0"/>
                          </a:rPr>
                          <m:t>=(</m:t>
                        </m:r>
                        <m:r>
                          <a:rPr lang="en-US" altLang="zh-CN" sz="2400" i="1">
                            <a:latin typeface="Cambria Math" panose="02040503050406030204" pitchFamily="18" charset="0"/>
                          </a:rPr>
                          <m:t>𝑐</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rPr>
                  <a:t>。（普通加减乘除法）</a:t>
                </a:r>
                <a:endParaRPr lang="en-US" altLang="zh-CN" sz="2400" dirty="0">
                  <a:latin typeface="宋体" panose="02010600030101010101" pitchFamily="2" charset="-122"/>
                  <a:ea typeface="宋体" panose="02010600030101010101" pitchFamily="2" charset="-122"/>
                </a:endParaRPr>
              </a:p>
              <a:p>
                <a:pPr marL="0" indent="0">
                  <a:buNone/>
                </a:pPr>
                <a:r>
                  <a:rPr lang="zh-CN" altLang="en-US" sz="2400" dirty="0">
                    <a:latin typeface="宋体" panose="02010600030101010101" pitchFamily="2" charset="-122"/>
                    <a:ea typeface="宋体" panose="02010600030101010101" pitchFamily="2" charset="-122"/>
                  </a:rPr>
                  <a:t>设攻击者</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获得了以往废除的</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组明文</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密文对：</a:t>
                </a:r>
                <a:endParaRPr lang="en-US" altLang="zh-CN" sz="2400" dirty="0">
                  <a:latin typeface="宋体" panose="02010600030101010101" pitchFamily="2" charset="-122"/>
                  <a:ea typeface="宋体" panose="02010600030101010101" pitchFamily="2" charset="-122"/>
                </a:endParaRPr>
              </a:p>
              <a:p>
                <a:pPr marL="0" indent="0" algn="ctr">
                  <a:buNone/>
                </a:pP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e>
                    </m:d>
                    <m:r>
                      <a:rPr lang="en-US" altLang="zh-CN" sz="2400" i="1">
                        <a:latin typeface="Cambria Math" panose="02040503050406030204" pitchFamily="18" charset="0"/>
                      </a:rPr>
                      <m:t>,</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2</m:t>
                            </m:r>
                          </m:sub>
                        </m:sSub>
                      </m:e>
                    </m:d>
                    <m:r>
                      <a:rPr lang="zh-CN" altLang="en-US"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注意到此时</a:t>
                </a:r>
                <a:endParaRPr lang="en-US" altLang="zh-CN" sz="2400" dirty="0">
                  <a:latin typeface="宋体" panose="02010600030101010101" pitchFamily="2" charset="-122"/>
                  <a:ea typeface="宋体" panose="02010600030101010101" pitchFamily="2" charset="-122"/>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m:oMathPara>
                </a14:m>
                <a:endParaRPr lang="en-US" altLang="zh-CN" sz="2400" dirty="0"/>
              </a:p>
              <a:p>
                <a:pPr marL="0" indent="0" algn="ctr">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zh-CN" altLang="en-US" sz="2400" i="1">
                          <a:latin typeface="Cambria Math" panose="02040503050406030204" pitchFamily="18" charset="0"/>
                        </a:rPr>
                        <m:t>。</m:t>
                      </m:r>
                    </m:oMath>
                  </m:oMathPara>
                </a14:m>
                <a:endParaRPr lang="en-US" altLang="zh-CN" sz="2400" dirty="0"/>
              </a:p>
              <a:p>
                <a:pPr marL="0" indent="0">
                  <a:buNone/>
                </a:pPr>
                <a:r>
                  <a:rPr lang="zh-CN" altLang="en-US" sz="2400" dirty="0">
                    <a:latin typeface="宋体" panose="02010600030101010101" pitchFamily="2" charset="-122"/>
                    <a:ea typeface="宋体" panose="02010600030101010101" pitchFamily="2" charset="-122"/>
                  </a:rPr>
                  <a:t>这是一个关于密钥</a:t>
                </a:r>
                <a14:m>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的二元一次方程组，能计算出</a:t>
                </a:r>
                <a14:m>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oMath>
                </a14:m>
                <a:r>
                  <a:rPr lang="zh-CN" altLang="en-US" sz="2400" dirty="0"/>
                  <a:t>。</a:t>
                </a:r>
              </a:p>
            </p:txBody>
          </p:sp>
        </mc:Choice>
        <mc:Fallback xmlns="">
          <p:sp>
            <p:nvSpPr>
              <p:cNvPr id="8" name="内容占位符 2">
                <a:extLst>
                  <a:ext uri="{FF2B5EF4-FFF2-40B4-BE49-F238E27FC236}">
                    <a16:creationId xmlns:a16="http://schemas.microsoft.com/office/drawing/2014/main" id="{F2262AA1-950A-E15C-3CEB-264DC9E49EEC}"/>
                  </a:ext>
                </a:extLst>
              </p:cNvPr>
              <p:cNvSpPr txBox="1">
                <a:spLocks noRot="1" noChangeAspect="1" noMove="1" noResize="1" noEditPoints="1" noAdjustHandles="1" noChangeArrowheads="1" noChangeShapeType="1" noTextEdit="1"/>
              </p:cNvSpPr>
              <p:nvPr/>
            </p:nvSpPr>
            <p:spPr>
              <a:xfrm>
                <a:off x="5920560" y="1068618"/>
                <a:ext cx="6163021" cy="4622015"/>
              </a:xfrm>
              <a:prstGeom prst="rect">
                <a:avLst/>
              </a:prstGeom>
              <a:blipFill>
                <a:blip r:embed="rId4"/>
                <a:stretch>
                  <a:fillRect l="-1484" t="-2240" r="-6528"/>
                </a:stretch>
              </a:blipFill>
            </p:spPr>
            <p:txBody>
              <a:bodyPr/>
              <a:lstStyle/>
              <a:p>
                <a:r>
                  <a:rPr lang="zh-CN" altLang="en-US">
                    <a:noFill/>
                  </a:rPr>
                  <a:t> </a:t>
                </a:r>
              </a:p>
            </p:txBody>
          </p:sp>
        </mc:Fallback>
      </mc:AlternateContent>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dirty="0">
                <a:latin typeface="宋体" panose="02010600030101010101" pitchFamily="2" charset="-122"/>
                <a:ea typeface="宋体" panose="02010600030101010101" pitchFamily="2" charset="-122"/>
              </a:rPr>
              <a:t>可以看出，以上两个例子所用的加解密算法都不能抵抗已知明文攻击，因此不能用作多次一密的加解密方式。</a:t>
            </a:r>
          </a:p>
        </p:txBody>
      </p:sp>
    </p:spTree>
    <p:extLst>
      <p:ext uri="{BB962C8B-B14F-4D97-AF65-F5344CB8AC3E}">
        <p14:creationId xmlns:p14="http://schemas.microsoft.com/office/powerpoint/2010/main" val="241116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ipe(down)">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nodePh="1">
                                  <p:stCondLst>
                                    <p:cond delay="0"/>
                                  </p:stCondLst>
                                  <p:endCondLst>
                                    <p:cond evt="begin" delay="0">
                                      <p:tn val="13"/>
                                    </p:cond>
                                  </p:endCondLst>
                                  <p:childTnLst>
                                    <p:set>
                                      <p:cBhvr>
                                        <p:cTn id="14" dur="1" fill="hold">
                                          <p:stCondLst>
                                            <p:cond delay="0"/>
                                          </p:stCondLst>
                                        </p:cTn>
                                        <p:tgtEl>
                                          <p:spTgt spid="6">
                                            <p:txEl>
                                              <p:pRg st="0" end="0"/>
                                            </p:txEl>
                                          </p:spTgt>
                                        </p:tgtEl>
                                        <p:attrNameLst>
                                          <p:attrName>style.visibility</p:attrName>
                                        </p:attrNameLst>
                                      </p:cBhvr>
                                      <p:to>
                                        <p:strVal val="visible"/>
                                      </p:to>
                                    </p:set>
                                    <p:anim calcmode="lin" valueType="num">
                                      <p:cBhvr additive="base">
                                        <p:cTn id="1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wipe(down)">
                                      <p:cBhvr>
                                        <p:cTn id="19" dur="500"/>
                                        <p:tgtEl>
                                          <p:spTgt spid="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8">
                                            <p:txEl>
                                              <p:pRg st="3" end="3"/>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8">
                                            <p:txEl>
                                              <p:pRg st="4" end="4"/>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ppt_x"/>
                                          </p:val>
                                        </p:tav>
                                        <p:tav tm="100000">
                                          <p:val>
                                            <p:strVal val="#ppt_x"/>
                                          </p:val>
                                        </p:tav>
                                      </p:tavLst>
                                    </p:anim>
                                    <p:anim calcmode="lin" valueType="num">
                                      <p:cBhvr additive="base">
                                        <p:cTn id="4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7" name="内容占位符 2">
            <a:extLst>
              <a:ext uri="{FF2B5EF4-FFF2-40B4-BE49-F238E27FC236}">
                <a16:creationId xmlns:a16="http://schemas.microsoft.com/office/drawing/2014/main" id="{901F753C-B5AF-6C06-5A93-9C3D1E9CDF03}"/>
              </a:ext>
            </a:extLst>
          </p:cNvPr>
          <p:cNvSpPr txBox="1">
            <a:spLocks/>
          </p:cNvSpPr>
          <p:nvPr/>
        </p:nvSpPr>
        <p:spPr>
          <a:xfrm>
            <a:off x="357923" y="1068617"/>
            <a:ext cx="5423051" cy="4351339"/>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2FCD3684-0F37-2199-0362-D39D16A64556}"/>
                  </a:ext>
                </a:extLst>
              </p:cNvPr>
              <p:cNvSpPr txBox="1">
                <a:spLocks/>
              </p:cNvSpPr>
              <p:nvPr/>
            </p:nvSpPr>
            <p:spPr>
              <a:xfrm>
                <a:off x="2342743" y="1068617"/>
                <a:ext cx="8445708" cy="4095491"/>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宋体" panose="02010600030101010101" pitchFamily="2" charset="-122"/>
                    <a:ea typeface="宋体" panose="02010600030101010101" pitchFamily="2" charset="-122"/>
                  </a:rPr>
                  <a:t>注解三：已知明文攻击的一些弱化形式</a:t>
                </a:r>
                <a:endParaRPr lang="en-US" altLang="zh-CN" sz="2400" dirty="0">
                  <a:latin typeface="宋体" panose="02010600030101010101" pitchFamily="2" charset="-122"/>
                  <a:ea typeface="宋体" panose="02010600030101010101" pitchFamily="2" charset="-122"/>
                </a:endParaRPr>
              </a:p>
              <a:p>
                <a:pPr marL="0" indent="0">
                  <a:buNone/>
                </a:pPr>
                <a:r>
                  <a:rPr lang="zh-CN" altLang="en-US" sz="2000" dirty="0">
                    <a:latin typeface="宋体" panose="02010600030101010101" pitchFamily="2" charset="-122"/>
                    <a:ea typeface="宋体" panose="02010600030101010101" pitchFamily="2" charset="-122"/>
                  </a:rPr>
                  <a:t>设攻击者</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知道了以往的一个密文</a:t>
                </a:r>
                <a14:m>
                  <m:oMath xmlns:m="http://schemas.openxmlformats.org/officeDocument/2006/math">
                    <m:r>
                      <a:rPr lang="en-US" altLang="zh-CN" sz="2000" i="1" dirty="0">
                        <a:latin typeface="Cambria Math" panose="02040503050406030204" pitchFamily="18" charset="0"/>
                        <a:ea typeface="宋体" panose="02010600030101010101" pitchFamily="2" charset="-122"/>
                      </a:rPr>
                      <m:t>𝑐</m:t>
                    </m:r>
                  </m:oMath>
                </a14:m>
                <a:r>
                  <a:rPr lang="zh-CN" altLang="en-US" sz="2000" dirty="0">
                    <a:latin typeface="宋体" panose="02010600030101010101" pitchFamily="2" charset="-122"/>
                    <a:ea typeface="宋体" panose="02010600030101010101" pitchFamily="2" charset="-122"/>
                  </a:rPr>
                  <a:t>以及</a:t>
                </a:r>
                <a14:m>
                  <m:oMath xmlns:m="http://schemas.openxmlformats.org/officeDocument/2006/math">
                    <m:r>
                      <a:rPr lang="en-US" altLang="zh-CN" sz="2000" i="1" dirty="0">
                        <a:latin typeface="Cambria Math" panose="02040503050406030204" pitchFamily="18" charset="0"/>
                        <a:ea typeface="宋体" panose="02010600030101010101" pitchFamily="2" charset="-122"/>
                      </a:rPr>
                      <m:t>𝑐</m:t>
                    </m:r>
                  </m:oMath>
                </a14:m>
                <a:r>
                  <a:rPr lang="zh-CN" altLang="en-US" sz="2000" dirty="0">
                    <a:latin typeface="宋体" panose="02010600030101010101" pitchFamily="2" charset="-122"/>
                    <a:ea typeface="宋体" panose="02010600030101010101" pitchFamily="2" charset="-122"/>
                  </a:rPr>
                  <a:t>所对应的明文</a:t>
                </a:r>
                <a14:m>
                  <m:oMath xmlns:m="http://schemas.openxmlformats.org/officeDocument/2006/math">
                    <m:r>
                      <a:rPr lang="en-US" altLang="zh-CN" sz="2000" i="1" dirty="0">
                        <a:latin typeface="Cambria Math" panose="02040503050406030204" pitchFamily="18" charset="0"/>
                        <a:ea typeface="宋体" panose="02010600030101010101" pitchFamily="2" charset="-122"/>
                      </a:rPr>
                      <m:t>𝑚</m:t>
                    </m:r>
                  </m:oMath>
                </a14:m>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0" indent="0">
                  <a:buNone/>
                </a:pP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又截获了一个新的密文</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t>，</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视图猜测出</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所对应的明文</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en-US" altLang="zh-CN" sz="2000" i="1" dirty="0">
                            <a:solidFill>
                              <a:srgbClr val="836967"/>
                            </a:solidFill>
                            <a:latin typeface="Cambria Math" panose="02040503050406030204" pitchFamily="18" charset="0"/>
                          </a:rPr>
                          <m:t>𝑚</m:t>
                        </m:r>
                      </m:e>
                      <m:sup>
                        <m:r>
                          <a:rPr lang="zh-CN" altLang="en-US" sz="2000" dirty="0">
                            <a:latin typeface="Cambria Math" panose="02040503050406030204" pitchFamily="18" charset="0"/>
                          </a:rPr>
                          <m:t>′</m:t>
                        </m:r>
                      </m:sup>
                    </m:sSup>
                  </m:oMath>
                </a14:m>
                <a:r>
                  <a:rPr lang="zh-CN" altLang="en-US" sz="2000" dirty="0"/>
                  <a:t>。</a:t>
                </a:r>
                <a:endParaRPr lang="en-US" altLang="zh-CN" sz="2000" dirty="0"/>
              </a:p>
              <a:p>
                <a:pPr marL="0" indent="0">
                  <a:buNone/>
                </a:pPr>
                <a:r>
                  <a:rPr lang="zh-CN" altLang="en-US" sz="2000" dirty="0">
                    <a:latin typeface="宋体" panose="02010600030101010101" pitchFamily="2" charset="-122"/>
                    <a:ea typeface="宋体" panose="02010600030101010101" pitchFamily="2" charset="-122"/>
                  </a:rPr>
                  <a:t>如果加解密算法设计得“不好”，则密钥对明文的覆盖就可能出现漏洞。此时由</a:t>
                </a:r>
                <a14:m>
                  <m:oMath xmlns:m="http://schemas.openxmlformats.org/officeDocument/2006/math">
                    <m:r>
                      <a:rPr lang="en-US" altLang="zh-CN" sz="2000" i="1" dirty="0">
                        <a:latin typeface="Cambria Math" panose="02040503050406030204" pitchFamily="18" charset="0"/>
                      </a:rPr>
                      <m:t>{</m:t>
                    </m:r>
                    <m:r>
                      <a:rPr lang="en-US" altLang="zh-CN" sz="2000" i="1" dirty="0">
                        <a:latin typeface="Cambria Math" panose="02040503050406030204" pitchFamily="18" charset="0"/>
                      </a:rPr>
                      <m:t>𝑚</m:t>
                    </m:r>
                    <m:r>
                      <a:rPr lang="en-US" altLang="zh-CN" sz="2000" i="1" dirty="0">
                        <a:latin typeface="Cambria Math" panose="02040503050406030204" pitchFamily="18" charset="0"/>
                      </a:rPr>
                      <m:t>,</m:t>
                    </m:r>
                    <m:r>
                      <a:rPr lang="en-US" altLang="zh-CN" sz="2000" i="1" dirty="0">
                        <a:latin typeface="Cambria Math" panose="02040503050406030204" pitchFamily="18" charset="0"/>
                      </a:rPr>
                      <m:t>𝑐</m:t>
                    </m:r>
                    <m:r>
                      <a:rPr lang="en-US" altLang="zh-CN" sz="2000" i="1" dirty="0">
                        <a:latin typeface="Cambria Math" panose="02040503050406030204" pitchFamily="18" charset="0"/>
                      </a:rPr>
                      <m:t>,</m:t>
                    </m:r>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r>
                      <a:rPr lang="en-US" altLang="zh-CN" sz="2000" i="1" dirty="0">
                        <a:latin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rPr>
                  <a:t>猜测出</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所对应的明文</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en-US" altLang="zh-CN" sz="2000" i="1" dirty="0">
                            <a:solidFill>
                              <a:srgbClr val="836967"/>
                            </a:solidFill>
                            <a:latin typeface="Cambria Math" panose="02040503050406030204" pitchFamily="18" charset="0"/>
                          </a:rPr>
                          <m:t>𝑚</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就会变得容易得多，可能出现以下现象：</a:t>
                </a:r>
                <a:endParaRPr lang="en-US" altLang="zh-CN" sz="2000" dirty="0">
                  <a:latin typeface="宋体" panose="02010600030101010101" pitchFamily="2" charset="-122"/>
                  <a:ea typeface="宋体" panose="02010600030101010101" pitchFamily="2" charset="-122"/>
                </a:endParaRPr>
              </a:p>
            </p:txBody>
          </p:sp>
        </mc:Choice>
        <mc:Fallback xmlns="">
          <p:sp>
            <p:nvSpPr>
              <p:cNvPr id="9" name="内容占位符 2">
                <a:extLst>
                  <a:ext uri="{FF2B5EF4-FFF2-40B4-BE49-F238E27FC236}">
                    <a16:creationId xmlns:a16="http://schemas.microsoft.com/office/drawing/2014/main" id="{2FCD3684-0F37-2199-0362-D39D16A64556}"/>
                  </a:ext>
                </a:extLst>
              </p:cNvPr>
              <p:cNvSpPr txBox="1">
                <a:spLocks noRot="1" noChangeAspect="1" noMove="1" noResize="1" noEditPoints="1" noAdjustHandles="1" noChangeArrowheads="1" noChangeShapeType="1" noTextEdit="1"/>
              </p:cNvSpPr>
              <p:nvPr/>
            </p:nvSpPr>
            <p:spPr>
              <a:xfrm>
                <a:off x="2342743" y="1068617"/>
                <a:ext cx="8445708" cy="4095491"/>
              </a:xfrm>
              <a:prstGeom prst="rect">
                <a:avLst/>
              </a:prstGeom>
              <a:blipFill>
                <a:blip r:embed="rId3"/>
                <a:stretch>
                  <a:fillRect l="-1082" t="-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D02945ED-C4DD-35F5-71AF-FD18003E2841}"/>
                  </a:ext>
                </a:extLst>
              </p:cNvPr>
              <p:cNvSpPr txBox="1">
                <a:spLocks/>
              </p:cNvSpPr>
              <p:nvPr/>
            </p:nvSpPr>
            <p:spPr>
              <a:xfrm>
                <a:off x="2369814" y="3198382"/>
                <a:ext cx="8040975" cy="4698999"/>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）当</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𝑐</m:t>
                    </m:r>
                  </m:oMath>
                </a14:m>
                <a:r>
                  <a:rPr lang="zh-CN" altLang="en-US" sz="2000" dirty="0">
                    <a:latin typeface="宋体" panose="02010600030101010101" pitchFamily="2" charset="-122"/>
                    <a:ea typeface="宋体" panose="02010600030101010101" pitchFamily="2" charset="-122"/>
                  </a:rPr>
                  <a:t>的“距离很近”时，</a:t>
                </a:r>
                <a:r>
                  <a:rPr lang="zh-CN" altLang="en-US" sz="2000" dirty="0">
                    <a:solidFill>
                      <a:srgbClr val="836967"/>
                    </a:solidFill>
                  </a:rPr>
                  <a:t> </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en-US" altLang="zh-CN" sz="2000" i="1" dirty="0">
                            <a:solidFill>
                              <a:srgbClr val="836967"/>
                            </a:solidFill>
                            <a:latin typeface="Cambria Math" panose="02040503050406030204" pitchFamily="18" charset="0"/>
                          </a:rPr>
                          <m:t>𝑚</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𝑚</m:t>
                    </m:r>
                  </m:oMath>
                </a14:m>
                <a:r>
                  <a:rPr lang="zh-CN" altLang="en-US" sz="2000" dirty="0">
                    <a:latin typeface="宋体" panose="02010600030101010101" pitchFamily="2" charset="-122"/>
                    <a:ea typeface="宋体" panose="02010600030101010101" pitchFamily="2" charset="-122"/>
                  </a:rPr>
                  <a:t>也“距离很近”，而无论密钥是什么值。</a:t>
                </a:r>
                <a:endParaRPr lang="en-US" altLang="zh-CN" sz="2000" dirty="0">
                  <a:latin typeface="宋体" panose="02010600030101010101" pitchFamily="2" charset="-122"/>
                  <a:ea typeface="宋体" panose="02010600030101010101" pitchFamily="2" charset="-122"/>
                </a:endParaRPr>
              </a:p>
              <a:p>
                <a:pPr marL="0" indent="0">
                  <a:lnSpc>
                    <a:spcPct val="100000"/>
                  </a:lnSpc>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）当</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𝑐</m:t>
                    </m:r>
                  </m:oMath>
                </a14:m>
                <a:r>
                  <a:rPr lang="zh-CN" altLang="en-US" sz="2000" dirty="0">
                    <a:latin typeface="宋体" panose="02010600030101010101" pitchFamily="2" charset="-122"/>
                    <a:ea typeface="宋体" panose="02010600030101010101" pitchFamily="2" charset="-122"/>
                  </a:rPr>
                  <a:t>具有某种固定的关系</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时，</a:t>
                </a:r>
                <a:r>
                  <a:rPr lang="zh-CN" altLang="en-US" sz="2000" dirty="0">
                    <a:solidFill>
                      <a:srgbClr val="836967"/>
                    </a:solidFill>
                  </a:rPr>
                  <a:t> </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en-US" altLang="zh-CN" sz="2000" i="1" dirty="0">
                            <a:solidFill>
                              <a:srgbClr val="836967"/>
                            </a:solidFill>
                            <a:latin typeface="Cambria Math" panose="02040503050406030204" pitchFamily="18" charset="0"/>
                          </a:rPr>
                          <m:t>𝑚</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𝑚</m:t>
                    </m:r>
                  </m:oMath>
                </a14:m>
                <a:r>
                  <a:rPr lang="zh-CN" altLang="en-US" sz="2000" dirty="0">
                    <a:latin typeface="宋体" panose="02010600030101010101" pitchFamily="2" charset="-122"/>
                    <a:ea typeface="宋体" panose="02010600030101010101" pitchFamily="2" charset="-122"/>
                  </a:rPr>
                  <a:t>具有某种关系</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，而无论密钥是什么值。</a:t>
                </a:r>
                <a:endParaRPr lang="en-US" altLang="zh-CN" sz="2000" dirty="0">
                  <a:latin typeface="宋体" panose="02010600030101010101" pitchFamily="2" charset="-122"/>
                  <a:ea typeface="宋体" panose="02010600030101010101" pitchFamily="2" charset="-122"/>
                </a:endParaRPr>
              </a:p>
              <a:p>
                <a:pPr marL="0" indent="0">
                  <a:lnSpc>
                    <a:spcPct val="100000"/>
                  </a:lnSpc>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）当</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zh-CN" altLang="en-US" sz="2000" i="1" dirty="0">
                            <a:latin typeface="Cambria Math" panose="02040503050406030204" pitchFamily="18" charset="0"/>
                          </a:rPr>
                          <m:t>𝑐</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𝑐</m:t>
                    </m:r>
                  </m:oMath>
                </a14:m>
                <a:r>
                  <a:rPr lang="zh-CN" altLang="en-US" sz="2000" dirty="0">
                    <a:latin typeface="宋体" panose="02010600030101010101" pitchFamily="2" charset="-122"/>
                    <a:ea typeface="宋体" panose="02010600030101010101" pitchFamily="2" charset="-122"/>
                  </a:rPr>
                  <a:t>具有某种固定的关系</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时，</a:t>
                </a:r>
                <a:r>
                  <a:rPr lang="zh-CN" altLang="en-US" sz="2000" dirty="0">
                    <a:solidFill>
                      <a:srgbClr val="836967"/>
                    </a:solidFill>
                  </a:rPr>
                  <a:t> </a:t>
                </a:r>
                <a14:m>
                  <m:oMath xmlns:m="http://schemas.openxmlformats.org/officeDocument/2006/math">
                    <m:sSup>
                      <m:sSupPr>
                        <m:ctrlPr>
                          <a:rPr lang="zh-CN" altLang="en-US" sz="2000" i="1" dirty="0">
                            <a:solidFill>
                              <a:srgbClr val="836967"/>
                            </a:solidFill>
                            <a:latin typeface="Cambria Math" panose="02040503050406030204" pitchFamily="18" charset="0"/>
                          </a:rPr>
                        </m:ctrlPr>
                      </m:sSupPr>
                      <m:e>
                        <m:r>
                          <a:rPr lang="en-US" altLang="zh-CN" sz="2000" i="1" dirty="0">
                            <a:solidFill>
                              <a:srgbClr val="836967"/>
                            </a:solidFill>
                            <a:latin typeface="Cambria Math" panose="02040503050406030204" pitchFamily="18" charset="0"/>
                          </a:rPr>
                          <m:t>𝑚</m:t>
                        </m:r>
                      </m:e>
                      <m:sup>
                        <m:r>
                          <a:rPr lang="zh-CN" altLang="en-US" sz="2000" dirty="0">
                            <a:latin typeface="Cambria Math" panose="02040503050406030204" pitchFamily="18" charset="0"/>
                          </a:rPr>
                          <m:t>′</m:t>
                        </m:r>
                      </m:sup>
                    </m:sSup>
                  </m:oMath>
                </a14:m>
                <a:r>
                  <a:rPr lang="zh-CN" altLang="en-US" sz="2000" dirty="0">
                    <a:latin typeface="宋体" panose="02010600030101010101" pitchFamily="2" charset="-122"/>
                    <a:ea typeface="宋体" panose="02010600030101010101" pitchFamily="2" charset="-122"/>
                  </a:rPr>
                  <a:t>与</a:t>
                </a:r>
                <a14:m>
                  <m:oMath xmlns:m="http://schemas.openxmlformats.org/officeDocument/2006/math">
                    <m:r>
                      <a:rPr lang="en-US" altLang="zh-CN" sz="2000" i="1" dirty="0">
                        <a:latin typeface="Cambria Math" panose="02040503050406030204" pitchFamily="18" charset="0"/>
                      </a:rPr>
                      <m:t>𝑚</m:t>
                    </m:r>
                  </m:oMath>
                </a14:m>
                <a:r>
                  <a:rPr lang="zh-CN" altLang="en-US" sz="2000" dirty="0">
                    <a:latin typeface="宋体" panose="02010600030101010101" pitchFamily="2" charset="-122"/>
                    <a:ea typeface="宋体" panose="02010600030101010101" pitchFamily="2" charset="-122"/>
                  </a:rPr>
                  <a:t>“以很大的概率”具有某种固定的关系</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，而无论密钥是什么值。</a:t>
                </a:r>
                <a:endParaRPr lang="en-US" altLang="zh-CN" sz="2000" dirty="0">
                  <a:latin typeface="宋体" panose="02010600030101010101" pitchFamily="2" charset="-122"/>
                  <a:ea typeface="宋体" panose="02010600030101010101" pitchFamily="2" charset="-122"/>
                </a:endParaRPr>
              </a:p>
              <a:p>
                <a:pPr marL="0" indent="0">
                  <a:lnSpc>
                    <a:spcPct val="100000"/>
                  </a:lnSpc>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）当密钥的可能变化范围（密钥量）太小时，攻击者</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可以穷举搜索密钥。</a:t>
                </a:r>
              </a:p>
            </p:txBody>
          </p:sp>
        </mc:Choice>
        <mc:Fallback xmlns="">
          <p:sp>
            <p:nvSpPr>
              <p:cNvPr id="11" name="内容占位符 2">
                <a:extLst>
                  <a:ext uri="{FF2B5EF4-FFF2-40B4-BE49-F238E27FC236}">
                    <a16:creationId xmlns:a16="http://schemas.microsoft.com/office/drawing/2014/main" id="{D02945ED-C4DD-35F5-71AF-FD18003E2841}"/>
                  </a:ext>
                </a:extLst>
              </p:cNvPr>
              <p:cNvSpPr txBox="1">
                <a:spLocks noRot="1" noChangeAspect="1" noMove="1" noResize="1" noEditPoints="1" noAdjustHandles="1" noChangeArrowheads="1" noChangeShapeType="1" noTextEdit="1"/>
              </p:cNvSpPr>
              <p:nvPr/>
            </p:nvSpPr>
            <p:spPr>
              <a:xfrm>
                <a:off x="2369814" y="3198382"/>
                <a:ext cx="8040975" cy="4698999"/>
              </a:xfrm>
              <a:prstGeom prst="rect">
                <a:avLst/>
              </a:prstGeom>
              <a:blipFill>
                <a:blip r:embed="rId4"/>
                <a:stretch>
                  <a:fillRect l="-834" t="-1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330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nodePh="1">
                                  <p:stCondLst>
                                    <p:cond delay="0"/>
                                  </p:stCondLst>
                                  <p:endCondLst>
                                    <p:cond evt="begin" delay="0">
                                      <p:tn val="10"/>
                                    </p:cond>
                                  </p:end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nodeType="clickEffect" nodePh="1">
                                  <p:stCondLst>
                                    <p:cond delay="0"/>
                                  </p:stCondLst>
                                  <p:endCondLst>
                                    <p:cond evt="begin" delay="0">
                                      <p:tn val="16"/>
                                    </p:cond>
                                  </p:endCondLst>
                                  <p:childTnLst>
                                    <p:set>
                                      <p:cBhvr>
                                        <p:cTn id="17" dur="1" fill="hold">
                                          <p:stCondLst>
                                            <p:cond delay="0"/>
                                          </p:stCondLst>
                                        </p:cTn>
                                        <p:tgtEl>
                                          <p:spTgt spid="8">
                                            <p:txEl>
                                              <p:pRg st="0" end="0"/>
                                            </p:txEl>
                                          </p:spTgt>
                                        </p:tgtEl>
                                        <p:attrNameLst>
                                          <p:attrName>style.visibility</p:attrName>
                                        </p:attrNameLst>
                                      </p:cBhvr>
                                      <p:to>
                                        <p:strVal val="visible"/>
                                      </p:to>
                                    </p:set>
                                    <p:anim calcmode="lin" valueType="num">
                                      <p:cBhvr>
                                        <p:cTn id="18"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9"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0"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1" dur="1000"/>
                                        <p:tgtEl>
                                          <p:spTgt spid="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53142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密码学的基本概念</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简单实例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7" name="内容占位符 2">
            <a:extLst>
              <a:ext uri="{FF2B5EF4-FFF2-40B4-BE49-F238E27FC236}">
                <a16:creationId xmlns:a16="http://schemas.microsoft.com/office/drawing/2014/main" id="{901F753C-B5AF-6C06-5A93-9C3D1E9CDF03}"/>
              </a:ext>
            </a:extLst>
          </p:cNvPr>
          <p:cNvSpPr txBox="1">
            <a:spLocks/>
          </p:cNvSpPr>
          <p:nvPr/>
        </p:nvSpPr>
        <p:spPr>
          <a:xfrm>
            <a:off x="357923" y="1068617"/>
            <a:ext cx="5423051" cy="4351339"/>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12" name="Rectangle 3">
            <a:extLst>
              <a:ext uri="{FF2B5EF4-FFF2-40B4-BE49-F238E27FC236}">
                <a16:creationId xmlns:a16="http://schemas.microsoft.com/office/drawing/2014/main" id="{EE5C71C8-6B78-9F5A-DEB0-67172CF2E76D}"/>
              </a:ext>
            </a:extLst>
          </p:cNvPr>
          <p:cNvSpPr txBox="1">
            <a:spLocks noChangeArrowheads="1"/>
          </p:cNvSpPr>
          <p:nvPr/>
        </p:nvSpPr>
        <p:spPr>
          <a:xfrm>
            <a:off x="1914921" y="1338482"/>
            <a:ext cx="8011279" cy="3365609"/>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10000"/>
              </a:lnSpc>
              <a:buNone/>
            </a:pPr>
            <a:r>
              <a:rPr lang="en-US" altLang="zh-CN" sz="2400" b="1" dirty="0">
                <a:latin typeface="宋体" panose="02010600030101010101" pitchFamily="2" charset="-122"/>
                <a:ea typeface="宋体" panose="02010600030101010101" pitchFamily="2" charset="-122"/>
                <a:cs typeface="Tahoma" panose="020B0604030504040204" pitchFamily="34" charset="0"/>
              </a:rPr>
              <a:t>(</a:t>
            </a:r>
            <a:r>
              <a:rPr lang="zh-CN" altLang="en-US" sz="2400" b="1" dirty="0">
                <a:latin typeface="宋体" panose="02010600030101010101" pitchFamily="2" charset="-122"/>
                <a:ea typeface="宋体" panose="02010600030101010101" pitchFamily="2" charset="-122"/>
                <a:cs typeface="Tahoma" panose="020B0604030504040204" pitchFamily="34" charset="0"/>
              </a:rPr>
              <a:t>简单介绍</a:t>
            </a:r>
            <a:r>
              <a:rPr lang="en-US" altLang="zh-CN" sz="2400" b="1" dirty="0">
                <a:latin typeface="宋体" panose="02010600030101010101" pitchFamily="2" charset="-122"/>
                <a:ea typeface="宋体" panose="02010600030101010101" pitchFamily="2" charset="-122"/>
                <a:cs typeface="Tahoma" panose="020B0604030504040204" pitchFamily="34" charset="0"/>
              </a:rPr>
              <a:t>)</a:t>
            </a:r>
            <a:r>
              <a:rPr lang="zh-CN" altLang="en-US" sz="2400" dirty="0">
                <a:latin typeface="宋体" panose="02010600030101010101" pitchFamily="2" charset="-122"/>
                <a:ea typeface="宋体" panose="02010600030101010101" pitchFamily="2" charset="-122"/>
                <a:cs typeface="Tahoma" panose="020B0604030504040204" pitchFamily="34" charset="0"/>
              </a:rPr>
              <a:t>为了抵抗诸如此类的攻击，以便适用于多次一密，加解密算法应该满足：</a:t>
            </a:r>
          </a:p>
          <a:p>
            <a:pPr indent="0">
              <a:lnSpc>
                <a:spcPct val="110000"/>
              </a:lnSpc>
              <a:buNone/>
            </a:pP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1</a:t>
            </a:r>
            <a:r>
              <a:rPr lang="zh-CN" altLang="en-US" sz="2400" dirty="0">
                <a:latin typeface="宋体" panose="02010600030101010101" pitchFamily="2" charset="-122"/>
                <a:ea typeface="宋体" panose="02010600030101010101" pitchFamily="2" charset="-122"/>
                <a:cs typeface="Tahoma" panose="020B0604030504040204" pitchFamily="34" charset="0"/>
              </a:rPr>
              <a:t>）具有良好的“混淆性”</a:t>
            </a:r>
            <a:r>
              <a:rPr lang="en-US" altLang="zh-CN" sz="2400" dirty="0">
                <a:latin typeface="Tahoma" panose="020B0604030504040204" pitchFamily="34" charset="0"/>
                <a:ea typeface="宋体" panose="02010600030101010101" pitchFamily="2" charset="-122"/>
                <a:cs typeface="Tahoma" panose="020B0604030504040204" pitchFamily="34" charset="0"/>
              </a:rPr>
              <a:t>(</a:t>
            </a:r>
            <a:r>
              <a:rPr lang="en-US" altLang="zh-CN" sz="2400" dirty="0">
                <a:latin typeface="Tahoma" panose="020B0604030504040204" pitchFamily="34" charset="0"/>
                <a:ea typeface="Tahoma" panose="020B0604030504040204" pitchFamily="34" charset="0"/>
                <a:cs typeface="Tahoma" panose="020B0604030504040204" pitchFamily="34" charset="0"/>
              </a:rPr>
              <a:t>confusion)</a:t>
            </a:r>
            <a:r>
              <a:rPr lang="zh-CN" altLang="en-US" sz="2400" dirty="0">
                <a:latin typeface="宋体" panose="02010600030101010101" pitchFamily="2" charset="-122"/>
                <a:ea typeface="宋体" panose="02010600030101010101" pitchFamily="2" charset="-122"/>
                <a:cs typeface="Tahoma" panose="020B0604030504040204" pitchFamily="34" charset="0"/>
              </a:rPr>
              <a:t>和“扩散性”</a:t>
            </a:r>
            <a:r>
              <a:rPr lang="en-US" altLang="zh-CN" sz="2400" dirty="0">
                <a:latin typeface="Tahoma" panose="020B0604030504040204" pitchFamily="34" charset="0"/>
                <a:ea typeface="宋体" panose="02010600030101010101" pitchFamily="2" charset="-122"/>
                <a:cs typeface="Tahoma" panose="020B0604030504040204" pitchFamily="34" charset="0"/>
              </a:rPr>
              <a:t>(</a:t>
            </a:r>
            <a:r>
              <a:rPr lang="en-US" altLang="zh-CN" sz="2400" dirty="0">
                <a:latin typeface="Tahoma" panose="020B0604030504040204" pitchFamily="34" charset="0"/>
                <a:ea typeface="Tahoma" panose="020B0604030504040204" pitchFamily="34" charset="0"/>
                <a:cs typeface="Tahoma" panose="020B0604030504040204" pitchFamily="34" charset="0"/>
              </a:rPr>
              <a:t>diffusion)</a:t>
            </a:r>
            <a:r>
              <a:rPr lang="zh-CN" altLang="en-US" sz="2400" dirty="0">
                <a:latin typeface="Tahoma" panose="020B0604030504040204" pitchFamily="34" charset="0"/>
                <a:ea typeface="Tahoma" panose="020B0604030504040204" pitchFamily="34" charset="0"/>
                <a:cs typeface="Tahoma" panose="020B0604030504040204" pitchFamily="34" charset="0"/>
              </a:rPr>
              <a:t>。</a:t>
            </a:r>
            <a:endParaRPr lang="zh-CN" altLang="en-US" sz="2400" dirty="0">
              <a:latin typeface="Tahoma" panose="020B0604030504040204" pitchFamily="34" charset="0"/>
              <a:cs typeface="Tahoma" panose="020B0604030504040204" pitchFamily="34" charset="0"/>
            </a:endParaRPr>
          </a:p>
          <a:p>
            <a:pPr indent="0">
              <a:lnSpc>
                <a:spcPct val="110000"/>
              </a:lnSpc>
              <a:buNone/>
            </a:pP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2</a:t>
            </a:r>
            <a:r>
              <a:rPr lang="zh-CN" altLang="en-US" sz="2400" dirty="0">
                <a:latin typeface="宋体" panose="02010600030101010101" pitchFamily="2" charset="-122"/>
                <a:ea typeface="宋体" panose="02010600030101010101" pitchFamily="2" charset="-122"/>
                <a:cs typeface="Tahoma" panose="020B0604030504040204" pitchFamily="34" charset="0"/>
              </a:rPr>
              <a:t>）具有良好的“非线性性”</a:t>
            </a:r>
            <a:r>
              <a:rPr lang="en-US" altLang="zh-CN" sz="2400" dirty="0">
                <a:latin typeface="Tahoma" panose="020B0604030504040204" pitchFamily="34" charset="0"/>
                <a:ea typeface="宋体" panose="02010600030101010101" pitchFamily="2" charset="-122"/>
                <a:cs typeface="Tahoma" panose="020B0604030504040204" pitchFamily="34" charset="0"/>
              </a:rPr>
              <a:t>(</a:t>
            </a:r>
            <a:r>
              <a:rPr lang="en-US" altLang="zh-CN" sz="2400" dirty="0">
                <a:latin typeface="Tahoma" panose="020B0604030504040204" pitchFamily="34" charset="0"/>
                <a:ea typeface="Tahoma" panose="020B0604030504040204" pitchFamily="34" charset="0"/>
                <a:cs typeface="Tahoma" panose="020B0604030504040204" pitchFamily="34" charset="0"/>
              </a:rPr>
              <a:t>non-linearity)</a:t>
            </a:r>
            <a:r>
              <a:rPr lang="zh-CN" altLang="en-US" sz="2400" dirty="0">
                <a:latin typeface="Tahoma" panose="020B0604030504040204" pitchFamily="34" charset="0"/>
                <a:ea typeface="Tahoma" panose="020B0604030504040204" pitchFamily="34" charset="0"/>
                <a:cs typeface="Tahoma" panose="020B0604030504040204" pitchFamily="34" charset="0"/>
              </a:rPr>
              <a:t>。</a:t>
            </a:r>
            <a:endParaRPr lang="zh-CN" altLang="en-US" sz="2400" dirty="0">
              <a:latin typeface="Tahoma" panose="020B0604030504040204" pitchFamily="34" charset="0"/>
              <a:cs typeface="Tahoma" panose="020B0604030504040204" pitchFamily="34" charset="0"/>
            </a:endParaRPr>
          </a:p>
          <a:p>
            <a:pPr indent="0">
              <a:lnSpc>
                <a:spcPct val="110000"/>
              </a:lnSpc>
              <a:buNone/>
            </a:pP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3</a:t>
            </a:r>
            <a:r>
              <a:rPr lang="zh-CN" altLang="en-US" sz="2400" dirty="0">
                <a:latin typeface="宋体" panose="02010600030101010101" pitchFamily="2" charset="-122"/>
                <a:ea typeface="宋体" panose="02010600030101010101" pitchFamily="2" charset="-122"/>
                <a:cs typeface="Tahoma" panose="020B0604030504040204" pitchFamily="34" charset="0"/>
              </a:rPr>
              <a:t>）具有良好的“差分均匀性”</a:t>
            </a:r>
            <a:r>
              <a:rPr lang="en-US" altLang="zh-CN" sz="2400" dirty="0">
                <a:latin typeface="Tahoma" panose="020B0604030504040204" pitchFamily="34" charset="0"/>
                <a:ea typeface="宋体" panose="02010600030101010101" pitchFamily="2" charset="-122"/>
                <a:cs typeface="Tahoma" panose="020B0604030504040204" pitchFamily="34" charset="0"/>
              </a:rPr>
              <a:t>(</a:t>
            </a:r>
            <a:r>
              <a:rPr lang="en-US" altLang="zh-CN" sz="2400" dirty="0">
                <a:latin typeface="Tahoma" panose="020B0604030504040204" pitchFamily="34" charset="0"/>
                <a:ea typeface="Tahoma" panose="020B0604030504040204" pitchFamily="34" charset="0"/>
                <a:cs typeface="Tahoma" panose="020B0604030504040204" pitchFamily="34" charset="0"/>
              </a:rPr>
              <a:t>difference balance)</a:t>
            </a:r>
            <a:r>
              <a:rPr lang="zh-CN" altLang="en-US" sz="2400" dirty="0">
                <a:latin typeface="Tahoma" panose="020B0604030504040204" pitchFamily="34" charset="0"/>
                <a:cs typeface="Tahoma" panose="020B0604030504040204" pitchFamily="34" charset="0"/>
              </a:rPr>
              <a:t>。</a:t>
            </a:r>
          </a:p>
          <a:p>
            <a:pPr indent="0">
              <a:lnSpc>
                <a:spcPct val="110000"/>
              </a:lnSpc>
              <a:buNone/>
            </a:pP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4</a:t>
            </a:r>
            <a:r>
              <a:rPr lang="zh-CN" altLang="en-US" sz="2400" dirty="0">
                <a:latin typeface="宋体" panose="02010600030101010101" pitchFamily="2" charset="-122"/>
                <a:ea typeface="宋体" panose="02010600030101010101" pitchFamily="2" charset="-122"/>
                <a:cs typeface="Tahoma" panose="020B0604030504040204" pitchFamily="34" charset="0"/>
              </a:rPr>
              <a:t>）密钥的可能变化范围（密钥量）应该大到不可能穷举搜索密钥</a:t>
            </a:r>
            <a:r>
              <a:rPr lang="en-US" altLang="zh-CN" sz="2400" dirty="0">
                <a:latin typeface="Tahoma" panose="020B0604030504040204" pitchFamily="34" charset="0"/>
                <a:ea typeface="宋体" panose="02010600030101010101" pitchFamily="2" charset="-122"/>
                <a:cs typeface="Tahoma" panose="020B0604030504040204" pitchFamily="34" charset="0"/>
              </a:rPr>
              <a:t>(</a:t>
            </a:r>
            <a:r>
              <a:rPr lang="en-US" altLang="zh-CN" sz="2400" dirty="0">
                <a:latin typeface="Tahoma" panose="020B0604030504040204" pitchFamily="34" charset="0"/>
                <a:ea typeface="Tahoma" panose="020B0604030504040204" pitchFamily="34" charset="0"/>
                <a:cs typeface="Tahoma" panose="020B0604030504040204" pitchFamily="34" charset="0"/>
              </a:rPr>
              <a:t>brute force search</a:t>
            </a:r>
            <a:r>
              <a:rPr lang="zh-CN" altLang="en-US" sz="2400" dirty="0">
                <a:latin typeface="Tahoma" panose="020B0604030504040204" pitchFamily="34" charset="0"/>
                <a:ea typeface="Tahoma" panose="020B0604030504040204" pitchFamily="34" charset="0"/>
                <a:cs typeface="Tahoma" panose="020B0604030504040204" pitchFamily="34" charset="0"/>
              </a:rPr>
              <a:t>）。</a:t>
            </a:r>
            <a:endParaRPr lang="zh-CN" altLang="en-US" sz="2400" dirty="0">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32930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nodePh="1">
                                  <p:stCondLst>
                                    <p:cond delay="0"/>
                                  </p:stCondLst>
                                  <p:endCondLst>
                                    <p:cond evt="begin" delay="0">
                                      <p:tn val="10"/>
                                    </p:cond>
                                  </p:end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nodeType="clickEffect" nodePh="1">
                                  <p:stCondLst>
                                    <p:cond delay="0"/>
                                  </p:stCondLst>
                                  <p:endCondLst>
                                    <p:cond evt="begin" delay="0">
                                      <p:tn val="16"/>
                                    </p:cond>
                                  </p:endCondLst>
                                  <p:childTnLst>
                                    <p:set>
                                      <p:cBhvr>
                                        <p:cTn id="17" dur="1" fill="hold">
                                          <p:stCondLst>
                                            <p:cond delay="0"/>
                                          </p:stCondLst>
                                        </p:cTn>
                                        <p:tgtEl>
                                          <p:spTgt spid="8">
                                            <p:txEl>
                                              <p:pRg st="0" end="0"/>
                                            </p:txEl>
                                          </p:spTgt>
                                        </p:tgtEl>
                                        <p:attrNameLst>
                                          <p:attrName>style.visibility</p:attrName>
                                        </p:attrNameLst>
                                      </p:cBhvr>
                                      <p:to>
                                        <p:strVal val="visible"/>
                                      </p:to>
                                    </p:set>
                                    <p:anim calcmode="lin" valueType="num">
                                      <p:cBhvr>
                                        <p:cTn id="18"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9"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0"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1" dur="1000"/>
                                        <p:tgtEl>
                                          <p:spTgt spid="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3B0981A5-5108-1DB0-24E0-2DD311C17B91}"/>
              </a:ext>
            </a:extLst>
          </p:cNvPr>
          <p:cNvSpPr txBox="1">
            <a:spLocks noChangeArrowheads="1"/>
          </p:cNvSpPr>
          <p:nvPr/>
        </p:nvSpPr>
        <p:spPr>
          <a:xfrm>
            <a:off x="1914920" y="1116133"/>
            <a:ext cx="8687757" cy="116680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715891">
              <a:lnSpc>
                <a:spcPct val="100000"/>
              </a:lnSpc>
              <a:buNone/>
            </a:pPr>
            <a:r>
              <a:rPr lang="zh-CN" altLang="en-US" sz="2400" dirty="0">
                <a:latin typeface="宋体" panose="02010600030101010101" pitchFamily="2" charset="-122"/>
                <a:ea typeface="宋体" panose="02010600030101010101" pitchFamily="2" charset="-122"/>
              </a:rPr>
              <a:t>古典密码是密码学的渊源，这些密码大都比较简单，现在已很少采用了。然而，研究这些密码的原理，对于理解、构造和分析现代密码都是十分有益的。</a:t>
            </a:r>
            <a:endParaRPr lang="en-US" altLang="zh-CN" sz="2400" dirty="0">
              <a:latin typeface="宋体" panose="02010600030101010101" pitchFamily="2" charset="-122"/>
              <a:ea typeface="宋体" panose="02010600030101010101" pitchFamily="2" charset="-122"/>
            </a:endParaRPr>
          </a:p>
          <a:p>
            <a:pPr marL="0" indent="715891">
              <a:lnSpc>
                <a:spcPct val="100000"/>
              </a:lnSpc>
              <a:buNone/>
            </a:pP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400" b="1" dirty="0">
                <a:latin typeface="宋体" panose="02010600030101010101" pitchFamily="2" charset="-122"/>
                <a:ea typeface="宋体" panose="02010600030101010101" pitchFamily="2" charset="-122"/>
              </a:rPr>
              <a:t>古典密码的基本运算：</a:t>
            </a:r>
            <a:endParaRPr lang="en-US" altLang="zh-CN" sz="2400" b="1" dirty="0">
              <a:latin typeface="宋体" panose="02010600030101010101" pitchFamily="2" charset="-122"/>
              <a:ea typeface="宋体" panose="02010600030101010101" pitchFamily="2" charset="-122"/>
            </a:endParaRPr>
          </a:p>
          <a:p>
            <a:pPr>
              <a:lnSpc>
                <a:spcPct val="100000"/>
              </a:lnSpc>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置换密码</a:t>
            </a:r>
            <a:r>
              <a:rPr lang="en-US" altLang="zh-CN" sz="2000" dirty="0">
                <a:latin typeface="宋体" panose="02010600030101010101" pitchFamily="2" charset="-122"/>
                <a:ea typeface="宋体" panose="02010600030101010101" pitchFamily="2" charset="-122"/>
              </a:rPr>
              <a:t>(permutation cipher)</a:t>
            </a:r>
            <a:r>
              <a:rPr lang="zh-CN" altLang="en-US" sz="2000" dirty="0">
                <a:latin typeface="宋体" panose="02010600030101010101" pitchFamily="2" charset="-122"/>
                <a:ea typeface="宋体" panose="02010600030101010101" pitchFamily="2" charset="-122"/>
              </a:rPr>
              <a:t>，又称换位密码（</a:t>
            </a:r>
            <a:r>
              <a:rPr lang="en-US" altLang="zh-CN" sz="2000" dirty="0">
                <a:latin typeface="宋体" panose="02010600030101010101" pitchFamily="2" charset="-122"/>
                <a:ea typeface="宋体" panose="02010600030101010101" pitchFamily="2" charset="-122"/>
              </a:rPr>
              <a:t>transposition cipher)</a:t>
            </a:r>
            <a:r>
              <a:rPr lang="zh-CN" altLang="en-US" sz="2000" dirty="0">
                <a:latin typeface="宋体" panose="02010600030101010101" pitchFamily="2" charset="-122"/>
                <a:ea typeface="宋体" panose="02010600030101010101" pitchFamily="2" charset="-122"/>
              </a:rPr>
              <a:t>：明文的字母保持相同，但顺序被打乱了。</a:t>
            </a:r>
            <a:endParaRPr lang="en-US" altLang="zh-CN" sz="2000" dirty="0">
              <a:latin typeface="宋体" panose="02010600030101010101" pitchFamily="2" charset="-122"/>
              <a:ea typeface="宋体" panose="02010600030101010101" pitchFamily="2" charset="-122"/>
            </a:endParaRPr>
          </a:p>
          <a:p>
            <a:pPr>
              <a:lnSpc>
                <a:spcPct val="100000"/>
              </a:lnSpc>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代换密码（</a:t>
            </a:r>
            <a:r>
              <a:rPr lang="en-US" altLang="zh-CN" sz="2000" dirty="0">
                <a:latin typeface="宋体" panose="02010600030101010101" pitchFamily="2" charset="-122"/>
                <a:ea typeface="宋体" panose="02010600030101010101" pitchFamily="2" charset="-122"/>
              </a:rPr>
              <a:t>substitution cipher)</a:t>
            </a:r>
            <a:r>
              <a:rPr lang="zh-CN" altLang="en-US" sz="2000" dirty="0">
                <a:latin typeface="宋体" panose="02010600030101010101" pitchFamily="2" charset="-122"/>
                <a:ea typeface="宋体" panose="02010600030101010101" pitchFamily="2" charset="-122"/>
              </a:rPr>
              <a:t>：明文中的每一个字符被替换成密文中的另一个字符。接收者对密文做反向替换就可以恢复出明文。</a:t>
            </a:r>
          </a:p>
          <a:p>
            <a:pPr>
              <a:lnSpc>
                <a:spcPct val="100000"/>
              </a:lnSpc>
              <a:buFont typeface="Wingdings" panose="05000000000000000000" pitchFamily="2" charset="2"/>
              <a:buChar char="l"/>
            </a:pPr>
            <a:endParaRPr lang="zh-CN" altLang="en-US"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6562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nodePh="1">
                                  <p:stCondLst>
                                    <p:cond delay="0"/>
                                  </p:stCondLst>
                                  <p:endCondLst>
                                    <p:cond evt="begin" delay="0">
                                      <p:tn val="11"/>
                                    </p:cond>
                                  </p:end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p:cTn id="13"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nodePh="1">
                                  <p:stCondLst>
                                    <p:cond delay="0"/>
                                  </p:stCondLst>
                                  <p:endCondLst>
                                    <p:cond evt="begin" delay="0">
                                      <p:tn val="19"/>
                                    </p:cond>
                                  </p:end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7" name="内容占位符 1">
            <a:extLst>
              <a:ext uri="{FF2B5EF4-FFF2-40B4-BE49-F238E27FC236}">
                <a16:creationId xmlns:a16="http://schemas.microsoft.com/office/drawing/2014/main" id="{402A0729-0872-06B7-71BE-293DA0F23712}"/>
              </a:ext>
            </a:extLst>
          </p:cNvPr>
          <p:cNvSpPr txBox="1">
            <a:spLocks noChangeArrowheads="1"/>
          </p:cNvSpPr>
          <p:nvPr/>
        </p:nvSpPr>
        <p:spPr>
          <a:xfrm>
            <a:off x="1781212" y="1305155"/>
            <a:ext cx="9239568"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r>
              <a:rPr lang="zh-CN" altLang="en-US" sz="2400" dirty="0">
                <a:latin typeface="宋体" panose="02010600030101010101" pitchFamily="2" charset="-122"/>
                <a:ea typeface="宋体" panose="02010600030101010101" pitchFamily="2" charset="-122"/>
              </a:rPr>
              <a:t>本章节中被加密明文假设全部为英文字母进行加密和解密，在算法描述中，常用数字表示每个英文字母。</a:t>
            </a:r>
            <a:endParaRPr lang="en-CA" altLang="en-US" sz="2400" dirty="0">
              <a:latin typeface="宋体" panose="02010600030101010101" pitchFamily="2" charset="-122"/>
              <a:ea typeface="宋体" panose="02010600030101010101" pitchFamily="2" charset="-122"/>
            </a:endParaRPr>
          </a:p>
        </p:txBody>
      </p:sp>
      <p:graphicFrame>
        <p:nvGraphicFramePr>
          <p:cNvPr id="11" name="Group 79">
            <a:extLst>
              <a:ext uri="{FF2B5EF4-FFF2-40B4-BE49-F238E27FC236}">
                <a16:creationId xmlns:a16="http://schemas.microsoft.com/office/drawing/2014/main" id="{08D6B3A2-4B01-A4D3-1B20-7C08C69A0F7D}"/>
              </a:ext>
            </a:extLst>
          </p:cNvPr>
          <p:cNvGraphicFramePr>
            <a:graphicFrameLocks/>
          </p:cNvGraphicFramePr>
          <p:nvPr>
            <p:extLst>
              <p:ext uri="{D42A27DB-BD31-4B8C-83A1-F6EECF244321}">
                <p14:modId xmlns:p14="http://schemas.microsoft.com/office/powerpoint/2010/main" val="1560263709"/>
              </p:ext>
            </p:extLst>
          </p:nvPr>
        </p:nvGraphicFramePr>
        <p:xfrm>
          <a:off x="2822117" y="2802267"/>
          <a:ext cx="7234237" cy="1901824"/>
        </p:xfrm>
        <a:graphic>
          <a:graphicData uri="http://schemas.openxmlformats.org/drawingml/2006/table">
            <a:tbl>
              <a:tblPr/>
              <a:tblGrid>
                <a:gridCol w="555625">
                  <a:extLst>
                    <a:ext uri="{9D8B030D-6E8A-4147-A177-3AD203B41FA5}">
                      <a16:colId xmlns:a16="http://schemas.microsoft.com/office/drawing/2014/main" val="20000"/>
                    </a:ext>
                  </a:extLst>
                </a:gridCol>
                <a:gridCol w="557212">
                  <a:extLst>
                    <a:ext uri="{9D8B030D-6E8A-4147-A177-3AD203B41FA5}">
                      <a16:colId xmlns:a16="http://schemas.microsoft.com/office/drawing/2014/main" val="20001"/>
                    </a:ext>
                  </a:extLst>
                </a:gridCol>
                <a:gridCol w="557213">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7212">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7213">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7212">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7213">
                  <a:extLst>
                    <a:ext uri="{9D8B030D-6E8A-4147-A177-3AD203B41FA5}">
                      <a16:colId xmlns:a16="http://schemas.microsoft.com/office/drawing/2014/main" val="20010"/>
                    </a:ext>
                  </a:extLst>
                </a:gridCol>
                <a:gridCol w="557212">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475456">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a</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b</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c</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d</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f</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h</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i</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j</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k</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l</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m</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456">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0</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2</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3</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5</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6</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7</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8</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9</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12</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456">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n</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o</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p</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q</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r</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s</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u</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v</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w</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x</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y</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Z</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456">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13</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15</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16</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17</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18</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19</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20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21</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22</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23</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24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25</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8696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nodePh="1">
                                  <p:stCondLst>
                                    <p:cond delay="0"/>
                                  </p:stCondLst>
                                  <p:endCondLst>
                                    <p:cond evt="begin" delay="0">
                                      <p:tn val="11"/>
                                    </p:cond>
                                  </p:end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p:cTn id="13"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nodePh="1">
                                  <p:stCondLst>
                                    <p:cond delay="0"/>
                                  </p:stCondLst>
                                  <p:endCondLst>
                                    <p:cond evt="begin" delay="0">
                                      <p:tn val="19"/>
                                    </p:cond>
                                  </p:end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置换密码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972272" y="1026452"/>
            <a:ext cx="10810755"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在置换密码体制中，明文中的字或字母被重新排列，字或字母本身不变，但位置发生了改变，形成密文，又称为</a:t>
            </a:r>
            <a:r>
              <a:rPr lang="zh-CN" altLang="en-US" sz="2400" b="1" dirty="0">
                <a:latin typeface="宋体" panose="02010600030101010101" pitchFamily="2" charset="-122"/>
                <a:ea typeface="宋体" panose="02010600030101010101" pitchFamily="2" charset="-122"/>
              </a:rPr>
              <a:t>易位密码</a:t>
            </a:r>
            <a:r>
              <a:rPr lang="zh-CN" altLang="en-US" sz="2400" dirty="0">
                <a:latin typeface="宋体" panose="02010600030101010101" pitchFamily="2" charset="-122"/>
                <a:ea typeface="宋体" panose="02010600030101010101" pitchFamily="2" charset="-122"/>
              </a:rPr>
              <a:t>。</a:t>
            </a: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最简单的易位密码是采用报文倒置法，即将报文按字的顺序依次倒置，并截成固定长度的字母组，形成密文。</a:t>
            </a:r>
            <a:endParaRPr lang="en-US" altLang="zh-CN" sz="2400" dirty="0">
              <a:latin typeface="宋体" panose="02010600030101010101" pitchFamily="2" charset="-122"/>
              <a:ea typeface="宋体" panose="02010600030101010101" pitchFamily="2" charset="-122"/>
            </a:endParaRPr>
          </a:p>
          <a:p>
            <a:pPr marL="0" indent="0">
              <a:lnSpc>
                <a:spcPct val="100000"/>
              </a:lnSpc>
              <a:buClr>
                <a:schemeClr val="accent1">
                  <a:lumMod val="75000"/>
                </a:schemeClr>
              </a:buClr>
              <a:buSzPct val="60000"/>
              <a:buNone/>
            </a:pPr>
            <a:r>
              <a:rPr lang="zh-CN" altLang="en-US" sz="2400" dirty="0">
                <a:latin typeface="宋体" panose="02010600030101010101" pitchFamily="2" charset="-122"/>
                <a:ea typeface="宋体" panose="02010600030101010101" pitchFamily="2" charset="-122"/>
              </a:rPr>
              <a:t>例如：</a:t>
            </a:r>
            <a:endParaRPr lang="en-US" altLang="zh-CN" sz="2400" dirty="0">
              <a:latin typeface="宋体" panose="02010600030101010101" pitchFamily="2" charset="-122"/>
              <a:ea typeface="宋体" panose="02010600030101010101" pitchFamily="2" charset="-122"/>
            </a:endParaRPr>
          </a:p>
        </p:txBody>
      </p:sp>
      <p:sp>
        <p:nvSpPr>
          <p:cNvPr id="12" name="Rectangle 4">
            <a:extLst>
              <a:ext uri="{FF2B5EF4-FFF2-40B4-BE49-F238E27FC236}">
                <a16:creationId xmlns:a16="http://schemas.microsoft.com/office/drawing/2014/main" id="{50BFEFFC-D8BA-4266-B45B-ADC0784AA5F0}"/>
              </a:ext>
            </a:extLst>
          </p:cNvPr>
          <p:cNvSpPr txBox="1">
            <a:spLocks noChangeArrowheads="1"/>
          </p:cNvSpPr>
          <p:nvPr/>
        </p:nvSpPr>
        <p:spPr>
          <a:xfrm>
            <a:off x="792866" y="3583022"/>
            <a:ext cx="11059610" cy="1836935"/>
          </a:xfrm>
          <a:prstGeom prst="rect">
            <a:avLst/>
          </a:prstGeom>
          <a:noFill/>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None/>
            </a:pPr>
            <a:r>
              <a:rPr lang="zh-CN" altLang="en-US" sz="2400" b="1" dirty="0">
                <a:solidFill>
                  <a:schemeClr val="accent2"/>
                </a:solidFill>
                <a:latin typeface="宋体" panose="02010600030101010101" pitchFamily="2" charset="-122"/>
                <a:ea typeface="宋体" panose="02010600030101010101" pitchFamily="2" charset="-122"/>
              </a:rPr>
              <a:t>明文：</a:t>
            </a:r>
            <a:r>
              <a:rPr lang="en-US" altLang="zh-CN" sz="2400" dirty="0">
                <a:latin typeface="Tahoma" panose="020B0604030504040204" pitchFamily="34" charset="0"/>
                <a:ea typeface="Tahoma" panose="020B0604030504040204" pitchFamily="34" charset="0"/>
                <a:cs typeface="Tahoma" panose="020B0604030504040204" pitchFamily="34" charset="0"/>
              </a:rPr>
              <a:t>never accept failure no matter how often it will visit you</a:t>
            </a:r>
          </a:p>
          <a:p>
            <a:pPr>
              <a:lnSpc>
                <a:spcPct val="100000"/>
              </a:lnSpc>
              <a:buFont typeface="Arial" panose="020B0604020202020204" pitchFamily="34" charset="0"/>
              <a:buNone/>
            </a:pPr>
            <a:r>
              <a:rPr lang="zh-CN" altLang="en-US" sz="2400" b="1" dirty="0">
                <a:solidFill>
                  <a:schemeClr val="accent2"/>
                </a:solidFill>
                <a:latin typeface="宋体" panose="02010600030101010101" pitchFamily="2" charset="-122"/>
                <a:ea typeface="宋体" panose="02010600030101010101" pitchFamily="2" charset="-122"/>
              </a:rPr>
              <a:t>密文：</a:t>
            </a:r>
            <a:r>
              <a:rPr lang="en-US" altLang="zh-CN" sz="2400" dirty="0" err="1">
                <a:latin typeface="Tahoma" panose="020B0604030504040204" pitchFamily="34" charset="0"/>
                <a:ea typeface="Tahoma" panose="020B0604030504040204" pitchFamily="34" charset="0"/>
                <a:cs typeface="Tahoma" panose="020B0604030504040204" pitchFamily="34" charset="0"/>
              </a:rPr>
              <a:t>uoyt</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isiv</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lliw</a:t>
            </a:r>
            <a:r>
              <a:rPr lang="en-US" altLang="zh-CN" sz="2400" dirty="0">
                <a:latin typeface="Tahoma" panose="020B0604030504040204" pitchFamily="34" charset="0"/>
                <a:ea typeface="Tahoma" panose="020B0604030504040204" pitchFamily="34" charset="0"/>
                <a:cs typeface="Tahoma" panose="020B0604030504040204" pitchFamily="34" charset="0"/>
              </a:rPr>
              <a:t> tine </a:t>
            </a:r>
            <a:r>
              <a:rPr lang="en-US" altLang="zh-CN" sz="2400" dirty="0" err="1">
                <a:latin typeface="Tahoma" panose="020B0604030504040204" pitchFamily="34" charset="0"/>
                <a:ea typeface="Tahoma" panose="020B0604030504040204" pitchFamily="34" charset="0"/>
                <a:cs typeface="Tahoma" panose="020B0604030504040204" pitchFamily="34" charset="0"/>
              </a:rPr>
              <a:t>tfow</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ohre</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ttma</a:t>
            </a:r>
            <a:r>
              <a:rPr lang="en-US" altLang="zh-CN" sz="2400" dirty="0">
                <a:latin typeface="Tahoma" panose="020B0604030504040204" pitchFamily="34" charset="0"/>
                <a:ea typeface="Tahoma" panose="020B0604030504040204" pitchFamily="34" charset="0"/>
                <a:cs typeface="Tahoma" panose="020B0604030504040204" pitchFamily="34" charset="0"/>
              </a:rPr>
              <a:t> oner </a:t>
            </a:r>
            <a:r>
              <a:rPr lang="en-US" altLang="zh-CN" sz="2400" dirty="0" err="1">
                <a:latin typeface="Tahoma" panose="020B0604030504040204" pitchFamily="34" charset="0"/>
                <a:ea typeface="Tahoma" panose="020B0604030504040204" pitchFamily="34" charset="0"/>
                <a:cs typeface="Tahoma" panose="020B0604030504040204" pitchFamily="34" charset="0"/>
              </a:rPr>
              <a:t>ulia</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ftpe</a:t>
            </a:r>
            <a:r>
              <a:rPr lang="en-US" altLang="zh-CN" sz="2400" dirty="0">
                <a:latin typeface="Tahoma" panose="020B0604030504040204" pitchFamily="34" charset="0"/>
                <a:ea typeface="Tahoma" panose="020B0604030504040204" pitchFamily="34" charset="0"/>
                <a:cs typeface="Tahoma" panose="020B0604030504040204" pitchFamily="34" charset="0"/>
              </a:rPr>
              <a:t> </a:t>
            </a:r>
            <a:r>
              <a:rPr lang="en-US" altLang="zh-CN" sz="2400" dirty="0" err="1">
                <a:latin typeface="Tahoma" panose="020B0604030504040204" pitchFamily="34" charset="0"/>
                <a:ea typeface="Tahoma" panose="020B0604030504040204" pitchFamily="34" charset="0"/>
                <a:cs typeface="Tahoma" panose="020B0604030504040204" pitchFamily="34" charset="0"/>
              </a:rPr>
              <a:t>ccar</a:t>
            </a:r>
            <a:r>
              <a:rPr lang="en-US" altLang="zh-CN" sz="2400" dirty="0">
                <a:latin typeface="Tahoma" panose="020B0604030504040204" pitchFamily="34" charset="0"/>
                <a:ea typeface="Tahoma" panose="020B0604030504040204" pitchFamily="34" charset="0"/>
                <a:cs typeface="Tahoma" panose="020B0604030504040204" pitchFamily="34" charset="0"/>
              </a:rPr>
              <a:t> even</a:t>
            </a:r>
            <a:endParaRPr lang="zh-CN" altLang="en-US" sz="2400" dirty="0">
              <a:latin typeface="Tahoma" panose="020B0604030504040204" pitchFamily="34" charset="0"/>
              <a:cs typeface="Tahoma" panose="020B0604030504040204" pitchFamily="34" charset="0"/>
            </a:endParaRPr>
          </a:p>
          <a:p>
            <a:pPr>
              <a:lnSpc>
                <a:spcPct val="100000"/>
              </a:lnSpc>
              <a:buFont typeface="Wingdings" panose="05000000000000000000" pitchFamily="2" charset="2"/>
              <a:buNone/>
            </a:pPr>
            <a:r>
              <a:rPr lang="zh-CN" altLang="en-US" sz="2400" dirty="0">
                <a:solidFill>
                  <a:schemeClr val="accent2"/>
                </a:solidFill>
                <a:latin typeface="宋体" panose="02010600030101010101" pitchFamily="2" charset="-122"/>
                <a:ea typeface="宋体" panose="02010600030101010101" pitchFamily="2" charset="-122"/>
              </a:rPr>
              <a:t>特点：</a:t>
            </a:r>
            <a:r>
              <a:rPr lang="zh-CN" altLang="en-US" sz="2400" dirty="0">
                <a:latin typeface="宋体" panose="02010600030101010101" pitchFamily="2" charset="-122"/>
                <a:ea typeface="宋体" panose="02010600030101010101" pitchFamily="2" charset="-122"/>
              </a:rPr>
              <a:t> 简单，缺点是不安全，很容易被识破。</a:t>
            </a:r>
          </a:p>
        </p:txBody>
      </p:sp>
    </p:spTree>
    <p:extLst>
      <p:ext uri="{BB962C8B-B14F-4D97-AF65-F5344CB8AC3E}">
        <p14:creationId xmlns:p14="http://schemas.microsoft.com/office/powerpoint/2010/main" val="297287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 calcmode="lin" valueType="num">
                                      <p:cBhvr additive="base">
                                        <p:cTn id="19"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 calcmode="lin" valueType="num">
                                      <p:cBhvr additive="base">
                                        <p:cTn id="2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nodePh="1">
                                  <p:stCondLst>
                                    <p:cond delay="0"/>
                                  </p:stCondLst>
                                  <p:endCondLst>
                                    <p:cond evt="begin" delay="0">
                                      <p:tn val="29"/>
                                    </p:cond>
                                  </p:end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p:cTn id="31"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2"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33"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34" dur="10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nodePh="1">
                                  <p:stCondLst>
                                    <p:cond delay="0"/>
                                  </p:stCondLst>
                                  <p:endCondLst>
                                    <p:cond evt="begin" delay="0">
                                      <p:tn val="37"/>
                                    </p:cond>
                                  </p:endCondLst>
                                  <p:childTnLst>
                                    <p:set>
                                      <p:cBhvr>
                                        <p:cTn id="38" dur="1" fill="hold">
                                          <p:stCondLst>
                                            <p:cond delay="0"/>
                                          </p:stCondLst>
                                        </p:cTn>
                                        <p:tgtEl>
                                          <p:spTgt spid="6">
                                            <p:txEl>
                                              <p:pRg st="0" end="0"/>
                                            </p:txEl>
                                          </p:spTgt>
                                        </p:tgtEl>
                                        <p:attrNameLst>
                                          <p:attrName>style.visibility</p:attrName>
                                        </p:attrNameLst>
                                      </p:cBhvr>
                                      <p:to>
                                        <p:strVal val="visible"/>
                                      </p:to>
                                    </p:set>
                                    <p:anim calcmode="lin" valueType="num">
                                      <p:cBhvr additive="base">
                                        <p:cTn id="3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fade">
                                      <p:cBhvr>
                                        <p:cTn id="45" dur="1000"/>
                                        <p:tgtEl>
                                          <p:spTgt spid="12">
                                            <p:txEl>
                                              <p:pRg st="0" end="0"/>
                                            </p:txEl>
                                          </p:spTgt>
                                        </p:tgtEl>
                                      </p:cBhvr>
                                    </p:animEffect>
                                    <p:anim calcmode="lin" valueType="num">
                                      <p:cBhvr>
                                        <p:cTn id="46"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2">
                                            <p:txEl>
                                              <p:pRg st="1" end="1"/>
                                            </p:txEl>
                                          </p:spTgt>
                                        </p:tgtEl>
                                        <p:attrNameLst>
                                          <p:attrName>style.visibility</p:attrName>
                                        </p:attrNameLst>
                                      </p:cBhvr>
                                      <p:to>
                                        <p:strVal val="visible"/>
                                      </p:to>
                                    </p:set>
                                    <p:animEffect transition="in" filter="fade">
                                      <p:cBhvr>
                                        <p:cTn id="50" dur="1000"/>
                                        <p:tgtEl>
                                          <p:spTgt spid="12">
                                            <p:txEl>
                                              <p:pRg st="1" end="1"/>
                                            </p:txEl>
                                          </p:spTgt>
                                        </p:tgtEl>
                                      </p:cBhvr>
                                    </p:animEffect>
                                    <p:anim calcmode="lin" valueType="num">
                                      <p:cBhvr>
                                        <p:cTn id="51"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52"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2">
                                            <p:txEl>
                                              <p:pRg st="2" end="2"/>
                                            </p:txEl>
                                          </p:spTgt>
                                        </p:tgtEl>
                                        <p:attrNameLst>
                                          <p:attrName>style.visibility</p:attrName>
                                        </p:attrNameLst>
                                      </p:cBhvr>
                                      <p:to>
                                        <p:strVal val="visible"/>
                                      </p:to>
                                    </p:set>
                                    <p:animEffect transition="in" filter="fade">
                                      <p:cBhvr>
                                        <p:cTn id="55" dur="1000"/>
                                        <p:tgtEl>
                                          <p:spTgt spid="12">
                                            <p:txEl>
                                              <p:pRg st="2" end="2"/>
                                            </p:txEl>
                                          </p:spTgt>
                                        </p:tgtEl>
                                      </p:cBhvr>
                                    </p:animEffect>
                                    <p:anim calcmode="lin" valueType="num">
                                      <p:cBhvr>
                                        <p:cTn id="56"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57"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代换密码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6452"/>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32898E5F-F811-5CA4-719A-3379C0E05851}"/>
                  </a:ext>
                </a:extLst>
              </p:cNvPr>
              <p:cNvSpPr txBox="1">
                <a:spLocks noRot="1" noChangeArrowheads="1"/>
              </p:cNvSpPr>
              <p:nvPr/>
            </p:nvSpPr>
            <p:spPr bwMode="auto">
              <a:xfrm>
                <a:off x="572947" y="1360077"/>
                <a:ext cx="11389488" cy="442930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just">
                  <a:spcBef>
                    <a:spcPts val="0"/>
                  </a:spcBef>
                  <a:buNone/>
                </a:pPr>
                <a:r>
                  <a:rPr lang="zh-CN" altLang="en-US" sz="2400" b="1" dirty="0">
                    <a:latin typeface="宋体" panose="02010600030101010101" pitchFamily="2" charset="-122"/>
                  </a:rPr>
                  <a:t>代换密码</a:t>
                </a:r>
                <a:r>
                  <a:rPr lang="en-US" altLang="zh-CN" sz="2400" dirty="0">
                    <a:latin typeface="宋体" panose="02010600030101010101" pitchFamily="2" charset="-122"/>
                    <a:cs typeface="Tahoma" panose="020B0604030504040204" pitchFamily="34" charset="0"/>
                  </a:rPr>
                  <a:t>(Substitution Cipher)</a:t>
                </a:r>
                <a:r>
                  <a:rPr lang="zh-CN" altLang="en-US" sz="2400" dirty="0">
                    <a:latin typeface="宋体" panose="02010600030101010101" pitchFamily="2" charset="-122"/>
                  </a:rPr>
                  <a:t>又称替代密码，或替换密码， 把明文中的每一个字符替换成密文字母表中的另一个字符，并使用密钥</a:t>
                </a:r>
                <a14:m>
                  <m:oMath xmlns:m="http://schemas.openxmlformats.org/officeDocument/2006/math">
                    <m:r>
                      <a:rPr lang="en-US" altLang="zh-CN" sz="2400" i="1" dirty="0">
                        <a:latin typeface="Cambria Math" panose="02040503050406030204" pitchFamily="18" charset="0"/>
                      </a:rPr>
                      <m:t>𝐾</m:t>
                    </m:r>
                  </m:oMath>
                </a14:m>
                <a:r>
                  <a:rPr lang="zh-CN" altLang="en-US" sz="2400" dirty="0">
                    <a:latin typeface="宋体" panose="02010600030101010101" pitchFamily="2" charset="-122"/>
                  </a:rPr>
                  <a:t>与之进行运算，得到密文；接收者对密文进行逆运算就可以恢复出明文。</a:t>
                </a:r>
                <a:endParaRPr lang="en-US" altLang="zh-CN" sz="2400" dirty="0">
                  <a:latin typeface="宋体" panose="02010600030101010101" pitchFamily="2" charset="-122"/>
                </a:endParaRPr>
              </a:p>
              <a:p>
                <a:pPr marL="0" indent="0" algn="just">
                  <a:spcBef>
                    <a:spcPts val="0"/>
                  </a:spcBef>
                  <a:buNone/>
                </a:pPr>
                <a:endParaRPr lang="en-US" altLang="zh-CN" sz="2400" dirty="0">
                  <a:latin typeface="宋体" panose="02010600030101010101" pitchFamily="2" charset="-122"/>
                </a:endParaRPr>
              </a:p>
              <a:p>
                <a:pPr algn="just">
                  <a:spcBef>
                    <a:spcPts val="0"/>
                  </a:spcBef>
                  <a:buFont typeface="Wingdings" panose="05000000000000000000" pitchFamily="2" charset="2"/>
                  <a:buChar char="l"/>
                </a:pPr>
                <a:r>
                  <a:rPr lang="zh-CN" altLang="en-US" sz="2400" b="1" dirty="0">
                    <a:latin typeface="宋体" panose="02010600030101010101" pitchFamily="2" charset="-122"/>
                  </a:rPr>
                  <a:t>单码代换</a:t>
                </a:r>
              </a:p>
            </p:txBody>
          </p:sp>
        </mc:Choice>
        <mc:Fallback xmlns="">
          <p:sp>
            <p:nvSpPr>
              <p:cNvPr id="11" name="Rectangle 3">
                <a:extLst>
                  <a:ext uri="{FF2B5EF4-FFF2-40B4-BE49-F238E27FC236}">
                    <a16:creationId xmlns:a16="http://schemas.microsoft.com/office/drawing/2014/main" id="{32898E5F-F811-5CA4-719A-3379C0E05851}"/>
                  </a:ext>
                </a:extLst>
              </p:cNvPr>
              <p:cNvSpPr txBox="1">
                <a:spLocks noRot="1" noChangeAspect="1" noMove="1" noResize="1" noEditPoints="1" noAdjustHandles="1" noChangeArrowheads="1" noChangeShapeType="1" noTextEdit="1"/>
              </p:cNvSpPr>
              <p:nvPr/>
            </p:nvSpPr>
            <p:spPr bwMode="auto">
              <a:xfrm>
                <a:off x="572947" y="1360077"/>
                <a:ext cx="11389488" cy="4429307"/>
              </a:xfrm>
              <a:prstGeom prst="rect">
                <a:avLst/>
              </a:prstGeom>
              <a:blipFill>
                <a:blip r:embed="rId3"/>
                <a:stretch>
                  <a:fillRect l="-857" t="-1100" r="-80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3" name="Rectangle 9">
            <a:extLst>
              <a:ext uri="{FF2B5EF4-FFF2-40B4-BE49-F238E27FC236}">
                <a16:creationId xmlns:a16="http://schemas.microsoft.com/office/drawing/2014/main" id="{B1ED7A39-2938-6D86-AA11-08633F0C0950}"/>
              </a:ext>
            </a:extLst>
          </p:cNvPr>
          <p:cNvSpPr>
            <a:spLocks noRot="1" noChangeArrowheads="1"/>
          </p:cNvSpPr>
          <p:nvPr/>
        </p:nvSpPr>
        <p:spPr bwMode="auto">
          <a:xfrm>
            <a:off x="451801" y="3289898"/>
            <a:ext cx="11389488"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2800" dirty="0">
                <a:latin typeface="Arial" panose="020B0604020202020204" pitchFamily="34" charset="0"/>
              </a:rPr>
              <a:t>   </a:t>
            </a:r>
            <a:r>
              <a:rPr lang="en-US" altLang="zh-CN" sz="2400" dirty="0">
                <a:latin typeface="Arial" panose="020B0604020202020204" pitchFamily="34" charset="0"/>
              </a:rPr>
              <a:t>	</a:t>
            </a:r>
            <a:r>
              <a:rPr lang="zh-CN" altLang="en-US" sz="2400" dirty="0">
                <a:latin typeface="宋体" panose="02010600030101010101" pitchFamily="2" charset="-122"/>
              </a:rPr>
              <a:t>在单表代替密码中，只使用一个密文字母表，并且用密文字母表中的一个字母来代替一个明文字母表中的一个字母。设</a:t>
            </a:r>
            <a:r>
              <a:rPr lang="en-US" altLang="zh-CN" sz="2400" dirty="0">
                <a:ea typeface="Tahoma" panose="020B0604030504040204" pitchFamily="34" charset="0"/>
                <a:cs typeface="Tahoma" panose="020B0604030504040204" pitchFamily="34" charset="0"/>
              </a:rPr>
              <a:t>A</a:t>
            </a:r>
            <a:r>
              <a:rPr lang="zh-CN" altLang="en-US" sz="2400" dirty="0">
                <a:latin typeface="宋体" panose="02010600030101010101" pitchFamily="2" charset="-122"/>
              </a:rPr>
              <a:t>和</a:t>
            </a:r>
            <a:r>
              <a:rPr lang="en-US" altLang="zh-CN" sz="2400" dirty="0">
                <a:ea typeface="Tahoma" panose="020B0604030504040204" pitchFamily="34" charset="0"/>
                <a:cs typeface="Tahoma" panose="020B0604030504040204" pitchFamily="34" charset="0"/>
              </a:rPr>
              <a:t>B</a:t>
            </a:r>
            <a:r>
              <a:rPr lang="zh-CN" altLang="en-US" sz="2400" dirty="0">
                <a:latin typeface="宋体" panose="02010600030101010101" pitchFamily="2" charset="-122"/>
              </a:rPr>
              <a:t>分别为含多个字母的明文字母表和密文字母表：定义</a:t>
            </a:r>
            <a:r>
              <a:rPr lang="en-US" altLang="zh-CN" sz="2400" dirty="0">
                <a:ea typeface="Tahoma" panose="020B0604030504040204" pitchFamily="34" charset="0"/>
                <a:cs typeface="Tahoma" panose="020B0604030504040204" pitchFamily="34" charset="0"/>
              </a:rPr>
              <a:t>A</a:t>
            </a:r>
            <a:r>
              <a:rPr lang="zh-CN" altLang="en-US" sz="2400" dirty="0">
                <a:latin typeface="宋体" panose="02010600030101010101" pitchFamily="2" charset="-122"/>
              </a:rPr>
              <a:t>到</a:t>
            </a:r>
            <a:r>
              <a:rPr lang="en-US" altLang="zh-CN" sz="2400" dirty="0">
                <a:ea typeface="Tahoma" panose="020B0604030504040204" pitchFamily="34" charset="0"/>
                <a:cs typeface="Tahoma" panose="020B0604030504040204" pitchFamily="34" charset="0"/>
              </a:rPr>
              <a:t>B</a:t>
            </a:r>
            <a:r>
              <a:rPr lang="zh-CN" altLang="en-US" sz="2400" dirty="0">
                <a:latin typeface="宋体" panose="02010600030101010101" pitchFamily="2" charset="-122"/>
              </a:rPr>
              <a:t>的一一映射。</a:t>
            </a:r>
            <a:endParaRPr lang="zh-CN" altLang="en-US" sz="2400" b="1" dirty="0">
              <a:latin typeface="宋体" panose="02010600030101010101" pitchFamily="2" charset="-122"/>
            </a:endParaRPr>
          </a:p>
        </p:txBody>
      </p:sp>
    </p:spTree>
    <p:extLst>
      <p:ext uri="{BB962C8B-B14F-4D97-AF65-F5344CB8AC3E}">
        <p14:creationId xmlns:p14="http://schemas.microsoft.com/office/powerpoint/2010/main" val="576558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代换密码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1192623" y="1192999"/>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r>
              <a:rPr lang="zh-CN" altLang="en-US" b="1" dirty="0">
                <a:latin typeface="宋体" panose="02010600030101010101" pitchFamily="2" charset="-122"/>
                <a:ea typeface="宋体" panose="02010600030101010101" pitchFamily="2" charset="-122"/>
              </a:rPr>
              <a:t>加法密码</a:t>
            </a:r>
            <a:endParaRPr lang="en-US" altLang="zh-CN" b="1" dirty="0">
              <a:latin typeface="宋体" panose="02010600030101010101" pitchFamily="2" charset="-122"/>
              <a:ea typeface="宋体" panose="02010600030101010101" pitchFamily="2" charset="-122"/>
            </a:endParaRPr>
          </a:p>
        </p:txBody>
      </p:sp>
      <p:sp>
        <p:nvSpPr>
          <p:cNvPr id="13" name="Rectangle 9">
            <a:extLst>
              <a:ext uri="{FF2B5EF4-FFF2-40B4-BE49-F238E27FC236}">
                <a16:creationId xmlns:a16="http://schemas.microsoft.com/office/drawing/2014/main" id="{B1ED7A39-2938-6D86-AA11-08633F0C0950}"/>
              </a:ext>
            </a:extLst>
          </p:cNvPr>
          <p:cNvSpPr>
            <a:spLocks noRot="1" noChangeArrowheads="1"/>
          </p:cNvSpPr>
          <p:nvPr/>
        </p:nvSpPr>
        <p:spPr bwMode="auto">
          <a:xfrm>
            <a:off x="2348542" y="3289898"/>
            <a:ext cx="8424863"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endParaRPr lang="zh-CN" altLang="en-US" sz="2400" b="1" dirty="0">
              <a:latin typeface="宋体" panose="02010600030101010101" pitchFamily="2" charset="-122"/>
            </a:endParaRPr>
          </a:p>
        </p:txBody>
      </p:sp>
      <p:sp>
        <p:nvSpPr>
          <p:cNvPr id="12" name="Text Box 3">
            <a:extLst>
              <a:ext uri="{FF2B5EF4-FFF2-40B4-BE49-F238E27FC236}">
                <a16:creationId xmlns:a16="http://schemas.microsoft.com/office/drawing/2014/main" id="{19CF3F8B-40BA-4404-B005-DB6A9DBC2BEB}"/>
              </a:ext>
            </a:extLst>
          </p:cNvPr>
          <p:cNvSpPr txBox="1">
            <a:spLocks noChangeArrowheads="1"/>
          </p:cNvSpPr>
          <p:nvPr/>
        </p:nvSpPr>
        <p:spPr bwMode="ltGray">
          <a:xfrm>
            <a:off x="2645663" y="4973114"/>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400" b="1" dirty="0">
                <a:latin typeface="宋体" panose="02010600030101010101" pitchFamily="2" charset="-122"/>
              </a:rPr>
              <a:t>破译以下密文：</a:t>
            </a:r>
          </a:p>
        </p:txBody>
      </p:sp>
      <p:sp>
        <p:nvSpPr>
          <p:cNvPr id="14" name="Text Box 4">
            <a:extLst>
              <a:ext uri="{FF2B5EF4-FFF2-40B4-BE49-F238E27FC236}">
                <a16:creationId xmlns:a16="http://schemas.microsoft.com/office/drawing/2014/main" id="{E5CA14A3-58A9-82A6-85D5-55AA909B5B37}"/>
              </a:ext>
            </a:extLst>
          </p:cNvPr>
          <p:cNvSpPr txBox="1">
            <a:spLocks noChangeArrowheads="1"/>
          </p:cNvSpPr>
          <p:nvPr/>
        </p:nvSpPr>
        <p:spPr bwMode="ltGray">
          <a:xfrm>
            <a:off x="3855340" y="5358871"/>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800" dirty="0">
                <a:latin typeface="宋体" panose="02010600030101010101" pitchFamily="2" charset="-122"/>
              </a:rPr>
              <a:t>C= </a:t>
            </a:r>
            <a:r>
              <a:rPr kumimoji="1" lang="en-US" altLang="zh-CN" sz="2800" dirty="0" err="1">
                <a:latin typeface="宋体" panose="02010600030101010101" pitchFamily="2" charset="-122"/>
              </a:rPr>
              <a:t>wuhdwb</a:t>
            </a:r>
            <a:r>
              <a:rPr kumimoji="1" lang="en-US" altLang="zh-CN" sz="2800" dirty="0">
                <a:latin typeface="宋体" panose="02010600030101010101" pitchFamily="2" charset="-122"/>
              </a:rPr>
              <a:t> </a:t>
            </a:r>
            <a:r>
              <a:rPr kumimoji="1" lang="en-US" altLang="zh-CN" sz="2800" dirty="0" err="1">
                <a:latin typeface="宋体" panose="02010600030101010101" pitchFamily="2" charset="-122"/>
              </a:rPr>
              <a:t>lpsrvvleoh</a:t>
            </a:r>
            <a:endParaRPr kumimoji="1" lang="en-US" altLang="zh-CN" sz="2800" dirty="0">
              <a:latin typeface="宋体" panose="02010600030101010101" pitchFamily="2" charset="-122"/>
            </a:endParaRPr>
          </a:p>
        </p:txBody>
      </p:sp>
      <p:sp>
        <p:nvSpPr>
          <p:cNvPr id="15" name="Text Box 5">
            <a:extLst>
              <a:ext uri="{FF2B5EF4-FFF2-40B4-BE49-F238E27FC236}">
                <a16:creationId xmlns:a16="http://schemas.microsoft.com/office/drawing/2014/main" id="{8A73A7C7-8A5C-B055-4D38-68AF5F17FB40}"/>
              </a:ext>
            </a:extLst>
          </p:cNvPr>
          <p:cNvSpPr txBox="1">
            <a:spLocks noChangeArrowheads="1"/>
          </p:cNvSpPr>
          <p:nvPr/>
        </p:nvSpPr>
        <p:spPr bwMode="ltGray">
          <a:xfrm>
            <a:off x="3798193" y="5790671"/>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800" dirty="0">
                <a:latin typeface="宋体" panose="02010600030101010101" pitchFamily="2" charset="-122"/>
              </a:rPr>
              <a:t>m =TREATY IMPOSSIBLE</a:t>
            </a:r>
          </a:p>
        </p:txBody>
      </p:sp>
      <p:sp>
        <p:nvSpPr>
          <p:cNvPr id="16" name="Text Box 6">
            <a:extLst>
              <a:ext uri="{FF2B5EF4-FFF2-40B4-BE49-F238E27FC236}">
                <a16:creationId xmlns:a16="http://schemas.microsoft.com/office/drawing/2014/main" id="{4AB95314-4782-30BC-89CD-754633097D9F}"/>
              </a:ext>
            </a:extLst>
          </p:cNvPr>
          <p:cNvSpPr txBox="1">
            <a:spLocks noChangeArrowheads="1"/>
          </p:cNvSpPr>
          <p:nvPr/>
        </p:nvSpPr>
        <p:spPr bwMode="ltGray">
          <a:xfrm>
            <a:off x="4229989" y="1804464"/>
            <a:ext cx="36004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400" b="1" dirty="0">
                <a:latin typeface="宋体" panose="02010600030101010101" pitchFamily="2" charset="-122"/>
              </a:rPr>
              <a:t>C=E(m)=</a:t>
            </a:r>
            <a:r>
              <a:rPr kumimoji="1" lang="en-US" altLang="zh-CN" sz="2400" b="1" dirty="0" err="1">
                <a:latin typeface="宋体" panose="02010600030101010101" pitchFamily="2" charset="-122"/>
              </a:rPr>
              <a:t>m+k</a:t>
            </a:r>
            <a:r>
              <a:rPr kumimoji="1" lang="en-US" altLang="zh-CN" sz="2400" b="1" dirty="0">
                <a:latin typeface="宋体" panose="02010600030101010101" pitchFamily="2" charset="-122"/>
              </a:rPr>
              <a:t> mod q </a:t>
            </a:r>
          </a:p>
        </p:txBody>
      </p:sp>
      <p:sp>
        <p:nvSpPr>
          <p:cNvPr id="17" name="Text Box 7">
            <a:extLst>
              <a:ext uri="{FF2B5EF4-FFF2-40B4-BE49-F238E27FC236}">
                <a16:creationId xmlns:a16="http://schemas.microsoft.com/office/drawing/2014/main" id="{7973A8BA-A321-EC7A-A851-994572ADBFC7}"/>
              </a:ext>
            </a:extLst>
          </p:cNvPr>
          <p:cNvSpPr txBox="1">
            <a:spLocks noChangeArrowheads="1"/>
          </p:cNvSpPr>
          <p:nvPr/>
        </p:nvSpPr>
        <p:spPr bwMode="ltGray">
          <a:xfrm>
            <a:off x="2544061" y="1829865"/>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400" b="1" dirty="0">
                <a:latin typeface="宋体" panose="02010600030101010101" pitchFamily="2" charset="-122"/>
              </a:rPr>
              <a:t>加密算法：</a:t>
            </a:r>
          </a:p>
        </p:txBody>
      </p:sp>
      <p:sp>
        <p:nvSpPr>
          <p:cNvPr id="18" name="Text Box 8">
            <a:extLst>
              <a:ext uri="{FF2B5EF4-FFF2-40B4-BE49-F238E27FC236}">
                <a16:creationId xmlns:a16="http://schemas.microsoft.com/office/drawing/2014/main" id="{D0732C24-2F1C-4FB1-93E7-5CAACD219258}"/>
              </a:ext>
            </a:extLst>
          </p:cNvPr>
          <p:cNvSpPr txBox="1">
            <a:spLocks noChangeArrowheads="1"/>
          </p:cNvSpPr>
          <p:nvPr/>
        </p:nvSpPr>
        <p:spPr bwMode="ltGray">
          <a:xfrm>
            <a:off x="2502800" y="2766493"/>
            <a:ext cx="7704137" cy="1200329"/>
          </a:xfrm>
          <a:prstGeom prst="rect">
            <a:avLst/>
          </a:prstGeom>
          <a:solidFill>
            <a:schemeClr val="bg1"/>
          </a:solidFill>
          <a:ln w="9525" cap="rnd">
            <a:solidFill>
              <a:srgbClr val="FF0000"/>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400" b="1" dirty="0">
                <a:latin typeface="宋体" panose="02010600030101010101" pitchFamily="2" charset="-122"/>
              </a:rPr>
              <a:t>                            </a:t>
            </a:r>
            <a:r>
              <a:rPr kumimoji="1" lang="zh-CN" altLang="en-US" sz="2400" b="1" dirty="0">
                <a:latin typeface="宋体" panose="02010600030101010101" pitchFamily="2" charset="-122"/>
              </a:rPr>
              <a:t>字母表（密码本）</a:t>
            </a:r>
          </a:p>
          <a:p>
            <a:pPr algn="just">
              <a:spcBef>
                <a:spcPct val="0"/>
              </a:spcBef>
              <a:buClrTx/>
              <a:buSzTx/>
              <a:buFontTx/>
              <a:buNone/>
            </a:pPr>
            <a:r>
              <a:rPr kumimoji="1" lang="zh-CN" altLang="en-US" sz="2400" b="1" dirty="0">
                <a:latin typeface="宋体" panose="02010600030101010101" pitchFamily="2" charset="-122"/>
              </a:rPr>
              <a:t>       </a:t>
            </a:r>
            <a:r>
              <a:rPr kumimoji="1" lang="en-US" altLang="zh-CN" sz="2400" b="1" dirty="0">
                <a:latin typeface="宋体" panose="02010600030101010101" pitchFamily="2" charset="-122"/>
              </a:rPr>
              <a:t>ABCDEFGHIJKLMNOPQRSTUVWXYZ</a:t>
            </a:r>
          </a:p>
          <a:p>
            <a:pPr algn="just">
              <a:spcBef>
                <a:spcPct val="0"/>
              </a:spcBef>
              <a:buClrTx/>
              <a:buSzTx/>
              <a:buFontTx/>
              <a:buNone/>
            </a:pPr>
            <a:r>
              <a:rPr kumimoji="1" lang="en-US" altLang="zh-CN" sz="2400" b="1" dirty="0">
                <a:latin typeface="宋体" panose="02010600030101010101" pitchFamily="2" charset="-122"/>
              </a:rPr>
              <a:t>       </a:t>
            </a:r>
            <a:r>
              <a:rPr kumimoji="1" lang="en-US" altLang="zh-CN" sz="2400" b="1" dirty="0" err="1">
                <a:latin typeface="宋体" panose="02010600030101010101" pitchFamily="2" charset="-122"/>
              </a:rPr>
              <a:t>defghijklmnopqrstuvwxyzabc</a:t>
            </a:r>
            <a:endParaRPr kumimoji="1" lang="en-US" altLang="zh-CN" sz="2400" b="1" dirty="0">
              <a:latin typeface="宋体" panose="02010600030101010101" pitchFamily="2" charset="-122"/>
            </a:endParaRPr>
          </a:p>
        </p:txBody>
      </p:sp>
      <p:sp>
        <p:nvSpPr>
          <p:cNvPr id="19" name="Text Box 11">
            <a:extLst>
              <a:ext uri="{FF2B5EF4-FFF2-40B4-BE49-F238E27FC236}">
                <a16:creationId xmlns:a16="http://schemas.microsoft.com/office/drawing/2014/main" id="{4784241C-14D3-62D8-EA56-83F63EA4F2F0}"/>
              </a:ext>
            </a:extLst>
          </p:cNvPr>
          <p:cNvSpPr txBox="1">
            <a:spLocks noChangeArrowheads="1"/>
          </p:cNvSpPr>
          <p:nvPr/>
        </p:nvSpPr>
        <p:spPr bwMode="ltGray">
          <a:xfrm>
            <a:off x="4229991" y="2236265"/>
            <a:ext cx="26725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400" b="1" dirty="0">
                <a:latin typeface="宋体" panose="02010600030101010101" pitchFamily="2" charset="-122"/>
              </a:rPr>
              <a:t>m=D(C)=C-k mod q</a:t>
            </a:r>
          </a:p>
        </p:txBody>
      </p:sp>
      <p:sp>
        <p:nvSpPr>
          <p:cNvPr id="20" name="Text Box 12">
            <a:extLst>
              <a:ext uri="{FF2B5EF4-FFF2-40B4-BE49-F238E27FC236}">
                <a16:creationId xmlns:a16="http://schemas.microsoft.com/office/drawing/2014/main" id="{3435C2F9-9723-2313-B7CB-7DD2F7AF5005}"/>
              </a:ext>
            </a:extLst>
          </p:cNvPr>
          <p:cNvSpPr txBox="1">
            <a:spLocks noChangeArrowheads="1"/>
          </p:cNvSpPr>
          <p:nvPr/>
        </p:nvSpPr>
        <p:spPr bwMode="ltGray">
          <a:xfrm>
            <a:off x="2544061" y="2261665"/>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400" b="1" dirty="0">
                <a:latin typeface="宋体" panose="02010600030101010101" pitchFamily="2" charset="-122"/>
              </a:rPr>
              <a:t>解密算法：</a:t>
            </a:r>
          </a:p>
        </p:txBody>
      </p:sp>
      <p:sp>
        <p:nvSpPr>
          <p:cNvPr id="21" name="Text Box 13">
            <a:extLst>
              <a:ext uri="{FF2B5EF4-FFF2-40B4-BE49-F238E27FC236}">
                <a16:creationId xmlns:a16="http://schemas.microsoft.com/office/drawing/2014/main" id="{46D3382B-1F91-5BF4-B99C-F76B4486786B}"/>
              </a:ext>
            </a:extLst>
          </p:cNvPr>
          <p:cNvSpPr txBox="1">
            <a:spLocks noChangeArrowheads="1"/>
          </p:cNvSpPr>
          <p:nvPr/>
        </p:nvSpPr>
        <p:spPr bwMode="ltGray">
          <a:xfrm>
            <a:off x="2502800" y="4206359"/>
            <a:ext cx="77041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400" b="1" dirty="0">
                <a:latin typeface="宋体" panose="02010600030101010101" pitchFamily="2" charset="-122"/>
              </a:rPr>
              <a:t>这是循环移位密码 。加密</a:t>
            </a:r>
            <a:r>
              <a:rPr kumimoji="1" lang="en-US" altLang="zh-CN" sz="2400" b="1" dirty="0">
                <a:latin typeface="宋体" panose="02010600030101010101" pitchFamily="2" charset="-122"/>
              </a:rPr>
              <a:t>: </a:t>
            </a:r>
            <a:r>
              <a:rPr kumimoji="1" lang="zh-CN" altLang="en-US" sz="2400" b="1" dirty="0">
                <a:latin typeface="宋体" panose="02010600030101010101" pitchFamily="2" charset="-122"/>
              </a:rPr>
              <a:t>字母向后移动</a:t>
            </a:r>
            <a:r>
              <a:rPr kumimoji="1" lang="en-US" altLang="zh-CN" sz="2400" b="1" dirty="0">
                <a:latin typeface="宋体" panose="02010600030101010101" pitchFamily="2" charset="-122"/>
              </a:rPr>
              <a:t>3</a:t>
            </a:r>
            <a:r>
              <a:rPr kumimoji="1" lang="zh-CN" altLang="en-US" sz="2400" b="1" dirty="0">
                <a:latin typeface="宋体" panose="02010600030101010101" pitchFamily="2" charset="-122"/>
              </a:rPr>
              <a:t>位；</a:t>
            </a:r>
          </a:p>
          <a:p>
            <a:pPr>
              <a:spcBef>
                <a:spcPct val="0"/>
              </a:spcBef>
              <a:buClrTx/>
              <a:buSzTx/>
              <a:buFontTx/>
              <a:buNone/>
            </a:pPr>
            <a:r>
              <a:rPr kumimoji="1" lang="zh-CN" altLang="en-US" sz="2400" b="1">
                <a:latin typeface="宋体" panose="02010600030101010101" pitchFamily="2" charset="-122"/>
              </a:rPr>
              <a:t>                   解密</a:t>
            </a:r>
            <a:r>
              <a:rPr kumimoji="1" lang="en-US" altLang="zh-CN" sz="2400" b="1" dirty="0">
                <a:latin typeface="宋体" panose="02010600030101010101" pitchFamily="2" charset="-122"/>
              </a:rPr>
              <a:t>: </a:t>
            </a:r>
            <a:r>
              <a:rPr kumimoji="1" lang="zh-CN" altLang="en-US" sz="2400" b="1" dirty="0">
                <a:latin typeface="宋体" panose="02010600030101010101" pitchFamily="2" charset="-122"/>
              </a:rPr>
              <a:t>字母向前移动</a:t>
            </a:r>
            <a:r>
              <a:rPr kumimoji="1" lang="en-US" altLang="zh-CN" sz="2400" b="1" dirty="0">
                <a:latin typeface="宋体" panose="02010600030101010101" pitchFamily="2" charset="-122"/>
              </a:rPr>
              <a:t>3</a:t>
            </a:r>
            <a:r>
              <a:rPr kumimoji="1" lang="zh-CN" altLang="en-US" sz="2400" b="1" dirty="0">
                <a:latin typeface="宋体" panose="02010600030101010101" pitchFamily="2" charset="-122"/>
              </a:rPr>
              <a:t>位。</a:t>
            </a:r>
          </a:p>
        </p:txBody>
      </p:sp>
      <p:sp>
        <p:nvSpPr>
          <p:cNvPr id="22" name="AutoShape 14">
            <a:extLst>
              <a:ext uri="{FF2B5EF4-FFF2-40B4-BE49-F238E27FC236}">
                <a16:creationId xmlns:a16="http://schemas.microsoft.com/office/drawing/2014/main" id="{293B3BF4-A991-B0A0-9107-9E40CB8D8CF1}"/>
              </a:ext>
            </a:extLst>
          </p:cNvPr>
          <p:cNvSpPr>
            <a:spLocks noChangeArrowheads="1"/>
          </p:cNvSpPr>
          <p:nvPr/>
        </p:nvSpPr>
        <p:spPr bwMode="auto">
          <a:xfrm>
            <a:off x="7254177" y="1685410"/>
            <a:ext cx="1655763" cy="576263"/>
          </a:xfrm>
          <a:prstGeom prst="cloudCallout">
            <a:avLst>
              <a:gd name="adj1" fmla="val -43769"/>
              <a:gd name="adj2" fmla="val 96556"/>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b="1" dirty="0">
                <a:solidFill>
                  <a:schemeClr val="bg1"/>
                </a:solidFill>
                <a:latin typeface="宋体" panose="02010600030101010101" pitchFamily="2" charset="-122"/>
              </a:rPr>
              <a:t>Key=3</a:t>
            </a:r>
          </a:p>
        </p:txBody>
      </p:sp>
    </p:spTree>
    <p:extLst>
      <p:ext uri="{BB962C8B-B14F-4D97-AF65-F5344CB8AC3E}">
        <p14:creationId xmlns:p14="http://schemas.microsoft.com/office/powerpoint/2010/main" val="401378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nodePh="1">
                                  <p:stCondLst>
                                    <p:cond delay="0"/>
                                  </p:stCondLst>
                                  <p:endCondLst>
                                    <p:cond evt="begin" delay="0">
                                      <p:tn val="17"/>
                                    </p:cond>
                                  </p:end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p:cTn id="19"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1"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2" dur="1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nodePh="1">
                                  <p:stCondLst>
                                    <p:cond delay="0"/>
                                  </p:stCondLst>
                                  <p:endCondLst>
                                    <p:cond evt="begin" delay="0">
                                      <p:tn val="25"/>
                                    </p:cond>
                                  </p:end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nodePh="1">
                                  <p:stCondLst>
                                    <p:cond delay="0"/>
                                  </p:stCondLst>
                                  <p:endCondLst>
                                    <p:cond evt="begin" delay="0">
                                      <p:tn val="31"/>
                                    </p:cond>
                                  </p:end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wipe(left)">
                                      <p:cBhvr>
                                        <p:cTn id="33" dur="500"/>
                                        <p:tgtEl>
                                          <p:spTgt spid="1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0-#ppt_w/2"/>
                                          </p:val>
                                        </p:tav>
                                        <p:tav tm="100000">
                                          <p:val>
                                            <p:strVal val="#ppt_x"/>
                                          </p:val>
                                        </p:tav>
                                      </p:tavLst>
                                    </p:anim>
                                    <p:anim calcmode="lin" valueType="num">
                                      <p:cBhvr additive="base">
                                        <p:cTn id="39"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0-#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additive="base">
                                        <p:cTn id="50" dur="500" fill="hold"/>
                                        <p:tgtEl>
                                          <p:spTgt spid="20"/>
                                        </p:tgtEl>
                                        <p:attrNameLst>
                                          <p:attrName>ppt_x</p:attrName>
                                        </p:attrNameLst>
                                      </p:cBhvr>
                                      <p:tavLst>
                                        <p:tav tm="0">
                                          <p:val>
                                            <p:strVal val="0-#ppt_w/2"/>
                                          </p:val>
                                        </p:tav>
                                        <p:tav tm="100000">
                                          <p:val>
                                            <p:strVal val="#ppt_x"/>
                                          </p:val>
                                        </p:tav>
                                      </p:tavLst>
                                    </p:anim>
                                    <p:anim calcmode="lin" valueType="num">
                                      <p:cBhvr additive="base">
                                        <p:cTn id="51"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0-#ppt_w/2"/>
                                          </p:val>
                                        </p:tav>
                                        <p:tav tm="100000">
                                          <p:val>
                                            <p:strVal val="#ppt_x"/>
                                          </p:val>
                                        </p:tav>
                                      </p:tavLst>
                                    </p:anim>
                                    <p:anim calcmode="lin" valueType="num">
                                      <p:cBhvr additive="base">
                                        <p:cTn id="57"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ipe(left)">
                                      <p:cBhvr>
                                        <p:cTn id="77" dur="50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iterate type="lt">
                                    <p:tmPct val="100000"/>
                                  </p:iterate>
                                  <p:childTnLst>
                                    <p:set>
                                      <p:cBhvr>
                                        <p:cTn id="86" dur="1" fill="hold">
                                          <p:stCondLst>
                                            <p:cond delay="0"/>
                                          </p:stCondLst>
                                        </p:cTn>
                                        <p:tgtEl>
                                          <p:spTgt spid="15"/>
                                        </p:tgtEl>
                                        <p:attrNameLst>
                                          <p:attrName>style.visibility</p:attrName>
                                        </p:attrNameLst>
                                      </p:cBhvr>
                                      <p:to>
                                        <p:strVal val="visible"/>
                                      </p:to>
                                    </p:set>
                                    <p:animEffect transition="in" filter="dissolve">
                                      <p:cBhvr>
                                        <p:cTn id="87" dur="75"/>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uild="p"/>
      <p:bldP spid="12" grpId="0"/>
      <p:bldP spid="14" grpId="0"/>
      <p:bldP spid="15" grpId="0" autoUpdateAnimBg="0"/>
      <p:bldP spid="16" grpId="0" autoUpdateAnimBg="0"/>
      <p:bldP spid="17" grpId="0" autoUpdateAnimBg="0"/>
      <p:bldP spid="18" grpId="0" animBg="1" autoUpdateAnimBg="0"/>
      <p:bldP spid="19" grpId="0" autoUpdateAnimBg="0"/>
      <p:bldP spid="20" grpId="0" autoUpdateAnimBg="0"/>
      <p:bldP spid="21" grpId="0"/>
      <p:bldP spid="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代换密码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1192623" y="1192999"/>
            <a:ext cx="1708092" cy="584776"/>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r>
              <a:rPr lang="zh-CN" altLang="en-US" b="1" dirty="0">
                <a:latin typeface="宋体" panose="02010600030101010101" pitchFamily="2" charset="-122"/>
                <a:ea typeface="宋体" panose="02010600030101010101" pitchFamily="2" charset="-122"/>
              </a:rPr>
              <a:t>凯撒密码</a:t>
            </a:r>
            <a:endParaRPr lang="en-US" altLang="zh-CN" b="1" dirty="0">
              <a:latin typeface="宋体" panose="02010600030101010101" pitchFamily="2" charset="-122"/>
              <a:ea typeface="宋体" panose="02010600030101010101" pitchFamily="2" charset="-122"/>
            </a:endParaRPr>
          </a:p>
        </p:txBody>
      </p:sp>
      <p:sp>
        <p:nvSpPr>
          <p:cNvPr id="13" name="Rectangle 9">
            <a:extLst>
              <a:ext uri="{FF2B5EF4-FFF2-40B4-BE49-F238E27FC236}">
                <a16:creationId xmlns:a16="http://schemas.microsoft.com/office/drawing/2014/main" id="{B1ED7A39-2938-6D86-AA11-08633F0C0950}"/>
              </a:ext>
            </a:extLst>
          </p:cNvPr>
          <p:cNvSpPr>
            <a:spLocks noRot="1" noChangeArrowheads="1"/>
          </p:cNvSpPr>
          <p:nvPr/>
        </p:nvSpPr>
        <p:spPr bwMode="auto">
          <a:xfrm>
            <a:off x="2348542" y="3289898"/>
            <a:ext cx="8424863"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endParaRPr lang="zh-CN" altLang="en-US" sz="2400" b="1" dirty="0">
              <a:latin typeface="宋体" panose="02010600030101010101" pitchFamily="2" charset="-122"/>
            </a:endParaRPr>
          </a:p>
        </p:txBody>
      </p:sp>
      <p:graphicFrame>
        <p:nvGraphicFramePr>
          <p:cNvPr id="23" name="Group 3">
            <a:extLst>
              <a:ext uri="{FF2B5EF4-FFF2-40B4-BE49-F238E27FC236}">
                <a16:creationId xmlns:a16="http://schemas.microsoft.com/office/drawing/2014/main" id="{931DFB4E-5A2C-BC88-C955-07752E9E6909}"/>
              </a:ext>
            </a:extLst>
          </p:cNvPr>
          <p:cNvGraphicFramePr>
            <a:graphicFrameLocks noGrp="1"/>
          </p:cNvGraphicFramePr>
          <p:nvPr>
            <p:extLst>
              <p:ext uri="{D42A27DB-BD31-4B8C-83A1-F6EECF244321}">
                <p14:modId xmlns:p14="http://schemas.microsoft.com/office/powerpoint/2010/main" val="1919401942"/>
              </p:ext>
            </p:extLst>
          </p:nvPr>
        </p:nvGraphicFramePr>
        <p:xfrm>
          <a:off x="3132896" y="2146286"/>
          <a:ext cx="6096000" cy="1968500"/>
        </p:xfrm>
        <a:graphic>
          <a:graphicData uri="http://schemas.openxmlformats.org/drawingml/2006/table">
            <a:tbl>
              <a:tblPr/>
              <a:tblGrid>
                <a:gridCol w="468312">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8312">
                  <a:extLst>
                    <a:ext uri="{9D8B030D-6E8A-4147-A177-3AD203B41FA5}">
                      <a16:colId xmlns:a16="http://schemas.microsoft.com/office/drawing/2014/main" val="20004"/>
                    </a:ext>
                  </a:extLst>
                </a:gridCol>
                <a:gridCol w="468313">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8312">
                  <a:extLst>
                    <a:ext uri="{9D8B030D-6E8A-4147-A177-3AD203B41FA5}">
                      <a16:colId xmlns:a16="http://schemas.microsoft.com/office/drawing/2014/main" val="20007"/>
                    </a:ext>
                  </a:extLst>
                </a:gridCol>
                <a:gridCol w="468313">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8312">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8313">
                  <a:extLst>
                    <a:ext uri="{9D8B030D-6E8A-4147-A177-3AD203B41FA5}">
                      <a16:colId xmlns:a16="http://schemas.microsoft.com/office/drawing/2014/main" val="20012"/>
                    </a:ext>
                  </a:extLst>
                </a:gridCol>
              </a:tblGrid>
              <a:tr h="500256">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a</a:t>
                      </a:r>
                    </a:p>
                  </a:txBody>
                  <a:tcPr marT="45739" marB="457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b</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c</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d</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e</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f</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g</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h</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i</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j</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k</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l</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m</a:t>
                      </a:r>
                    </a:p>
                  </a:txBody>
                  <a:tcPr marT="45739" marB="457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8023">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D</a:t>
                      </a:r>
                    </a:p>
                  </a:txBody>
                  <a:tcPr marT="45739" marB="457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E</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F</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G</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H</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I</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J</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K</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L</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M</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N</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O</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P</a:t>
                      </a:r>
                    </a:p>
                  </a:txBody>
                  <a:tcPr marT="45739" marB="457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4549">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n</a:t>
                      </a:r>
                    </a:p>
                  </a:txBody>
                  <a:tcPr marT="45739" marB="457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o</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p</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q</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r</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s</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t</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u</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v</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w</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x</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y</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z</a:t>
                      </a:r>
                    </a:p>
                  </a:txBody>
                  <a:tcPr marT="45739" marB="457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672">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Q</a:t>
                      </a:r>
                    </a:p>
                  </a:txBody>
                  <a:tcPr marT="45739" marB="457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R</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S</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T</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U</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V</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W</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X</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Y</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Z</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A</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itchFamily="18" charset="0"/>
                          <a:ea typeface="楷体_GB2312" pitchFamily="49" charset="-122"/>
                        </a:rPr>
                        <a:t>B</a:t>
                      </a:r>
                    </a:p>
                  </a:txBody>
                  <a:tcPr marT="45739" marB="457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1pPr>
                      <a:lvl2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2pPr>
                      <a:lvl3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3pPr>
                      <a:lvl4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4pPr>
                      <a:lvl5pPr algn="l" eaLnBrk="0" hangingPunct="0">
                        <a:lnSpc>
                          <a:spcPct val="120000"/>
                        </a:lnSpc>
                        <a:spcBef>
                          <a:spcPct val="20000"/>
                        </a:spcBef>
                        <a:defRPr kumimoji="1" sz="2400">
                          <a:solidFill>
                            <a:schemeClr val="tx1"/>
                          </a:solidFill>
                          <a:latin typeface="Times New Roman" pitchFamily="18" charset="0"/>
                          <a:ea typeface="楷体_GB2312" pitchFamily="49" charset="-122"/>
                        </a:defRPr>
                      </a:lvl5pPr>
                      <a:lvl6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6pPr>
                      <a:lvl7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7pPr>
                      <a:lvl8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8pPr>
                      <a:lvl9pPr eaLnBrk="0" fontAlgn="base" hangingPunct="0">
                        <a:lnSpc>
                          <a:spcPct val="120000"/>
                        </a:lnSpc>
                        <a:spcBef>
                          <a:spcPct val="20000"/>
                        </a:spcBef>
                        <a:spcAft>
                          <a:spcPct val="0"/>
                        </a:spcAft>
                        <a:defRPr kumimoji="1" sz="2400">
                          <a:solidFill>
                            <a:schemeClr val="tx1"/>
                          </a:solidFill>
                          <a:latin typeface="Times New Roman" pitchFamily="18" charset="0"/>
                          <a:ea typeface="楷体_GB2312" pitchFamily="49"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itchFamily="18" charset="0"/>
                          <a:ea typeface="楷体_GB2312" pitchFamily="49" charset="-122"/>
                        </a:rPr>
                        <a:t>C</a:t>
                      </a:r>
                    </a:p>
                  </a:txBody>
                  <a:tcPr marT="45739" marB="457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4" name="Group 75">
            <a:extLst>
              <a:ext uri="{FF2B5EF4-FFF2-40B4-BE49-F238E27FC236}">
                <a16:creationId xmlns:a16="http://schemas.microsoft.com/office/drawing/2014/main" id="{AB811922-409F-EB79-0635-6626117EFA3E}"/>
              </a:ext>
            </a:extLst>
          </p:cNvPr>
          <p:cNvGraphicFramePr>
            <a:graphicFrameLocks noGrp="1"/>
          </p:cNvGraphicFramePr>
          <p:nvPr>
            <p:extLst>
              <p:ext uri="{D42A27DB-BD31-4B8C-83A1-F6EECF244321}">
                <p14:modId xmlns:p14="http://schemas.microsoft.com/office/powerpoint/2010/main" val="2967280241"/>
              </p:ext>
            </p:extLst>
          </p:nvPr>
        </p:nvGraphicFramePr>
        <p:xfrm>
          <a:off x="3132897" y="4281468"/>
          <a:ext cx="6019803" cy="929834"/>
        </p:xfrm>
        <a:graphic>
          <a:graphicData uri="http://schemas.openxmlformats.org/drawingml/2006/table">
            <a:tbl>
              <a:tblPr/>
              <a:tblGrid>
                <a:gridCol w="1076325">
                  <a:extLst>
                    <a:ext uri="{9D8B030D-6E8A-4147-A177-3AD203B41FA5}">
                      <a16:colId xmlns:a16="http://schemas.microsoft.com/office/drawing/2014/main" val="20000"/>
                    </a:ext>
                  </a:extLst>
                </a:gridCol>
                <a:gridCol w="615951">
                  <a:extLst>
                    <a:ext uri="{9D8B030D-6E8A-4147-A177-3AD203B41FA5}">
                      <a16:colId xmlns:a16="http://schemas.microsoft.com/office/drawing/2014/main" val="20001"/>
                    </a:ext>
                  </a:extLst>
                </a:gridCol>
                <a:gridCol w="619125">
                  <a:extLst>
                    <a:ext uri="{9D8B030D-6E8A-4147-A177-3AD203B41FA5}">
                      <a16:colId xmlns:a16="http://schemas.microsoft.com/office/drawing/2014/main" val="20002"/>
                    </a:ext>
                  </a:extLst>
                </a:gridCol>
                <a:gridCol w="619125">
                  <a:extLst>
                    <a:ext uri="{9D8B030D-6E8A-4147-A177-3AD203B41FA5}">
                      <a16:colId xmlns:a16="http://schemas.microsoft.com/office/drawing/2014/main" val="20003"/>
                    </a:ext>
                  </a:extLst>
                </a:gridCol>
                <a:gridCol w="615951">
                  <a:extLst>
                    <a:ext uri="{9D8B030D-6E8A-4147-A177-3AD203B41FA5}">
                      <a16:colId xmlns:a16="http://schemas.microsoft.com/office/drawing/2014/main" val="20004"/>
                    </a:ext>
                  </a:extLst>
                </a:gridCol>
                <a:gridCol w="619125">
                  <a:extLst>
                    <a:ext uri="{9D8B030D-6E8A-4147-A177-3AD203B41FA5}">
                      <a16:colId xmlns:a16="http://schemas.microsoft.com/office/drawing/2014/main" val="20005"/>
                    </a:ext>
                  </a:extLst>
                </a:gridCol>
                <a:gridCol w="619125">
                  <a:extLst>
                    <a:ext uri="{9D8B030D-6E8A-4147-A177-3AD203B41FA5}">
                      <a16:colId xmlns:a16="http://schemas.microsoft.com/office/drawing/2014/main" val="20006"/>
                    </a:ext>
                  </a:extLst>
                </a:gridCol>
                <a:gridCol w="615951">
                  <a:extLst>
                    <a:ext uri="{9D8B030D-6E8A-4147-A177-3AD203B41FA5}">
                      <a16:colId xmlns:a16="http://schemas.microsoft.com/office/drawing/2014/main" val="20007"/>
                    </a:ext>
                  </a:extLst>
                </a:gridCol>
                <a:gridCol w="619125">
                  <a:extLst>
                    <a:ext uri="{9D8B030D-6E8A-4147-A177-3AD203B41FA5}">
                      <a16:colId xmlns:a16="http://schemas.microsoft.com/office/drawing/2014/main" val="20008"/>
                    </a:ext>
                  </a:extLst>
                </a:gridCol>
              </a:tblGrid>
              <a:tr h="44805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隶书" panose="02010509060101010101" pitchFamily="49" charset="-122"/>
                          <a:ea typeface="隶书" panose="02010509060101010101" pitchFamily="49" charset="-122"/>
                        </a:rPr>
                        <a:t>明文</a:t>
                      </a:r>
                      <a:r>
                        <a:rPr kumimoji="1" lang="zh-CN" altLang="en-US" sz="2100" b="0" i="0" u="none" strike="noStrike" cap="none" normalizeH="0" baseline="0" dirty="0">
                          <a:ln>
                            <a:noFill/>
                          </a:ln>
                          <a:solidFill>
                            <a:schemeClr val="tx1"/>
                          </a:solidFill>
                          <a:effectLst/>
                          <a:latin typeface="Times New Roman" panose="02020603050405020304" pitchFamily="18" charset="0"/>
                          <a:ea typeface="楷体_GB2312" pitchFamily="49" charset="-122"/>
                        </a:rPr>
                        <a:t>：</a:t>
                      </a:r>
                    </a:p>
                  </a:txBody>
                  <a:tcPr marT="45593" marB="455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o</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m</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p</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u</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t</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e</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r</a:t>
                      </a:r>
                    </a:p>
                  </a:txBody>
                  <a:tcPr marT="45593" marB="455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777">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隶书" panose="02010509060101010101" pitchFamily="49" charset="-122"/>
                          <a:ea typeface="隶书" panose="02010509060101010101" pitchFamily="49" charset="-122"/>
                        </a:rPr>
                        <a:t>密文</a:t>
                      </a:r>
                    </a:p>
                  </a:txBody>
                  <a:tcPr marT="45593" marB="455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F</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R</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P</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S</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X</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W</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a:ln>
                            <a:noFill/>
                          </a:ln>
                          <a:solidFill>
                            <a:schemeClr val="tx1"/>
                          </a:solidFill>
                          <a:effectLst/>
                          <a:latin typeface="Times New Roman" panose="02020603050405020304" pitchFamily="18" charset="0"/>
                          <a:ea typeface="楷体_GB2312" pitchFamily="49" charset="-122"/>
                        </a:rPr>
                        <a:t>H</a:t>
                      </a:r>
                    </a:p>
                  </a:txBody>
                  <a:tcPr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20000"/>
                        </a:spcBef>
                        <a:spcAft>
                          <a:spcPct val="0"/>
                        </a:spcAft>
                        <a:buClrTx/>
                        <a:buSzTx/>
                        <a:buFontTx/>
                        <a:buNone/>
                        <a:tabLst/>
                      </a:pPr>
                      <a:r>
                        <a:rPr kumimoji="1" lang="en-US" altLang="zh-CN" sz="2100" b="0" i="0" u="none" strike="noStrike" cap="none" normalizeH="0" baseline="0" dirty="0">
                          <a:ln>
                            <a:noFill/>
                          </a:ln>
                          <a:solidFill>
                            <a:schemeClr val="tx1"/>
                          </a:solidFill>
                          <a:effectLst/>
                          <a:latin typeface="Times New Roman" panose="02020603050405020304" pitchFamily="18" charset="0"/>
                          <a:ea typeface="楷体_GB2312" pitchFamily="49" charset="-122"/>
                        </a:rPr>
                        <a:t>U</a:t>
                      </a:r>
                    </a:p>
                  </a:txBody>
                  <a:tcPr marT="45593" marB="455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5" name="文本框 7">
            <a:extLst>
              <a:ext uri="{FF2B5EF4-FFF2-40B4-BE49-F238E27FC236}">
                <a16:creationId xmlns:a16="http://schemas.microsoft.com/office/drawing/2014/main" id="{D204439F-FA25-F00B-4E78-DCF57EDF2298}"/>
              </a:ext>
            </a:extLst>
          </p:cNvPr>
          <p:cNvSpPr txBox="1">
            <a:spLocks noChangeArrowheads="1"/>
          </p:cNvSpPr>
          <p:nvPr/>
        </p:nvSpPr>
        <p:spPr bwMode="auto">
          <a:xfrm>
            <a:off x="2985679" y="1670744"/>
            <a:ext cx="2941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800" dirty="0"/>
              <a:t>凯撒密码表</a:t>
            </a:r>
            <a:endParaRPr lang="en-CA" altLang="en-US" sz="1800" dirty="0"/>
          </a:p>
        </p:txBody>
      </p:sp>
      <p:sp>
        <p:nvSpPr>
          <p:cNvPr id="26" name="文本框 8">
            <a:extLst>
              <a:ext uri="{FF2B5EF4-FFF2-40B4-BE49-F238E27FC236}">
                <a16:creationId xmlns:a16="http://schemas.microsoft.com/office/drawing/2014/main" id="{ACBEFD87-AE0C-74FE-4630-5B7EE28C1060}"/>
              </a:ext>
            </a:extLst>
          </p:cNvPr>
          <p:cNvSpPr txBox="1">
            <a:spLocks noChangeArrowheads="1"/>
          </p:cNvSpPr>
          <p:nvPr/>
        </p:nvSpPr>
        <p:spPr bwMode="auto">
          <a:xfrm>
            <a:off x="2978921" y="5494318"/>
            <a:ext cx="64087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800" dirty="0"/>
              <a:t>密钥为</a:t>
            </a:r>
            <a:r>
              <a:rPr lang="en-US" altLang="zh-CN" sz="1800" dirty="0"/>
              <a:t>3</a:t>
            </a:r>
            <a:r>
              <a:rPr lang="zh-CN" altLang="en-US" sz="1800" dirty="0"/>
              <a:t>，数学表达式为：</a:t>
            </a:r>
            <a:r>
              <a:rPr lang="en-US" altLang="zh-CN" sz="1800" dirty="0"/>
              <a:t>f(x)=(x+3)mod26, </a:t>
            </a:r>
            <a:r>
              <a:rPr lang="zh-CN" altLang="en-US" sz="1800" dirty="0"/>
              <a:t>其中</a:t>
            </a:r>
            <a:r>
              <a:rPr lang="en-US" altLang="zh-CN" sz="1800" dirty="0"/>
              <a:t>a</a:t>
            </a:r>
            <a:r>
              <a:rPr lang="zh-CN" altLang="en-US" sz="1800" dirty="0"/>
              <a:t>为</a:t>
            </a:r>
            <a:r>
              <a:rPr lang="en-US" altLang="zh-CN" sz="1800" dirty="0"/>
              <a:t>0,z</a:t>
            </a:r>
            <a:r>
              <a:rPr lang="zh-CN" altLang="en-US" sz="1800" dirty="0"/>
              <a:t>为</a:t>
            </a:r>
            <a:r>
              <a:rPr lang="en-US" altLang="zh-CN" sz="1800" dirty="0"/>
              <a:t>25.</a:t>
            </a:r>
            <a:endParaRPr lang="en-CA" altLang="en-US" sz="1800" dirty="0"/>
          </a:p>
        </p:txBody>
      </p:sp>
    </p:spTree>
    <p:extLst>
      <p:ext uri="{BB962C8B-B14F-4D97-AF65-F5344CB8AC3E}">
        <p14:creationId xmlns:p14="http://schemas.microsoft.com/office/powerpoint/2010/main" val="279793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nodePh="1">
                                  <p:stCondLst>
                                    <p:cond delay="0"/>
                                  </p:stCondLst>
                                  <p:endCondLst>
                                    <p:cond evt="begin" delay="0">
                                      <p:tn val="17"/>
                                    </p:cond>
                                  </p:end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p:cTn id="19"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1"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2" dur="1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nodePh="1">
                                  <p:stCondLst>
                                    <p:cond delay="0"/>
                                  </p:stCondLst>
                                  <p:endCondLst>
                                    <p:cond evt="begin" delay="0">
                                      <p:tn val="25"/>
                                    </p:cond>
                                  </p:end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nodePh="1">
                                  <p:stCondLst>
                                    <p:cond delay="0"/>
                                  </p:stCondLst>
                                  <p:endCondLst>
                                    <p:cond evt="begin" delay="0">
                                      <p:tn val="31"/>
                                    </p:cond>
                                  </p:end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wipe(left)">
                                      <p:cBhvr>
                                        <p:cTn id="33" dur="500"/>
                                        <p:tgtEl>
                                          <p:spTgt spid="1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1000"/>
                                        <p:tgtEl>
                                          <p:spTgt spid="24"/>
                                        </p:tgtEl>
                                      </p:cBhvr>
                                    </p:animEffect>
                                    <p:anim calcmode="lin" valueType="num">
                                      <p:cBhvr>
                                        <p:cTn id="49" dur="1000" fill="hold"/>
                                        <p:tgtEl>
                                          <p:spTgt spid="24"/>
                                        </p:tgtEl>
                                        <p:attrNameLst>
                                          <p:attrName>ppt_x</p:attrName>
                                        </p:attrNameLst>
                                      </p:cBhvr>
                                      <p:tavLst>
                                        <p:tav tm="0">
                                          <p:val>
                                            <p:strVal val="#ppt_x"/>
                                          </p:val>
                                        </p:tav>
                                        <p:tav tm="100000">
                                          <p:val>
                                            <p:strVal val="#ppt_x"/>
                                          </p:val>
                                        </p:tav>
                                      </p:tavLst>
                                    </p:anim>
                                    <p:anim calcmode="lin" valueType="num">
                                      <p:cBhvr>
                                        <p:cTn id="5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uild="p"/>
      <p:bldP spid="25"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6" y="237509"/>
            <a:ext cx="387798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古典密码</a:t>
            </a:r>
            <a:r>
              <a:rPr kumimoji="1" lang="en-US" altLang="zh-CN" sz="3200" dirty="0">
                <a:solidFill>
                  <a:srgbClr val="44546A"/>
                </a:solidFill>
                <a:cs typeface="+mn-ea"/>
                <a:sym typeface="+mn-lt"/>
              </a:rPr>
              <a:t>—</a:t>
            </a:r>
            <a:r>
              <a:rPr kumimoji="1" lang="zh-CN" altLang="en-US" sz="3200" dirty="0">
                <a:solidFill>
                  <a:srgbClr val="44546A"/>
                </a:solidFill>
                <a:cs typeface="+mn-ea"/>
                <a:sym typeface="+mn-lt"/>
              </a:rPr>
              <a:t>代换密码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8" name="内容占位符 2">
            <a:extLst>
              <a:ext uri="{FF2B5EF4-FFF2-40B4-BE49-F238E27FC236}">
                <a16:creationId xmlns:a16="http://schemas.microsoft.com/office/drawing/2014/main" id="{F2262AA1-950A-E15C-3CEB-264DC9E49EEC}"/>
              </a:ext>
            </a:extLst>
          </p:cNvPr>
          <p:cNvSpPr txBox="1">
            <a:spLocks/>
          </p:cNvSpPr>
          <p:nvPr/>
        </p:nvSpPr>
        <p:spPr>
          <a:xfrm>
            <a:off x="5920560" y="1068618"/>
            <a:ext cx="6163021" cy="4622015"/>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13" name="Rectangle 9">
            <a:extLst>
              <a:ext uri="{FF2B5EF4-FFF2-40B4-BE49-F238E27FC236}">
                <a16:creationId xmlns:a16="http://schemas.microsoft.com/office/drawing/2014/main" id="{B1ED7A39-2938-6D86-AA11-08633F0C0950}"/>
              </a:ext>
            </a:extLst>
          </p:cNvPr>
          <p:cNvSpPr>
            <a:spLocks noRot="1" noChangeArrowheads="1"/>
          </p:cNvSpPr>
          <p:nvPr/>
        </p:nvSpPr>
        <p:spPr bwMode="auto">
          <a:xfrm>
            <a:off x="2348542" y="3289898"/>
            <a:ext cx="8424863"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endParaRPr lang="zh-CN" altLang="en-US" sz="2400" b="1" dirty="0">
              <a:latin typeface="宋体" panose="02010600030101010101" pitchFamily="2" charset="-122"/>
            </a:endParaRPr>
          </a:p>
        </p:txBody>
      </p:sp>
      <p:sp>
        <p:nvSpPr>
          <p:cNvPr id="14" name="Text Box 2">
            <a:extLst>
              <a:ext uri="{FF2B5EF4-FFF2-40B4-BE49-F238E27FC236}">
                <a16:creationId xmlns:a16="http://schemas.microsoft.com/office/drawing/2014/main" id="{B630B469-E14B-561B-BA8E-5632D0719884}"/>
              </a:ext>
            </a:extLst>
          </p:cNvPr>
          <p:cNvSpPr txBox="1">
            <a:spLocks noChangeArrowheads="1"/>
          </p:cNvSpPr>
          <p:nvPr/>
        </p:nvSpPr>
        <p:spPr bwMode="ltGray">
          <a:xfrm>
            <a:off x="1364223" y="4727181"/>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dirty="0">
                <a:latin typeface="宋体" panose="02010600030101010101" pitchFamily="2" charset="-122"/>
              </a:rPr>
              <a:t>加密明文：</a:t>
            </a:r>
          </a:p>
        </p:txBody>
      </p:sp>
      <p:sp>
        <p:nvSpPr>
          <p:cNvPr id="15" name="Text Box 3">
            <a:extLst>
              <a:ext uri="{FF2B5EF4-FFF2-40B4-BE49-F238E27FC236}">
                <a16:creationId xmlns:a16="http://schemas.microsoft.com/office/drawing/2014/main" id="{D29B717F-3317-FE21-AE66-0109CEBC078C}"/>
              </a:ext>
            </a:extLst>
          </p:cNvPr>
          <p:cNvSpPr txBox="1">
            <a:spLocks noChangeArrowheads="1"/>
          </p:cNvSpPr>
          <p:nvPr/>
        </p:nvSpPr>
        <p:spPr bwMode="ltGray">
          <a:xfrm>
            <a:off x="3093018" y="472719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dirty="0">
                <a:latin typeface="宋体" panose="02010600030101010101" pitchFamily="2" charset="-122"/>
              </a:rPr>
              <a:t>m= HELLO</a:t>
            </a:r>
          </a:p>
        </p:txBody>
      </p:sp>
      <p:sp>
        <p:nvSpPr>
          <p:cNvPr id="16" name="Text Box 4">
            <a:extLst>
              <a:ext uri="{FF2B5EF4-FFF2-40B4-BE49-F238E27FC236}">
                <a16:creationId xmlns:a16="http://schemas.microsoft.com/office/drawing/2014/main" id="{DA724529-5BCA-82F9-15FF-38F75C638523}"/>
              </a:ext>
            </a:extLst>
          </p:cNvPr>
          <p:cNvSpPr txBox="1">
            <a:spLocks noChangeArrowheads="1"/>
          </p:cNvSpPr>
          <p:nvPr/>
        </p:nvSpPr>
        <p:spPr bwMode="ltGray">
          <a:xfrm>
            <a:off x="5829860" y="4727192"/>
            <a:ext cx="10823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000" dirty="0">
                <a:latin typeface="宋体" panose="02010600030101010101" pitchFamily="2" charset="-122"/>
              </a:rPr>
              <a:t>C</a:t>
            </a:r>
            <a:r>
              <a:rPr kumimoji="1" lang="en-US" altLang="zh-CN" sz="2000" dirty="0">
                <a:latin typeface="宋体" panose="02010600030101010101" pitchFamily="2" charset="-122"/>
              </a:rPr>
              <a:t>=</a:t>
            </a:r>
            <a:r>
              <a:rPr kumimoji="1" lang="en-US" altLang="zh-CN" sz="2000" dirty="0" err="1">
                <a:latin typeface="宋体" panose="02010600030101010101" pitchFamily="2" charset="-122"/>
              </a:rPr>
              <a:t>wtaad</a:t>
            </a:r>
            <a:endParaRPr kumimoji="1" lang="en-US" altLang="zh-CN" sz="2000" dirty="0">
              <a:latin typeface="宋体" panose="02010600030101010101" pitchFamily="2" charset="-122"/>
            </a:endParaRPr>
          </a:p>
        </p:txBody>
      </p:sp>
      <p:sp>
        <p:nvSpPr>
          <p:cNvPr id="17" name="Text Box 5">
            <a:extLst>
              <a:ext uri="{FF2B5EF4-FFF2-40B4-BE49-F238E27FC236}">
                <a16:creationId xmlns:a16="http://schemas.microsoft.com/office/drawing/2014/main" id="{7D0B4EC1-D991-99C2-A76E-27F328080A9B}"/>
              </a:ext>
            </a:extLst>
          </p:cNvPr>
          <p:cNvSpPr txBox="1">
            <a:spLocks noChangeArrowheads="1"/>
          </p:cNvSpPr>
          <p:nvPr/>
        </p:nvSpPr>
        <p:spPr bwMode="ltGray">
          <a:xfrm>
            <a:off x="2302439" y="1752208"/>
            <a:ext cx="4032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1800" b="1" dirty="0">
                <a:latin typeface="宋体" panose="02010600030101010101" pitchFamily="2" charset="-122"/>
              </a:rPr>
              <a:t>C= (</a:t>
            </a:r>
            <a:r>
              <a:rPr lang="en-US" altLang="zh-CN" sz="1800" b="1" dirty="0" err="1">
                <a:latin typeface="宋体" panose="02010600030101010101" pitchFamily="2" charset="-122"/>
              </a:rPr>
              <a:t>m+k</a:t>
            </a:r>
            <a:r>
              <a:rPr lang="en-US" altLang="zh-CN" sz="1800" b="1" dirty="0">
                <a:latin typeface="宋体" panose="02010600030101010101" pitchFamily="2" charset="-122"/>
              </a:rPr>
              <a:t>)  mod 26</a:t>
            </a:r>
            <a:endParaRPr kumimoji="1" lang="en-US" altLang="zh-CN" sz="1800" b="1" dirty="0">
              <a:latin typeface="宋体" panose="02010600030101010101" pitchFamily="2" charset="-122"/>
            </a:endParaRPr>
          </a:p>
        </p:txBody>
      </p:sp>
      <p:sp>
        <p:nvSpPr>
          <p:cNvPr id="18" name="Text Box 6">
            <a:extLst>
              <a:ext uri="{FF2B5EF4-FFF2-40B4-BE49-F238E27FC236}">
                <a16:creationId xmlns:a16="http://schemas.microsoft.com/office/drawing/2014/main" id="{E3825062-D2C9-B970-651C-51ACB6C4C00F}"/>
              </a:ext>
            </a:extLst>
          </p:cNvPr>
          <p:cNvSpPr txBox="1">
            <a:spLocks noChangeArrowheads="1"/>
          </p:cNvSpPr>
          <p:nvPr/>
        </p:nvSpPr>
        <p:spPr bwMode="ltGray">
          <a:xfrm>
            <a:off x="543484" y="1742681"/>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dirty="0">
                <a:latin typeface="宋体" panose="02010600030101010101" pitchFamily="2" charset="-122"/>
              </a:rPr>
              <a:t>加密算法：</a:t>
            </a:r>
          </a:p>
        </p:txBody>
      </p:sp>
      <p:sp>
        <p:nvSpPr>
          <p:cNvPr id="19" name="Text Box 10">
            <a:extLst>
              <a:ext uri="{FF2B5EF4-FFF2-40B4-BE49-F238E27FC236}">
                <a16:creationId xmlns:a16="http://schemas.microsoft.com/office/drawing/2014/main" id="{56643C0F-0152-7A03-FBA5-6C8F2B1F775B}"/>
              </a:ext>
            </a:extLst>
          </p:cNvPr>
          <p:cNvSpPr txBox="1">
            <a:spLocks noChangeArrowheads="1"/>
          </p:cNvSpPr>
          <p:nvPr/>
        </p:nvSpPr>
        <p:spPr bwMode="ltGray">
          <a:xfrm>
            <a:off x="543484" y="224592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dirty="0">
                <a:latin typeface="宋体" panose="02010600030101010101" pitchFamily="2" charset="-122"/>
              </a:rPr>
              <a:t>解密算法：</a:t>
            </a:r>
          </a:p>
        </p:txBody>
      </p:sp>
      <p:sp>
        <p:nvSpPr>
          <p:cNvPr id="20" name="Text Box 11">
            <a:extLst>
              <a:ext uri="{FF2B5EF4-FFF2-40B4-BE49-F238E27FC236}">
                <a16:creationId xmlns:a16="http://schemas.microsoft.com/office/drawing/2014/main" id="{1DB89935-A072-A31A-42AA-EAA1EB922446}"/>
              </a:ext>
            </a:extLst>
          </p:cNvPr>
          <p:cNvSpPr txBox="1">
            <a:spLocks noChangeArrowheads="1"/>
          </p:cNvSpPr>
          <p:nvPr/>
        </p:nvSpPr>
        <p:spPr bwMode="ltGray">
          <a:xfrm>
            <a:off x="573648" y="2760283"/>
            <a:ext cx="49664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dirty="0">
                <a:latin typeface="宋体" panose="02010600030101010101" pitchFamily="2" charset="-122"/>
              </a:rPr>
              <a:t>循环移位密码 </a:t>
            </a:r>
            <a:r>
              <a:rPr kumimoji="1" lang="en-US" altLang="zh-CN" sz="1800" b="1" dirty="0">
                <a:latin typeface="宋体" panose="02010600030101010101" pitchFamily="2" charset="-122"/>
              </a:rPr>
              <a:t>—— </a:t>
            </a:r>
            <a:r>
              <a:rPr kumimoji="1" lang="zh-CN" altLang="en-US" sz="1800" b="1" dirty="0">
                <a:latin typeface="宋体" panose="02010600030101010101" pitchFamily="2" charset="-122"/>
              </a:rPr>
              <a:t>加密</a:t>
            </a:r>
            <a:r>
              <a:rPr kumimoji="1" lang="en-US" altLang="zh-CN" sz="1800" b="1" dirty="0">
                <a:latin typeface="宋体" panose="02010600030101010101" pitchFamily="2" charset="-122"/>
              </a:rPr>
              <a:t>: </a:t>
            </a:r>
            <a:r>
              <a:rPr kumimoji="1" lang="zh-CN" altLang="en-US" sz="1800" b="1" dirty="0">
                <a:latin typeface="宋体" panose="02010600030101010101" pitchFamily="2" charset="-122"/>
              </a:rPr>
              <a:t>字母向后移动</a:t>
            </a:r>
            <a:r>
              <a:rPr kumimoji="1" lang="en-US" altLang="zh-CN" sz="1800" b="1" dirty="0">
                <a:latin typeface="宋体" panose="02010600030101010101" pitchFamily="2" charset="-122"/>
              </a:rPr>
              <a:t>k</a:t>
            </a:r>
            <a:r>
              <a:rPr kumimoji="1" lang="zh-CN" altLang="en-US" sz="1800" b="1" dirty="0">
                <a:latin typeface="宋体" panose="02010600030101010101" pitchFamily="2" charset="-122"/>
              </a:rPr>
              <a:t>位；</a:t>
            </a:r>
          </a:p>
          <a:p>
            <a:pPr>
              <a:spcBef>
                <a:spcPct val="0"/>
              </a:spcBef>
              <a:buClrTx/>
              <a:buSzTx/>
              <a:buFontTx/>
              <a:buNone/>
            </a:pPr>
            <a:r>
              <a:rPr kumimoji="1" lang="zh-CN" altLang="en-US" sz="1800" b="1" dirty="0">
                <a:latin typeface="宋体" panose="02010600030101010101" pitchFamily="2" charset="-122"/>
              </a:rPr>
              <a:t>                 </a:t>
            </a:r>
            <a:r>
              <a:rPr kumimoji="1" lang="en-US" altLang="zh-CN" sz="1800" b="1" dirty="0">
                <a:latin typeface="宋体" panose="02010600030101010101" pitchFamily="2" charset="-122"/>
              </a:rPr>
              <a:t> </a:t>
            </a:r>
            <a:r>
              <a:rPr kumimoji="1" lang="zh-CN" altLang="en-US" sz="1800" b="1" dirty="0">
                <a:latin typeface="宋体" panose="02010600030101010101" pitchFamily="2" charset="-122"/>
              </a:rPr>
              <a:t>解密</a:t>
            </a:r>
            <a:r>
              <a:rPr kumimoji="1" lang="en-US" altLang="zh-CN" sz="1800" b="1" dirty="0">
                <a:latin typeface="宋体" panose="02010600030101010101" pitchFamily="2" charset="-122"/>
              </a:rPr>
              <a:t>: </a:t>
            </a:r>
            <a:r>
              <a:rPr kumimoji="1" lang="zh-CN" altLang="en-US" sz="1800" b="1" dirty="0">
                <a:latin typeface="宋体" panose="02010600030101010101" pitchFamily="2" charset="-122"/>
              </a:rPr>
              <a:t>字母向前移动</a:t>
            </a:r>
            <a:r>
              <a:rPr kumimoji="1" lang="en-US" altLang="zh-CN" sz="1800" b="1" dirty="0">
                <a:latin typeface="宋体" panose="02010600030101010101" pitchFamily="2" charset="-122"/>
              </a:rPr>
              <a:t>k</a:t>
            </a:r>
            <a:r>
              <a:rPr kumimoji="1" lang="zh-CN" altLang="en-US" sz="1800" b="1" dirty="0">
                <a:latin typeface="宋体" panose="02010600030101010101" pitchFamily="2" charset="-122"/>
              </a:rPr>
              <a:t>位。</a:t>
            </a:r>
          </a:p>
        </p:txBody>
      </p:sp>
      <p:sp>
        <p:nvSpPr>
          <p:cNvPr id="21" name="Text Box 12">
            <a:extLst>
              <a:ext uri="{FF2B5EF4-FFF2-40B4-BE49-F238E27FC236}">
                <a16:creationId xmlns:a16="http://schemas.microsoft.com/office/drawing/2014/main" id="{DBF1537B-371D-7963-EE87-CE2F47DFC486}"/>
              </a:ext>
            </a:extLst>
          </p:cNvPr>
          <p:cNvSpPr txBox="1">
            <a:spLocks noChangeArrowheads="1"/>
          </p:cNvSpPr>
          <p:nvPr/>
        </p:nvSpPr>
        <p:spPr bwMode="ltGray">
          <a:xfrm>
            <a:off x="2302439" y="2255445"/>
            <a:ext cx="4032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1800" b="1" dirty="0">
                <a:latin typeface="宋体" panose="02010600030101010101" pitchFamily="2" charset="-122"/>
              </a:rPr>
              <a:t>m= (C-k)  mod 26</a:t>
            </a:r>
            <a:endParaRPr kumimoji="1" lang="en-US" altLang="zh-CN" sz="1800" b="1" dirty="0">
              <a:latin typeface="宋体" panose="02010600030101010101" pitchFamily="2" charset="-122"/>
            </a:endParaRPr>
          </a:p>
        </p:txBody>
      </p:sp>
      <p:sp>
        <p:nvSpPr>
          <p:cNvPr id="22" name="Text Box 13">
            <a:extLst>
              <a:ext uri="{FF2B5EF4-FFF2-40B4-BE49-F238E27FC236}">
                <a16:creationId xmlns:a16="http://schemas.microsoft.com/office/drawing/2014/main" id="{4995C1F7-02E1-96C6-9B21-8AC5049C8625}"/>
              </a:ext>
            </a:extLst>
          </p:cNvPr>
          <p:cNvSpPr txBox="1">
            <a:spLocks noChangeArrowheads="1"/>
          </p:cNvSpPr>
          <p:nvPr/>
        </p:nvSpPr>
        <p:spPr bwMode="ltGray">
          <a:xfrm>
            <a:off x="645091" y="3623883"/>
            <a:ext cx="7200900" cy="984885"/>
          </a:xfrm>
          <a:prstGeom prst="rect">
            <a:avLst/>
          </a:prstGeom>
          <a:solidFill>
            <a:schemeClr val="bg1"/>
          </a:solidFill>
          <a:ln w="9525" cap="rnd">
            <a:solidFill>
              <a:srgbClr val="FF0000"/>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dirty="0">
                <a:latin typeface="宋体" panose="02010600030101010101" pitchFamily="2" charset="-122"/>
              </a:rPr>
              <a:t>                           </a:t>
            </a:r>
            <a:r>
              <a:rPr kumimoji="1" lang="zh-CN" altLang="en-US" sz="1800" b="1" dirty="0">
                <a:latin typeface="宋体" panose="02010600030101010101" pitchFamily="2" charset="-122"/>
              </a:rPr>
              <a:t>字母表（</a:t>
            </a:r>
            <a:r>
              <a:rPr kumimoji="1" lang="en-US" altLang="zh-CN" sz="1800" b="1" dirty="0">
                <a:latin typeface="宋体" panose="02010600030101010101" pitchFamily="2" charset="-122"/>
              </a:rPr>
              <a:t>k=15</a:t>
            </a:r>
            <a:r>
              <a:rPr kumimoji="1" lang="zh-CN" altLang="en-US" sz="1800" b="1" dirty="0">
                <a:latin typeface="宋体" panose="02010600030101010101" pitchFamily="2" charset="-122"/>
              </a:rPr>
              <a:t>）</a:t>
            </a:r>
          </a:p>
          <a:p>
            <a:pPr algn="ctr">
              <a:spcBef>
                <a:spcPct val="0"/>
              </a:spcBef>
              <a:buClrTx/>
              <a:buSzTx/>
              <a:buFontTx/>
              <a:buNone/>
            </a:pPr>
            <a:r>
              <a:rPr kumimoji="1" lang="zh-CN" altLang="en-US" sz="2000" b="1" dirty="0">
                <a:solidFill>
                  <a:srgbClr val="FF0000"/>
                </a:solidFill>
                <a:latin typeface="宋体" panose="02010600030101010101" pitchFamily="2" charset="-122"/>
              </a:rPr>
              <a:t>    </a:t>
            </a:r>
            <a:r>
              <a:rPr kumimoji="1" lang="en-US" altLang="zh-CN" sz="2000" b="1" dirty="0">
                <a:latin typeface="宋体" panose="02010600030101010101" pitchFamily="2" charset="-122"/>
              </a:rPr>
              <a:t>ABCDEFGHIJKLMNOPQRSTUVWXYZ</a:t>
            </a:r>
          </a:p>
          <a:p>
            <a:pPr algn="ctr">
              <a:spcBef>
                <a:spcPct val="0"/>
              </a:spcBef>
              <a:buClrTx/>
              <a:buSzTx/>
              <a:buFontTx/>
              <a:buNone/>
            </a:pPr>
            <a:r>
              <a:rPr kumimoji="1" lang="en-US" altLang="zh-CN" sz="2000" b="1" dirty="0">
                <a:latin typeface="宋体" panose="02010600030101010101" pitchFamily="2" charset="-122"/>
              </a:rPr>
              <a:t>    </a:t>
            </a:r>
            <a:r>
              <a:rPr kumimoji="1" lang="en-US" altLang="zh-CN" sz="2000" b="1" dirty="0" err="1">
                <a:latin typeface="宋体" panose="02010600030101010101" pitchFamily="2" charset="-122"/>
              </a:rPr>
              <a:t>pqrstuvwxyzabcdefghijklmno</a:t>
            </a:r>
            <a:endParaRPr kumimoji="1" lang="en-US" altLang="zh-CN" sz="2000" b="1" dirty="0">
              <a:latin typeface="宋体" panose="02010600030101010101" pitchFamily="2" charset="-122"/>
            </a:endParaRPr>
          </a:p>
        </p:txBody>
      </p:sp>
      <p:sp>
        <p:nvSpPr>
          <p:cNvPr id="27" name="AutoShape 14">
            <a:extLst>
              <a:ext uri="{FF2B5EF4-FFF2-40B4-BE49-F238E27FC236}">
                <a16:creationId xmlns:a16="http://schemas.microsoft.com/office/drawing/2014/main" id="{CFE6F67E-D13F-64EA-C5B4-D8E5B2FEB6EF}"/>
              </a:ext>
            </a:extLst>
          </p:cNvPr>
          <p:cNvSpPr>
            <a:spLocks noChangeArrowheads="1"/>
          </p:cNvSpPr>
          <p:nvPr/>
        </p:nvSpPr>
        <p:spPr bwMode="auto">
          <a:xfrm>
            <a:off x="5253601" y="4871645"/>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28" name="Text Box 15">
            <a:extLst>
              <a:ext uri="{FF2B5EF4-FFF2-40B4-BE49-F238E27FC236}">
                <a16:creationId xmlns:a16="http://schemas.microsoft.com/office/drawing/2014/main" id="{014C5989-80A1-3602-2866-431051EE564D}"/>
              </a:ext>
            </a:extLst>
          </p:cNvPr>
          <p:cNvSpPr txBox="1">
            <a:spLocks noChangeArrowheads="1"/>
          </p:cNvSpPr>
          <p:nvPr/>
        </p:nvSpPr>
        <p:spPr bwMode="ltGray">
          <a:xfrm>
            <a:off x="1443605" y="5343137"/>
            <a:ext cx="7697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a:latin typeface="宋体" panose="02010600030101010101" pitchFamily="2" charset="-122"/>
              </a:rPr>
              <a:t>H=07 </a:t>
            </a:r>
          </a:p>
          <a:p>
            <a:pPr>
              <a:spcBef>
                <a:spcPct val="0"/>
              </a:spcBef>
              <a:buClrTx/>
              <a:buSzTx/>
              <a:buFontTx/>
              <a:buNone/>
            </a:pPr>
            <a:r>
              <a:rPr kumimoji="1" lang="en-US" altLang="zh-CN" sz="1800" b="1">
                <a:latin typeface="宋体" panose="02010600030101010101" pitchFamily="2" charset="-122"/>
              </a:rPr>
              <a:t>E=04</a:t>
            </a:r>
          </a:p>
          <a:p>
            <a:pPr>
              <a:spcBef>
                <a:spcPct val="0"/>
              </a:spcBef>
              <a:buClrTx/>
              <a:buSzTx/>
              <a:buFontTx/>
              <a:buNone/>
            </a:pPr>
            <a:r>
              <a:rPr kumimoji="1" lang="en-US" altLang="zh-CN" sz="1800" b="1">
                <a:latin typeface="宋体" panose="02010600030101010101" pitchFamily="2" charset="-122"/>
              </a:rPr>
              <a:t>L=11</a:t>
            </a:r>
          </a:p>
          <a:p>
            <a:pPr>
              <a:spcBef>
                <a:spcPct val="0"/>
              </a:spcBef>
              <a:buClrTx/>
              <a:buSzTx/>
              <a:buFontTx/>
              <a:buNone/>
            </a:pPr>
            <a:r>
              <a:rPr kumimoji="1" lang="en-US" altLang="zh-CN" sz="1800" b="1">
                <a:latin typeface="宋体" panose="02010600030101010101" pitchFamily="2" charset="-122"/>
              </a:rPr>
              <a:t>O=14</a:t>
            </a:r>
          </a:p>
        </p:txBody>
      </p:sp>
      <p:sp>
        <p:nvSpPr>
          <p:cNvPr id="29" name="AutoShape 16">
            <a:extLst>
              <a:ext uri="{FF2B5EF4-FFF2-40B4-BE49-F238E27FC236}">
                <a16:creationId xmlns:a16="http://schemas.microsoft.com/office/drawing/2014/main" id="{87EB09EE-FA4D-0D64-A141-D8B7460BB0E6}"/>
              </a:ext>
            </a:extLst>
          </p:cNvPr>
          <p:cNvSpPr>
            <a:spLocks noChangeArrowheads="1"/>
          </p:cNvSpPr>
          <p:nvPr/>
        </p:nvSpPr>
        <p:spPr bwMode="auto">
          <a:xfrm>
            <a:off x="2083365" y="5919396"/>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30" name="Text Box 17">
            <a:extLst>
              <a:ext uri="{FF2B5EF4-FFF2-40B4-BE49-F238E27FC236}">
                <a16:creationId xmlns:a16="http://schemas.microsoft.com/office/drawing/2014/main" id="{1E43141D-2D5C-2F17-D7FF-19DBC94C12BF}"/>
              </a:ext>
            </a:extLst>
          </p:cNvPr>
          <p:cNvSpPr txBox="1">
            <a:spLocks noChangeArrowheads="1"/>
          </p:cNvSpPr>
          <p:nvPr/>
        </p:nvSpPr>
        <p:spPr bwMode="ltGray">
          <a:xfrm>
            <a:off x="2655285" y="5332905"/>
            <a:ext cx="2808288" cy="1200329"/>
          </a:xfrm>
          <a:prstGeom prst="rect">
            <a:avLst/>
          </a:prstGeom>
          <a:solidFill>
            <a:schemeClr val="bg1"/>
          </a:solidFill>
          <a:ln w="9525" cap="rnd">
            <a:solidFill>
              <a:srgbClr val="FF0000"/>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b="1" dirty="0">
                <a:latin typeface="宋体" panose="02010600030101010101" pitchFamily="2" charset="-122"/>
              </a:rPr>
              <a:t>0</a:t>
            </a:r>
            <a:r>
              <a:rPr kumimoji="1" lang="en-US" altLang="zh-CN" sz="1800" b="1" dirty="0">
                <a:latin typeface="宋体" panose="02010600030101010101" pitchFamily="2" charset="-122"/>
              </a:rPr>
              <a:t>7+15=22    mod 26</a:t>
            </a:r>
          </a:p>
          <a:p>
            <a:pPr>
              <a:spcBef>
                <a:spcPct val="0"/>
              </a:spcBef>
              <a:buClrTx/>
              <a:buSzTx/>
              <a:buFontTx/>
              <a:buNone/>
            </a:pPr>
            <a:r>
              <a:rPr kumimoji="1" lang="en-US" altLang="zh-CN" sz="1800" b="1" dirty="0">
                <a:latin typeface="宋体" panose="02010600030101010101" pitchFamily="2" charset="-122"/>
              </a:rPr>
              <a:t>04+15=19 </a:t>
            </a:r>
          </a:p>
          <a:p>
            <a:pPr>
              <a:spcBef>
                <a:spcPct val="0"/>
              </a:spcBef>
              <a:buClrTx/>
              <a:buSzTx/>
              <a:buFontTx/>
              <a:buNone/>
            </a:pPr>
            <a:r>
              <a:rPr kumimoji="1" lang="en-US" altLang="zh-CN" sz="1800" b="1" dirty="0">
                <a:latin typeface="宋体" panose="02010600030101010101" pitchFamily="2" charset="-122"/>
              </a:rPr>
              <a:t>11+15=00</a:t>
            </a:r>
          </a:p>
          <a:p>
            <a:pPr>
              <a:spcBef>
                <a:spcPct val="0"/>
              </a:spcBef>
              <a:buClrTx/>
              <a:buSzTx/>
              <a:buFontTx/>
              <a:buNone/>
            </a:pPr>
            <a:r>
              <a:rPr kumimoji="1" lang="en-US" altLang="zh-CN" sz="1800" b="1" dirty="0">
                <a:latin typeface="宋体" panose="02010600030101010101" pitchFamily="2" charset="-122"/>
              </a:rPr>
              <a:t>14+15=03</a:t>
            </a:r>
          </a:p>
        </p:txBody>
      </p:sp>
      <p:sp>
        <p:nvSpPr>
          <p:cNvPr id="31" name="AutoShape 18">
            <a:extLst>
              <a:ext uri="{FF2B5EF4-FFF2-40B4-BE49-F238E27FC236}">
                <a16:creationId xmlns:a16="http://schemas.microsoft.com/office/drawing/2014/main" id="{5D937FA6-97F6-4C65-EA56-E2A30EB4F15C}"/>
              </a:ext>
            </a:extLst>
          </p:cNvPr>
          <p:cNvSpPr>
            <a:spLocks noChangeArrowheads="1"/>
          </p:cNvSpPr>
          <p:nvPr/>
        </p:nvSpPr>
        <p:spPr bwMode="auto">
          <a:xfrm>
            <a:off x="5613965" y="5917823"/>
            <a:ext cx="360363" cy="217487"/>
          </a:xfrm>
          <a:prstGeom prst="rightArrow">
            <a:avLst>
              <a:gd name="adj1" fmla="val 50000"/>
              <a:gd name="adj2" fmla="val 41424"/>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32" name="Text Box 19">
            <a:extLst>
              <a:ext uri="{FF2B5EF4-FFF2-40B4-BE49-F238E27FC236}">
                <a16:creationId xmlns:a16="http://schemas.microsoft.com/office/drawing/2014/main" id="{3EB8D05A-4220-A59B-381A-7350EA4CDC56}"/>
              </a:ext>
            </a:extLst>
          </p:cNvPr>
          <p:cNvSpPr txBox="1">
            <a:spLocks noChangeArrowheads="1"/>
          </p:cNvSpPr>
          <p:nvPr/>
        </p:nvSpPr>
        <p:spPr bwMode="ltGray">
          <a:xfrm>
            <a:off x="6261665" y="5343137"/>
            <a:ext cx="10038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dirty="0">
                <a:latin typeface="宋体" panose="02010600030101010101" pitchFamily="2" charset="-122"/>
              </a:rPr>
              <a:t>22 = w </a:t>
            </a:r>
          </a:p>
          <a:p>
            <a:pPr>
              <a:spcBef>
                <a:spcPct val="0"/>
              </a:spcBef>
              <a:buClrTx/>
              <a:buSzTx/>
              <a:buFontTx/>
              <a:buNone/>
            </a:pPr>
            <a:r>
              <a:rPr kumimoji="1" lang="en-US" altLang="zh-CN" sz="1800" b="1" dirty="0">
                <a:latin typeface="宋体" panose="02010600030101010101" pitchFamily="2" charset="-122"/>
              </a:rPr>
              <a:t>19 = t</a:t>
            </a:r>
          </a:p>
          <a:p>
            <a:pPr>
              <a:spcBef>
                <a:spcPct val="0"/>
              </a:spcBef>
              <a:buClrTx/>
              <a:buSzTx/>
              <a:buFontTx/>
              <a:buNone/>
            </a:pPr>
            <a:r>
              <a:rPr kumimoji="1" lang="en-US" altLang="zh-CN" sz="1800" b="1" dirty="0">
                <a:latin typeface="宋体" panose="02010600030101010101" pitchFamily="2" charset="-122"/>
              </a:rPr>
              <a:t>00 = a</a:t>
            </a:r>
          </a:p>
          <a:p>
            <a:pPr>
              <a:spcBef>
                <a:spcPct val="0"/>
              </a:spcBef>
              <a:buClrTx/>
              <a:buSzTx/>
              <a:buFontTx/>
              <a:buNone/>
            </a:pPr>
            <a:r>
              <a:rPr kumimoji="1" lang="en-US" altLang="zh-CN" sz="1800" b="1" dirty="0">
                <a:latin typeface="宋体" panose="02010600030101010101" pitchFamily="2" charset="-122"/>
              </a:rPr>
              <a:t>03 = d</a:t>
            </a:r>
          </a:p>
        </p:txBody>
      </p:sp>
      <p:sp>
        <p:nvSpPr>
          <p:cNvPr id="33" name="AutoShape 20">
            <a:extLst>
              <a:ext uri="{FF2B5EF4-FFF2-40B4-BE49-F238E27FC236}">
                <a16:creationId xmlns:a16="http://schemas.microsoft.com/office/drawing/2014/main" id="{43B19B61-9749-24AC-D731-F5B7AD364E91}"/>
              </a:ext>
            </a:extLst>
          </p:cNvPr>
          <p:cNvSpPr>
            <a:spLocks noChangeArrowheads="1"/>
          </p:cNvSpPr>
          <p:nvPr/>
        </p:nvSpPr>
        <p:spPr bwMode="auto">
          <a:xfrm>
            <a:off x="5317255" y="1936875"/>
            <a:ext cx="1655763" cy="576263"/>
          </a:xfrm>
          <a:prstGeom prst="cloudCallout">
            <a:avLst>
              <a:gd name="adj1" fmla="val -43769"/>
              <a:gd name="adj2" fmla="val 96556"/>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400" b="1" dirty="0">
                <a:solidFill>
                  <a:schemeClr val="bg1"/>
                </a:solidFill>
                <a:latin typeface="宋体" panose="02010600030101010101" pitchFamily="2" charset="-122"/>
              </a:rPr>
              <a:t>Key=k</a:t>
            </a:r>
          </a:p>
        </p:txBody>
      </p:sp>
      <p:sp>
        <p:nvSpPr>
          <p:cNvPr id="34" name="AutoShape 21">
            <a:extLst>
              <a:ext uri="{FF2B5EF4-FFF2-40B4-BE49-F238E27FC236}">
                <a16:creationId xmlns:a16="http://schemas.microsoft.com/office/drawing/2014/main" id="{F11655B0-51BA-D2FD-73E3-E54AEC08EFA2}"/>
              </a:ext>
            </a:extLst>
          </p:cNvPr>
          <p:cNvSpPr>
            <a:spLocks noChangeArrowheads="1"/>
          </p:cNvSpPr>
          <p:nvPr/>
        </p:nvSpPr>
        <p:spPr bwMode="auto">
          <a:xfrm>
            <a:off x="6622027" y="2831711"/>
            <a:ext cx="1655763" cy="792163"/>
          </a:xfrm>
          <a:prstGeom prst="cloudCallout">
            <a:avLst>
              <a:gd name="adj1" fmla="val -54602"/>
              <a:gd name="adj2" fmla="val 75250"/>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200" b="1" dirty="0">
                <a:solidFill>
                  <a:schemeClr val="bg1"/>
                </a:solidFill>
                <a:latin typeface="宋体" panose="02010600030101010101" pitchFamily="2" charset="-122"/>
              </a:rPr>
              <a:t>密码域</a:t>
            </a:r>
          </a:p>
          <a:p>
            <a:pPr algn="ctr" eaLnBrk="1" hangingPunct="1">
              <a:spcBef>
                <a:spcPct val="0"/>
              </a:spcBef>
              <a:buClrTx/>
              <a:buSzTx/>
              <a:buFontTx/>
              <a:buNone/>
            </a:pPr>
            <a:r>
              <a:rPr lang="zh-CN" altLang="en-US" sz="1200" b="1" dirty="0">
                <a:solidFill>
                  <a:schemeClr val="bg1"/>
                </a:solidFill>
                <a:latin typeface="宋体" panose="02010600030101010101" pitchFamily="2" charset="-122"/>
              </a:rPr>
              <a:t>大小</a:t>
            </a:r>
            <a:r>
              <a:rPr lang="en-US" altLang="zh-CN" sz="1200" b="1" dirty="0">
                <a:solidFill>
                  <a:schemeClr val="bg1"/>
                </a:solidFill>
                <a:latin typeface="宋体" panose="02010600030101010101" pitchFamily="2" charset="-122"/>
              </a:rPr>
              <a:t>=26</a:t>
            </a:r>
            <a:endParaRPr lang="en-US" altLang="zh-CN" sz="1400" b="1" dirty="0">
              <a:solidFill>
                <a:schemeClr val="bg1"/>
              </a:solidFill>
              <a:latin typeface="宋体" panose="02010600030101010101" pitchFamily="2" charset="-122"/>
            </a:endParaRPr>
          </a:p>
        </p:txBody>
      </p:sp>
      <p:sp>
        <p:nvSpPr>
          <p:cNvPr id="35" name="标题 1">
            <a:extLst>
              <a:ext uri="{FF2B5EF4-FFF2-40B4-BE49-F238E27FC236}">
                <a16:creationId xmlns:a16="http://schemas.microsoft.com/office/drawing/2014/main" id="{C975FCFD-18EE-2561-C06E-A2337E1E7F2A}"/>
              </a:ext>
            </a:extLst>
          </p:cNvPr>
          <p:cNvSpPr txBox="1">
            <a:spLocks noChangeArrowheads="1"/>
          </p:cNvSpPr>
          <p:nvPr/>
        </p:nvSpPr>
        <p:spPr>
          <a:xfrm>
            <a:off x="8588259" y="1300824"/>
            <a:ext cx="3553324" cy="2648752"/>
          </a:xfrm>
          <a:prstGeom prst="rect">
            <a:avLst/>
          </a:prstGeom>
        </p:spPr>
        <p:txBody>
          <a:bodyPr/>
          <a:lstStyle>
            <a:lvl1pPr algn="l" defTabSz="914332"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宋体" panose="02010600030101010101" pitchFamily="2" charset="-122"/>
                <a:ea typeface="宋体" panose="02010600030101010101" pitchFamily="2" charset="-122"/>
              </a:rPr>
              <a:t>凯撒密码分析：</a:t>
            </a:r>
            <a:endParaRPr lang="en-US" altLang="zh-CN" sz="2000" b="1" dirty="0">
              <a:latin typeface="宋体" panose="02010600030101010101" pitchFamily="2" charset="-122"/>
              <a:ea typeface="宋体" panose="02010600030101010101" pitchFamily="2" charset="-122"/>
            </a:endParaRPr>
          </a:p>
          <a:p>
            <a:pPr marL="342891" indent="-342891">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仅有</a:t>
            </a:r>
            <a:r>
              <a:rPr lang="en-US" altLang="zh-CN" sz="2000" dirty="0">
                <a:latin typeface="宋体" panose="02010600030101010101" pitchFamily="2" charset="-122"/>
                <a:ea typeface="宋体" panose="02010600030101010101" pitchFamily="2" charset="-122"/>
              </a:rPr>
              <a:t>26</a:t>
            </a:r>
            <a:r>
              <a:rPr lang="zh-CN" altLang="en-US" sz="2000" dirty="0">
                <a:latin typeface="宋体" panose="02010600030101010101" pitchFamily="2" charset="-122"/>
                <a:ea typeface="宋体" panose="02010600030101010101" pitchFamily="2" charset="-122"/>
              </a:rPr>
              <a:t>种可能替换</a:t>
            </a:r>
            <a:r>
              <a:rPr lang="en-US" altLang="zh-CN" sz="2000" dirty="0">
                <a:latin typeface="宋体" panose="02010600030101010101" pitchFamily="2" charset="-122"/>
                <a:ea typeface="宋体" panose="02010600030101010101" pitchFamily="2" charset="-122"/>
              </a:rPr>
              <a:t>(</a:t>
            </a:r>
            <a:r>
              <a:rPr lang="pl-PL" altLang="zh-CN" sz="2000" dirty="0">
                <a:latin typeface="宋体" panose="02010600030101010101" pitchFamily="2" charset="-122"/>
                <a:ea typeface="宋体" panose="02010600030101010101" pitchFamily="2" charset="-122"/>
              </a:rPr>
              <a:t>A </a:t>
            </a:r>
            <a:r>
              <a:rPr lang="zh-CN" altLang="pl-PL" sz="2000" dirty="0">
                <a:latin typeface="宋体" panose="02010600030101010101" pitchFamily="2" charset="-122"/>
                <a:ea typeface="宋体" panose="02010600030101010101" pitchFamily="2" charset="-122"/>
              </a:rPr>
              <a:t>映射到 </a:t>
            </a:r>
            <a:r>
              <a:rPr lang="pl-PL" altLang="zh-CN" sz="2000" dirty="0">
                <a:latin typeface="宋体" panose="02010600030101010101" pitchFamily="2" charset="-122"/>
                <a:ea typeface="宋体" panose="02010600030101010101" pitchFamily="2" charset="-122"/>
              </a:rPr>
              <a:t>A,B,..Z </a:t>
            </a:r>
            <a:r>
              <a:rPr lang="en-US" altLang="zh-CN" sz="2000" dirty="0">
                <a:latin typeface="宋体" panose="02010600030101010101" pitchFamily="2" charset="-122"/>
                <a:ea typeface="宋体" panose="02010600030101010101" pitchFamily="2" charset="-122"/>
              </a:rPr>
              <a:t>)</a:t>
            </a:r>
          </a:p>
          <a:p>
            <a:pPr marL="342891" indent="-342891">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可以循环试验 </a:t>
            </a:r>
          </a:p>
          <a:p>
            <a:pPr marL="342891" indent="-342891">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使用 </a:t>
            </a:r>
            <a:r>
              <a:rPr lang="en-US" altLang="zh-CN" sz="2000" dirty="0">
                <a:latin typeface="宋体" panose="02010600030101010101" pitchFamily="2" charset="-122"/>
                <a:ea typeface="宋体" panose="02010600030101010101" pitchFamily="2" charset="-122"/>
              </a:rPr>
              <a:t>brute force search (</a:t>
            </a:r>
            <a:r>
              <a:rPr lang="zh-CN" altLang="en-US" sz="2000" dirty="0">
                <a:latin typeface="宋体" panose="02010600030101010101" pitchFamily="2" charset="-122"/>
                <a:ea typeface="宋体" panose="02010600030101010101" pitchFamily="2" charset="-122"/>
              </a:rPr>
              <a:t>暴力破解</a:t>
            </a:r>
            <a:r>
              <a:rPr lang="en-US" altLang="zh-CN" sz="2000" dirty="0">
                <a:latin typeface="宋体" panose="02010600030101010101" pitchFamily="2" charset="-122"/>
                <a:ea typeface="宋体" panose="02010600030101010101" pitchFamily="2" charset="-122"/>
              </a:rPr>
              <a:t>)</a:t>
            </a:r>
          </a:p>
          <a:p>
            <a:pPr marL="342891" indent="-342891">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仅仅需要能认识明文即可</a:t>
            </a:r>
          </a:p>
          <a:p>
            <a:pPr marL="342891" indent="-342891">
              <a:buFont typeface="Arial" panose="020B0604020202020204" pitchFamily="34" charset="0"/>
              <a:buChar char="•"/>
            </a:pPr>
            <a:endParaRPr lang="zh-CN" altLang="en-US" sz="2000" dirty="0">
              <a:latin typeface="宋体" panose="02010600030101010101" pitchFamily="2" charset="-122"/>
              <a:ea typeface="宋体" panose="02010600030101010101" pitchFamily="2" charset="-122"/>
            </a:endParaRPr>
          </a:p>
          <a:p>
            <a:pPr marL="342891" indent="-342891">
              <a:buFont typeface="Arial" panose="020B0604020202020204" pitchFamily="34" charset="0"/>
              <a:buChar char="•"/>
            </a:pPr>
            <a:endParaRPr lang="en-CA" altLang="en-US" sz="2000" b="1" dirty="0">
              <a:latin typeface="宋体" panose="02010600030101010101" pitchFamily="2" charset="-122"/>
              <a:ea typeface="宋体" panose="02010600030101010101" pitchFamily="2" charset="-122"/>
            </a:endParaRPr>
          </a:p>
        </p:txBody>
      </p:sp>
      <p:sp>
        <p:nvSpPr>
          <p:cNvPr id="38" name="Rectangle 3">
            <a:extLst>
              <a:ext uri="{FF2B5EF4-FFF2-40B4-BE49-F238E27FC236}">
                <a16:creationId xmlns:a16="http://schemas.microsoft.com/office/drawing/2014/main" id="{69FD42C1-928B-276D-A40C-82F591A30A7C}"/>
              </a:ext>
            </a:extLst>
          </p:cNvPr>
          <p:cNvSpPr txBox="1">
            <a:spLocks noChangeArrowheads="1"/>
          </p:cNvSpPr>
          <p:nvPr/>
        </p:nvSpPr>
        <p:spPr>
          <a:xfrm>
            <a:off x="48123" y="1156267"/>
            <a:ext cx="1708092" cy="584776"/>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r>
              <a:rPr lang="zh-CN" altLang="en-US" b="1" dirty="0">
                <a:latin typeface="宋体" panose="02010600030101010101" pitchFamily="2" charset="-122"/>
                <a:ea typeface="宋体" panose="02010600030101010101" pitchFamily="2" charset="-122"/>
              </a:rPr>
              <a:t>凯撒密码</a:t>
            </a: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8690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 calcmode="lin" valueType="num">
                                      <p:cBhvr additive="base">
                                        <p:cTn id="7"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nodePh="1">
                                  <p:stCondLst>
                                    <p:cond delay="0"/>
                                  </p:stCondLst>
                                  <p:endCondLst>
                                    <p:cond evt="begin" delay="0">
                                      <p:tn val="17"/>
                                    </p:cond>
                                  </p:end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p:cTn id="19"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21"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22" dur="1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nodePh="1">
                                  <p:stCondLst>
                                    <p:cond delay="0"/>
                                  </p:stCondLst>
                                  <p:endCondLst>
                                    <p:cond evt="begin" delay="0">
                                      <p:tn val="25"/>
                                    </p:cond>
                                  </p:end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nodePh="1">
                                  <p:stCondLst>
                                    <p:cond delay="0"/>
                                  </p:stCondLst>
                                  <p:endCondLst>
                                    <p:cond evt="begin" delay="0">
                                      <p:tn val="31"/>
                                    </p:cond>
                                  </p:end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wipe(left)">
                                      <p:cBhvr>
                                        <p:cTn id="33" dur="500"/>
                                        <p:tgtEl>
                                          <p:spTgt spid="1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0-#ppt_w/2"/>
                                          </p:val>
                                        </p:tav>
                                        <p:tav tm="100000">
                                          <p:val>
                                            <p:strVal val="#ppt_x"/>
                                          </p:val>
                                        </p:tav>
                                      </p:tavLst>
                                    </p:anim>
                                    <p:anim calcmode="lin" valueType="num">
                                      <p:cBhvr additive="base">
                                        <p:cTn id="39"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0-#ppt_w/2"/>
                                          </p:val>
                                        </p:tav>
                                        <p:tav tm="100000">
                                          <p:val>
                                            <p:strVal val="#ppt_x"/>
                                          </p:val>
                                        </p:tav>
                                      </p:tavLst>
                                    </p:anim>
                                    <p:anim calcmode="lin" valueType="num">
                                      <p:cBhvr additive="base">
                                        <p:cTn id="45"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0-#ppt_w/2"/>
                                          </p:val>
                                        </p:tav>
                                        <p:tav tm="100000">
                                          <p:val>
                                            <p:strVal val="#ppt_x"/>
                                          </p:val>
                                        </p:tav>
                                      </p:tavLst>
                                    </p:anim>
                                    <p:anim calcmode="lin" valueType="num">
                                      <p:cBhvr additive="base">
                                        <p:cTn id="51"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0-#ppt_w/2"/>
                                          </p:val>
                                        </p:tav>
                                        <p:tav tm="100000">
                                          <p:val>
                                            <p:strVal val="#ppt_x"/>
                                          </p:val>
                                        </p:tav>
                                      </p:tavLst>
                                    </p:anim>
                                    <p:anim calcmode="lin" valueType="num">
                                      <p:cBhvr additive="base">
                                        <p:cTn id="57"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left)">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left)">
                                      <p:cBhvr>
                                        <p:cTn id="77" dur="500"/>
                                        <p:tgtEl>
                                          <p:spTgt spid="3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wipe(left)">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5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wipe(left)">
                                      <p:cBhvr>
                                        <p:cTn id="97" dur="500"/>
                                        <p:tgtEl>
                                          <p:spTgt spid="2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left)">
                                      <p:cBhvr>
                                        <p:cTn id="102" dur="500"/>
                                        <p:tgtEl>
                                          <p:spTgt spid="3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wipe(left)">
                                      <p:cBhvr>
                                        <p:cTn id="107" dur="500"/>
                                        <p:tgtEl>
                                          <p:spTgt spid="3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2"/>
                                        </p:tgtEl>
                                        <p:attrNameLst>
                                          <p:attrName>style.visibility</p:attrName>
                                        </p:attrNameLst>
                                      </p:cBhvr>
                                      <p:to>
                                        <p:strVal val="visible"/>
                                      </p:to>
                                    </p:set>
                                    <p:animEffect transition="in" filter="wipe(left)">
                                      <p:cBhvr>
                                        <p:cTn id="112" dur="500"/>
                                        <p:tgtEl>
                                          <p:spTgt spid="32"/>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7"/>
                                        </p:tgtEl>
                                        <p:attrNameLst>
                                          <p:attrName>style.visibility</p:attrName>
                                        </p:attrNameLst>
                                      </p:cBhvr>
                                      <p:to>
                                        <p:strVal val="visible"/>
                                      </p:to>
                                    </p:set>
                                    <p:animEffect transition="in" filter="wipe(left)">
                                      <p:cBhvr>
                                        <p:cTn id="117" dur="500"/>
                                        <p:tgtEl>
                                          <p:spTgt spid="27"/>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ntr" presetSubtype="0" fill="hold" grpId="0" nodeType="clickEffect">
                                  <p:stCondLst>
                                    <p:cond delay="0"/>
                                  </p:stCondLst>
                                  <p:iterate type="lt">
                                    <p:tmPct val="100000"/>
                                  </p:iterate>
                                  <p:childTnLst>
                                    <p:set>
                                      <p:cBhvr>
                                        <p:cTn id="121" dur="1" fill="hold">
                                          <p:stCondLst>
                                            <p:cond delay="0"/>
                                          </p:stCondLst>
                                        </p:cTn>
                                        <p:tgtEl>
                                          <p:spTgt spid="16"/>
                                        </p:tgtEl>
                                        <p:attrNameLst>
                                          <p:attrName>style.visibility</p:attrName>
                                        </p:attrNameLst>
                                      </p:cBhvr>
                                      <p:to>
                                        <p:strVal val="visible"/>
                                      </p:to>
                                    </p:set>
                                    <p:animEffect transition="in" filter="dissolve">
                                      <p:cBhvr>
                                        <p:cTn id="122" dur="75"/>
                                        <p:tgtEl>
                                          <p:spTgt spid="16"/>
                                        </p:tgtEl>
                                      </p:cBhvr>
                                    </p:animEffect>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1000"/>
                                        <p:tgtEl>
                                          <p:spTgt spid="35"/>
                                        </p:tgtEl>
                                      </p:cBhvr>
                                    </p:animEffect>
                                    <p:anim calcmode="lin" valueType="num">
                                      <p:cBhvr>
                                        <p:cTn id="128" dur="1000" fill="hold"/>
                                        <p:tgtEl>
                                          <p:spTgt spid="35"/>
                                        </p:tgtEl>
                                        <p:attrNameLst>
                                          <p:attrName>ppt_x</p:attrName>
                                        </p:attrNameLst>
                                      </p:cBhvr>
                                      <p:tavLst>
                                        <p:tav tm="0">
                                          <p:val>
                                            <p:strVal val="#ppt_x"/>
                                          </p:val>
                                        </p:tav>
                                        <p:tav tm="100000">
                                          <p:val>
                                            <p:strVal val="#ppt_x"/>
                                          </p:val>
                                        </p:tav>
                                      </p:tavLst>
                                    </p:anim>
                                    <p:anim calcmode="lin" valueType="num">
                                      <p:cBhvr>
                                        <p:cTn id="12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uild="p"/>
      <p:bldP spid="14" grpId="0"/>
      <p:bldP spid="15" grpId="0"/>
      <p:bldP spid="16" grpId="0" autoUpdateAnimBg="0"/>
      <p:bldP spid="17" grpId="0" autoUpdateAnimBg="0"/>
      <p:bldP spid="18" grpId="0" autoUpdateAnimBg="0"/>
      <p:bldP spid="19" grpId="0" autoUpdateAnimBg="0"/>
      <p:bldP spid="20" grpId="0"/>
      <p:bldP spid="21" grpId="0" autoUpdateAnimBg="0"/>
      <p:bldP spid="22" grpId="0" animBg="1" autoUpdateAnimBg="0"/>
      <p:bldP spid="27" grpId="0" animBg="1"/>
      <p:bldP spid="28" grpId="0"/>
      <p:bldP spid="29" grpId="0" animBg="1"/>
      <p:bldP spid="30" grpId="0" animBg="1"/>
      <p:bldP spid="31" grpId="0" animBg="1"/>
      <p:bldP spid="32" grpId="0"/>
      <p:bldP spid="33" grpId="0" animBg="1"/>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课堂作业</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3" name="Rectangle 9">
            <a:extLst>
              <a:ext uri="{FF2B5EF4-FFF2-40B4-BE49-F238E27FC236}">
                <a16:creationId xmlns:a16="http://schemas.microsoft.com/office/drawing/2014/main" id="{B1ED7A39-2938-6D86-AA11-08633F0C0950}"/>
              </a:ext>
            </a:extLst>
          </p:cNvPr>
          <p:cNvSpPr>
            <a:spLocks noRot="1" noChangeArrowheads="1"/>
          </p:cNvSpPr>
          <p:nvPr/>
        </p:nvSpPr>
        <p:spPr bwMode="auto">
          <a:xfrm>
            <a:off x="2064975" y="1954326"/>
            <a:ext cx="8424863"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SzPct val="85000"/>
              <a:buFont typeface="Wingdings 2" panose="05020102010507070707" pitchFamily="82" charset="2"/>
              <a:buNone/>
            </a:pPr>
            <a:endParaRPr lang="zh-CN" altLang="en-US" sz="2800" b="1" dirty="0">
              <a:latin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p:grpSp>
        <p:nvGrpSpPr>
          <p:cNvPr id="14" name="组合 13">
            <a:extLst>
              <a:ext uri="{FF2B5EF4-FFF2-40B4-BE49-F238E27FC236}">
                <a16:creationId xmlns:a16="http://schemas.microsoft.com/office/drawing/2014/main" id="{72E8F576-91AB-7DA7-CB9C-EA27BACA86CB}"/>
              </a:ext>
            </a:extLst>
          </p:cNvPr>
          <p:cNvGrpSpPr/>
          <p:nvPr/>
        </p:nvGrpSpPr>
        <p:grpSpPr>
          <a:xfrm>
            <a:off x="1702164" y="2268631"/>
            <a:ext cx="8722059" cy="1704975"/>
            <a:chOff x="6184901" y="1943101"/>
            <a:chExt cx="5132387" cy="1704974"/>
          </a:xfrm>
        </p:grpSpPr>
        <p:sp>
          <p:nvSpPr>
            <p:cNvPr id="19" name="矩形 18">
              <a:extLst>
                <a:ext uri="{FF2B5EF4-FFF2-40B4-BE49-F238E27FC236}">
                  <a16:creationId xmlns:a16="http://schemas.microsoft.com/office/drawing/2014/main" id="{A569822C-9357-16EE-06F6-3F0F454AB39F}"/>
                </a:ext>
              </a:extLst>
            </p:cNvPr>
            <p:cNvSpPr/>
            <p:nvPr/>
          </p:nvSpPr>
          <p:spPr>
            <a:xfrm>
              <a:off x="6184901" y="19431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nvGrpSpPr>
            <p:cNvPr id="16" name="组合 15">
              <a:extLst>
                <a:ext uri="{FF2B5EF4-FFF2-40B4-BE49-F238E27FC236}">
                  <a16:creationId xmlns:a16="http://schemas.microsoft.com/office/drawing/2014/main" id="{F7BB4341-80A4-9C98-70AA-C31278C48897}"/>
                </a:ext>
              </a:extLst>
            </p:cNvPr>
            <p:cNvGrpSpPr/>
            <p:nvPr/>
          </p:nvGrpSpPr>
          <p:grpSpPr>
            <a:xfrm>
              <a:off x="6569586" y="2529753"/>
              <a:ext cx="4577430" cy="499613"/>
              <a:chOff x="7483989" y="3567100"/>
              <a:chExt cx="4577430" cy="499613"/>
            </a:xfrm>
          </p:grpSpPr>
          <p:sp>
            <p:nvSpPr>
              <p:cNvPr id="17" name="矩形 16">
                <a:extLst>
                  <a:ext uri="{FF2B5EF4-FFF2-40B4-BE49-F238E27FC236}">
                    <a16:creationId xmlns:a16="http://schemas.microsoft.com/office/drawing/2014/main" id="{556202D1-DD17-A349-B5B8-840960ED9957}"/>
                  </a:ext>
                </a:extLst>
              </p:cNvPr>
              <p:cNvSpPr/>
              <p:nvPr/>
            </p:nvSpPr>
            <p:spPr>
              <a:xfrm>
                <a:off x="7483989" y="3732519"/>
                <a:ext cx="3941252" cy="334194"/>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400" dirty="0">
                  <a:solidFill>
                    <a:srgbClr val="44546A"/>
                  </a:solidFill>
                  <a:cs typeface="+mn-ea"/>
                  <a:sym typeface="+mn-lt"/>
                </a:endParaRPr>
              </a:p>
            </p:txBody>
          </p:sp>
          <p:sp>
            <p:nvSpPr>
              <p:cNvPr id="18" name="矩形 17">
                <a:extLst>
                  <a:ext uri="{FF2B5EF4-FFF2-40B4-BE49-F238E27FC236}">
                    <a16:creationId xmlns:a16="http://schemas.microsoft.com/office/drawing/2014/main" id="{BE5591A9-33A9-FEF6-75DE-B8F0AF4FC31E}"/>
                  </a:ext>
                </a:extLst>
              </p:cNvPr>
              <p:cNvSpPr/>
              <p:nvPr/>
            </p:nvSpPr>
            <p:spPr>
              <a:xfrm>
                <a:off x="7674172" y="3567100"/>
                <a:ext cx="4387247" cy="476669"/>
              </a:xfrm>
              <a:prstGeom prst="rect">
                <a:avLst/>
              </a:prstGeom>
            </p:spPr>
            <p:txBody>
              <a:bodyPr wrap="square">
                <a:spAutoFit/>
                <a:scene3d>
                  <a:camera prst="orthographicFront"/>
                  <a:lightRig rig="threePt" dir="t"/>
                </a:scene3d>
                <a:sp3d contourW="12700"/>
              </a:bodyPr>
              <a:lstStyle/>
              <a:p>
                <a:pPr algn="ctr" latinLnBrk="1">
                  <a:lnSpc>
                    <a:spcPct val="120000"/>
                  </a:lnSpc>
                </a:pPr>
                <a:r>
                  <a:rPr lang="zh-CN" altLang="en-US" sz="2400" b="1" dirty="0">
                    <a:solidFill>
                      <a:srgbClr val="44546A"/>
                    </a:solidFill>
                    <a:latin typeface="宋体" panose="02010600030101010101" pitchFamily="2" charset="-122"/>
                    <a:ea typeface="宋体" panose="02010600030101010101" pitchFamily="2" charset="-122"/>
                    <a:cs typeface="+mn-ea"/>
                    <a:sym typeface="+mn-lt"/>
                  </a:rPr>
                  <a:t>破解</a:t>
                </a:r>
                <a:r>
                  <a:rPr lang="en-US" altLang="zh-CN" sz="2400" b="1" dirty="0" err="1">
                    <a:solidFill>
                      <a:srgbClr val="44546A"/>
                    </a:solidFill>
                    <a:latin typeface="宋体" panose="02010600030101010101" pitchFamily="2" charset="-122"/>
                    <a:ea typeface="宋体" panose="02010600030101010101" pitchFamily="2" charset="-122"/>
                    <a:cs typeface="+mn-ea"/>
                    <a:sym typeface="+mn-lt"/>
                  </a:rPr>
                  <a:t>ciphertext“OL</a:t>
                </a:r>
                <a:r>
                  <a:rPr lang="en-US" altLang="zh-CN" sz="2400" b="1" dirty="0">
                    <a:solidFill>
                      <a:srgbClr val="44546A"/>
                    </a:solidFill>
                    <a:latin typeface="宋体" panose="02010600030101010101" pitchFamily="2" charset="-122"/>
                    <a:ea typeface="宋体" panose="02010600030101010101" pitchFamily="2" charset="-122"/>
                    <a:cs typeface="+mn-ea"/>
                    <a:sym typeface="+mn-lt"/>
                  </a:rPr>
                  <a:t> PZ H RPK”,</a:t>
                </a:r>
                <a:r>
                  <a:rPr lang="zh-CN" altLang="en-US" sz="2400" b="1" dirty="0">
                    <a:solidFill>
                      <a:srgbClr val="44546A"/>
                    </a:solidFill>
                    <a:latin typeface="宋体" panose="02010600030101010101" pitchFamily="2" charset="-122"/>
                    <a:ea typeface="宋体" panose="02010600030101010101" pitchFamily="2" charset="-122"/>
                    <a:cs typeface="+mn-ea"/>
                    <a:sym typeface="+mn-lt"/>
                  </a:rPr>
                  <a:t>利用凯撒加密机制</a:t>
                </a:r>
              </a:p>
            </p:txBody>
          </p:sp>
        </p:grpSp>
      </p:grpSp>
      <p:sp>
        <p:nvSpPr>
          <p:cNvPr id="34" name="椭圆 33">
            <a:extLst>
              <a:ext uri="{FF2B5EF4-FFF2-40B4-BE49-F238E27FC236}">
                <a16:creationId xmlns:a16="http://schemas.microsoft.com/office/drawing/2014/main" id="{417C7122-2A9B-D317-9E21-C3252A09177B}"/>
              </a:ext>
            </a:extLst>
          </p:cNvPr>
          <p:cNvSpPr/>
          <p:nvPr/>
        </p:nvSpPr>
        <p:spPr>
          <a:xfrm>
            <a:off x="1814675" y="2322153"/>
            <a:ext cx="756399" cy="7563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grpSp>
        <p:nvGrpSpPr>
          <p:cNvPr id="35" name="그룹 259">
            <a:extLst>
              <a:ext uri="{FF2B5EF4-FFF2-40B4-BE49-F238E27FC236}">
                <a16:creationId xmlns:a16="http://schemas.microsoft.com/office/drawing/2014/main" id="{B85F8BB6-289F-0DC8-6532-DCC302C865A8}"/>
              </a:ext>
            </a:extLst>
          </p:cNvPr>
          <p:cNvGrpSpPr/>
          <p:nvPr/>
        </p:nvGrpSpPr>
        <p:grpSpPr>
          <a:xfrm>
            <a:off x="1999359" y="2507031"/>
            <a:ext cx="392240" cy="386639"/>
            <a:chOff x="5451265" y="5564677"/>
            <a:chExt cx="392240" cy="386638"/>
          </a:xfrm>
          <a:solidFill>
            <a:schemeClr val="bg1"/>
          </a:solidFill>
        </p:grpSpPr>
        <p:sp>
          <p:nvSpPr>
            <p:cNvPr id="36" name="자유형: 도형 260">
              <a:extLst>
                <a:ext uri="{FF2B5EF4-FFF2-40B4-BE49-F238E27FC236}">
                  <a16:creationId xmlns:a16="http://schemas.microsoft.com/office/drawing/2014/main" id="{A5EC3B23-8BD9-3DD0-D132-EC5080661B54}"/>
                </a:ext>
              </a:extLst>
            </p:cNvPr>
            <p:cNvSpPr/>
            <p:nvPr/>
          </p:nvSpPr>
          <p:spPr>
            <a:xfrm>
              <a:off x="5563503" y="5855779"/>
              <a:ext cx="161925" cy="57150"/>
            </a:xfrm>
            <a:custGeom>
              <a:avLst/>
              <a:gdLst>
                <a:gd name="connsiteX0" fmla="*/ 162537 w 161925"/>
                <a:gd name="connsiteY0" fmla="*/ 44100 h 57150"/>
                <a:gd name="connsiteX1" fmla="*/ 151964 w 161925"/>
                <a:gd name="connsiteY1" fmla="*/ 29432 h 57150"/>
                <a:gd name="connsiteX2" fmla="*/ 140820 w 161925"/>
                <a:gd name="connsiteY2" fmla="*/ 29432 h 57150"/>
                <a:gd name="connsiteX3" fmla="*/ 140820 w 161925"/>
                <a:gd name="connsiteY3" fmla="*/ 7144 h 57150"/>
                <a:gd name="connsiteX4" fmla="*/ 29377 w 161925"/>
                <a:gd name="connsiteY4" fmla="*/ 7144 h 57150"/>
                <a:gd name="connsiteX5" fmla="*/ 29377 w 161925"/>
                <a:gd name="connsiteY5" fmla="*/ 29432 h 57150"/>
                <a:gd name="connsiteX6" fmla="*/ 18233 w 161925"/>
                <a:gd name="connsiteY6" fmla="*/ 29432 h 57150"/>
                <a:gd name="connsiteX7" fmla="*/ 7660 w 161925"/>
                <a:gd name="connsiteY7" fmla="*/ 37052 h 57150"/>
                <a:gd name="connsiteX8" fmla="*/ 18233 w 161925"/>
                <a:gd name="connsiteY8" fmla="*/ 51721 h 57150"/>
                <a:gd name="connsiteX9" fmla="*/ 151964 w 161925"/>
                <a:gd name="connsiteY9" fmla="*/ 51721 h 57150"/>
                <a:gd name="connsiteX10" fmla="*/ 162537 w 161925"/>
                <a:gd name="connsiteY10" fmla="*/ 4410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57150">
                  <a:moveTo>
                    <a:pt x="162537" y="44100"/>
                  </a:moveTo>
                  <a:cubicBezTo>
                    <a:pt x="164823" y="36480"/>
                    <a:pt x="159203" y="29432"/>
                    <a:pt x="151964" y="29432"/>
                  </a:cubicBezTo>
                  <a:lnTo>
                    <a:pt x="140820" y="29432"/>
                  </a:lnTo>
                  <a:lnTo>
                    <a:pt x="140820" y="7144"/>
                  </a:lnTo>
                  <a:lnTo>
                    <a:pt x="29377" y="7144"/>
                  </a:lnTo>
                  <a:lnTo>
                    <a:pt x="29377" y="29432"/>
                  </a:lnTo>
                  <a:lnTo>
                    <a:pt x="18233" y="29432"/>
                  </a:lnTo>
                  <a:cubicBezTo>
                    <a:pt x="13471" y="29432"/>
                    <a:pt x="9089" y="32480"/>
                    <a:pt x="7660" y="37052"/>
                  </a:cubicBezTo>
                  <a:cubicBezTo>
                    <a:pt x="5374" y="44672"/>
                    <a:pt x="10994" y="51721"/>
                    <a:pt x="18233" y="51721"/>
                  </a:cubicBezTo>
                  <a:lnTo>
                    <a:pt x="151964" y="51721"/>
                  </a:lnTo>
                  <a:cubicBezTo>
                    <a:pt x="156822" y="51815"/>
                    <a:pt x="161204" y="48768"/>
                    <a:pt x="162537" y="44100"/>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37" name="자유형: 도형 261">
              <a:extLst>
                <a:ext uri="{FF2B5EF4-FFF2-40B4-BE49-F238E27FC236}">
                  <a16:creationId xmlns:a16="http://schemas.microsoft.com/office/drawing/2014/main" id="{FE1E94DC-6BF9-CBBF-0D2F-A2D1BA3AC141}"/>
                </a:ext>
              </a:extLst>
            </p:cNvPr>
            <p:cNvSpPr/>
            <p:nvPr/>
          </p:nvSpPr>
          <p:spPr>
            <a:xfrm>
              <a:off x="5780987" y="5608307"/>
              <a:ext cx="57150" cy="38100"/>
            </a:xfrm>
            <a:custGeom>
              <a:avLst/>
              <a:gdLst>
                <a:gd name="connsiteX0" fmla="*/ 7537 w 57150"/>
                <a:gd name="connsiteY0" fmla="*/ 26968 h 38100"/>
                <a:gd name="connsiteX1" fmla="*/ 21158 w 57150"/>
                <a:gd name="connsiteY1" fmla="*/ 34874 h 38100"/>
                <a:gd name="connsiteX2" fmla="*/ 43447 w 57150"/>
                <a:gd name="connsiteY2" fmla="*/ 29064 h 38100"/>
                <a:gd name="connsiteX3" fmla="*/ 51352 w 57150"/>
                <a:gd name="connsiteY3" fmla="*/ 15443 h 38100"/>
                <a:gd name="connsiteX4" fmla="*/ 37732 w 57150"/>
                <a:gd name="connsiteY4" fmla="*/ 7537 h 38100"/>
                <a:gd name="connsiteX5" fmla="*/ 15443 w 57150"/>
                <a:gd name="connsiteY5" fmla="*/ 13348 h 38100"/>
                <a:gd name="connsiteX6" fmla="*/ 7537 w 57150"/>
                <a:gd name="connsiteY6" fmla="*/ 2696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7537" y="26968"/>
                  </a:moveTo>
                  <a:cubicBezTo>
                    <a:pt x="9157" y="32969"/>
                    <a:pt x="15252" y="36398"/>
                    <a:pt x="21158" y="34874"/>
                  </a:cubicBezTo>
                  <a:lnTo>
                    <a:pt x="43447" y="29064"/>
                  </a:lnTo>
                  <a:cubicBezTo>
                    <a:pt x="49352" y="27444"/>
                    <a:pt x="52876" y="21348"/>
                    <a:pt x="51352" y="15443"/>
                  </a:cubicBezTo>
                  <a:cubicBezTo>
                    <a:pt x="49733" y="9442"/>
                    <a:pt x="43637" y="5918"/>
                    <a:pt x="37732" y="7537"/>
                  </a:cubicBezTo>
                  <a:lnTo>
                    <a:pt x="15443" y="13348"/>
                  </a:lnTo>
                  <a:cubicBezTo>
                    <a:pt x="9442" y="14967"/>
                    <a:pt x="5918" y="21063"/>
                    <a:pt x="7537" y="26968"/>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38" name="자유형: 도형 262">
              <a:extLst>
                <a:ext uri="{FF2B5EF4-FFF2-40B4-BE49-F238E27FC236}">
                  <a16:creationId xmlns:a16="http://schemas.microsoft.com/office/drawing/2014/main" id="{3C9269B2-F0F1-6C68-0632-6C89D49017E3}"/>
                </a:ext>
              </a:extLst>
            </p:cNvPr>
            <p:cNvSpPr/>
            <p:nvPr/>
          </p:nvSpPr>
          <p:spPr>
            <a:xfrm>
              <a:off x="5457271" y="5739466"/>
              <a:ext cx="57150" cy="38100"/>
            </a:xfrm>
            <a:custGeom>
              <a:avLst/>
              <a:gdLst>
                <a:gd name="connsiteX0" fmla="*/ 37693 w 57150"/>
                <a:gd name="connsiteY0" fmla="*/ 7537 h 38100"/>
                <a:gd name="connsiteX1" fmla="*/ 15404 w 57150"/>
                <a:gd name="connsiteY1" fmla="*/ 13348 h 38100"/>
                <a:gd name="connsiteX2" fmla="*/ 7498 w 57150"/>
                <a:gd name="connsiteY2" fmla="*/ 26968 h 38100"/>
                <a:gd name="connsiteX3" fmla="*/ 21119 w 57150"/>
                <a:gd name="connsiteY3" fmla="*/ 34874 h 38100"/>
                <a:gd name="connsiteX4" fmla="*/ 43408 w 57150"/>
                <a:gd name="connsiteY4" fmla="*/ 29064 h 38100"/>
                <a:gd name="connsiteX5" fmla="*/ 51314 w 57150"/>
                <a:gd name="connsiteY5" fmla="*/ 15443 h 38100"/>
                <a:gd name="connsiteX6" fmla="*/ 37693 w 57150"/>
                <a:gd name="connsiteY6" fmla="*/ 753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37693" y="7537"/>
                  </a:moveTo>
                  <a:lnTo>
                    <a:pt x="15404" y="13348"/>
                  </a:lnTo>
                  <a:cubicBezTo>
                    <a:pt x="9499" y="14967"/>
                    <a:pt x="5975" y="21063"/>
                    <a:pt x="7498" y="26968"/>
                  </a:cubicBezTo>
                  <a:cubicBezTo>
                    <a:pt x="9118" y="32969"/>
                    <a:pt x="15214" y="36398"/>
                    <a:pt x="21119" y="34874"/>
                  </a:cubicBezTo>
                  <a:lnTo>
                    <a:pt x="43408" y="29064"/>
                  </a:lnTo>
                  <a:cubicBezTo>
                    <a:pt x="49313" y="27445"/>
                    <a:pt x="52838" y="21348"/>
                    <a:pt x="51314" y="15443"/>
                  </a:cubicBezTo>
                  <a:cubicBezTo>
                    <a:pt x="49790" y="9442"/>
                    <a:pt x="43694" y="5918"/>
                    <a:pt x="37693" y="7537"/>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39" name="자유형: 도형 263">
              <a:extLst>
                <a:ext uri="{FF2B5EF4-FFF2-40B4-BE49-F238E27FC236}">
                  <a16:creationId xmlns:a16="http://schemas.microsoft.com/office/drawing/2014/main" id="{3B2A4E47-7D50-B1DE-346C-C088C6AB5864}"/>
                </a:ext>
              </a:extLst>
            </p:cNvPr>
            <p:cNvSpPr/>
            <p:nvPr/>
          </p:nvSpPr>
          <p:spPr>
            <a:xfrm>
              <a:off x="5780987" y="5739466"/>
              <a:ext cx="57150" cy="38100"/>
            </a:xfrm>
            <a:custGeom>
              <a:avLst/>
              <a:gdLst>
                <a:gd name="connsiteX0" fmla="*/ 15443 w 57150"/>
                <a:gd name="connsiteY0" fmla="*/ 29064 h 38100"/>
                <a:gd name="connsiteX1" fmla="*/ 37732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2" y="34874"/>
                  </a:lnTo>
                  <a:cubicBezTo>
                    <a:pt x="43637" y="36493"/>
                    <a:pt x="49828" y="32969"/>
                    <a:pt x="51352" y="26968"/>
                  </a:cubicBezTo>
                  <a:cubicBezTo>
                    <a:pt x="52972" y="21063"/>
                    <a:pt x="49447" y="14872"/>
                    <a:pt x="43447" y="13348"/>
                  </a:cubicBezTo>
                  <a:lnTo>
                    <a:pt x="21158" y="7537"/>
                  </a:lnTo>
                  <a:cubicBezTo>
                    <a:pt x="15252" y="5918"/>
                    <a:pt x="9061" y="9442"/>
                    <a:pt x="7537" y="15443"/>
                  </a:cubicBezTo>
                  <a:cubicBezTo>
                    <a:pt x="5918" y="21348"/>
                    <a:pt x="9442" y="27445"/>
                    <a:pt x="15443" y="2906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0" name="자유형: 도형 264">
              <a:extLst>
                <a:ext uri="{FF2B5EF4-FFF2-40B4-BE49-F238E27FC236}">
                  <a16:creationId xmlns:a16="http://schemas.microsoft.com/office/drawing/2014/main" id="{E19E4211-050B-3022-E541-0DC37F761563}"/>
                </a:ext>
              </a:extLst>
            </p:cNvPr>
            <p:cNvSpPr/>
            <p:nvPr/>
          </p:nvSpPr>
          <p:spPr>
            <a:xfrm>
              <a:off x="5457327" y="5608307"/>
              <a:ext cx="57150" cy="38100"/>
            </a:xfrm>
            <a:custGeom>
              <a:avLst/>
              <a:gdLst>
                <a:gd name="connsiteX0" fmla="*/ 15443 w 57150"/>
                <a:gd name="connsiteY0" fmla="*/ 29064 h 38100"/>
                <a:gd name="connsiteX1" fmla="*/ 37731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1" y="34874"/>
                  </a:lnTo>
                  <a:cubicBezTo>
                    <a:pt x="43637" y="36493"/>
                    <a:pt x="49828" y="32969"/>
                    <a:pt x="51352" y="26968"/>
                  </a:cubicBezTo>
                  <a:cubicBezTo>
                    <a:pt x="52972" y="21063"/>
                    <a:pt x="49447" y="14871"/>
                    <a:pt x="43447" y="13348"/>
                  </a:cubicBezTo>
                  <a:lnTo>
                    <a:pt x="21158" y="7537"/>
                  </a:lnTo>
                  <a:cubicBezTo>
                    <a:pt x="15252" y="5918"/>
                    <a:pt x="9061" y="9442"/>
                    <a:pt x="7537" y="15443"/>
                  </a:cubicBezTo>
                  <a:cubicBezTo>
                    <a:pt x="5918" y="21348"/>
                    <a:pt x="9442" y="27540"/>
                    <a:pt x="15443" y="2906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1" name="자유형: 도형 265">
              <a:extLst>
                <a:ext uri="{FF2B5EF4-FFF2-40B4-BE49-F238E27FC236}">
                  <a16:creationId xmlns:a16="http://schemas.microsoft.com/office/drawing/2014/main" id="{D413D19E-0AA0-E83E-A680-F4132637CFD6}"/>
                </a:ext>
              </a:extLst>
            </p:cNvPr>
            <p:cNvSpPr/>
            <p:nvPr/>
          </p:nvSpPr>
          <p:spPr>
            <a:xfrm>
              <a:off x="5786355" y="5676804"/>
              <a:ext cx="57150" cy="28575"/>
            </a:xfrm>
            <a:custGeom>
              <a:avLst/>
              <a:gdLst>
                <a:gd name="connsiteX0" fmla="*/ 41317 w 57150"/>
                <a:gd name="connsiteY0" fmla="*/ 7144 h 28575"/>
                <a:gd name="connsiteX1" fmla="*/ 18552 w 57150"/>
                <a:gd name="connsiteY1" fmla="*/ 7144 h 28575"/>
                <a:gd name="connsiteX2" fmla="*/ 7218 w 57150"/>
                <a:gd name="connsiteY2" fmla="*/ 17050 h 28575"/>
                <a:gd name="connsiteX3" fmla="*/ 18266 w 57150"/>
                <a:gd name="connsiteY3" fmla="*/ 29432 h 28575"/>
                <a:gd name="connsiteX4" fmla="*/ 41031 w 57150"/>
                <a:gd name="connsiteY4" fmla="*/ 29432 h 28575"/>
                <a:gd name="connsiteX5" fmla="*/ 52366 w 57150"/>
                <a:gd name="connsiteY5" fmla="*/ 19526 h 28575"/>
                <a:gd name="connsiteX6" fmla="*/ 41317 w 57150"/>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41317" y="7144"/>
                  </a:moveTo>
                  <a:lnTo>
                    <a:pt x="18552" y="7144"/>
                  </a:lnTo>
                  <a:cubicBezTo>
                    <a:pt x="12837" y="7144"/>
                    <a:pt x="7789" y="11335"/>
                    <a:pt x="7218" y="17050"/>
                  </a:cubicBezTo>
                  <a:cubicBezTo>
                    <a:pt x="6455" y="23813"/>
                    <a:pt x="11694" y="29432"/>
                    <a:pt x="18266" y="29432"/>
                  </a:cubicBezTo>
                  <a:lnTo>
                    <a:pt x="41031" y="29432"/>
                  </a:lnTo>
                  <a:cubicBezTo>
                    <a:pt x="46747" y="29432"/>
                    <a:pt x="51795" y="25241"/>
                    <a:pt x="52366" y="19526"/>
                  </a:cubicBezTo>
                  <a:cubicBezTo>
                    <a:pt x="53128" y="12763"/>
                    <a:pt x="47890" y="7144"/>
                    <a:pt x="41317" y="714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2" name="자유형: 도형 266">
              <a:extLst>
                <a:ext uri="{FF2B5EF4-FFF2-40B4-BE49-F238E27FC236}">
                  <a16:creationId xmlns:a16="http://schemas.microsoft.com/office/drawing/2014/main" id="{B8DEC892-3856-4BBB-4C9E-87508D2B8F52}"/>
                </a:ext>
              </a:extLst>
            </p:cNvPr>
            <p:cNvSpPr/>
            <p:nvPr/>
          </p:nvSpPr>
          <p:spPr>
            <a:xfrm>
              <a:off x="5451265" y="5676804"/>
              <a:ext cx="57150" cy="28575"/>
            </a:xfrm>
            <a:custGeom>
              <a:avLst/>
              <a:gdLst>
                <a:gd name="connsiteX0" fmla="*/ 18266 w 57150"/>
                <a:gd name="connsiteY0" fmla="*/ 29432 h 28575"/>
                <a:gd name="connsiteX1" fmla="*/ 41031 w 57150"/>
                <a:gd name="connsiteY1" fmla="*/ 29432 h 28575"/>
                <a:gd name="connsiteX2" fmla="*/ 52366 w 57150"/>
                <a:gd name="connsiteY2" fmla="*/ 19526 h 28575"/>
                <a:gd name="connsiteX3" fmla="*/ 41317 w 57150"/>
                <a:gd name="connsiteY3" fmla="*/ 7144 h 28575"/>
                <a:gd name="connsiteX4" fmla="*/ 18552 w 57150"/>
                <a:gd name="connsiteY4" fmla="*/ 7144 h 28575"/>
                <a:gd name="connsiteX5" fmla="*/ 7218 w 57150"/>
                <a:gd name="connsiteY5" fmla="*/ 17050 h 28575"/>
                <a:gd name="connsiteX6" fmla="*/ 18266 w 57150"/>
                <a:gd name="connsiteY6" fmla="*/ 2943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18266" y="29432"/>
                  </a:moveTo>
                  <a:lnTo>
                    <a:pt x="41031" y="29432"/>
                  </a:lnTo>
                  <a:cubicBezTo>
                    <a:pt x="46746" y="29432"/>
                    <a:pt x="51795" y="25241"/>
                    <a:pt x="52366" y="19526"/>
                  </a:cubicBezTo>
                  <a:cubicBezTo>
                    <a:pt x="53128" y="12763"/>
                    <a:pt x="47889" y="7144"/>
                    <a:pt x="41317" y="7144"/>
                  </a:cubicBezTo>
                  <a:lnTo>
                    <a:pt x="18552" y="7144"/>
                  </a:lnTo>
                  <a:cubicBezTo>
                    <a:pt x="12837" y="7144"/>
                    <a:pt x="7789" y="11335"/>
                    <a:pt x="7218" y="17050"/>
                  </a:cubicBezTo>
                  <a:cubicBezTo>
                    <a:pt x="6455" y="23717"/>
                    <a:pt x="11694" y="29432"/>
                    <a:pt x="18266" y="29432"/>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3" name="자유형: 도형 267">
              <a:extLst>
                <a:ext uri="{FF2B5EF4-FFF2-40B4-BE49-F238E27FC236}">
                  <a16:creationId xmlns:a16="http://schemas.microsoft.com/office/drawing/2014/main" id="{77796334-F252-D6F3-2210-A0CCF9C9E32A}"/>
                </a:ext>
              </a:extLst>
            </p:cNvPr>
            <p:cNvSpPr/>
            <p:nvPr/>
          </p:nvSpPr>
          <p:spPr>
            <a:xfrm>
              <a:off x="5631647" y="5712809"/>
              <a:ext cx="28575" cy="47625"/>
            </a:xfrm>
            <a:custGeom>
              <a:avLst/>
              <a:gdLst>
                <a:gd name="connsiteX0" fmla="*/ 16954 w 28575"/>
                <a:gd name="connsiteY0" fmla="*/ 7144 h 47625"/>
                <a:gd name="connsiteX1" fmla="*/ 7144 w 28575"/>
                <a:gd name="connsiteY1" fmla="*/ 26861 h 47625"/>
                <a:gd name="connsiteX2" fmla="*/ 16954 w 28575"/>
                <a:gd name="connsiteY2" fmla="*/ 46482 h 47625"/>
                <a:gd name="connsiteX3" fmla="*/ 26765 w 28575"/>
                <a:gd name="connsiteY3" fmla="*/ 26861 h 47625"/>
              </a:gdLst>
              <a:ahLst/>
              <a:cxnLst>
                <a:cxn ang="0">
                  <a:pos x="connsiteX0" y="connsiteY0"/>
                </a:cxn>
                <a:cxn ang="0">
                  <a:pos x="connsiteX1" y="connsiteY1"/>
                </a:cxn>
                <a:cxn ang="0">
                  <a:pos x="connsiteX2" y="connsiteY2"/>
                </a:cxn>
                <a:cxn ang="0">
                  <a:pos x="connsiteX3" y="connsiteY3"/>
                </a:cxn>
              </a:cxnLst>
              <a:rect l="l" t="t" r="r" b="b"/>
              <a:pathLst>
                <a:path w="28575" h="47625">
                  <a:moveTo>
                    <a:pt x="16954" y="7144"/>
                  </a:moveTo>
                  <a:lnTo>
                    <a:pt x="7144" y="26861"/>
                  </a:lnTo>
                  <a:lnTo>
                    <a:pt x="16954" y="46482"/>
                  </a:lnTo>
                  <a:lnTo>
                    <a:pt x="26765" y="26861"/>
                  </a:ln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4" name="자유형: 도형 268">
              <a:extLst>
                <a:ext uri="{FF2B5EF4-FFF2-40B4-BE49-F238E27FC236}">
                  <a16:creationId xmlns:a16="http://schemas.microsoft.com/office/drawing/2014/main" id="{0C7D8E9C-1C86-08B1-C248-C545BCB4006C}"/>
                </a:ext>
              </a:extLst>
            </p:cNvPr>
            <p:cNvSpPr/>
            <p:nvPr/>
          </p:nvSpPr>
          <p:spPr>
            <a:xfrm>
              <a:off x="5518790" y="5564677"/>
              <a:ext cx="257175" cy="276225"/>
            </a:xfrm>
            <a:custGeom>
              <a:avLst/>
              <a:gdLst>
                <a:gd name="connsiteX0" fmla="*/ 229157 w 257175"/>
                <a:gd name="connsiteY0" fmla="*/ 201662 h 276225"/>
                <a:gd name="connsiteX1" fmla="*/ 252303 w 257175"/>
                <a:gd name="connsiteY1" fmla="*/ 130415 h 276225"/>
                <a:gd name="connsiteX2" fmla="*/ 103618 w 257175"/>
                <a:gd name="connsiteY2" fmla="*/ 9829 h 276225"/>
                <a:gd name="connsiteX3" fmla="*/ 9225 w 257175"/>
                <a:gd name="connsiteY3" fmla="*/ 107650 h 276225"/>
                <a:gd name="connsiteX4" fmla="*/ 31132 w 257175"/>
                <a:gd name="connsiteY4" fmla="*/ 202805 h 276225"/>
                <a:gd name="connsiteX5" fmla="*/ 51706 w 257175"/>
                <a:gd name="connsiteY5" fmla="*/ 253002 h 276225"/>
                <a:gd name="connsiteX6" fmla="*/ 73995 w 257175"/>
                <a:gd name="connsiteY6" fmla="*/ 276053 h 276225"/>
                <a:gd name="connsiteX7" fmla="*/ 118572 w 257175"/>
                <a:gd name="connsiteY7" fmla="*/ 276053 h 276225"/>
                <a:gd name="connsiteX8" fmla="*/ 118572 w 257175"/>
                <a:gd name="connsiteY8" fmla="*/ 222236 h 276225"/>
                <a:gd name="connsiteX9" fmla="*/ 75138 w 257175"/>
                <a:gd name="connsiteY9" fmla="*/ 135464 h 276225"/>
                <a:gd name="connsiteX10" fmla="*/ 80091 w 257175"/>
                <a:gd name="connsiteY10" fmla="*/ 120509 h 276225"/>
                <a:gd name="connsiteX11" fmla="*/ 95045 w 257175"/>
                <a:gd name="connsiteY11" fmla="*/ 125462 h 276225"/>
                <a:gd name="connsiteX12" fmla="*/ 107332 w 257175"/>
                <a:gd name="connsiteY12" fmla="*/ 150132 h 276225"/>
                <a:gd name="connsiteX13" fmla="*/ 119620 w 257175"/>
                <a:gd name="connsiteY13" fmla="*/ 125462 h 276225"/>
                <a:gd name="connsiteX14" fmla="*/ 139527 w 257175"/>
                <a:gd name="connsiteY14" fmla="*/ 125462 h 276225"/>
                <a:gd name="connsiteX15" fmla="*/ 151814 w 257175"/>
                <a:gd name="connsiteY15" fmla="*/ 150132 h 276225"/>
                <a:gd name="connsiteX16" fmla="*/ 164101 w 257175"/>
                <a:gd name="connsiteY16" fmla="*/ 125462 h 276225"/>
                <a:gd name="connsiteX17" fmla="*/ 179056 w 257175"/>
                <a:gd name="connsiteY17" fmla="*/ 120509 h 276225"/>
                <a:gd name="connsiteX18" fmla="*/ 184008 w 257175"/>
                <a:gd name="connsiteY18" fmla="*/ 135464 h 276225"/>
                <a:gd name="connsiteX19" fmla="*/ 140574 w 257175"/>
                <a:gd name="connsiteY19" fmla="*/ 222236 h 276225"/>
                <a:gd name="connsiteX20" fmla="*/ 140574 w 257175"/>
                <a:gd name="connsiteY20" fmla="*/ 276053 h 276225"/>
                <a:gd name="connsiteX21" fmla="*/ 185151 w 257175"/>
                <a:gd name="connsiteY21" fmla="*/ 276053 h 276225"/>
                <a:gd name="connsiteX22" fmla="*/ 207440 w 257175"/>
                <a:gd name="connsiteY22" fmla="*/ 253002 h 276225"/>
                <a:gd name="connsiteX23" fmla="*/ 229157 w 257175"/>
                <a:gd name="connsiteY23" fmla="*/ 201662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7175" h="276225">
                  <a:moveTo>
                    <a:pt x="229157" y="201662"/>
                  </a:moveTo>
                  <a:cubicBezTo>
                    <a:pt x="244302" y="180803"/>
                    <a:pt x="252303" y="156133"/>
                    <a:pt x="252303" y="130415"/>
                  </a:cubicBezTo>
                  <a:cubicBezTo>
                    <a:pt x="252303" y="53549"/>
                    <a:pt x="182009" y="-6459"/>
                    <a:pt x="103618" y="9829"/>
                  </a:cubicBezTo>
                  <a:cubicBezTo>
                    <a:pt x="55993" y="19735"/>
                    <a:pt x="18083" y="59454"/>
                    <a:pt x="9225" y="107650"/>
                  </a:cubicBezTo>
                  <a:cubicBezTo>
                    <a:pt x="3034" y="141655"/>
                    <a:pt x="10749" y="175469"/>
                    <a:pt x="31132" y="202805"/>
                  </a:cubicBezTo>
                  <a:cubicBezTo>
                    <a:pt x="50087" y="228237"/>
                    <a:pt x="50563" y="248811"/>
                    <a:pt x="51706" y="253002"/>
                  </a:cubicBezTo>
                  <a:cubicBezTo>
                    <a:pt x="51706" y="265289"/>
                    <a:pt x="61708" y="276053"/>
                    <a:pt x="73995" y="276053"/>
                  </a:cubicBezTo>
                  <a:lnTo>
                    <a:pt x="118572" y="276053"/>
                  </a:lnTo>
                  <a:lnTo>
                    <a:pt x="118572" y="222236"/>
                  </a:lnTo>
                  <a:cubicBezTo>
                    <a:pt x="117333" y="219760"/>
                    <a:pt x="72566" y="130320"/>
                    <a:pt x="75138" y="135464"/>
                  </a:cubicBezTo>
                  <a:cubicBezTo>
                    <a:pt x="72376" y="129939"/>
                    <a:pt x="74662" y="123272"/>
                    <a:pt x="80091" y="120509"/>
                  </a:cubicBezTo>
                  <a:cubicBezTo>
                    <a:pt x="85615" y="117747"/>
                    <a:pt x="92283" y="120033"/>
                    <a:pt x="95045" y="125462"/>
                  </a:cubicBezTo>
                  <a:lnTo>
                    <a:pt x="107332" y="150132"/>
                  </a:lnTo>
                  <a:lnTo>
                    <a:pt x="119620" y="125462"/>
                  </a:lnTo>
                  <a:cubicBezTo>
                    <a:pt x="123430" y="117938"/>
                    <a:pt x="135812" y="117938"/>
                    <a:pt x="139527" y="125462"/>
                  </a:cubicBezTo>
                  <a:lnTo>
                    <a:pt x="151814" y="150132"/>
                  </a:lnTo>
                  <a:lnTo>
                    <a:pt x="164101" y="125462"/>
                  </a:lnTo>
                  <a:cubicBezTo>
                    <a:pt x="166864" y="119938"/>
                    <a:pt x="173531" y="117747"/>
                    <a:pt x="179056" y="120509"/>
                  </a:cubicBezTo>
                  <a:cubicBezTo>
                    <a:pt x="184580" y="123272"/>
                    <a:pt x="186771" y="129939"/>
                    <a:pt x="184008" y="135464"/>
                  </a:cubicBezTo>
                  <a:cubicBezTo>
                    <a:pt x="182580" y="138321"/>
                    <a:pt x="138289" y="226809"/>
                    <a:pt x="140574" y="222236"/>
                  </a:cubicBezTo>
                  <a:lnTo>
                    <a:pt x="140574" y="276053"/>
                  </a:lnTo>
                  <a:lnTo>
                    <a:pt x="185151" y="276053"/>
                  </a:lnTo>
                  <a:cubicBezTo>
                    <a:pt x="197439" y="276053"/>
                    <a:pt x="207440" y="265289"/>
                    <a:pt x="207440" y="253002"/>
                  </a:cubicBezTo>
                  <a:cubicBezTo>
                    <a:pt x="209345" y="247954"/>
                    <a:pt x="210393" y="227570"/>
                    <a:pt x="229157" y="201662"/>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45" name="자유형: 도형 269">
              <a:extLst>
                <a:ext uri="{FF2B5EF4-FFF2-40B4-BE49-F238E27FC236}">
                  <a16:creationId xmlns:a16="http://schemas.microsoft.com/office/drawing/2014/main" id="{390C61CE-5961-BEF0-DA68-F0E3E51498B6}"/>
                </a:ext>
              </a:extLst>
            </p:cNvPr>
            <p:cNvSpPr/>
            <p:nvPr/>
          </p:nvSpPr>
          <p:spPr>
            <a:xfrm>
              <a:off x="5597167" y="5922740"/>
              <a:ext cx="95250" cy="28575"/>
            </a:xfrm>
            <a:custGeom>
              <a:avLst/>
              <a:gdLst>
                <a:gd name="connsiteX0" fmla="*/ 51435 w 95250"/>
                <a:gd name="connsiteY0" fmla="*/ 29433 h 28575"/>
                <a:gd name="connsiteX1" fmla="*/ 95726 w 95250"/>
                <a:gd name="connsiteY1" fmla="*/ 7144 h 28575"/>
                <a:gd name="connsiteX2" fmla="*/ 7144 w 95250"/>
                <a:gd name="connsiteY2" fmla="*/ 7144 h 28575"/>
                <a:gd name="connsiteX3" fmla="*/ 51435 w 95250"/>
                <a:gd name="connsiteY3" fmla="*/ 29433 h 28575"/>
              </a:gdLst>
              <a:ahLst/>
              <a:cxnLst>
                <a:cxn ang="0">
                  <a:pos x="connsiteX0" y="connsiteY0"/>
                </a:cxn>
                <a:cxn ang="0">
                  <a:pos x="connsiteX1" y="connsiteY1"/>
                </a:cxn>
                <a:cxn ang="0">
                  <a:pos x="connsiteX2" y="connsiteY2"/>
                </a:cxn>
                <a:cxn ang="0">
                  <a:pos x="connsiteX3" y="connsiteY3"/>
                </a:cxn>
              </a:cxnLst>
              <a:rect l="l" t="t" r="r" b="b"/>
              <a:pathLst>
                <a:path w="95250" h="28575">
                  <a:moveTo>
                    <a:pt x="51435" y="29433"/>
                  </a:moveTo>
                  <a:cubicBezTo>
                    <a:pt x="69532" y="29433"/>
                    <a:pt x="85534" y="20574"/>
                    <a:pt x="95726" y="7144"/>
                  </a:cubicBezTo>
                  <a:lnTo>
                    <a:pt x="7144" y="7144"/>
                  </a:lnTo>
                  <a:cubicBezTo>
                    <a:pt x="17335" y="20574"/>
                    <a:pt x="33242" y="29433"/>
                    <a:pt x="51435" y="29433"/>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grpSp>
    </p:spTree>
    <p:extLst>
      <p:ext uri="{BB962C8B-B14F-4D97-AF65-F5344CB8AC3E}">
        <p14:creationId xmlns:p14="http://schemas.microsoft.com/office/powerpoint/2010/main" val="325494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nodePh="1">
                                  <p:stCondLst>
                                    <p:cond delay="0"/>
                                  </p:stCondLst>
                                  <p:endCondLst>
                                    <p:cond evt="begin" delay="0">
                                      <p:tn val="11"/>
                                    </p:cond>
                                  </p:end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nodePh="1">
                                  <p:stCondLst>
                                    <p:cond delay="0"/>
                                  </p:stCondLst>
                                  <p:endCondLst>
                                    <p:cond evt="begin" delay="0">
                                      <p:tn val="17"/>
                                    </p:cond>
                                  </p:end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nodePh="1">
                                  <p:stCondLst>
                                    <p:cond delay="0"/>
                                  </p:stCondLst>
                                  <p:endCondLst>
                                    <p:cond evt="begin" delay="0">
                                      <p:tn val="23"/>
                                    </p:cond>
                                  </p:endCondLst>
                                  <p:childTnLst>
                                    <p:set>
                                      <p:cBhvr>
                                        <p:cTn id="24" dur="1" fill="hold">
                                          <p:stCondLst>
                                            <p:cond delay="0"/>
                                          </p:stCondLst>
                                        </p:cTn>
                                        <p:tgtEl>
                                          <p:spTgt spid="13">
                                            <p:txEl>
                                              <p:pRg st="0" end="0"/>
                                            </p:txEl>
                                          </p:spTgt>
                                        </p:tgtEl>
                                        <p:attrNameLst>
                                          <p:attrName>style.visibility</p:attrName>
                                        </p:attrNameLst>
                                      </p:cBhvr>
                                      <p:to>
                                        <p:strVal val="visible"/>
                                      </p:to>
                                    </p:set>
                                    <p:animEffect transition="in" filter="wipe(left)">
                                      <p:cBhvr>
                                        <p:cTn id="25" dur="500"/>
                                        <p:tgtEl>
                                          <p:spTgt spid="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nodePh="1">
                                  <p:stCondLst>
                                    <p:cond delay="0"/>
                                  </p:stCondLst>
                                  <p:endCondLst>
                                    <p:cond evt="begin" delay="0">
                                      <p:tn val="28"/>
                                    </p:cond>
                                  </p:endCondLst>
                                  <p:childTnLst>
                                    <p:set>
                                      <p:cBhvr>
                                        <p:cTn id="29" dur="1" fill="hold">
                                          <p:stCondLst>
                                            <p:cond delay="0"/>
                                          </p:stCondLst>
                                        </p:cTn>
                                        <p:tgtEl>
                                          <p:spTgt spid="12">
                                            <p:txEl>
                                              <p:pRg st="0" end="0"/>
                                            </p:txEl>
                                          </p:spTgt>
                                        </p:tgtEl>
                                        <p:attrNameLst>
                                          <p:attrName>style.visibility</p:attrName>
                                        </p:attrNameLst>
                                      </p:cBhvr>
                                      <p:to>
                                        <p:strVal val="visible"/>
                                      </p:to>
                                    </p:set>
                                    <p:anim calcmode="lin" valueType="num">
                                      <p:cBhvr additive="base">
                                        <p:cTn id="3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12" presetClass="entr" presetSubtype="1"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p:tgtEl>
                                          <p:spTgt spid="14"/>
                                        </p:tgtEl>
                                        <p:attrNameLst>
                                          <p:attrName>ppt_y</p:attrName>
                                        </p:attrNameLst>
                                      </p:cBhvr>
                                      <p:tavLst>
                                        <p:tav tm="0">
                                          <p:val>
                                            <p:strVal val="#ppt_y-#ppt_h*1.125000"/>
                                          </p:val>
                                        </p:tav>
                                        <p:tav tm="100000">
                                          <p:val>
                                            <p:strVal val="#ppt_y"/>
                                          </p:val>
                                        </p:tav>
                                      </p:tavLst>
                                    </p:anim>
                                    <p:animEffect transition="in" filter="wipe(down)">
                                      <p:cBhvr>
                                        <p:cTn id="36" dur="500"/>
                                        <p:tgtEl>
                                          <p:spTgt spid="1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dissolve">
                                      <p:cBhvr>
                                        <p:cTn id="39" dur="750"/>
                                        <p:tgtEl>
                                          <p:spTgt spid="34"/>
                                        </p:tgtEl>
                                      </p:cBhvr>
                                    </p:animEffect>
                                  </p:childTnLst>
                                </p:cTn>
                              </p:par>
                              <p:par>
                                <p:cTn id="40" presetID="9"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dissolve">
                                      <p:cBhvr>
                                        <p:cTn id="4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uild="p"/>
      <p:bldP spid="3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乘法密码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10" name="Rectangle 3">
            <a:extLst>
              <a:ext uri="{FF2B5EF4-FFF2-40B4-BE49-F238E27FC236}">
                <a16:creationId xmlns:a16="http://schemas.microsoft.com/office/drawing/2014/main" id="{140DB9C2-8B44-6FF2-085D-D41C3BA7C26C}"/>
              </a:ext>
            </a:extLst>
          </p:cNvPr>
          <p:cNvSpPr txBox="1">
            <a:spLocks noChangeArrowheads="1"/>
          </p:cNvSpPr>
          <p:nvPr/>
        </p:nvSpPr>
        <p:spPr>
          <a:xfrm>
            <a:off x="1781213" y="5419956"/>
            <a:ext cx="8278695" cy="986541"/>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2400" dirty="0">
              <a:latin typeface="宋体" panose="02010600030101010101" pitchFamily="2" charset="-122"/>
              <a:ea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mc:AlternateContent xmlns:mc="http://schemas.openxmlformats.org/markup-compatibility/2006" xmlns:a14="http://schemas.microsoft.com/office/drawing/2010/main">
        <mc:Choice Requires="a14">
          <p:sp>
            <p:nvSpPr>
              <p:cNvPr id="25" name="内容占位符 3">
                <a:extLst>
                  <a:ext uri="{FF2B5EF4-FFF2-40B4-BE49-F238E27FC236}">
                    <a16:creationId xmlns:a16="http://schemas.microsoft.com/office/drawing/2014/main" id="{860726D1-3026-52B0-DCA0-9A38C326FC07}"/>
                  </a:ext>
                </a:extLst>
              </p:cNvPr>
              <p:cNvSpPr txBox="1">
                <a:spLocks/>
              </p:cNvSpPr>
              <p:nvPr/>
            </p:nvSpPr>
            <p:spPr>
              <a:xfrm>
                <a:off x="1942945" y="852660"/>
                <a:ext cx="8910403" cy="1695253"/>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ahoma" panose="020B0604030504040204" pitchFamily="34" charset="0"/>
                  </a:rPr>
                  <a:t>加密变换：</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𝑓</m:t>
                    </m:r>
                    <m:r>
                      <a:rPr lang="en-US" altLang="zh-CN" sz="2400" i="1" dirty="0">
                        <a:latin typeface="Cambria Math" panose="02040503050406030204" pitchFamily="18" charset="0"/>
                        <a:ea typeface="宋体" panose="02010600030101010101" pitchFamily="2" charset="-122"/>
                        <a:cs typeface="Tahoma" panose="020B0604030504040204" pitchFamily="34" charset="0"/>
                      </a:rPr>
                      <m:t>(</m:t>
                    </m:r>
                    <m:r>
                      <a:rPr lang="en-US" altLang="zh-CN" sz="2400" i="1" dirty="0">
                        <a:latin typeface="Cambria Math" panose="02040503050406030204" pitchFamily="18" charset="0"/>
                        <a:ea typeface="宋体" panose="02010600030101010101" pitchFamily="2" charset="-122"/>
                        <a:cs typeface="Tahoma" panose="020B0604030504040204" pitchFamily="34" charset="0"/>
                      </a:rPr>
                      <m:t>𝑥</m:t>
                    </m:r>
                    <m:r>
                      <a:rPr lang="en-US" altLang="zh-CN" sz="2400" i="1" dirty="0">
                        <a:latin typeface="Cambria Math" panose="02040503050406030204" pitchFamily="18" charset="0"/>
                        <a:ea typeface="宋体" panose="02010600030101010101" pitchFamily="2" charset="-122"/>
                        <a:cs typeface="Tahoma" panose="020B0604030504040204" pitchFamily="34" charset="0"/>
                      </a:rPr>
                      <m:t>)=</m:t>
                    </m:r>
                    <m:r>
                      <a:rPr lang="en-US" altLang="zh-CN" sz="2400" i="1" dirty="0" err="1">
                        <a:latin typeface="Cambria Math" panose="02040503050406030204" pitchFamily="18" charset="0"/>
                        <a:ea typeface="宋体" panose="02010600030101010101" pitchFamily="2" charset="-122"/>
                        <a:cs typeface="Tahoma" panose="020B0604030504040204" pitchFamily="34" charset="0"/>
                      </a:rPr>
                      <m:t>𝑥𝑘</m:t>
                    </m:r>
                    <m:r>
                      <a:rPr lang="en-US" altLang="zh-CN" sz="2400" i="1" dirty="0">
                        <a:latin typeface="Cambria Math" panose="02040503050406030204" pitchFamily="18" charset="0"/>
                        <a:ea typeface="宋体" panose="02010600030101010101" pitchFamily="2" charset="-122"/>
                        <a:cs typeface="Tahoma" panose="020B0604030504040204" pitchFamily="34" charset="0"/>
                      </a:rPr>
                      <m:t> </m:t>
                    </m:r>
                    <m:r>
                      <a:rPr lang="en-US" altLang="zh-CN" sz="2400" i="1" dirty="0">
                        <a:latin typeface="Cambria Math" panose="02040503050406030204" pitchFamily="18" charset="0"/>
                        <a:ea typeface="宋体" panose="02010600030101010101" pitchFamily="2" charset="-122"/>
                        <a:cs typeface="Tahoma" panose="020B0604030504040204" pitchFamily="34" charset="0"/>
                      </a:rPr>
                      <m:t>𝑚𝑜𝑑</m:t>
                    </m:r>
                    <m:r>
                      <a:rPr lang="en-US" altLang="zh-CN" sz="2400" i="1" dirty="0">
                        <a:latin typeface="Cambria Math" panose="02040503050406030204" pitchFamily="18" charset="0"/>
                        <a:ea typeface="宋体" panose="02010600030101010101" pitchFamily="2" charset="-122"/>
                        <a:cs typeface="Tahoma" panose="020B0604030504040204" pitchFamily="34" charset="0"/>
                      </a:rPr>
                      <m:t> </m:t>
                    </m:r>
                    <m:r>
                      <a:rPr lang="en-US" altLang="zh-CN" sz="2400" i="1" dirty="0">
                        <a:latin typeface="Cambria Math" panose="02040503050406030204" pitchFamily="18" charset="0"/>
                        <a:ea typeface="宋体" panose="02010600030101010101" pitchFamily="2" charset="-122"/>
                        <a:cs typeface="Tahoma" panose="020B0604030504040204" pitchFamily="34" charset="0"/>
                      </a:rPr>
                      <m:t>𝑞</m:t>
                    </m:r>
                    <m:r>
                      <a:rPr lang="en-US" altLang="zh-CN" sz="2400" i="1" dirty="0">
                        <a:latin typeface="Cambria Math" panose="02040503050406030204" pitchFamily="18" charset="0"/>
                        <a:ea typeface="宋体" panose="02010600030101010101" pitchFamily="2" charset="-122"/>
                        <a:cs typeface="Tahoma" panose="020B0604030504040204" pitchFamily="34" charset="0"/>
                      </a:rPr>
                      <m:t>,0≤</m:t>
                    </m:r>
                    <m:r>
                      <a:rPr lang="en-US" altLang="zh-CN" sz="2400" i="1" dirty="0">
                        <a:latin typeface="Cambria Math" panose="02040503050406030204" pitchFamily="18" charset="0"/>
                        <a:ea typeface="宋体" panose="02010600030101010101" pitchFamily="2" charset="-122"/>
                        <a:cs typeface="Tahoma" panose="020B0604030504040204" pitchFamily="34" charset="0"/>
                      </a:rPr>
                      <m:t>𝑥</m:t>
                    </m:r>
                    <m:r>
                      <a:rPr lang="en-US" altLang="zh-CN" sz="2400" i="1" dirty="0">
                        <a:latin typeface="Cambria Math" panose="02040503050406030204" pitchFamily="18" charset="0"/>
                        <a:ea typeface="Cambria Math" panose="02040503050406030204" pitchFamily="18" charset="0"/>
                        <a:cs typeface="Tahoma" panose="020B0604030504040204" pitchFamily="34" charset="0"/>
                      </a:rPr>
                      <m:t>&lt;</m:t>
                    </m:r>
                    <m:r>
                      <a:rPr lang="en-US" altLang="zh-CN" sz="2400" i="1" dirty="0">
                        <a:latin typeface="Cambria Math" panose="02040503050406030204" pitchFamily="18" charset="0"/>
                        <a:ea typeface="宋体" panose="02010600030101010101" pitchFamily="2" charset="-122"/>
                        <a:cs typeface="Tahoma" panose="020B0604030504040204" pitchFamily="34" charset="0"/>
                      </a:rPr>
                      <m:t>𝑞</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。其中</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𝑘</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为密钥，</a:t>
                </a:r>
                <a14:m>
                  <m:oMath xmlns:m="http://schemas.openxmlformats.org/officeDocument/2006/math">
                    <m:r>
                      <a:rPr lang="en-US" altLang="zh-CN" sz="2400" i="1">
                        <a:latin typeface="Cambria Math" panose="02040503050406030204" pitchFamily="18" charset="0"/>
                        <a:ea typeface="宋体" panose="02010600030101010101" pitchFamily="2" charset="-122"/>
                        <a:cs typeface="Tahoma" panose="020B0604030504040204" pitchFamily="34" charset="0"/>
                      </a:rPr>
                      <m:t>0</m:t>
                    </m:r>
                    <m:r>
                      <a:rPr lang="en-US" altLang="zh-CN" sz="2400" i="1">
                        <a:latin typeface="Cambria Math" panose="02040503050406030204" pitchFamily="18" charset="0"/>
                        <a:ea typeface="Cambria Math" panose="02040503050406030204" pitchFamily="18" charset="0"/>
                        <a:cs typeface="Tahoma" panose="020B0604030504040204" pitchFamily="34" charset="0"/>
                      </a:rPr>
                      <m:t>≤</m:t>
                    </m:r>
                    <m:r>
                      <a:rPr lang="en-US" altLang="zh-CN" sz="2400" i="1">
                        <a:latin typeface="Cambria Math" panose="02040503050406030204" pitchFamily="18" charset="0"/>
                        <a:ea typeface="Cambria Math" panose="02040503050406030204" pitchFamily="18" charset="0"/>
                        <a:cs typeface="Tahoma" panose="020B0604030504040204" pitchFamily="34" charset="0"/>
                      </a:rPr>
                      <m:t>𝑘</m:t>
                    </m:r>
                    <m:r>
                      <a:rPr lang="en-US" altLang="zh-CN" sz="2400" i="1">
                        <a:latin typeface="Cambria Math" panose="02040503050406030204" pitchFamily="18" charset="0"/>
                        <a:ea typeface="Cambria Math" panose="02040503050406030204" pitchFamily="18" charset="0"/>
                        <a:cs typeface="Tahoma" panose="020B0604030504040204" pitchFamily="34" charset="0"/>
                      </a:rPr>
                      <m:t>&lt;</m:t>
                    </m:r>
                    <m:r>
                      <a:rPr lang="en-US" altLang="zh-CN" sz="2400" i="1">
                        <a:latin typeface="Cambria Math" panose="02040503050406030204" pitchFamily="18" charset="0"/>
                        <a:ea typeface="Cambria Math" panose="02040503050406030204" pitchFamily="18" charset="0"/>
                        <a:cs typeface="Tahoma" panose="020B0604030504040204" pitchFamily="34" charset="0"/>
                      </a:rPr>
                      <m:t>𝑞</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。仅当</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𝑘</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与</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𝑞</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互素时，</a:t>
                </a:r>
                <a14:m>
                  <m:oMath xmlns:m="http://schemas.openxmlformats.org/officeDocument/2006/math">
                    <m:r>
                      <a:rPr lang="en-US" altLang="zh-CN" sz="2400" i="1" dirty="0">
                        <a:latin typeface="Cambria Math" panose="02040503050406030204" pitchFamily="18" charset="0"/>
                        <a:ea typeface="宋体" panose="02010600030101010101" pitchFamily="2" charset="-122"/>
                        <a:cs typeface="Tahoma" panose="020B0604030504040204" pitchFamily="34" charset="0"/>
                      </a:rPr>
                      <m:t>𝑓</m:t>
                    </m:r>
                    <m:r>
                      <a:rPr lang="en-US" altLang="zh-CN" sz="2400" i="1" dirty="0">
                        <a:latin typeface="Cambria Math" panose="02040503050406030204" pitchFamily="18" charset="0"/>
                        <a:ea typeface="宋体" panose="02010600030101010101" pitchFamily="2" charset="-122"/>
                        <a:cs typeface="Tahoma" panose="020B0604030504040204" pitchFamily="34" charset="0"/>
                      </a:rPr>
                      <m:t>(</m:t>
                    </m:r>
                    <m:r>
                      <a:rPr lang="en-US" altLang="zh-CN" sz="2400" i="1" dirty="0">
                        <a:latin typeface="Cambria Math" panose="02040503050406030204" pitchFamily="18" charset="0"/>
                        <a:ea typeface="宋体" panose="02010600030101010101" pitchFamily="2" charset="-122"/>
                        <a:cs typeface="Tahoma" panose="020B0604030504040204" pitchFamily="34" charset="0"/>
                      </a:rPr>
                      <m:t>𝑥</m:t>
                    </m:r>
                    <m:r>
                      <a:rPr lang="en-US" altLang="zh-CN" sz="2400" i="1" dirty="0">
                        <a:latin typeface="Cambria Math" panose="02040503050406030204" pitchFamily="18" charset="0"/>
                        <a:ea typeface="宋体" panose="02010600030101010101" pitchFamily="2" charset="-122"/>
                        <a:cs typeface="Tahoma" panose="020B0604030504040204" pitchFamily="34" charset="0"/>
                      </a:rPr>
                      <m:t>)</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才是可逆变换。</a:t>
                </a:r>
                <a:endParaRPr lang="en-US" altLang="zh-CN" sz="2400" dirty="0">
                  <a:latin typeface="宋体" panose="02010600030101010101" pitchFamily="2" charset="-122"/>
                  <a:ea typeface="宋体" panose="02010600030101010101" pitchFamily="2" charset="-122"/>
                  <a:cs typeface="Tahoma" panose="020B0604030504040204" pitchFamily="34" charset="0"/>
                </a:endParaRP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cs typeface="Tahoma" panose="020B0604030504040204" pitchFamily="34" charset="0"/>
                  </a:rPr>
                  <a:t>解密变换：</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Tahoma" panose="020B0604030504040204" pitchFamily="34" charset="0"/>
                          </a:rPr>
                        </m:ctrlPr>
                      </m:sSupPr>
                      <m:e>
                        <m:r>
                          <a:rPr lang="en-US" altLang="zh-CN" sz="2400" i="1">
                            <a:latin typeface="Cambria Math" panose="02040503050406030204" pitchFamily="18" charset="0"/>
                            <a:ea typeface="宋体" panose="02010600030101010101" pitchFamily="2" charset="-122"/>
                            <a:cs typeface="Tahoma" panose="020B0604030504040204" pitchFamily="34" charset="0"/>
                          </a:rPr>
                          <m:t>𝑓</m:t>
                        </m:r>
                      </m:e>
                      <m:sup>
                        <m:r>
                          <a:rPr lang="en-US" altLang="zh-CN" sz="2400" i="1">
                            <a:latin typeface="Cambria Math" panose="02040503050406030204" pitchFamily="18" charset="0"/>
                            <a:ea typeface="宋体" panose="02010600030101010101" pitchFamily="2" charset="-122"/>
                            <a:cs typeface="Tahoma" panose="020B0604030504040204" pitchFamily="34" charset="0"/>
                          </a:rPr>
                          <m:t>−1</m:t>
                        </m:r>
                      </m:sup>
                    </m:sSup>
                    <m:d>
                      <m:dPr>
                        <m:ctrlPr>
                          <a:rPr lang="en-US" altLang="zh-CN" sz="2400" i="1">
                            <a:latin typeface="Cambria Math" panose="02040503050406030204" pitchFamily="18" charset="0"/>
                            <a:ea typeface="宋体" panose="02010600030101010101" pitchFamily="2" charset="-122"/>
                            <a:cs typeface="Tahoma" panose="020B0604030504040204" pitchFamily="34" charset="0"/>
                          </a:rPr>
                        </m:ctrlPr>
                      </m:dPr>
                      <m:e>
                        <m:r>
                          <a:rPr lang="en-US" altLang="zh-CN" sz="2400" i="1">
                            <a:latin typeface="Cambria Math" panose="02040503050406030204" pitchFamily="18" charset="0"/>
                            <a:ea typeface="宋体" panose="02010600030101010101" pitchFamily="2" charset="-122"/>
                            <a:cs typeface="Tahoma" panose="020B0604030504040204" pitchFamily="34" charset="0"/>
                          </a:rPr>
                          <m:t>𝑦</m:t>
                        </m:r>
                      </m:e>
                    </m:d>
                    <m:r>
                      <a:rPr lang="en-US" altLang="zh-CN" sz="2400" i="1">
                        <a:latin typeface="Cambria Math" panose="02040503050406030204" pitchFamily="18" charset="0"/>
                        <a:ea typeface="宋体" panose="02010600030101010101" pitchFamily="2" charset="-122"/>
                        <a:cs typeface="Tahoma" panose="020B0604030504040204" pitchFamily="34" charset="0"/>
                      </a:rPr>
                      <m:t>=</m:t>
                    </m:r>
                    <m:r>
                      <a:rPr lang="en-US" altLang="zh-CN" sz="2400" i="1">
                        <a:latin typeface="Cambria Math" panose="02040503050406030204" pitchFamily="18" charset="0"/>
                        <a:ea typeface="宋体" panose="02010600030101010101" pitchFamily="2" charset="-122"/>
                        <a:cs typeface="Tahoma" panose="020B0604030504040204" pitchFamily="34" charset="0"/>
                      </a:rPr>
                      <m:t>𝑦</m:t>
                    </m:r>
                    <m:sSup>
                      <m:sSupPr>
                        <m:ctrlPr>
                          <a:rPr lang="en-US" altLang="zh-CN" sz="2400" i="1">
                            <a:latin typeface="Cambria Math" panose="02040503050406030204" pitchFamily="18" charset="0"/>
                            <a:ea typeface="宋体" panose="02010600030101010101" pitchFamily="2" charset="-122"/>
                            <a:cs typeface="Tahoma" panose="020B0604030504040204" pitchFamily="34" charset="0"/>
                          </a:rPr>
                        </m:ctrlPr>
                      </m:sSupPr>
                      <m:e>
                        <m:r>
                          <a:rPr lang="en-US" altLang="zh-CN" sz="2400" i="1">
                            <a:latin typeface="Cambria Math" panose="02040503050406030204" pitchFamily="18" charset="0"/>
                            <a:ea typeface="宋体" panose="02010600030101010101" pitchFamily="2" charset="-122"/>
                            <a:cs typeface="Tahoma" panose="020B0604030504040204" pitchFamily="34" charset="0"/>
                          </a:rPr>
                          <m:t>𝑘</m:t>
                        </m:r>
                      </m:e>
                      <m:sup>
                        <m:r>
                          <a:rPr lang="en-US" altLang="zh-CN" sz="2400" i="1">
                            <a:latin typeface="Cambria Math" panose="02040503050406030204" pitchFamily="18" charset="0"/>
                            <a:ea typeface="宋体" panose="02010600030101010101" pitchFamily="2" charset="-122"/>
                            <a:cs typeface="Tahoma" panose="020B0604030504040204" pitchFamily="34" charset="0"/>
                          </a:rPr>
                          <m:t>−1</m:t>
                        </m:r>
                      </m:sup>
                    </m:sSup>
                    <m:r>
                      <a:rPr lang="en-US" altLang="zh-CN" sz="2400" i="1">
                        <a:latin typeface="Cambria Math" panose="02040503050406030204" pitchFamily="18" charset="0"/>
                        <a:ea typeface="宋体" panose="02010600030101010101" pitchFamily="2" charset="-122"/>
                        <a:cs typeface="Tahoma" panose="020B0604030504040204" pitchFamily="34" charset="0"/>
                      </a:rPr>
                      <m:t> </m:t>
                    </m:r>
                    <m:r>
                      <a:rPr lang="en-US" altLang="zh-CN" sz="2400" i="1">
                        <a:latin typeface="Cambria Math" panose="02040503050406030204" pitchFamily="18" charset="0"/>
                        <a:ea typeface="宋体" panose="02010600030101010101" pitchFamily="2" charset="-122"/>
                        <a:cs typeface="Tahoma" panose="020B0604030504040204" pitchFamily="34" charset="0"/>
                      </a:rPr>
                      <m:t>𝑚𝑜𝑑</m:t>
                    </m:r>
                    <m:r>
                      <a:rPr lang="en-US" altLang="zh-CN" sz="2400" i="1">
                        <a:latin typeface="Cambria Math" panose="02040503050406030204" pitchFamily="18" charset="0"/>
                        <a:ea typeface="宋体" panose="02010600030101010101" pitchFamily="2" charset="-122"/>
                        <a:cs typeface="Tahoma" panose="020B0604030504040204" pitchFamily="34" charset="0"/>
                      </a:rPr>
                      <m:t> </m:t>
                    </m:r>
                    <m:r>
                      <a:rPr lang="en-US" altLang="zh-CN" sz="2400" i="1">
                        <a:latin typeface="Cambria Math" panose="02040503050406030204" pitchFamily="18" charset="0"/>
                        <a:ea typeface="宋体" panose="02010600030101010101" pitchFamily="2" charset="-122"/>
                        <a:cs typeface="Tahoma" panose="020B0604030504040204" pitchFamily="34" charset="0"/>
                      </a:rPr>
                      <m:t>𝑞</m:t>
                    </m:r>
                    <m:r>
                      <a:rPr lang="en-US" altLang="zh-CN" sz="2400" i="1">
                        <a:latin typeface="Cambria Math" panose="02040503050406030204" pitchFamily="18" charset="0"/>
                        <a:ea typeface="宋体" panose="02010600030101010101" pitchFamily="2" charset="-122"/>
                        <a:cs typeface="Tahoma" panose="020B0604030504040204" pitchFamily="34" charset="0"/>
                      </a:rPr>
                      <m:t>,0≤</m:t>
                    </m:r>
                    <m:r>
                      <a:rPr lang="en-US" altLang="zh-CN" sz="2400" i="1">
                        <a:latin typeface="Cambria Math" panose="02040503050406030204" pitchFamily="18" charset="0"/>
                        <a:ea typeface="Cambria Math" panose="02040503050406030204" pitchFamily="18" charset="0"/>
                        <a:cs typeface="Tahoma" panose="020B0604030504040204" pitchFamily="34" charset="0"/>
                      </a:rPr>
                      <m:t>𝑦</m:t>
                    </m:r>
                    <m:r>
                      <a:rPr lang="en-US" altLang="zh-CN" sz="2400" i="1">
                        <a:latin typeface="Cambria Math" panose="02040503050406030204" pitchFamily="18" charset="0"/>
                        <a:ea typeface="Cambria Math" panose="02040503050406030204" pitchFamily="18" charset="0"/>
                        <a:cs typeface="Tahoma" panose="020B0604030504040204" pitchFamily="34" charset="0"/>
                      </a:rPr>
                      <m:t>&lt;</m:t>
                    </m:r>
                    <m:r>
                      <a:rPr lang="en-US" altLang="zh-CN" sz="2400" i="1">
                        <a:latin typeface="Cambria Math" panose="02040503050406030204" pitchFamily="18" charset="0"/>
                        <a:ea typeface="Cambria Math" panose="02040503050406030204" pitchFamily="18" charset="0"/>
                        <a:cs typeface="Tahoma" panose="020B0604030504040204" pitchFamily="34" charset="0"/>
                      </a:rPr>
                      <m:t>𝑞</m:t>
                    </m:r>
                  </m:oMath>
                </a14:m>
                <a:r>
                  <a:rPr lang="zh-CN" altLang="en-US" sz="2400" dirty="0">
                    <a:latin typeface="宋体" panose="02010600030101010101" pitchFamily="2" charset="-122"/>
                    <a:ea typeface="宋体" panose="02010600030101010101" pitchFamily="2" charset="-122"/>
                    <a:cs typeface="Tahoma" panose="020B0604030504040204" pitchFamily="34" charset="0"/>
                  </a:rPr>
                  <a:t>。</a:t>
                </a:r>
              </a:p>
            </p:txBody>
          </p:sp>
        </mc:Choice>
        <mc:Fallback xmlns="">
          <p:sp>
            <p:nvSpPr>
              <p:cNvPr id="25" name="内容占位符 3">
                <a:extLst>
                  <a:ext uri="{FF2B5EF4-FFF2-40B4-BE49-F238E27FC236}">
                    <a16:creationId xmlns:a16="http://schemas.microsoft.com/office/drawing/2014/main" id="{860726D1-3026-52B0-DCA0-9A38C326FC07}"/>
                  </a:ext>
                </a:extLst>
              </p:cNvPr>
              <p:cNvSpPr txBox="1">
                <a:spLocks noRot="1" noChangeAspect="1" noMove="1" noResize="1" noEditPoints="1" noAdjustHandles="1" noChangeArrowheads="1" noChangeShapeType="1" noTextEdit="1"/>
              </p:cNvSpPr>
              <p:nvPr/>
            </p:nvSpPr>
            <p:spPr>
              <a:xfrm>
                <a:off x="1942945" y="852660"/>
                <a:ext cx="8910403" cy="1695253"/>
              </a:xfrm>
              <a:prstGeom prst="rect">
                <a:avLst/>
              </a:prstGeom>
              <a:blipFill>
                <a:blip r:embed="rId3"/>
                <a:stretch>
                  <a:fillRect l="-137" t="-3957"/>
                </a:stretch>
              </a:blipFill>
            </p:spPr>
            <p:txBody>
              <a:bodyPr/>
              <a:lstStyle/>
              <a:p>
                <a:r>
                  <a:rPr lang="zh-CN" altLang="en-US">
                    <a:noFill/>
                  </a:rPr>
                  <a:t> </a:t>
                </a:r>
              </a:p>
            </p:txBody>
          </p:sp>
        </mc:Fallback>
      </mc:AlternateContent>
      <p:sp>
        <p:nvSpPr>
          <p:cNvPr id="26" name="Rectangle 3">
            <a:extLst>
              <a:ext uri="{FF2B5EF4-FFF2-40B4-BE49-F238E27FC236}">
                <a16:creationId xmlns:a16="http://schemas.microsoft.com/office/drawing/2014/main" id="{325BB27D-8AAE-3E3E-AD45-E1DAABDA78E3}"/>
              </a:ext>
            </a:extLst>
          </p:cNvPr>
          <p:cNvSpPr txBox="1">
            <a:spLocks noChangeArrowheads="1"/>
          </p:cNvSpPr>
          <p:nvPr/>
        </p:nvSpPr>
        <p:spPr>
          <a:xfrm>
            <a:off x="2161006" y="2177303"/>
            <a:ext cx="8474287" cy="4616259"/>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Aft>
                <a:spcPts val="600"/>
              </a:spcAft>
              <a:buNone/>
            </a:pPr>
            <a:r>
              <a:rPr lang="zh-CN" altLang="en-US" sz="2400" dirty="0">
                <a:latin typeface="宋体" panose="02010600030101010101" pitchFamily="2" charset="-122"/>
                <a:ea typeface="宋体" panose="02010600030101010101" pitchFamily="2" charset="-122"/>
              </a:rPr>
              <a:t>我们知道，共有</a:t>
            </a: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q)</a:t>
            </a:r>
            <a:r>
              <a:rPr lang="zh-CN" altLang="en-US" sz="2400" dirty="0">
                <a:latin typeface="宋体" panose="02010600030101010101" pitchFamily="2" charset="-122"/>
                <a:ea typeface="宋体" panose="02010600030101010101" pitchFamily="2" charset="-122"/>
              </a:rPr>
              <a:t>个</a:t>
            </a:r>
            <a:r>
              <a:rPr lang="en-US" altLang="zh-CN" sz="2400" dirty="0">
                <a:latin typeface="宋体" panose="02010600030101010101" pitchFamily="2" charset="-122"/>
                <a:ea typeface="宋体" panose="02010600030101010101" pitchFamily="2" charset="-122"/>
                <a:cs typeface="Tahoma" panose="020B0604030504040204" pitchFamily="34" charset="0"/>
              </a:rPr>
              <a:t>k</a:t>
            </a:r>
            <a:r>
              <a:rPr lang="zh-CN" altLang="en-US" sz="2400" dirty="0">
                <a:latin typeface="宋体" panose="02010600030101010101" pitchFamily="2" charset="-122"/>
                <a:ea typeface="宋体" panose="02010600030101010101" pitchFamily="2" charset="-122"/>
              </a:rPr>
              <a:t>满足</a:t>
            </a:r>
            <a:r>
              <a:rPr lang="zh-CN" altLang="en-US" sz="2400" dirty="0">
                <a:latin typeface="宋体" panose="02010600030101010101" pitchFamily="2" charset="-122"/>
                <a:ea typeface="宋体" panose="02010600030101010101" pitchFamily="2" charset="-122"/>
                <a:cs typeface="Tahoma" panose="020B0604030504040204" pitchFamily="34" charset="0"/>
              </a:rPr>
              <a:t>： </a:t>
            </a:r>
            <a:r>
              <a:rPr lang="en-US" altLang="zh-CN" sz="2400" dirty="0">
                <a:latin typeface="宋体" panose="02010600030101010101" pitchFamily="2" charset="-122"/>
                <a:ea typeface="宋体" panose="02010600030101010101" pitchFamily="2" charset="-122"/>
                <a:cs typeface="Tahoma" panose="020B0604030504040204" pitchFamily="34" charset="0"/>
              </a:rPr>
              <a:t>0</a:t>
            </a:r>
            <a:r>
              <a:rPr lang="en-US" altLang="zh-CN"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en-US" altLang="zh-CN" sz="2400" dirty="0">
                <a:latin typeface="宋体" panose="02010600030101010101" pitchFamily="2" charset="-122"/>
                <a:ea typeface="宋体" panose="02010600030101010101" pitchFamily="2" charset="-122"/>
                <a:cs typeface="Tahoma" panose="020B0604030504040204" pitchFamily="34" charset="0"/>
              </a:rPr>
              <a:t>k&lt;q</a:t>
            </a:r>
            <a:r>
              <a:rPr lang="zh-CN" altLang="en-US" sz="2400" dirty="0">
                <a:latin typeface="宋体" panose="02010600030101010101" pitchFamily="2" charset="-122"/>
                <a:ea typeface="宋体" panose="02010600030101010101" pitchFamily="2" charset="-122"/>
                <a:cs typeface="Tahoma" panose="020B0604030504040204" pitchFamily="34" charset="0"/>
              </a:rPr>
              <a:t>， (</a:t>
            </a:r>
            <a:r>
              <a:rPr lang="en-US" altLang="zh-CN" sz="2400" dirty="0">
                <a:latin typeface="宋体" panose="02010600030101010101" pitchFamily="2" charset="-122"/>
                <a:ea typeface="宋体" panose="02010600030101010101" pitchFamily="2" charset="-122"/>
                <a:cs typeface="Tahoma" panose="020B0604030504040204" pitchFamily="34" charset="0"/>
              </a:rPr>
              <a:t>k, q)=1</a:t>
            </a:r>
            <a:r>
              <a:rPr lang="zh-CN" altLang="en-US" sz="2400" dirty="0">
                <a:latin typeface="宋体" panose="02010600030101010101" pitchFamily="2" charset="-122"/>
                <a:ea typeface="宋体" panose="02010600030101010101" pitchFamily="2" charset="-122"/>
              </a:rPr>
              <a:t>。这就是说，乘法密码共有</a:t>
            </a: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q)</a:t>
            </a:r>
            <a:r>
              <a:rPr lang="zh-CN" altLang="en-US" sz="2400" dirty="0">
                <a:latin typeface="宋体" panose="02010600030101010101" pitchFamily="2" charset="-122"/>
                <a:ea typeface="宋体" panose="02010600030101010101" pitchFamily="2" charset="-122"/>
              </a:rPr>
              <a:t>个不同的密钥。</a:t>
            </a:r>
          </a:p>
          <a:p>
            <a:pPr>
              <a:lnSpc>
                <a:spcPct val="110000"/>
              </a:lnSpc>
              <a:spcAft>
                <a:spcPts val="600"/>
              </a:spcAft>
              <a:buNone/>
            </a:pPr>
            <a:r>
              <a:rPr lang="zh-CN" altLang="en-US" sz="2400" dirty="0">
                <a:latin typeface="宋体" panose="02010600030101010101" pitchFamily="2" charset="-122"/>
                <a:ea typeface="宋体" panose="02010600030101010101" pitchFamily="2" charset="-122"/>
              </a:rPr>
              <a:t>对于</a:t>
            </a:r>
            <a:r>
              <a:rPr lang="en-US" altLang="zh-CN" sz="2400" dirty="0">
                <a:latin typeface="宋体" panose="02010600030101010101" pitchFamily="2" charset="-122"/>
                <a:ea typeface="宋体" panose="02010600030101010101" pitchFamily="2" charset="-122"/>
                <a:cs typeface="Tahoma" panose="020B0604030504040204" pitchFamily="34" charset="0"/>
              </a:rPr>
              <a:t>q=26</a:t>
            </a:r>
            <a:r>
              <a:rPr lang="en-US" altLang="zh-CN" sz="2400" dirty="0">
                <a:latin typeface="宋体" panose="02010600030101010101" pitchFamily="2" charset="-122"/>
                <a:ea typeface="宋体" panose="02010600030101010101" pitchFamily="2" charset="-122"/>
              </a:rPr>
              <a:t>，</a:t>
            </a:r>
          </a:p>
          <a:p>
            <a:pPr algn="ctr">
              <a:lnSpc>
                <a:spcPct val="110000"/>
              </a:lnSpc>
              <a:spcAft>
                <a:spcPts val="600"/>
              </a:spcAft>
              <a:buNone/>
            </a:pP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(26)=</a:t>
            </a: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(2×13)=</a:t>
            </a: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(2</a:t>
            </a:r>
            <a:r>
              <a:rPr lang="en-US" altLang="zh-CN" sz="2400" dirty="0">
                <a:latin typeface="宋体" panose="02010600030101010101" pitchFamily="2" charset="-122"/>
                <a:ea typeface="宋体" panose="02010600030101010101" pitchFamily="2" charset="-122"/>
                <a:cs typeface="Tahoma" panose="020B0604030504040204" pitchFamily="34" charset="0"/>
              </a:rPr>
              <a:t>)×</a:t>
            </a:r>
            <a:r>
              <a:rPr lang="zh-CN" altLang="en-US" sz="2400" dirty="0">
                <a:latin typeface="宋体" panose="02010600030101010101" pitchFamily="2" charset="-122"/>
                <a:ea typeface="宋体" panose="02010600030101010101" pitchFamily="2" charset="-122"/>
                <a:cs typeface="Tahoma" panose="020B0604030504040204" pitchFamily="34" charset="0"/>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13)=</a:t>
            </a:r>
            <a:r>
              <a:rPr lang="zh-CN" altLang="en-US" sz="2400" dirty="0">
                <a:latin typeface="宋体" panose="02010600030101010101" pitchFamily="2" charset="-122"/>
                <a:ea typeface="宋体" panose="02010600030101010101" pitchFamily="2" charset="-122"/>
                <a:cs typeface="Tahoma" panose="020B0604030504040204" pitchFamily="34" charset="0"/>
              </a:rPr>
              <a:t>12</a:t>
            </a:r>
            <a:r>
              <a:rPr lang="zh-CN" altLang="en-US" sz="2400" dirty="0">
                <a:latin typeface="宋体" panose="02010600030101010101" pitchFamily="2" charset="-122"/>
                <a:ea typeface="宋体" panose="02010600030101010101" pitchFamily="2" charset="-122"/>
              </a:rPr>
              <a:t>，</a:t>
            </a:r>
          </a:p>
          <a:p>
            <a:pPr>
              <a:lnSpc>
                <a:spcPct val="11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即共有</a:t>
            </a:r>
            <a:r>
              <a:rPr lang="en-US" altLang="zh-CN" sz="2400" dirty="0">
                <a:latin typeface="宋体" panose="02010600030101010101" pitchFamily="2" charset="-122"/>
                <a:ea typeface="宋体" panose="02010600030101010101" pitchFamily="2" charset="-122"/>
                <a:cs typeface="Tahoma" panose="020B0604030504040204" pitchFamily="34" charset="0"/>
              </a:rPr>
              <a:t>12</a:t>
            </a:r>
            <a:r>
              <a:rPr lang="zh-CN" altLang="en-US" sz="2400" dirty="0">
                <a:latin typeface="宋体" panose="02010600030101010101" pitchFamily="2" charset="-122"/>
                <a:ea typeface="宋体" panose="02010600030101010101" pitchFamily="2" charset="-122"/>
              </a:rPr>
              <a:t>个不同的密钥</a:t>
            </a:r>
            <a:r>
              <a:rPr lang="en-US" altLang="zh-CN" sz="2400" dirty="0">
                <a:latin typeface="宋体" panose="02010600030101010101" pitchFamily="2" charset="-122"/>
                <a:ea typeface="宋体" panose="02010600030101010101" pitchFamily="2" charset="-122"/>
                <a:cs typeface="Tahoma" panose="020B0604030504040204" pitchFamily="34" charset="0"/>
              </a:rPr>
              <a:t>k=1, 3, 5, 7, 9, 11, 15, 17, 19,21, 23</a:t>
            </a:r>
            <a:r>
              <a:rPr lang="zh-CN" altLang="en-US" sz="2400" dirty="0">
                <a:latin typeface="宋体" panose="02010600030101010101" pitchFamily="2" charset="-122"/>
                <a:ea typeface="宋体" panose="02010600030101010101" pitchFamily="2" charset="-122"/>
              </a:rPr>
              <a:t>和</a:t>
            </a:r>
            <a:r>
              <a:rPr lang="zh-CN" altLang="en-US" sz="2400" dirty="0">
                <a:latin typeface="宋体" panose="02010600030101010101" pitchFamily="2" charset="-122"/>
                <a:ea typeface="宋体" panose="02010600030101010101" pitchFamily="2" charset="-122"/>
                <a:cs typeface="Tahoma" panose="020B0604030504040204" pitchFamily="34" charset="0"/>
              </a:rPr>
              <a:t>25</a:t>
            </a:r>
            <a:r>
              <a:rPr lang="zh-CN" altLang="en-US" sz="2400" dirty="0">
                <a:latin typeface="宋体" panose="02010600030101010101" pitchFamily="2" charset="-122"/>
                <a:ea typeface="宋体" panose="02010600030101010101" pitchFamily="2" charset="-122"/>
              </a:rPr>
              <a:t>。</a:t>
            </a:r>
          </a:p>
          <a:p>
            <a:pPr>
              <a:lnSpc>
                <a:spcPct val="11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此时对应的</a:t>
            </a:r>
            <a:r>
              <a:rPr lang="en-US" altLang="zh-CN" sz="2400" b="1" dirty="0">
                <a:latin typeface="宋体" panose="02010600030101010101" pitchFamily="2" charset="-122"/>
                <a:ea typeface="宋体" panose="02010600030101010101" pitchFamily="2" charset="-122"/>
              </a:rPr>
              <a:t>k</a:t>
            </a:r>
            <a:r>
              <a:rPr lang="en-US" altLang="zh-CN" sz="2400" b="1" baseline="30000" dirty="0">
                <a:latin typeface="宋体" panose="02010600030101010101" pitchFamily="2" charset="-122"/>
                <a:ea typeface="宋体" panose="02010600030101010101" pitchFamily="2" charset="-122"/>
              </a:rPr>
              <a:t>-1</a:t>
            </a:r>
            <a:r>
              <a:rPr lang="en-US" altLang="zh-CN" sz="2400" dirty="0">
                <a:latin typeface="宋体" panose="02010600030101010101" pitchFamily="2" charset="-122"/>
                <a:ea typeface="宋体" panose="02010600030101010101" pitchFamily="2" charset="-122"/>
                <a:cs typeface="Tahoma" panose="020B0604030504040204" pitchFamily="34" charset="0"/>
              </a:rPr>
              <a:t>mod q=1, 9, 21, 15, 3, 19, 7, 23, 11, 5,17</a:t>
            </a:r>
            <a:r>
              <a:rPr lang="zh-CN" altLang="en-US" sz="2400" dirty="0">
                <a:latin typeface="宋体" panose="02010600030101010101" pitchFamily="2" charset="-122"/>
                <a:ea typeface="宋体" panose="02010600030101010101" pitchFamily="2" charset="-122"/>
              </a:rPr>
              <a:t>和</a:t>
            </a:r>
            <a:r>
              <a:rPr lang="zh-CN" altLang="en-US" sz="2400" dirty="0">
                <a:latin typeface="宋体" panose="02010600030101010101" pitchFamily="2" charset="-122"/>
                <a:ea typeface="宋体" panose="02010600030101010101" pitchFamily="2" charset="-122"/>
                <a:cs typeface="Tahoma" panose="020B0604030504040204" pitchFamily="34" charset="0"/>
              </a:rPr>
              <a:t>25</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下面将会演示怎么用具体的例子来解密加密！</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90391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 calcmode="lin" valueType="num">
                                      <p:cBhvr additive="base">
                                        <p:cTn id="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xEl>
                                              <p:pRg st="1" end="1"/>
                                            </p:txEl>
                                          </p:spTgt>
                                        </p:tgtEl>
                                        <p:attrNameLst>
                                          <p:attrName>style.visibility</p:attrName>
                                        </p:attrNameLst>
                                      </p:cBhvr>
                                      <p:to>
                                        <p:strVal val="visible"/>
                                      </p:to>
                                    </p:set>
                                    <p:anim calcmode="lin" valueType="num">
                                      <p:cBhvr additive="base">
                                        <p:cTn id="13"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nodePh="1">
                                  <p:stCondLst>
                                    <p:cond delay="0"/>
                                  </p:stCondLst>
                                  <p:endCondLst>
                                    <p:cond evt="begin" delay="0">
                                      <p:tn val="17"/>
                                    </p:cond>
                                  </p:end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xEl>
                                              <p:pRg st="0" end="0"/>
                                            </p:txEl>
                                          </p:spTgt>
                                        </p:tgtEl>
                                        <p:attrNameLst>
                                          <p:attrName>style.visibility</p:attrName>
                                        </p:attrNameLst>
                                      </p:cBhvr>
                                      <p:to>
                                        <p:strVal val="visible"/>
                                      </p:to>
                                    </p:set>
                                    <p:anim calcmode="lin" valueType="num">
                                      <p:cBhvr additive="base">
                                        <p:cTn id="25"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
                                            <p:txEl>
                                              <p:pRg st="1" end="1"/>
                                            </p:txEl>
                                          </p:spTgt>
                                        </p:tgtEl>
                                        <p:attrNameLst>
                                          <p:attrName>style.visibility</p:attrName>
                                        </p:attrNameLst>
                                      </p:cBhvr>
                                      <p:to>
                                        <p:strVal val="visible"/>
                                      </p:to>
                                    </p:set>
                                    <p:anim calcmode="lin" valueType="num">
                                      <p:cBhvr additive="base">
                                        <p:cTn id="29"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
                                            <p:txEl>
                                              <p:pRg st="1" end="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
                                            <p:txEl>
                                              <p:pRg st="2" end="2"/>
                                            </p:txEl>
                                          </p:spTgt>
                                        </p:tgtEl>
                                        <p:attrNameLst>
                                          <p:attrName>style.visibility</p:attrName>
                                        </p:attrNameLst>
                                      </p:cBhvr>
                                      <p:to>
                                        <p:strVal val="visible"/>
                                      </p:to>
                                    </p:set>
                                    <p:anim calcmode="lin" valueType="num">
                                      <p:cBhvr additive="base">
                                        <p:cTn id="33"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
                                            <p:txEl>
                                              <p:pRg st="2" end="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
                                            <p:txEl>
                                              <p:pRg st="3" end="3"/>
                                            </p:txEl>
                                          </p:spTgt>
                                        </p:tgtEl>
                                        <p:attrNameLst>
                                          <p:attrName>style.visibility</p:attrName>
                                        </p:attrNameLst>
                                      </p:cBhvr>
                                      <p:to>
                                        <p:strVal val="visible"/>
                                      </p:to>
                                    </p:set>
                                    <p:anim calcmode="lin" valueType="num">
                                      <p:cBhvr additive="base">
                                        <p:cTn id="37" dur="500" fill="hold"/>
                                        <p:tgtEl>
                                          <p:spTgt spid="26">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
                                            <p:txEl>
                                              <p:pRg st="3" end="3"/>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6">
                                            <p:txEl>
                                              <p:pRg st="4" end="4"/>
                                            </p:txEl>
                                          </p:spTgt>
                                        </p:tgtEl>
                                        <p:attrNameLst>
                                          <p:attrName>style.visibility</p:attrName>
                                        </p:attrNameLst>
                                      </p:cBhvr>
                                      <p:to>
                                        <p:strVal val="visible"/>
                                      </p:to>
                                    </p:set>
                                    <p:anim calcmode="lin" valueType="num">
                                      <p:cBhvr additive="base">
                                        <p:cTn id="41" dur="500" fill="hold"/>
                                        <p:tgtEl>
                                          <p:spTgt spid="26">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6">
                                            <p:txEl>
                                              <p:pRg st="4" end="4"/>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6">
                                            <p:txEl>
                                              <p:pRg st="5" end="5"/>
                                            </p:txEl>
                                          </p:spTgt>
                                        </p:tgtEl>
                                        <p:attrNameLst>
                                          <p:attrName>style.visibility</p:attrName>
                                        </p:attrNameLst>
                                      </p:cBhvr>
                                      <p:to>
                                        <p:strVal val="visible"/>
                                      </p:to>
                                    </p:set>
                                    <p:anim calcmode="lin" valueType="num">
                                      <p:cBhvr additive="base">
                                        <p:cTn id="45" dur="500" fill="hold"/>
                                        <p:tgtEl>
                                          <p:spTgt spid="26">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乘法密码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p:sp>
        <p:nvSpPr>
          <p:cNvPr id="11" name="内容占位符 2">
            <a:extLst>
              <a:ext uri="{FF2B5EF4-FFF2-40B4-BE49-F238E27FC236}">
                <a16:creationId xmlns:a16="http://schemas.microsoft.com/office/drawing/2014/main" id="{0D50F57E-023A-1405-91D6-21943B662B43}"/>
              </a:ext>
            </a:extLst>
          </p:cNvPr>
          <p:cNvSpPr txBox="1">
            <a:spLocks noChangeArrowheads="1"/>
          </p:cNvSpPr>
          <p:nvPr/>
        </p:nvSpPr>
        <p:spPr>
          <a:xfrm>
            <a:off x="2075491" y="1231481"/>
            <a:ext cx="8559800"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altLang="en-US">
                <a:latin typeface="宋体" panose="02010600030101010101" pitchFamily="2" charset="-122"/>
                <a:ea typeface="宋体" panose="02010600030101010101" pitchFamily="2" charset="-122"/>
              </a:rPr>
              <a:t> </a:t>
            </a:r>
            <a:endParaRPr lang="en-CA" altLang="en-US" dirty="0">
              <a:latin typeface="宋体" panose="02010600030101010101" pitchFamily="2" charset="-122"/>
              <a:ea typeface="宋体" panose="02010600030101010101" pitchFamily="2" charset="-122"/>
            </a:endParaRPr>
          </a:p>
        </p:txBody>
      </p:sp>
      <p:sp>
        <p:nvSpPr>
          <p:cNvPr id="13" name="Text Box 2">
            <a:extLst>
              <a:ext uri="{FF2B5EF4-FFF2-40B4-BE49-F238E27FC236}">
                <a16:creationId xmlns:a16="http://schemas.microsoft.com/office/drawing/2014/main" id="{6937B571-20A4-305A-0D92-6A1B2C3F4B45}"/>
              </a:ext>
            </a:extLst>
          </p:cNvPr>
          <p:cNvSpPr txBox="1">
            <a:spLocks noChangeArrowheads="1"/>
          </p:cNvSpPr>
          <p:nvPr/>
        </p:nvSpPr>
        <p:spPr bwMode="ltGray">
          <a:xfrm>
            <a:off x="2364422" y="2738028"/>
            <a:ext cx="22541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000" b="1">
                <a:latin typeface="宋体" panose="02010600030101010101" pitchFamily="2" charset="-122"/>
              </a:rPr>
              <a:t>加密明文 </a:t>
            </a:r>
            <a:r>
              <a:rPr kumimoji="1" lang="en-US" altLang="zh-CN" sz="2000" b="1">
                <a:latin typeface="宋体" panose="02010600030101010101" pitchFamily="2" charset="-122"/>
              </a:rPr>
              <a:t>(k=7)</a:t>
            </a:r>
            <a:r>
              <a:rPr kumimoji="1" lang="zh-CN" altLang="en-US" sz="2000" b="1">
                <a:latin typeface="宋体" panose="02010600030101010101" pitchFamily="2" charset="-122"/>
              </a:rPr>
              <a:t>：</a:t>
            </a:r>
          </a:p>
        </p:txBody>
      </p:sp>
      <p:sp>
        <p:nvSpPr>
          <p:cNvPr id="14" name="Text Box 3">
            <a:extLst>
              <a:ext uri="{FF2B5EF4-FFF2-40B4-BE49-F238E27FC236}">
                <a16:creationId xmlns:a16="http://schemas.microsoft.com/office/drawing/2014/main" id="{3A71C23E-AA97-B906-7775-56B4A3E47FEB}"/>
              </a:ext>
            </a:extLst>
          </p:cNvPr>
          <p:cNvSpPr txBox="1">
            <a:spLocks noChangeArrowheads="1"/>
          </p:cNvSpPr>
          <p:nvPr/>
        </p:nvSpPr>
        <p:spPr bwMode="ltGray">
          <a:xfrm>
            <a:off x="4952043" y="2726914"/>
            <a:ext cx="1415772" cy="461665"/>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kumimoji="1" lang="en-US" altLang="zh-CN" sz="2400" dirty="0">
                <a:latin typeface="宋体" panose="02010600030101010101" pitchFamily="2" charset="-122"/>
                <a:ea typeface="宋体" panose="02010600030101010101" pitchFamily="2" charset="-122"/>
                <a:cs typeface="Arial Unicode MS" pitchFamily="34" charset="-122"/>
              </a:rPr>
              <a:t>m= HELLO</a:t>
            </a:r>
          </a:p>
        </p:txBody>
      </p:sp>
      <p:sp>
        <p:nvSpPr>
          <p:cNvPr id="15" name="Text Box 4">
            <a:extLst>
              <a:ext uri="{FF2B5EF4-FFF2-40B4-BE49-F238E27FC236}">
                <a16:creationId xmlns:a16="http://schemas.microsoft.com/office/drawing/2014/main" id="{9E6C0EF5-268D-DAEF-118D-89C6EC008AB8}"/>
              </a:ext>
            </a:extLst>
          </p:cNvPr>
          <p:cNvSpPr txBox="1">
            <a:spLocks noChangeArrowheads="1"/>
          </p:cNvSpPr>
          <p:nvPr/>
        </p:nvSpPr>
        <p:spPr bwMode="ltGray">
          <a:xfrm>
            <a:off x="5283828" y="5074826"/>
            <a:ext cx="1569660" cy="461665"/>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lang="en-US" altLang="zh-CN" sz="2400" dirty="0">
                <a:latin typeface="宋体" panose="02010600030101010101" pitchFamily="2" charset="-122"/>
                <a:ea typeface="宋体" panose="02010600030101010101" pitchFamily="2" charset="-122"/>
                <a:cs typeface="Arial Unicode MS" pitchFamily="34" charset="-122"/>
              </a:rPr>
              <a:t>C</a:t>
            </a:r>
            <a:r>
              <a:rPr kumimoji="1" lang="en-US" altLang="zh-CN" sz="2400" dirty="0">
                <a:latin typeface="宋体" panose="02010600030101010101" pitchFamily="2" charset="-122"/>
                <a:ea typeface="宋体" panose="02010600030101010101" pitchFamily="2" charset="-122"/>
                <a:cs typeface="Arial Unicode MS" pitchFamily="34" charset="-122"/>
              </a:rPr>
              <a:t>=  </a:t>
            </a:r>
            <a:r>
              <a:rPr kumimoji="1" lang="en-US" altLang="zh-CN" sz="2400" dirty="0" err="1">
                <a:latin typeface="宋体" panose="02010600030101010101" pitchFamily="2" charset="-122"/>
                <a:ea typeface="宋体" panose="02010600030101010101" pitchFamily="2" charset="-122"/>
                <a:cs typeface="Arial Unicode MS" pitchFamily="34" charset="-122"/>
              </a:rPr>
              <a:t>xczzu</a:t>
            </a:r>
            <a:endParaRPr kumimoji="1" lang="en-US" altLang="zh-CN" sz="2400" dirty="0">
              <a:latin typeface="宋体" panose="02010600030101010101" pitchFamily="2" charset="-122"/>
              <a:ea typeface="宋体" panose="02010600030101010101" pitchFamily="2" charset="-122"/>
              <a:cs typeface="Arial Unicode MS" pitchFamily="34" charset="-122"/>
            </a:endParaRPr>
          </a:p>
        </p:txBody>
      </p:sp>
      <p:sp>
        <p:nvSpPr>
          <p:cNvPr id="16" name="Text Box 5">
            <a:extLst>
              <a:ext uri="{FF2B5EF4-FFF2-40B4-BE49-F238E27FC236}">
                <a16:creationId xmlns:a16="http://schemas.microsoft.com/office/drawing/2014/main" id="{86C6E4FC-B522-15AD-231A-0E2D257D97A9}"/>
              </a:ext>
            </a:extLst>
          </p:cNvPr>
          <p:cNvSpPr txBox="1">
            <a:spLocks noChangeArrowheads="1"/>
          </p:cNvSpPr>
          <p:nvPr/>
        </p:nvSpPr>
        <p:spPr bwMode="ltGray">
          <a:xfrm>
            <a:off x="3948745" y="1129888"/>
            <a:ext cx="4032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2000" b="1" dirty="0">
                <a:latin typeface="宋体" panose="02010600030101010101" pitchFamily="2" charset="-122"/>
              </a:rPr>
              <a:t>C= (</a:t>
            </a:r>
            <a:r>
              <a:rPr lang="en-US" altLang="zh-CN" sz="2000" b="1" dirty="0" err="1">
                <a:latin typeface="宋体" panose="02010600030101010101" pitchFamily="2" charset="-122"/>
              </a:rPr>
              <a:t>P</a:t>
            </a:r>
            <a:r>
              <a:rPr lang="en-US" altLang="zh-CN" sz="1600" b="1" dirty="0" err="1">
                <a:latin typeface="宋体" panose="02010600030101010101" pitchFamily="2" charset="-122"/>
              </a:rPr>
              <a:t>×</a:t>
            </a:r>
            <a:r>
              <a:rPr lang="en-US" altLang="zh-CN" sz="2000" b="1" dirty="0" err="1">
                <a:latin typeface="宋体" panose="02010600030101010101" pitchFamily="2" charset="-122"/>
              </a:rPr>
              <a:t>k</a:t>
            </a:r>
            <a:r>
              <a:rPr lang="en-US" altLang="zh-CN" sz="2000" b="1" dirty="0">
                <a:latin typeface="宋体" panose="02010600030101010101" pitchFamily="2" charset="-122"/>
              </a:rPr>
              <a:t>)  mod 26</a:t>
            </a:r>
          </a:p>
        </p:txBody>
      </p:sp>
      <p:sp>
        <p:nvSpPr>
          <p:cNvPr id="17" name="Text Box 6">
            <a:extLst>
              <a:ext uri="{FF2B5EF4-FFF2-40B4-BE49-F238E27FC236}">
                <a16:creationId xmlns:a16="http://schemas.microsoft.com/office/drawing/2014/main" id="{BBD0AC87-2210-DF95-AF6B-0C180FD7D38D}"/>
              </a:ext>
            </a:extLst>
          </p:cNvPr>
          <p:cNvSpPr txBox="1">
            <a:spLocks noChangeArrowheads="1"/>
          </p:cNvSpPr>
          <p:nvPr/>
        </p:nvSpPr>
        <p:spPr bwMode="ltGray">
          <a:xfrm>
            <a:off x="2472367" y="1090200"/>
            <a:ext cx="1475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000" b="1" dirty="0">
                <a:latin typeface="宋体" panose="02010600030101010101" pitchFamily="2" charset="-122"/>
              </a:rPr>
              <a:t>加密算法：</a:t>
            </a:r>
          </a:p>
        </p:txBody>
      </p:sp>
      <p:sp>
        <p:nvSpPr>
          <p:cNvPr id="18" name="Text Box 8">
            <a:extLst>
              <a:ext uri="{FF2B5EF4-FFF2-40B4-BE49-F238E27FC236}">
                <a16:creationId xmlns:a16="http://schemas.microsoft.com/office/drawing/2014/main" id="{332857D2-1CDA-1046-1295-FE3F950C4AD2}"/>
              </a:ext>
            </a:extLst>
          </p:cNvPr>
          <p:cNvSpPr txBox="1">
            <a:spLocks noChangeArrowheads="1"/>
          </p:cNvSpPr>
          <p:nvPr/>
        </p:nvSpPr>
        <p:spPr bwMode="ltGray">
          <a:xfrm>
            <a:off x="2472367" y="1595028"/>
            <a:ext cx="1475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000" b="1" dirty="0">
                <a:latin typeface="宋体" panose="02010600030101010101" pitchFamily="2" charset="-122"/>
              </a:rPr>
              <a:t>解密算法：</a:t>
            </a:r>
          </a:p>
        </p:txBody>
      </p:sp>
      <p:sp>
        <p:nvSpPr>
          <p:cNvPr id="19" name="Text Box 10">
            <a:extLst>
              <a:ext uri="{FF2B5EF4-FFF2-40B4-BE49-F238E27FC236}">
                <a16:creationId xmlns:a16="http://schemas.microsoft.com/office/drawing/2014/main" id="{6860F9B6-E67F-566D-E2F5-436946E9C696}"/>
              </a:ext>
            </a:extLst>
          </p:cNvPr>
          <p:cNvSpPr txBox="1">
            <a:spLocks noChangeArrowheads="1"/>
          </p:cNvSpPr>
          <p:nvPr/>
        </p:nvSpPr>
        <p:spPr bwMode="ltGray">
          <a:xfrm>
            <a:off x="3875721" y="1634716"/>
            <a:ext cx="4032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2000" b="1" dirty="0">
                <a:latin typeface="宋体" panose="02010600030101010101" pitchFamily="2" charset="-122"/>
              </a:rPr>
              <a:t>m= (C</a:t>
            </a:r>
            <a:r>
              <a:rPr lang="en-US" altLang="zh-CN" sz="1600" b="1" dirty="0">
                <a:latin typeface="宋体" panose="02010600030101010101" pitchFamily="2" charset="-122"/>
              </a:rPr>
              <a:t>×</a:t>
            </a:r>
            <a:r>
              <a:rPr lang="en-US" altLang="zh-CN" sz="2000" b="1" dirty="0">
                <a:latin typeface="宋体" panose="02010600030101010101" pitchFamily="2" charset="-122"/>
              </a:rPr>
              <a:t>k</a:t>
            </a:r>
            <a:r>
              <a:rPr lang="en-US" altLang="zh-CN" sz="1600" b="1" baseline="70000" dirty="0">
                <a:latin typeface="宋体" panose="02010600030101010101" pitchFamily="2" charset="-122"/>
              </a:rPr>
              <a:t>-1</a:t>
            </a:r>
            <a:r>
              <a:rPr lang="en-US" altLang="zh-CN" sz="2000" b="1" dirty="0">
                <a:latin typeface="宋体" panose="02010600030101010101" pitchFamily="2" charset="-122"/>
              </a:rPr>
              <a:t> )  mod 26</a:t>
            </a:r>
          </a:p>
        </p:txBody>
      </p:sp>
      <p:sp>
        <p:nvSpPr>
          <p:cNvPr id="20" name="AutoShape 12">
            <a:extLst>
              <a:ext uri="{FF2B5EF4-FFF2-40B4-BE49-F238E27FC236}">
                <a16:creationId xmlns:a16="http://schemas.microsoft.com/office/drawing/2014/main" id="{ABBC63AC-A1B3-69F3-8186-ECE2CF16AC0B}"/>
              </a:ext>
            </a:extLst>
          </p:cNvPr>
          <p:cNvSpPr>
            <a:spLocks noChangeArrowheads="1"/>
          </p:cNvSpPr>
          <p:nvPr/>
        </p:nvSpPr>
        <p:spPr bwMode="auto">
          <a:xfrm>
            <a:off x="4804409" y="5189119"/>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600">
              <a:latin typeface="宋体" panose="02010600030101010101" pitchFamily="2" charset="-122"/>
            </a:endParaRPr>
          </a:p>
        </p:txBody>
      </p:sp>
      <p:sp>
        <p:nvSpPr>
          <p:cNvPr id="21" name="Text Box 13">
            <a:extLst>
              <a:ext uri="{FF2B5EF4-FFF2-40B4-BE49-F238E27FC236}">
                <a16:creationId xmlns:a16="http://schemas.microsoft.com/office/drawing/2014/main" id="{885ED997-3CC4-4545-D8F3-E1EE2D029685}"/>
              </a:ext>
            </a:extLst>
          </p:cNvPr>
          <p:cNvSpPr txBox="1">
            <a:spLocks noChangeArrowheads="1"/>
          </p:cNvSpPr>
          <p:nvPr/>
        </p:nvSpPr>
        <p:spPr bwMode="ltGray">
          <a:xfrm>
            <a:off x="2651762" y="3363506"/>
            <a:ext cx="83388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a:latin typeface="宋体" panose="02010600030101010101" pitchFamily="2" charset="-122"/>
              </a:rPr>
              <a:t>H=07 </a:t>
            </a:r>
          </a:p>
          <a:p>
            <a:pPr>
              <a:spcBef>
                <a:spcPct val="0"/>
              </a:spcBef>
              <a:buClrTx/>
              <a:buSzTx/>
              <a:buFontTx/>
              <a:buNone/>
            </a:pPr>
            <a:r>
              <a:rPr kumimoji="1" lang="en-US" altLang="zh-CN" sz="2000" b="1">
                <a:latin typeface="宋体" panose="02010600030101010101" pitchFamily="2" charset="-122"/>
              </a:rPr>
              <a:t>E=04</a:t>
            </a:r>
          </a:p>
          <a:p>
            <a:pPr>
              <a:spcBef>
                <a:spcPct val="0"/>
              </a:spcBef>
              <a:buClrTx/>
              <a:buSzTx/>
              <a:buFontTx/>
              <a:buNone/>
            </a:pPr>
            <a:r>
              <a:rPr kumimoji="1" lang="en-US" altLang="zh-CN" sz="2000" b="1">
                <a:latin typeface="宋体" panose="02010600030101010101" pitchFamily="2" charset="-122"/>
              </a:rPr>
              <a:t>L=11</a:t>
            </a:r>
          </a:p>
          <a:p>
            <a:pPr>
              <a:spcBef>
                <a:spcPct val="0"/>
              </a:spcBef>
              <a:buClrTx/>
              <a:buSzTx/>
              <a:buFontTx/>
              <a:buNone/>
            </a:pPr>
            <a:r>
              <a:rPr kumimoji="1" lang="en-US" altLang="zh-CN" sz="2000" b="1">
                <a:latin typeface="宋体" panose="02010600030101010101" pitchFamily="2" charset="-122"/>
              </a:rPr>
              <a:t>O=14</a:t>
            </a:r>
          </a:p>
        </p:txBody>
      </p:sp>
      <p:sp>
        <p:nvSpPr>
          <p:cNvPr id="22" name="AutoShape 14">
            <a:extLst>
              <a:ext uri="{FF2B5EF4-FFF2-40B4-BE49-F238E27FC236}">
                <a16:creationId xmlns:a16="http://schemas.microsoft.com/office/drawing/2014/main" id="{F5761FCE-07C0-3836-933A-05AA68626668}"/>
              </a:ext>
            </a:extLst>
          </p:cNvPr>
          <p:cNvSpPr>
            <a:spLocks noChangeArrowheads="1"/>
          </p:cNvSpPr>
          <p:nvPr/>
        </p:nvSpPr>
        <p:spPr bwMode="auto">
          <a:xfrm>
            <a:off x="3699509" y="3833393"/>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600">
              <a:latin typeface="宋体" panose="02010600030101010101" pitchFamily="2" charset="-122"/>
            </a:endParaRPr>
          </a:p>
        </p:txBody>
      </p:sp>
      <p:sp>
        <p:nvSpPr>
          <p:cNvPr id="23" name="Text Box 15">
            <a:extLst>
              <a:ext uri="{FF2B5EF4-FFF2-40B4-BE49-F238E27FC236}">
                <a16:creationId xmlns:a16="http://schemas.microsoft.com/office/drawing/2014/main" id="{CAA5127F-04F2-41F2-F7BA-D6555FA1C68F}"/>
              </a:ext>
            </a:extLst>
          </p:cNvPr>
          <p:cNvSpPr txBox="1">
            <a:spLocks noChangeArrowheads="1"/>
          </p:cNvSpPr>
          <p:nvPr/>
        </p:nvSpPr>
        <p:spPr bwMode="ltGray">
          <a:xfrm>
            <a:off x="4490079" y="3273021"/>
            <a:ext cx="2808288" cy="1323439"/>
          </a:xfrm>
          <a:prstGeom prst="rect">
            <a:avLst/>
          </a:prstGeom>
          <a:solidFill>
            <a:schemeClr val="bg2"/>
          </a:solidFill>
          <a:ln w="9525" cap="rnd">
            <a:solidFill>
              <a:schemeClr val="bg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dirty="0">
                <a:latin typeface="宋体" panose="02010600030101010101" pitchFamily="2" charset="-122"/>
              </a:rPr>
              <a:t> 7</a:t>
            </a:r>
            <a:r>
              <a:rPr kumimoji="1" lang="en-US" altLang="zh-CN" sz="1600" b="1" dirty="0">
                <a:latin typeface="宋体" panose="02010600030101010101" pitchFamily="2" charset="-122"/>
              </a:rPr>
              <a:t>×</a:t>
            </a:r>
            <a:r>
              <a:rPr kumimoji="1" lang="en-US" altLang="zh-CN" sz="2000" b="1" dirty="0">
                <a:latin typeface="宋体" panose="02010600030101010101" pitchFamily="2" charset="-122"/>
              </a:rPr>
              <a:t>7=23   mod 26</a:t>
            </a:r>
          </a:p>
          <a:p>
            <a:pPr>
              <a:spcBef>
                <a:spcPct val="0"/>
              </a:spcBef>
              <a:buClrTx/>
              <a:buSzTx/>
              <a:buFontTx/>
              <a:buNone/>
            </a:pPr>
            <a:r>
              <a:rPr kumimoji="1" lang="en-US" altLang="zh-CN" sz="2000" b="1" dirty="0">
                <a:latin typeface="宋体" panose="02010600030101010101" pitchFamily="2" charset="-122"/>
              </a:rPr>
              <a:t> 4</a:t>
            </a:r>
            <a:r>
              <a:rPr kumimoji="1" lang="en-US" altLang="zh-CN" sz="1600" b="1" dirty="0">
                <a:latin typeface="宋体" panose="02010600030101010101" pitchFamily="2" charset="-122"/>
              </a:rPr>
              <a:t>× </a:t>
            </a:r>
            <a:r>
              <a:rPr kumimoji="1" lang="en-US" altLang="zh-CN" sz="2000" b="1" dirty="0">
                <a:latin typeface="宋体" panose="02010600030101010101" pitchFamily="2" charset="-122"/>
              </a:rPr>
              <a:t>7= 2  mod26 </a:t>
            </a:r>
          </a:p>
          <a:p>
            <a:pPr>
              <a:spcBef>
                <a:spcPct val="0"/>
              </a:spcBef>
              <a:buClrTx/>
              <a:buSzTx/>
              <a:buFontTx/>
              <a:buNone/>
            </a:pPr>
            <a:r>
              <a:rPr kumimoji="1" lang="en-US" altLang="zh-CN" sz="2000" b="1" dirty="0">
                <a:latin typeface="宋体" panose="02010600030101010101" pitchFamily="2" charset="-122"/>
              </a:rPr>
              <a:t>11</a:t>
            </a:r>
            <a:r>
              <a:rPr kumimoji="1" lang="en-US" altLang="zh-CN" sz="1600" b="1" dirty="0">
                <a:latin typeface="宋体" panose="02010600030101010101" pitchFamily="2" charset="-122"/>
              </a:rPr>
              <a:t>×</a:t>
            </a:r>
            <a:r>
              <a:rPr kumimoji="1" lang="en-US" altLang="zh-CN" sz="2000" b="1" dirty="0">
                <a:latin typeface="宋体" panose="02010600030101010101" pitchFamily="2" charset="-122"/>
              </a:rPr>
              <a:t>7=25  mod26</a:t>
            </a:r>
          </a:p>
          <a:p>
            <a:pPr>
              <a:spcBef>
                <a:spcPct val="0"/>
              </a:spcBef>
              <a:buClrTx/>
              <a:buSzTx/>
              <a:buFontTx/>
              <a:buNone/>
            </a:pPr>
            <a:r>
              <a:rPr kumimoji="1" lang="en-US" altLang="zh-CN" sz="2000" b="1" dirty="0">
                <a:latin typeface="宋体" panose="02010600030101010101" pitchFamily="2" charset="-122"/>
              </a:rPr>
              <a:t>14</a:t>
            </a:r>
            <a:r>
              <a:rPr kumimoji="1" lang="en-US" altLang="zh-CN" sz="1600" b="1" dirty="0">
                <a:latin typeface="宋体" panose="02010600030101010101" pitchFamily="2" charset="-122"/>
              </a:rPr>
              <a:t>×</a:t>
            </a:r>
            <a:r>
              <a:rPr kumimoji="1" lang="en-US" altLang="zh-CN" sz="2000" b="1" dirty="0">
                <a:latin typeface="宋体" panose="02010600030101010101" pitchFamily="2" charset="-122"/>
              </a:rPr>
              <a:t>7=20  mod26</a:t>
            </a:r>
          </a:p>
        </p:txBody>
      </p:sp>
      <p:sp>
        <p:nvSpPr>
          <p:cNvPr id="24" name="AutoShape 16">
            <a:extLst>
              <a:ext uri="{FF2B5EF4-FFF2-40B4-BE49-F238E27FC236}">
                <a16:creationId xmlns:a16="http://schemas.microsoft.com/office/drawing/2014/main" id="{F6E3D625-2CE0-6684-F937-E0F94171082F}"/>
              </a:ext>
            </a:extLst>
          </p:cNvPr>
          <p:cNvSpPr>
            <a:spLocks noChangeArrowheads="1"/>
          </p:cNvSpPr>
          <p:nvPr/>
        </p:nvSpPr>
        <p:spPr bwMode="auto">
          <a:xfrm>
            <a:off x="7467801" y="3962975"/>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600">
              <a:latin typeface="宋体" panose="02010600030101010101" pitchFamily="2" charset="-122"/>
            </a:endParaRPr>
          </a:p>
        </p:txBody>
      </p:sp>
      <p:sp>
        <p:nvSpPr>
          <p:cNvPr id="27" name="Text Box 17">
            <a:extLst>
              <a:ext uri="{FF2B5EF4-FFF2-40B4-BE49-F238E27FC236}">
                <a16:creationId xmlns:a16="http://schemas.microsoft.com/office/drawing/2014/main" id="{5F6747ED-A456-4CF0-D5B3-EAB7EDDBA92C}"/>
              </a:ext>
            </a:extLst>
          </p:cNvPr>
          <p:cNvSpPr txBox="1">
            <a:spLocks noChangeArrowheads="1"/>
          </p:cNvSpPr>
          <p:nvPr/>
        </p:nvSpPr>
        <p:spPr bwMode="ltGray">
          <a:xfrm>
            <a:off x="8030217" y="3388908"/>
            <a:ext cx="1093569"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dirty="0">
                <a:latin typeface="宋体" panose="02010600030101010101" pitchFamily="2" charset="-122"/>
              </a:rPr>
              <a:t>23 = x </a:t>
            </a:r>
          </a:p>
          <a:p>
            <a:pPr>
              <a:spcBef>
                <a:spcPct val="0"/>
              </a:spcBef>
              <a:buClrTx/>
              <a:buSzTx/>
              <a:buFontTx/>
              <a:buNone/>
            </a:pPr>
            <a:r>
              <a:rPr kumimoji="1" lang="en-US" altLang="zh-CN" sz="2000" b="1" dirty="0">
                <a:latin typeface="宋体" panose="02010600030101010101" pitchFamily="2" charset="-122"/>
              </a:rPr>
              <a:t>2 = c</a:t>
            </a:r>
          </a:p>
          <a:p>
            <a:pPr>
              <a:spcBef>
                <a:spcPct val="0"/>
              </a:spcBef>
              <a:buClrTx/>
              <a:buSzTx/>
              <a:buFontTx/>
              <a:buNone/>
            </a:pPr>
            <a:r>
              <a:rPr kumimoji="1" lang="en-US" altLang="zh-CN" sz="2000" b="1" dirty="0">
                <a:latin typeface="宋体" panose="02010600030101010101" pitchFamily="2" charset="-122"/>
              </a:rPr>
              <a:t>25 = z</a:t>
            </a:r>
          </a:p>
          <a:p>
            <a:pPr>
              <a:spcBef>
                <a:spcPct val="0"/>
              </a:spcBef>
              <a:buClrTx/>
              <a:buSzTx/>
              <a:buFontTx/>
              <a:buNone/>
            </a:pPr>
            <a:r>
              <a:rPr kumimoji="1" lang="en-US" altLang="zh-CN" sz="2000" b="1" dirty="0">
                <a:latin typeface="宋体" panose="02010600030101010101" pitchFamily="2" charset="-122"/>
              </a:rPr>
              <a:t>20 = u</a:t>
            </a:r>
          </a:p>
        </p:txBody>
      </p:sp>
      <p:sp>
        <p:nvSpPr>
          <p:cNvPr id="28" name="Text Box 18">
            <a:extLst>
              <a:ext uri="{FF2B5EF4-FFF2-40B4-BE49-F238E27FC236}">
                <a16:creationId xmlns:a16="http://schemas.microsoft.com/office/drawing/2014/main" id="{EC584A8C-4309-3AF4-E2FC-16D5C9797840}"/>
              </a:ext>
            </a:extLst>
          </p:cNvPr>
          <p:cNvSpPr txBox="1">
            <a:spLocks noChangeArrowheads="1"/>
          </p:cNvSpPr>
          <p:nvPr/>
        </p:nvSpPr>
        <p:spPr bwMode="ltGray">
          <a:xfrm>
            <a:off x="3156586" y="2034764"/>
            <a:ext cx="6769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2000" b="1">
                <a:latin typeface="宋体" panose="02010600030101010101" pitchFamily="2" charset="-122"/>
              </a:rPr>
              <a:t>   k</a:t>
            </a:r>
            <a:r>
              <a:rPr lang="en-US" altLang="zh-CN" sz="1600" b="1">
                <a:latin typeface="宋体" panose="02010600030101010101" pitchFamily="2" charset="-122"/>
              </a:rPr>
              <a:t>∈Z*</a:t>
            </a:r>
            <a:r>
              <a:rPr lang="en-US" altLang="zh-CN" sz="1100" b="1">
                <a:latin typeface="宋体" panose="02010600030101010101" pitchFamily="2" charset="-122"/>
              </a:rPr>
              <a:t>26</a:t>
            </a:r>
            <a:r>
              <a:rPr lang="en-US" altLang="zh-CN" sz="2000" b="1">
                <a:latin typeface="宋体" panose="02010600030101010101" pitchFamily="2" charset="-122"/>
              </a:rPr>
              <a:t> = { 1,3,5,7,9,11,15,17,19,21,23,25}</a:t>
            </a:r>
          </a:p>
        </p:txBody>
      </p:sp>
      <p:sp>
        <p:nvSpPr>
          <p:cNvPr id="29" name="AutoShape 21">
            <a:extLst>
              <a:ext uri="{FF2B5EF4-FFF2-40B4-BE49-F238E27FC236}">
                <a16:creationId xmlns:a16="http://schemas.microsoft.com/office/drawing/2014/main" id="{89A0DDE2-790E-E0B3-DB26-1813FFE7666D}"/>
              </a:ext>
            </a:extLst>
          </p:cNvPr>
          <p:cNvSpPr>
            <a:spLocks noChangeArrowheads="1"/>
          </p:cNvSpPr>
          <p:nvPr/>
        </p:nvSpPr>
        <p:spPr bwMode="auto">
          <a:xfrm>
            <a:off x="6828469" y="1123542"/>
            <a:ext cx="1655763" cy="576263"/>
          </a:xfrm>
          <a:prstGeom prst="cloudCallout">
            <a:avLst>
              <a:gd name="adj1" fmla="val -43769"/>
              <a:gd name="adj2" fmla="val 96556"/>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600" b="1" dirty="0">
                <a:solidFill>
                  <a:schemeClr val="bg1"/>
                </a:solidFill>
                <a:latin typeface="宋体" panose="02010600030101010101" pitchFamily="2" charset="-122"/>
              </a:rPr>
              <a:t>Key=k</a:t>
            </a:r>
          </a:p>
        </p:txBody>
      </p:sp>
      <p:sp>
        <p:nvSpPr>
          <p:cNvPr id="30" name="AutoShape 22">
            <a:extLst>
              <a:ext uri="{FF2B5EF4-FFF2-40B4-BE49-F238E27FC236}">
                <a16:creationId xmlns:a16="http://schemas.microsoft.com/office/drawing/2014/main" id="{76CE3578-F292-4347-E6B5-D2E5282AEA77}"/>
              </a:ext>
            </a:extLst>
          </p:cNvPr>
          <p:cNvSpPr>
            <a:spLocks noChangeArrowheads="1"/>
          </p:cNvSpPr>
          <p:nvPr/>
        </p:nvSpPr>
        <p:spPr bwMode="auto">
          <a:xfrm>
            <a:off x="9030371" y="1202975"/>
            <a:ext cx="1944688" cy="792163"/>
          </a:xfrm>
          <a:prstGeom prst="cloudCallout">
            <a:avLst>
              <a:gd name="adj1" fmla="val -49102"/>
              <a:gd name="adj2" fmla="val 83866"/>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400" b="1" dirty="0">
                <a:solidFill>
                  <a:schemeClr val="bg1"/>
                </a:solidFill>
                <a:latin typeface="宋体" panose="02010600030101010101" pitchFamily="2" charset="-122"/>
              </a:rPr>
              <a:t>密码域</a:t>
            </a:r>
          </a:p>
          <a:p>
            <a:pPr algn="ctr" eaLnBrk="1" hangingPunct="1">
              <a:spcBef>
                <a:spcPct val="0"/>
              </a:spcBef>
              <a:buClrTx/>
              <a:buSzTx/>
              <a:buFontTx/>
              <a:buNone/>
            </a:pPr>
            <a:r>
              <a:rPr lang="zh-CN" altLang="en-US" sz="1400" b="1" dirty="0">
                <a:solidFill>
                  <a:schemeClr val="bg1"/>
                </a:solidFill>
                <a:latin typeface="宋体" panose="02010600030101010101" pitchFamily="2" charset="-122"/>
              </a:rPr>
              <a:t>大小</a:t>
            </a:r>
            <a:r>
              <a:rPr lang="en-US" altLang="zh-CN" sz="1400" b="1" dirty="0">
                <a:solidFill>
                  <a:schemeClr val="bg1"/>
                </a:solidFill>
                <a:latin typeface="宋体" panose="02010600030101010101" pitchFamily="2" charset="-122"/>
              </a:rPr>
              <a:t>=12</a:t>
            </a:r>
            <a:endParaRPr lang="en-US" altLang="zh-CN" sz="1600" b="1" dirty="0">
              <a:solidFill>
                <a:schemeClr val="bg1"/>
              </a:solidFill>
              <a:latin typeface="宋体" panose="02010600030101010101" pitchFamily="2" charset="-122"/>
            </a:endParaRPr>
          </a:p>
        </p:txBody>
      </p:sp>
    </p:spTree>
    <p:extLst>
      <p:ext uri="{BB962C8B-B14F-4D97-AF65-F5344CB8AC3E}">
        <p14:creationId xmlns:p14="http://schemas.microsoft.com/office/powerpoint/2010/main" val="187921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additive="base">
                                        <p:cTn id="42" dur="500" fill="hold"/>
                                        <p:tgtEl>
                                          <p:spTgt spid="28"/>
                                        </p:tgtEl>
                                        <p:attrNameLst>
                                          <p:attrName>ppt_x</p:attrName>
                                        </p:attrNameLst>
                                      </p:cBhvr>
                                      <p:tavLst>
                                        <p:tav tm="0">
                                          <p:val>
                                            <p:strVal val="0-#ppt_w/2"/>
                                          </p:val>
                                        </p:tav>
                                        <p:tav tm="100000">
                                          <p:val>
                                            <p:strVal val="#ppt_x"/>
                                          </p:val>
                                        </p:tav>
                                      </p:tavLst>
                                    </p:anim>
                                    <p:anim calcmode="lin" valueType="num">
                                      <p:cBhvr additive="base">
                                        <p:cTn id="43"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left)">
                                      <p:cBhvr>
                                        <p:cTn id="48" dur="500"/>
                                        <p:tgtEl>
                                          <p:spTgt spid="3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left)">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wipe(left)">
                                      <p:cBhvr>
                                        <p:cTn id="73" dur="5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iterate type="lt">
                                    <p:tmPct val="100000"/>
                                  </p:iterate>
                                  <p:childTnLst>
                                    <p:set>
                                      <p:cBhvr>
                                        <p:cTn id="92" dur="1" fill="hold">
                                          <p:stCondLst>
                                            <p:cond delay="0"/>
                                          </p:stCondLst>
                                        </p:cTn>
                                        <p:tgtEl>
                                          <p:spTgt spid="15"/>
                                        </p:tgtEl>
                                        <p:attrNameLst>
                                          <p:attrName>style.visibility</p:attrName>
                                        </p:attrNameLst>
                                      </p:cBhvr>
                                      <p:to>
                                        <p:strVal val="visible"/>
                                      </p:to>
                                    </p:set>
                                    <p:animEffect transition="in" filter="dissolve">
                                      <p:cBhvr>
                                        <p:cTn id="93" dur="75"/>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autoUpdateAnimBg="0"/>
      <p:bldP spid="16" grpId="0" autoUpdateAnimBg="0"/>
      <p:bldP spid="17" grpId="0" autoUpdateAnimBg="0"/>
      <p:bldP spid="18" grpId="0" autoUpdateAnimBg="0"/>
      <p:bldP spid="19" grpId="0" autoUpdateAnimBg="0"/>
      <p:bldP spid="20" grpId="0" animBg="1"/>
      <p:bldP spid="21" grpId="0"/>
      <p:bldP spid="22" grpId="0" animBg="1"/>
      <p:bldP spid="23" grpId="0" animBg="1"/>
      <p:bldP spid="24" grpId="0" animBg="1"/>
      <p:bldP spid="27" grpId="0"/>
      <p:bldP spid="28" grpId="0" autoUpdateAnimBg="0"/>
      <p:bldP spid="29" grpId="0" animBg="1"/>
      <p:bldP spid="3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乘法密码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p:sp>
        <p:nvSpPr>
          <p:cNvPr id="11" name="内容占位符 2">
            <a:extLst>
              <a:ext uri="{FF2B5EF4-FFF2-40B4-BE49-F238E27FC236}">
                <a16:creationId xmlns:a16="http://schemas.microsoft.com/office/drawing/2014/main" id="{0D50F57E-023A-1405-91D6-21943B662B43}"/>
              </a:ext>
            </a:extLst>
          </p:cNvPr>
          <p:cNvSpPr txBox="1">
            <a:spLocks noChangeArrowheads="1"/>
          </p:cNvSpPr>
          <p:nvPr/>
        </p:nvSpPr>
        <p:spPr>
          <a:xfrm>
            <a:off x="2075491" y="1231481"/>
            <a:ext cx="8559800"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altLang="en-US">
                <a:latin typeface="宋体" panose="02010600030101010101" pitchFamily="2" charset="-122"/>
                <a:ea typeface="宋体" panose="02010600030101010101" pitchFamily="2" charset="-122"/>
              </a:rPr>
              <a:t> </a:t>
            </a:r>
            <a:endParaRPr lang="en-CA" altLang="en-US" dirty="0">
              <a:latin typeface="宋体" panose="02010600030101010101" pitchFamily="2" charset="-122"/>
              <a:ea typeface="宋体" panose="02010600030101010101" pitchFamily="2" charset="-122"/>
            </a:endParaRPr>
          </a:p>
        </p:txBody>
      </p:sp>
      <p:sp>
        <p:nvSpPr>
          <p:cNvPr id="25" name="Text Box 2">
            <a:extLst>
              <a:ext uri="{FF2B5EF4-FFF2-40B4-BE49-F238E27FC236}">
                <a16:creationId xmlns:a16="http://schemas.microsoft.com/office/drawing/2014/main" id="{40D7FFFB-EBE5-4F29-0E58-BDF0592546A1}"/>
              </a:ext>
            </a:extLst>
          </p:cNvPr>
          <p:cNvSpPr txBox="1">
            <a:spLocks noChangeArrowheads="1"/>
          </p:cNvSpPr>
          <p:nvPr/>
        </p:nvSpPr>
        <p:spPr bwMode="ltGray">
          <a:xfrm>
            <a:off x="2212990" y="1989140"/>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000" b="1" dirty="0">
                <a:latin typeface="宋体" panose="02010600030101010101" pitchFamily="2" charset="-122"/>
              </a:rPr>
              <a:t>解密：</a:t>
            </a:r>
          </a:p>
        </p:txBody>
      </p:sp>
      <p:sp>
        <p:nvSpPr>
          <p:cNvPr id="26" name="Text Box 4">
            <a:extLst>
              <a:ext uri="{FF2B5EF4-FFF2-40B4-BE49-F238E27FC236}">
                <a16:creationId xmlns:a16="http://schemas.microsoft.com/office/drawing/2014/main" id="{BB0E60B8-ED79-DD8D-4CB0-C6BA1058BA3A}"/>
              </a:ext>
            </a:extLst>
          </p:cNvPr>
          <p:cNvSpPr txBox="1">
            <a:spLocks noChangeArrowheads="1"/>
          </p:cNvSpPr>
          <p:nvPr/>
        </p:nvSpPr>
        <p:spPr bwMode="ltGray">
          <a:xfrm>
            <a:off x="3435360" y="1989148"/>
            <a:ext cx="1082348" cy="400110"/>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lang="en-US" altLang="zh-CN" sz="2000" dirty="0">
                <a:latin typeface="宋体" panose="02010600030101010101" pitchFamily="2" charset="-122"/>
                <a:ea typeface="宋体" panose="02010600030101010101" pitchFamily="2" charset="-122"/>
                <a:cs typeface="Arial Unicode MS" pitchFamily="34" charset="-122"/>
              </a:rPr>
              <a:t>C</a:t>
            </a:r>
            <a:r>
              <a:rPr kumimoji="1" lang="en-US" altLang="zh-CN" sz="2000" dirty="0">
                <a:latin typeface="宋体" panose="02010600030101010101" pitchFamily="2" charset="-122"/>
                <a:ea typeface="宋体" panose="02010600030101010101" pitchFamily="2" charset="-122"/>
                <a:cs typeface="Arial Unicode MS" pitchFamily="34" charset="-122"/>
              </a:rPr>
              <a:t>=</a:t>
            </a:r>
            <a:r>
              <a:rPr kumimoji="1" lang="en-US" altLang="zh-CN" sz="2000" dirty="0" err="1">
                <a:latin typeface="宋体" panose="02010600030101010101" pitchFamily="2" charset="-122"/>
                <a:ea typeface="宋体" panose="02010600030101010101" pitchFamily="2" charset="-122"/>
                <a:cs typeface="Arial Unicode MS" pitchFamily="34" charset="-122"/>
              </a:rPr>
              <a:t>xczzu</a:t>
            </a:r>
            <a:endParaRPr kumimoji="1" lang="en-US" altLang="zh-CN" sz="2000" dirty="0">
              <a:latin typeface="宋体" panose="02010600030101010101" pitchFamily="2" charset="-122"/>
              <a:ea typeface="宋体" panose="02010600030101010101" pitchFamily="2" charset="-122"/>
              <a:cs typeface="Arial Unicode MS" pitchFamily="34" charset="-122"/>
            </a:endParaRPr>
          </a:p>
        </p:txBody>
      </p:sp>
      <p:sp>
        <p:nvSpPr>
          <p:cNvPr id="31" name="AutoShape 10">
            <a:extLst>
              <a:ext uri="{FF2B5EF4-FFF2-40B4-BE49-F238E27FC236}">
                <a16:creationId xmlns:a16="http://schemas.microsoft.com/office/drawing/2014/main" id="{26F00CB8-848A-A3F8-71C2-777336506A3B}"/>
              </a:ext>
            </a:extLst>
          </p:cNvPr>
          <p:cNvSpPr>
            <a:spLocks noChangeArrowheads="1"/>
          </p:cNvSpPr>
          <p:nvPr/>
        </p:nvSpPr>
        <p:spPr bwMode="auto">
          <a:xfrm>
            <a:off x="5808678" y="2060575"/>
            <a:ext cx="358775" cy="217488"/>
          </a:xfrm>
          <a:prstGeom prst="rightArrow">
            <a:avLst>
              <a:gd name="adj1" fmla="val 50000"/>
              <a:gd name="adj2" fmla="val 41241"/>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000">
              <a:latin typeface="宋体" panose="02010600030101010101" pitchFamily="2" charset="-122"/>
            </a:endParaRPr>
          </a:p>
        </p:txBody>
      </p:sp>
      <p:sp>
        <p:nvSpPr>
          <p:cNvPr id="32" name="Text Box 11">
            <a:extLst>
              <a:ext uri="{FF2B5EF4-FFF2-40B4-BE49-F238E27FC236}">
                <a16:creationId xmlns:a16="http://schemas.microsoft.com/office/drawing/2014/main" id="{F3F6A39E-5D34-218B-9A9B-A3FB767219F1}"/>
              </a:ext>
            </a:extLst>
          </p:cNvPr>
          <p:cNvSpPr txBox="1">
            <a:spLocks noChangeArrowheads="1"/>
          </p:cNvSpPr>
          <p:nvPr/>
        </p:nvSpPr>
        <p:spPr bwMode="ltGray">
          <a:xfrm>
            <a:off x="7900995" y="3357568"/>
            <a:ext cx="83388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a:latin typeface="宋体" panose="02010600030101010101" pitchFamily="2" charset="-122"/>
              </a:rPr>
              <a:t>H=07 </a:t>
            </a:r>
          </a:p>
          <a:p>
            <a:pPr>
              <a:spcBef>
                <a:spcPct val="0"/>
              </a:spcBef>
              <a:buClrTx/>
              <a:buSzTx/>
              <a:buFontTx/>
              <a:buNone/>
            </a:pPr>
            <a:r>
              <a:rPr kumimoji="1" lang="en-US" altLang="zh-CN" sz="2000" b="1">
                <a:latin typeface="宋体" panose="02010600030101010101" pitchFamily="2" charset="-122"/>
              </a:rPr>
              <a:t>E=04</a:t>
            </a:r>
          </a:p>
          <a:p>
            <a:pPr>
              <a:spcBef>
                <a:spcPct val="0"/>
              </a:spcBef>
              <a:buClrTx/>
              <a:buSzTx/>
              <a:buFontTx/>
              <a:buNone/>
            </a:pPr>
            <a:r>
              <a:rPr kumimoji="1" lang="en-US" altLang="zh-CN" sz="2000" b="1">
                <a:latin typeface="宋体" panose="02010600030101010101" pitchFamily="2" charset="-122"/>
              </a:rPr>
              <a:t>L=11</a:t>
            </a:r>
          </a:p>
          <a:p>
            <a:pPr>
              <a:spcBef>
                <a:spcPct val="0"/>
              </a:spcBef>
              <a:buClrTx/>
              <a:buSzTx/>
              <a:buFontTx/>
              <a:buNone/>
            </a:pPr>
            <a:r>
              <a:rPr kumimoji="1" lang="en-US" altLang="zh-CN" sz="2000" b="1">
                <a:latin typeface="宋体" panose="02010600030101010101" pitchFamily="2" charset="-122"/>
              </a:rPr>
              <a:t>O=14</a:t>
            </a:r>
          </a:p>
        </p:txBody>
      </p:sp>
      <p:sp>
        <p:nvSpPr>
          <p:cNvPr id="33" name="AutoShape 12">
            <a:extLst>
              <a:ext uri="{FF2B5EF4-FFF2-40B4-BE49-F238E27FC236}">
                <a16:creationId xmlns:a16="http://schemas.microsoft.com/office/drawing/2014/main" id="{8D5E73F2-336F-746C-0953-17C8F6D66301}"/>
              </a:ext>
            </a:extLst>
          </p:cNvPr>
          <p:cNvSpPr>
            <a:spLocks noChangeArrowheads="1"/>
          </p:cNvSpPr>
          <p:nvPr/>
        </p:nvSpPr>
        <p:spPr bwMode="auto">
          <a:xfrm>
            <a:off x="3579817" y="3933825"/>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000">
              <a:latin typeface="宋体" panose="02010600030101010101" pitchFamily="2" charset="-122"/>
            </a:endParaRPr>
          </a:p>
        </p:txBody>
      </p:sp>
      <p:sp>
        <p:nvSpPr>
          <p:cNvPr id="34" name="Text Box 13">
            <a:extLst>
              <a:ext uri="{FF2B5EF4-FFF2-40B4-BE49-F238E27FC236}">
                <a16:creationId xmlns:a16="http://schemas.microsoft.com/office/drawing/2014/main" id="{409F366B-1A7B-2B46-8DD5-22B53B388545}"/>
              </a:ext>
            </a:extLst>
          </p:cNvPr>
          <p:cNvSpPr txBox="1">
            <a:spLocks noChangeArrowheads="1"/>
          </p:cNvSpPr>
          <p:nvPr/>
        </p:nvSpPr>
        <p:spPr bwMode="ltGray">
          <a:xfrm>
            <a:off x="4156075" y="3357567"/>
            <a:ext cx="2808288" cy="1323439"/>
          </a:xfrm>
          <a:prstGeom prst="rect">
            <a:avLst/>
          </a:prstGeom>
          <a:solidFill>
            <a:schemeClr val="bg2"/>
          </a:solidFill>
          <a:ln w="9525" cap="rnd">
            <a:solidFill>
              <a:schemeClr val="bg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dirty="0">
                <a:latin typeface="宋体" panose="02010600030101010101" pitchFamily="2" charset="-122"/>
              </a:rPr>
              <a:t> 23×15 = 7  mod 26</a:t>
            </a:r>
          </a:p>
          <a:p>
            <a:pPr>
              <a:spcBef>
                <a:spcPct val="0"/>
              </a:spcBef>
              <a:buClrTx/>
              <a:buSzTx/>
              <a:buFontTx/>
              <a:buNone/>
            </a:pPr>
            <a:r>
              <a:rPr kumimoji="1" lang="en-US" altLang="zh-CN" sz="2000" b="1" dirty="0">
                <a:latin typeface="宋体" panose="02010600030101010101" pitchFamily="2" charset="-122"/>
              </a:rPr>
              <a:t> 2×15 = 4   mod26 </a:t>
            </a:r>
          </a:p>
          <a:p>
            <a:pPr>
              <a:spcBef>
                <a:spcPct val="0"/>
              </a:spcBef>
              <a:buClrTx/>
              <a:buSzTx/>
              <a:buFontTx/>
              <a:buNone/>
            </a:pPr>
            <a:r>
              <a:rPr kumimoji="1" lang="en-US" altLang="zh-CN" sz="2000" b="1" dirty="0">
                <a:latin typeface="宋体" panose="02010600030101010101" pitchFamily="2" charset="-122"/>
              </a:rPr>
              <a:t> 25×15 =11  mod26</a:t>
            </a:r>
          </a:p>
          <a:p>
            <a:pPr>
              <a:spcBef>
                <a:spcPct val="0"/>
              </a:spcBef>
              <a:buClrTx/>
              <a:buSzTx/>
              <a:buFontTx/>
              <a:buNone/>
            </a:pPr>
            <a:r>
              <a:rPr kumimoji="1" lang="en-US" altLang="zh-CN" sz="2000" b="1" dirty="0">
                <a:latin typeface="宋体" panose="02010600030101010101" pitchFamily="2" charset="-122"/>
              </a:rPr>
              <a:t> 20×15 = 14 mod26</a:t>
            </a:r>
          </a:p>
        </p:txBody>
      </p:sp>
      <p:sp>
        <p:nvSpPr>
          <p:cNvPr id="35" name="AutoShape 14">
            <a:extLst>
              <a:ext uri="{FF2B5EF4-FFF2-40B4-BE49-F238E27FC236}">
                <a16:creationId xmlns:a16="http://schemas.microsoft.com/office/drawing/2014/main" id="{87D8BF30-0585-522F-AFF3-51F8819B006A}"/>
              </a:ext>
            </a:extLst>
          </p:cNvPr>
          <p:cNvSpPr>
            <a:spLocks noChangeArrowheads="1"/>
          </p:cNvSpPr>
          <p:nvPr/>
        </p:nvSpPr>
        <p:spPr bwMode="auto">
          <a:xfrm>
            <a:off x="7251705" y="4005278"/>
            <a:ext cx="360363" cy="217487"/>
          </a:xfrm>
          <a:prstGeom prst="rightArrow">
            <a:avLst>
              <a:gd name="adj1" fmla="val 50000"/>
              <a:gd name="adj2" fmla="val 41424"/>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000">
              <a:latin typeface="宋体" panose="02010600030101010101" pitchFamily="2" charset="-122"/>
            </a:endParaRPr>
          </a:p>
        </p:txBody>
      </p:sp>
      <p:sp>
        <p:nvSpPr>
          <p:cNvPr id="36" name="Text Box 15">
            <a:extLst>
              <a:ext uri="{FF2B5EF4-FFF2-40B4-BE49-F238E27FC236}">
                <a16:creationId xmlns:a16="http://schemas.microsoft.com/office/drawing/2014/main" id="{D4FB8F5B-F8A7-E779-2305-8E81B7B7A48F}"/>
              </a:ext>
            </a:extLst>
          </p:cNvPr>
          <p:cNvSpPr txBox="1">
            <a:spLocks noChangeArrowheads="1"/>
          </p:cNvSpPr>
          <p:nvPr/>
        </p:nvSpPr>
        <p:spPr bwMode="ltGray">
          <a:xfrm>
            <a:off x="2427295" y="3357568"/>
            <a:ext cx="1093569"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2000" b="1" dirty="0">
                <a:latin typeface="宋体" panose="02010600030101010101" pitchFamily="2" charset="-122"/>
              </a:rPr>
              <a:t>23 = x </a:t>
            </a:r>
          </a:p>
          <a:p>
            <a:pPr>
              <a:spcBef>
                <a:spcPct val="0"/>
              </a:spcBef>
              <a:buClrTx/>
              <a:buSzTx/>
              <a:buFontTx/>
              <a:buNone/>
            </a:pPr>
            <a:r>
              <a:rPr kumimoji="1" lang="en-US" altLang="zh-CN" sz="2000" b="1" dirty="0">
                <a:latin typeface="宋体" panose="02010600030101010101" pitchFamily="2" charset="-122"/>
              </a:rPr>
              <a:t>  2 = c</a:t>
            </a:r>
          </a:p>
          <a:p>
            <a:pPr>
              <a:spcBef>
                <a:spcPct val="0"/>
              </a:spcBef>
              <a:buClrTx/>
              <a:buSzTx/>
              <a:buFontTx/>
              <a:buNone/>
            </a:pPr>
            <a:r>
              <a:rPr kumimoji="1" lang="en-US" altLang="zh-CN" sz="2000" b="1" dirty="0">
                <a:latin typeface="宋体" panose="02010600030101010101" pitchFamily="2" charset="-122"/>
              </a:rPr>
              <a:t>25 = z</a:t>
            </a:r>
          </a:p>
          <a:p>
            <a:pPr>
              <a:spcBef>
                <a:spcPct val="0"/>
              </a:spcBef>
              <a:buClrTx/>
              <a:buSzTx/>
              <a:buFontTx/>
              <a:buNone/>
            </a:pPr>
            <a:r>
              <a:rPr kumimoji="1" lang="en-US" altLang="zh-CN" sz="2000" b="1" dirty="0">
                <a:latin typeface="宋体" panose="02010600030101010101" pitchFamily="2" charset="-122"/>
              </a:rPr>
              <a:t>20 = u</a:t>
            </a:r>
          </a:p>
        </p:txBody>
      </p:sp>
      <p:sp>
        <p:nvSpPr>
          <p:cNvPr id="37" name="Text Box 17">
            <a:extLst>
              <a:ext uri="{FF2B5EF4-FFF2-40B4-BE49-F238E27FC236}">
                <a16:creationId xmlns:a16="http://schemas.microsoft.com/office/drawing/2014/main" id="{315E0929-E61D-D400-85AE-3A6740E1CFC1}"/>
              </a:ext>
            </a:extLst>
          </p:cNvPr>
          <p:cNvSpPr txBox="1">
            <a:spLocks noChangeArrowheads="1"/>
          </p:cNvSpPr>
          <p:nvPr/>
        </p:nvSpPr>
        <p:spPr bwMode="ltGray">
          <a:xfrm>
            <a:off x="3363917" y="2565400"/>
            <a:ext cx="4032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2000" b="1">
                <a:latin typeface="宋体" panose="02010600030101010101" pitchFamily="2" charset="-122"/>
              </a:rPr>
              <a:t>  k=7</a:t>
            </a:r>
            <a:r>
              <a:rPr lang="zh-CN" altLang="en-US" sz="2000" b="1">
                <a:latin typeface="宋体" panose="02010600030101010101" pitchFamily="2" charset="-122"/>
              </a:rPr>
              <a:t>，  </a:t>
            </a:r>
            <a:r>
              <a:rPr lang="en-US" altLang="zh-CN" sz="2000" b="1">
                <a:latin typeface="宋体" panose="02010600030101010101" pitchFamily="2" charset="-122"/>
              </a:rPr>
              <a:t>7</a:t>
            </a:r>
            <a:r>
              <a:rPr lang="en-US" altLang="zh-CN" sz="2000" b="1" baseline="70000">
                <a:latin typeface="宋体" panose="02010600030101010101" pitchFamily="2" charset="-122"/>
              </a:rPr>
              <a:t>-1 </a:t>
            </a:r>
            <a:r>
              <a:rPr lang="en-US" altLang="zh-CN" sz="2000" b="1">
                <a:latin typeface="宋体" panose="02010600030101010101" pitchFamily="2" charset="-122"/>
              </a:rPr>
              <a:t> =15  mod 26  </a:t>
            </a:r>
          </a:p>
        </p:txBody>
      </p:sp>
      <p:sp>
        <p:nvSpPr>
          <p:cNvPr id="38" name="Text Box 18">
            <a:extLst>
              <a:ext uri="{FF2B5EF4-FFF2-40B4-BE49-F238E27FC236}">
                <a16:creationId xmlns:a16="http://schemas.microsoft.com/office/drawing/2014/main" id="{A50E4E41-89A0-5A88-CEA0-D69941BC3207}"/>
              </a:ext>
            </a:extLst>
          </p:cNvPr>
          <p:cNvSpPr txBox="1">
            <a:spLocks noChangeArrowheads="1"/>
          </p:cNvSpPr>
          <p:nvPr/>
        </p:nvSpPr>
        <p:spPr bwMode="ltGray">
          <a:xfrm>
            <a:off x="6677033" y="1989148"/>
            <a:ext cx="1082348" cy="400110"/>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kumimoji="1" lang="en-US" altLang="zh-CN" sz="2000" dirty="0">
                <a:latin typeface="宋体" panose="02010600030101010101" pitchFamily="2" charset="-122"/>
                <a:ea typeface="宋体" panose="02010600030101010101" pitchFamily="2" charset="-122"/>
                <a:cs typeface="Arial Unicode MS" pitchFamily="34" charset="-122"/>
              </a:rPr>
              <a:t>m=HELLO</a:t>
            </a:r>
          </a:p>
        </p:txBody>
      </p:sp>
    </p:spTree>
    <p:extLst>
      <p:ext uri="{BB962C8B-B14F-4D97-AF65-F5344CB8AC3E}">
        <p14:creationId xmlns:p14="http://schemas.microsoft.com/office/powerpoint/2010/main" val="362194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iterate type="lt">
                                    <p:tmPct val="100000"/>
                                  </p:iterate>
                                  <p:childTnLst>
                                    <p:set>
                                      <p:cBhvr>
                                        <p:cTn id="17" dur="1" fill="hold">
                                          <p:stCondLst>
                                            <p:cond delay="0"/>
                                          </p:stCondLst>
                                        </p:cTn>
                                        <p:tgtEl>
                                          <p:spTgt spid="26"/>
                                        </p:tgtEl>
                                        <p:attrNameLst>
                                          <p:attrName>style.visibility</p:attrName>
                                        </p:attrNameLst>
                                      </p:cBhvr>
                                      <p:to>
                                        <p:strVal val="visible"/>
                                      </p:to>
                                    </p:set>
                                    <p:animEffect transition="in" filter="dissolve">
                                      <p:cBhvr>
                                        <p:cTn id="18" dur="75"/>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0-#ppt_w/2"/>
                                          </p:val>
                                        </p:tav>
                                        <p:tav tm="100000">
                                          <p:val>
                                            <p:strVal val="#ppt_x"/>
                                          </p:val>
                                        </p:tav>
                                      </p:tavLst>
                                    </p:anim>
                                    <p:anim calcmode="lin" valueType="num">
                                      <p:cBhvr additive="base">
                                        <p:cTn id="24"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50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left)">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left)">
                                      <p:cBhvr>
                                        <p:cTn id="44" dur="500"/>
                                        <p:tgtEl>
                                          <p:spTgt spid="3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left)">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wipe(left)">
                                      <p:cBhvr>
                                        <p:cTn id="5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autoUpdateAnimBg="0"/>
      <p:bldP spid="31" grpId="0" animBg="1"/>
      <p:bldP spid="32" grpId="0"/>
      <p:bldP spid="33" grpId="0" animBg="1"/>
      <p:bldP spid="34" grpId="0" animBg="1"/>
      <p:bldP spid="35" grpId="0" animBg="1"/>
      <p:bldP spid="36" grpId="0"/>
      <p:bldP spid="37" grpId="0" autoUpdateAnimBg="0"/>
      <p:bldP spid="3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4299575"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仿射密码</a:t>
            </a:r>
            <a:r>
              <a:rPr kumimoji="1" lang="en-US" altLang="zh-CN" sz="3200" dirty="0">
                <a:solidFill>
                  <a:srgbClr val="44546A"/>
                </a:solidFill>
                <a:cs typeface="+mn-ea"/>
                <a:sym typeface="+mn-lt"/>
              </a:rPr>
              <a:t>(Affine cipher)</a:t>
            </a:r>
            <a:endParaRPr kumimoji="1" lang="zh-CN" altLang="en-US" sz="3200" dirty="0">
              <a:solidFill>
                <a:srgbClr val="44546A"/>
              </a:solidFill>
              <a:cs typeface="+mn-ea"/>
              <a:sym typeface="+mn-lt"/>
            </a:endParaRP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p:sp>
        <p:nvSpPr>
          <p:cNvPr id="11" name="内容占位符 2">
            <a:extLst>
              <a:ext uri="{FF2B5EF4-FFF2-40B4-BE49-F238E27FC236}">
                <a16:creationId xmlns:a16="http://schemas.microsoft.com/office/drawing/2014/main" id="{0D50F57E-023A-1405-91D6-21943B662B43}"/>
              </a:ext>
            </a:extLst>
          </p:cNvPr>
          <p:cNvSpPr txBox="1">
            <a:spLocks noChangeArrowheads="1"/>
          </p:cNvSpPr>
          <p:nvPr/>
        </p:nvSpPr>
        <p:spPr>
          <a:xfrm>
            <a:off x="2075491" y="1231481"/>
            <a:ext cx="8559800"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altLang="en-US">
                <a:latin typeface="宋体" panose="02010600030101010101" pitchFamily="2" charset="-122"/>
                <a:ea typeface="宋体" panose="02010600030101010101" pitchFamily="2" charset="-122"/>
              </a:rPr>
              <a:t> </a:t>
            </a:r>
            <a:endParaRPr lang="en-CA" altLang="en-US"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5492AAA8-5AB1-39D8-0FD9-B27816B970A6}"/>
                  </a:ext>
                </a:extLst>
              </p:cNvPr>
              <p:cNvSpPr txBox="1">
                <a:spLocks/>
              </p:cNvSpPr>
              <p:nvPr/>
            </p:nvSpPr>
            <p:spPr>
              <a:xfrm>
                <a:off x="2525240" y="2020534"/>
                <a:ext cx="7591269" cy="2303471"/>
              </a:xfrm>
              <a:prstGeom prst="rect">
                <a:avLst/>
              </a:prstGeom>
            </p:spPr>
            <p:txBody>
              <a:bodyPr>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latin typeface="宋体" panose="02010600030101010101" pitchFamily="2" charset="-122"/>
                    <a:ea typeface="宋体" panose="02010600030101010101" pitchFamily="2" charset="-122"/>
                  </a:rPr>
                  <a:t>加密变换：</a:t>
                </a:r>
                <a14:m>
                  <m:oMath xmlns:m="http://schemas.openxmlformats.org/officeDocument/2006/math">
                    <m:r>
                      <a:rPr lang="en-US" altLang="zh-CN" sz="2400" b="1" i="1" smtClean="0">
                        <a:latin typeface="Cambria Math" panose="02040503050406030204" pitchFamily="18" charset="0"/>
                        <a:ea typeface="宋体" panose="02010600030101010101" pitchFamily="2" charset="-122"/>
                      </a:rPr>
                      <m:t>𝒇</m:t>
                    </m:r>
                    <m:d>
                      <m:dPr>
                        <m:ctrlPr>
                          <a:rPr lang="en-US" altLang="zh-CN" sz="2400" b="1" i="1">
                            <a:latin typeface="Cambria Math" panose="02040503050406030204" pitchFamily="18" charset="0"/>
                            <a:ea typeface="宋体" panose="02010600030101010101" pitchFamily="2" charset="-122"/>
                          </a:rPr>
                        </m:ctrlPr>
                      </m:dPr>
                      <m:e>
                        <m:r>
                          <a:rPr lang="en-US" altLang="zh-CN" sz="2400" b="1" i="1">
                            <a:latin typeface="Cambria Math" panose="02040503050406030204" pitchFamily="18" charset="0"/>
                            <a:ea typeface="宋体" panose="02010600030101010101" pitchFamily="2" charset="-122"/>
                          </a:rPr>
                          <m:t>𝒙</m:t>
                        </m:r>
                      </m:e>
                    </m:d>
                    <m:r>
                      <a:rPr lang="en-US" altLang="zh-CN" sz="2400" b="1" i="1">
                        <a:latin typeface="Cambria Math" panose="02040503050406030204" pitchFamily="18" charset="0"/>
                        <a:ea typeface="宋体" panose="02010600030101010101" pitchFamily="2" charset="-122"/>
                      </a:rPr>
                      <m:t>=</m:t>
                    </m:r>
                    <m:r>
                      <a:rPr lang="en-US" altLang="zh-CN" sz="2400" b="1" i="1">
                        <a:latin typeface="Cambria Math" panose="02040503050406030204" pitchFamily="18" charset="0"/>
                        <a:ea typeface="宋体" panose="02010600030101010101" pitchFamily="2" charset="-122"/>
                      </a:rPr>
                      <m:t>𝒙</m:t>
                    </m:r>
                    <m:sSub>
                      <m:sSubPr>
                        <m:ctrlPr>
                          <a:rPr lang="en-US" altLang="zh-CN" sz="2400" b="1" i="1">
                            <a:latin typeface="Cambria Math" panose="02040503050406030204" pitchFamily="18" charset="0"/>
                            <a:ea typeface="宋体" panose="02010600030101010101" pitchFamily="2" charset="-122"/>
                          </a:rPr>
                        </m:ctrlPr>
                      </m:sSubPr>
                      <m:e>
                        <m:r>
                          <a:rPr lang="en-US" altLang="zh-CN" sz="2400" b="1" i="1">
                            <a:latin typeface="Cambria Math" panose="02040503050406030204" pitchFamily="18" charset="0"/>
                            <a:ea typeface="宋体" panose="02010600030101010101" pitchFamily="2" charset="-122"/>
                          </a:rPr>
                          <m:t>𝒌</m:t>
                        </m:r>
                      </m:e>
                      <m:sub>
                        <m:r>
                          <a:rPr lang="en-US" altLang="zh-CN" sz="2400" b="1" i="1">
                            <a:latin typeface="Cambria Math" panose="02040503050406030204" pitchFamily="18" charset="0"/>
                            <a:ea typeface="宋体" panose="02010600030101010101" pitchFamily="2" charset="-122"/>
                          </a:rPr>
                          <m:t>𝟏</m:t>
                        </m:r>
                      </m:sub>
                    </m:sSub>
                    <m:r>
                      <a:rPr lang="en-US" altLang="zh-CN" sz="2400" b="1" i="1">
                        <a:latin typeface="Cambria Math" panose="02040503050406030204" pitchFamily="18" charset="0"/>
                        <a:ea typeface="宋体" panose="02010600030101010101" pitchFamily="2" charset="-122"/>
                      </a:rPr>
                      <m:t>+</m:t>
                    </m:r>
                    <m:sSub>
                      <m:sSubPr>
                        <m:ctrlPr>
                          <a:rPr lang="en-US" altLang="zh-CN" sz="2400" b="1" i="1">
                            <a:latin typeface="Cambria Math" panose="02040503050406030204" pitchFamily="18" charset="0"/>
                            <a:ea typeface="宋体" panose="02010600030101010101" pitchFamily="2" charset="-122"/>
                          </a:rPr>
                        </m:ctrlPr>
                      </m:sSubPr>
                      <m:e>
                        <m:r>
                          <a:rPr lang="en-US" altLang="zh-CN" sz="2400" b="1" i="1">
                            <a:latin typeface="Cambria Math" panose="02040503050406030204" pitchFamily="18" charset="0"/>
                            <a:ea typeface="宋体" panose="02010600030101010101" pitchFamily="2" charset="-122"/>
                          </a:rPr>
                          <m:t>𝒌</m:t>
                        </m:r>
                      </m:e>
                      <m:sub>
                        <m:r>
                          <a:rPr lang="en-US" altLang="zh-CN" sz="2400" b="1" i="1">
                            <a:latin typeface="Cambria Math" panose="02040503050406030204" pitchFamily="18" charset="0"/>
                            <a:ea typeface="宋体" panose="02010600030101010101" pitchFamily="2" charset="-122"/>
                          </a:rPr>
                          <m:t>𝟐</m:t>
                        </m:r>
                      </m:sub>
                    </m:sSub>
                    <m:r>
                      <a:rPr lang="en-US" altLang="zh-CN" sz="2400" b="1" i="1">
                        <a:latin typeface="Cambria Math" panose="02040503050406030204" pitchFamily="18" charset="0"/>
                        <a:ea typeface="宋体" panose="02010600030101010101" pitchFamily="2" charset="-122"/>
                      </a:rPr>
                      <m:t> </m:t>
                    </m:r>
                    <m:r>
                      <a:rPr lang="en-US" altLang="zh-CN" sz="2400" b="1" i="1">
                        <a:latin typeface="Cambria Math" panose="02040503050406030204" pitchFamily="18" charset="0"/>
                        <a:ea typeface="宋体" panose="02010600030101010101" pitchFamily="2" charset="-122"/>
                      </a:rPr>
                      <m:t>𝒎𝒐𝒅</m:t>
                    </m:r>
                    <m:r>
                      <a:rPr lang="en-US" altLang="zh-CN" sz="2400" b="1" i="1">
                        <a:latin typeface="Cambria Math" panose="02040503050406030204" pitchFamily="18" charset="0"/>
                        <a:ea typeface="宋体" panose="02010600030101010101" pitchFamily="2" charset="-122"/>
                      </a:rPr>
                      <m:t> </m:t>
                    </m:r>
                    <m:r>
                      <a:rPr lang="en-US" altLang="zh-CN" sz="2400" b="1" i="1">
                        <a:latin typeface="Cambria Math" panose="02040503050406030204" pitchFamily="18" charset="0"/>
                        <a:ea typeface="宋体" panose="02010600030101010101" pitchFamily="2" charset="-122"/>
                      </a:rPr>
                      <m:t>𝒒</m:t>
                    </m:r>
                    <m:r>
                      <a:rPr lang="en-US" altLang="zh-CN" sz="2400" b="1" i="1">
                        <a:latin typeface="Cambria Math" panose="02040503050406030204" pitchFamily="18" charset="0"/>
                        <a:ea typeface="宋体" panose="02010600030101010101" pitchFamily="2" charset="-122"/>
                      </a:rPr>
                      <m:t>, </m:t>
                    </m:r>
                    <m:r>
                      <a:rPr lang="en-US" altLang="zh-CN" sz="2400" b="1" i="1">
                        <a:latin typeface="Cambria Math" panose="02040503050406030204" pitchFamily="18" charset="0"/>
                        <a:ea typeface="宋体" panose="02010600030101010101" pitchFamily="2" charset="-122"/>
                      </a:rPr>
                      <m:t>𝟎</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𝒙</m:t>
                    </m:r>
                    <m:r>
                      <a:rPr lang="en-US" altLang="zh-CN" sz="2400" b="1" i="1">
                        <a:latin typeface="Cambria Math" panose="02040503050406030204" pitchFamily="18" charset="0"/>
                        <a:ea typeface="Cambria Math" panose="02040503050406030204" pitchFamily="18" charset="0"/>
                      </a:rPr>
                      <m:t>&lt;</m:t>
                    </m:r>
                    <m:r>
                      <a:rPr lang="en-US" altLang="zh-CN" sz="2400" b="1" i="1">
                        <a:latin typeface="Cambria Math" panose="02040503050406030204" pitchFamily="18" charset="0"/>
                        <a:ea typeface="Cambria Math" panose="02040503050406030204" pitchFamily="18" charset="0"/>
                      </a:rPr>
                      <m:t>𝒒</m:t>
                    </m:r>
                  </m:oMath>
                </a14:m>
                <a:endParaRPr lang="en-US" altLang="zh-CN" sz="2400" b="1" dirty="0">
                  <a:latin typeface="宋体" panose="02010600030101010101" pitchFamily="2" charset="-122"/>
                  <a:ea typeface="宋体" panose="02010600030101010101" pitchFamily="2" charset="-122"/>
                </a:endParaRPr>
              </a:p>
              <a:p>
                <a:pPr marL="0" indent="0">
                  <a:lnSpc>
                    <a:spcPct val="100000"/>
                  </a:lnSpc>
                  <a:buNone/>
                </a:pPr>
                <a:r>
                  <a:rPr lang="zh-CN" altLang="en-US" sz="2400" dirty="0">
                    <a:latin typeface="宋体" panose="02010600030101010101" pitchFamily="2" charset="-122"/>
                    <a:ea typeface="宋体" panose="02010600030101010101" pitchFamily="2" charset="-122"/>
                  </a:rPr>
                  <a:t>其中</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1</m:t>
                        </m:r>
                      </m:sub>
                    </m:sSub>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𝑍</m:t>
                        </m:r>
                      </m:e>
                      <m:sub>
                        <m:r>
                          <a:rPr lang="en-US" altLang="zh-CN" sz="2400" i="1">
                            <a:latin typeface="Cambria Math" panose="02040503050406030204" pitchFamily="18" charset="0"/>
                            <a:ea typeface="Cambria Math" panose="02040503050406030204" pitchFamily="18" charset="0"/>
                          </a:rPr>
                          <m:t>𝑞</m:t>
                        </m:r>
                      </m:sub>
                    </m:sSub>
                    <m:r>
                      <a:rPr lang="en-US" altLang="zh-CN" sz="2400" i="1">
                        <a:latin typeface="Cambria Math" panose="02040503050406030204" pitchFamily="18" charset="0"/>
                        <a:ea typeface="宋体" panose="02010600030101010101" pitchFamily="2" charset="-122"/>
                      </a:rPr>
                      <m:t> </m:t>
                    </m:r>
                  </m:oMath>
                </a14:m>
                <a:r>
                  <a:rPr lang="zh-CN" altLang="en-US"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dirty="0">
                            <a:latin typeface="Cambria Math" panose="02040503050406030204" pitchFamily="18" charset="0"/>
                            <a:ea typeface="宋体" panose="02010600030101010101" pitchFamily="2" charset="-122"/>
                          </a:rPr>
                        </m:ctrlPr>
                      </m:sSubPr>
                      <m:e>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𝑘</m:t>
                        </m:r>
                      </m:e>
                      <m:sub>
                        <m:r>
                          <a:rPr lang="en-US" altLang="zh-CN" sz="2400" i="1" dirty="0">
                            <a:latin typeface="Cambria Math" panose="02040503050406030204" pitchFamily="18" charset="0"/>
                            <a:ea typeface="宋体" panose="02010600030101010101" pitchFamily="2" charset="-122"/>
                          </a:rPr>
                          <m:t>1</m:t>
                        </m:r>
                      </m:sub>
                    </m:sSub>
                    <m:r>
                      <a:rPr lang="en-US" altLang="zh-CN" sz="2400" i="1" dirty="0">
                        <a:latin typeface="Cambria Math" panose="02040503050406030204" pitchFamily="18" charset="0"/>
                        <a:ea typeface="宋体" panose="02010600030101010101" pitchFamily="2" charset="-122"/>
                      </a:rPr>
                      <m:t>,</m:t>
                    </m:r>
                    <m:r>
                      <a:rPr lang="en-US" altLang="zh-CN" sz="2400" i="1" dirty="0">
                        <a:latin typeface="Cambria Math" panose="02040503050406030204" pitchFamily="18" charset="0"/>
                        <a:ea typeface="宋体" panose="02010600030101010101" pitchFamily="2" charset="-122"/>
                      </a:rPr>
                      <m:t>𝑞</m:t>
                    </m:r>
                    <m:r>
                      <a:rPr lang="en-US" altLang="zh-CN" sz="2400" i="1" dirty="0">
                        <a:latin typeface="Cambria Math" panose="02040503050406030204" pitchFamily="18" charset="0"/>
                        <a:ea typeface="宋体" panose="02010600030101010101" pitchFamily="2" charset="-122"/>
                      </a:rPr>
                      <m:t>)=1</m:t>
                    </m:r>
                  </m:oMath>
                </a14:m>
                <a:r>
                  <a:rPr lang="zh-CN" altLang="en-US" sz="2400" dirty="0">
                    <a:latin typeface="宋体" panose="02010600030101010101" pitchFamily="2" charset="-122"/>
                    <a:ea typeface="宋体" panose="02010600030101010101" pitchFamily="2" charset="-122"/>
                  </a:rPr>
                  <a:t>，以</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1</m:t>
                        </m:r>
                      </m:sub>
                    </m:sSub>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表示密钥。当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宋体" panose="02010600030101010101" pitchFamily="2" charset="-122"/>
                      </a:rPr>
                      <m:t>=0</m:t>
                    </m:r>
                  </m:oMath>
                </a14:m>
                <a:r>
                  <a:rPr lang="zh-CN" altLang="en-US" sz="2400" dirty="0">
                    <a:latin typeface="宋体" panose="02010600030101010101" pitchFamily="2" charset="-122"/>
                    <a:ea typeface="宋体" panose="02010600030101010101" pitchFamily="2" charset="-122"/>
                  </a:rPr>
                  <a:t>时就得到乘数密码，当</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𝑘</m:t>
                        </m:r>
                      </m:e>
                      <m:sub>
                        <m:r>
                          <a:rPr lang="en-US" altLang="zh-CN" sz="2400" i="1">
                            <a:latin typeface="Cambria Math" panose="02040503050406030204" pitchFamily="18" charset="0"/>
                            <a:ea typeface="宋体" panose="02010600030101010101" pitchFamily="2" charset="-122"/>
                          </a:rPr>
                          <m:t>1</m:t>
                        </m:r>
                      </m:sub>
                    </m:sSub>
                    <m:r>
                      <a:rPr lang="en-US" altLang="zh-CN" sz="2400" i="1">
                        <a:latin typeface="Cambria Math" panose="02040503050406030204" pitchFamily="18" charset="0"/>
                        <a:ea typeface="宋体" panose="02010600030101010101" pitchFamily="2" charset="-122"/>
                      </a:rPr>
                      <m:t>=1</m:t>
                    </m:r>
                  </m:oMath>
                </a14:m>
                <a:r>
                  <a:rPr lang="zh-CN" altLang="en-US" sz="2400" dirty="0">
                    <a:latin typeface="宋体" panose="02010600030101010101" pitchFamily="2" charset="-122"/>
                    <a:ea typeface="宋体" panose="02010600030101010101" pitchFamily="2" charset="-122"/>
                  </a:rPr>
                  <a:t>时就得到移位密码。</a:t>
                </a:r>
                <a:endParaRPr lang="en-US" altLang="zh-CN" sz="2400" dirty="0">
                  <a:latin typeface="宋体" panose="02010600030101010101" pitchFamily="2" charset="-122"/>
                  <a:ea typeface="宋体" panose="02010600030101010101" pitchFamily="2" charset="-122"/>
                </a:endParaRPr>
              </a:p>
              <a:p>
                <a:pPr marL="0" indent="0">
                  <a:lnSpc>
                    <a:spcPct val="100000"/>
                  </a:lnSpc>
                  <a:buNone/>
                </a:pPr>
                <a14:m>
                  <m:oMath xmlns:m="http://schemas.openxmlformats.org/officeDocument/2006/math">
                    <m:r>
                      <a:rPr lang="en-US" altLang="zh-CN" sz="2400" i="1" dirty="0">
                        <a:latin typeface="Cambria Math" panose="02040503050406030204" pitchFamily="18" charset="0"/>
                        <a:ea typeface="宋体" panose="02010600030101010101" pitchFamily="2" charset="-122"/>
                      </a:rPr>
                      <m:t>𝑞</m:t>
                    </m:r>
                    <m:r>
                      <a:rPr lang="en-US" altLang="zh-CN" sz="2400" i="1" dirty="0">
                        <a:latin typeface="Cambria Math" panose="02040503050406030204" pitchFamily="18" charset="0"/>
                        <a:ea typeface="宋体" panose="02010600030101010101" pitchFamily="2" charset="-122"/>
                      </a:rPr>
                      <m:t>=26</m:t>
                    </m:r>
                  </m:oMath>
                </a14:m>
                <a:r>
                  <a:rPr lang="zh-CN" altLang="en-US" sz="2400" dirty="0">
                    <a:latin typeface="宋体" panose="02010600030101010101" pitchFamily="2" charset="-122"/>
                    <a:ea typeface="宋体" panose="02010600030101010101" pitchFamily="2" charset="-122"/>
                  </a:rPr>
                  <a:t>时可能的密钥数为</a:t>
                </a:r>
                <a14:m>
                  <m:oMath xmlns:m="http://schemas.openxmlformats.org/officeDocument/2006/math">
                    <m:r>
                      <a:rPr lang="en-US" altLang="zh-CN" sz="2400" i="1" dirty="0">
                        <a:latin typeface="Cambria Math" panose="02040503050406030204" pitchFamily="18" charset="0"/>
                        <a:ea typeface="宋体" panose="02010600030101010101" pitchFamily="2" charset="-122"/>
                      </a:rPr>
                      <m:t>26</m:t>
                    </m:r>
                    <m:r>
                      <a:rPr lang="en-US" altLang="zh-CN" sz="2400" i="1" dirty="0">
                        <a:latin typeface="Cambria Math" panose="02040503050406030204" pitchFamily="18" charset="0"/>
                        <a:ea typeface="Cambria Math" panose="02040503050406030204" pitchFamily="18" charset="0"/>
                      </a:rPr>
                      <m:t>×</m:t>
                    </m:r>
                    <m:r>
                      <a:rPr lang="zh-CN" altLang="en-US" sz="2400" i="1" dirty="0">
                        <a:latin typeface="Cambria Math" panose="02040503050406030204" pitchFamily="18" charset="0"/>
                        <a:ea typeface="Cambria Math" panose="02040503050406030204" pitchFamily="18" charset="0"/>
                      </a:rPr>
                      <m:t>𝜑</m:t>
                    </m:r>
                    <m:d>
                      <m:dPr>
                        <m:ctrlPr>
                          <a:rPr lang="en-US" altLang="zh-CN" sz="2400" i="1" dirty="0">
                            <a:latin typeface="Cambria Math" panose="02040503050406030204" pitchFamily="18" charset="0"/>
                            <a:ea typeface="Cambria Math" panose="02040503050406030204" pitchFamily="18" charset="0"/>
                          </a:rPr>
                        </m:ctrlPr>
                      </m:dPr>
                      <m:e>
                        <m:r>
                          <a:rPr lang="en-US" altLang="zh-CN" sz="2400" i="1" dirty="0">
                            <a:latin typeface="Cambria Math" panose="02040503050406030204" pitchFamily="18" charset="0"/>
                            <a:ea typeface="Cambria Math" panose="02040503050406030204" pitchFamily="18" charset="0"/>
                          </a:rPr>
                          <m:t>26</m:t>
                        </m:r>
                      </m:e>
                    </m:d>
                    <m:r>
                      <a:rPr lang="en-US" altLang="zh-CN" sz="2400" i="1" dirty="0">
                        <a:latin typeface="Cambria Math" panose="02040503050406030204" pitchFamily="18" charset="0"/>
                        <a:ea typeface="Cambria Math" panose="02040503050406030204" pitchFamily="18" charset="0"/>
                      </a:rPr>
                      <m:t>=26×12=312</m:t>
                    </m:r>
                  </m:oMath>
                </a14:m>
                <a:r>
                  <a:rPr lang="zh-CN" altLang="en-US" sz="2400" dirty="0">
                    <a:latin typeface="宋体" panose="02010600030101010101" pitchFamily="2" charset="-122"/>
                    <a:ea typeface="宋体" panose="02010600030101010101" pitchFamily="2" charset="-122"/>
                  </a:rPr>
                  <a:t>个。</a:t>
                </a:r>
              </a:p>
            </p:txBody>
          </p:sp>
        </mc:Choice>
        <mc:Fallback xmlns="">
          <p:sp>
            <p:nvSpPr>
              <p:cNvPr id="17" name="内容占位符 2">
                <a:extLst>
                  <a:ext uri="{FF2B5EF4-FFF2-40B4-BE49-F238E27FC236}">
                    <a16:creationId xmlns:a16="http://schemas.microsoft.com/office/drawing/2014/main" id="{5492AAA8-5AB1-39D8-0FD9-B27816B970A6}"/>
                  </a:ext>
                </a:extLst>
              </p:cNvPr>
              <p:cNvSpPr txBox="1">
                <a:spLocks noRot="1" noChangeAspect="1" noMove="1" noResize="1" noEditPoints="1" noAdjustHandles="1" noChangeArrowheads="1" noChangeShapeType="1" noTextEdit="1"/>
              </p:cNvSpPr>
              <p:nvPr/>
            </p:nvSpPr>
            <p:spPr>
              <a:xfrm>
                <a:off x="2525240" y="2020534"/>
                <a:ext cx="7591269" cy="2303471"/>
              </a:xfrm>
              <a:prstGeom prst="rect">
                <a:avLst/>
              </a:prstGeom>
              <a:blipFill>
                <a:blip r:embed="rId3"/>
                <a:stretch>
                  <a:fillRect l="-1204" t="-2910" r="-5217" b="-15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454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6351419"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仿射密码</a:t>
            </a:r>
            <a:r>
              <a:rPr kumimoji="1" lang="en-US" altLang="zh-CN" sz="3200" dirty="0">
                <a:solidFill>
                  <a:srgbClr val="44546A"/>
                </a:solidFill>
                <a:cs typeface="+mn-ea"/>
                <a:sym typeface="+mn-lt"/>
              </a:rPr>
              <a:t>(Affine cipher)—</a:t>
            </a:r>
            <a:r>
              <a:rPr kumimoji="1" lang="zh-CN" altLang="en-US" sz="3200" dirty="0">
                <a:solidFill>
                  <a:srgbClr val="44546A"/>
                </a:solidFill>
                <a:cs typeface="+mn-ea"/>
                <a:sym typeface="+mn-lt"/>
              </a:rPr>
              <a:t>加密过程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12" name="内容占位符 2">
            <a:extLst>
              <a:ext uri="{FF2B5EF4-FFF2-40B4-BE49-F238E27FC236}">
                <a16:creationId xmlns:a16="http://schemas.microsoft.com/office/drawing/2014/main" id="{AB89C74F-8620-2F75-EC94-26F518437719}"/>
              </a:ext>
            </a:extLst>
          </p:cNvPr>
          <p:cNvSpPr txBox="1">
            <a:spLocks noChangeArrowheads="1"/>
          </p:cNvSpPr>
          <p:nvPr/>
        </p:nvSpPr>
        <p:spPr>
          <a:xfrm>
            <a:off x="2075491" y="5346282"/>
            <a:ext cx="8559800" cy="689436"/>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altLang="zh-CN" dirty="0"/>
          </a:p>
        </p:txBody>
      </p:sp>
      <p:sp>
        <p:nvSpPr>
          <p:cNvPr id="11" name="内容占位符 2">
            <a:extLst>
              <a:ext uri="{FF2B5EF4-FFF2-40B4-BE49-F238E27FC236}">
                <a16:creationId xmlns:a16="http://schemas.microsoft.com/office/drawing/2014/main" id="{0D50F57E-023A-1405-91D6-21943B662B43}"/>
              </a:ext>
            </a:extLst>
          </p:cNvPr>
          <p:cNvSpPr txBox="1">
            <a:spLocks noChangeArrowheads="1"/>
          </p:cNvSpPr>
          <p:nvPr/>
        </p:nvSpPr>
        <p:spPr>
          <a:xfrm>
            <a:off x="2075491" y="1231481"/>
            <a:ext cx="8559800" cy="411480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altLang="en-US">
                <a:latin typeface="宋体" panose="02010600030101010101" pitchFamily="2" charset="-122"/>
                <a:ea typeface="宋体" panose="02010600030101010101" pitchFamily="2" charset="-122"/>
              </a:rPr>
              <a:t> </a:t>
            </a:r>
            <a:endParaRPr lang="en-CA" altLang="en-US" dirty="0">
              <a:latin typeface="宋体" panose="02010600030101010101" pitchFamily="2" charset="-122"/>
              <a:ea typeface="宋体" panose="02010600030101010101" pitchFamily="2" charset="-122"/>
            </a:endParaRPr>
          </a:p>
        </p:txBody>
      </p:sp>
      <p:sp>
        <p:nvSpPr>
          <p:cNvPr id="8" name="Text Box 2">
            <a:extLst>
              <a:ext uri="{FF2B5EF4-FFF2-40B4-BE49-F238E27FC236}">
                <a16:creationId xmlns:a16="http://schemas.microsoft.com/office/drawing/2014/main" id="{E3DC2E5D-E673-36F3-6B34-D5DF4FB85E7E}"/>
              </a:ext>
            </a:extLst>
          </p:cNvPr>
          <p:cNvSpPr txBox="1">
            <a:spLocks noChangeArrowheads="1"/>
          </p:cNvSpPr>
          <p:nvPr/>
        </p:nvSpPr>
        <p:spPr bwMode="ltGray">
          <a:xfrm>
            <a:off x="2617308" y="3114565"/>
            <a:ext cx="31037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a:latin typeface="宋体" panose="02010600030101010101" pitchFamily="2" charset="-122"/>
              </a:rPr>
              <a:t>加密明文 </a:t>
            </a:r>
            <a:r>
              <a:rPr kumimoji="1" lang="en-US" altLang="zh-CN" sz="1800" b="1">
                <a:latin typeface="宋体" panose="02010600030101010101" pitchFamily="2" charset="-122"/>
              </a:rPr>
              <a:t>(k1, k2) =(7, 2)</a:t>
            </a:r>
          </a:p>
        </p:txBody>
      </p:sp>
      <p:sp>
        <p:nvSpPr>
          <p:cNvPr id="10" name="Text Box 3">
            <a:extLst>
              <a:ext uri="{FF2B5EF4-FFF2-40B4-BE49-F238E27FC236}">
                <a16:creationId xmlns:a16="http://schemas.microsoft.com/office/drawing/2014/main" id="{B847B475-5B12-7676-B6EA-608BDE848EA1}"/>
              </a:ext>
            </a:extLst>
          </p:cNvPr>
          <p:cNvSpPr txBox="1">
            <a:spLocks noChangeArrowheads="1"/>
          </p:cNvSpPr>
          <p:nvPr/>
        </p:nvSpPr>
        <p:spPr bwMode="ltGray">
          <a:xfrm>
            <a:off x="5447819" y="3451113"/>
            <a:ext cx="1107996" cy="369332"/>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kumimoji="1" lang="en-US" altLang="zh-CN" dirty="0">
                <a:latin typeface="宋体" panose="02010600030101010101" pitchFamily="2" charset="-122"/>
                <a:ea typeface="宋体" panose="02010600030101010101" pitchFamily="2" charset="-122"/>
                <a:cs typeface="Arial Unicode MS" pitchFamily="34" charset="-122"/>
              </a:rPr>
              <a:t>m= HELLO</a:t>
            </a:r>
          </a:p>
        </p:txBody>
      </p:sp>
      <p:sp>
        <p:nvSpPr>
          <p:cNvPr id="13" name="Text Box 4">
            <a:extLst>
              <a:ext uri="{FF2B5EF4-FFF2-40B4-BE49-F238E27FC236}">
                <a16:creationId xmlns:a16="http://schemas.microsoft.com/office/drawing/2014/main" id="{AE2ACB6E-BCB7-8358-8FFB-3AB138EAFA54}"/>
              </a:ext>
            </a:extLst>
          </p:cNvPr>
          <p:cNvSpPr txBox="1">
            <a:spLocks noChangeArrowheads="1"/>
          </p:cNvSpPr>
          <p:nvPr/>
        </p:nvSpPr>
        <p:spPr bwMode="ltGray">
          <a:xfrm>
            <a:off x="4879495" y="5432321"/>
            <a:ext cx="1338828" cy="400110"/>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lang="en-US" altLang="zh-CN" sz="2000" dirty="0">
                <a:latin typeface="宋体" panose="02010600030101010101" pitchFamily="2" charset="-122"/>
                <a:ea typeface="宋体" panose="02010600030101010101" pitchFamily="2" charset="-122"/>
                <a:cs typeface="Arial Unicode MS" pitchFamily="34" charset="-122"/>
              </a:rPr>
              <a:t>C</a:t>
            </a:r>
            <a:r>
              <a:rPr kumimoji="1" lang="en-US" altLang="zh-CN" sz="2000" dirty="0">
                <a:latin typeface="宋体" panose="02010600030101010101" pitchFamily="2" charset="-122"/>
                <a:ea typeface="宋体" panose="02010600030101010101" pitchFamily="2" charset="-122"/>
                <a:cs typeface="Arial Unicode MS" pitchFamily="34" charset="-122"/>
              </a:rPr>
              <a:t>=  </a:t>
            </a:r>
            <a:r>
              <a:rPr kumimoji="1" lang="en-US" altLang="zh-CN" sz="2000" dirty="0" err="1">
                <a:latin typeface="宋体" panose="02010600030101010101" pitchFamily="2" charset="-122"/>
                <a:ea typeface="宋体" panose="02010600030101010101" pitchFamily="2" charset="-122"/>
                <a:cs typeface="Arial Unicode MS" pitchFamily="34" charset="-122"/>
              </a:rPr>
              <a:t>zebbw</a:t>
            </a:r>
            <a:endParaRPr kumimoji="1" lang="en-US" altLang="zh-CN" sz="2000" dirty="0">
              <a:latin typeface="宋体" panose="02010600030101010101" pitchFamily="2" charset="-122"/>
              <a:ea typeface="宋体" panose="02010600030101010101" pitchFamily="2" charset="-122"/>
              <a:cs typeface="Arial Unicode MS" pitchFamily="34" charset="-122"/>
            </a:endParaRPr>
          </a:p>
        </p:txBody>
      </p:sp>
      <p:sp>
        <p:nvSpPr>
          <p:cNvPr id="14" name="Text Box 5">
            <a:extLst>
              <a:ext uri="{FF2B5EF4-FFF2-40B4-BE49-F238E27FC236}">
                <a16:creationId xmlns:a16="http://schemas.microsoft.com/office/drawing/2014/main" id="{07B76FB8-F6CB-C760-E31A-69A454A6A167}"/>
              </a:ext>
            </a:extLst>
          </p:cNvPr>
          <p:cNvSpPr txBox="1">
            <a:spLocks noChangeArrowheads="1"/>
          </p:cNvSpPr>
          <p:nvPr/>
        </p:nvSpPr>
        <p:spPr bwMode="ltGray">
          <a:xfrm>
            <a:off x="3936513" y="1649301"/>
            <a:ext cx="4032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1800" b="1" dirty="0">
                <a:latin typeface="宋体" panose="02010600030101010101" pitchFamily="2" charset="-122"/>
              </a:rPr>
              <a:t>C= (m</a:t>
            </a:r>
            <a:r>
              <a:rPr lang="en-US" altLang="zh-CN" sz="1400" b="1" dirty="0">
                <a:latin typeface="宋体" panose="02010600030101010101" pitchFamily="2" charset="-122"/>
              </a:rPr>
              <a:t>×</a:t>
            </a:r>
            <a:r>
              <a:rPr lang="en-US" altLang="zh-CN" sz="1800" b="1" dirty="0">
                <a:latin typeface="宋体" panose="02010600030101010101" pitchFamily="2" charset="-122"/>
              </a:rPr>
              <a:t>k</a:t>
            </a:r>
            <a:r>
              <a:rPr lang="en-US" altLang="zh-CN" sz="1100" b="1" dirty="0">
                <a:latin typeface="宋体" panose="02010600030101010101" pitchFamily="2" charset="-122"/>
              </a:rPr>
              <a:t>1</a:t>
            </a:r>
            <a:r>
              <a:rPr lang="en-US" altLang="zh-CN" sz="1800" b="1" dirty="0">
                <a:latin typeface="宋体" panose="02010600030101010101" pitchFamily="2" charset="-122"/>
              </a:rPr>
              <a:t>+k</a:t>
            </a:r>
            <a:r>
              <a:rPr lang="en-US" altLang="zh-CN" sz="1100" b="1" dirty="0">
                <a:latin typeface="宋体" panose="02010600030101010101" pitchFamily="2" charset="-122"/>
              </a:rPr>
              <a:t>2</a:t>
            </a:r>
            <a:r>
              <a:rPr lang="en-US" altLang="zh-CN" sz="1800" b="1" dirty="0">
                <a:latin typeface="宋体" panose="02010600030101010101" pitchFamily="2" charset="-122"/>
              </a:rPr>
              <a:t>)  mod 26</a:t>
            </a:r>
          </a:p>
        </p:txBody>
      </p:sp>
      <p:sp>
        <p:nvSpPr>
          <p:cNvPr id="15" name="Text Box 6">
            <a:extLst>
              <a:ext uri="{FF2B5EF4-FFF2-40B4-BE49-F238E27FC236}">
                <a16:creationId xmlns:a16="http://schemas.microsoft.com/office/drawing/2014/main" id="{3DCA44CE-3F54-FC36-5722-4A41DEAC9596}"/>
              </a:ext>
            </a:extLst>
          </p:cNvPr>
          <p:cNvSpPr txBox="1">
            <a:spLocks noChangeArrowheads="1"/>
          </p:cNvSpPr>
          <p:nvPr/>
        </p:nvSpPr>
        <p:spPr bwMode="ltGray">
          <a:xfrm>
            <a:off x="2661748" y="1577863"/>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dirty="0">
                <a:latin typeface="宋体" panose="02010600030101010101" pitchFamily="2" charset="-122"/>
              </a:rPr>
              <a:t>加密算法：</a:t>
            </a:r>
          </a:p>
        </p:txBody>
      </p:sp>
      <p:sp>
        <p:nvSpPr>
          <p:cNvPr id="16" name="Text Box 8">
            <a:extLst>
              <a:ext uri="{FF2B5EF4-FFF2-40B4-BE49-F238E27FC236}">
                <a16:creationId xmlns:a16="http://schemas.microsoft.com/office/drawing/2014/main" id="{5D1A1BBE-7E23-9959-4E28-54C340E0D376}"/>
              </a:ext>
            </a:extLst>
          </p:cNvPr>
          <p:cNvSpPr txBox="1">
            <a:spLocks noChangeArrowheads="1"/>
          </p:cNvSpPr>
          <p:nvPr/>
        </p:nvSpPr>
        <p:spPr bwMode="ltGray">
          <a:xfrm>
            <a:off x="2661748" y="2081101"/>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1800" b="1">
                <a:latin typeface="宋体" panose="02010600030101010101" pitchFamily="2" charset="-122"/>
              </a:rPr>
              <a:t>解密算法：</a:t>
            </a:r>
          </a:p>
        </p:txBody>
      </p:sp>
      <p:sp>
        <p:nvSpPr>
          <p:cNvPr id="18" name="Text Box 9">
            <a:extLst>
              <a:ext uri="{FF2B5EF4-FFF2-40B4-BE49-F238E27FC236}">
                <a16:creationId xmlns:a16="http://schemas.microsoft.com/office/drawing/2014/main" id="{588C2DEA-EB5C-98CD-8279-CEB5A4C4E450}"/>
              </a:ext>
            </a:extLst>
          </p:cNvPr>
          <p:cNvSpPr txBox="1">
            <a:spLocks noChangeArrowheads="1"/>
          </p:cNvSpPr>
          <p:nvPr/>
        </p:nvSpPr>
        <p:spPr bwMode="ltGray">
          <a:xfrm>
            <a:off x="3936513" y="2152539"/>
            <a:ext cx="4032251" cy="369332"/>
          </a:xfrm>
          <a:prstGeom prst="rect">
            <a:avLst/>
          </a:prstGeom>
          <a:noFill/>
          <a:ln>
            <a:noFill/>
          </a:ln>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buClr>
                <a:schemeClr val="folHlink"/>
              </a:buClr>
              <a:buSzPct val="85000"/>
              <a:buFont typeface="Wingdings 2" panose="05020102010507070707" pitchFamily="18" charset="2"/>
              <a:buNone/>
              <a:defRPr/>
            </a:pPr>
            <a:r>
              <a:rPr lang="en-US" altLang="zh-CN" sz="1800" b="1" dirty="0">
                <a:latin typeface="宋体" panose="02010600030101010101" pitchFamily="2" charset="-122"/>
              </a:rPr>
              <a:t>m= (C-k</a:t>
            </a:r>
            <a:r>
              <a:rPr lang="en-US" altLang="zh-CN" sz="1051" b="1" dirty="0">
                <a:latin typeface="宋体" panose="02010600030101010101" pitchFamily="2" charset="-122"/>
              </a:rPr>
              <a:t>2</a:t>
            </a:r>
            <a:r>
              <a:rPr lang="en-US" altLang="zh-CN" sz="1800" b="1" dirty="0">
                <a:latin typeface="宋体" panose="02010600030101010101" pitchFamily="2" charset="-122"/>
              </a:rPr>
              <a:t>)</a:t>
            </a:r>
            <a:r>
              <a:rPr lang="en-US" altLang="zh-CN" sz="1400" b="1" dirty="0">
                <a:latin typeface="宋体" panose="02010600030101010101" pitchFamily="2" charset="-122"/>
              </a:rPr>
              <a:t>×</a:t>
            </a:r>
            <a:r>
              <a:rPr lang="en-US" altLang="zh-CN" sz="1800" b="1" dirty="0">
                <a:latin typeface="宋体" panose="02010600030101010101" pitchFamily="2" charset="-122"/>
              </a:rPr>
              <a:t>k</a:t>
            </a:r>
            <a:r>
              <a:rPr lang="en-US" altLang="zh-CN" sz="1051" b="1" dirty="0">
                <a:latin typeface="宋体" panose="02010600030101010101" pitchFamily="2" charset="-122"/>
              </a:rPr>
              <a:t>1</a:t>
            </a:r>
            <a:r>
              <a:rPr lang="en-US" altLang="zh-CN" sz="1400" b="1" baseline="70000" dirty="0">
                <a:latin typeface="宋体" panose="02010600030101010101" pitchFamily="2" charset="-122"/>
              </a:rPr>
              <a:t>-1</a:t>
            </a:r>
            <a:r>
              <a:rPr lang="en-US" altLang="zh-CN" sz="1800" b="1" dirty="0">
                <a:latin typeface="宋体" panose="02010600030101010101" pitchFamily="2" charset="-122"/>
              </a:rPr>
              <a:t> )  mod 26</a:t>
            </a:r>
          </a:p>
        </p:txBody>
      </p:sp>
      <p:sp>
        <p:nvSpPr>
          <p:cNvPr id="19" name="AutoShape 10">
            <a:extLst>
              <a:ext uri="{FF2B5EF4-FFF2-40B4-BE49-F238E27FC236}">
                <a16:creationId xmlns:a16="http://schemas.microsoft.com/office/drawing/2014/main" id="{F946F2C8-179E-196E-72A6-7D2060D00BA7}"/>
              </a:ext>
            </a:extLst>
          </p:cNvPr>
          <p:cNvSpPr>
            <a:spLocks noChangeArrowheads="1"/>
          </p:cNvSpPr>
          <p:nvPr/>
        </p:nvSpPr>
        <p:spPr bwMode="auto">
          <a:xfrm>
            <a:off x="4295292" y="5570427"/>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20" name="Text Box 11">
            <a:extLst>
              <a:ext uri="{FF2B5EF4-FFF2-40B4-BE49-F238E27FC236}">
                <a16:creationId xmlns:a16="http://schemas.microsoft.com/office/drawing/2014/main" id="{91DF2F2D-A542-6EBE-BE77-DB77756AD432}"/>
              </a:ext>
            </a:extLst>
          </p:cNvPr>
          <p:cNvSpPr txBox="1">
            <a:spLocks noChangeArrowheads="1"/>
          </p:cNvSpPr>
          <p:nvPr/>
        </p:nvSpPr>
        <p:spPr bwMode="ltGray">
          <a:xfrm>
            <a:off x="2783990" y="3936893"/>
            <a:ext cx="7697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a:latin typeface="宋体" panose="02010600030101010101" pitchFamily="2" charset="-122"/>
              </a:rPr>
              <a:t>H=07 </a:t>
            </a:r>
          </a:p>
          <a:p>
            <a:pPr>
              <a:spcBef>
                <a:spcPct val="0"/>
              </a:spcBef>
              <a:buClrTx/>
              <a:buSzTx/>
              <a:buFontTx/>
              <a:buNone/>
            </a:pPr>
            <a:r>
              <a:rPr kumimoji="1" lang="en-US" altLang="zh-CN" sz="1800" b="1">
                <a:latin typeface="宋体" panose="02010600030101010101" pitchFamily="2" charset="-122"/>
              </a:rPr>
              <a:t>E=04</a:t>
            </a:r>
          </a:p>
          <a:p>
            <a:pPr>
              <a:spcBef>
                <a:spcPct val="0"/>
              </a:spcBef>
              <a:buClrTx/>
              <a:buSzTx/>
              <a:buFontTx/>
              <a:buNone/>
            </a:pPr>
            <a:r>
              <a:rPr kumimoji="1" lang="en-US" altLang="zh-CN" sz="1800" b="1">
                <a:latin typeface="宋体" panose="02010600030101010101" pitchFamily="2" charset="-122"/>
              </a:rPr>
              <a:t>L=11</a:t>
            </a:r>
          </a:p>
          <a:p>
            <a:pPr>
              <a:spcBef>
                <a:spcPct val="0"/>
              </a:spcBef>
              <a:buClrTx/>
              <a:buSzTx/>
              <a:buFontTx/>
              <a:buNone/>
            </a:pPr>
            <a:r>
              <a:rPr kumimoji="1" lang="en-US" altLang="zh-CN" sz="1800" b="1">
                <a:latin typeface="宋体" panose="02010600030101010101" pitchFamily="2" charset="-122"/>
              </a:rPr>
              <a:t>O=14</a:t>
            </a:r>
          </a:p>
        </p:txBody>
      </p:sp>
      <p:sp>
        <p:nvSpPr>
          <p:cNvPr id="21" name="AutoShape 12">
            <a:extLst>
              <a:ext uri="{FF2B5EF4-FFF2-40B4-BE49-F238E27FC236}">
                <a16:creationId xmlns:a16="http://schemas.microsoft.com/office/drawing/2014/main" id="{C6250CEA-D480-544A-DA1C-3F31F2F69DA2}"/>
              </a:ext>
            </a:extLst>
          </p:cNvPr>
          <p:cNvSpPr>
            <a:spLocks noChangeArrowheads="1"/>
          </p:cNvSpPr>
          <p:nvPr/>
        </p:nvSpPr>
        <p:spPr bwMode="auto">
          <a:xfrm>
            <a:off x="3934928" y="4729051"/>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22" name="Text Box 13">
            <a:extLst>
              <a:ext uri="{FF2B5EF4-FFF2-40B4-BE49-F238E27FC236}">
                <a16:creationId xmlns:a16="http://schemas.microsoft.com/office/drawing/2014/main" id="{69DD9F50-28A3-FB33-2055-1A88A2BBAC4E}"/>
              </a:ext>
            </a:extLst>
          </p:cNvPr>
          <p:cNvSpPr txBox="1">
            <a:spLocks noChangeArrowheads="1"/>
          </p:cNvSpPr>
          <p:nvPr/>
        </p:nvSpPr>
        <p:spPr bwMode="ltGray">
          <a:xfrm>
            <a:off x="4512787" y="4009918"/>
            <a:ext cx="2808287" cy="1200329"/>
          </a:xfrm>
          <a:prstGeom prst="rect">
            <a:avLst/>
          </a:prstGeom>
          <a:solidFill>
            <a:schemeClr val="bg2"/>
          </a:solidFill>
          <a:ln w="9525" cap="rnd">
            <a:solidFill>
              <a:schemeClr val="bg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dirty="0">
                <a:latin typeface="宋体" panose="02010600030101010101" pitchFamily="2" charset="-122"/>
              </a:rPr>
              <a:t> 7</a:t>
            </a:r>
            <a:r>
              <a:rPr kumimoji="1" lang="en-US" altLang="zh-CN" sz="1400" b="1" dirty="0">
                <a:latin typeface="宋体" panose="02010600030101010101" pitchFamily="2" charset="-122"/>
              </a:rPr>
              <a:t>×</a:t>
            </a:r>
            <a:r>
              <a:rPr kumimoji="1" lang="en-US" altLang="zh-CN" sz="1800" b="1" dirty="0">
                <a:latin typeface="宋体" panose="02010600030101010101" pitchFamily="2" charset="-122"/>
              </a:rPr>
              <a:t>7+2=25  mod 26</a:t>
            </a:r>
          </a:p>
          <a:p>
            <a:pPr>
              <a:spcBef>
                <a:spcPct val="0"/>
              </a:spcBef>
              <a:buClrTx/>
              <a:buSzTx/>
              <a:buFontTx/>
              <a:buNone/>
            </a:pPr>
            <a:r>
              <a:rPr kumimoji="1" lang="en-US" altLang="zh-CN" sz="1800" b="1" dirty="0">
                <a:latin typeface="宋体" panose="02010600030101010101" pitchFamily="2" charset="-122"/>
              </a:rPr>
              <a:t> 4</a:t>
            </a:r>
            <a:r>
              <a:rPr kumimoji="1" lang="en-US" altLang="zh-CN" sz="1400" b="1" dirty="0">
                <a:latin typeface="宋体" panose="02010600030101010101" pitchFamily="2" charset="-122"/>
              </a:rPr>
              <a:t>× </a:t>
            </a:r>
            <a:r>
              <a:rPr kumimoji="1" lang="en-US" altLang="zh-CN" sz="1800" b="1" dirty="0">
                <a:latin typeface="宋体" panose="02010600030101010101" pitchFamily="2" charset="-122"/>
              </a:rPr>
              <a:t>7+2= 4   mod26 </a:t>
            </a:r>
          </a:p>
          <a:p>
            <a:pPr>
              <a:spcBef>
                <a:spcPct val="0"/>
              </a:spcBef>
              <a:buClrTx/>
              <a:buSzTx/>
              <a:buFontTx/>
              <a:buNone/>
            </a:pPr>
            <a:r>
              <a:rPr kumimoji="1" lang="en-US" altLang="zh-CN" sz="1800" b="1" dirty="0">
                <a:latin typeface="宋体" panose="02010600030101010101" pitchFamily="2" charset="-122"/>
              </a:rPr>
              <a:t>11</a:t>
            </a:r>
            <a:r>
              <a:rPr kumimoji="1" lang="en-US" altLang="zh-CN" sz="1400" b="1" dirty="0">
                <a:latin typeface="宋体" panose="02010600030101010101" pitchFamily="2" charset="-122"/>
              </a:rPr>
              <a:t>×</a:t>
            </a:r>
            <a:r>
              <a:rPr kumimoji="1" lang="en-US" altLang="zh-CN" sz="1800" b="1" dirty="0">
                <a:latin typeface="宋体" panose="02010600030101010101" pitchFamily="2" charset="-122"/>
              </a:rPr>
              <a:t>7+2= 1   mod26</a:t>
            </a:r>
          </a:p>
          <a:p>
            <a:pPr>
              <a:spcBef>
                <a:spcPct val="0"/>
              </a:spcBef>
              <a:buClrTx/>
              <a:buSzTx/>
              <a:buFontTx/>
              <a:buNone/>
            </a:pPr>
            <a:r>
              <a:rPr kumimoji="1" lang="en-US" altLang="zh-CN" sz="1800" b="1" dirty="0">
                <a:latin typeface="宋体" panose="02010600030101010101" pitchFamily="2" charset="-122"/>
              </a:rPr>
              <a:t>14</a:t>
            </a:r>
            <a:r>
              <a:rPr kumimoji="1" lang="en-US" altLang="zh-CN" sz="1400" b="1" dirty="0">
                <a:latin typeface="宋体" panose="02010600030101010101" pitchFamily="2" charset="-122"/>
              </a:rPr>
              <a:t>×</a:t>
            </a:r>
            <a:r>
              <a:rPr kumimoji="1" lang="en-US" altLang="zh-CN" sz="1800" b="1" dirty="0">
                <a:latin typeface="宋体" panose="02010600030101010101" pitchFamily="2" charset="-122"/>
              </a:rPr>
              <a:t>7+2=22  mod26</a:t>
            </a:r>
          </a:p>
        </p:txBody>
      </p:sp>
      <p:sp>
        <p:nvSpPr>
          <p:cNvPr id="23" name="AutoShape 14">
            <a:extLst>
              <a:ext uri="{FF2B5EF4-FFF2-40B4-BE49-F238E27FC236}">
                <a16:creationId xmlns:a16="http://schemas.microsoft.com/office/drawing/2014/main" id="{04D6D7D0-CF0B-3219-97FD-60FF0A95BDCC}"/>
              </a:ext>
            </a:extLst>
          </p:cNvPr>
          <p:cNvSpPr>
            <a:spLocks noChangeArrowheads="1"/>
          </p:cNvSpPr>
          <p:nvPr/>
        </p:nvSpPr>
        <p:spPr bwMode="auto">
          <a:xfrm>
            <a:off x="7500453" y="4651278"/>
            <a:ext cx="360363" cy="217487"/>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ndParaRPr>
          </a:p>
        </p:txBody>
      </p:sp>
      <p:sp>
        <p:nvSpPr>
          <p:cNvPr id="24" name="Text Box 15">
            <a:extLst>
              <a:ext uri="{FF2B5EF4-FFF2-40B4-BE49-F238E27FC236}">
                <a16:creationId xmlns:a16="http://schemas.microsoft.com/office/drawing/2014/main" id="{C50C0C6A-CBDE-6246-F79A-17C2B7FA3512}"/>
              </a:ext>
            </a:extLst>
          </p:cNvPr>
          <p:cNvSpPr txBox="1">
            <a:spLocks noChangeArrowheads="1"/>
          </p:cNvSpPr>
          <p:nvPr/>
        </p:nvSpPr>
        <p:spPr bwMode="ltGray">
          <a:xfrm>
            <a:off x="8184673" y="4009918"/>
            <a:ext cx="10038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dirty="0">
                <a:latin typeface="宋体" panose="02010600030101010101" pitchFamily="2" charset="-122"/>
              </a:rPr>
              <a:t>25 = z </a:t>
            </a:r>
          </a:p>
          <a:p>
            <a:pPr>
              <a:spcBef>
                <a:spcPct val="0"/>
              </a:spcBef>
              <a:buClrTx/>
              <a:buSzTx/>
              <a:buFontTx/>
              <a:buNone/>
            </a:pPr>
            <a:r>
              <a:rPr kumimoji="1" lang="en-US" altLang="zh-CN" sz="1800" b="1" dirty="0">
                <a:latin typeface="宋体" panose="02010600030101010101" pitchFamily="2" charset="-122"/>
              </a:rPr>
              <a:t>4 = e</a:t>
            </a:r>
          </a:p>
          <a:p>
            <a:pPr>
              <a:spcBef>
                <a:spcPct val="0"/>
              </a:spcBef>
              <a:buClrTx/>
              <a:buSzTx/>
              <a:buFontTx/>
              <a:buNone/>
            </a:pPr>
            <a:r>
              <a:rPr kumimoji="1" lang="en-US" altLang="zh-CN" sz="1800" b="1" dirty="0">
                <a:latin typeface="宋体" panose="02010600030101010101" pitchFamily="2" charset="-122"/>
              </a:rPr>
              <a:t>1 = b</a:t>
            </a:r>
          </a:p>
          <a:p>
            <a:pPr>
              <a:spcBef>
                <a:spcPct val="0"/>
              </a:spcBef>
              <a:buClrTx/>
              <a:buSzTx/>
              <a:buFontTx/>
              <a:buNone/>
            </a:pPr>
            <a:r>
              <a:rPr kumimoji="1" lang="en-US" altLang="zh-CN" sz="1800" b="1" dirty="0">
                <a:latin typeface="宋体" panose="02010600030101010101" pitchFamily="2" charset="-122"/>
              </a:rPr>
              <a:t>22 = w</a:t>
            </a:r>
          </a:p>
        </p:txBody>
      </p:sp>
      <p:sp>
        <p:nvSpPr>
          <p:cNvPr id="25" name="Text Box 16">
            <a:extLst>
              <a:ext uri="{FF2B5EF4-FFF2-40B4-BE49-F238E27FC236}">
                <a16:creationId xmlns:a16="http://schemas.microsoft.com/office/drawing/2014/main" id="{94F6D998-7AAE-1A81-BEB2-FA37EAC4B7D7}"/>
              </a:ext>
            </a:extLst>
          </p:cNvPr>
          <p:cNvSpPr txBox="1">
            <a:spLocks noChangeArrowheads="1"/>
          </p:cNvSpPr>
          <p:nvPr/>
        </p:nvSpPr>
        <p:spPr bwMode="ltGray">
          <a:xfrm>
            <a:off x="3288818" y="2576402"/>
            <a:ext cx="6769100" cy="369332"/>
          </a:xfrm>
          <a:prstGeom prst="rect">
            <a:avLst/>
          </a:prstGeom>
          <a:noFill/>
          <a:ln>
            <a:noFill/>
          </a:ln>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buClr>
                <a:schemeClr val="folHlink"/>
              </a:buClr>
              <a:buSzPct val="85000"/>
              <a:buFont typeface="Wingdings 2" panose="05020102010507070707" pitchFamily="18" charset="2"/>
              <a:buNone/>
              <a:defRPr/>
            </a:pPr>
            <a:r>
              <a:rPr lang="en-US" altLang="zh-CN" sz="1800" b="1" dirty="0">
                <a:latin typeface="宋体" panose="02010600030101010101" pitchFamily="2" charset="-122"/>
              </a:rPr>
              <a:t>   k</a:t>
            </a:r>
            <a:r>
              <a:rPr lang="en-US" altLang="zh-CN" sz="1100" b="1" dirty="0">
                <a:latin typeface="宋体" panose="02010600030101010101" pitchFamily="2" charset="-122"/>
              </a:rPr>
              <a:t>1</a:t>
            </a:r>
            <a:r>
              <a:rPr lang="en-US" altLang="zh-CN" sz="1400" b="1" dirty="0">
                <a:latin typeface="宋体" panose="02010600030101010101" pitchFamily="2" charset="-122"/>
              </a:rPr>
              <a:t>∈Z*</a:t>
            </a:r>
            <a:r>
              <a:rPr lang="en-US" altLang="zh-CN" sz="1051" b="1" dirty="0">
                <a:latin typeface="宋体" panose="02010600030101010101" pitchFamily="2" charset="-122"/>
              </a:rPr>
              <a:t>26</a:t>
            </a:r>
            <a:r>
              <a:rPr lang="en-US" altLang="zh-CN" sz="1800" b="1" dirty="0">
                <a:latin typeface="宋体" panose="02010600030101010101" pitchFamily="2" charset="-122"/>
              </a:rPr>
              <a:t> = { 1,3,5,7,9,11,15,17,19,21,23,25}</a:t>
            </a:r>
          </a:p>
        </p:txBody>
      </p:sp>
      <p:sp>
        <p:nvSpPr>
          <p:cNvPr id="26" name="AutoShape 17">
            <a:extLst>
              <a:ext uri="{FF2B5EF4-FFF2-40B4-BE49-F238E27FC236}">
                <a16:creationId xmlns:a16="http://schemas.microsoft.com/office/drawing/2014/main" id="{22EAA486-8B70-9709-36E0-3EB73132E4A9}"/>
              </a:ext>
            </a:extLst>
          </p:cNvPr>
          <p:cNvSpPr>
            <a:spLocks noChangeArrowheads="1"/>
          </p:cNvSpPr>
          <p:nvPr/>
        </p:nvSpPr>
        <p:spPr bwMode="auto">
          <a:xfrm>
            <a:off x="7084523" y="1361971"/>
            <a:ext cx="2159000" cy="720725"/>
          </a:xfrm>
          <a:prstGeom prst="cloudCallout">
            <a:avLst>
              <a:gd name="adj1" fmla="val -45222"/>
              <a:gd name="adj2" fmla="val 87227"/>
            </a:avLst>
          </a:prstGeom>
          <a:solidFill>
            <a:schemeClr val="tx2">
              <a:lumMod val="60000"/>
              <a:lumOff val="40000"/>
            </a:schemeClr>
          </a:solidFill>
          <a:ln w="9525">
            <a:solidFill>
              <a:schemeClr val="tx1"/>
            </a:solidFill>
            <a:round/>
            <a:headEnd/>
            <a:tailEnd/>
          </a:ln>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1400" b="1" dirty="0">
                <a:solidFill>
                  <a:schemeClr val="bg1"/>
                </a:solidFill>
                <a:latin typeface="宋体" panose="02010600030101010101" pitchFamily="2" charset="-122"/>
              </a:rPr>
              <a:t>Key=(k</a:t>
            </a:r>
            <a:r>
              <a:rPr lang="en-US" altLang="zh-CN" sz="1051" b="1" dirty="0">
                <a:solidFill>
                  <a:schemeClr val="bg1"/>
                </a:solidFill>
                <a:latin typeface="宋体" panose="02010600030101010101" pitchFamily="2" charset="-122"/>
              </a:rPr>
              <a:t>1</a:t>
            </a:r>
            <a:r>
              <a:rPr lang="en-US" altLang="zh-CN" sz="1400" b="1" dirty="0">
                <a:solidFill>
                  <a:schemeClr val="bg1"/>
                </a:solidFill>
                <a:latin typeface="宋体" panose="02010600030101010101" pitchFamily="2" charset="-122"/>
              </a:rPr>
              <a:t>,k</a:t>
            </a:r>
            <a:r>
              <a:rPr lang="en-US" altLang="zh-CN" sz="1051" b="1" dirty="0">
                <a:solidFill>
                  <a:schemeClr val="bg1"/>
                </a:solidFill>
                <a:latin typeface="宋体" panose="02010600030101010101" pitchFamily="2" charset="-122"/>
              </a:rPr>
              <a:t>2</a:t>
            </a:r>
            <a:r>
              <a:rPr lang="en-US" altLang="zh-CN" sz="1400" b="1" dirty="0">
                <a:solidFill>
                  <a:schemeClr val="bg1"/>
                </a:solidFill>
                <a:latin typeface="宋体" panose="02010600030101010101" pitchFamily="2" charset="-122"/>
              </a:rPr>
              <a:t>)</a:t>
            </a:r>
          </a:p>
        </p:txBody>
      </p:sp>
      <p:sp>
        <p:nvSpPr>
          <p:cNvPr id="27" name="AutoShape 18">
            <a:extLst>
              <a:ext uri="{FF2B5EF4-FFF2-40B4-BE49-F238E27FC236}">
                <a16:creationId xmlns:a16="http://schemas.microsoft.com/office/drawing/2014/main" id="{2200B52A-A573-66A6-77F4-6B095CC1D29D}"/>
              </a:ext>
            </a:extLst>
          </p:cNvPr>
          <p:cNvSpPr>
            <a:spLocks noChangeArrowheads="1"/>
          </p:cNvSpPr>
          <p:nvPr/>
        </p:nvSpPr>
        <p:spPr bwMode="auto">
          <a:xfrm>
            <a:off x="9231735" y="1794497"/>
            <a:ext cx="1944687" cy="792163"/>
          </a:xfrm>
          <a:prstGeom prst="cloudCallout">
            <a:avLst>
              <a:gd name="adj1" fmla="val -73605"/>
              <a:gd name="adj2" fmla="val 71945"/>
            </a:avLst>
          </a:prstGeom>
          <a:solidFill>
            <a:schemeClr val="tx2">
              <a:lumMod val="60000"/>
              <a:lumOff val="40000"/>
            </a:schemeClr>
          </a:solidFill>
          <a:ln w="9525">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200" b="1" dirty="0">
                <a:solidFill>
                  <a:schemeClr val="bg1"/>
                </a:solidFill>
                <a:latin typeface="宋体" panose="02010600030101010101" pitchFamily="2" charset="-122"/>
              </a:rPr>
              <a:t>密码域大小</a:t>
            </a:r>
            <a:r>
              <a:rPr lang="en-US" altLang="zh-CN" sz="1200" b="1" dirty="0">
                <a:solidFill>
                  <a:schemeClr val="bg1"/>
                </a:solidFill>
                <a:latin typeface="宋体" panose="02010600030101010101" pitchFamily="2" charset="-122"/>
              </a:rPr>
              <a:t>12*26=312</a:t>
            </a:r>
            <a:endParaRPr lang="en-US" altLang="zh-CN" sz="1400" b="1" dirty="0">
              <a:solidFill>
                <a:schemeClr val="bg1"/>
              </a:solidFill>
              <a:latin typeface="宋体" panose="02010600030101010101" pitchFamily="2" charset="-122"/>
            </a:endParaRPr>
          </a:p>
        </p:txBody>
      </p:sp>
    </p:spTree>
    <p:extLst>
      <p:ext uri="{BB962C8B-B14F-4D97-AF65-F5344CB8AC3E}">
        <p14:creationId xmlns:p14="http://schemas.microsoft.com/office/powerpoint/2010/main" val="14623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0-#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wipe(left)">
                                      <p:cBhvr>
                                        <p:cTn id="73" dur="5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left)">
                                      <p:cBhvr>
                                        <p:cTn id="83" dur="500"/>
                                        <p:tgtEl>
                                          <p:spTgt spid="2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left)">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iterate type="lt">
                                    <p:tmPct val="100000"/>
                                  </p:iterate>
                                  <p:childTnLst>
                                    <p:set>
                                      <p:cBhvr>
                                        <p:cTn id="92" dur="1" fill="hold">
                                          <p:stCondLst>
                                            <p:cond delay="0"/>
                                          </p:stCondLst>
                                        </p:cTn>
                                        <p:tgtEl>
                                          <p:spTgt spid="13"/>
                                        </p:tgtEl>
                                        <p:attrNameLst>
                                          <p:attrName>style.visibility</p:attrName>
                                        </p:attrNameLst>
                                      </p:cBhvr>
                                      <p:to>
                                        <p:strVal val="visible"/>
                                      </p:to>
                                    </p:set>
                                    <p:animEffect transition="in" filter="dissolve">
                                      <p:cBhvr>
                                        <p:cTn id="93" dur="75"/>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3" grpId="0" animBg="1" autoUpdateAnimBg="0"/>
      <p:bldP spid="14" grpId="0" autoUpdateAnimBg="0"/>
      <p:bldP spid="15" grpId="0" autoUpdateAnimBg="0"/>
      <p:bldP spid="16" grpId="0" autoUpdateAnimBg="0"/>
      <p:bldP spid="18" grpId="0" autoUpdateAnimBg="0"/>
      <p:bldP spid="19" grpId="0" animBg="1"/>
      <p:bldP spid="20" grpId="0"/>
      <p:bldP spid="21" grpId="0" animBg="1"/>
      <p:bldP spid="22" grpId="0" animBg="1"/>
      <p:bldP spid="23" grpId="0" animBg="1"/>
      <p:bldP spid="24" grpId="0"/>
      <p:bldP spid="25" grpId="0" autoUpdateAnimBg="0"/>
      <p:bldP spid="26" grpId="0" animBg="1"/>
      <p:bldP spid="2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6351419"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仿射密码</a:t>
            </a:r>
            <a:r>
              <a:rPr kumimoji="1" lang="en-US" altLang="zh-CN" sz="3200" dirty="0">
                <a:solidFill>
                  <a:srgbClr val="44546A"/>
                </a:solidFill>
                <a:cs typeface="+mn-ea"/>
                <a:sym typeface="+mn-lt"/>
              </a:rPr>
              <a:t>(Affine cipher)—</a:t>
            </a:r>
            <a:r>
              <a:rPr kumimoji="1" lang="zh-CN" altLang="en-US" sz="3200" dirty="0">
                <a:solidFill>
                  <a:srgbClr val="44546A"/>
                </a:solidFill>
                <a:cs typeface="+mn-ea"/>
                <a:sym typeface="+mn-lt"/>
              </a:rPr>
              <a:t>解密过程</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28" name="Text Box 2">
            <a:extLst>
              <a:ext uri="{FF2B5EF4-FFF2-40B4-BE49-F238E27FC236}">
                <a16:creationId xmlns:a16="http://schemas.microsoft.com/office/drawing/2014/main" id="{FF2A1266-1A03-4BE5-37C8-9DB0DAD0F6C2}"/>
              </a:ext>
            </a:extLst>
          </p:cNvPr>
          <p:cNvSpPr txBox="1">
            <a:spLocks noChangeArrowheads="1"/>
          </p:cNvSpPr>
          <p:nvPr/>
        </p:nvSpPr>
        <p:spPr bwMode="ltGray">
          <a:xfrm>
            <a:off x="2439017" y="1839597"/>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zh-CN" altLang="en-US" sz="2400" b="1" dirty="0">
                <a:latin typeface="宋体" panose="02010600030101010101" pitchFamily="2" charset="-122"/>
              </a:rPr>
              <a:t>解密：</a:t>
            </a:r>
          </a:p>
        </p:txBody>
      </p:sp>
      <p:sp>
        <p:nvSpPr>
          <p:cNvPr id="29" name="Text Box 3">
            <a:extLst>
              <a:ext uri="{FF2B5EF4-FFF2-40B4-BE49-F238E27FC236}">
                <a16:creationId xmlns:a16="http://schemas.microsoft.com/office/drawing/2014/main" id="{E8B933B2-860C-76A1-57A3-3928D58AE379}"/>
              </a:ext>
            </a:extLst>
          </p:cNvPr>
          <p:cNvSpPr txBox="1">
            <a:spLocks noChangeArrowheads="1"/>
          </p:cNvSpPr>
          <p:nvPr/>
        </p:nvSpPr>
        <p:spPr bwMode="ltGray">
          <a:xfrm>
            <a:off x="3807155" y="1912865"/>
            <a:ext cx="1107996" cy="369332"/>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lang="en-US" altLang="zh-CN" dirty="0">
                <a:latin typeface="宋体" panose="02010600030101010101" pitchFamily="2" charset="-122"/>
                <a:ea typeface="宋体" panose="02010600030101010101" pitchFamily="2" charset="-122"/>
                <a:cs typeface="Arial Unicode MS" pitchFamily="34" charset="-122"/>
              </a:rPr>
              <a:t>C</a:t>
            </a:r>
            <a:r>
              <a:rPr kumimoji="1" lang="en-US" altLang="zh-CN" dirty="0">
                <a:latin typeface="宋体" panose="02010600030101010101" pitchFamily="2" charset="-122"/>
                <a:ea typeface="宋体" panose="02010600030101010101" pitchFamily="2" charset="-122"/>
                <a:cs typeface="Arial Unicode MS" pitchFamily="34" charset="-122"/>
              </a:rPr>
              <a:t>= </a:t>
            </a:r>
            <a:r>
              <a:rPr kumimoji="1" lang="en-US" altLang="zh-CN" dirty="0" err="1">
                <a:latin typeface="宋体" panose="02010600030101010101" pitchFamily="2" charset="-122"/>
                <a:ea typeface="宋体" panose="02010600030101010101" pitchFamily="2" charset="-122"/>
                <a:cs typeface="Arial Unicode MS" pitchFamily="34" charset="-122"/>
              </a:rPr>
              <a:t>zebbw</a:t>
            </a:r>
            <a:endParaRPr kumimoji="1" lang="en-US" altLang="zh-CN" dirty="0">
              <a:latin typeface="宋体" panose="02010600030101010101" pitchFamily="2" charset="-122"/>
              <a:ea typeface="宋体" panose="02010600030101010101" pitchFamily="2" charset="-122"/>
              <a:cs typeface="Arial Unicode MS" pitchFamily="34" charset="-122"/>
            </a:endParaRPr>
          </a:p>
        </p:txBody>
      </p:sp>
      <p:sp>
        <p:nvSpPr>
          <p:cNvPr id="30" name="AutoShape 4">
            <a:extLst>
              <a:ext uri="{FF2B5EF4-FFF2-40B4-BE49-F238E27FC236}">
                <a16:creationId xmlns:a16="http://schemas.microsoft.com/office/drawing/2014/main" id="{98533A8B-2542-0890-672B-6AF85D4F69EB}"/>
              </a:ext>
            </a:extLst>
          </p:cNvPr>
          <p:cNvSpPr>
            <a:spLocks noChangeArrowheads="1"/>
          </p:cNvSpPr>
          <p:nvPr/>
        </p:nvSpPr>
        <p:spPr bwMode="auto">
          <a:xfrm>
            <a:off x="3907174" y="4918003"/>
            <a:ext cx="358775" cy="217488"/>
          </a:xfrm>
          <a:prstGeom prst="rightArrow">
            <a:avLst>
              <a:gd name="adj1" fmla="val 50000"/>
              <a:gd name="adj2" fmla="val 41241"/>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200">
              <a:latin typeface="宋体" panose="02010600030101010101" pitchFamily="2" charset="-122"/>
            </a:endParaRPr>
          </a:p>
        </p:txBody>
      </p:sp>
      <p:sp>
        <p:nvSpPr>
          <p:cNvPr id="31" name="Text Box 5">
            <a:extLst>
              <a:ext uri="{FF2B5EF4-FFF2-40B4-BE49-F238E27FC236}">
                <a16:creationId xmlns:a16="http://schemas.microsoft.com/office/drawing/2014/main" id="{D1DC3382-3E88-2A79-BCAC-98E91AB07DFE}"/>
              </a:ext>
            </a:extLst>
          </p:cNvPr>
          <p:cNvSpPr txBox="1">
            <a:spLocks noChangeArrowheads="1"/>
          </p:cNvSpPr>
          <p:nvPr/>
        </p:nvSpPr>
        <p:spPr bwMode="ltGray">
          <a:xfrm>
            <a:off x="8680777" y="3352733"/>
            <a:ext cx="7697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a:latin typeface="宋体" panose="02010600030101010101" pitchFamily="2" charset="-122"/>
              </a:rPr>
              <a:t>H=07 </a:t>
            </a:r>
          </a:p>
          <a:p>
            <a:pPr>
              <a:spcBef>
                <a:spcPct val="0"/>
              </a:spcBef>
              <a:buClrTx/>
              <a:buSzTx/>
              <a:buFontTx/>
              <a:buNone/>
            </a:pPr>
            <a:r>
              <a:rPr kumimoji="1" lang="en-US" altLang="zh-CN" sz="1800" b="1">
                <a:latin typeface="宋体" panose="02010600030101010101" pitchFamily="2" charset="-122"/>
              </a:rPr>
              <a:t>E=04</a:t>
            </a:r>
          </a:p>
          <a:p>
            <a:pPr>
              <a:spcBef>
                <a:spcPct val="0"/>
              </a:spcBef>
              <a:buClrTx/>
              <a:buSzTx/>
              <a:buFontTx/>
              <a:buNone/>
            </a:pPr>
            <a:r>
              <a:rPr kumimoji="1" lang="en-US" altLang="zh-CN" sz="1800" b="1">
                <a:latin typeface="宋体" panose="02010600030101010101" pitchFamily="2" charset="-122"/>
              </a:rPr>
              <a:t>L=11</a:t>
            </a:r>
          </a:p>
          <a:p>
            <a:pPr>
              <a:spcBef>
                <a:spcPct val="0"/>
              </a:spcBef>
              <a:buClrTx/>
              <a:buSzTx/>
              <a:buFontTx/>
              <a:buNone/>
            </a:pPr>
            <a:r>
              <a:rPr kumimoji="1" lang="en-US" altLang="zh-CN" sz="1800" b="1">
                <a:latin typeface="宋体" panose="02010600030101010101" pitchFamily="2" charset="-122"/>
              </a:rPr>
              <a:t>O=14</a:t>
            </a:r>
          </a:p>
        </p:txBody>
      </p:sp>
      <p:sp>
        <p:nvSpPr>
          <p:cNvPr id="32" name="AutoShape 6">
            <a:extLst>
              <a:ext uri="{FF2B5EF4-FFF2-40B4-BE49-F238E27FC236}">
                <a16:creationId xmlns:a16="http://schemas.microsoft.com/office/drawing/2014/main" id="{5DB6BA82-836F-8BB4-B858-BAE33B776150}"/>
              </a:ext>
            </a:extLst>
          </p:cNvPr>
          <p:cNvSpPr>
            <a:spLocks noChangeArrowheads="1"/>
          </p:cNvSpPr>
          <p:nvPr/>
        </p:nvSpPr>
        <p:spPr bwMode="auto">
          <a:xfrm>
            <a:off x="3999237" y="3709929"/>
            <a:ext cx="360363" cy="217487"/>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200">
              <a:latin typeface="宋体" panose="02010600030101010101" pitchFamily="2" charset="-122"/>
            </a:endParaRPr>
          </a:p>
        </p:txBody>
      </p:sp>
      <p:sp>
        <p:nvSpPr>
          <p:cNvPr id="33" name="Text Box 7">
            <a:extLst>
              <a:ext uri="{FF2B5EF4-FFF2-40B4-BE49-F238E27FC236}">
                <a16:creationId xmlns:a16="http://schemas.microsoft.com/office/drawing/2014/main" id="{860303F6-F8F8-D6E7-43D0-84C1B319A415}"/>
              </a:ext>
            </a:extLst>
          </p:cNvPr>
          <p:cNvSpPr txBox="1">
            <a:spLocks noChangeArrowheads="1"/>
          </p:cNvSpPr>
          <p:nvPr/>
        </p:nvSpPr>
        <p:spPr bwMode="ltGray">
          <a:xfrm>
            <a:off x="4527873" y="3281294"/>
            <a:ext cx="3600451" cy="1200329"/>
          </a:xfrm>
          <a:prstGeom prst="rect">
            <a:avLst/>
          </a:prstGeom>
          <a:solidFill>
            <a:schemeClr val="bg2"/>
          </a:solidFill>
          <a:ln w="9525" cap="rnd">
            <a:solidFill>
              <a:schemeClr val="bg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a:latin typeface="宋体" panose="02010600030101010101" pitchFamily="2" charset="-122"/>
              </a:rPr>
              <a:t> (25-2)</a:t>
            </a:r>
            <a:r>
              <a:rPr kumimoji="1" lang="en-US" altLang="zh-CN" sz="1400" b="1">
                <a:latin typeface="宋体" panose="02010600030101010101" pitchFamily="2" charset="-122"/>
              </a:rPr>
              <a:t>×</a:t>
            </a:r>
            <a:r>
              <a:rPr kumimoji="1" lang="en-US" altLang="zh-CN" sz="1800" b="1">
                <a:latin typeface="宋体" panose="02010600030101010101" pitchFamily="2" charset="-122"/>
              </a:rPr>
              <a:t>15 = 7  mod 26</a:t>
            </a:r>
          </a:p>
          <a:p>
            <a:pPr>
              <a:spcBef>
                <a:spcPct val="0"/>
              </a:spcBef>
              <a:buClrTx/>
              <a:buSzTx/>
              <a:buFontTx/>
              <a:buNone/>
            </a:pPr>
            <a:r>
              <a:rPr kumimoji="1" lang="en-US" altLang="zh-CN" sz="1800" b="1">
                <a:latin typeface="宋体" panose="02010600030101010101" pitchFamily="2" charset="-122"/>
              </a:rPr>
              <a:t> ( 4-2 )</a:t>
            </a:r>
            <a:r>
              <a:rPr kumimoji="1" lang="en-US" altLang="zh-CN" sz="1400" b="1">
                <a:latin typeface="宋体" panose="02010600030101010101" pitchFamily="2" charset="-122"/>
              </a:rPr>
              <a:t>×</a:t>
            </a:r>
            <a:r>
              <a:rPr kumimoji="1" lang="en-US" altLang="zh-CN" sz="1800" b="1">
                <a:latin typeface="宋体" panose="02010600030101010101" pitchFamily="2" charset="-122"/>
              </a:rPr>
              <a:t>15 = 4  mod26 </a:t>
            </a:r>
          </a:p>
          <a:p>
            <a:pPr>
              <a:spcBef>
                <a:spcPct val="0"/>
              </a:spcBef>
              <a:buClrTx/>
              <a:buSzTx/>
              <a:buFontTx/>
              <a:buNone/>
            </a:pPr>
            <a:r>
              <a:rPr kumimoji="1" lang="en-US" altLang="zh-CN" sz="1800" b="1">
                <a:latin typeface="宋体" panose="02010600030101010101" pitchFamily="2" charset="-122"/>
              </a:rPr>
              <a:t> ( 1-2)</a:t>
            </a:r>
            <a:r>
              <a:rPr kumimoji="1" lang="en-US" altLang="zh-CN" sz="1400" b="1">
                <a:latin typeface="宋体" panose="02010600030101010101" pitchFamily="2" charset="-122"/>
              </a:rPr>
              <a:t>×</a:t>
            </a:r>
            <a:r>
              <a:rPr kumimoji="1" lang="en-US" altLang="zh-CN" sz="1800" b="1">
                <a:latin typeface="宋体" panose="02010600030101010101" pitchFamily="2" charset="-122"/>
              </a:rPr>
              <a:t>15 = 11  mod26</a:t>
            </a:r>
          </a:p>
          <a:p>
            <a:pPr>
              <a:spcBef>
                <a:spcPct val="0"/>
              </a:spcBef>
              <a:buClrTx/>
              <a:buSzTx/>
              <a:buFontTx/>
              <a:buNone/>
            </a:pPr>
            <a:r>
              <a:rPr kumimoji="1" lang="en-US" altLang="zh-CN" sz="1800" b="1">
                <a:latin typeface="宋体" panose="02010600030101010101" pitchFamily="2" charset="-122"/>
              </a:rPr>
              <a:t> (22-1)</a:t>
            </a:r>
            <a:r>
              <a:rPr kumimoji="1" lang="en-US" altLang="zh-CN" sz="1400" b="1">
                <a:latin typeface="宋体" panose="02010600030101010101" pitchFamily="2" charset="-122"/>
              </a:rPr>
              <a:t>×</a:t>
            </a:r>
            <a:r>
              <a:rPr kumimoji="1" lang="en-US" altLang="zh-CN" sz="1800" b="1">
                <a:latin typeface="宋体" panose="02010600030101010101" pitchFamily="2" charset="-122"/>
              </a:rPr>
              <a:t>15= 14  mod26</a:t>
            </a:r>
          </a:p>
        </p:txBody>
      </p:sp>
      <p:sp>
        <p:nvSpPr>
          <p:cNvPr id="34" name="AutoShape 8">
            <a:extLst>
              <a:ext uri="{FF2B5EF4-FFF2-40B4-BE49-F238E27FC236}">
                <a16:creationId xmlns:a16="http://schemas.microsoft.com/office/drawing/2014/main" id="{6A42CEB4-854C-A33D-DFBC-8A206A224F8D}"/>
              </a:ext>
            </a:extLst>
          </p:cNvPr>
          <p:cNvSpPr>
            <a:spLocks noChangeArrowheads="1"/>
          </p:cNvSpPr>
          <p:nvPr/>
        </p:nvSpPr>
        <p:spPr bwMode="auto">
          <a:xfrm>
            <a:off x="8199761" y="3781353"/>
            <a:ext cx="360363" cy="217488"/>
          </a:xfrm>
          <a:prstGeom prst="rightArrow">
            <a:avLst>
              <a:gd name="adj1" fmla="val 50000"/>
              <a:gd name="adj2" fmla="val 41423"/>
            </a:avLst>
          </a:prstGeom>
          <a:solidFill>
            <a:schemeClr val="bg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200">
              <a:latin typeface="宋体" panose="02010600030101010101" pitchFamily="2" charset="-122"/>
            </a:endParaRPr>
          </a:p>
        </p:txBody>
      </p:sp>
      <p:sp>
        <p:nvSpPr>
          <p:cNvPr id="35" name="Text Box 10">
            <a:extLst>
              <a:ext uri="{FF2B5EF4-FFF2-40B4-BE49-F238E27FC236}">
                <a16:creationId xmlns:a16="http://schemas.microsoft.com/office/drawing/2014/main" id="{7F082624-2F24-CD82-531E-BAE6DF832E40}"/>
              </a:ext>
            </a:extLst>
          </p:cNvPr>
          <p:cNvSpPr txBox="1">
            <a:spLocks noChangeArrowheads="1"/>
          </p:cNvSpPr>
          <p:nvPr/>
        </p:nvSpPr>
        <p:spPr bwMode="ltGray">
          <a:xfrm>
            <a:off x="3556325" y="2428801"/>
            <a:ext cx="4032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buSzPct val="85000"/>
              <a:buFont typeface="Wingdings 2" panose="05020102010507070707" pitchFamily="82" charset="2"/>
              <a:buNone/>
            </a:pPr>
            <a:r>
              <a:rPr lang="en-US" altLang="zh-CN" sz="1800" b="1">
                <a:latin typeface="宋体" panose="02010600030101010101" pitchFamily="2" charset="-122"/>
              </a:rPr>
              <a:t>  k=7</a:t>
            </a:r>
            <a:r>
              <a:rPr lang="zh-CN" altLang="en-US" sz="1800" b="1">
                <a:latin typeface="宋体" panose="02010600030101010101" pitchFamily="2" charset="-122"/>
              </a:rPr>
              <a:t>，  </a:t>
            </a:r>
            <a:r>
              <a:rPr lang="en-US" altLang="zh-CN" sz="1800" b="1">
                <a:latin typeface="宋体" panose="02010600030101010101" pitchFamily="2" charset="-122"/>
              </a:rPr>
              <a:t>7</a:t>
            </a:r>
            <a:r>
              <a:rPr lang="en-US" altLang="zh-CN" sz="1800" b="1" baseline="70000">
                <a:latin typeface="宋体" panose="02010600030101010101" pitchFamily="2" charset="-122"/>
              </a:rPr>
              <a:t>-1 </a:t>
            </a:r>
            <a:r>
              <a:rPr lang="en-US" altLang="zh-CN" sz="1800" b="1">
                <a:latin typeface="宋体" panose="02010600030101010101" pitchFamily="2" charset="-122"/>
              </a:rPr>
              <a:t> =15  mod 26  </a:t>
            </a:r>
          </a:p>
        </p:txBody>
      </p:sp>
      <p:sp>
        <p:nvSpPr>
          <p:cNvPr id="36" name="Text Box 11">
            <a:extLst>
              <a:ext uri="{FF2B5EF4-FFF2-40B4-BE49-F238E27FC236}">
                <a16:creationId xmlns:a16="http://schemas.microsoft.com/office/drawing/2014/main" id="{5792B6BF-3D70-C0F4-B2FB-2555805BF284}"/>
              </a:ext>
            </a:extLst>
          </p:cNvPr>
          <p:cNvSpPr txBox="1">
            <a:spLocks noChangeArrowheads="1"/>
          </p:cNvSpPr>
          <p:nvPr/>
        </p:nvSpPr>
        <p:spPr bwMode="ltGray">
          <a:xfrm>
            <a:off x="4554867" y="4876727"/>
            <a:ext cx="1107996" cy="369332"/>
          </a:xfrm>
          <a:prstGeom prst="rect">
            <a:avLst/>
          </a:prstGeom>
          <a:solidFill>
            <a:schemeClr val="bg1">
              <a:lumMod val="95000"/>
            </a:schemeClr>
          </a:solidFill>
          <a:ln>
            <a:noFill/>
          </a:ln>
          <a:effectLst>
            <a:prstShdw prst="shdw17" dist="17961" dir="2700000">
              <a:srgbClr val="8F8E87"/>
            </a:prstShdw>
          </a:effectLst>
        </p:spPr>
        <p:txBody>
          <a:bodyPr wrap="none">
            <a:spAutoFit/>
          </a:bodyPr>
          <a:lstStyle/>
          <a:p>
            <a:pPr>
              <a:defRPr/>
            </a:pPr>
            <a:r>
              <a:rPr kumimoji="1" lang="en-US" altLang="zh-CN" dirty="0">
                <a:latin typeface="宋体" panose="02010600030101010101" pitchFamily="2" charset="-122"/>
                <a:ea typeface="宋体" panose="02010600030101010101" pitchFamily="2" charset="-122"/>
                <a:cs typeface="Arial Unicode MS" pitchFamily="34" charset="-122"/>
              </a:rPr>
              <a:t>m= HELLO</a:t>
            </a:r>
          </a:p>
        </p:txBody>
      </p:sp>
      <p:sp>
        <p:nvSpPr>
          <p:cNvPr id="37" name="Text Box 13">
            <a:extLst>
              <a:ext uri="{FF2B5EF4-FFF2-40B4-BE49-F238E27FC236}">
                <a16:creationId xmlns:a16="http://schemas.microsoft.com/office/drawing/2014/main" id="{717510A5-F48E-30F6-C1DA-54BD56C5EB6D}"/>
              </a:ext>
            </a:extLst>
          </p:cNvPr>
          <p:cNvSpPr txBox="1">
            <a:spLocks noChangeArrowheads="1"/>
          </p:cNvSpPr>
          <p:nvPr/>
        </p:nvSpPr>
        <p:spPr bwMode="ltGray">
          <a:xfrm>
            <a:off x="3049921" y="3225733"/>
            <a:ext cx="10038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1" lang="en-US" altLang="zh-CN" sz="1800" b="1" dirty="0">
                <a:latin typeface="宋体" panose="02010600030101010101" pitchFamily="2" charset="-122"/>
              </a:rPr>
              <a:t>25 = z </a:t>
            </a:r>
          </a:p>
          <a:p>
            <a:pPr>
              <a:spcBef>
                <a:spcPct val="0"/>
              </a:spcBef>
              <a:buClrTx/>
              <a:buSzTx/>
              <a:buFontTx/>
              <a:buNone/>
            </a:pPr>
            <a:r>
              <a:rPr kumimoji="1" lang="en-US" altLang="zh-CN" sz="1800" b="1" dirty="0">
                <a:latin typeface="宋体" panose="02010600030101010101" pitchFamily="2" charset="-122"/>
              </a:rPr>
              <a:t>4 = e</a:t>
            </a:r>
          </a:p>
          <a:p>
            <a:pPr>
              <a:spcBef>
                <a:spcPct val="0"/>
              </a:spcBef>
              <a:buClrTx/>
              <a:buSzTx/>
              <a:buFontTx/>
              <a:buNone/>
            </a:pPr>
            <a:r>
              <a:rPr kumimoji="1" lang="en-US" altLang="zh-CN" sz="1800" b="1" dirty="0">
                <a:latin typeface="宋体" panose="02010600030101010101" pitchFamily="2" charset="-122"/>
              </a:rPr>
              <a:t>1 = b</a:t>
            </a:r>
          </a:p>
          <a:p>
            <a:pPr>
              <a:spcBef>
                <a:spcPct val="0"/>
              </a:spcBef>
              <a:buClrTx/>
              <a:buSzTx/>
              <a:buFontTx/>
              <a:buNone/>
            </a:pPr>
            <a:r>
              <a:rPr kumimoji="1" lang="en-US" altLang="zh-CN" sz="1800" b="1" dirty="0">
                <a:latin typeface="宋体" panose="02010600030101010101" pitchFamily="2" charset="-122"/>
              </a:rPr>
              <a:t>22 = w</a:t>
            </a:r>
          </a:p>
        </p:txBody>
      </p:sp>
    </p:spTree>
    <p:extLst>
      <p:ext uri="{BB962C8B-B14F-4D97-AF65-F5344CB8AC3E}">
        <p14:creationId xmlns:p14="http://schemas.microsoft.com/office/powerpoint/2010/main" val="20287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iterate type="lt">
                                    <p:tmPct val="100000"/>
                                  </p:iterate>
                                  <p:childTnLst>
                                    <p:set>
                                      <p:cBhvr>
                                        <p:cTn id="17" dur="1" fill="hold">
                                          <p:stCondLst>
                                            <p:cond delay="0"/>
                                          </p:stCondLst>
                                        </p:cTn>
                                        <p:tgtEl>
                                          <p:spTgt spid="29"/>
                                        </p:tgtEl>
                                        <p:attrNameLst>
                                          <p:attrName>style.visibility</p:attrName>
                                        </p:attrNameLst>
                                      </p:cBhvr>
                                      <p:to>
                                        <p:strVal val="visible"/>
                                      </p:to>
                                    </p:set>
                                    <p:animEffect transition="in" filter="dissolve">
                                      <p:cBhvr>
                                        <p:cTn id="18" dur="75"/>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left)">
                                      <p:cBhvr>
                                        <p:cTn id="29" dur="50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left)">
                                      <p:cBhvr>
                                        <p:cTn id="39" dur="50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ipe(left)">
                                      <p:cBhvr>
                                        <p:cTn id="49" dur="5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animBg="1" autoUpdateAnimBg="0"/>
      <p:bldP spid="30" grpId="0" animBg="1"/>
      <p:bldP spid="31" grpId="0"/>
      <p:bldP spid="32" grpId="0" animBg="1"/>
      <p:bldP spid="33" grpId="0" animBg="1"/>
      <p:bldP spid="34" grpId="0" animBg="1"/>
      <p:bldP spid="35" grpId="0" autoUpdateAnimBg="0"/>
      <p:bldP spid="36" grpId="0" animBg="1"/>
      <p:bldP spid="3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8379217"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多项式代换密码</a:t>
            </a:r>
            <a:r>
              <a:rPr kumimoji="1" lang="en-US" altLang="zh-CN" sz="3200" dirty="0">
                <a:solidFill>
                  <a:srgbClr val="44546A"/>
                </a:solidFill>
                <a:cs typeface="+mn-ea"/>
                <a:sym typeface="+mn-lt"/>
              </a:rPr>
              <a:t>(Polynomial Substitute Cipher)</a:t>
            </a:r>
            <a:endParaRPr kumimoji="1" lang="zh-CN" altLang="en-US" sz="3200" dirty="0">
              <a:solidFill>
                <a:srgbClr val="44546A"/>
              </a:solidFill>
              <a:cs typeface="+mn-ea"/>
              <a:sym typeface="+mn-lt"/>
            </a:endParaRP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15" name="内容占位符 2">
                <a:extLst>
                  <a:ext uri="{FF2B5EF4-FFF2-40B4-BE49-F238E27FC236}">
                    <a16:creationId xmlns:a16="http://schemas.microsoft.com/office/drawing/2014/main" id="{4E863F7C-4446-1729-6FB2-81C6547AEAD3}"/>
                  </a:ext>
                </a:extLst>
              </p:cNvPr>
              <p:cNvSpPr txBox="1">
                <a:spLocks/>
              </p:cNvSpPr>
              <p:nvPr/>
            </p:nvSpPr>
            <p:spPr>
              <a:xfrm>
                <a:off x="2016127" y="2013014"/>
                <a:ext cx="8159748" cy="3226060"/>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2400" dirty="0">
                    <a:latin typeface="宋体" panose="02010600030101010101" pitchFamily="2" charset="-122"/>
                    <a:ea typeface="宋体" panose="02010600030101010101" pitchFamily="2" charset="-122"/>
                  </a:rPr>
                  <a:t>加密方程为：</a:t>
                </a:r>
                <a:endParaRPr lang="en-US" altLang="zh-CN" sz="2400" dirty="0">
                  <a:latin typeface="宋体" panose="02010600030101010101" pitchFamily="2" charset="-122"/>
                  <a:ea typeface="宋体" panose="0201060003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𝑡</m:t>
                          </m:r>
                        </m:sub>
                      </m:sSub>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𝑡</m:t>
                          </m:r>
                        </m:sup>
                      </m:sSup>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𝑡</m:t>
                          </m:r>
                          <m:r>
                            <a:rPr lang="en-US" altLang="zh-CN" sz="2400" i="1">
                              <a:latin typeface="Cambria Math" panose="02040503050406030204" pitchFamily="18" charset="0"/>
                            </a:rPr>
                            <m:t>−1</m:t>
                          </m:r>
                        </m:sup>
                      </m:sSup>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𝑥</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 </m:t>
                      </m:r>
                      <m:r>
                        <a:rPr lang="en-US" altLang="zh-CN" sz="2400" i="1">
                          <a:latin typeface="Cambria Math" panose="02040503050406030204" pitchFamily="18" charset="0"/>
                        </a:rPr>
                        <m:t>𝑚𝑜𝑑</m:t>
                      </m:r>
                      <m:r>
                        <a:rPr lang="en-US" altLang="zh-CN" sz="2400" i="1">
                          <a:latin typeface="Cambria Math" panose="02040503050406030204" pitchFamily="18" charset="0"/>
                        </a:rPr>
                        <m:t> </m:t>
                      </m:r>
                      <m:r>
                        <a:rPr lang="en-US" altLang="zh-CN" sz="2400" i="1">
                          <a:latin typeface="Cambria Math" panose="02040503050406030204" pitchFamily="18" charset="0"/>
                        </a:rPr>
                        <m:t>𝑞</m:t>
                      </m:r>
                      <m:r>
                        <a:rPr lang="zh-CN" altLang="en-US" sz="2400" i="1">
                          <a:latin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endParaRPr>
              </a:p>
              <a:p>
                <a:pPr marL="0" indent="0">
                  <a:lnSpc>
                    <a:spcPct val="100000"/>
                  </a:lnSpc>
                  <a:buNone/>
                </a:pPr>
                <a:r>
                  <a:rPr lang="zh-CN" altLang="en-US" sz="2400" dirty="0">
                    <a:latin typeface="宋体" panose="02010600030101010101" pitchFamily="2" charset="-122"/>
                    <a:ea typeface="宋体" panose="02010600030101010101" pitchFamily="2" charset="-122"/>
                  </a:rPr>
                  <a:t>其中</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𝑡</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0</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𝑍</m:t>
                        </m:r>
                      </m:e>
                      <m:sub>
                        <m:r>
                          <a:rPr lang="en-US" altLang="zh-CN" sz="2400" i="1">
                            <a:latin typeface="Cambria Math" panose="02040503050406030204" pitchFamily="18" charset="0"/>
                            <a:ea typeface="Cambria Math" panose="02040503050406030204" pitchFamily="18" charset="0"/>
                          </a:rPr>
                          <m:t>𝑞</m:t>
                        </m:r>
                      </m:sub>
                    </m:sSub>
                    <m:r>
                      <a:rPr lang="zh-CN" altLang="en-US" sz="2400" i="1">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𝑡</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𝑍</m:t>
                        </m:r>
                      </m:e>
                      <m:sub>
                        <m:r>
                          <a:rPr lang="en-US" altLang="zh-CN" sz="2400" b="0" i="1" smtClean="0">
                            <a:latin typeface="Cambria Math" panose="02040503050406030204" pitchFamily="18" charset="0"/>
                            <a:ea typeface="Cambria Math" panose="02040503050406030204" pitchFamily="18" charset="0"/>
                          </a:rPr>
                          <m:t>𝑞</m:t>
                        </m:r>
                      </m:sub>
                    </m:sSub>
                    <m:r>
                      <a:rPr lang="en-US" altLang="zh-CN" sz="2400" b="0" i="1" smtClean="0">
                        <a:latin typeface="Cambria Math" panose="02040503050406030204" pitchFamily="18" charset="0"/>
                        <a:ea typeface="Cambria Math" panose="02040503050406030204" pitchFamily="18" charset="0"/>
                      </a:rPr>
                      <m:t>,  </m:t>
                    </m:r>
                    <m:r>
                      <a:rPr lang="en-US" altLang="zh-CN" sz="2400" i="1">
                        <a:latin typeface="Cambria Math" panose="02040503050406030204" pitchFamily="18" charset="0"/>
                        <a:ea typeface="Cambria Math" panose="02040503050406030204" pitchFamily="18" charset="0"/>
                      </a:rPr>
                      <m:t>𝑥</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𝑍</m:t>
                        </m:r>
                      </m:e>
                      <m:sub>
                        <m:r>
                          <a:rPr lang="en-US" altLang="zh-CN" sz="2400" i="1">
                            <a:latin typeface="Cambria Math" panose="02040503050406030204" pitchFamily="18" charset="0"/>
                            <a:ea typeface="Cambria Math" panose="02040503050406030204" pitchFamily="18" charset="0"/>
                          </a:rPr>
                          <m:t>𝑞</m:t>
                        </m:r>
                      </m:sub>
                    </m:sSub>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0" indent="0">
                  <a:lnSpc>
                    <a:spcPct val="100000"/>
                  </a:lnSpc>
                  <a:buNone/>
                </a:pPr>
                <a:r>
                  <a:rPr lang="zh-CN" altLang="en-US" sz="2400" dirty="0">
                    <a:latin typeface="宋体" panose="02010600030101010101" pitchFamily="2" charset="-122"/>
                    <a:ea typeface="宋体" panose="02010600030101010101" pitchFamily="2" charset="-122"/>
                  </a:rPr>
                  <a:t>前三种密码都可看作是它的特例。</a:t>
                </a:r>
              </a:p>
            </p:txBody>
          </p:sp>
        </mc:Choice>
        <mc:Fallback>
          <p:sp>
            <p:nvSpPr>
              <p:cNvPr id="15" name="内容占位符 2">
                <a:extLst>
                  <a:ext uri="{FF2B5EF4-FFF2-40B4-BE49-F238E27FC236}">
                    <a16:creationId xmlns:a16="http://schemas.microsoft.com/office/drawing/2014/main" id="{4E863F7C-4446-1729-6FB2-81C6547AEAD3}"/>
                  </a:ext>
                </a:extLst>
              </p:cNvPr>
              <p:cNvSpPr txBox="1">
                <a:spLocks noRot="1" noChangeAspect="1" noMove="1" noResize="1" noEditPoints="1" noAdjustHandles="1" noChangeArrowheads="1" noChangeShapeType="1" noTextEdit="1"/>
              </p:cNvSpPr>
              <p:nvPr/>
            </p:nvSpPr>
            <p:spPr>
              <a:xfrm>
                <a:off x="2016127" y="2013014"/>
                <a:ext cx="8159748" cy="3226060"/>
              </a:xfrm>
              <a:prstGeom prst="rect">
                <a:avLst/>
              </a:prstGeom>
              <a:blipFill>
                <a:blip r:embed="rId3"/>
                <a:stretch>
                  <a:fillRect l="-1196" t="-15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460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密钥短语密码</a:t>
            </a:r>
          </a:p>
        </p:txBody>
      </p:sp>
      <p:sp>
        <p:nvSpPr>
          <p:cNvPr id="6" name="Rectangle 3">
            <a:extLst>
              <a:ext uri="{FF2B5EF4-FFF2-40B4-BE49-F238E27FC236}">
                <a16:creationId xmlns:a16="http://schemas.microsoft.com/office/drawing/2014/main" id="{AB15AA3A-7875-35A6-2024-331410407632}"/>
              </a:ext>
            </a:extLst>
          </p:cNvPr>
          <p:cNvSpPr txBox="1">
            <a:spLocks noChangeArrowheads="1"/>
          </p:cNvSpPr>
          <p:nvPr/>
        </p:nvSpPr>
        <p:spPr>
          <a:xfrm>
            <a:off x="2900715" y="4045787"/>
            <a:ext cx="8569325" cy="3979863"/>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lumMod val="75000"/>
                </a:schemeClr>
              </a:buClr>
              <a:buSzPct val="60000"/>
              <a:buFont typeface="Wingdings" panose="05000000000000000000" pitchFamily="2" charset="2"/>
              <a:buChar char="n"/>
            </a:pPr>
            <a:endParaRPr kumimoji="1" lang="zh-CN" altLang="en-US" sz="2000" dirty="0">
              <a:latin typeface="宋体" panose="02010600030101010101" pitchFamily="2" charset="-122"/>
            </a:endParaRP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7" name="Rectangle 3">
            <a:extLst>
              <a:ext uri="{FF2B5EF4-FFF2-40B4-BE49-F238E27FC236}">
                <a16:creationId xmlns:a16="http://schemas.microsoft.com/office/drawing/2014/main" id="{78871575-F0E0-C7FD-3BDA-A0180474F60B}"/>
              </a:ext>
            </a:extLst>
          </p:cNvPr>
          <p:cNvSpPr txBox="1">
            <a:spLocks noChangeArrowheads="1"/>
          </p:cNvSpPr>
          <p:nvPr/>
        </p:nvSpPr>
        <p:spPr>
          <a:xfrm>
            <a:off x="1345483" y="1744282"/>
            <a:ext cx="10357611" cy="4441727"/>
          </a:xfrm>
          <a:prstGeom prst="rect">
            <a:avLst/>
          </a:prstGeom>
          <a:noFill/>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2400" dirty="0">
                <a:latin typeface="宋体" panose="02010600030101010101" pitchFamily="2" charset="-122"/>
                <a:ea typeface="宋体" panose="02010600030101010101" pitchFamily="2" charset="-122"/>
              </a:rPr>
              <a:t>选一个英文短语，称其为</a:t>
            </a:r>
            <a:r>
              <a:rPr lang="zh-CN" altLang="en-US" sz="2400" b="1" dirty="0">
                <a:latin typeface="宋体" panose="02010600030101010101" pitchFamily="2" charset="-122"/>
                <a:ea typeface="宋体" panose="02010600030101010101" pitchFamily="2" charset="-122"/>
              </a:rPr>
              <a:t>密钥字</a:t>
            </a: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Key Word)</a:t>
            </a:r>
            <a:r>
              <a:rPr lang="zh-CN" altLang="en-US" sz="2400" dirty="0">
                <a:latin typeface="宋体" panose="02010600030101010101" pitchFamily="2" charset="-122"/>
                <a:ea typeface="宋体" panose="02010600030101010101" pitchFamily="2" charset="-122"/>
              </a:rPr>
              <a:t>或</a:t>
            </a:r>
            <a:r>
              <a:rPr lang="zh-CN" altLang="en-US" sz="2400" b="1" dirty="0">
                <a:latin typeface="宋体" panose="02010600030101010101" pitchFamily="2" charset="-122"/>
                <a:ea typeface="宋体" panose="02010600030101010101" pitchFamily="2" charset="-122"/>
              </a:rPr>
              <a:t>密钥短语</a:t>
            </a:r>
            <a:r>
              <a:rPr lang="zh-CN" altLang="en-US" sz="2400" dirty="0">
                <a:latin typeface="宋体" panose="02010600030101010101" pitchFamily="2" charset="-122"/>
                <a:ea typeface="宋体" panose="02010600030101010101" pitchFamily="2" charset="-122"/>
                <a:cs typeface="Tahoma" panose="020B0604030504040204" pitchFamily="34" charset="0"/>
              </a:rPr>
              <a:t>(</a:t>
            </a:r>
            <a:r>
              <a:rPr lang="en-US" altLang="zh-CN" sz="2400" dirty="0">
                <a:latin typeface="宋体" panose="02010600030101010101" pitchFamily="2" charset="-122"/>
                <a:ea typeface="宋体" panose="02010600030101010101" pitchFamily="2" charset="-122"/>
                <a:cs typeface="Tahoma" panose="020B0604030504040204" pitchFamily="34" charset="0"/>
              </a:rPr>
              <a:t>Key Phrase)，</a:t>
            </a:r>
            <a:r>
              <a:rPr lang="zh-CN" altLang="en-US" sz="2400" dirty="0">
                <a:latin typeface="宋体" panose="02010600030101010101" pitchFamily="2" charset="-122"/>
                <a:ea typeface="宋体" panose="02010600030101010101" pitchFamily="2" charset="-122"/>
              </a:rPr>
              <a:t>如</a:t>
            </a:r>
            <a:r>
              <a:rPr lang="en-US" altLang="zh-CN" sz="2400" dirty="0">
                <a:latin typeface="宋体" panose="02010600030101010101" pitchFamily="2" charset="-122"/>
                <a:ea typeface="宋体" panose="02010600030101010101" pitchFamily="2" charset="-122"/>
                <a:cs typeface="Tahoma" panose="020B0604030504040204" pitchFamily="34" charset="0"/>
              </a:rPr>
              <a:t>HAPPY NEW YEAR</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去掉重复字母得</a:t>
            </a:r>
            <a:r>
              <a:rPr lang="en-US" altLang="zh-CN" sz="2400" dirty="0">
                <a:latin typeface="宋体" panose="02010600030101010101" pitchFamily="2" charset="-122"/>
                <a:ea typeface="宋体" panose="02010600030101010101" pitchFamily="2" charset="-122"/>
                <a:cs typeface="Tahoma" panose="020B0604030504040204" pitchFamily="34" charset="0"/>
              </a:rPr>
              <a:t>HAPYNEWR</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将它依次写在明文字母表之下，而后再将字母表中未在短语中出现过的字母依次写于此短语之后，就可构造出一个字母代换表，如下所示</a:t>
            </a:r>
            <a:r>
              <a:rPr lang="en-US" altLang="zh-CN" sz="2400" dirty="0">
                <a:latin typeface="宋体" panose="02010600030101010101" pitchFamily="2" charset="-122"/>
                <a:ea typeface="宋体" panose="02010600030101010101" pitchFamily="2" charset="-122"/>
              </a:rPr>
              <a:t>:</a:t>
            </a:r>
          </a:p>
          <a:p>
            <a:pPr>
              <a:lnSpc>
                <a:spcPct val="100000"/>
              </a:lnSpc>
              <a:spcBef>
                <a:spcPts val="0"/>
              </a:spcBef>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 A  : a b c d e f g h I j k l m n o p q r s t u v w x y z</a:t>
            </a:r>
          </a:p>
          <a:p>
            <a:pPr>
              <a:lnSpc>
                <a:spcPct val="100000"/>
              </a:lnSpc>
              <a:spcBef>
                <a:spcPts val="0"/>
              </a:spcBef>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 A’: H A P Y N E W R B C D F G I J K L M O Q S T U V K Z</a:t>
            </a:r>
          </a:p>
          <a:p>
            <a:pPr marL="0" indent="0" algn="just">
              <a:lnSpc>
                <a:spcPts val="2200"/>
              </a:lnSpc>
              <a:buNone/>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这是一种易于记忆而又有多种可能选择的密码。用不同的密码字就可得到不同的代换表。</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q=26</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时将可能有</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26</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≈4 *10</a:t>
            </a:r>
            <a:r>
              <a:rPr lang="en-US" altLang="zh-CN" sz="2400" kern="100" baseline="30000" dirty="0">
                <a:latin typeface="宋体" panose="02010600030101010101" pitchFamily="2" charset="-122"/>
                <a:ea typeface="宋体" panose="02010600030101010101" pitchFamily="2" charset="-122"/>
                <a:cs typeface="Times New Roman" panose="02020603050405020304" pitchFamily="18" charset="0"/>
              </a:rPr>
              <a:t>26</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种。其中绝大数代换都是好的，是一种灵活变化密钥的代换密码。</a:t>
            </a:r>
          </a:p>
          <a:p>
            <a:pPr marL="0" indent="0">
              <a:lnSpc>
                <a:spcPct val="100000"/>
              </a:lnSpc>
              <a:spcBef>
                <a:spcPts val="0"/>
              </a:spcBef>
              <a:buNone/>
            </a:pPr>
            <a:endParaRPr lang="zh-CN" altLang="en-US"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0566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代换密码小结</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mc:Choice xmlns:a14="http://schemas.microsoft.com/office/drawing/2010/main" Requires="a14">
          <p:sp>
            <p:nvSpPr>
              <p:cNvPr id="8" name="内容占位符 2">
                <a:extLst>
                  <a:ext uri="{FF2B5EF4-FFF2-40B4-BE49-F238E27FC236}">
                    <a16:creationId xmlns:a16="http://schemas.microsoft.com/office/drawing/2014/main" id="{923455FC-A2CD-6DD9-AD51-C7526C8F9719}"/>
                  </a:ext>
                </a:extLst>
              </p:cNvPr>
              <p:cNvSpPr txBox="1">
                <a:spLocks/>
              </p:cNvSpPr>
              <p:nvPr/>
            </p:nvSpPr>
            <p:spPr>
              <a:xfrm>
                <a:off x="845820" y="921662"/>
                <a:ext cx="10856185" cy="5491599"/>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latin typeface="宋体" panose="02010600030101010101" pitchFamily="2" charset="-122"/>
                    <a:ea typeface="宋体" panose="02010600030101010101" pitchFamily="2" charset="-122"/>
                  </a:rPr>
                  <a:t>用现代密码学的眼光观察单表代换密码：</a:t>
                </a:r>
                <a:endParaRPr lang="en-US" altLang="zh-CN" sz="2400" b="1" dirty="0">
                  <a:latin typeface="宋体" panose="02010600030101010101" pitchFamily="2" charset="-122"/>
                  <a:ea typeface="宋体" panose="02010600030101010101" pitchFamily="2" charset="-122"/>
                </a:endParaRPr>
              </a:p>
              <a:p>
                <a:pPr marL="0" indent="0">
                  <a:lnSpc>
                    <a:spcPct val="100000"/>
                  </a:lnSpc>
                  <a:buNone/>
                </a:pPr>
                <a:r>
                  <a:rPr lang="zh-CN" altLang="en-US" sz="2000" dirty="0">
                    <a:latin typeface="宋体" panose="02010600030101010101" pitchFamily="2" charset="-122"/>
                    <a:ea typeface="宋体" panose="02010600030101010101" pitchFamily="2" charset="-122"/>
                  </a:rPr>
                  <a:t>设单表代换密码用于多次一密的加解密方式，以下对其进行已知明文攻击。</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截获了一段密文，并获得了该段密文所对应的明文。</a:t>
                </a:r>
                <a:endParaRPr lang="en-US" altLang="zh-CN" sz="2000" dirty="0">
                  <a:latin typeface="宋体" panose="02010600030101010101" pitchFamily="2" charset="-122"/>
                  <a:ea typeface="宋体" panose="02010600030101010101" pitchFamily="2" charset="-122"/>
                </a:endParaRPr>
              </a:p>
              <a:p>
                <a:pPr marL="571444" indent="-571444">
                  <a:lnSpc>
                    <a:spcPct val="100000"/>
                  </a:lnSpc>
                  <a:buFont typeface="+mj-ea"/>
                  <a:buAutoNum type="ea1JpnChsDbPeriod"/>
                </a:pPr>
                <a:r>
                  <a:rPr lang="zh-CN" altLang="en-US" sz="2000" dirty="0">
                    <a:latin typeface="宋体" panose="02010600030101010101" pitchFamily="2" charset="-122"/>
                    <a:ea typeface="宋体" panose="02010600030101010101" pitchFamily="2" charset="-122"/>
                  </a:rPr>
                  <a:t>只要密文中含有</a:t>
                </a:r>
                <a14:m>
                  <m:oMath xmlns:m="http://schemas.openxmlformats.org/officeDocument/2006/math">
                    <m:r>
                      <a:rPr lang="en-US" altLang="zh-CN" sz="2000" i="1" dirty="0">
                        <a:latin typeface="Cambria Math" panose="02040503050406030204" pitchFamily="18" charset="0"/>
                        <a:ea typeface="宋体" panose="02010600030101010101" pitchFamily="2" charset="-122"/>
                      </a:rPr>
                      <m:t>𝑞</m:t>
                    </m:r>
                  </m:oMath>
                </a14:m>
                <a:r>
                  <a:rPr lang="zh-CN" altLang="en-US" sz="2000" dirty="0">
                    <a:latin typeface="宋体" panose="02010600030101010101" pitchFamily="2" charset="-122"/>
                    <a:ea typeface="宋体" panose="02010600030101010101" pitchFamily="2" charset="-122"/>
                  </a:rPr>
                  <a:t>个不同的字母（因此对应的明文中也含有</a:t>
                </a:r>
                <a14:m>
                  <m:oMath xmlns:m="http://schemas.openxmlformats.org/officeDocument/2006/math">
                    <m:r>
                      <a:rPr lang="en-US" altLang="zh-CN" sz="2000" i="1" dirty="0">
                        <a:latin typeface="Cambria Math" panose="02040503050406030204" pitchFamily="18" charset="0"/>
                        <a:ea typeface="宋体" panose="02010600030101010101" pitchFamily="2" charset="-122"/>
                      </a:rPr>
                      <m:t>𝑞</m:t>
                    </m:r>
                  </m:oMath>
                </a14:m>
                <a:r>
                  <a:rPr lang="zh-CN" altLang="en-US" sz="2000" dirty="0">
                    <a:latin typeface="宋体" panose="02010600030101010101" pitchFamily="2" charset="-122"/>
                    <a:ea typeface="宋体" panose="02010600030101010101" pitchFamily="2" charset="-122"/>
                  </a:rPr>
                  <a:t>个不同的字母），则加密变换</a:t>
                </a:r>
                <a14:m>
                  <m:oMath xmlns:m="http://schemas.openxmlformats.org/officeDocument/2006/math">
                    <m:r>
                      <a:rPr lang="en-US" altLang="zh-CN" sz="2000" i="1">
                        <a:latin typeface="Cambria Math" panose="02040503050406030204" pitchFamily="18" charset="0"/>
                        <a:ea typeface="宋体" panose="02010600030101010101" pitchFamily="2" charset="-122"/>
                      </a:rPr>
                      <m:t>𝑓</m:t>
                    </m:r>
                  </m:oMath>
                </a14:m>
                <a:r>
                  <a:rPr lang="zh-CN" altLang="en-US" sz="2000" dirty="0">
                    <a:latin typeface="宋体" panose="02010600030101010101" pitchFamily="2" charset="-122"/>
                    <a:ea typeface="宋体" panose="02010600030101010101" pitchFamily="2" charset="-122"/>
                  </a:rPr>
                  <a:t>被确定。</a:t>
                </a:r>
                <a:endParaRPr lang="en-US" altLang="zh-CN" sz="2000" dirty="0">
                  <a:latin typeface="宋体" panose="02010600030101010101" pitchFamily="2" charset="-122"/>
                  <a:ea typeface="宋体" panose="02010600030101010101" pitchFamily="2" charset="-122"/>
                </a:endParaRPr>
              </a:p>
              <a:p>
                <a:pPr marL="571444" indent="-571444">
                  <a:lnSpc>
                    <a:spcPct val="100000"/>
                  </a:lnSpc>
                  <a:buFont typeface="+mj-ea"/>
                  <a:buAutoNum type="ea1JpnChsDbPeriod"/>
                </a:pPr>
                <a:r>
                  <a:rPr lang="zh-CN" altLang="en-US" sz="2000" dirty="0">
                    <a:latin typeface="宋体" panose="02010600030101010101" pitchFamily="2" charset="-122"/>
                    <a:ea typeface="宋体" panose="02010600030101010101" pitchFamily="2" charset="-122"/>
                  </a:rPr>
                  <a:t>对于移位代换密码，只要密文中含有</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个字母（对应的明文中也含有</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个字母），则密钥𝑘被确定。</a:t>
                </a:r>
              </a:p>
              <a:p>
                <a:pPr marL="571444" indent="-571444">
                  <a:lnSpc>
                    <a:spcPct val="100000"/>
                  </a:lnSpc>
                  <a:buFont typeface="+mj-ea"/>
                  <a:buAutoNum type="ea1JpnChsDbPeriod"/>
                </a:pPr>
                <a:r>
                  <a:rPr lang="zh-CN" altLang="en-US" sz="2000" dirty="0">
                    <a:latin typeface="宋体" panose="02010600030101010101" pitchFamily="2" charset="-122"/>
                    <a:ea typeface="宋体" panose="02010600030101010101" pitchFamily="2" charset="-122"/>
                  </a:rPr>
                  <a:t>对于乘法密码，只要密文中含有</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个字母（对应的明文也含有</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个字母），则密钥𝑘被确定。</a:t>
                </a:r>
              </a:p>
              <a:p>
                <a:pPr marL="571444" indent="-571444">
                  <a:lnSpc>
                    <a:spcPct val="100000"/>
                  </a:lnSpc>
                  <a:buFont typeface="+mj-ea"/>
                  <a:buAutoNum type="ea1JpnChsDbPeriod"/>
                </a:pPr>
                <a:r>
                  <a:rPr lang="zh-CN" altLang="en-US" sz="2000" dirty="0">
                    <a:latin typeface="宋体" panose="02010600030101010101" pitchFamily="2" charset="-122"/>
                    <a:ea typeface="宋体" panose="02010600030101010101" pitchFamily="2" charset="-122"/>
                  </a:rPr>
                  <a:t>对于仿射密码，只要密文中含有</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个不同的字母（对应的明文中也含有</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个不同的字母），则密钥</a:t>
                </a:r>
                <a:r>
                  <a:rPr lang="en-US" altLang="zh-CN" sz="2000" dirty="0">
                    <a:latin typeface="宋体" panose="02010600030101010101" pitchFamily="2" charset="-122"/>
                    <a:ea typeface="宋体" panose="02010600030101010101" pitchFamily="2" charset="-122"/>
                  </a:rPr>
                  <a:t>[k</a:t>
                </a:r>
                <a:r>
                  <a:rPr lang="en-US" altLang="zh-CN" sz="2000" baseline="-25000" dirty="0">
                    <a:latin typeface="宋体" panose="02010600030101010101" pitchFamily="2" charset="-122"/>
                    <a:ea typeface="宋体" panose="02010600030101010101" pitchFamily="2" charset="-122"/>
                  </a:rPr>
                  <a:t>1</a:t>
                </a:r>
                <a:r>
                  <a:rPr lang="en-US" altLang="zh-CN" sz="2000" dirty="0">
                    <a:latin typeface="宋体" panose="02010600030101010101" pitchFamily="2" charset="-122"/>
                    <a:ea typeface="宋体" panose="02010600030101010101" pitchFamily="2" charset="-122"/>
                  </a:rPr>
                  <a:t>,k</a:t>
                </a:r>
                <a:r>
                  <a:rPr lang="en-US" altLang="zh-CN" sz="2000" baseline="-25000" dirty="0">
                    <a:latin typeface="宋体" panose="02010600030101010101" pitchFamily="2" charset="-122"/>
                    <a:ea typeface="宋体" panose="02010600030101010101" pitchFamily="2" charset="-122"/>
                  </a:rPr>
                  <a:t>2</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被确定。</a:t>
                </a:r>
              </a:p>
              <a:p>
                <a:pPr marL="571444" indent="-571444">
                  <a:lnSpc>
                    <a:spcPct val="100000"/>
                  </a:lnSpc>
                  <a:buFont typeface="+mj-ea"/>
                  <a:buAutoNum type="ea1JpnChsDbPeriod"/>
                </a:pPr>
                <a:r>
                  <a:rPr lang="zh-CN" altLang="en-US" sz="2000" dirty="0">
                    <a:latin typeface="宋体" panose="02010600030101010101" pitchFamily="2" charset="-122"/>
                    <a:ea typeface="宋体" panose="02010600030101010101" pitchFamily="2" charset="-122"/>
                  </a:rPr>
                  <a:t>对于多项式代换密码，只要密文中含有</a:t>
                </a:r>
                <a:r>
                  <a:rPr lang="en-US" altLang="zh-CN" sz="2000" dirty="0">
                    <a:latin typeface="宋体" panose="02010600030101010101" pitchFamily="2" charset="-122"/>
                    <a:ea typeface="宋体" panose="02010600030101010101" pitchFamily="2" charset="-122"/>
                  </a:rPr>
                  <a:t>min⁡{</a:t>
                </a:r>
                <a:r>
                  <a:rPr lang="zh-CN" altLang="en-US" sz="2000" dirty="0">
                    <a:latin typeface="宋体" panose="02010600030101010101" pitchFamily="2" charset="-122"/>
                    <a:ea typeface="宋体" panose="02010600030101010101" pitchFamily="2" charset="-122"/>
                  </a:rPr>
                  <a:t>𝑡</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𝑞</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个不同的字母（对应明文中也含有</a:t>
                </a:r>
                <a:r>
                  <a:rPr lang="en-US" altLang="zh-CN" sz="2000" dirty="0">
                    <a:latin typeface="宋体" panose="02010600030101010101" pitchFamily="2" charset="-122"/>
                    <a:ea typeface="宋体" panose="02010600030101010101" pitchFamily="2" charset="-122"/>
                  </a:rPr>
                  <a:t>min⁡{</a:t>
                </a:r>
                <a:r>
                  <a:rPr lang="zh-CN" altLang="en-US" sz="2000" dirty="0">
                    <a:latin typeface="宋体" panose="02010600030101010101" pitchFamily="2" charset="-122"/>
                    <a:ea typeface="宋体" panose="02010600030101010101" pitchFamily="2" charset="-122"/>
                  </a:rPr>
                  <a:t>𝑡</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𝑞</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个不同的字母），则密钥</a:t>
                </a:r>
                <a:r>
                  <a:rPr lang="en-US" altLang="zh-CN" sz="2000" dirty="0">
                    <a:latin typeface="宋体" panose="02010600030101010101" pitchFamily="2" charset="-122"/>
                    <a:ea typeface="宋体" panose="02010600030101010101" pitchFamily="2" charset="-122"/>
                  </a:rPr>
                  <a:t>[k</a:t>
                </a:r>
                <a:r>
                  <a:rPr lang="en-US" altLang="zh-CN" sz="2000" baseline="-25000" dirty="0">
                    <a:latin typeface="宋体" panose="02010600030101010101" pitchFamily="2" charset="-122"/>
                    <a:ea typeface="宋体" panose="02010600030101010101" pitchFamily="2" charset="-122"/>
                  </a:rPr>
                  <a:t>0</a:t>
                </a:r>
                <a:r>
                  <a:rPr lang="en-US" altLang="zh-CN" sz="2000" dirty="0">
                    <a:latin typeface="宋体" panose="02010600030101010101" pitchFamily="2" charset="-122"/>
                    <a:ea typeface="宋体" panose="02010600030101010101" pitchFamily="2" charset="-122"/>
                  </a:rPr>
                  <a:t>,… k</a:t>
                </a:r>
                <a:r>
                  <a:rPr lang="en-US" altLang="zh-CN" sz="2000" baseline="-25000" dirty="0">
                    <a:latin typeface="宋体" panose="02010600030101010101" pitchFamily="2" charset="-122"/>
                    <a:ea typeface="宋体" panose="02010600030101010101" pitchFamily="2" charset="-122"/>
                  </a:rPr>
                  <a:t>t</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被确定。</a:t>
                </a:r>
              </a:p>
              <a:p>
                <a:pPr marL="0" indent="0">
                  <a:lnSpc>
                    <a:spcPct val="100000"/>
                  </a:lnSpc>
                  <a:buNone/>
                </a:pPr>
                <a:endParaRPr lang="en-US" altLang="zh-CN" sz="2000" dirty="0">
                  <a:latin typeface="宋体" panose="02010600030101010101" pitchFamily="2" charset="-122"/>
                  <a:ea typeface="宋体" panose="02010600030101010101" pitchFamily="2" charset="-122"/>
                </a:endParaRPr>
              </a:p>
            </p:txBody>
          </p:sp>
        </mc:Choice>
        <mc:Fallback>
          <p:sp>
            <p:nvSpPr>
              <p:cNvPr id="8" name="内容占位符 2">
                <a:extLst>
                  <a:ext uri="{FF2B5EF4-FFF2-40B4-BE49-F238E27FC236}">
                    <a16:creationId xmlns:a16="http://schemas.microsoft.com/office/drawing/2014/main" id="{923455FC-A2CD-6DD9-AD51-C7526C8F9719}"/>
                  </a:ext>
                </a:extLst>
              </p:cNvPr>
              <p:cNvSpPr txBox="1">
                <a:spLocks noRot="1" noChangeAspect="1" noMove="1" noResize="1" noEditPoints="1" noAdjustHandles="1" noChangeArrowheads="1" noChangeShapeType="1" noTextEdit="1"/>
              </p:cNvSpPr>
              <p:nvPr/>
            </p:nvSpPr>
            <p:spPr>
              <a:xfrm>
                <a:off x="845820" y="921662"/>
                <a:ext cx="10856185" cy="5491599"/>
              </a:xfrm>
              <a:prstGeom prst="rect">
                <a:avLst/>
              </a:prstGeom>
              <a:blipFill>
                <a:blip r:embed="rId3"/>
                <a:stretch>
                  <a:fillRect l="-898" t="-888" r="-16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8473396-D5A5-6C14-6335-6391841C5299}"/>
                  </a:ext>
                </a:extLst>
              </p:cNvPr>
              <p:cNvSpPr txBox="1"/>
              <p:nvPr/>
            </p:nvSpPr>
            <p:spPr>
              <a:xfrm>
                <a:off x="2071274" y="5936338"/>
                <a:ext cx="8943317" cy="400110"/>
              </a:xfrm>
              <a:prstGeom prst="rect">
                <a:avLst/>
              </a:prstGeom>
              <a:noFill/>
            </p:spPr>
            <p:txBody>
              <a:bodyPr wrap="square">
                <a:spAutoFit/>
              </a:bodyPr>
              <a:lstStyle/>
              <a:p>
                <a:r>
                  <a:rPr lang="zh-CN" altLang="en-US" sz="2000" dirty="0">
                    <a:latin typeface="宋体" panose="02010600030101010101" pitchFamily="2" charset="-122"/>
                    <a:ea typeface="宋体" panose="02010600030101010101" pitchFamily="2" charset="-122"/>
                  </a:rPr>
                  <a:t>综上所述，只要密文中含有至多</a:t>
                </a:r>
                <a14:m>
                  <m:oMath xmlns:m="http://schemas.openxmlformats.org/officeDocument/2006/math">
                    <m:r>
                      <a:rPr lang="en-US" altLang="zh-CN" sz="2000" i="1" dirty="0">
                        <a:latin typeface="Cambria Math" panose="02040503050406030204" pitchFamily="18" charset="0"/>
                        <a:ea typeface="宋体" panose="02010600030101010101" pitchFamily="2" charset="-122"/>
                      </a:rPr>
                      <m:t>𝑞</m:t>
                    </m:r>
                  </m:oMath>
                </a14:m>
                <a:r>
                  <a:rPr lang="zh-CN" altLang="en-US" sz="2000" dirty="0">
                    <a:latin typeface="宋体" panose="02010600030101010101" pitchFamily="2" charset="-122"/>
                    <a:ea typeface="宋体" panose="02010600030101010101" pitchFamily="2" charset="-122"/>
                  </a:rPr>
                  <a:t>个不同的字母，单表代换密码就被攻破了。</a:t>
                </a:r>
              </a:p>
            </p:txBody>
          </p:sp>
        </mc:Choice>
        <mc:Fallback xmlns="">
          <p:sp>
            <p:nvSpPr>
              <p:cNvPr id="10" name="文本框 9">
                <a:extLst>
                  <a:ext uri="{FF2B5EF4-FFF2-40B4-BE49-F238E27FC236}">
                    <a16:creationId xmlns:a16="http://schemas.microsoft.com/office/drawing/2014/main" id="{C8473396-D5A5-6C14-6335-6391841C5299}"/>
                  </a:ext>
                </a:extLst>
              </p:cNvPr>
              <p:cNvSpPr txBox="1">
                <a:spLocks noRot="1" noChangeAspect="1" noMove="1" noResize="1" noEditPoints="1" noAdjustHandles="1" noChangeArrowheads="1" noChangeShapeType="1" noTextEdit="1"/>
              </p:cNvSpPr>
              <p:nvPr/>
            </p:nvSpPr>
            <p:spPr>
              <a:xfrm>
                <a:off x="2071274" y="5936338"/>
                <a:ext cx="8943317" cy="400110"/>
              </a:xfrm>
              <a:prstGeom prst="rect">
                <a:avLst/>
              </a:prstGeom>
              <a:blipFill>
                <a:blip r:embed="rId4"/>
                <a:stretch>
                  <a:fillRect l="-750" t="-12308" b="-246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0104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nodePh="1">
                                  <p:stCondLst>
                                    <p:cond delay="0"/>
                                  </p:stCondLst>
                                  <p:endCondLst>
                                    <p:cond evt="begin" delay="0">
                                      <p:tn val="17"/>
                                    </p:cond>
                                  </p:end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 calcmode="lin" valueType="num">
                                      <p:cBhvr additive="base">
                                        <p:cTn id="2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 calcmode="lin" valueType="num">
                                      <p:cBhvr additive="base">
                                        <p:cTn id="3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 calcmode="lin" valueType="num">
                                      <p:cBhvr additive="base">
                                        <p:cTn id="3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anim calcmode="lin" valueType="num">
                                      <p:cBhvr additive="base">
                                        <p:cTn id="4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 calcmode="lin" valueType="num">
                                      <p:cBhvr additive="base">
                                        <p:cTn id="4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animEffect transition="in" filter="wipe(down)">
                                      <p:cBhvr>
                                        <p:cTn id="5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多表代换密码</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667D258-2CC0-A139-6538-36396DC414CD}"/>
                  </a:ext>
                </a:extLst>
              </p:cNvPr>
              <p:cNvSpPr txBox="1">
                <a:spLocks/>
              </p:cNvSpPr>
              <p:nvPr/>
            </p:nvSpPr>
            <p:spPr>
              <a:xfrm>
                <a:off x="643736" y="2016080"/>
                <a:ext cx="11423309" cy="4351339"/>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多表代换密码是字母表</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i="1">
                            <a:latin typeface="Cambria Math" panose="02040503050406030204" pitchFamily="18" charset="0"/>
                          </a:rPr>
                          <m:t>𝑞</m:t>
                        </m:r>
                      </m:sub>
                    </m:sSub>
                    <m:r>
                      <a:rPr lang="en-US" altLang="zh-CN" sz="2400" i="1">
                        <a:latin typeface="Cambria Math" panose="02040503050406030204" pitchFamily="18" charset="0"/>
                      </a:rPr>
                      <m:t>={0,1,…,</m:t>
                    </m:r>
                    <m:r>
                      <a:rPr lang="en-US" altLang="zh-CN" sz="2400" i="1">
                        <a:latin typeface="Cambria Math" panose="02040503050406030204" pitchFamily="18" charset="0"/>
                      </a:rPr>
                      <m:t>𝑞</m:t>
                    </m:r>
                    <m:r>
                      <a:rPr lang="en-US" altLang="zh-CN" sz="2400" i="1">
                        <a:latin typeface="Cambria Math" panose="02040503050406030204" pitchFamily="18" charset="0"/>
                      </a:rPr>
                      <m:t>−1}</m:t>
                    </m:r>
                  </m:oMath>
                </a14:m>
                <a:r>
                  <a:rPr lang="zh-CN" altLang="en-US" sz="2400" dirty="0">
                    <a:latin typeface="宋体" panose="02010600030101010101" pitchFamily="2" charset="-122"/>
                    <a:ea typeface="宋体" panose="02010600030101010101" pitchFamily="2" charset="-122"/>
                  </a:rPr>
                  <a:t>到自身的</a:t>
                </a:r>
                <a14:m>
                  <m:oMath xmlns:m="http://schemas.openxmlformats.org/officeDocument/2006/math">
                    <m:r>
                      <a:rPr lang="en-US" altLang="zh-CN" sz="2400" i="1" dirty="0">
                        <a:latin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rPr>
                  <a:t>个可逆映射</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𝑑</m:t>
                        </m:r>
                        <m:r>
                          <a:rPr lang="en-US" altLang="zh-CN" sz="2400" i="1">
                            <a:latin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rPr>
                  <a:t>，在加密时循环使用。</a:t>
                </a:r>
                <a:endParaRPr lang="en-US" altLang="zh-CN" sz="2400" dirty="0">
                  <a:latin typeface="宋体" panose="02010600030101010101" pitchFamily="2" charset="-122"/>
                  <a:ea typeface="宋体" panose="02010600030101010101" pitchFamily="2" charset="-122"/>
                </a:endParaRP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令明文</a:t>
                </a:r>
                <a14:m>
                  <m:oMath xmlns:m="http://schemas.openxmlformats.org/officeDocument/2006/math">
                    <m:r>
                      <a:rPr lang="en-US" altLang="zh-CN" sz="2400" b="1" i="1">
                        <a:latin typeface="Cambria Math" panose="02040503050406030204" pitchFamily="18" charset="0"/>
                      </a:rPr>
                      <m:t>𝒎</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0</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则相应的密文为：</a:t>
                </a:r>
                <a:endParaRPr lang="en-US" altLang="zh-CN" sz="2400" dirty="0">
                  <a:latin typeface="宋体" panose="02010600030101010101" pitchFamily="2" charset="-122"/>
                  <a:ea typeface="宋体" panose="02010600030101010101" pitchFamily="2" charset="-122"/>
                </a:endParaRPr>
              </a:p>
              <a:p>
                <a:pPr marL="0" indent="-683934">
                  <a:lnSpc>
                    <a:spcPct val="100000"/>
                  </a:lnSpc>
                  <a:buClr>
                    <a:schemeClr val="accent1">
                      <a:lumMod val="75000"/>
                    </a:schemeClr>
                  </a:buClr>
                  <a:buSzPct val="60000"/>
                  <a:buNone/>
                </a:pPr>
                <a:r>
                  <a:rPr lang="en-US" altLang="zh-CN" sz="2400" b="1" dirty="0">
                    <a:latin typeface="宋体" panose="02010600030101010101" pitchFamily="2" charset="-122"/>
                    <a:ea typeface="宋体" panose="02010600030101010101" pitchFamily="2" charset="-122"/>
                  </a:rPr>
                  <a:t>   </a:t>
                </a:r>
                <a14:m>
                  <m:oMath xmlns:m="http://schemas.openxmlformats.org/officeDocument/2006/math">
                    <m:r>
                      <a:rPr lang="en-US" altLang="zh-CN" sz="2400" b="1" i="1">
                        <a:latin typeface="Cambria Math" panose="02040503050406030204" pitchFamily="18" charset="0"/>
                      </a:rPr>
                      <m:t>𝒄</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0</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𝑑</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𝑑</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𝑑</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𝑑</m:t>
                        </m:r>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m:t>
                    </m:r>
                  </m:oMath>
                </a14:m>
                <a:endParaRPr lang="en-US" altLang="zh-CN" sz="2400" dirty="0">
                  <a:latin typeface="宋体" panose="02010600030101010101" pitchFamily="2" charset="-122"/>
                  <a:ea typeface="宋体" panose="02010600030101010101" pitchFamily="2" charset="-122"/>
                </a:endParaRPr>
              </a:p>
            </p:txBody>
          </p:sp>
        </mc:Choice>
        <mc:Fallback xmlns="">
          <p:sp>
            <p:nvSpPr>
              <p:cNvPr id="6" name="内容占位符 2">
                <a:extLst>
                  <a:ext uri="{FF2B5EF4-FFF2-40B4-BE49-F238E27FC236}">
                    <a16:creationId xmlns:a16="http://schemas.microsoft.com/office/drawing/2014/main" id="{3667D258-2CC0-A139-6538-36396DC414CD}"/>
                  </a:ext>
                </a:extLst>
              </p:cNvPr>
              <p:cNvSpPr txBox="1">
                <a:spLocks noRot="1" noChangeAspect="1" noMove="1" noResize="1" noEditPoints="1" noAdjustHandles="1" noChangeArrowheads="1" noChangeShapeType="1" noTextEdit="1"/>
              </p:cNvSpPr>
              <p:nvPr/>
            </p:nvSpPr>
            <p:spPr>
              <a:xfrm>
                <a:off x="643736" y="2016080"/>
                <a:ext cx="11423309" cy="4351339"/>
              </a:xfrm>
              <a:prstGeom prst="rect">
                <a:avLst/>
              </a:prstGeom>
              <a:blipFill>
                <a:blip r:embed="rId3"/>
                <a:stretch>
                  <a:fillRect l="-107" t="-15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626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多表代换密码</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50D9BAC2-AD99-F33E-B702-DDF1FC06CDE3}"/>
                  </a:ext>
                </a:extLst>
              </p:cNvPr>
              <p:cNvSpPr txBox="1">
                <a:spLocks/>
              </p:cNvSpPr>
              <p:nvPr/>
            </p:nvSpPr>
            <p:spPr>
              <a:xfrm>
                <a:off x="1901429" y="935129"/>
                <a:ext cx="9376451" cy="4351339"/>
              </a:xfrm>
              <a:prstGeom prst="rect">
                <a:avLst/>
              </a:prstGeom>
            </p:spPr>
            <p:txBody>
              <a:bodyPr>
                <a:norm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维吉尼亚密码</a:t>
                </a:r>
                <a:endParaRPr lang="en-US" altLang="zh-CN" b="1" dirty="0">
                  <a:latin typeface="宋体" panose="02010600030101010101" pitchFamily="2" charset="-122"/>
                  <a:ea typeface="宋体" panose="02010600030101010101" pitchFamily="2" charset="-122"/>
                </a:endParaRPr>
              </a:p>
              <a:p>
                <a:pPr marL="0" indent="0">
                  <a:lnSpc>
                    <a:spcPct val="100000"/>
                  </a:lnSpc>
                  <a:buNone/>
                </a:pPr>
                <a:r>
                  <a:rPr lang="zh-CN" altLang="en-US" sz="2200" dirty="0">
                    <a:latin typeface="宋体" panose="02010600030101010101" pitchFamily="2" charset="-122"/>
                    <a:ea typeface="宋体" panose="02010600030101010101" pitchFamily="2" charset="-122"/>
                  </a:rPr>
                  <a:t>可逆映射</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𝑓</m:t>
                        </m:r>
                      </m:e>
                      <m:sub>
                        <m:r>
                          <a:rPr lang="en-US" altLang="zh-CN" sz="2200" i="1">
                            <a:latin typeface="Cambria Math" panose="02040503050406030204" pitchFamily="18" charset="0"/>
                            <a:ea typeface="宋体" panose="02010600030101010101" pitchFamily="2" charset="-122"/>
                          </a:rPr>
                          <m:t>0</m:t>
                        </m:r>
                      </m:sub>
                    </m:sSub>
                    <m:r>
                      <a:rPr lang="en-US" altLang="zh-CN" sz="2200" i="1">
                        <a:latin typeface="Cambria Math" panose="02040503050406030204" pitchFamily="18" charset="0"/>
                        <a:ea typeface="宋体" panose="02010600030101010101" pitchFamily="2" charset="-122"/>
                      </a:rPr>
                      <m:t>,</m:t>
                    </m:r>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𝑓</m:t>
                        </m:r>
                      </m:e>
                      <m:sub>
                        <m:r>
                          <a:rPr lang="en-US" altLang="zh-CN" sz="2200" i="1">
                            <a:latin typeface="Cambria Math" panose="02040503050406030204" pitchFamily="18" charset="0"/>
                            <a:ea typeface="宋体" panose="02010600030101010101" pitchFamily="2" charset="-122"/>
                          </a:rPr>
                          <m:t>1</m:t>
                        </m:r>
                      </m:sub>
                    </m:sSub>
                    <m:r>
                      <a:rPr lang="en-US" altLang="zh-CN" sz="2200" i="1">
                        <a:latin typeface="Cambria Math" panose="02040503050406030204" pitchFamily="18" charset="0"/>
                        <a:ea typeface="宋体" panose="02010600030101010101" pitchFamily="2" charset="-122"/>
                      </a:rPr>
                      <m:t>,…,</m:t>
                    </m:r>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𝑓</m:t>
                        </m:r>
                      </m:e>
                      <m:sub>
                        <m:r>
                          <a:rPr lang="en-US" altLang="zh-CN" sz="2200" i="1">
                            <a:latin typeface="Cambria Math" panose="02040503050406030204" pitchFamily="18" charset="0"/>
                            <a:ea typeface="宋体" panose="02010600030101010101" pitchFamily="2" charset="-122"/>
                          </a:rPr>
                          <m:t>𝑑</m:t>
                        </m:r>
                        <m:r>
                          <a:rPr lang="en-US" altLang="zh-CN" sz="2200" i="1">
                            <a:latin typeface="Cambria Math" panose="02040503050406030204" pitchFamily="18" charset="0"/>
                            <a:ea typeface="宋体" panose="02010600030101010101" pitchFamily="2" charset="-122"/>
                          </a:rPr>
                          <m:t>−1</m:t>
                        </m:r>
                      </m:sub>
                    </m:sSub>
                  </m:oMath>
                </a14:m>
                <a:r>
                  <a:rPr lang="zh-CN" altLang="en-US" sz="2200" dirty="0">
                    <a:latin typeface="宋体" panose="02010600030101010101" pitchFamily="2" charset="-122"/>
                    <a:ea typeface="宋体" panose="02010600030101010101" pitchFamily="2" charset="-122"/>
                  </a:rPr>
                  <a:t>都是移位代换密码，分别使用密钥</a:t>
                </a:r>
                <a14:m>
                  <m:oMath xmlns:m="http://schemas.openxmlformats.org/officeDocument/2006/math">
                    <m:r>
                      <a:rPr lang="en-US" altLang="zh-CN" sz="2200" i="1" dirty="0">
                        <a:latin typeface="Cambria Math" panose="02040503050406030204" pitchFamily="18" charset="0"/>
                        <a:ea typeface="宋体" panose="02010600030101010101" pitchFamily="2" charset="-122"/>
                      </a:rPr>
                      <m:t>(</m:t>
                    </m:r>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𝑘</m:t>
                        </m:r>
                      </m:e>
                      <m:sub>
                        <m:r>
                          <a:rPr lang="en-US" altLang="zh-CN" sz="2200" i="1">
                            <a:latin typeface="Cambria Math" panose="02040503050406030204" pitchFamily="18" charset="0"/>
                            <a:ea typeface="宋体" panose="02010600030101010101" pitchFamily="2" charset="-122"/>
                          </a:rPr>
                          <m:t>0</m:t>
                        </m:r>
                      </m:sub>
                    </m:sSub>
                    <m:r>
                      <a:rPr lang="en-US" altLang="zh-CN" sz="2200" i="1">
                        <a:latin typeface="Cambria Math" panose="02040503050406030204" pitchFamily="18" charset="0"/>
                        <a:ea typeface="宋体" panose="02010600030101010101" pitchFamily="2" charset="-122"/>
                      </a:rPr>
                      <m:t>,</m:t>
                    </m:r>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𝑘</m:t>
                        </m:r>
                      </m:e>
                      <m:sub>
                        <m:r>
                          <a:rPr lang="en-US" altLang="zh-CN" sz="2200" i="1">
                            <a:latin typeface="Cambria Math" panose="02040503050406030204" pitchFamily="18" charset="0"/>
                            <a:ea typeface="宋体" panose="02010600030101010101" pitchFamily="2" charset="-122"/>
                          </a:rPr>
                          <m:t>1</m:t>
                        </m:r>
                      </m:sub>
                    </m:sSub>
                    <m:r>
                      <a:rPr lang="en-US" altLang="zh-CN" sz="2200" i="1">
                        <a:latin typeface="Cambria Math" panose="02040503050406030204" pitchFamily="18" charset="0"/>
                        <a:ea typeface="宋体" panose="02010600030101010101" pitchFamily="2" charset="-122"/>
                      </a:rPr>
                      <m:t>,…,</m:t>
                    </m:r>
                    <m:sSub>
                      <m:sSubPr>
                        <m:ctrlPr>
                          <a:rPr lang="en-US" altLang="zh-CN" sz="2200" i="1">
                            <a:latin typeface="Cambria Math" panose="02040503050406030204" pitchFamily="18" charset="0"/>
                            <a:ea typeface="宋体" panose="02010600030101010101" pitchFamily="2" charset="-122"/>
                          </a:rPr>
                        </m:ctrlPr>
                      </m:sSubPr>
                      <m:e>
                        <m:r>
                          <a:rPr lang="en-US" altLang="zh-CN" sz="2200" i="1">
                            <a:latin typeface="Cambria Math" panose="02040503050406030204" pitchFamily="18" charset="0"/>
                            <a:ea typeface="宋体" panose="02010600030101010101" pitchFamily="2" charset="-122"/>
                          </a:rPr>
                          <m:t>𝑘</m:t>
                        </m:r>
                      </m:e>
                      <m:sub>
                        <m:r>
                          <a:rPr lang="en-US" altLang="zh-CN" sz="2200" i="1">
                            <a:latin typeface="Cambria Math" panose="02040503050406030204" pitchFamily="18" charset="0"/>
                            <a:ea typeface="宋体" panose="02010600030101010101" pitchFamily="2" charset="-122"/>
                          </a:rPr>
                          <m:t>𝑑</m:t>
                        </m:r>
                        <m:r>
                          <a:rPr lang="en-US" altLang="zh-CN" sz="2200" i="1">
                            <a:latin typeface="Cambria Math" panose="02040503050406030204" pitchFamily="18" charset="0"/>
                            <a:ea typeface="宋体" panose="02010600030101010101" pitchFamily="2" charset="-122"/>
                          </a:rPr>
                          <m:t>−1</m:t>
                        </m:r>
                      </m:sub>
                    </m:sSub>
                    <m:r>
                      <a:rPr lang="en-US" altLang="zh-CN" sz="2200" i="1">
                        <a:latin typeface="Cambria Math" panose="02040503050406030204" pitchFamily="18" charset="0"/>
                        <a:ea typeface="宋体" panose="02010600030101010101" pitchFamily="2" charset="-122"/>
                      </a:rPr>
                      <m:t>) </m:t>
                    </m:r>
                  </m:oMath>
                </a14:m>
                <a:r>
                  <a:rPr lang="zh-CN" altLang="en-US" sz="2200" dirty="0">
                    <a:latin typeface="宋体" panose="02010600030101010101" pitchFamily="2" charset="-122"/>
                    <a:ea typeface="宋体" panose="02010600030101010101" pitchFamily="2" charset="-122"/>
                  </a:rPr>
                  <a:t>。令明文</a:t>
                </a:r>
                <a14:m>
                  <m:oMath xmlns:m="http://schemas.openxmlformats.org/officeDocument/2006/math">
                    <m:r>
                      <a:rPr lang="en-US" altLang="zh-CN" sz="2200" b="1" i="1">
                        <a:latin typeface="Cambria Math" panose="02040503050406030204" pitchFamily="18" charset="0"/>
                      </a:rPr>
                      <m:t>𝒎</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0</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oMath>
                </a14:m>
                <a:r>
                  <a:rPr lang="zh-CN" altLang="en-US" sz="2200" dirty="0">
                    <a:latin typeface="宋体" panose="02010600030101010101" pitchFamily="2" charset="-122"/>
                    <a:ea typeface="宋体" panose="02010600030101010101" pitchFamily="2" charset="-122"/>
                  </a:rPr>
                  <a:t>则相应密文为</a:t>
                </a:r>
                <a14:m>
                  <m:oMath xmlns:m="http://schemas.openxmlformats.org/officeDocument/2006/math">
                    <m:r>
                      <a:rPr lang="en-US" altLang="zh-CN" sz="2200" b="1" i="1">
                        <a:latin typeface="Cambria Math" panose="02040503050406030204" pitchFamily="18" charset="0"/>
                      </a:rPr>
                      <m:t>𝒄</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𝑐</m:t>
                        </m:r>
                      </m:e>
                      <m:sub>
                        <m:r>
                          <a:rPr lang="en-US" altLang="zh-CN" sz="2200" i="1">
                            <a:latin typeface="Cambria Math" panose="02040503050406030204" pitchFamily="18" charset="0"/>
                          </a:rPr>
                          <m:t>0</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𝑐</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0</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𝑘</m:t>
                            </m:r>
                          </m:e>
                          <m:sub>
                            <m:r>
                              <a:rPr lang="en-US" altLang="zh-CN" sz="2200" i="1">
                                <a:latin typeface="Cambria Math" panose="02040503050406030204" pitchFamily="18" charset="0"/>
                              </a:rPr>
                              <m:t>0</m:t>
                            </m:r>
                          </m:sub>
                        </m:sSub>
                        <m:r>
                          <a:rPr lang="en-US" altLang="zh-CN" sz="2200" i="1">
                            <a:latin typeface="Cambria Math" panose="02040503050406030204" pitchFamily="18" charset="0"/>
                          </a:rPr>
                          <m:t> </m:t>
                        </m:r>
                        <m:r>
                          <a:rPr lang="en-US" altLang="zh-CN" sz="2200" i="1">
                            <a:latin typeface="Cambria Math" panose="02040503050406030204" pitchFamily="18" charset="0"/>
                          </a:rPr>
                          <m:t>𝑚𝑜𝑑</m:t>
                        </m:r>
                        <m:r>
                          <a:rPr lang="en-US" altLang="zh-CN" sz="2200" i="1">
                            <a:latin typeface="Cambria Math" panose="02040503050406030204" pitchFamily="18" charset="0"/>
                          </a:rPr>
                          <m:t> </m:t>
                        </m:r>
                        <m:r>
                          <a:rPr lang="en-US" altLang="zh-CN" sz="2200" i="1">
                            <a:latin typeface="Cambria Math" panose="02040503050406030204" pitchFamily="18" charset="0"/>
                          </a:rPr>
                          <m:t>𝑞</m:t>
                        </m:r>
                      </m:e>
                    </m:d>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𝑘</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 </m:t>
                        </m:r>
                        <m:r>
                          <a:rPr lang="en-US" altLang="zh-CN" sz="2200" i="1">
                            <a:latin typeface="Cambria Math" panose="02040503050406030204" pitchFamily="18" charset="0"/>
                          </a:rPr>
                          <m:t>𝑚𝑜𝑑</m:t>
                        </m:r>
                        <m:r>
                          <a:rPr lang="en-US" altLang="zh-CN" sz="2200" i="1">
                            <a:latin typeface="Cambria Math" panose="02040503050406030204" pitchFamily="18" charset="0"/>
                          </a:rPr>
                          <m:t> </m:t>
                        </m:r>
                        <m:r>
                          <a:rPr lang="en-US" altLang="zh-CN" sz="2200" i="1">
                            <a:latin typeface="Cambria Math" panose="02040503050406030204" pitchFamily="18" charset="0"/>
                          </a:rPr>
                          <m:t>𝑞</m:t>
                        </m:r>
                      </m:e>
                    </m:d>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𝑑</m:t>
                        </m:r>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𝑘</m:t>
                        </m:r>
                      </m:e>
                      <m:sub>
                        <m:r>
                          <a:rPr lang="en-US" altLang="zh-CN" sz="2200" i="1">
                            <a:latin typeface="Cambria Math" panose="02040503050406030204" pitchFamily="18" charset="0"/>
                          </a:rPr>
                          <m:t>𝑑</m:t>
                        </m:r>
                        <m:r>
                          <a:rPr lang="en-US" altLang="zh-CN" sz="2200" i="1">
                            <a:latin typeface="Cambria Math" panose="02040503050406030204" pitchFamily="18" charset="0"/>
                          </a:rPr>
                          <m:t>−1</m:t>
                        </m:r>
                      </m:sub>
                    </m:sSub>
                    <m:r>
                      <a:rPr lang="en-US" altLang="zh-CN" sz="2200" i="1">
                        <a:latin typeface="Cambria Math" panose="02040503050406030204" pitchFamily="18" charset="0"/>
                      </a:rPr>
                      <m:t> </m:t>
                    </m:r>
                    <m:r>
                      <a:rPr lang="en-US" altLang="zh-CN" sz="2200" i="1">
                        <a:latin typeface="Cambria Math" panose="02040503050406030204" pitchFamily="18" charset="0"/>
                      </a:rPr>
                      <m:t>𝑚𝑜𝑑</m:t>
                    </m:r>
                    <m:r>
                      <a:rPr lang="en-US" altLang="zh-CN" sz="2200" i="1">
                        <a:latin typeface="Cambria Math" panose="02040503050406030204" pitchFamily="18" charset="0"/>
                      </a:rPr>
                      <m:t> </m:t>
                    </m:r>
                    <m:r>
                      <a:rPr lang="en-US" altLang="zh-CN" sz="2200" i="1">
                        <a:latin typeface="Cambria Math" panose="02040503050406030204" pitchFamily="18" charset="0"/>
                      </a:rPr>
                      <m:t>𝑞</m:t>
                    </m:r>
                    <m:r>
                      <a:rPr lang="en-US" altLang="zh-CN" sz="2200" i="1">
                        <a:latin typeface="Cambria Math" panose="02040503050406030204" pitchFamily="18" charset="0"/>
                      </a:rPr>
                      <m:t>)</m:t>
                    </m:r>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𝑑</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𝑘</m:t>
                            </m:r>
                          </m:e>
                          <m:sub>
                            <m:r>
                              <a:rPr lang="en-US" altLang="zh-CN" sz="2200" i="1">
                                <a:latin typeface="Cambria Math" panose="02040503050406030204" pitchFamily="18" charset="0"/>
                              </a:rPr>
                              <m:t>0</m:t>
                            </m:r>
                          </m:sub>
                        </m:sSub>
                        <m:r>
                          <a:rPr lang="en-US" altLang="zh-CN" sz="2200" i="1">
                            <a:latin typeface="Cambria Math" panose="02040503050406030204" pitchFamily="18" charset="0"/>
                          </a:rPr>
                          <m:t> </m:t>
                        </m:r>
                        <m:r>
                          <a:rPr lang="en-US" altLang="zh-CN" sz="2200" i="1">
                            <a:latin typeface="Cambria Math" panose="02040503050406030204" pitchFamily="18" charset="0"/>
                          </a:rPr>
                          <m:t>𝑚𝑜𝑑</m:t>
                        </m:r>
                        <m:r>
                          <a:rPr lang="en-US" altLang="zh-CN" sz="2200" i="1">
                            <a:latin typeface="Cambria Math" panose="02040503050406030204" pitchFamily="18" charset="0"/>
                          </a:rPr>
                          <m:t> </m:t>
                        </m:r>
                        <m:r>
                          <a:rPr lang="en-US" altLang="zh-CN" sz="2200" i="1">
                            <a:latin typeface="Cambria Math" panose="02040503050406030204" pitchFamily="18" charset="0"/>
                          </a:rPr>
                          <m:t>𝑞</m:t>
                        </m:r>
                      </m:e>
                    </m:d>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𝑚</m:t>
                            </m:r>
                          </m:e>
                          <m:sub>
                            <m:r>
                              <a:rPr lang="en-US" altLang="zh-CN" sz="2200" i="1">
                                <a:latin typeface="Cambria Math" panose="02040503050406030204" pitchFamily="18" charset="0"/>
                              </a:rPr>
                              <m:t>𝑑</m:t>
                            </m:r>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𝑘</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 </m:t>
                        </m:r>
                        <m:r>
                          <a:rPr lang="en-US" altLang="zh-CN" sz="2200" i="1">
                            <a:latin typeface="Cambria Math" panose="02040503050406030204" pitchFamily="18" charset="0"/>
                          </a:rPr>
                          <m:t>𝑚𝑜𝑑</m:t>
                        </m:r>
                        <m:r>
                          <a:rPr lang="en-US" altLang="zh-CN" sz="2200" i="1">
                            <a:latin typeface="Cambria Math" panose="02040503050406030204" pitchFamily="18" charset="0"/>
                          </a:rPr>
                          <m:t> </m:t>
                        </m:r>
                        <m:r>
                          <a:rPr lang="en-US" altLang="zh-CN" sz="2200" i="1">
                            <a:latin typeface="Cambria Math" panose="02040503050406030204" pitchFamily="18" charset="0"/>
                          </a:rPr>
                          <m:t>𝑞</m:t>
                        </m:r>
                      </m:e>
                    </m:d>
                    <m:r>
                      <a:rPr lang="en-US" altLang="zh-CN" sz="2200" i="1">
                        <a:latin typeface="Cambria Math" panose="02040503050406030204" pitchFamily="18" charset="0"/>
                      </a:rPr>
                      <m:t>…</m:t>
                    </m:r>
                  </m:oMath>
                </a14:m>
                <a:endParaRPr lang="en-US" altLang="zh-CN" sz="2200" dirty="0"/>
              </a:p>
            </p:txBody>
          </p:sp>
        </mc:Choice>
        <mc:Fallback xmlns="">
          <p:sp>
            <p:nvSpPr>
              <p:cNvPr id="5" name="内容占位符 2">
                <a:extLst>
                  <a:ext uri="{FF2B5EF4-FFF2-40B4-BE49-F238E27FC236}">
                    <a16:creationId xmlns:a16="http://schemas.microsoft.com/office/drawing/2014/main" id="{50D9BAC2-AD99-F33E-B702-DDF1FC06CDE3}"/>
                  </a:ext>
                </a:extLst>
              </p:cNvPr>
              <p:cNvSpPr txBox="1">
                <a:spLocks noRot="1" noChangeAspect="1" noMove="1" noResize="1" noEditPoints="1" noAdjustHandles="1" noChangeArrowheads="1" noChangeShapeType="1" noTextEdit="1"/>
              </p:cNvSpPr>
              <p:nvPr/>
            </p:nvSpPr>
            <p:spPr>
              <a:xfrm>
                <a:off x="1901429" y="935129"/>
                <a:ext cx="9376451" cy="4351339"/>
              </a:xfrm>
              <a:prstGeom prst="rect">
                <a:avLst/>
              </a:prstGeom>
              <a:blipFill>
                <a:blip r:embed="rId3"/>
                <a:stretch>
                  <a:fillRect l="-1365" t="-1401" r="-455"/>
                </a:stretch>
              </a:blipFill>
            </p:spPr>
            <p:txBody>
              <a:bodyPr/>
              <a:lstStyle/>
              <a:p>
                <a:r>
                  <a:rPr lang="zh-CN" altLang="en-US">
                    <a:noFill/>
                  </a:rPr>
                  <a:t> </a:t>
                </a:r>
              </a:p>
            </p:txBody>
          </p:sp>
        </mc:Fallback>
      </mc:AlternateContent>
      <p:pic>
        <p:nvPicPr>
          <p:cNvPr id="8" name="Picture 4">
            <a:extLst>
              <a:ext uri="{FF2B5EF4-FFF2-40B4-BE49-F238E27FC236}">
                <a16:creationId xmlns:a16="http://schemas.microsoft.com/office/drawing/2014/main" id="{28B2107F-B7A6-D0A1-D0D5-DC310D91A3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1354" y="2844961"/>
            <a:ext cx="5974188" cy="401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701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9"/>
            <a:ext cx="1826141"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课堂作业</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182845" y="872147"/>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p:sp>
        <p:nvSpPr>
          <p:cNvPr id="5" name="Rectangle 9">
            <a:extLst>
              <a:ext uri="{FF2B5EF4-FFF2-40B4-BE49-F238E27FC236}">
                <a16:creationId xmlns:a16="http://schemas.microsoft.com/office/drawing/2014/main" id="{EE4EE01D-1CC8-D2D1-200D-6DFB39390AF5}"/>
              </a:ext>
            </a:extLst>
          </p:cNvPr>
          <p:cNvSpPr>
            <a:spLocks noRot="1" noChangeArrowheads="1"/>
          </p:cNvSpPr>
          <p:nvPr/>
        </p:nvSpPr>
        <p:spPr bwMode="auto">
          <a:xfrm>
            <a:off x="2218398" y="872147"/>
            <a:ext cx="8424863"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buSzPct val="85000"/>
              <a:buFont typeface="Wingdings 2" panose="05020102010507070707" pitchFamily="82" charset="2"/>
              <a:buNone/>
            </a:pPr>
            <a:endParaRPr lang="zh-CN" altLang="en-US" sz="2800" b="1" dirty="0">
              <a:latin typeface="宋体" panose="02010600030101010101" pitchFamily="2" charset="-122"/>
            </a:endParaRPr>
          </a:p>
        </p:txBody>
      </p:sp>
      <p:grpSp>
        <p:nvGrpSpPr>
          <p:cNvPr id="7" name="组合 6">
            <a:extLst>
              <a:ext uri="{FF2B5EF4-FFF2-40B4-BE49-F238E27FC236}">
                <a16:creationId xmlns:a16="http://schemas.microsoft.com/office/drawing/2014/main" id="{FCF50957-271A-CF6F-671E-AB9231A93BDD}"/>
              </a:ext>
            </a:extLst>
          </p:cNvPr>
          <p:cNvGrpSpPr/>
          <p:nvPr/>
        </p:nvGrpSpPr>
        <p:grpSpPr>
          <a:xfrm>
            <a:off x="1855585" y="1172316"/>
            <a:ext cx="8722059" cy="1018563"/>
            <a:chOff x="6184901" y="1943101"/>
            <a:chExt cx="5132387" cy="1704974"/>
          </a:xfrm>
        </p:grpSpPr>
        <p:sp>
          <p:nvSpPr>
            <p:cNvPr id="8" name="矩形 7">
              <a:extLst>
                <a:ext uri="{FF2B5EF4-FFF2-40B4-BE49-F238E27FC236}">
                  <a16:creationId xmlns:a16="http://schemas.microsoft.com/office/drawing/2014/main" id="{E77186AE-C278-6FD8-78B3-517B93396BAB}"/>
                </a:ext>
              </a:extLst>
            </p:cNvPr>
            <p:cNvSpPr/>
            <p:nvPr/>
          </p:nvSpPr>
          <p:spPr>
            <a:xfrm>
              <a:off x="6184901" y="19431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nvGrpSpPr>
            <p:cNvPr id="10" name="组合 9">
              <a:extLst>
                <a:ext uri="{FF2B5EF4-FFF2-40B4-BE49-F238E27FC236}">
                  <a16:creationId xmlns:a16="http://schemas.microsoft.com/office/drawing/2014/main" id="{083A35A2-84B6-1A41-63D4-26D3D8C04BBD}"/>
                </a:ext>
              </a:extLst>
            </p:cNvPr>
            <p:cNvGrpSpPr/>
            <p:nvPr/>
          </p:nvGrpSpPr>
          <p:grpSpPr>
            <a:xfrm>
              <a:off x="6479266" y="2353445"/>
              <a:ext cx="4626598" cy="901135"/>
              <a:chOff x="7393669" y="3390792"/>
              <a:chExt cx="4626598" cy="901135"/>
            </a:xfrm>
          </p:grpSpPr>
          <p:sp>
            <p:nvSpPr>
              <p:cNvPr id="11" name="矩形 10">
                <a:extLst>
                  <a:ext uri="{FF2B5EF4-FFF2-40B4-BE49-F238E27FC236}">
                    <a16:creationId xmlns:a16="http://schemas.microsoft.com/office/drawing/2014/main" id="{DDD6BD2B-F6B7-2DD3-4822-35855B583CBE}"/>
                  </a:ext>
                </a:extLst>
              </p:cNvPr>
              <p:cNvSpPr/>
              <p:nvPr/>
            </p:nvSpPr>
            <p:spPr>
              <a:xfrm>
                <a:off x="7483989" y="3732520"/>
                <a:ext cx="3941252" cy="559407"/>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400" dirty="0">
                  <a:solidFill>
                    <a:srgbClr val="44546A"/>
                  </a:solidFill>
                  <a:cs typeface="+mn-ea"/>
                  <a:sym typeface="+mn-lt"/>
                </a:endParaRPr>
              </a:p>
            </p:txBody>
          </p:sp>
          <p:sp>
            <p:nvSpPr>
              <p:cNvPr id="12" name="矩形 11">
                <a:extLst>
                  <a:ext uri="{FF2B5EF4-FFF2-40B4-BE49-F238E27FC236}">
                    <a16:creationId xmlns:a16="http://schemas.microsoft.com/office/drawing/2014/main" id="{25F958EC-F2A0-D1F0-C2FF-72530472C118}"/>
                  </a:ext>
                </a:extLst>
              </p:cNvPr>
              <p:cNvSpPr/>
              <p:nvPr/>
            </p:nvSpPr>
            <p:spPr>
              <a:xfrm>
                <a:off x="7393669" y="3390792"/>
                <a:ext cx="4626598" cy="772782"/>
              </a:xfrm>
              <a:prstGeom prst="rect">
                <a:avLst/>
              </a:prstGeom>
            </p:spPr>
            <p:txBody>
              <a:bodyPr wrap="square">
                <a:spAutoFit/>
                <a:scene3d>
                  <a:camera prst="orthographicFront"/>
                  <a:lightRig rig="threePt" dir="t"/>
                </a:scene3d>
                <a:sp3d contourW="12700"/>
              </a:bodyPr>
              <a:lstStyle/>
              <a:p>
                <a:pPr algn="ctr" latinLnBrk="1"/>
                <a:endParaRPr lang="zh-CN" altLang="en-US" sz="2400" b="1" dirty="0">
                  <a:solidFill>
                    <a:srgbClr val="44546A"/>
                  </a:solidFill>
                  <a:latin typeface="宋体" panose="02010600030101010101" pitchFamily="2" charset="-122"/>
                  <a:ea typeface="宋体" panose="02010600030101010101" pitchFamily="2" charset="-122"/>
                  <a:cs typeface="+mn-ea"/>
                  <a:sym typeface="+mn-lt"/>
                </a:endParaRPr>
              </a:p>
            </p:txBody>
          </p:sp>
        </p:grpSp>
      </p:grpSp>
      <p:sp>
        <p:nvSpPr>
          <p:cNvPr id="13" name="椭圆 12">
            <a:extLst>
              <a:ext uri="{FF2B5EF4-FFF2-40B4-BE49-F238E27FC236}">
                <a16:creationId xmlns:a16="http://schemas.microsoft.com/office/drawing/2014/main" id="{21AB93FD-8BAB-3F92-70BA-BA40A8983A59}"/>
              </a:ext>
            </a:extLst>
          </p:cNvPr>
          <p:cNvSpPr/>
          <p:nvPr/>
        </p:nvSpPr>
        <p:spPr>
          <a:xfrm>
            <a:off x="1968098" y="1239974"/>
            <a:ext cx="756399" cy="7563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grpSp>
        <p:nvGrpSpPr>
          <p:cNvPr id="14" name="그룹 259">
            <a:extLst>
              <a:ext uri="{FF2B5EF4-FFF2-40B4-BE49-F238E27FC236}">
                <a16:creationId xmlns:a16="http://schemas.microsoft.com/office/drawing/2014/main" id="{2E9FF0F4-440E-949D-8649-B85F317294E0}"/>
              </a:ext>
            </a:extLst>
          </p:cNvPr>
          <p:cNvGrpSpPr/>
          <p:nvPr/>
        </p:nvGrpSpPr>
        <p:grpSpPr>
          <a:xfrm>
            <a:off x="2152781" y="1424854"/>
            <a:ext cx="392240" cy="386639"/>
            <a:chOff x="5451265" y="5564677"/>
            <a:chExt cx="392240" cy="386638"/>
          </a:xfrm>
          <a:solidFill>
            <a:schemeClr val="bg1"/>
          </a:solidFill>
        </p:grpSpPr>
        <p:sp>
          <p:nvSpPr>
            <p:cNvPr id="15" name="자유형: 도형 260">
              <a:extLst>
                <a:ext uri="{FF2B5EF4-FFF2-40B4-BE49-F238E27FC236}">
                  <a16:creationId xmlns:a16="http://schemas.microsoft.com/office/drawing/2014/main" id="{550640BC-F31F-DA37-5881-666FBE54755A}"/>
                </a:ext>
              </a:extLst>
            </p:cNvPr>
            <p:cNvSpPr/>
            <p:nvPr/>
          </p:nvSpPr>
          <p:spPr>
            <a:xfrm>
              <a:off x="5563503" y="5855779"/>
              <a:ext cx="161925" cy="57150"/>
            </a:xfrm>
            <a:custGeom>
              <a:avLst/>
              <a:gdLst>
                <a:gd name="connsiteX0" fmla="*/ 162537 w 161925"/>
                <a:gd name="connsiteY0" fmla="*/ 44100 h 57150"/>
                <a:gd name="connsiteX1" fmla="*/ 151964 w 161925"/>
                <a:gd name="connsiteY1" fmla="*/ 29432 h 57150"/>
                <a:gd name="connsiteX2" fmla="*/ 140820 w 161925"/>
                <a:gd name="connsiteY2" fmla="*/ 29432 h 57150"/>
                <a:gd name="connsiteX3" fmla="*/ 140820 w 161925"/>
                <a:gd name="connsiteY3" fmla="*/ 7144 h 57150"/>
                <a:gd name="connsiteX4" fmla="*/ 29377 w 161925"/>
                <a:gd name="connsiteY4" fmla="*/ 7144 h 57150"/>
                <a:gd name="connsiteX5" fmla="*/ 29377 w 161925"/>
                <a:gd name="connsiteY5" fmla="*/ 29432 h 57150"/>
                <a:gd name="connsiteX6" fmla="*/ 18233 w 161925"/>
                <a:gd name="connsiteY6" fmla="*/ 29432 h 57150"/>
                <a:gd name="connsiteX7" fmla="*/ 7660 w 161925"/>
                <a:gd name="connsiteY7" fmla="*/ 37052 h 57150"/>
                <a:gd name="connsiteX8" fmla="*/ 18233 w 161925"/>
                <a:gd name="connsiteY8" fmla="*/ 51721 h 57150"/>
                <a:gd name="connsiteX9" fmla="*/ 151964 w 161925"/>
                <a:gd name="connsiteY9" fmla="*/ 51721 h 57150"/>
                <a:gd name="connsiteX10" fmla="*/ 162537 w 161925"/>
                <a:gd name="connsiteY10" fmla="*/ 4410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57150">
                  <a:moveTo>
                    <a:pt x="162537" y="44100"/>
                  </a:moveTo>
                  <a:cubicBezTo>
                    <a:pt x="164823" y="36480"/>
                    <a:pt x="159203" y="29432"/>
                    <a:pt x="151964" y="29432"/>
                  </a:cubicBezTo>
                  <a:lnTo>
                    <a:pt x="140820" y="29432"/>
                  </a:lnTo>
                  <a:lnTo>
                    <a:pt x="140820" y="7144"/>
                  </a:lnTo>
                  <a:lnTo>
                    <a:pt x="29377" y="7144"/>
                  </a:lnTo>
                  <a:lnTo>
                    <a:pt x="29377" y="29432"/>
                  </a:lnTo>
                  <a:lnTo>
                    <a:pt x="18233" y="29432"/>
                  </a:lnTo>
                  <a:cubicBezTo>
                    <a:pt x="13471" y="29432"/>
                    <a:pt x="9089" y="32480"/>
                    <a:pt x="7660" y="37052"/>
                  </a:cubicBezTo>
                  <a:cubicBezTo>
                    <a:pt x="5374" y="44672"/>
                    <a:pt x="10994" y="51721"/>
                    <a:pt x="18233" y="51721"/>
                  </a:cubicBezTo>
                  <a:lnTo>
                    <a:pt x="151964" y="51721"/>
                  </a:lnTo>
                  <a:cubicBezTo>
                    <a:pt x="156822" y="51815"/>
                    <a:pt x="161204" y="48768"/>
                    <a:pt x="162537" y="44100"/>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16" name="자유형: 도형 261">
              <a:extLst>
                <a:ext uri="{FF2B5EF4-FFF2-40B4-BE49-F238E27FC236}">
                  <a16:creationId xmlns:a16="http://schemas.microsoft.com/office/drawing/2014/main" id="{919F7E1E-8AC7-9B5E-1BCC-890305CEB5BE}"/>
                </a:ext>
              </a:extLst>
            </p:cNvPr>
            <p:cNvSpPr/>
            <p:nvPr/>
          </p:nvSpPr>
          <p:spPr>
            <a:xfrm>
              <a:off x="5780987" y="5608307"/>
              <a:ext cx="57150" cy="38100"/>
            </a:xfrm>
            <a:custGeom>
              <a:avLst/>
              <a:gdLst>
                <a:gd name="connsiteX0" fmla="*/ 7537 w 57150"/>
                <a:gd name="connsiteY0" fmla="*/ 26968 h 38100"/>
                <a:gd name="connsiteX1" fmla="*/ 21158 w 57150"/>
                <a:gd name="connsiteY1" fmla="*/ 34874 h 38100"/>
                <a:gd name="connsiteX2" fmla="*/ 43447 w 57150"/>
                <a:gd name="connsiteY2" fmla="*/ 29064 h 38100"/>
                <a:gd name="connsiteX3" fmla="*/ 51352 w 57150"/>
                <a:gd name="connsiteY3" fmla="*/ 15443 h 38100"/>
                <a:gd name="connsiteX4" fmla="*/ 37732 w 57150"/>
                <a:gd name="connsiteY4" fmla="*/ 7537 h 38100"/>
                <a:gd name="connsiteX5" fmla="*/ 15443 w 57150"/>
                <a:gd name="connsiteY5" fmla="*/ 13348 h 38100"/>
                <a:gd name="connsiteX6" fmla="*/ 7537 w 57150"/>
                <a:gd name="connsiteY6" fmla="*/ 2696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7537" y="26968"/>
                  </a:moveTo>
                  <a:cubicBezTo>
                    <a:pt x="9157" y="32969"/>
                    <a:pt x="15252" y="36398"/>
                    <a:pt x="21158" y="34874"/>
                  </a:cubicBezTo>
                  <a:lnTo>
                    <a:pt x="43447" y="29064"/>
                  </a:lnTo>
                  <a:cubicBezTo>
                    <a:pt x="49352" y="27444"/>
                    <a:pt x="52876" y="21348"/>
                    <a:pt x="51352" y="15443"/>
                  </a:cubicBezTo>
                  <a:cubicBezTo>
                    <a:pt x="49733" y="9442"/>
                    <a:pt x="43637" y="5918"/>
                    <a:pt x="37732" y="7537"/>
                  </a:cubicBezTo>
                  <a:lnTo>
                    <a:pt x="15443" y="13348"/>
                  </a:lnTo>
                  <a:cubicBezTo>
                    <a:pt x="9442" y="14967"/>
                    <a:pt x="5918" y="21063"/>
                    <a:pt x="7537" y="26968"/>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17" name="자유형: 도형 262">
              <a:extLst>
                <a:ext uri="{FF2B5EF4-FFF2-40B4-BE49-F238E27FC236}">
                  <a16:creationId xmlns:a16="http://schemas.microsoft.com/office/drawing/2014/main" id="{B8D39824-3D9F-A689-BE0C-422AD9F0D04E}"/>
                </a:ext>
              </a:extLst>
            </p:cNvPr>
            <p:cNvSpPr/>
            <p:nvPr/>
          </p:nvSpPr>
          <p:spPr>
            <a:xfrm>
              <a:off x="5457271" y="5739466"/>
              <a:ext cx="57150" cy="38100"/>
            </a:xfrm>
            <a:custGeom>
              <a:avLst/>
              <a:gdLst>
                <a:gd name="connsiteX0" fmla="*/ 37693 w 57150"/>
                <a:gd name="connsiteY0" fmla="*/ 7537 h 38100"/>
                <a:gd name="connsiteX1" fmla="*/ 15404 w 57150"/>
                <a:gd name="connsiteY1" fmla="*/ 13348 h 38100"/>
                <a:gd name="connsiteX2" fmla="*/ 7498 w 57150"/>
                <a:gd name="connsiteY2" fmla="*/ 26968 h 38100"/>
                <a:gd name="connsiteX3" fmla="*/ 21119 w 57150"/>
                <a:gd name="connsiteY3" fmla="*/ 34874 h 38100"/>
                <a:gd name="connsiteX4" fmla="*/ 43408 w 57150"/>
                <a:gd name="connsiteY4" fmla="*/ 29064 h 38100"/>
                <a:gd name="connsiteX5" fmla="*/ 51314 w 57150"/>
                <a:gd name="connsiteY5" fmla="*/ 15443 h 38100"/>
                <a:gd name="connsiteX6" fmla="*/ 37693 w 57150"/>
                <a:gd name="connsiteY6" fmla="*/ 753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37693" y="7537"/>
                  </a:moveTo>
                  <a:lnTo>
                    <a:pt x="15404" y="13348"/>
                  </a:lnTo>
                  <a:cubicBezTo>
                    <a:pt x="9499" y="14967"/>
                    <a:pt x="5975" y="21063"/>
                    <a:pt x="7498" y="26968"/>
                  </a:cubicBezTo>
                  <a:cubicBezTo>
                    <a:pt x="9118" y="32969"/>
                    <a:pt x="15214" y="36398"/>
                    <a:pt x="21119" y="34874"/>
                  </a:cubicBezTo>
                  <a:lnTo>
                    <a:pt x="43408" y="29064"/>
                  </a:lnTo>
                  <a:cubicBezTo>
                    <a:pt x="49313" y="27445"/>
                    <a:pt x="52838" y="21348"/>
                    <a:pt x="51314" y="15443"/>
                  </a:cubicBezTo>
                  <a:cubicBezTo>
                    <a:pt x="49790" y="9442"/>
                    <a:pt x="43694" y="5918"/>
                    <a:pt x="37693" y="7537"/>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18" name="자유형: 도형 263">
              <a:extLst>
                <a:ext uri="{FF2B5EF4-FFF2-40B4-BE49-F238E27FC236}">
                  <a16:creationId xmlns:a16="http://schemas.microsoft.com/office/drawing/2014/main" id="{8DEFC40A-14B4-4EBA-6A24-A8D37A84A74F}"/>
                </a:ext>
              </a:extLst>
            </p:cNvPr>
            <p:cNvSpPr/>
            <p:nvPr/>
          </p:nvSpPr>
          <p:spPr>
            <a:xfrm>
              <a:off x="5780987" y="5739466"/>
              <a:ext cx="57150" cy="38100"/>
            </a:xfrm>
            <a:custGeom>
              <a:avLst/>
              <a:gdLst>
                <a:gd name="connsiteX0" fmla="*/ 15443 w 57150"/>
                <a:gd name="connsiteY0" fmla="*/ 29064 h 38100"/>
                <a:gd name="connsiteX1" fmla="*/ 37732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2" y="34874"/>
                  </a:lnTo>
                  <a:cubicBezTo>
                    <a:pt x="43637" y="36493"/>
                    <a:pt x="49828" y="32969"/>
                    <a:pt x="51352" y="26968"/>
                  </a:cubicBezTo>
                  <a:cubicBezTo>
                    <a:pt x="52972" y="21063"/>
                    <a:pt x="49447" y="14872"/>
                    <a:pt x="43447" y="13348"/>
                  </a:cubicBezTo>
                  <a:lnTo>
                    <a:pt x="21158" y="7537"/>
                  </a:lnTo>
                  <a:cubicBezTo>
                    <a:pt x="15252" y="5918"/>
                    <a:pt x="9061" y="9442"/>
                    <a:pt x="7537" y="15443"/>
                  </a:cubicBezTo>
                  <a:cubicBezTo>
                    <a:pt x="5918" y="21348"/>
                    <a:pt x="9442" y="27445"/>
                    <a:pt x="15443" y="2906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19" name="자유형: 도형 264">
              <a:extLst>
                <a:ext uri="{FF2B5EF4-FFF2-40B4-BE49-F238E27FC236}">
                  <a16:creationId xmlns:a16="http://schemas.microsoft.com/office/drawing/2014/main" id="{E5D41D04-B830-8284-D2F0-EC97619095C4}"/>
                </a:ext>
              </a:extLst>
            </p:cNvPr>
            <p:cNvSpPr/>
            <p:nvPr/>
          </p:nvSpPr>
          <p:spPr>
            <a:xfrm>
              <a:off x="5457327" y="5608307"/>
              <a:ext cx="57150" cy="38100"/>
            </a:xfrm>
            <a:custGeom>
              <a:avLst/>
              <a:gdLst>
                <a:gd name="connsiteX0" fmla="*/ 15443 w 57150"/>
                <a:gd name="connsiteY0" fmla="*/ 29064 h 38100"/>
                <a:gd name="connsiteX1" fmla="*/ 37731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1" y="34874"/>
                  </a:lnTo>
                  <a:cubicBezTo>
                    <a:pt x="43637" y="36493"/>
                    <a:pt x="49828" y="32969"/>
                    <a:pt x="51352" y="26968"/>
                  </a:cubicBezTo>
                  <a:cubicBezTo>
                    <a:pt x="52972" y="21063"/>
                    <a:pt x="49447" y="14871"/>
                    <a:pt x="43447" y="13348"/>
                  </a:cubicBezTo>
                  <a:lnTo>
                    <a:pt x="21158" y="7537"/>
                  </a:lnTo>
                  <a:cubicBezTo>
                    <a:pt x="15252" y="5918"/>
                    <a:pt x="9061" y="9442"/>
                    <a:pt x="7537" y="15443"/>
                  </a:cubicBezTo>
                  <a:cubicBezTo>
                    <a:pt x="5918" y="21348"/>
                    <a:pt x="9442" y="27540"/>
                    <a:pt x="15443" y="2906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20" name="자유형: 도형 265">
              <a:extLst>
                <a:ext uri="{FF2B5EF4-FFF2-40B4-BE49-F238E27FC236}">
                  <a16:creationId xmlns:a16="http://schemas.microsoft.com/office/drawing/2014/main" id="{8146E6D3-5061-C83E-B95F-4D6A683B2FB0}"/>
                </a:ext>
              </a:extLst>
            </p:cNvPr>
            <p:cNvSpPr/>
            <p:nvPr/>
          </p:nvSpPr>
          <p:spPr>
            <a:xfrm>
              <a:off x="5786355" y="5676804"/>
              <a:ext cx="57150" cy="28575"/>
            </a:xfrm>
            <a:custGeom>
              <a:avLst/>
              <a:gdLst>
                <a:gd name="connsiteX0" fmla="*/ 41317 w 57150"/>
                <a:gd name="connsiteY0" fmla="*/ 7144 h 28575"/>
                <a:gd name="connsiteX1" fmla="*/ 18552 w 57150"/>
                <a:gd name="connsiteY1" fmla="*/ 7144 h 28575"/>
                <a:gd name="connsiteX2" fmla="*/ 7218 w 57150"/>
                <a:gd name="connsiteY2" fmla="*/ 17050 h 28575"/>
                <a:gd name="connsiteX3" fmla="*/ 18266 w 57150"/>
                <a:gd name="connsiteY3" fmla="*/ 29432 h 28575"/>
                <a:gd name="connsiteX4" fmla="*/ 41031 w 57150"/>
                <a:gd name="connsiteY4" fmla="*/ 29432 h 28575"/>
                <a:gd name="connsiteX5" fmla="*/ 52366 w 57150"/>
                <a:gd name="connsiteY5" fmla="*/ 19526 h 28575"/>
                <a:gd name="connsiteX6" fmla="*/ 41317 w 57150"/>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41317" y="7144"/>
                  </a:moveTo>
                  <a:lnTo>
                    <a:pt x="18552" y="7144"/>
                  </a:lnTo>
                  <a:cubicBezTo>
                    <a:pt x="12837" y="7144"/>
                    <a:pt x="7789" y="11335"/>
                    <a:pt x="7218" y="17050"/>
                  </a:cubicBezTo>
                  <a:cubicBezTo>
                    <a:pt x="6455" y="23813"/>
                    <a:pt x="11694" y="29432"/>
                    <a:pt x="18266" y="29432"/>
                  </a:cubicBezTo>
                  <a:lnTo>
                    <a:pt x="41031" y="29432"/>
                  </a:lnTo>
                  <a:cubicBezTo>
                    <a:pt x="46747" y="29432"/>
                    <a:pt x="51795" y="25241"/>
                    <a:pt x="52366" y="19526"/>
                  </a:cubicBezTo>
                  <a:cubicBezTo>
                    <a:pt x="53128" y="12763"/>
                    <a:pt x="47890" y="7144"/>
                    <a:pt x="41317" y="7144"/>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21" name="자유형: 도형 266">
              <a:extLst>
                <a:ext uri="{FF2B5EF4-FFF2-40B4-BE49-F238E27FC236}">
                  <a16:creationId xmlns:a16="http://schemas.microsoft.com/office/drawing/2014/main" id="{EAA295CE-BF7B-C6BF-C174-D6B2A618AF5D}"/>
                </a:ext>
              </a:extLst>
            </p:cNvPr>
            <p:cNvSpPr/>
            <p:nvPr/>
          </p:nvSpPr>
          <p:spPr>
            <a:xfrm>
              <a:off x="5451265" y="5676804"/>
              <a:ext cx="57150" cy="28575"/>
            </a:xfrm>
            <a:custGeom>
              <a:avLst/>
              <a:gdLst>
                <a:gd name="connsiteX0" fmla="*/ 18266 w 57150"/>
                <a:gd name="connsiteY0" fmla="*/ 29432 h 28575"/>
                <a:gd name="connsiteX1" fmla="*/ 41031 w 57150"/>
                <a:gd name="connsiteY1" fmla="*/ 29432 h 28575"/>
                <a:gd name="connsiteX2" fmla="*/ 52366 w 57150"/>
                <a:gd name="connsiteY2" fmla="*/ 19526 h 28575"/>
                <a:gd name="connsiteX3" fmla="*/ 41317 w 57150"/>
                <a:gd name="connsiteY3" fmla="*/ 7144 h 28575"/>
                <a:gd name="connsiteX4" fmla="*/ 18552 w 57150"/>
                <a:gd name="connsiteY4" fmla="*/ 7144 h 28575"/>
                <a:gd name="connsiteX5" fmla="*/ 7218 w 57150"/>
                <a:gd name="connsiteY5" fmla="*/ 17050 h 28575"/>
                <a:gd name="connsiteX6" fmla="*/ 18266 w 57150"/>
                <a:gd name="connsiteY6" fmla="*/ 2943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18266" y="29432"/>
                  </a:moveTo>
                  <a:lnTo>
                    <a:pt x="41031" y="29432"/>
                  </a:lnTo>
                  <a:cubicBezTo>
                    <a:pt x="46746" y="29432"/>
                    <a:pt x="51795" y="25241"/>
                    <a:pt x="52366" y="19526"/>
                  </a:cubicBezTo>
                  <a:cubicBezTo>
                    <a:pt x="53128" y="12763"/>
                    <a:pt x="47889" y="7144"/>
                    <a:pt x="41317" y="7144"/>
                  </a:cubicBezTo>
                  <a:lnTo>
                    <a:pt x="18552" y="7144"/>
                  </a:lnTo>
                  <a:cubicBezTo>
                    <a:pt x="12837" y="7144"/>
                    <a:pt x="7789" y="11335"/>
                    <a:pt x="7218" y="17050"/>
                  </a:cubicBezTo>
                  <a:cubicBezTo>
                    <a:pt x="6455" y="23717"/>
                    <a:pt x="11694" y="29432"/>
                    <a:pt x="18266" y="29432"/>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22" name="자유형: 도형 267">
              <a:extLst>
                <a:ext uri="{FF2B5EF4-FFF2-40B4-BE49-F238E27FC236}">
                  <a16:creationId xmlns:a16="http://schemas.microsoft.com/office/drawing/2014/main" id="{B56B2F8A-ACB7-89E6-61D9-D2F6291EB66D}"/>
                </a:ext>
              </a:extLst>
            </p:cNvPr>
            <p:cNvSpPr/>
            <p:nvPr/>
          </p:nvSpPr>
          <p:spPr>
            <a:xfrm>
              <a:off x="5631647" y="5712809"/>
              <a:ext cx="28575" cy="47625"/>
            </a:xfrm>
            <a:custGeom>
              <a:avLst/>
              <a:gdLst>
                <a:gd name="connsiteX0" fmla="*/ 16954 w 28575"/>
                <a:gd name="connsiteY0" fmla="*/ 7144 h 47625"/>
                <a:gd name="connsiteX1" fmla="*/ 7144 w 28575"/>
                <a:gd name="connsiteY1" fmla="*/ 26861 h 47625"/>
                <a:gd name="connsiteX2" fmla="*/ 16954 w 28575"/>
                <a:gd name="connsiteY2" fmla="*/ 46482 h 47625"/>
                <a:gd name="connsiteX3" fmla="*/ 26765 w 28575"/>
                <a:gd name="connsiteY3" fmla="*/ 26861 h 47625"/>
              </a:gdLst>
              <a:ahLst/>
              <a:cxnLst>
                <a:cxn ang="0">
                  <a:pos x="connsiteX0" y="connsiteY0"/>
                </a:cxn>
                <a:cxn ang="0">
                  <a:pos x="connsiteX1" y="connsiteY1"/>
                </a:cxn>
                <a:cxn ang="0">
                  <a:pos x="connsiteX2" y="connsiteY2"/>
                </a:cxn>
                <a:cxn ang="0">
                  <a:pos x="connsiteX3" y="connsiteY3"/>
                </a:cxn>
              </a:cxnLst>
              <a:rect l="l" t="t" r="r" b="b"/>
              <a:pathLst>
                <a:path w="28575" h="47625">
                  <a:moveTo>
                    <a:pt x="16954" y="7144"/>
                  </a:moveTo>
                  <a:lnTo>
                    <a:pt x="7144" y="26861"/>
                  </a:lnTo>
                  <a:lnTo>
                    <a:pt x="16954" y="46482"/>
                  </a:lnTo>
                  <a:lnTo>
                    <a:pt x="26765" y="26861"/>
                  </a:ln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23" name="자유형: 도형 268">
              <a:extLst>
                <a:ext uri="{FF2B5EF4-FFF2-40B4-BE49-F238E27FC236}">
                  <a16:creationId xmlns:a16="http://schemas.microsoft.com/office/drawing/2014/main" id="{83956C7D-A733-6B88-5568-B44D0F759627}"/>
                </a:ext>
              </a:extLst>
            </p:cNvPr>
            <p:cNvSpPr/>
            <p:nvPr/>
          </p:nvSpPr>
          <p:spPr>
            <a:xfrm>
              <a:off x="5518790" y="5564677"/>
              <a:ext cx="257175" cy="276225"/>
            </a:xfrm>
            <a:custGeom>
              <a:avLst/>
              <a:gdLst>
                <a:gd name="connsiteX0" fmla="*/ 229157 w 257175"/>
                <a:gd name="connsiteY0" fmla="*/ 201662 h 276225"/>
                <a:gd name="connsiteX1" fmla="*/ 252303 w 257175"/>
                <a:gd name="connsiteY1" fmla="*/ 130415 h 276225"/>
                <a:gd name="connsiteX2" fmla="*/ 103618 w 257175"/>
                <a:gd name="connsiteY2" fmla="*/ 9829 h 276225"/>
                <a:gd name="connsiteX3" fmla="*/ 9225 w 257175"/>
                <a:gd name="connsiteY3" fmla="*/ 107650 h 276225"/>
                <a:gd name="connsiteX4" fmla="*/ 31132 w 257175"/>
                <a:gd name="connsiteY4" fmla="*/ 202805 h 276225"/>
                <a:gd name="connsiteX5" fmla="*/ 51706 w 257175"/>
                <a:gd name="connsiteY5" fmla="*/ 253002 h 276225"/>
                <a:gd name="connsiteX6" fmla="*/ 73995 w 257175"/>
                <a:gd name="connsiteY6" fmla="*/ 276053 h 276225"/>
                <a:gd name="connsiteX7" fmla="*/ 118572 w 257175"/>
                <a:gd name="connsiteY7" fmla="*/ 276053 h 276225"/>
                <a:gd name="connsiteX8" fmla="*/ 118572 w 257175"/>
                <a:gd name="connsiteY8" fmla="*/ 222236 h 276225"/>
                <a:gd name="connsiteX9" fmla="*/ 75138 w 257175"/>
                <a:gd name="connsiteY9" fmla="*/ 135464 h 276225"/>
                <a:gd name="connsiteX10" fmla="*/ 80091 w 257175"/>
                <a:gd name="connsiteY10" fmla="*/ 120509 h 276225"/>
                <a:gd name="connsiteX11" fmla="*/ 95045 w 257175"/>
                <a:gd name="connsiteY11" fmla="*/ 125462 h 276225"/>
                <a:gd name="connsiteX12" fmla="*/ 107332 w 257175"/>
                <a:gd name="connsiteY12" fmla="*/ 150132 h 276225"/>
                <a:gd name="connsiteX13" fmla="*/ 119620 w 257175"/>
                <a:gd name="connsiteY13" fmla="*/ 125462 h 276225"/>
                <a:gd name="connsiteX14" fmla="*/ 139527 w 257175"/>
                <a:gd name="connsiteY14" fmla="*/ 125462 h 276225"/>
                <a:gd name="connsiteX15" fmla="*/ 151814 w 257175"/>
                <a:gd name="connsiteY15" fmla="*/ 150132 h 276225"/>
                <a:gd name="connsiteX16" fmla="*/ 164101 w 257175"/>
                <a:gd name="connsiteY16" fmla="*/ 125462 h 276225"/>
                <a:gd name="connsiteX17" fmla="*/ 179056 w 257175"/>
                <a:gd name="connsiteY17" fmla="*/ 120509 h 276225"/>
                <a:gd name="connsiteX18" fmla="*/ 184008 w 257175"/>
                <a:gd name="connsiteY18" fmla="*/ 135464 h 276225"/>
                <a:gd name="connsiteX19" fmla="*/ 140574 w 257175"/>
                <a:gd name="connsiteY19" fmla="*/ 222236 h 276225"/>
                <a:gd name="connsiteX20" fmla="*/ 140574 w 257175"/>
                <a:gd name="connsiteY20" fmla="*/ 276053 h 276225"/>
                <a:gd name="connsiteX21" fmla="*/ 185151 w 257175"/>
                <a:gd name="connsiteY21" fmla="*/ 276053 h 276225"/>
                <a:gd name="connsiteX22" fmla="*/ 207440 w 257175"/>
                <a:gd name="connsiteY22" fmla="*/ 253002 h 276225"/>
                <a:gd name="connsiteX23" fmla="*/ 229157 w 257175"/>
                <a:gd name="connsiteY23" fmla="*/ 201662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7175" h="276225">
                  <a:moveTo>
                    <a:pt x="229157" y="201662"/>
                  </a:moveTo>
                  <a:cubicBezTo>
                    <a:pt x="244302" y="180803"/>
                    <a:pt x="252303" y="156133"/>
                    <a:pt x="252303" y="130415"/>
                  </a:cubicBezTo>
                  <a:cubicBezTo>
                    <a:pt x="252303" y="53549"/>
                    <a:pt x="182009" y="-6459"/>
                    <a:pt x="103618" y="9829"/>
                  </a:cubicBezTo>
                  <a:cubicBezTo>
                    <a:pt x="55993" y="19735"/>
                    <a:pt x="18083" y="59454"/>
                    <a:pt x="9225" y="107650"/>
                  </a:cubicBezTo>
                  <a:cubicBezTo>
                    <a:pt x="3034" y="141655"/>
                    <a:pt x="10749" y="175469"/>
                    <a:pt x="31132" y="202805"/>
                  </a:cubicBezTo>
                  <a:cubicBezTo>
                    <a:pt x="50087" y="228237"/>
                    <a:pt x="50563" y="248811"/>
                    <a:pt x="51706" y="253002"/>
                  </a:cubicBezTo>
                  <a:cubicBezTo>
                    <a:pt x="51706" y="265289"/>
                    <a:pt x="61708" y="276053"/>
                    <a:pt x="73995" y="276053"/>
                  </a:cubicBezTo>
                  <a:lnTo>
                    <a:pt x="118572" y="276053"/>
                  </a:lnTo>
                  <a:lnTo>
                    <a:pt x="118572" y="222236"/>
                  </a:lnTo>
                  <a:cubicBezTo>
                    <a:pt x="117333" y="219760"/>
                    <a:pt x="72566" y="130320"/>
                    <a:pt x="75138" y="135464"/>
                  </a:cubicBezTo>
                  <a:cubicBezTo>
                    <a:pt x="72376" y="129939"/>
                    <a:pt x="74662" y="123272"/>
                    <a:pt x="80091" y="120509"/>
                  </a:cubicBezTo>
                  <a:cubicBezTo>
                    <a:pt x="85615" y="117747"/>
                    <a:pt x="92283" y="120033"/>
                    <a:pt x="95045" y="125462"/>
                  </a:cubicBezTo>
                  <a:lnTo>
                    <a:pt x="107332" y="150132"/>
                  </a:lnTo>
                  <a:lnTo>
                    <a:pt x="119620" y="125462"/>
                  </a:lnTo>
                  <a:cubicBezTo>
                    <a:pt x="123430" y="117938"/>
                    <a:pt x="135812" y="117938"/>
                    <a:pt x="139527" y="125462"/>
                  </a:cubicBezTo>
                  <a:lnTo>
                    <a:pt x="151814" y="150132"/>
                  </a:lnTo>
                  <a:lnTo>
                    <a:pt x="164101" y="125462"/>
                  </a:lnTo>
                  <a:cubicBezTo>
                    <a:pt x="166864" y="119938"/>
                    <a:pt x="173531" y="117747"/>
                    <a:pt x="179056" y="120509"/>
                  </a:cubicBezTo>
                  <a:cubicBezTo>
                    <a:pt x="184580" y="123272"/>
                    <a:pt x="186771" y="129939"/>
                    <a:pt x="184008" y="135464"/>
                  </a:cubicBezTo>
                  <a:cubicBezTo>
                    <a:pt x="182580" y="138321"/>
                    <a:pt x="138289" y="226809"/>
                    <a:pt x="140574" y="222236"/>
                  </a:cubicBezTo>
                  <a:lnTo>
                    <a:pt x="140574" y="276053"/>
                  </a:lnTo>
                  <a:lnTo>
                    <a:pt x="185151" y="276053"/>
                  </a:lnTo>
                  <a:cubicBezTo>
                    <a:pt x="197439" y="276053"/>
                    <a:pt x="207440" y="265289"/>
                    <a:pt x="207440" y="253002"/>
                  </a:cubicBezTo>
                  <a:cubicBezTo>
                    <a:pt x="209345" y="247954"/>
                    <a:pt x="210393" y="227570"/>
                    <a:pt x="229157" y="201662"/>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sp>
          <p:nvSpPr>
            <p:cNvPr id="24" name="자유형: 도형 269">
              <a:extLst>
                <a:ext uri="{FF2B5EF4-FFF2-40B4-BE49-F238E27FC236}">
                  <a16:creationId xmlns:a16="http://schemas.microsoft.com/office/drawing/2014/main" id="{9CFA11EC-06A0-F7C8-5463-84F235AACA49}"/>
                </a:ext>
              </a:extLst>
            </p:cNvPr>
            <p:cNvSpPr/>
            <p:nvPr/>
          </p:nvSpPr>
          <p:spPr>
            <a:xfrm>
              <a:off x="5597167" y="5922740"/>
              <a:ext cx="95250" cy="28575"/>
            </a:xfrm>
            <a:custGeom>
              <a:avLst/>
              <a:gdLst>
                <a:gd name="connsiteX0" fmla="*/ 51435 w 95250"/>
                <a:gd name="connsiteY0" fmla="*/ 29433 h 28575"/>
                <a:gd name="connsiteX1" fmla="*/ 95726 w 95250"/>
                <a:gd name="connsiteY1" fmla="*/ 7144 h 28575"/>
                <a:gd name="connsiteX2" fmla="*/ 7144 w 95250"/>
                <a:gd name="connsiteY2" fmla="*/ 7144 h 28575"/>
                <a:gd name="connsiteX3" fmla="*/ 51435 w 95250"/>
                <a:gd name="connsiteY3" fmla="*/ 29433 h 28575"/>
              </a:gdLst>
              <a:ahLst/>
              <a:cxnLst>
                <a:cxn ang="0">
                  <a:pos x="connsiteX0" y="connsiteY0"/>
                </a:cxn>
                <a:cxn ang="0">
                  <a:pos x="connsiteX1" y="connsiteY1"/>
                </a:cxn>
                <a:cxn ang="0">
                  <a:pos x="connsiteX2" y="connsiteY2"/>
                </a:cxn>
                <a:cxn ang="0">
                  <a:pos x="connsiteX3" y="connsiteY3"/>
                </a:cxn>
              </a:cxnLst>
              <a:rect l="l" t="t" r="r" b="b"/>
              <a:pathLst>
                <a:path w="95250" h="28575">
                  <a:moveTo>
                    <a:pt x="51435" y="29433"/>
                  </a:moveTo>
                  <a:cubicBezTo>
                    <a:pt x="69532" y="29433"/>
                    <a:pt x="85534" y="20574"/>
                    <a:pt x="95726" y="7144"/>
                  </a:cubicBezTo>
                  <a:lnTo>
                    <a:pt x="7144" y="7144"/>
                  </a:lnTo>
                  <a:cubicBezTo>
                    <a:pt x="17335" y="20574"/>
                    <a:pt x="33242" y="29433"/>
                    <a:pt x="51435" y="29433"/>
                  </a:cubicBezTo>
                  <a:close/>
                </a:path>
              </a:pathLst>
            </a:custGeom>
            <a:grpFill/>
            <a:ln w="9525" cap="flat">
              <a:noFill/>
              <a:prstDash val="solid"/>
              <a:miter/>
            </a:ln>
          </p:spPr>
          <p:txBody>
            <a:bodyPr rtlCol="0" anchor="ctr"/>
            <a:lstStyle/>
            <a:p>
              <a:pPr algn="ctr" defTabSz="914377">
                <a:defRPr/>
              </a:pPr>
              <a:endParaRPr lang="ko-KR" altLang="en-US">
                <a:solidFill>
                  <a:prstClr val="black"/>
                </a:solidFill>
                <a:cs typeface="+mn-ea"/>
                <a:sym typeface="+mn-lt"/>
              </a:endParaRPr>
            </a:p>
          </p:txBody>
        </p:sp>
      </p:grpSp>
      <p:sp>
        <p:nvSpPr>
          <p:cNvPr id="25" name="文本框 24">
            <a:extLst>
              <a:ext uri="{FF2B5EF4-FFF2-40B4-BE49-F238E27FC236}">
                <a16:creationId xmlns:a16="http://schemas.microsoft.com/office/drawing/2014/main" id="{B3114BD8-AD4E-BEE8-19F6-864FE0E00B95}"/>
              </a:ext>
            </a:extLst>
          </p:cNvPr>
          <p:cNvSpPr txBox="1"/>
          <p:nvPr/>
        </p:nvSpPr>
        <p:spPr>
          <a:xfrm>
            <a:off x="3046295" y="1239974"/>
            <a:ext cx="7493851" cy="1200329"/>
          </a:xfrm>
          <a:prstGeom prst="rect">
            <a:avLst/>
          </a:prstGeom>
          <a:noFill/>
        </p:spPr>
        <p:txBody>
          <a:bodyPr wrap="square">
            <a:spAutoFit/>
          </a:bodyPr>
          <a:lstStyle/>
          <a:p>
            <a:pPr marL="342891" indent="-342891">
              <a:spcBef>
                <a:spcPct val="0"/>
              </a:spcBef>
              <a:buClr>
                <a:schemeClr val="accent1">
                  <a:lumMod val="75000"/>
                </a:schemeClr>
              </a:buClr>
              <a:buSzPct val="60000"/>
              <a:buFont typeface="Wingdings" panose="05000000000000000000" pitchFamily="2" charset="2"/>
              <a:buChar char="l"/>
              <a:defRPr/>
            </a:pP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明文</a:t>
            </a:r>
            <a:r>
              <a:rPr lang="en-US" altLang="zh-CN" sz="2400" b="1" dirty="0">
                <a:effectLst>
                  <a:outerShdw blurRad="38100" dist="38100" dir="2700000" algn="tl">
                    <a:srgbClr val="C0C0C0"/>
                  </a:outerShdw>
                </a:effectLst>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here is how it works</a:t>
            </a: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 密钥：</a:t>
            </a:r>
            <a:r>
              <a:rPr lang="en-US" altLang="zh-CN" sz="2400" dirty="0">
                <a:latin typeface="宋体" panose="02010600030101010101" pitchFamily="2" charset="-122"/>
                <a:ea typeface="宋体" panose="02010600030101010101" pitchFamily="2" charset="-122"/>
              </a:rPr>
              <a:t>vector</a:t>
            </a:r>
            <a:r>
              <a:rPr lang="en-US" altLang="zh-CN" sz="2400" b="1" dirty="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算法：</a:t>
            </a:r>
            <a:r>
              <a:rPr lang="zh-CN" altLang="en-US" sz="2400" dirty="0">
                <a:effectLst>
                  <a:outerShdw blurRad="38100" dist="38100" dir="2700000" algn="tl">
                    <a:srgbClr val="C0C0C0"/>
                  </a:outerShdw>
                </a:effectLst>
                <a:latin typeface="宋体" panose="02010600030101010101" pitchFamily="2" charset="-122"/>
                <a:ea typeface="宋体" panose="02010600030101010101" pitchFamily="2" charset="-122"/>
              </a:rPr>
              <a:t>维吉尼亚密码。</a:t>
            </a:r>
            <a:r>
              <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rPr>
              <a:t>求密文。</a:t>
            </a:r>
            <a:endParaRPr lang="en-US" altLang="zh-CN"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a:p>
            <a:pPr marL="342891" indent="-342891">
              <a:spcBef>
                <a:spcPct val="0"/>
              </a:spcBef>
              <a:buClr>
                <a:schemeClr val="accent1">
                  <a:lumMod val="75000"/>
                </a:schemeClr>
              </a:buClr>
              <a:buSzPct val="60000"/>
              <a:buFont typeface="Wingdings" panose="05000000000000000000" pitchFamily="2" charset="2"/>
              <a:buChar char="l"/>
              <a:defRPr/>
            </a:pPr>
            <a:endParaRPr lang="zh-CN" altLang="en-US" sz="24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26" name="内容占位符 2">
            <a:extLst>
              <a:ext uri="{FF2B5EF4-FFF2-40B4-BE49-F238E27FC236}">
                <a16:creationId xmlns:a16="http://schemas.microsoft.com/office/drawing/2014/main" id="{EB3009CE-E34C-1ECE-DB9F-842E101CEAFC}"/>
              </a:ext>
            </a:extLst>
          </p:cNvPr>
          <p:cNvSpPr txBox="1">
            <a:spLocks noChangeArrowheads="1"/>
          </p:cNvSpPr>
          <p:nvPr/>
        </p:nvSpPr>
        <p:spPr>
          <a:xfrm>
            <a:off x="1376778" y="2198273"/>
            <a:ext cx="9820623" cy="4384856"/>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使用密钥为</a:t>
            </a:r>
            <a:r>
              <a:rPr lang="en-US" altLang="zh-CN" sz="2400" dirty="0">
                <a:latin typeface="宋体" panose="02010600030101010101" pitchFamily="2" charset="-122"/>
                <a:ea typeface="宋体" panose="02010600030101010101" pitchFamily="2" charset="-122"/>
              </a:rPr>
              <a:t>vector</a:t>
            </a:r>
            <a:r>
              <a:rPr lang="zh-CN" altLang="en-US" sz="2400" dirty="0">
                <a:latin typeface="宋体" panose="02010600030101010101" pitchFamily="2" charset="-122"/>
                <a:ea typeface="宋体" panose="02010600030101010101" pitchFamily="2" charset="-122"/>
              </a:rPr>
              <a:t>，用数值表示则</a:t>
            </a:r>
            <a:r>
              <a:rPr lang="en-US" altLang="zh-CN" sz="2400" dirty="0">
                <a:latin typeface="宋体" panose="02010600030101010101" pitchFamily="2" charset="-122"/>
                <a:ea typeface="宋体" panose="02010600030101010101" pitchFamily="2" charset="-122"/>
              </a:rPr>
              <a:t>k=(21, 4, 2, 19, 14, 17)</a:t>
            </a:r>
            <a:r>
              <a:rPr lang="zh-CN" altLang="en-US" sz="2400" dirty="0">
                <a:latin typeface="宋体" panose="02010600030101010101" pitchFamily="2" charset="-122"/>
                <a:ea typeface="宋体" panose="02010600030101010101" pitchFamily="2" charset="-122"/>
              </a:rPr>
              <a:t>，来加密明文：</a:t>
            </a:r>
            <a:r>
              <a:rPr lang="en-US" altLang="zh-CN" sz="2400" dirty="0">
                <a:latin typeface="宋体" panose="02010600030101010101" pitchFamily="2" charset="-122"/>
                <a:ea typeface="宋体" panose="02010600030101010101" pitchFamily="2" charset="-122"/>
              </a:rPr>
              <a:t>here is how it works</a:t>
            </a:r>
            <a:r>
              <a:rPr lang="zh-CN" altLang="en-US" sz="2400" dirty="0">
                <a:latin typeface="宋体" panose="02010600030101010101" pitchFamily="2" charset="-122"/>
                <a:ea typeface="宋体" panose="02010600030101010101" pitchFamily="2" charset="-122"/>
              </a:rPr>
              <a:t>。</a:t>
            </a: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加密过程如下描述：用密钥</a:t>
            </a:r>
            <a:r>
              <a:rPr lang="en-US" altLang="zh-CN" sz="2400" dirty="0">
                <a:latin typeface="宋体" panose="02010600030101010101" pitchFamily="2" charset="-122"/>
                <a:ea typeface="宋体" panose="02010600030101010101" pitchFamily="2" charset="-122"/>
              </a:rPr>
              <a:t>k</a:t>
            </a:r>
            <a:r>
              <a:rPr lang="zh-CN" altLang="en-US" sz="2400" dirty="0">
                <a:latin typeface="宋体" panose="02010600030101010101" pitchFamily="2" charset="-122"/>
                <a:ea typeface="宋体" panose="02010600030101010101" pitchFamily="2" charset="-122"/>
              </a:rPr>
              <a:t>来加密明文消息，则第一个明文字符用其后面的第</a:t>
            </a:r>
            <a:r>
              <a:rPr lang="en-US" altLang="zh-CN" sz="2400" dirty="0">
                <a:latin typeface="宋体" panose="02010600030101010101" pitchFamily="2" charset="-122"/>
                <a:ea typeface="宋体" panose="02010600030101010101" pitchFamily="2" charset="-122"/>
              </a:rPr>
              <a:t>21</a:t>
            </a:r>
            <a:r>
              <a:rPr lang="zh-CN" altLang="en-US" sz="2400" dirty="0">
                <a:latin typeface="宋体" panose="02010600030101010101" pitchFamily="2" charset="-122"/>
                <a:ea typeface="宋体" panose="02010600030101010101" pitchFamily="2" charset="-122"/>
              </a:rPr>
              <a:t>个字符来代替</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即向后移</a:t>
            </a:r>
            <a:r>
              <a:rPr lang="en-US" altLang="zh-CN" sz="2400" dirty="0">
                <a:latin typeface="宋体" panose="02010600030101010101" pitchFamily="2" charset="-122"/>
                <a:ea typeface="宋体" panose="02010600030101010101" pitchFamily="2" charset="-122"/>
              </a:rPr>
              <a:t>21</a:t>
            </a:r>
            <a:r>
              <a:rPr lang="zh-CN" altLang="en-US" sz="2400" dirty="0">
                <a:latin typeface="宋体" panose="02010600030101010101" pitchFamily="2" charset="-122"/>
                <a:ea typeface="宋体" panose="02010600030101010101" pitchFamily="2" charset="-122"/>
              </a:rPr>
              <a:t>位</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，相应的，第二个明文字符则向后移</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位，第三个字符向后移</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位，以此类推。当用完密钥</a:t>
            </a:r>
            <a:r>
              <a:rPr lang="en-US" altLang="zh-CN" sz="2400" dirty="0">
                <a:latin typeface="宋体" panose="02010600030101010101" pitchFamily="2" charset="-122"/>
                <a:ea typeface="宋体" panose="02010600030101010101" pitchFamily="2" charset="-122"/>
              </a:rPr>
              <a:t>k</a:t>
            </a:r>
            <a:r>
              <a:rPr lang="zh-CN" altLang="en-US" sz="2400" dirty="0">
                <a:latin typeface="宋体" panose="02010600030101010101" pitchFamily="2" charset="-122"/>
                <a:ea typeface="宋体" panose="02010600030101010101" pitchFamily="2" charset="-122"/>
              </a:rPr>
              <a:t>的最后一位时，又从密钥的第一位开始，如此循环下去。因此，第</a:t>
            </a: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个明文字符被向后移</a:t>
            </a:r>
            <a:r>
              <a:rPr lang="en-US" altLang="zh-CN" sz="2400" dirty="0">
                <a:latin typeface="宋体" panose="02010600030101010101" pitchFamily="2" charset="-122"/>
                <a:ea typeface="宋体" panose="02010600030101010101" pitchFamily="2" charset="-122"/>
              </a:rPr>
              <a:t>21</a:t>
            </a:r>
            <a:r>
              <a:rPr lang="zh-CN" altLang="en-US" sz="2400" dirty="0">
                <a:latin typeface="宋体" panose="02010600030101010101" pitchFamily="2" charset="-122"/>
                <a:ea typeface="宋体" panose="02010600030101010101" pitchFamily="2" charset="-122"/>
              </a:rPr>
              <a:t>位，第</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个明文字符向后移</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位，等等。 </a:t>
            </a:r>
          </a:p>
          <a:p>
            <a:endParaRPr lang="en-CA" altLang="zh-CN" sz="2400" dirty="0">
              <a:latin typeface="宋体" panose="02010600030101010101" pitchFamily="2" charset="-122"/>
            </a:endParaRPr>
          </a:p>
        </p:txBody>
      </p:sp>
      <p:sp>
        <p:nvSpPr>
          <p:cNvPr id="27" name="内容占位符 2">
            <a:extLst>
              <a:ext uri="{FF2B5EF4-FFF2-40B4-BE49-F238E27FC236}">
                <a16:creationId xmlns:a16="http://schemas.microsoft.com/office/drawing/2014/main" id="{AC265F4C-0FC7-6FBC-0B3D-32261120B5CA}"/>
              </a:ext>
            </a:extLst>
          </p:cNvPr>
          <p:cNvSpPr txBox="1">
            <a:spLocks noChangeArrowheads="1"/>
          </p:cNvSpPr>
          <p:nvPr/>
        </p:nvSpPr>
        <p:spPr>
          <a:xfrm>
            <a:off x="1376779" y="4975696"/>
            <a:ext cx="8847139" cy="2569277"/>
          </a:xfrm>
          <a:prstGeom prst="rect">
            <a:avLst/>
          </a:prstGeom>
        </p:spPr>
        <p:txBody>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明文：</a:t>
            </a:r>
            <a:r>
              <a:rPr lang="en-US" altLang="zh-CN" sz="2400" dirty="0">
                <a:latin typeface="Tahoma" panose="020B0604030504040204" pitchFamily="34" charset="0"/>
                <a:ea typeface="Tahoma" panose="020B0604030504040204" pitchFamily="34" charset="0"/>
                <a:cs typeface="Tahoma" panose="020B0604030504040204" pitchFamily="34" charset="0"/>
              </a:rPr>
              <a:t>h   e  r   e    </a:t>
            </a:r>
            <a:r>
              <a:rPr lang="en-US" altLang="zh-CN" sz="2400" dirty="0" err="1">
                <a:latin typeface="Tahoma" panose="020B0604030504040204" pitchFamily="34" charset="0"/>
                <a:ea typeface="Tahoma" panose="020B0604030504040204" pitchFamily="34" charset="0"/>
                <a:cs typeface="Tahoma" panose="020B0604030504040204" pitchFamily="34" charset="0"/>
              </a:rPr>
              <a:t>i</a:t>
            </a:r>
            <a:r>
              <a:rPr lang="en-US" altLang="zh-CN" sz="2400" dirty="0">
                <a:latin typeface="Tahoma" panose="020B0604030504040204" pitchFamily="34" charset="0"/>
                <a:ea typeface="Tahoma" panose="020B0604030504040204" pitchFamily="34" charset="0"/>
                <a:cs typeface="Tahoma" panose="020B0604030504040204" pitchFamily="34" charset="0"/>
              </a:rPr>
              <a:t>    s     h  o  w   </a:t>
            </a:r>
            <a:r>
              <a:rPr lang="en-US" altLang="zh-CN" sz="2400" dirty="0" err="1">
                <a:latin typeface="Tahoma" panose="020B0604030504040204" pitchFamily="34" charset="0"/>
                <a:ea typeface="Tahoma" panose="020B0604030504040204" pitchFamily="34" charset="0"/>
                <a:cs typeface="Tahoma" panose="020B0604030504040204" pitchFamily="34" charset="0"/>
              </a:rPr>
              <a:t>i</a:t>
            </a:r>
            <a:r>
              <a:rPr lang="en-US" altLang="zh-CN" sz="2400" dirty="0">
                <a:latin typeface="Tahoma" panose="020B0604030504040204" pitchFamily="34" charset="0"/>
                <a:ea typeface="Tahoma" panose="020B0604030504040204" pitchFamily="34" charset="0"/>
                <a:cs typeface="Tahoma" panose="020B0604030504040204" pitchFamily="34" charset="0"/>
              </a:rPr>
              <a:t>   t   w    o  r    k   s</a:t>
            </a: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密钥：</a:t>
            </a:r>
            <a:r>
              <a:rPr lang="en-US" altLang="zh-CN" sz="2400" dirty="0">
                <a:latin typeface="Tahoma" panose="020B0604030504040204" pitchFamily="34" charset="0"/>
                <a:ea typeface="Tahoma" panose="020B0604030504040204" pitchFamily="34" charset="0"/>
                <a:cs typeface="Tahoma" panose="020B0604030504040204" pitchFamily="34" charset="0"/>
              </a:rPr>
              <a:t>21 4  2  19 14 17     21 4  2  19 14 17  21 4   2  19</a:t>
            </a:r>
          </a:p>
          <a:p>
            <a:pPr>
              <a:lnSpc>
                <a:spcPct val="100000"/>
              </a:lnSpc>
              <a:buClr>
                <a:schemeClr val="accent1">
                  <a:lumMod val="75000"/>
                </a:schemeClr>
              </a:buClr>
              <a:buSzPct val="6000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密文：</a:t>
            </a:r>
            <a:r>
              <a:rPr lang="en-US" altLang="zh-CN" sz="2400" dirty="0">
                <a:latin typeface="Tahoma" panose="020B0604030504040204" pitchFamily="34" charset="0"/>
                <a:ea typeface="Tahoma" panose="020B0604030504040204" pitchFamily="34" charset="0"/>
                <a:cs typeface="Tahoma" panose="020B0604030504040204" pitchFamily="34" charset="0"/>
              </a:rPr>
              <a:t>C   I  T   X  W   J      C  S  Y   B  H  N    J  V   M  L</a:t>
            </a:r>
          </a:p>
        </p:txBody>
      </p:sp>
    </p:spTree>
    <p:extLst>
      <p:ext uri="{BB962C8B-B14F-4D97-AF65-F5344CB8AC3E}">
        <p14:creationId xmlns:p14="http://schemas.microsoft.com/office/powerpoint/2010/main" val="168888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nodePh="1">
                                  <p:stCondLst>
                                    <p:cond delay="0"/>
                                  </p:stCondLst>
                                  <p:endCondLst>
                                    <p:cond evt="begin" delay="0">
                                      <p:tn val="10"/>
                                    </p:cond>
                                  </p:endCondLst>
                                  <p:childTnLst>
                                    <p:set>
                                      <p:cBhvr>
                                        <p:cTn id="11" dur="1" fill="hold">
                                          <p:stCondLst>
                                            <p:cond delay="0"/>
                                          </p:stCondLst>
                                        </p:cTn>
                                        <p:tgtEl>
                                          <p:spTgt spid="9">
                                            <p:txEl>
                                              <p:pRg st="0" end="0"/>
                                            </p:txEl>
                                          </p:spTgt>
                                        </p:tgtEl>
                                        <p:attrNameLst>
                                          <p:attrName>style.visibility</p:attrName>
                                        </p:attrNameLst>
                                      </p:cBhvr>
                                      <p:to>
                                        <p:strVal val="visible"/>
                                      </p:to>
                                    </p:set>
                                    <p:anim calcmode="lin" valueType="num">
                                      <p:cBhvr additive="base">
                                        <p:cTn id="12"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
                                            <p:txEl>
                                              <p:pRg st="0" end="0"/>
                                            </p:txEl>
                                          </p:spTgt>
                                        </p:tgtEl>
                                        <p:attrNameLst>
                                          <p:attrName>ppt_y</p:attrName>
                                        </p:attrNameLst>
                                      </p:cBhvr>
                                      <p:tavLst>
                                        <p:tav tm="0">
                                          <p:val>
                                            <p:strVal val="1+#ppt_h/2"/>
                                          </p:val>
                                        </p:tav>
                                        <p:tav tm="100000">
                                          <p:val>
                                            <p:strVal val="#ppt_y"/>
                                          </p:val>
                                        </p:tav>
                                      </p:tavLst>
                                    </p:anim>
                                  </p:childTnLst>
                                </p:cTn>
                              </p:par>
                              <p:par>
                                <p:cTn id="14" presetID="9"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750"/>
                                        <p:tgtEl>
                                          <p:spTgt spid="13"/>
                                        </p:tgtEl>
                                      </p:cBhvr>
                                    </p:animEffect>
                                  </p:childTnLst>
                                </p:cTn>
                              </p:par>
                            </p:childTnLst>
                          </p:cTn>
                        </p:par>
                        <p:par>
                          <p:cTn id="20" fill="hold">
                            <p:stCondLst>
                              <p:cond delay="750"/>
                            </p:stCondLst>
                            <p:childTnLst>
                              <p:par>
                                <p:cTn id="21" presetID="12" presetClass="entr" presetSubtype="1"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p:tgtEl>
                                          <p:spTgt spid="7"/>
                                        </p:tgtEl>
                                        <p:attrNameLst>
                                          <p:attrName>ppt_y</p:attrName>
                                        </p:attrNameLst>
                                      </p:cBhvr>
                                      <p:tavLst>
                                        <p:tav tm="0">
                                          <p:val>
                                            <p:strVal val="#ppt_y-#ppt_h*1.125000"/>
                                          </p:val>
                                        </p:tav>
                                        <p:tav tm="100000">
                                          <p:val>
                                            <p:strVal val="#ppt_y"/>
                                          </p:val>
                                        </p:tav>
                                      </p:tavLst>
                                    </p:anim>
                                    <p:animEffect transition="in" filter="wipe(down)">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xEl>
                                              <p:pRg st="0" end="0"/>
                                            </p:txEl>
                                          </p:spTgt>
                                        </p:tgtEl>
                                        <p:attrNameLst>
                                          <p:attrName>style.visibility</p:attrName>
                                        </p:attrNameLst>
                                      </p:cBhvr>
                                      <p:to>
                                        <p:strVal val="visible"/>
                                      </p:to>
                                    </p:set>
                                    <p:animEffect transition="in" filter="fade">
                                      <p:cBhvr>
                                        <p:cTn id="29" dur="500"/>
                                        <p:tgtEl>
                                          <p:spTgt spid="25">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6">
                                            <p:txEl>
                                              <p:pRg st="0" end="0"/>
                                            </p:txEl>
                                          </p:spTgt>
                                        </p:tgtEl>
                                        <p:attrNameLst>
                                          <p:attrName>style.visibility</p:attrName>
                                        </p:attrNameLst>
                                      </p:cBhvr>
                                      <p:to>
                                        <p:strVal val="visible"/>
                                      </p:to>
                                    </p:set>
                                    <p:anim calcmode="lin" valueType="num">
                                      <p:cBhvr additive="base">
                                        <p:cTn id="34"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6">
                                            <p:txEl>
                                              <p:pRg st="1" end="1"/>
                                            </p:txEl>
                                          </p:spTgt>
                                        </p:tgtEl>
                                        <p:attrNameLst>
                                          <p:attrName>style.visibility</p:attrName>
                                        </p:attrNameLst>
                                      </p:cBhvr>
                                      <p:to>
                                        <p:strVal val="visible"/>
                                      </p:to>
                                    </p:set>
                                    <p:anim calcmode="lin" valueType="num">
                                      <p:cBhvr additive="base">
                                        <p:cTn id="38"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7">
                                            <p:txEl>
                                              <p:pRg st="0" end="0"/>
                                            </p:txEl>
                                          </p:spTgt>
                                        </p:tgtEl>
                                        <p:attrNameLst>
                                          <p:attrName>style.visibility</p:attrName>
                                        </p:attrNameLst>
                                      </p:cBhvr>
                                      <p:to>
                                        <p:strVal val="visible"/>
                                      </p:to>
                                    </p:set>
                                    <p:anim calcmode="lin" valueType="num">
                                      <p:cBhvr additive="base">
                                        <p:cTn id="44"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7">
                                            <p:txEl>
                                              <p:pRg st="1" end="1"/>
                                            </p:txEl>
                                          </p:spTgt>
                                        </p:tgtEl>
                                        <p:attrNameLst>
                                          <p:attrName>style.visibility</p:attrName>
                                        </p:attrNameLst>
                                      </p:cBhvr>
                                      <p:to>
                                        <p:strVal val="visible"/>
                                      </p:to>
                                    </p:set>
                                    <p:anim calcmode="lin" valueType="num">
                                      <p:cBhvr additive="base">
                                        <p:cTn id="50"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7">
                                            <p:txEl>
                                              <p:pRg st="2" end="2"/>
                                            </p:txEl>
                                          </p:spTgt>
                                        </p:tgtEl>
                                        <p:attrNameLst>
                                          <p:attrName>style.visibility</p:attrName>
                                        </p:attrNameLst>
                                      </p:cBhvr>
                                      <p:to>
                                        <p:strVal val="visible"/>
                                      </p:to>
                                    </p:set>
                                    <p:anim calcmode="lin" valueType="num">
                                      <p:cBhvr additive="base">
                                        <p:cTn id="56"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多表代换密码</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 name="内容占位符 3">
                <a:extLst>
                  <a:ext uri="{FF2B5EF4-FFF2-40B4-BE49-F238E27FC236}">
                    <a16:creationId xmlns:a16="http://schemas.microsoft.com/office/drawing/2014/main" id="{50FDB56E-AEAC-70F8-CFF2-0553BB9C4682}"/>
                  </a:ext>
                </a:extLst>
              </p:cNvPr>
              <p:cNvSpPr txBox="1">
                <a:spLocks noChangeArrowheads="1"/>
              </p:cNvSpPr>
              <p:nvPr/>
            </p:nvSpPr>
            <p:spPr>
              <a:xfrm>
                <a:off x="515779" y="1025570"/>
                <a:ext cx="11383164" cy="515560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l"/>
                </a:pPr>
                <a:r>
                  <a:rPr lang="zh-CN" altLang="en-US" b="1" dirty="0">
                    <a:latin typeface="宋体" panose="02010600030101010101" pitchFamily="2" charset="-122"/>
                    <a:ea typeface="宋体" panose="02010600030101010101" pitchFamily="2" charset="-122"/>
                  </a:rPr>
                  <a:t>对维吉尼亚密码的讨论</a:t>
                </a:r>
                <a:endParaRPr lang="en-US" altLang="zh-CN" dirty="0">
                  <a:latin typeface="宋体" panose="02010600030101010101" pitchFamily="2" charset="-122"/>
                  <a:ea typeface="宋体" panose="02010600030101010101" pitchFamily="2" charset="-122"/>
                </a:endParaRPr>
              </a:p>
              <a:p>
                <a:pPr marL="0" indent="0">
                  <a:lnSpc>
                    <a:spcPct val="100000"/>
                  </a:lnSpc>
                  <a:spcBef>
                    <a:spcPts val="600"/>
                  </a:spcBef>
                  <a:buNone/>
                </a:pPr>
                <a:r>
                  <a:rPr lang="zh-CN" altLang="en-US" sz="2400" dirty="0">
                    <a:latin typeface="宋体" panose="02010600030101010101" pitchFamily="2" charset="-122"/>
                    <a:ea typeface="宋体" panose="02010600030101010101" pitchFamily="2" charset="-122"/>
                  </a:rPr>
                  <a:t>设维吉尼亚秘密用于多次一密的加解密方式，对其进行已知明文攻击。</a:t>
                </a:r>
                <a:r>
                  <a:rPr lang="en-US" altLang="zh-CN" sz="2400" dirty="0">
                    <a:latin typeface="宋体" panose="02010600030101010101" pitchFamily="2" charset="-122"/>
                    <a:ea typeface="宋体" panose="02010600030101010101" pitchFamily="2" charset="-122"/>
                  </a:rPr>
                  <a:t>Eve</a:t>
                </a:r>
                <a:r>
                  <a:rPr lang="zh-CN" altLang="en-US" sz="2400" dirty="0">
                    <a:latin typeface="宋体" panose="02010600030101010101" pitchFamily="2" charset="-122"/>
                    <a:ea typeface="宋体" panose="02010600030101010101" pitchFamily="2" charset="-122"/>
                  </a:rPr>
                  <a:t>截获了一段密文，并获得了该段密文所对应的明文。只要密文长度不小于</a:t>
                </a:r>
                <a14:m>
                  <m:oMath xmlns:m="http://schemas.openxmlformats.org/officeDocument/2006/math">
                    <m:r>
                      <a:rPr lang="en-US" altLang="zh-CN" sz="2400" i="1">
                        <a:latin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rPr>
                  <a:t>，密钥</a:t>
                </a: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𝑑</m:t>
                            </m:r>
                            <m:r>
                              <a:rPr lang="en-US" altLang="zh-CN" sz="2400" i="1">
                                <a:latin typeface="Cambria Math" panose="02040503050406030204" pitchFamily="18" charset="0"/>
                              </a:rPr>
                              <m:t>−1</m:t>
                            </m:r>
                          </m:sub>
                        </m:sSub>
                        <m:r>
                          <a:rPr lang="en-US" altLang="zh-CN" sz="2400" i="1">
                            <a:latin typeface="Cambria Math" panose="02040503050406030204" pitchFamily="18" charset="0"/>
                          </a:rPr>
                          <m:t> </m:t>
                        </m:r>
                      </m:e>
                    </m:d>
                  </m:oMath>
                </a14:m>
                <a:r>
                  <a:rPr lang="zh-CN" altLang="en-US" sz="2400" dirty="0">
                    <a:latin typeface="宋体" panose="02010600030101010101" pitchFamily="2" charset="-122"/>
                    <a:ea typeface="宋体" panose="02010600030101010101" pitchFamily="2" charset="-122"/>
                  </a:rPr>
                  <a:t>就被确定。</a:t>
                </a: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600"/>
                  </a:spcBef>
                  <a:buNone/>
                </a:pPr>
                <a:r>
                  <a:rPr lang="zh-CN" altLang="en-US" sz="2400" dirty="0">
                    <a:latin typeface="宋体" panose="02010600030101010101" pitchFamily="2" charset="-122"/>
                    <a:ea typeface="宋体" panose="02010600030101010101" pitchFamily="2" charset="-122"/>
                  </a:rPr>
                  <a:t>若</a:t>
                </a:r>
                <a14:m>
                  <m:oMath xmlns:m="http://schemas.openxmlformats.org/officeDocument/2006/math">
                    <m:r>
                      <a:rPr lang="en-US" altLang="zh-CN" sz="2400" i="1">
                        <a:latin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rPr>
                  <a:t>充分大，大到不可能截获长度为</a:t>
                </a:r>
                <a14:m>
                  <m:oMath xmlns:m="http://schemas.openxmlformats.org/officeDocument/2006/math">
                    <m:r>
                      <a:rPr lang="en-US" altLang="zh-CN" sz="2400" i="1">
                        <a:latin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rPr>
                  <a:t>的密文（存储量和时间限制），甚至可以假设</a:t>
                </a:r>
                <a14:m>
                  <m:oMath xmlns:m="http://schemas.openxmlformats.org/officeDocument/2006/math">
                    <m:r>
                      <a:rPr lang="en-US" altLang="zh-CN" sz="2400" i="1">
                        <a:latin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rPr>
                  <a:t>“接近无穷大”。此时当然可以抵抗已知明文攻击。</a:t>
                </a: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600"/>
                  </a:spcBef>
                  <a:buNone/>
                </a:pPr>
                <a:r>
                  <a:rPr lang="zh-CN" altLang="en-US" sz="2400" dirty="0">
                    <a:latin typeface="宋体" panose="02010600030101010101" pitchFamily="2" charset="-122"/>
                    <a:ea typeface="宋体" panose="02010600030101010101" pitchFamily="2" charset="-122"/>
                  </a:rPr>
                  <a:t>（注解：当</a:t>
                </a:r>
                <a14:m>
                  <m:oMath xmlns:m="http://schemas.openxmlformats.org/officeDocument/2006/math">
                    <m:r>
                      <a:rPr lang="en-US" altLang="zh-CN" sz="2400" i="1">
                        <a:latin typeface="Cambria Math" panose="02040503050406030204" pitchFamily="18" charset="0"/>
                      </a:rPr>
                      <m:t>𝑑</m:t>
                    </m:r>
                    <m:r>
                      <a:rPr lang="en-US" altLang="zh-CN" sz="2400" i="1">
                        <a:latin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rPr>
                  <a:t>“接近无穷大”时，维吉尼亚密码变成了现代密码中的一种，我们称之为流密码或序列密码。）</a:t>
                </a:r>
                <a:endParaRPr lang="en-CA" altLang="en-US" sz="2400" dirty="0">
                  <a:latin typeface="宋体" panose="02010600030101010101" pitchFamily="2" charset="-122"/>
                  <a:ea typeface="宋体" panose="02010600030101010101" pitchFamily="2" charset="-122"/>
                </a:endParaRPr>
              </a:p>
            </p:txBody>
          </p:sp>
        </mc:Choice>
        <mc:Fallback xmlns="">
          <p:sp>
            <p:nvSpPr>
              <p:cNvPr id="5" name="内容占位符 3">
                <a:extLst>
                  <a:ext uri="{FF2B5EF4-FFF2-40B4-BE49-F238E27FC236}">
                    <a16:creationId xmlns:a16="http://schemas.microsoft.com/office/drawing/2014/main" id="{50FDB56E-AEAC-70F8-CFF2-0553BB9C4682}"/>
                  </a:ext>
                </a:extLst>
              </p:cNvPr>
              <p:cNvSpPr txBox="1">
                <a:spLocks noRot="1" noChangeAspect="1" noMove="1" noResize="1" noEditPoints="1" noAdjustHandles="1" noChangeArrowheads="1" noChangeShapeType="1" noTextEdit="1"/>
              </p:cNvSpPr>
              <p:nvPr/>
            </p:nvSpPr>
            <p:spPr>
              <a:xfrm>
                <a:off x="515779" y="1025570"/>
                <a:ext cx="11383164" cy="5155607"/>
              </a:xfrm>
              <a:prstGeom prst="rect">
                <a:avLst/>
              </a:prstGeom>
              <a:blipFill>
                <a:blip r:embed="rId3"/>
                <a:stretch>
                  <a:fillRect l="-589" t="-22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1D333F-91D0-266D-B76B-87FA5B973E68}"/>
                  </a:ext>
                </a:extLst>
              </p:cNvPr>
              <p:cNvSpPr txBox="1"/>
              <p:nvPr/>
            </p:nvSpPr>
            <p:spPr>
              <a:xfrm>
                <a:off x="515779" y="3011595"/>
                <a:ext cx="11588348" cy="1015663"/>
              </a:xfrm>
              <a:prstGeom prst="rect">
                <a:avLst/>
              </a:prstGeom>
              <a:noFill/>
            </p:spPr>
            <p:txBody>
              <a:bodyPr wrap="square">
                <a:spAutoFit/>
              </a:bodyPr>
              <a:lstStyle/>
              <a:p>
                <a:pPr marL="342891" indent="-342891">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但问题是，通信伙伴之间怎样简单快速地协商极长的密钥序列</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𝑑</m:t>
                            </m:r>
                            <m:r>
                              <a:rPr lang="en-US" altLang="zh-CN" sz="2000" i="1">
                                <a:latin typeface="Cambria Math" panose="02040503050406030204" pitchFamily="18" charset="0"/>
                              </a:rPr>
                              <m:t>−1</m:t>
                            </m:r>
                          </m:sub>
                        </m:sSub>
                        <m:r>
                          <a:rPr lang="en-US" altLang="zh-CN" sz="2000" i="1">
                            <a:latin typeface="Cambria Math" panose="02040503050406030204" pitchFamily="18" charset="0"/>
                          </a:rPr>
                          <m:t> </m:t>
                        </m:r>
                      </m:e>
                    </m:d>
                  </m:oMath>
                </a14:m>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342891" indent="-342891">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当然不能逐字母地协商密钥。因为，如果攻击者截获长度为</a:t>
                </a:r>
                <a14:m>
                  <m:oMath xmlns:m="http://schemas.openxmlformats.org/officeDocument/2006/math">
                    <m:r>
                      <a:rPr lang="en-US" altLang="zh-CN" sz="2000" i="1">
                        <a:latin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rPr>
                  <a:t>的密文是不可能的（存储量和时间限制），则通信伙伴协商出长度为</a:t>
                </a:r>
                <a14:m>
                  <m:oMath xmlns:m="http://schemas.openxmlformats.org/officeDocument/2006/math">
                    <m:r>
                      <a:rPr lang="en-US" altLang="zh-CN" sz="2000" i="1">
                        <a:latin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rPr>
                  <a:t>的密钥也是不可能的。</a:t>
                </a:r>
                <a:endParaRPr lang="en-US" altLang="zh-CN" sz="2000" dirty="0">
                  <a:latin typeface="宋体" panose="02010600030101010101" pitchFamily="2" charset="-122"/>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4D1D333F-91D0-266D-B76B-87FA5B973E68}"/>
                  </a:ext>
                </a:extLst>
              </p:cNvPr>
              <p:cNvSpPr txBox="1">
                <a:spLocks noRot="1" noChangeAspect="1" noMove="1" noResize="1" noEditPoints="1" noAdjustHandles="1" noChangeArrowheads="1" noChangeShapeType="1" noTextEdit="1"/>
              </p:cNvSpPr>
              <p:nvPr/>
            </p:nvSpPr>
            <p:spPr>
              <a:xfrm>
                <a:off x="515779" y="3011595"/>
                <a:ext cx="11588348" cy="1015663"/>
              </a:xfrm>
              <a:prstGeom prst="rect">
                <a:avLst/>
              </a:prstGeom>
              <a:blipFill>
                <a:blip r:embed="rId4"/>
                <a:stretch>
                  <a:fillRect t="-4192" b="-8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A130C2-0E98-FCB7-AC0E-149955F1A082}"/>
                  </a:ext>
                </a:extLst>
              </p:cNvPr>
              <p:cNvSpPr txBox="1"/>
              <p:nvPr/>
            </p:nvSpPr>
            <p:spPr>
              <a:xfrm>
                <a:off x="520239" y="3991625"/>
                <a:ext cx="11392087" cy="1323439"/>
              </a:xfrm>
              <a:prstGeom prst="rect">
                <a:avLst/>
              </a:prstGeom>
              <a:noFill/>
            </p:spPr>
            <p:txBody>
              <a:bodyPr wrap="square">
                <a:spAutoFit/>
              </a:bodyPr>
              <a:lstStyle/>
              <a:p>
                <a:pPr marL="342891" indent="-342891">
                  <a:buClr>
                    <a:schemeClr val="accent1">
                      <a:lumMod val="75000"/>
                    </a:schemeClr>
                  </a:buClr>
                  <a:buSzPct val="60000"/>
                  <a:buFont typeface="Wingdings" panose="05000000000000000000" pitchFamily="2" charset="2"/>
                  <a:buChar char="l"/>
                </a:pPr>
                <a:r>
                  <a:rPr lang="zh-CN" altLang="en-US" sz="2000" b="1" dirty="0">
                    <a:latin typeface="宋体" panose="02010600030101010101" pitchFamily="2" charset="-122"/>
                    <a:ea typeface="宋体" panose="02010600030101010101" pitchFamily="2" charset="-122"/>
                  </a:rPr>
                  <a:t>一种办法是：</a:t>
                </a:r>
                <a:r>
                  <a:rPr lang="zh-CN" altLang="en-US" sz="2000" dirty="0">
                    <a:latin typeface="宋体" panose="02010600030101010101" pitchFamily="2" charset="-122"/>
                    <a:ea typeface="宋体" panose="02010600030101010101" pitchFamily="2" charset="-122"/>
                  </a:rPr>
                  <a:t>取</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𝑑</m:t>
                            </m:r>
                            <m:r>
                              <a:rPr lang="en-US" altLang="zh-CN" sz="2000" i="1">
                                <a:latin typeface="Cambria Math" panose="02040503050406030204" pitchFamily="18" charset="0"/>
                              </a:rPr>
                              <m:t>−1</m:t>
                            </m:r>
                          </m:sub>
                        </m:sSub>
                        <m:r>
                          <a:rPr lang="en-US" altLang="zh-CN" sz="2000" i="1">
                            <a:latin typeface="Cambria Math" panose="02040503050406030204" pitchFamily="18" charset="0"/>
                          </a:rPr>
                          <m:t> </m:t>
                        </m:r>
                      </m:e>
                    </m:d>
                  </m:oMath>
                </a14:m>
                <a:r>
                  <a:rPr lang="zh-CN" altLang="en-US" sz="2000" dirty="0">
                    <a:latin typeface="宋体" panose="02010600030101010101" pitchFamily="2" charset="-122"/>
                    <a:ea typeface="宋体" panose="02010600030101010101" pitchFamily="2" charset="-122"/>
                  </a:rPr>
                  <a:t>为一本书，此时通信伙伴只需要相互告知该书的书名和版本号，因此使得密钥协商简单快速。</a:t>
                </a:r>
                <a:endParaRPr lang="en-US" altLang="zh-CN" sz="2000" dirty="0">
                  <a:latin typeface="宋体" panose="02010600030101010101" pitchFamily="2" charset="-122"/>
                  <a:ea typeface="宋体" panose="02010600030101010101" pitchFamily="2" charset="-122"/>
                </a:endParaRPr>
              </a:p>
              <a:p>
                <a:pPr marL="342891" indent="-342891">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但这种办法很容易进行局部破译。设</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截获了一段长度为</a:t>
                </a:r>
                <a14:m>
                  <m:oMath xmlns:m="http://schemas.openxmlformats.org/officeDocument/2006/math">
                    <m:r>
                      <a:rPr lang="en-US" altLang="zh-CN" sz="2000" i="1" dirty="0">
                        <a:latin typeface="Cambria Math" panose="02040503050406030204" pitchFamily="18" charset="0"/>
                        <a:ea typeface="宋体" panose="02010600030101010101" pitchFamily="2" charset="-122"/>
                      </a:rPr>
                      <m:t>𝑙</m:t>
                    </m:r>
                  </m:oMath>
                </a14:m>
                <a:r>
                  <a:rPr lang="zh-CN" altLang="en-US" sz="2000" dirty="0">
                    <a:latin typeface="宋体" panose="02010600030101010101" pitchFamily="2" charset="-122"/>
                    <a:ea typeface="宋体" panose="02010600030101010101" pitchFamily="2" charset="-122"/>
                  </a:rPr>
                  <a:t>的密文，并获得了该段密文所对应的明文。</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因此也获得了密钥中长度为</a:t>
                </a:r>
                <a14:m>
                  <m:oMath xmlns:m="http://schemas.openxmlformats.org/officeDocument/2006/math">
                    <m:r>
                      <a:rPr lang="en-US" altLang="zh-CN" sz="2000" i="1" dirty="0">
                        <a:latin typeface="Cambria Math" panose="02040503050406030204" pitchFamily="18" charset="0"/>
                        <a:ea typeface="宋体" panose="02010600030101010101" pitchFamily="2" charset="-122"/>
                      </a:rPr>
                      <m:t>𝑙</m:t>
                    </m:r>
                  </m:oMath>
                </a14:m>
                <a:r>
                  <a:rPr lang="zh-CN" altLang="en-US" sz="2000" dirty="0">
                    <a:latin typeface="宋体" panose="02010600030101010101" pitchFamily="2" charset="-122"/>
                    <a:ea typeface="宋体" panose="02010600030101010101" pitchFamily="2" charset="-122"/>
                  </a:rPr>
                  <a:t>的一段</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𝑙</m:t>
                            </m:r>
                            <m:r>
                              <a:rPr lang="en-US" altLang="zh-CN" sz="2000" i="1">
                                <a:latin typeface="Cambria Math" panose="02040503050406030204" pitchFamily="18" charset="0"/>
                              </a:rPr>
                              <m:t>−1</m:t>
                            </m:r>
                          </m:sub>
                        </m:sSub>
                        <m:r>
                          <a:rPr lang="en-US" altLang="zh-CN" sz="2000" i="1">
                            <a:latin typeface="Cambria Math" panose="02040503050406030204" pitchFamily="18" charset="0"/>
                          </a:rPr>
                          <m:t> </m:t>
                        </m:r>
                      </m:e>
                    </m:d>
                    <m:r>
                      <a:rPr lang="en-US" altLang="zh-CN" sz="2000" i="1">
                        <a:latin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rPr>
                  <a:t>。</a:t>
                </a:r>
                <a14:m>
                  <m:oMath xmlns:m="http://schemas.openxmlformats.org/officeDocument/2006/math">
                    <m:r>
                      <a:rPr lang="en-US" altLang="zh-CN" sz="2000" i="1" dirty="0">
                        <a:latin typeface="Cambria Math" panose="02040503050406030204" pitchFamily="18" charset="0"/>
                        <a:ea typeface="宋体" panose="02010600030101010101" pitchFamily="2" charset="-122"/>
                      </a:rPr>
                      <m:t>𝑙</m:t>
                    </m:r>
                  </m:oMath>
                </a14:m>
                <a:r>
                  <a:rPr lang="zh-CN" altLang="en-US" sz="2000" dirty="0">
                    <a:latin typeface="宋体" panose="02010600030101010101" pitchFamily="2" charset="-122"/>
                    <a:ea typeface="宋体" panose="02010600030101010101" pitchFamily="2" charset="-122"/>
                  </a:rPr>
                  <a:t>与𝑑相比当然是微不足道的。</a:t>
                </a:r>
              </a:p>
            </p:txBody>
          </p:sp>
        </mc:Choice>
        <mc:Fallback xmlns="">
          <p:sp>
            <p:nvSpPr>
              <p:cNvPr id="8" name="文本框 7">
                <a:extLst>
                  <a:ext uri="{FF2B5EF4-FFF2-40B4-BE49-F238E27FC236}">
                    <a16:creationId xmlns:a16="http://schemas.microsoft.com/office/drawing/2014/main" id="{86A130C2-0E98-FCB7-AC0E-149955F1A082}"/>
                  </a:ext>
                </a:extLst>
              </p:cNvPr>
              <p:cNvSpPr txBox="1">
                <a:spLocks noRot="1" noChangeAspect="1" noMove="1" noResize="1" noEditPoints="1" noAdjustHandles="1" noChangeArrowheads="1" noChangeShapeType="1" noTextEdit="1"/>
              </p:cNvSpPr>
              <p:nvPr/>
            </p:nvSpPr>
            <p:spPr>
              <a:xfrm>
                <a:off x="520239" y="3991625"/>
                <a:ext cx="11392087" cy="1323439"/>
              </a:xfrm>
              <a:prstGeom prst="rect">
                <a:avLst/>
              </a:prstGeom>
              <a:blipFill>
                <a:blip r:embed="rId5"/>
                <a:stretch>
                  <a:fillRect t="-3687" b="-7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6254FE4-7CEB-5067-881D-00AB4213C69C}"/>
                  </a:ext>
                </a:extLst>
              </p:cNvPr>
              <p:cNvSpPr txBox="1"/>
              <p:nvPr/>
            </p:nvSpPr>
            <p:spPr>
              <a:xfrm>
                <a:off x="534210" y="5297053"/>
                <a:ext cx="11615111" cy="1323439"/>
              </a:xfrm>
              <a:prstGeom prst="rect">
                <a:avLst/>
              </a:prstGeom>
              <a:noFill/>
            </p:spPr>
            <p:txBody>
              <a:bodyPr wrap="square" rtlCol="0">
                <a:spAutoFit/>
              </a:bodyPr>
              <a:lstStyle/>
              <a:p>
                <a:pPr marL="342891" indent="-342891">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如果该段是名书名句，则</a:t>
                </a:r>
                <a:r>
                  <a:rPr lang="en-US" altLang="zh-CN" sz="2000" dirty="0">
                    <a:latin typeface="宋体" panose="02010600030101010101" pitchFamily="2" charset="-122"/>
                    <a:ea typeface="宋体" panose="02010600030101010101" pitchFamily="2" charset="-122"/>
                  </a:rPr>
                  <a:t>Eve</a:t>
                </a:r>
                <a:r>
                  <a:rPr lang="zh-CN" altLang="en-US" sz="2000" dirty="0">
                    <a:latin typeface="宋体" panose="02010600030101010101" pitchFamily="2" charset="-122"/>
                    <a:ea typeface="宋体" panose="02010600030101010101" pitchFamily="2" charset="-122"/>
                  </a:rPr>
                  <a:t>只需要找到该名书。</a:t>
                </a:r>
                <a:endParaRPr lang="en-US" altLang="zh-CN" sz="2000" dirty="0">
                  <a:latin typeface="宋体" panose="02010600030101010101" pitchFamily="2" charset="-122"/>
                  <a:ea typeface="宋体" panose="02010600030101010101" pitchFamily="2" charset="-122"/>
                </a:endParaRPr>
              </a:p>
              <a:p>
                <a:pPr marL="342891" indent="-342891">
                  <a:buClr>
                    <a:schemeClr val="accent1">
                      <a:lumMod val="75000"/>
                    </a:schemeClr>
                  </a:buClr>
                  <a:buSzPct val="60000"/>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如果该段并不著名，也可以根据文字推断书名及书目类别，并到书店寻找该书。也可以根据文字的特征，由上下文含义来推测后续密钥。比如</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𝑙</m:t>
                            </m:r>
                            <m:r>
                              <a:rPr lang="en-US" altLang="zh-CN" sz="2000" i="1">
                                <a:latin typeface="Cambria Math" panose="02040503050406030204" pitchFamily="18" charset="0"/>
                              </a:rPr>
                              <m:t>−1</m:t>
                            </m:r>
                          </m:sub>
                        </m:sSub>
                        <m:r>
                          <a:rPr lang="en-US" altLang="zh-CN" sz="2000" i="1">
                            <a:latin typeface="Cambria Math" panose="02040503050406030204" pitchFamily="18" charset="0"/>
                          </a:rPr>
                          <m:t> </m:t>
                        </m:r>
                      </m:e>
                    </m:d>
                  </m:oMath>
                </a14:m>
                <a:r>
                  <a:rPr lang="en-US" altLang="zh-CN" sz="2000" dirty="0">
                    <a:latin typeface="宋体" panose="02010600030101010101" pitchFamily="2" charset="-122"/>
                    <a:ea typeface="宋体" panose="02010600030101010101" pitchFamily="2" charset="-122"/>
                  </a:rPr>
                  <a:t>= </a:t>
                </a:r>
                <a14:m>
                  <m:oMath xmlns:m="http://schemas.openxmlformats.org/officeDocument/2006/math">
                    <m:r>
                      <a:rPr lang="en-US" altLang="zh-CN" sz="2000" i="1">
                        <a:latin typeface="Cambria Math" panose="02040503050406030204" pitchFamily="18" charset="0"/>
                      </a:rPr>
                      <m:t>𝑖𝑛𝑓𝑜𝑟𝑚𝑎𝑡𝑖𝑜𝑛</m:t>
                    </m:r>
                    <m:r>
                      <a:rPr lang="en-US" altLang="zh-CN" sz="2000" i="1">
                        <a:latin typeface="Cambria Math" panose="02040503050406030204" pitchFamily="18" charset="0"/>
                      </a:rPr>
                      <m:t> </m:t>
                    </m:r>
                    <m:r>
                      <a:rPr lang="en-US" altLang="zh-CN" sz="2000" i="1">
                        <a:latin typeface="Cambria Math" panose="02040503050406030204" pitchFamily="18" charset="0"/>
                      </a:rPr>
                      <m:t>𝑠𝑒𝑐𝑢𝑟𝑖𝑡</m:t>
                    </m:r>
                    <m:r>
                      <a:rPr lang="en-US" altLang="zh-CN" sz="2000" i="1">
                        <a:latin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rPr>
                  <a:t>，则</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a:latin typeface="Cambria Math" panose="02040503050406030204" pitchFamily="18" charset="0"/>
                          </a:rPr>
                          <m:t>k</m:t>
                        </m:r>
                      </m:e>
                      <m:sub>
                        <m:r>
                          <a:rPr lang="en-US" altLang="zh-CN" sz="2000" i="1">
                            <a:latin typeface="Cambria Math" panose="02040503050406030204" pitchFamily="18" charset="0"/>
                          </a:rPr>
                          <m:t>𝑙</m:t>
                        </m:r>
                      </m:sub>
                    </m:sSub>
                    <m:r>
                      <a:rPr lang="en-US" altLang="zh-CN" sz="2000" i="1">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a:t>
                </a:r>
                <a14:m>
                  <m:oMath xmlns:m="http://schemas.openxmlformats.org/officeDocument/2006/math">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𝑙</m:t>
                            </m:r>
                            <m:r>
                              <a:rPr lang="en-US" altLang="zh-CN" sz="2000" i="1">
                                <a:latin typeface="Cambria Math" panose="02040503050406030204" pitchFamily="18" charset="0"/>
                              </a:rPr>
                              <m:t>−1</m:t>
                            </m:r>
                          </m:sub>
                        </m:sSub>
                        <m:r>
                          <a:rPr lang="en-US" altLang="zh-CN" sz="2000" i="1">
                            <a:latin typeface="Cambria Math" panose="02040503050406030204" pitchFamily="18" charset="0"/>
                          </a:rPr>
                          <m:t> </m:t>
                        </m:r>
                      </m:e>
                    </m:d>
                  </m:oMath>
                </a14:m>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计算机病，则</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a:latin typeface="Cambria Math" panose="02040503050406030204" pitchFamily="18" charset="0"/>
                          </a:rPr>
                          <m:t>k</m:t>
                        </m:r>
                      </m:e>
                      <m:sub>
                        <m:r>
                          <a:rPr lang="en-US" altLang="zh-CN" sz="2000" i="1">
                            <a:latin typeface="Cambria Math" panose="02040503050406030204" pitchFamily="18" charset="0"/>
                          </a:rPr>
                          <m:t>𝑙</m:t>
                        </m:r>
                      </m:sub>
                    </m:sSub>
                  </m:oMath>
                </a14:m>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毒；等等。</a:t>
                </a:r>
              </a:p>
            </p:txBody>
          </p:sp>
        </mc:Choice>
        <mc:Fallback xmlns="">
          <p:sp>
            <p:nvSpPr>
              <p:cNvPr id="10" name="文本框 9">
                <a:extLst>
                  <a:ext uri="{FF2B5EF4-FFF2-40B4-BE49-F238E27FC236}">
                    <a16:creationId xmlns:a16="http://schemas.microsoft.com/office/drawing/2014/main" id="{86254FE4-7CEB-5067-881D-00AB4213C69C}"/>
                  </a:ext>
                </a:extLst>
              </p:cNvPr>
              <p:cNvSpPr txBox="1">
                <a:spLocks noRot="1" noChangeAspect="1" noMove="1" noResize="1" noEditPoints="1" noAdjustHandles="1" noChangeArrowheads="1" noChangeShapeType="1" noTextEdit="1"/>
              </p:cNvSpPr>
              <p:nvPr/>
            </p:nvSpPr>
            <p:spPr>
              <a:xfrm>
                <a:off x="534210" y="5297053"/>
                <a:ext cx="11615111" cy="1323439"/>
              </a:xfrm>
              <a:prstGeom prst="rect">
                <a:avLst/>
              </a:prstGeom>
              <a:blipFill>
                <a:blip r:embed="rId6"/>
                <a:stretch>
                  <a:fillRect t="-2765" b="-64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3654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 calcmode="lin" valueType="num">
                                      <p:cBhvr additive="base">
                                        <p:cTn id="4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anim calcmode="lin" valueType="num">
                                      <p:cBhvr additive="base">
                                        <p:cTn id="4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xEl>
                                              <p:pRg st="0" end="0"/>
                                            </p:txEl>
                                          </p:spTgt>
                                        </p:tgtEl>
                                        <p:attrNameLst>
                                          <p:attrName>style.visibility</p:attrName>
                                        </p:attrNameLst>
                                      </p:cBhvr>
                                      <p:to>
                                        <p:strVal val="visible"/>
                                      </p:to>
                                    </p:set>
                                    <p:anim calcmode="lin" valueType="num">
                                      <p:cBhvr additive="base">
                                        <p:cTn id="5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
                                            <p:txEl>
                                              <p:pRg st="1" end="1"/>
                                            </p:txEl>
                                          </p:spTgt>
                                        </p:tgtEl>
                                        <p:attrNameLst>
                                          <p:attrName>style.visibility</p:attrName>
                                        </p:attrNameLst>
                                      </p:cBhvr>
                                      <p:to>
                                        <p:strVal val="visible"/>
                                      </p:to>
                                    </p:set>
                                    <p:anim calcmode="lin" valueType="num">
                                      <p:cBhvr additive="base">
                                        <p:cTn id="5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9"/>
            <a:ext cx="2646878" cy="584775"/>
          </a:xfrm>
          <a:prstGeom prst="rect">
            <a:avLst/>
          </a:prstGeom>
          <a:noFill/>
        </p:spPr>
        <p:txBody>
          <a:bodyPr wrap="none" rtlCol="0">
            <a:spAutoFit/>
          </a:bodyPr>
          <a:lstStyle/>
          <a:p>
            <a:pPr defTabSz="914377">
              <a:defRPr/>
            </a:pPr>
            <a:r>
              <a:rPr kumimoji="1" lang="zh-CN" altLang="en-US" sz="3200" dirty="0">
                <a:solidFill>
                  <a:srgbClr val="44546A"/>
                </a:solidFill>
                <a:cs typeface="+mn-ea"/>
                <a:sym typeface="+mn-lt"/>
              </a:rPr>
              <a:t>多表代换密码</a:t>
            </a:r>
          </a:p>
        </p:txBody>
      </p:sp>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05E4298-A011-9E35-13F9-382BAA42AA9A}"/>
                  </a:ext>
                </a:extLst>
              </p:cNvPr>
              <p:cNvSpPr txBox="1"/>
              <p:nvPr/>
            </p:nvSpPr>
            <p:spPr>
              <a:xfrm>
                <a:off x="452999" y="2346627"/>
                <a:ext cx="11632952" cy="1569660"/>
              </a:xfrm>
              <a:prstGeom prst="rect">
                <a:avLst/>
              </a:prstGeom>
              <a:noFill/>
            </p:spPr>
            <p:txBody>
              <a:bodyPr wrap="square" rtlCol="0">
                <a:spAutoFit/>
              </a:bodyPr>
              <a:lstStyle/>
              <a:p>
                <a:pPr indent="457155"/>
                <a:r>
                  <a:rPr lang="zh-CN" altLang="en-US" sz="2400" dirty="0">
                    <a:latin typeface="宋体" panose="02010600030101010101" pitchFamily="2" charset="-122"/>
                    <a:ea typeface="宋体" panose="02010600030101010101" pitchFamily="2" charset="-122"/>
                  </a:rPr>
                  <a:t>另一种办法是：取</a:t>
                </a: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𝑘</m:t>
                            </m:r>
                          </m:e>
                          <m:sub>
                            <m:r>
                              <m:rPr>
                                <m:sty m:val="p"/>
                              </m:rPr>
                              <a:rPr lang="en-US" altLang="zh-CN" sz="2400" i="1">
                                <a:latin typeface="Cambria Math" panose="02040503050406030204" pitchFamily="18" charset="0"/>
                              </a:rPr>
                              <m:t>d</m:t>
                            </m:r>
                            <m:r>
                              <a:rPr lang="en-US" altLang="zh-CN" sz="2400" i="1">
                                <a:latin typeface="Cambria Math" panose="02040503050406030204" pitchFamily="18" charset="0"/>
                              </a:rPr>
                              <m:t>−1</m:t>
                            </m:r>
                          </m:sub>
                        </m:sSub>
                        <m:r>
                          <a:rPr lang="en-US" altLang="zh-CN" sz="2400" i="1">
                            <a:latin typeface="Cambria Math" panose="02040503050406030204" pitchFamily="18" charset="0"/>
                          </a:rPr>
                          <m:t> </m:t>
                        </m:r>
                      </m:e>
                    </m:d>
                  </m:oMath>
                </a14:m>
                <a:r>
                  <a:rPr lang="zh-CN" altLang="en-US" sz="2400" dirty="0">
                    <a:latin typeface="宋体" panose="02010600030101010101" pitchFamily="2" charset="-122"/>
                    <a:ea typeface="宋体" panose="02010600030101010101" pitchFamily="2" charset="-122"/>
                  </a:rPr>
                  <a:t>为某个周期序列的一个周期，周期</a:t>
                </a:r>
                <a14:m>
                  <m:oMath xmlns:m="http://schemas.openxmlformats.org/officeDocument/2006/math">
                    <m:r>
                      <a:rPr lang="en-US" altLang="zh-CN" sz="2400" i="1" dirty="0">
                        <a:latin typeface="Cambria Math" panose="02040503050406030204" pitchFamily="18" charset="0"/>
                      </a:rPr>
                      <m:t>𝑑</m:t>
                    </m:r>
                    <m:r>
                      <a:rPr lang="zh-CN" altLang="en-US" sz="2400" i="1" dirty="0">
                        <a:latin typeface="Cambria Math" panose="02040503050406030204" pitchFamily="18" charset="0"/>
                      </a:rPr>
                      <m:t>极大</m:t>
                    </m:r>
                  </m:oMath>
                </a14:m>
                <a:r>
                  <a:rPr lang="zh-CN" altLang="en-US" sz="2400" dirty="0">
                    <a:latin typeface="宋体" panose="02010600030101010101" pitchFamily="2" charset="-122"/>
                    <a:ea typeface="宋体" panose="02010600030101010101" pitchFamily="2" charset="-122"/>
                  </a:rPr>
                  <a:t>，而用一个长度大约为</a:t>
                </a:r>
                <a14:m>
                  <m:oMath xmlns:m="http://schemas.openxmlformats.org/officeDocument/2006/math">
                    <m:r>
                      <m:rPr>
                        <m:sty m:val="p"/>
                      </m:rPr>
                      <a:rPr lang="en-US" altLang="zh-CN" sz="2400">
                        <a:latin typeface="Cambria Math" panose="02040503050406030204" pitchFamily="18" charset="0"/>
                      </a:rPr>
                      <m:t>ln</m:t>
                    </m:r>
                    <m:r>
                      <a:rPr lang="en-US" altLang="zh-CN" sz="2400" i="1">
                        <a:latin typeface="Cambria Math" panose="02040503050406030204" pitchFamily="18" charset="0"/>
                      </a:rPr>
                      <m:t>⁡(</m:t>
                    </m:r>
                    <m:r>
                      <a:rPr lang="en-US" altLang="zh-CN" sz="2400" i="1">
                        <a:latin typeface="Cambria Math" panose="02040503050406030204" pitchFamily="18" charset="0"/>
                      </a:rPr>
                      <m:t>𝑑</m:t>
                    </m:r>
                    <m:r>
                      <a:rPr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的“密钥种子”，采用公开算法来递归生成这个周期序列。此时通信伙伴只需要相互告知“密钥种子”的值。这是现代流密码一般构造，存在着大量有待解决的工程实践问题、学术理论问题。</a:t>
                </a:r>
              </a:p>
            </p:txBody>
          </p:sp>
        </mc:Choice>
        <mc:Fallback xmlns="">
          <p:sp>
            <p:nvSpPr>
              <p:cNvPr id="3" name="文本框 2">
                <a:extLst>
                  <a:ext uri="{FF2B5EF4-FFF2-40B4-BE49-F238E27FC236}">
                    <a16:creationId xmlns:a16="http://schemas.microsoft.com/office/drawing/2014/main" id="{105E4298-A011-9E35-13F9-382BAA42AA9A}"/>
                  </a:ext>
                </a:extLst>
              </p:cNvPr>
              <p:cNvSpPr txBox="1">
                <a:spLocks noRot="1" noChangeAspect="1" noMove="1" noResize="1" noEditPoints="1" noAdjustHandles="1" noChangeArrowheads="1" noChangeShapeType="1" noTextEdit="1"/>
              </p:cNvSpPr>
              <p:nvPr/>
            </p:nvSpPr>
            <p:spPr>
              <a:xfrm>
                <a:off x="452999" y="2346627"/>
                <a:ext cx="11632952" cy="1569660"/>
              </a:xfrm>
              <a:prstGeom prst="rect">
                <a:avLst/>
              </a:prstGeom>
              <a:blipFill>
                <a:blip r:embed="rId3"/>
                <a:stretch>
                  <a:fillRect l="-786" t="-4280" r="-52" b="-81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365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82D9161-C4C2-20FC-8C1A-9FF863D727B1}"/>
                  </a:ext>
                </a:extLst>
              </p:cNvPr>
              <p:cNvSpPr txBox="1"/>
              <p:nvPr/>
            </p:nvSpPr>
            <p:spPr>
              <a:xfrm>
                <a:off x="945453" y="1147310"/>
                <a:ext cx="11713241" cy="2059988"/>
              </a:xfrm>
              <a:prstGeom prst="rect">
                <a:avLst/>
              </a:prstGeom>
              <a:noFill/>
            </p:spPr>
            <p:txBody>
              <a:bodyPr wrap="square" rtlCol="0">
                <a:spAutoFit/>
              </a:bodyPr>
              <a:lstStyle/>
              <a:p>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多字母代换密码</a:t>
                </a:r>
                <a:endParaRPr lang="en-US" altLang="zh-CN" sz="2800" b="1"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多字母代换密码是字母</a:t>
                </a:r>
                <a:r>
                  <a:rPr lang="en-US" altLang="zh-CN" sz="2400" dirty="0">
                    <a:latin typeface="宋体" panose="02010600030101010101" pitchFamily="2" charset="-122"/>
                    <a:ea typeface="宋体" panose="02010600030101010101" pitchFamily="2" charset="-122"/>
                  </a:rPr>
                  <a:t>L</a:t>
                </a:r>
                <a:r>
                  <a:rPr lang="zh-CN" altLang="en-US" sz="2400" dirty="0">
                    <a:latin typeface="宋体" panose="02010600030101010101" pitchFamily="2" charset="-122"/>
                    <a:ea typeface="宋体" panose="02010600030101010101" pitchFamily="2" charset="-122"/>
                  </a:rPr>
                  <a:t>为向量空间到自身的一个可逆映射</a:t>
                </a:r>
                <a14:m>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 </m:t>
                    </m:r>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i="1">
                                <a:latin typeface="Cambria Math" panose="02040503050406030204" pitchFamily="18" charset="0"/>
                              </a:rPr>
                              <m:t>𝑞</m:t>
                            </m:r>
                          </m:sub>
                        </m:sSub>
                      </m:e>
                      <m:sup>
                        <m:r>
                          <a:rPr lang="en-US" altLang="zh-CN" sz="2400" i="1">
                            <a:latin typeface="Cambria Math" panose="02040503050406030204" pitchFamily="18" charset="0"/>
                          </a:rPr>
                          <m:t>𝐿</m:t>
                        </m:r>
                      </m:sup>
                    </m:sSup>
                    <m:r>
                      <a:rPr lang="en-US" altLang="zh-CN" sz="2400" i="1">
                        <a:latin typeface="Cambria Math" panose="02040503050406030204" pitchFamily="18" charset="0"/>
                        <a:ea typeface="Cambria Math" panose="02040503050406030204" pitchFamily="18" charset="0"/>
                      </a:rPr>
                      <m:t>→</m:t>
                    </m:r>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i="1">
                                <a:latin typeface="Cambria Math" panose="02040503050406030204" pitchFamily="18" charset="0"/>
                              </a:rPr>
                              <m:t>𝑞</m:t>
                            </m:r>
                          </m:sub>
                        </m:sSub>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；即</a:t>
                </a:r>
                <a:endParaRPr lang="en-US" altLang="zh-CN" sz="2400" dirty="0">
                  <a:latin typeface="宋体" panose="02010600030101010101" pitchFamily="2" charset="-122"/>
                  <a:ea typeface="宋体" panose="02010600030101010101" pitchFamily="2" charset="-122"/>
                </a:endParaRPr>
              </a:p>
              <a:p>
                <a:pPr algn="ctr"/>
                <a14:m>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0</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𝐿</m:t>
                            </m:r>
                            <m:r>
                              <a:rPr lang="en-US" altLang="zh-CN" sz="2400" i="1">
                                <a:latin typeface="Cambria Math" panose="02040503050406030204" pitchFamily="18" charset="0"/>
                              </a:rPr>
                              <m:t>−1</m:t>
                            </m:r>
                          </m:sub>
                        </m:sSub>
                      </m:e>
                    </m:d>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0</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𝐿</m:t>
                        </m:r>
                        <m:r>
                          <a:rPr lang="en-US" altLang="zh-CN" sz="2400" i="1">
                            <a:latin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令明文</a:t>
                </a:r>
                <a14:m>
                  <m:oMath xmlns:m="http://schemas.openxmlformats.org/officeDocument/2006/math">
                    <m:r>
                      <a:rPr lang="en-US" altLang="zh-CN" sz="2400" b="1" i="1" dirty="0">
                        <a:latin typeface="Cambria Math" panose="02040503050406030204" pitchFamily="18" charset="0"/>
                      </a:rPr>
                      <m:t>𝒎</m:t>
                    </m:r>
                  </m:oMath>
                </a14:m>
                <a:r>
                  <a:rPr lang="en-US" altLang="zh-CN" sz="2400" dirty="0">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𝑚</m:t>
                        </m:r>
                      </m:e>
                      <m:sub>
                        <m:r>
                          <a:rPr lang="en-US" altLang="zh-CN" sz="2400" i="1" dirty="0">
                            <a:latin typeface="Cambria Math" panose="02040503050406030204" pitchFamily="18" charset="0"/>
                          </a:rPr>
                          <m:t>0</m:t>
                        </m:r>
                      </m:sub>
                    </m:s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𝑚</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m:t>
                    </m:r>
                    <m:r>
                      <a:rPr lang="zh-CN" altLang="en-US" sz="2400" i="1" dirty="0">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则相应的密文为</a:t>
                </a:r>
                <a:endParaRPr lang="en-US" altLang="zh-CN" sz="2400" dirty="0">
                  <a:latin typeface="宋体" panose="02010600030101010101" pitchFamily="2" charset="-122"/>
                  <a:ea typeface="宋体" panose="02010600030101010101" pitchFamily="2" charset="-122"/>
                </a:endParaRPr>
              </a:p>
              <a:p>
                <a:pPr algn="ctr"/>
                <a14:m>
                  <m:oMath xmlns:m="http://schemas.openxmlformats.org/officeDocument/2006/math">
                    <m:r>
                      <a:rPr lang="en-US" altLang="zh-CN" sz="2400" b="1" i="1" dirty="0">
                        <a:latin typeface="Cambria Math" panose="02040503050406030204" pitchFamily="18" charset="0"/>
                      </a:rPr>
                      <m:t>𝒄</m:t>
                    </m:r>
                    <m:r>
                      <a:rPr lang="en-US" altLang="zh-CN" sz="2400" i="1" dirty="0">
                        <a:latin typeface="Cambria Math" panose="02040503050406030204" pitchFamily="18" charset="0"/>
                        <a:ea typeface="宋体" panose="02010600030101010101" pitchFamily="2" charset="-122"/>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𝑐</m:t>
                        </m:r>
                      </m:e>
                      <m:sub>
                        <m:r>
                          <a:rPr lang="en-US" altLang="zh-CN" sz="2400" i="1" dirty="0">
                            <a:latin typeface="Cambria Math" panose="02040503050406030204" pitchFamily="18" charset="0"/>
                          </a:rPr>
                          <m:t>0</m:t>
                        </m:r>
                      </m:sub>
                    </m:s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𝑐</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m:t>
                    </m:r>
                    <m:r>
                      <a:rPr lang="en-US" altLang="zh-CN" sz="2400" i="1" dirty="0">
                        <a:latin typeface="Cambria Math" panose="02040503050406030204" pitchFamily="18" charset="0"/>
                        <a:ea typeface="宋体" panose="02010600030101010101" pitchFamily="2" charset="-122"/>
                      </a:rPr>
                      <m:t>= </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0</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𝐿</m:t>
                            </m:r>
                            <m:r>
                              <a:rPr lang="en-US" altLang="zh-CN" sz="2400" i="1">
                                <a:latin typeface="Cambria Math" panose="02040503050406030204" pitchFamily="18" charset="0"/>
                              </a:rPr>
                              <m:t>−1</m:t>
                            </m:r>
                          </m:sub>
                        </m:sSub>
                      </m:e>
                    </m:d>
                  </m:oMath>
                </a14:m>
                <a:r>
                  <a:rPr lang="en-US" altLang="zh-CN" sz="2400" dirty="0">
                    <a:latin typeface="宋体" panose="02010600030101010101" pitchFamily="2" charset="-122"/>
                    <a:ea typeface="宋体" panose="02010600030101010101" pitchFamily="2" charset="-122"/>
                  </a:rPr>
                  <a:t> </a:t>
                </a:r>
                <a14:m>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𝐿</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𝐿</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r>
                              <a:rPr lang="en-US" altLang="zh-CN" sz="2400" i="1">
                                <a:latin typeface="Cambria Math" panose="02040503050406030204" pitchFamily="18" charset="0"/>
                              </a:rPr>
                              <m:t>𝐿</m:t>
                            </m:r>
                            <m:r>
                              <a:rPr lang="en-US" altLang="zh-CN" sz="2400" i="1">
                                <a:latin typeface="Cambria Math" panose="02040503050406030204" pitchFamily="18" charset="0"/>
                              </a:rPr>
                              <m:t>−1</m:t>
                            </m:r>
                          </m:sub>
                        </m:sSub>
                      </m:e>
                    </m:d>
                    <m:r>
                      <a:rPr lang="en-US" altLang="zh-CN" sz="2400" i="1">
                        <a:latin typeface="Cambria Math" panose="02040503050406030204" pitchFamily="18" charset="0"/>
                      </a:rPr>
                      <m:t>…</m:t>
                    </m:r>
                  </m:oMath>
                </a14:m>
                <a:endParaRPr lang="zh-CN" altLang="en-US" sz="2400" dirty="0">
                  <a:latin typeface="宋体" panose="02010600030101010101" pitchFamily="2" charset="-122"/>
                  <a:ea typeface="宋体" panose="02010600030101010101" pitchFamily="2" charset="-122"/>
                </a:endParaRPr>
              </a:p>
            </p:txBody>
          </p:sp>
        </mc:Choice>
        <mc:Fallback xmlns="">
          <p:sp>
            <p:nvSpPr>
              <p:cNvPr id="6" name="文本框 5">
                <a:extLst>
                  <a:ext uri="{FF2B5EF4-FFF2-40B4-BE49-F238E27FC236}">
                    <a16:creationId xmlns:a16="http://schemas.microsoft.com/office/drawing/2014/main" id="{882D9161-C4C2-20FC-8C1A-9FF863D727B1}"/>
                  </a:ext>
                </a:extLst>
              </p:cNvPr>
              <p:cNvSpPr txBox="1">
                <a:spLocks noRot="1" noChangeAspect="1" noMove="1" noResize="1" noEditPoints="1" noAdjustHandles="1" noChangeArrowheads="1" noChangeShapeType="1" noTextEdit="1"/>
              </p:cNvSpPr>
              <p:nvPr/>
            </p:nvSpPr>
            <p:spPr>
              <a:xfrm>
                <a:off x="945453" y="1147310"/>
                <a:ext cx="11713241" cy="2059988"/>
              </a:xfrm>
              <a:prstGeom prst="rect">
                <a:avLst/>
              </a:prstGeom>
              <a:blipFill>
                <a:blip r:embed="rId3"/>
                <a:stretch>
                  <a:fillRect l="-1041" t="-2959" b="-38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C3B44DA0-B6BF-1605-9A6A-2407042C9231}"/>
                  </a:ext>
                </a:extLst>
              </p:cNvPr>
              <p:cNvSpPr txBox="1"/>
              <p:nvPr/>
            </p:nvSpPr>
            <p:spPr>
              <a:xfrm>
                <a:off x="179162" y="3271151"/>
                <a:ext cx="11833675" cy="2561279"/>
              </a:xfrm>
              <a:prstGeom prst="rect">
                <a:avLst/>
              </a:prstGeom>
              <a:noFill/>
            </p:spPr>
            <p:txBody>
              <a:bodyPr wrap="square" rtlCol="0">
                <a:spAutoFit/>
              </a:bodyPr>
              <a:lstStyle/>
              <a:p>
                <a:pPr indent="457155"/>
                <a:r>
                  <a:rPr lang="zh-CN" altLang="en-US" sz="2800" b="1" dirty="0">
                    <a:latin typeface="宋体" panose="02010600030101010101" pitchFamily="2" charset="-122"/>
                    <a:ea typeface="宋体" panose="02010600030101010101" pitchFamily="2" charset="-122"/>
                  </a:rPr>
                  <a:t>对多字母代换密码的讨论</a:t>
                </a:r>
                <a:endParaRPr lang="en-US" altLang="zh-CN" sz="2800" b="1"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我们知道，字母</a:t>
                </a:r>
                <a14:m>
                  <m:oMath xmlns:m="http://schemas.openxmlformats.org/officeDocument/2006/math">
                    <m:r>
                      <a:rPr lang="en-US" altLang="zh-CN" sz="2400" i="1">
                        <a:latin typeface="Cambria Math" panose="02040503050406030204" pitchFamily="18" charset="0"/>
                      </a:rPr>
                      <m:t>𝐿</m:t>
                    </m:r>
                  </m:oMath>
                </a14:m>
                <a:r>
                  <a:rPr lang="zh-CN" altLang="en-US" sz="2400" dirty="0">
                    <a:latin typeface="宋体" panose="02010600030101010101" pitchFamily="2" charset="-122"/>
                    <a:ea typeface="宋体" panose="02010600030101010101" pitchFamily="2" charset="-122"/>
                  </a:rPr>
                  <a:t>维向量空间</a:t>
                </a:r>
                <a14:m>
                  <m:oMath xmlns:m="http://schemas.openxmlformats.org/officeDocument/2006/math">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m:rPr>
                                <m:sty m:val="p"/>
                              </m:rPr>
                              <a:rPr lang="en-US" altLang="zh-CN" sz="2400" i="1">
                                <a:latin typeface="Cambria Math" panose="02040503050406030204" pitchFamily="18" charset="0"/>
                              </a:rPr>
                              <m:t>q</m:t>
                            </m:r>
                          </m:sub>
                        </m:sSub>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一共有</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𝑞</m:t>
                        </m:r>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个向量。</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换句话说，多字母代换密码</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实际上是一个单表代换密码，只不过“字母表”是</a:t>
                </a:r>
                <a14:m>
                  <m:oMath xmlns:m="http://schemas.openxmlformats.org/officeDocument/2006/math">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m:rPr>
                                <m:sty m:val="p"/>
                              </m:rPr>
                              <a:rPr lang="en-US" altLang="zh-CN" sz="2400" i="1">
                                <a:latin typeface="Cambria Math" panose="02040503050406030204" pitchFamily="18" charset="0"/>
                              </a:rPr>
                              <m:t>q</m:t>
                            </m:r>
                          </m:sub>
                        </m:sSub>
                      </m:e>
                      <m:sup>
                        <m:r>
                          <a:rPr lang="en-US" altLang="zh-CN" sz="2400" i="1">
                            <a:latin typeface="Cambria Math" panose="02040503050406030204" pitchFamily="18" charset="0"/>
                          </a:rPr>
                          <m:t>𝐿</m:t>
                        </m:r>
                      </m:sup>
                    </m:sSup>
                    <m:r>
                      <a:rPr lang="en-US" altLang="zh-CN" sz="2400" i="1">
                        <a:latin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rPr>
                  <a:t>，有</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𝑞</m:t>
                        </m:r>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个“字母”。这里的一个“字母”就是</a:t>
                </a:r>
                <a14:m>
                  <m:oMath xmlns:m="http://schemas.openxmlformats.org/officeDocument/2006/math">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m:rPr>
                                <m:sty m:val="p"/>
                              </m:rPr>
                              <a:rPr lang="en-US" altLang="zh-CN" sz="2400" i="1">
                                <a:latin typeface="Cambria Math" panose="02040503050406030204" pitchFamily="18" charset="0"/>
                              </a:rPr>
                              <m:t>q</m:t>
                            </m:r>
                          </m:sub>
                        </m:sSub>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中的一个</a:t>
                </a:r>
                <a14:m>
                  <m:oMath xmlns:m="http://schemas.openxmlformats.org/officeDocument/2006/math">
                    <m:r>
                      <a:rPr lang="en-US" altLang="zh-CN" sz="2400" i="1">
                        <a:latin typeface="Cambria Math" panose="02040503050406030204" pitchFamily="18" charset="0"/>
                      </a:rPr>
                      <m:t>𝐿</m:t>
                    </m:r>
                  </m:oMath>
                </a14:m>
                <a:r>
                  <a:rPr lang="zh-CN" altLang="en-US" sz="2400" dirty="0">
                    <a:latin typeface="宋体" panose="02010600030101010101" pitchFamily="2" charset="-122"/>
                    <a:ea typeface="宋体" panose="02010600030101010101" pitchFamily="2" charset="-122"/>
                  </a:rPr>
                  <a:t>维向量。</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如果</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设计得好，则需要</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𝑞</m:t>
                        </m:r>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个“密文字母”和其对应的“明文字母”才能确定</a:t>
                </a:r>
                <a14:m>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rPr>
                  <a:t>。（取</a:t>
                </a:r>
                <a14:m>
                  <m:oMath xmlns:m="http://schemas.openxmlformats.org/officeDocument/2006/math">
                    <m:r>
                      <m:rPr>
                        <m:sty m:val="p"/>
                      </m:rPr>
                      <a:rPr lang="en-US" altLang="zh-CN" sz="2400">
                        <a:latin typeface="Cambria Math" panose="02040503050406030204" pitchFamily="18" charset="0"/>
                      </a:rPr>
                      <m:t>q</m:t>
                    </m:r>
                    <m:r>
                      <a:rPr lang="en-US" altLang="zh-CN" sz="2400">
                        <a:latin typeface="Cambria Math" panose="02040503050406030204" pitchFamily="18" charset="0"/>
                      </a:rPr>
                      <m:t>=</m:t>
                    </m:r>
                    <m:r>
                      <a:rPr lang="en-US" altLang="zh-CN" sz="2400" i="1">
                        <a:latin typeface="Cambria Math" panose="02040503050406030204" pitchFamily="18" charset="0"/>
                      </a:rPr>
                      <m:t>2</m:t>
                    </m:r>
                  </m:oMath>
                </a14:m>
                <a:r>
                  <a:rPr lang="zh-CN" altLang="en-US" sz="2400" dirty="0">
                    <a:latin typeface="宋体" panose="02010600030101010101" pitchFamily="2" charset="-122"/>
                    <a:ea typeface="宋体" panose="02010600030101010101" pitchFamily="2" charset="-122"/>
                  </a:rPr>
                  <a:t>，</a:t>
                </a:r>
                <a14:m>
                  <m:oMath xmlns:m="http://schemas.openxmlformats.org/officeDocument/2006/math">
                    <m:r>
                      <m:rPr>
                        <m:sty m:val="p"/>
                      </m:rPr>
                      <a:rPr lang="en-US" altLang="zh-CN" sz="2400" dirty="0">
                        <a:latin typeface="Cambria Math" panose="02040503050406030204" pitchFamily="18" charset="0"/>
                      </a:rPr>
                      <m:t>L</m:t>
                    </m:r>
                    <m:r>
                      <a:rPr lang="en-US" altLang="zh-CN" sz="2400">
                        <a:latin typeface="Cambria Math" panose="02040503050406030204" pitchFamily="18" charset="0"/>
                      </a:rPr>
                      <m:t>=</m:t>
                    </m:r>
                    <m:r>
                      <a:rPr lang="en-US" altLang="zh-CN" sz="2400" i="1">
                        <a:latin typeface="Cambria Math" panose="02040503050406030204" pitchFamily="18" charset="0"/>
                      </a:rPr>
                      <m:t>128 </m:t>
                    </m:r>
                  </m:oMath>
                </a14:m>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𝑞</m:t>
                        </m:r>
                      </m:e>
                      <m:sup>
                        <m:r>
                          <a:rPr lang="en-US" altLang="zh-CN" sz="2400" i="1">
                            <a:latin typeface="Cambria Math" panose="02040503050406030204" pitchFamily="18" charset="0"/>
                          </a:rPr>
                          <m:t>𝐿</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i="1">
                            <a:latin typeface="Cambria Math" panose="02040503050406030204" pitchFamily="18" charset="0"/>
                          </a:rPr>
                          <m:t>128</m:t>
                        </m:r>
                      </m:sup>
                    </m:sSup>
                  </m:oMath>
                </a14:m>
                <a:r>
                  <a:rPr lang="zh-CN" altLang="en-US" sz="2400" dirty="0">
                    <a:latin typeface="宋体" panose="02010600030101010101" pitchFamily="2" charset="-122"/>
                    <a:ea typeface="宋体" panose="02010600030101010101" pitchFamily="2" charset="-122"/>
                  </a:rPr>
                  <a:t>则是一个极庞大的数字。）</a:t>
                </a:r>
              </a:p>
            </p:txBody>
          </p:sp>
        </mc:Choice>
        <mc:Fallback>
          <p:sp>
            <p:nvSpPr>
              <p:cNvPr id="8" name="文本框 7">
                <a:extLst>
                  <a:ext uri="{FF2B5EF4-FFF2-40B4-BE49-F238E27FC236}">
                    <a16:creationId xmlns:a16="http://schemas.microsoft.com/office/drawing/2014/main" id="{C3B44DA0-B6BF-1605-9A6A-2407042C9231}"/>
                  </a:ext>
                </a:extLst>
              </p:cNvPr>
              <p:cNvSpPr txBox="1">
                <a:spLocks noRot="1" noChangeAspect="1" noMove="1" noResize="1" noEditPoints="1" noAdjustHandles="1" noChangeArrowheads="1" noChangeShapeType="1" noTextEdit="1"/>
              </p:cNvSpPr>
              <p:nvPr/>
            </p:nvSpPr>
            <p:spPr>
              <a:xfrm>
                <a:off x="179162" y="3271151"/>
                <a:ext cx="11833675" cy="2561279"/>
              </a:xfrm>
              <a:prstGeom prst="rect">
                <a:avLst/>
              </a:prstGeom>
              <a:blipFill>
                <a:blip r:embed="rId4"/>
                <a:stretch>
                  <a:fillRect l="-772" t="-2619" r="-3347" b="-38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265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 calcmode="lin" valueType="num">
                                      <p:cBhvr additive="base">
                                        <p:cTn id="1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 calcmode="lin" valueType="num">
                                      <p:cBhvr additive="base">
                                        <p:cTn id="2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472AB12D-C909-C8A1-8DCE-4501C7FC3780}"/>
              </a:ext>
            </a:extLst>
          </p:cNvPr>
          <p:cNvSpPr txBox="1">
            <a:spLocks noChangeArrowheads="1"/>
          </p:cNvSpPr>
          <p:nvPr/>
        </p:nvSpPr>
        <p:spPr>
          <a:xfrm>
            <a:off x="2348542" y="1025570"/>
            <a:ext cx="8013700" cy="2303469"/>
          </a:xfrm>
          <a:prstGeom prst="rect">
            <a:avLst/>
          </a:prstGeom>
        </p:spPr>
        <p:txBody>
          <a:bodyPr vert="horz" lIns="91440" tIns="45720" rIns="91440" bIns="45720" rtlCol="0">
            <a:noAutofit/>
          </a:bodyPr>
          <a:lst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1">
                  <a:lumMod val="75000"/>
                </a:schemeClr>
              </a:buClr>
              <a:buSzPct val="60000"/>
              <a:buNone/>
            </a:pPr>
            <a:endParaRPr lang="en-US" altLang="zh-CN" sz="2400"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6494DCF-B99A-309B-33B8-BC763449CCBA}"/>
                  </a:ext>
                </a:extLst>
              </p:cNvPr>
              <p:cNvSpPr txBox="1"/>
              <p:nvPr/>
            </p:nvSpPr>
            <p:spPr>
              <a:xfrm>
                <a:off x="338466" y="1427017"/>
                <a:ext cx="11757847" cy="2372124"/>
              </a:xfrm>
              <a:prstGeom prst="rect">
                <a:avLst/>
              </a:prstGeom>
              <a:noFill/>
            </p:spPr>
            <p:txBody>
              <a:bodyPr wrap="square" rtlCol="0">
                <a:spAutoFit/>
              </a:bodyPr>
              <a:lstStyle/>
              <a:p>
                <a:pPr indent="457155"/>
                <a:r>
                  <a:rPr lang="zh-CN" altLang="en-US" sz="2400" dirty="0">
                    <a:latin typeface="宋体" panose="02010600030101010101" pitchFamily="2" charset="-122"/>
                    <a:ea typeface="宋体" panose="02010600030101010101" pitchFamily="2" charset="-122"/>
                  </a:rPr>
                  <a:t>因此，设计得好的多字母代换密码</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能够极大地扩大已知明文攻击所需要的明文</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密文的长度。</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但问题是，多字母代换密码</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怎样做到设计得好并且简单快速？（达到设计要求的密码是一种现代密码，称之为分组密码。）</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显然不能使用真实的代换表，因为一个代换表需要</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𝑞</m:t>
                        </m:r>
                      </m:e>
                      <m:sup>
                        <m:r>
                          <a:rPr lang="en-US" altLang="zh-CN" sz="2400" i="1">
                            <a:latin typeface="Cambria Math" panose="02040503050406030204" pitchFamily="18" charset="0"/>
                          </a:rPr>
                          <m:t>𝐿</m:t>
                        </m:r>
                      </m:sup>
                    </m:sSup>
                  </m:oMath>
                </a14:m>
                <a:r>
                  <a:rPr lang="zh-CN" altLang="en-US" sz="2400" dirty="0">
                    <a:latin typeface="宋体" panose="02010600030101010101" pitchFamily="2" charset="-122"/>
                    <a:ea typeface="宋体" panose="02010600030101010101" pitchFamily="2" charset="-122"/>
                  </a:rPr>
                  <a:t>个对应规则：</a:t>
                </a:r>
                <a:endParaRPr lang="en-US" altLang="zh-CN" sz="2400" dirty="0">
                  <a:latin typeface="宋体" panose="02010600030101010101" pitchFamily="2" charset="-122"/>
                  <a:ea typeface="宋体" panose="02010600030101010101" pitchFamily="2" charset="-122"/>
                </a:endParaRPr>
              </a:p>
              <a:p>
                <a:pPr indent="457155"/>
                <a14:m>
                  <m:oMathPara xmlns:m="http://schemas.openxmlformats.org/officeDocument/2006/math">
                    <m:oMathParaPr>
                      <m:jc m:val="centerGroup"/>
                    </m:oMathParaPr>
                    <m:oMath xmlns:m="http://schemas.openxmlformats.org/officeDocument/2006/math">
                      <m:r>
                        <m:rPr>
                          <m:sty m:val="p"/>
                        </m:rPr>
                        <a:rPr lang="en-US" altLang="zh-CN" sz="2400" i="1" dirty="0">
                          <a:latin typeface="Cambria Math" panose="02040503050406030204" pitchFamily="18" charset="0"/>
                        </a:rPr>
                        <m:t>x</m:t>
                      </m:r>
                      <m:r>
                        <a:rPr lang="en-US" altLang="zh-CN" sz="2400" i="1" dirty="0">
                          <a:latin typeface="Cambria Math" panose="02040503050406030204" pitchFamily="18" charset="0"/>
                          <a:ea typeface="Cambria Math" panose="02040503050406030204" pitchFamily="18" charset="0"/>
                        </a:rPr>
                        <m:t>→</m:t>
                      </m:r>
                      <m:r>
                        <a:rPr lang="en-US" altLang="zh-CN" sz="2400" i="1" dirty="0">
                          <a:latin typeface="Cambria Math" panose="02040503050406030204" pitchFamily="18" charset="0"/>
                          <a:ea typeface="Cambria Math" panose="02040503050406030204" pitchFamily="18" charset="0"/>
                        </a:rPr>
                        <m:t>𝑓</m:t>
                      </m:r>
                      <m:d>
                        <m:dPr>
                          <m:ctrlPr>
                            <a:rPr lang="en-US" altLang="zh-CN" sz="2400" i="1" dirty="0">
                              <a:latin typeface="Cambria Math" panose="02040503050406030204" pitchFamily="18" charset="0"/>
                              <a:ea typeface="Cambria Math" panose="02040503050406030204" pitchFamily="18" charset="0"/>
                            </a:rPr>
                          </m:ctrlPr>
                        </m:dPr>
                        <m:e>
                          <m:r>
                            <a:rPr lang="en-US" altLang="zh-CN" sz="2400" i="1" dirty="0">
                              <a:latin typeface="Cambria Math" panose="02040503050406030204" pitchFamily="18" charset="0"/>
                              <a:ea typeface="Cambria Math" panose="02040503050406030204" pitchFamily="18" charset="0"/>
                            </a:rPr>
                            <m:t>𝑥</m:t>
                          </m:r>
                        </m:e>
                      </m:d>
                      <m:r>
                        <a:rPr lang="en-US" altLang="zh-CN" sz="2400" i="1" dirty="0">
                          <a:latin typeface="Cambria Math" panose="02040503050406030204" pitchFamily="18" charset="0"/>
                          <a:ea typeface="Cambria Math" panose="02040503050406030204" pitchFamily="18" charset="0"/>
                        </a:rPr>
                        <m:t>, </m:t>
                      </m:r>
                      <m:r>
                        <a:rPr lang="en-US" altLang="zh-CN" sz="2400" i="1" dirty="0">
                          <a:latin typeface="Cambria Math" panose="02040503050406030204" pitchFamily="18" charset="0"/>
                          <a:ea typeface="Cambria Math" panose="02040503050406030204" pitchFamily="18" charset="0"/>
                        </a:rPr>
                        <m:t>𝑥</m:t>
                      </m:r>
                      <m:r>
                        <a:rPr lang="en-US" altLang="zh-CN" sz="2400" i="1" dirty="0">
                          <a:latin typeface="Cambria Math" panose="02040503050406030204" pitchFamily="18" charset="0"/>
                          <a:ea typeface="Cambria Math" panose="02040503050406030204" pitchFamily="18" charset="0"/>
                        </a:rPr>
                        <m:t> </m:t>
                      </m:r>
                      <m:r>
                        <m:rPr>
                          <m:sty m:val="p"/>
                        </m:rPr>
                        <a:rPr lang="el-GR" altLang="zh-CN" sz="2400" i="1" dirty="0">
                          <a:latin typeface="Cambria Math" panose="02040503050406030204" pitchFamily="18" charset="0"/>
                          <a:ea typeface="Cambria Math" panose="02040503050406030204" pitchFamily="18" charset="0"/>
                        </a:rPr>
                        <m:t>ϵ</m:t>
                      </m:r>
                      <m:r>
                        <a:rPr lang="en-US" altLang="zh-CN" sz="2400" i="1" dirty="0">
                          <a:latin typeface="Cambria Math" panose="02040503050406030204" pitchFamily="18" charset="0"/>
                          <a:ea typeface="Cambria Math" panose="02040503050406030204" pitchFamily="18" charset="0"/>
                        </a:rPr>
                        <m:t> </m:t>
                      </m:r>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m:rPr>
                                  <m:sty m:val="p"/>
                                </m:rPr>
                                <a:rPr lang="en-US" altLang="zh-CN" sz="2400" i="1">
                                  <a:latin typeface="Cambria Math" panose="02040503050406030204" pitchFamily="18" charset="0"/>
                                </a:rPr>
                                <m:t>q</m:t>
                              </m:r>
                            </m:sub>
                          </m:sSub>
                        </m:e>
                        <m:sup>
                          <m:r>
                            <a:rPr lang="en-US" altLang="zh-CN" sz="2400" i="1">
                              <a:latin typeface="Cambria Math" panose="02040503050406030204" pitchFamily="18" charset="0"/>
                            </a:rPr>
                            <m:t>𝐿</m:t>
                          </m:r>
                        </m:sup>
                      </m:sSup>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26494DCF-B99A-309B-33B8-BC763449CCBA}"/>
                  </a:ext>
                </a:extLst>
              </p:cNvPr>
              <p:cNvSpPr txBox="1">
                <a:spLocks noRot="1" noChangeAspect="1" noMove="1" noResize="1" noEditPoints="1" noAdjustHandles="1" noChangeArrowheads="1" noChangeShapeType="1" noTextEdit="1"/>
              </p:cNvSpPr>
              <p:nvPr/>
            </p:nvSpPr>
            <p:spPr>
              <a:xfrm>
                <a:off x="338466" y="1427017"/>
                <a:ext cx="11757847" cy="2372124"/>
              </a:xfrm>
              <a:prstGeom prst="rect">
                <a:avLst/>
              </a:prstGeom>
              <a:blipFill>
                <a:blip r:embed="rId3"/>
                <a:stretch>
                  <a:fillRect l="-830" t="-28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547EE5C-3E7D-09E4-1701-644259CD5030}"/>
                  </a:ext>
                </a:extLst>
              </p:cNvPr>
              <p:cNvSpPr txBox="1"/>
              <p:nvPr/>
            </p:nvSpPr>
            <p:spPr>
              <a:xfrm>
                <a:off x="401850" y="3799141"/>
                <a:ext cx="11695399" cy="2308324"/>
              </a:xfrm>
              <a:prstGeom prst="rect">
                <a:avLst/>
              </a:prstGeom>
              <a:noFill/>
            </p:spPr>
            <p:txBody>
              <a:bodyPr wrap="square" rtlCol="0">
                <a:spAutoFit/>
              </a:bodyPr>
              <a:lstStyle/>
              <a:p>
                <a:pPr indent="457155"/>
                <a:r>
                  <a:rPr lang="zh-CN" altLang="en-US" sz="2400" dirty="0">
                    <a:latin typeface="宋体" panose="02010600030101010101" pitchFamily="2" charset="-122"/>
                    <a:ea typeface="宋体" panose="02010600030101010101" pitchFamily="2" charset="-122"/>
                  </a:rPr>
                  <a:t>古典的多字母代换密码</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或者采用移位运算，或者采用线性运算，或者采用仿射运算，等等。</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这些孤立的运算都是简单快速的，但是在已知明文攻击之下都是非常不安全的。只需要比较短的密文和对应明文就可以确定密钥。</a:t>
                </a:r>
                <a:endParaRPr lang="en-US" altLang="zh-CN" sz="2400" dirty="0">
                  <a:latin typeface="宋体" panose="02010600030101010101" pitchFamily="2" charset="-122"/>
                  <a:ea typeface="宋体" panose="02010600030101010101" pitchFamily="2" charset="-122"/>
                </a:endParaRPr>
              </a:p>
              <a:p>
                <a:pPr indent="457155"/>
                <a:r>
                  <a:rPr lang="zh-CN" altLang="en-US" sz="2400" dirty="0">
                    <a:latin typeface="宋体" panose="02010600030101010101" pitchFamily="2" charset="-122"/>
                    <a:ea typeface="宋体" panose="02010600030101010101" pitchFamily="2" charset="-122"/>
                  </a:rPr>
                  <a:t>现代分组密码的设计思想是，</a:t>
                </a:r>
                <a14:m>
                  <m:oMath xmlns:m="http://schemas.openxmlformats.org/officeDocument/2006/math">
                    <m:r>
                      <a:rPr lang="en-US" altLang="zh-CN" sz="2400" i="1">
                        <a:latin typeface="Cambria Math" panose="02040503050406030204" pitchFamily="18" charset="0"/>
                      </a:rPr>
                      <m:t>𝑓</m:t>
                    </m:r>
                  </m:oMath>
                </a14:m>
                <a:r>
                  <a:rPr lang="zh-CN" altLang="en-US" sz="2400" dirty="0">
                    <a:latin typeface="宋体" panose="02010600030101010101" pitchFamily="2" charset="-122"/>
                    <a:ea typeface="宋体" panose="02010600030101010101" pitchFamily="2" charset="-122"/>
                  </a:rPr>
                  <a:t>由若干简单运算组合而成。这些简单运算互相屏蔽，使得已知明文攻击很难成功地找出密钥。</a:t>
                </a:r>
              </a:p>
            </p:txBody>
          </p:sp>
        </mc:Choice>
        <mc:Fallback xmlns="">
          <p:sp>
            <p:nvSpPr>
              <p:cNvPr id="3" name="文本框 2">
                <a:extLst>
                  <a:ext uri="{FF2B5EF4-FFF2-40B4-BE49-F238E27FC236}">
                    <a16:creationId xmlns:a16="http://schemas.microsoft.com/office/drawing/2014/main" id="{5547EE5C-3E7D-09E4-1701-644259CD5030}"/>
                  </a:ext>
                </a:extLst>
              </p:cNvPr>
              <p:cNvSpPr txBox="1">
                <a:spLocks noRot="1" noChangeAspect="1" noMove="1" noResize="1" noEditPoints="1" noAdjustHandles="1" noChangeArrowheads="1" noChangeShapeType="1" noTextEdit="1"/>
              </p:cNvSpPr>
              <p:nvPr/>
            </p:nvSpPr>
            <p:spPr>
              <a:xfrm>
                <a:off x="401850" y="3799141"/>
                <a:ext cx="11695399" cy="2308324"/>
              </a:xfrm>
              <a:prstGeom prst="rect">
                <a:avLst/>
              </a:prstGeom>
              <a:blipFill>
                <a:blip r:embed="rId4"/>
                <a:stretch>
                  <a:fillRect l="-834" t="-2902" r="-3389" b="-50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617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5" y="237508"/>
            <a:ext cx="1723549" cy="461665"/>
          </a:xfrm>
          <a:prstGeom prst="rect">
            <a:avLst/>
          </a:prstGeom>
          <a:noFill/>
        </p:spPr>
        <p:txBody>
          <a:bodyPr wrap="none" rtlCol="0">
            <a:spAutoFit/>
          </a:bodyPr>
          <a:lstStyle/>
          <a:p>
            <a:pPr defTabSz="914377">
              <a:defRPr/>
            </a:pPr>
            <a:r>
              <a:rPr kumimoji="1" lang="zh-CN" altLang="en-US" sz="2400" dirty="0">
                <a:solidFill>
                  <a:srgbClr val="44546A"/>
                </a:solidFill>
                <a:cs typeface="+mn-ea"/>
                <a:sym typeface="+mn-lt"/>
              </a:rPr>
              <a:t>第一章重点</a:t>
            </a:r>
          </a:p>
        </p:txBody>
      </p:sp>
      <p:sp>
        <p:nvSpPr>
          <p:cNvPr id="3" name="圆角矩形 2">
            <a:extLst>
              <a:ext uri="{FF2B5EF4-FFF2-40B4-BE49-F238E27FC236}">
                <a16:creationId xmlns:a16="http://schemas.microsoft.com/office/drawing/2014/main" id="{290ABB2B-5655-AB44-8431-D8A3E4A15F8E}"/>
              </a:ext>
            </a:extLst>
          </p:cNvPr>
          <p:cNvSpPr/>
          <p:nvPr/>
        </p:nvSpPr>
        <p:spPr>
          <a:xfrm>
            <a:off x="1552372"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4" name="圆角矩形 3">
            <a:extLst>
              <a:ext uri="{FF2B5EF4-FFF2-40B4-BE49-F238E27FC236}">
                <a16:creationId xmlns:a16="http://schemas.microsoft.com/office/drawing/2014/main" id="{6CDEF492-CAA4-8D4E-8B95-8EA57462B6DB}"/>
              </a:ext>
            </a:extLst>
          </p:cNvPr>
          <p:cNvSpPr/>
          <p:nvPr/>
        </p:nvSpPr>
        <p:spPr>
          <a:xfrm>
            <a:off x="1305058" y="1674430"/>
            <a:ext cx="2960431" cy="4031655"/>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5" name="文本框 4">
            <a:extLst>
              <a:ext uri="{FF2B5EF4-FFF2-40B4-BE49-F238E27FC236}">
                <a16:creationId xmlns:a16="http://schemas.microsoft.com/office/drawing/2014/main" id="{BA27805B-EFFF-E84F-9C9B-26153B51D9DB}"/>
              </a:ext>
            </a:extLst>
          </p:cNvPr>
          <p:cNvSpPr txBox="1"/>
          <p:nvPr/>
        </p:nvSpPr>
        <p:spPr>
          <a:xfrm>
            <a:off x="1490728" y="2342729"/>
            <a:ext cx="2339102" cy="523220"/>
          </a:xfrm>
          <a:prstGeom prst="rect">
            <a:avLst/>
          </a:prstGeom>
          <a:noFill/>
        </p:spPr>
        <p:txBody>
          <a:bodyPr wrap="none" rtlCol="0">
            <a:spAutoFit/>
          </a:bodyPr>
          <a:lstStyle/>
          <a:p>
            <a:pPr defTabSz="914377">
              <a:defRPr/>
            </a:pPr>
            <a:r>
              <a:rPr kumimoji="1" lang="zh-CN" altLang="en-US" sz="2800" dirty="0">
                <a:solidFill>
                  <a:prstClr val="white"/>
                </a:solidFill>
                <a:latin typeface="宋体" panose="02010600030101010101" pitchFamily="2" charset="-122"/>
                <a:ea typeface="宋体" panose="02010600030101010101" pitchFamily="2" charset="-122"/>
                <a:cs typeface="+mn-ea"/>
                <a:sym typeface="+mn-lt"/>
              </a:rPr>
              <a:t>密码体制分类</a:t>
            </a:r>
          </a:p>
        </p:txBody>
      </p:sp>
      <p:sp>
        <p:nvSpPr>
          <p:cNvPr id="7" name="文本框 6">
            <a:extLst>
              <a:ext uri="{FF2B5EF4-FFF2-40B4-BE49-F238E27FC236}">
                <a16:creationId xmlns:a16="http://schemas.microsoft.com/office/drawing/2014/main" id="{9B8073AF-8EF4-2544-9B71-41D4E0956188}"/>
              </a:ext>
            </a:extLst>
          </p:cNvPr>
          <p:cNvSpPr txBox="1"/>
          <p:nvPr/>
        </p:nvSpPr>
        <p:spPr>
          <a:xfrm>
            <a:off x="1786993" y="3429001"/>
            <a:ext cx="1850123" cy="830997"/>
          </a:xfrm>
          <a:prstGeom prst="rect">
            <a:avLst/>
          </a:prstGeom>
          <a:noFill/>
        </p:spPr>
        <p:txBody>
          <a:bodyPr wrap="square" rtlCol="0">
            <a:spAutoFit/>
          </a:bodyPr>
          <a:lstStyle/>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对称密码</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公钥密码</a:t>
            </a:r>
          </a:p>
        </p:txBody>
      </p:sp>
      <p:sp>
        <p:nvSpPr>
          <p:cNvPr id="13" name="圆角矩形 12">
            <a:extLst>
              <a:ext uri="{FF2B5EF4-FFF2-40B4-BE49-F238E27FC236}">
                <a16:creationId xmlns:a16="http://schemas.microsoft.com/office/drawing/2014/main" id="{9C5E764E-56FC-7C4D-9143-36AC39A9F6A7}"/>
              </a:ext>
            </a:extLst>
          </p:cNvPr>
          <p:cNvSpPr/>
          <p:nvPr/>
        </p:nvSpPr>
        <p:spPr>
          <a:xfrm>
            <a:off x="4967820" y="2153241"/>
            <a:ext cx="2580584"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14" name="圆角矩形 13">
            <a:extLst>
              <a:ext uri="{FF2B5EF4-FFF2-40B4-BE49-F238E27FC236}">
                <a16:creationId xmlns:a16="http://schemas.microsoft.com/office/drawing/2014/main" id="{F42206AF-DACD-9843-9E1F-0B366C0E5383}"/>
              </a:ext>
            </a:extLst>
          </p:cNvPr>
          <p:cNvSpPr/>
          <p:nvPr/>
        </p:nvSpPr>
        <p:spPr>
          <a:xfrm>
            <a:off x="4782149" y="1674430"/>
            <a:ext cx="2960431" cy="4031655"/>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15" name="文本框 14">
            <a:extLst>
              <a:ext uri="{FF2B5EF4-FFF2-40B4-BE49-F238E27FC236}">
                <a16:creationId xmlns:a16="http://schemas.microsoft.com/office/drawing/2014/main" id="{DA283F2F-24D9-3D4E-8BFB-88679DED2919}"/>
              </a:ext>
            </a:extLst>
          </p:cNvPr>
          <p:cNvSpPr txBox="1"/>
          <p:nvPr/>
        </p:nvSpPr>
        <p:spPr>
          <a:xfrm>
            <a:off x="4948308" y="2183982"/>
            <a:ext cx="2749337" cy="954107"/>
          </a:xfrm>
          <a:prstGeom prst="rect">
            <a:avLst/>
          </a:prstGeom>
          <a:noFill/>
        </p:spPr>
        <p:txBody>
          <a:bodyPr wrap="square" rtlCol="0">
            <a:spAutoFit/>
          </a:bodyPr>
          <a:lstStyle/>
          <a:p>
            <a:pPr lvl="0">
              <a:defRPr/>
            </a:pPr>
            <a:r>
              <a:rPr kumimoji="1" lang="zh-CN" altLang="en-US" sz="2800" dirty="0">
                <a:solidFill>
                  <a:prstClr val="white"/>
                </a:solidFill>
                <a:latin typeface="宋体" panose="02010600030101010101" pitchFamily="2" charset="-122"/>
                <a:ea typeface="宋体" panose="02010600030101010101" pitchFamily="2" charset="-122"/>
                <a:cs typeface="+mn-ea"/>
                <a:sym typeface="+mn-lt"/>
              </a:rPr>
              <a:t>密码分析者攻击分类</a:t>
            </a:r>
          </a:p>
        </p:txBody>
      </p:sp>
      <p:sp>
        <p:nvSpPr>
          <p:cNvPr id="23" name="圆角矩形 22">
            <a:extLst>
              <a:ext uri="{FF2B5EF4-FFF2-40B4-BE49-F238E27FC236}">
                <a16:creationId xmlns:a16="http://schemas.microsoft.com/office/drawing/2014/main" id="{676B7C4A-B481-DC47-A8C8-3F2CC8FA5003}"/>
              </a:ext>
            </a:extLst>
          </p:cNvPr>
          <p:cNvSpPr/>
          <p:nvPr/>
        </p:nvSpPr>
        <p:spPr>
          <a:xfrm>
            <a:off x="8483212"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24" name="圆角矩形 23">
            <a:extLst>
              <a:ext uri="{FF2B5EF4-FFF2-40B4-BE49-F238E27FC236}">
                <a16:creationId xmlns:a16="http://schemas.microsoft.com/office/drawing/2014/main" id="{D2448EC0-2728-AA4E-8E56-73A2AB0EF132}"/>
              </a:ext>
            </a:extLst>
          </p:cNvPr>
          <p:cNvSpPr/>
          <p:nvPr/>
        </p:nvSpPr>
        <p:spPr>
          <a:xfrm>
            <a:off x="8235897" y="1674430"/>
            <a:ext cx="2960431" cy="4031655"/>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kumimoji="1" lang="zh-CN" altLang="en-US">
              <a:solidFill>
                <a:prstClr val="white"/>
              </a:solidFill>
              <a:cs typeface="+mn-ea"/>
              <a:sym typeface="+mn-lt"/>
            </a:endParaRPr>
          </a:p>
        </p:txBody>
      </p:sp>
      <p:sp>
        <p:nvSpPr>
          <p:cNvPr id="25" name="文本框 24">
            <a:extLst>
              <a:ext uri="{FF2B5EF4-FFF2-40B4-BE49-F238E27FC236}">
                <a16:creationId xmlns:a16="http://schemas.microsoft.com/office/drawing/2014/main" id="{D05ECBC2-B9EE-3045-BC8F-F533A6D326E0}"/>
              </a:ext>
            </a:extLst>
          </p:cNvPr>
          <p:cNvSpPr txBox="1"/>
          <p:nvPr/>
        </p:nvSpPr>
        <p:spPr>
          <a:xfrm>
            <a:off x="8536488" y="2216919"/>
            <a:ext cx="2465797" cy="954107"/>
          </a:xfrm>
          <a:prstGeom prst="rect">
            <a:avLst/>
          </a:prstGeom>
          <a:noFill/>
        </p:spPr>
        <p:txBody>
          <a:bodyPr wrap="square" rtlCol="0">
            <a:spAutoFit/>
          </a:bodyPr>
          <a:lstStyle/>
          <a:p>
            <a:pPr defTabSz="914377">
              <a:defRPr/>
            </a:pPr>
            <a:r>
              <a:rPr kumimoji="1" lang="zh-CN" altLang="en-US" sz="2800" dirty="0">
                <a:solidFill>
                  <a:prstClr val="white"/>
                </a:solidFill>
                <a:latin typeface="宋体" panose="02010600030101010101" pitchFamily="2" charset="-122"/>
                <a:ea typeface="宋体" panose="02010600030101010101" pitchFamily="2" charset="-122"/>
                <a:cs typeface="+mn-ea"/>
                <a:sym typeface="+mn-lt"/>
              </a:rPr>
              <a:t>常见的古典密码算法</a:t>
            </a:r>
          </a:p>
        </p:txBody>
      </p:sp>
      <p:sp>
        <p:nvSpPr>
          <p:cNvPr id="33" name="文本框 32">
            <a:extLst>
              <a:ext uri="{FF2B5EF4-FFF2-40B4-BE49-F238E27FC236}">
                <a16:creationId xmlns:a16="http://schemas.microsoft.com/office/drawing/2014/main" id="{207DE930-526C-965E-15F9-C1DADF14DDEE}"/>
              </a:ext>
            </a:extLst>
          </p:cNvPr>
          <p:cNvSpPr txBox="1"/>
          <p:nvPr/>
        </p:nvSpPr>
        <p:spPr>
          <a:xfrm>
            <a:off x="4967820" y="3429000"/>
            <a:ext cx="2463981" cy="1569660"/>
          </a:xfrm>
          <a:prstGeom prst="rect">
            <a:avLst/>
          </a:prstGeom>
          <a:noFill/>
        </p:spPr>
        <p:txBody>
          <a:bodyPr wrap="square" rtlCol="0">
            <a:spAutoFit/>
          </a:bodyPr>
          <a:lstStyle/>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唯密文攻击</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已知明文攻击</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选择明文攻击</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选择密文攻击</a:t>
            </a:r>
          </a:p>
        </p:txBody>
      </p:sp>
      <p:sp>
        <p:nvSpPr>
          <p:cNvPr id="6" name="文本框 5">
            <a:extLst>
              <a:ext uri="{FF2B5EF4-FFF2-40B4-BE49-F238E27FC236}">
                <a16:creationId xmlns:a16="http://schemas.microsoft.com/office/drawing/2014/main" id="{96FE436C-CA72-2D94-E53E-5228443851DF}"/>
              </a:ext>
            </a:extLst>
          </p:cNvPr>
          <p:cNvSpPr txBox="1"/>
          <p:nvPr/>
        </p:nvSpPr>
        <p:spPr>
          <a:xfrm>
            <a:off x="8235897" y="3446361"/>
            <a:ext cx="2960431" cy="1569660"/>
          </a:xfrm>
          <a:prstGeom prst="rect">
            <a:avLst/>
          </a:prstGeom>
          <a:noFill/>
        </p:spPr>
        <p:txBody>
          <a:bodyPr wrap="square" rtlCol="0">
            <a:spAutoFit/>
          </a:bodyPr>
          <a:lstStyle/>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置换密码</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34289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代换密码</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800091" lvl="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凯撒密码</a:t>
            </a:r>
            <a:endParaRPr kumimoji="1" lang="en-US" altLang="zh-CN" sz="2400" dirty="0">
              <a:solidFill>
                <a:prstClr val="black">
                  <a:lumMod val="75000"/>
                  <a:lumOff val="25000"/>
                </a:prstClr>
              </a:solidFill>
              <a:latin typeface="宋体" panose="02010600030101010101" pitchFamily="2" charset="-122"/>
              <a:ea typeface="宋体" panose="02010600030101010101" pitchFamily="2" charset="-122"/>
              <a:cs typeface="+mn-ea"/>
              <a:sym typeface="+mn-lt"/>
            </a:endParaRPr>
          </a:p>
          <a:p>
            <a:pPr marL="800091" lvl="1" indent="-342891" defTabSz="914377">
              <a:buFont typeface="Wingdings" panose="05000000000000000000" pitchFamily="2" charset="2"/>
              <a:buChar char="l"/>
              <a:defRPr/>
            </a:pPr>
            <a:r>
              <a:rPr kumimoji="1" lang="zh-CN" altLang="en-US" sz="2400" dirty="0">
                <a:solidFill>
                  <a:prstClr val="black">
                    <a:lumMod val="75000"/>
                    <a:lumOff val="25000"/>
                  </a:prstClr>
                </a:solidFill>
                <a:latin typeface="宋体" panose="02010600030101010101" pitchFamily="2" charset="-122"/>
                <a:ea typeface="宋体" panose="02010600030101010101" pitchFamily="2" charset="-122"/>
                <a:cs typeface="+mn-ea"/>
                <a:sym typeface="+mn-lt"/>
              </a:rPr>
              <a:t>维吉尼亚密码</a:t>
            </a:r>
          </a:p>
        </p:txBody>
      </p:sp>
    </p:spTree>
    <p:extLst>
      <p:ext uri="{BB962C8B-B14F-4D97-AF65-F5344CB8AC3E}">
        <p14:creationId xmlns:p14="http://schemas.microsoft.com/office/powerpoint/2010/main" val="356452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dissolve">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dissolve">
                                      <p:cBhvr>
                                        <p:cTn id="35" dur="500"/>
                                        <p:tgtEl>
                                          <p:spTgt spid="23"/>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dissolve">
                                      <p:cBhvr>
                                        <p:cTn id="38" dur="500"/>
                                        <p:tgtEl>
                                          <p:spTgt spid="2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dissolve">
                                      <p:cBhvr>
                                        <p:cTn id="41" dur="500"/>
                                        <p:tgtEl>
                                          <p:spTgt spid="25"/>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dissolv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7" grpId="0"/>
      <p:bldP spid="13" grpId="0" animBg="1"/>
      <p:bldP spid="14" grpId="0" animBg="1"/>
      <p:bldP spid="15" grpId="0"/>
      <p:bldP spid="23" grpId="0" animBg="1"/>
      <p:bldP spid="24" grpId="0" animBg="1"/>
      <p:bldP spid="25" grpId="0"/>
      <p:bldP spid="33" grpId="0"/>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5953</TotalTime>
  <Words>6719</Words>
  <Application>Microsoft Office PowerPoint</Application>
  <PresentationFormat>宽屏</PresentationFormat>
  <Paragraphs>793</Paragraphs>
  <Slides>63</Slides>
  <Notes>62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78" baseType="lpstr">
      <vt:lpstr>DengXian</vt:lpstr>
      <vt:lpstr>DengXian</vt:lpstr>
      <vt:lpstr>等线 Light</vt:lpstr>
      <vt:lpstr>楷体_GB2312</vt:lpstr>
      <vt:lpstr>隶书</vt:lpstr>
      <vt:lpstr>宋体</vt:lpstr>
      <vt:lpstr>Arial</vt:lpstr>
      <vt:lpstr>Cambria Math</vt:lpstr>
      <vt:lpstr>Tahoma</vt:lpstr>
      <vt:lpstr>Times New Roman</vt:lpstr>
      <vt:lpstr>Wingdings</vt:lpstr>
      <vt:lpstr>Wingdings 2</vt:lpstr>
      <vt:lpstr>Office 主题​​</vt:lpstr>
      <vt:lpstr>剪辑</vt:lpstr>
      <vt:lpstr>Paintbrush Picture</vt:lpstr>
      <vt:lpstr>现代密码学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现代密码学</dc:title>
  <dc:creator>H Z</dc:creator>
  <cp:lastModifiedBy>Yang anjia</cp:lastModifiedBy>
  <cp:revision>113</cp:revision>
  <dcterms:created xsi:type="dcterms:W3CDTF">2021-09-09T03:15:56Z</dcterms:created>
  <dcterms:modified xsi:type="dcterms:W3CDTF">2025-10-09T08:25:52Z</dcterms:modified>
</cp:coreProperties>
</file>