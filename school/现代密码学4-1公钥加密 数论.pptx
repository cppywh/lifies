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9" r:id="rId1"/>
    <p:sldMasterId id="2147483685" r:id="rId2"/>
  </p:sldMasterIdLst>
  <p:notesMasterIdLst>
    <p:notesMasterId r:id="rId45"/>
  </p:notesMasterIdLst>
  <p:sldIdLst>
    <p:sldId id="256" r:id="rId3"/>
    <p:sldId id="316" r:id="rId4"/>
    <p:sldId id="589" r:id="rId5"/>
    <p:sldId id="590" r:id="rId6"/>
    <p:sldId id="317" r:id="rId7"/>
    <p:sldId id="318" r:id="rId8"/>
    <p:sldId id="591" r:id="rId9"/>
    <p:sldId id="592" r:id="rId10"/>
    <p:sldId id="308" r:id="rId11"/>
    <p:sldId id="593" r:id="rId12"/>
    <p:sldId id="594" r:id="rId13"/>
    <p:sldId id="313" r:id="rId14"/>
    <p:sldId id="596" r:id="rId15"/>
    <p:sldId id="597" r:id="rId16"/>
    <p:sldId id="598" r:id="rId17"/>
    <p:sldId id="603" r:id="rId18"/>
    <p:sldId id="320" r:id="rId19"/>
    <p:sldId id="321" r:id="rId20"/>
    <p:sldId id="586" r:id="rId21"/>
    <p:sldId id="587" r:id="rId22"/>
    <p:sldId id="588" r:id="rId23"/>
    <p:sldId id="285" r:id="rId24"/>
    <p:sldId id="280" r:id="rId25"/>
    <p:sldId id="281" r:id="rId26"/>
    <p:sldId id="283" r:id="rId27"/>
    <p:sldId id="284" r:id="rId28"/>
    <p:sldId id="599" r:id="rId29"/>
    <p:sldId id="600" r:id="rId30"/>
    <p:sldId id="301" r:id="rId31"/>
    <p:sldId id="300" r:id="rId32"/>
    <p:sldId id="302" r:id="rId33"/>
    <p:sldId id="303" r:id="rId34"/>
    <p:sldId id="601" r:id="rId35"/>
    <p:sldId id="602" r:id="rId36"/>
    <p:sldId id="288" r:id="rId37"/>
    <p:sldId id="289" r:id="rId38"/>
    <p:sldId id="290" r:id="rId39"/>
    <p:sldId id="305" r:id="rId40"/>
    <p:sldId id="294" r:id="rId41"/>
    <p:sldId id="595" r:id="rId42"/>
    <p:sldId id="295" r:id="rId43"/>
    <p:sldId id="296" r:id="rId4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CC"/>
    <a:srgbClr val="18B0B4"/>
    <a:srgbClr val="CCFFCC"/>
    <a:srgbClr val="FFCCCC"/>
    <a:srgbClr val="0099FF"/>
    <a:srgbClr val="80808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3" autoAdjust="0"/>
    <p:restoredTop sz="75713" autoAdjust="0"/>
  </p:normalViewPr>
  <p:slideViewPr>
    <p:cSldViewPr>
      <p:cViewPr varScale="1">
        <p:scale>
          <a:sx n="122" d="100"/>
          <a:sy n="122" d="100"/>
        </p:scale>
        <p:origin x="2804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/>
            </a:lvl1pPr>
          </a:lstStyle>
          <a:p>
            <a:pPr>
              <a:defRPr/>
            </a:pPr>
            <a:fld id="{1A66F0FB-333A-46BE-A13C-0617EB2D7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06807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8B04B1A-7728-419F-88A8-BB32B6CF7987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52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6960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57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9005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917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8979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B18E52-7C9D-4FAB-B817-EAE0FEEE300B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哥德巴赫猜想</a:t>
            </a:r>
          </a:p>
        </p:txBody>
      </p:sp>
    </p:spTree>
    <p:extLst>
      <p:ext uri="{BB962C8B-B14F-4D97-AF65-F5344CB8AC3E}">
        <p14:creationId xmlns:p14="http://schemas.microsoft.com/office/powerpoint/2010/main" val="4221435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8FD05E-84B3-4EE9-83C9-85F6355062D9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反证法</a:t>
            </a:r>
          </a:p>
        </p:txBody>
      </p:sp>
    </p:spTree>
    <p:extLst>
      <p:ext uri="{BB962C8B-B14F-4D97-AF65-F5344CB8AC3E}">
        <p14:creationId xmlns:p14="http://schemas.microsoft.com/office/powerpoint/2010/main" val="242044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8FD05E-84B3-4EE9-83C9-85F6355062D9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反证法</a:t>
            </a:r>
          </a:p>
        </p:txBody>
      </p:sp>
    </p:spTree>
    <p:extLst>
      <p:ext uri="{BB962C8B-B14F-4D97-AF65-F5344CB8AC3E}">
        <p14:creationId xmlns:p14="http://schemas.microsoft.com/office/powerpoint/2010/main" val="1940141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8FD05E-84B3-4EE9-83C9-85F6355062D9}" type="slidenum">
              <a:rPr lang="en-US" altLang="zh-CN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反证法</a:t>
            </a:r>
          </a:p>
        </p:txBody>
      </p:sp>
    </p:spTree>
    <p:extLst>
      <p:ext uri="{BB962C8B-B14F-4D97-AF65-F5344CB8AC3E}">
        <p14:creationId xmlns:p14="http://schemas.microsoft.com/office/powerpoint/2010/main" val="50797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8633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923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6F0FB-333A-46BE-A13C-0617EB2D7829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4961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72037E-6A2B-4F27-8A71-22A96ACD0D6C}" type="slidenum">
              <a:rPr lang="en-US" altLang="zh-CN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费马小定理</a:t>
            </a:r>
            <a:endParaRPr lang="en-US" altLang="zh-CN" dirty="0"/>
          </a:p>
          <a:p>
            <a:pPr eaLnBrk="1" hangingPunct="1"/>
            <a:r>
              <a:rPr lang="zh-CN" altLang="en-US" dirty="0"/>
              <a:t>费马小定理的欧拉扩展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44757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B937E0-4E76-4993-8797-4F243AFFF094}" type="slidenum">
              <a:rPr lang="en-US" altLang="zh-CN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35</a:t>
            </a:r>
            <a:r>
              <a:rPr lang="zh-CN" altLang="en-US" dirty="0">
                <a:latin typeface="Arial" panose="020B0604020202020204" pitchFamily="34" charset="0"/>
              </a:rPr>
              <a:t>的因子</a:t>
            </a:r>
            <a:r>
              <a:rPr lang="en-US" altLang="zh-CN" dirty="0">
                <a:latin typeface="Arial" panose="020B0604020202020204" pitchFamily="34" charset="0"/>
              </a:rPr>
              <a:t>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7</a:t>
            </a: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小于</a:t>
            </a:r>
            <a:r>
              <a:rPr lang="en-US" altLang="zh-CN" dirty="0">
                <a:latin typeface="Arial" panose="020B0604020202020204" pitchFamily="34" charset="0"/>
              </a:rPr>
              <a:t>35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en-US" altLang="zh-CN" dirty="0">
                <a:latin typeface="Arial" panose="020B0604020202020204" pitchFamily="34" charset="0"/>
              </a:rPr>
              <a:t>5</a:t>
            </a:r>
            <a:r>
              <a:rPr lang="zh-CN" altLang="en-US" dirty="0">
                <a:latin typeface="Arial" panose="020B0604020202020204" pitchFamily="34" charset="0"/>
              </a:rPr>
              <a:t>的倍数</a:t>
            </a:r>
            <a:r>
              <a:rPr lang="en-US" altLang="zh-CN" dirty="0">
                <a:latin typeface="Arial" panose="020B0604020202020204" pitchFamily="34" charset="0"/>
              </a:rPr>
              <a:t>6</a:t>
            </a:r>
            <a:r>
              <a:rPr lang="zh-CN" altLang="en-US" dirty="0">
                <a:latin typeface="Arial" panose="020B0604020202020204" pitchFamily="34" charset="0"/>
              </a:rPr>
              <a:t>个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小于</a:t>
            </a:r>
            <a:r>
              <a:rPr lang="en-US" altLang="zh-CN" dirty="0">
                <a:latin typeface="Arial" panose="020B0604020202020204" pitchFamily="34" charset="0"/>
              </a:rPr>
              <a:t>35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en-US" altLang="zh-CN" dirty="0">
                <a:latin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</a:rPr>
              <a:t>的倍数</a:t>
            </a:r>
            <a:r>
              <a:rPr lang="en-US" altLang="zh-CN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个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共有</a:t>
            </a:r>
            <a:r>
              <a:rPr lang="en-US" altLang="zh-CN" dirty="0">
                <a:latin typeface="Arial" panose="020B0604020202020204" pitchFamily="34" charset="0"/>
              </a:rPr>
              <a:t>10</a:t>
            </a:r>
            <a:r>
              <a:rPr lang="zh-CN" altLang="en-US" dirty="0">
                <a:latin typeface="Arial" panose="020B0604020202020204" pitchFamily="34" charset="0"/>
              </a:rPr>
              <a:t>个数不互素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611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C4A36F-DB95-4494-9284-5D5B16D80FAC}" type="slidenum">
              <a:rPr lang="en-US" altLang="zh-CN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352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256AFA-2B60-46A0-9DED-BF53E989877C}" type="slidenum">
              <a:rPr lang="en-US" altLang="zh-CN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5354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797F0B5-FC77-43D2-99E1-0D28E2AA435E}" type="slidenum">
              <a:rPr lang="en-US" altLang="zh-CN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029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C200D6-E843-43D7-BCB7-57FC7DD5460F}" type="slidenum">
              <a:rPr lang="en-US" altLang="zh-CN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35^-1mod3=2</a:t>
            </a:r>
          </a:p>
          <a:p>
            <a:pPr eaLnBrk="1" hangingPunct="1"/>
            <a:r>
              <a:rPr lang="en-US" altLang="zh-CN" dirty="0"/>
              <a:t>21^-1mod5=1</a:t>
            </a:r>
          </a:p>
          <a:p>
            <a:pPr eaLnBrk="1" hangingPunct="1"/>
            <a:r>
              <a:rPr lang="en-US" altLang="zh-CN" dirty="0"/>
              <a:t>15^-1mod7=1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811058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22391F5-7B40-4D03-AC24-6D7C879C83FF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081077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65F21A-516E-4842-A83E-A9951D81DB10}" type="slidenum">
              <a:rPr lang="en-US" altLang="zh-CN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171450" indent="-171450" eaLnBrk="1" hangingPunct="1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13980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912744-5B28-4308-B190-15EE3902B6A0}" type="slidenum">
              <a:rPr lang="en-US" altLang="zh-CN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33317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D0ECEA-D93B-438B-B64C-22006BE5BFF7}" type="slidenum">
              <a:rPr lang="en-US" altLang="zh-CN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本源根：每个小于</a:t>
            </a:r>
            <a:r>
              <a:rPr lang="en-US" altLang="zh-CN" dirty="0"/>
              <a:t>m</a:t>
            </a:r>
            <a:r>
              <a:rPr lang="zh-CN" altLang="en-US" dirty="0"/>
              <a:t>且与</a:t>
            </a:r>
            <a:r>
              <a:rPr lang="en-US" altLang="zh-CN" dirty="0"/>
              <a:t>m</a:t>
            </a:r>
            <a:r>
              <a:rPr lang="zh-CN" altLang="en-US" dirty="0"/>
              <a:t>互素的数都可以由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r>
              <a:rPr lang="en-US" altLang="zh-CN" dirty="0"/>
              <a:t>≡1 (mod m)</a:t>
            </a:r>
            <a:r>
              <a:rPr lang="zh-CN" altLang="en-US" dirty="0"/>
              <a:t>表示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304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8438BE8-B1F6-43F5-BA54-284FA9850074}" type="slidenum">
              <a:rPr lang="en-US" altLang="zh-CN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取</a:t>
            </a:r>
            <a:r>
              <a:rPr lang="en-US" altLang="zh-CN" dirty="0"/>
              <a:t>m=13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823118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9C060D-50C4-48FA-BB15-1F92BCD5CB54}" type="slidenum">
              <a:rPr lang="en-US" altLang="zh-CN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本源根可以作为乘法群的生成元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764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3872D67-B2A4-458A-8E1B-A6EB6A65D430}" type="slidenum">
              <a:rPr lang="en-US" altLang="zh-CN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Arial" panose="020B0604020202020204" pitchFamily="34" charset="0"/>
              </a:rPr>
              <a:t>本源根可以作为乘法群的生成元</a:t>
            </a:r>
            <a:endParaRPr lang="zh-CN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aseline="0" dirty="0"/>
              <a:t>Z</a:t>
            </a:r>
            <a:r>
              <a:rPr lang="zh-CN" altLang="en-US" baseline="0" dirty="0"/>
              <a:t>*</a:t>
            </a:r>
            <a:r>
              <a:rPr lang="en-US" altLang="zh-CN" baseline="0" dirty="0"/>
              <a:t>_p</a:t>
            </a:r>
            <a:r>
              <a:rPr lang="zh-CN" altLang="en-US" baseline="0" dirty="0"/>
              <a:t>中有</a:t>
            </a:r>
            <a:r>
              <a:rPr lang="en-US" altLang="zh-CN" baseline="0" dirty="0" err="1"/>
              <a:t>Φ</a:t>
            </a:r>
            <a:r>
              <a:rPr lang="en-US" altLang="zh-CN" baseline="0" dirty="0"/>
              <a:t>(p-1)</a:t>
            </a:r>
            <a:r>
              <a:rPr lang="zh-CN" altLang="en-US" baseline="0" dirty="0"/>
              <a:t>个生成元</a:t>
            </a:r>
            <a:endParaRPr lang="en-US" altLang="zh-CN" baseline="0" dirty="0"/>
          </a:p>
        </p:txBody>
      </p:sp>
    </p:spTree>
    <p:extLst>
      <p:ext uri="{BB962C8B-B14F-4D97-AF65-F5344CB8AC3E}">
        <p14:creationId xmlns:p14="http://schemas.microsoft.com/office/powerpoint/2010/main" val="6739842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9C9E614-ABEC-4FAD-8FA6-E92079284015}" type="slidenum">
              <a:rPr lang="en-US" altLang="zh-CN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1838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:a16="http://schemas.microsoft.com/office/drawing/2014/main" id="{167A1911-1F73-4421-B3AD-538D82E7A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>
            <a:extLst>
              <a:ext uri="{FF2B5EF4-FFF2-40B4-BE49-F238E27FC236}">
                <a16:creationId xmlns:a16="http://schemas.microsoft.com/office/drawing/2014/main" id="{1F480BDE-4BEF-4582-94C8-4DC8F6BE85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98308" name="灯片编号占位符 3">
            <a:extLst>
              <a:ext uri="{FF2B5EF4-FFF2-40B4-BE49-F238E27FC236}">
                <a16:creationId xmlns:a16="http://schemas.microsoft.com/office/drawing/2014/main" id="{296C71B3-B9D4-4168-9D14-2F76B570E3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D1EE84E-B889-412A-BD05-512840DE73EA}" type="slidenum">
              <a:rPr lang="zh-CN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C76ECDF-0858-417C-A904-19D888213BA3}" type="slidenum">
              <a:rPr lang="en-US" altLang="zh-CN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离散对数问题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4867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AA6BFB3-C9F5-46E0-B34C-4088EBC3EFC9}" type="slidenum">
              <a:rPr lang="en-US" altLang="zh-CN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gray">
      <p:bgPr>
        <a:gradFill rotWithShape="0">
          <a:gsLst>
            <a:gs pos="0">
              <a:srgbClr val="DDDDDD"/>
            </a:gs>
            <a:gs pos="100000">
              <a:srgbClr val="FCFCF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gray">
          <a:xfrm>
            <a:off x="685800" y="1098550"/>
            <a:ext cx="8458200" cy="954088"/>
          </a:xfrm>
          <a:prstGeom prst="rect">
            <a:avLst/>
          </a:prstGeom>
          <a:gradFill rotWithShape="1">
            <a:gsLst>
              <a:gs pos="0">
                <a:srgbClr val="438EFF">
                  <a:alpha val="0"/>
                </a:srgbClr>
              </a:gs>
              <a:gs pos="100000">
                <a:srgbClr val="0066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40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607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949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287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287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751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538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345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571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261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43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68263"/>
            <a:ext cx="2078037" cy="57864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68263"/>
            <a:ext cx="6081713" cy="57864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183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8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73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4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3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56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523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09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84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73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8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488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bg bwMode="gray">
      <p:bgPr>
        <a:gradFill rotWithShape="0">
          <a:gsLst>
            <a:gs pos="0">
              <a:srgbClr val="DDDDDD"/>
            </a:gs>
            <a:gs pos="100000">
              <a:srgbClr val="FCFCF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40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gray">
          <a:xfrm>
            <a:off x="0" y="-26988"/>
            <a:ext cx="9144000" cy="1419226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chemeClr val="bg1">
                  <a:alpha val="96001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 flipV="1">
            <a:off x="468313" y="952500"/>
            <a:ext cx="8229600" cy="20638"/>
          </a:xfrm>
          <a:prstGeom prst="line">
            <a:avLst/>
          </a:prstGeom>
          <a:noFill/>
          <a:ln w="3492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80322" dir="9693903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287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gray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1400" b="0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gray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endParaRPr lang="zh-CN" altLang="zh-CN" sz="1400" b="0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gray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1400" b="0"/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6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68263"/>
            <a:ext cx="8312150" cy="9413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C0C0C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 b="1">
          <a:solidFill>
            <a:srgbClr val="FFFFFF"/>
          </a:solidFill>
          <a:effectDag name="">
            <a:cont type="tree" name="">
              <a:effect ref="fillLine"/>
              <a:outerShdw dist="38100" dir="13500000" algn="br">
                <a:srgbClr val="FFFFFF"/>
              </a:outerShdw>
            </a:cont>
            <a:cont type="tree" name="">
              <a:effect ref="fillLine"/>
              <a:outerShdw dist="38100" dir="2700000" algn="tl">
                <a:srgbClr val="999999"/>
              </a:outerShdw>
            </a:cont>
            <a:effect ref="fillLine"/>
          </a:effectDag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anose="05000000000000000000" pitchFamily="2" charset="2"/>
        <a:buChar char="u"/>
        <a:defRPr sz="3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anose="05000000000000000000" pitchFamily="2" charset="2"/>
        <a:buChar char="u"/>
        <a:defRPr sz="28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anose="05000000000000000000" pitchFamily="2" charset="2"/>
        <a:buChar char="u"/>
        <a:defRPr sz="24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anose="05000000000000000000" pitchFamily="2" charset="2"/>
        <a:buChar char="u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anose="05000000000000000000" pitchFamily="2" charset="2"/>
        <a:buChar char="u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146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u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u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u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u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3C832-E826-A04C-90E9-34BA7F6EA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2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11" Type="http://schemas.openxmlformats.org/officeDocument/2006/relationships/image" Target="../media/image200.png"/><Relationship Id="rId5" Type="http://schemas.openxmlformats.org/officeDocument/2006/relationships/image" Target="../media/image22.png"/><Relationship Id="rId10" Type="http://schemas.openxmlformats.org/officeDocument/2006/relationships/image" Target="../media/image190.png"/><Relationship Id="rId4" Type="http://schemas.openxmlformats.org/officeDocument/2006/relationships/image" Target="../media/image21.png"/><Relationship Id="rId9" Type="http://schemas.openxmlformats.org/officeDocument/2006/relationships/image" Target="../media/image18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ctrTitle"/>
          </p:nvPr>
        </p:nvSpPr>
        <p:spPr>
          <a:solidFill>
            <a:srgbClr val="FFFFFF"/>
          </a:solidFill>
          <a:ln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章  公钥加密</a:t>
            </a:r>
            <a:br>
              <a:rPr lang="en-CA" altLang="zh-CN" sz="4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CA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4.1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数论</a:t>
            </a:r>
            <a:endParaRPr lang="zh-CN" altLang="en-US" sz="4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E3859258-7CA3-4EA6-A009-FC87F55CC8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1B1BA-937B-4FD1-923E-D3BF6894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整除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50714"/>
                <a:ext cx="8229600" cy="5375449"/>
              </a:xfrm>
            </p:spPr>
            <p:txBody>
              <a:bodyPr/>
              <a:lstStyle/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是任意两个整数，</a:t>
                </a:r>
                <a14:m>
                  <m:oMath xmlns:m="http://schemas.openxmlformats.org/officeDocument/2006/math"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dirty="0"/>
                  <a:t>，如果存在整数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𝑎𝑞</m:t>
                    </m:r>
                  </m:oMath>
                </a14:m>
                <a:r>
                  <a:rPr lang="zh-CN" altLang="en-US" dirty="0"/>
                  <a:t>，称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整除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或者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被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整除，记为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。其中则</a:t>
                </a:r>
                <a14:m>
                  <m:oMath xmlns:m="http://schemas.openxmlformats.org/officeDocument/2006/math"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叫做</a:t>
                </a:r>
                <a14:m>
                  <m:oMath xmlns:m="http://schemas.openxmlformats.org/officeDocument/2006/math">
                    <m:r>
                      <a:rPr lang="en-CA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的倍数，</a:t>
                </a:r>
                <a14:m>
                  <m:oMath xmlns:m="http://schemas.openxmlformats.org/officeDocument/2006/math"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叫做</a:t>
                </a:r>
                <a14:m>
                  <m:oMath xmlns:m="http://schemas.openxmlformats.org/officeDocument/2006/math"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的因数。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不</m:t>
                    </m:r>
                  </m:oMath>
                </a14:m>
                <a:r>
                  <a:rPr lang="zh-CN" altLang="en-US" dirty="0"/>
                  <a:t>能整除</a:t>
                </a:r>
                <a14:m>
                  <m:oMath xmlns:m="http://schemas.openxmlformats.org/officeDocument/2006/math"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，记为</a:t>
                </a:r>
                <a14:m>
                  <m:oMath xmlns:m="http://schemas.openxmlformats.org/officeDocument/2006/math"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∤</m:t>
                    </m:r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是任意整数的倍数。</a:t>
                </a:r>
                <a:endParaRPr lang="en-CA" altLang="zh-CN" dirty="0"/>
              </a:p>
              <a:p>
                <a:r>
                  <a:rPr lang="zh-CN" altLang="en-US" dirty="0"/>
                  <a:t>例子：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10=2*5</a:t>
                </a:r>
                <a:r>
                  <a:rPr lang="zh-CN" altLang="en-US" dirty="0"/>
                  <a:t>，因此</a:t>
                </a:r>
                <a:r>
                  <a:rPr lang="en-US" altLang="zh-CN" dirty="0"/>
                  <a:t>2|10, 5|10,</a:t>
                </a:r>
                <a:r>
                  <a:rPr lang="zh-CN" altLang="en-US" dirty="0"/>
                  <a:t>其中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的因数，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的倍数。</a:t>
                </a:r>
                <a:endParaRPr lang="en-CA" altLang="zh-CN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50714"/>
                <a:ext cx="8229600" cy="5375449"/>
              </a:xfrm>
              <a:blipFill>
                <a:blip r:embed="rId3"/>
                <a:stretch>
                  <a:fillRect l="-1852" t="-1814" r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08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1B1BA-937B-4FD1-923E-D3BF6894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整除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50714"/>
                <a:ext cx="8229600" cy="537544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整除的性质：</a:t>
                </a:r>
                <a:endParaRPr lang="en-CA" altLang="zh-CN" dirty="0"/>
              </a:p>
              <a:p>
                <a:r>
                  <a:rPr lang="zh-CN" altLang="en-US" dirty="0"/>
                  <a:t>定理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：对于任意的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，有：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，则有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证明：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且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，则存在整数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，所以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）如果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，对于任意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证明：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，则存在整数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。所以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50714"/>
                <a:ext cx="8229600" cy="5375449"/>
              </a:xfrm>
              <a:blipFill>
                <a:blip r:embed="rId2"/>
                <a:stretch>
                  <a:fillRect l="-1852" t="-2948" r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54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1B1BA-937B-4FD1-923E-D3BF6894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整除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50714"/>
                <a:ext cx="8229600" cy="53754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整除的性质：</a:t>
                </a:r>
                <a:endParaRPr lang="en-CA" altLang="zh-CN" dirty="0"/>
              </a:p>
              <a:p>
                <a:r>
                  <a:rPr lang="zh-CN" altLang="en-US" dirty="0"/>
                  <a:t>定理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：对于任意的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，有：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）如果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，那么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证明：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且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，则存在整数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，所以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。因为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dirty="0"/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。因为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是整数，所以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50714"/>
                <a:ext cx="8229600" cy="5375449"/>
              </a:xfrm>
              <a:blipFill>
                <a:blip r:embed="rId2"/>
                <a:stretch>
                  <a:fillRect l="-1852" t="-2041" r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38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4367E-5F32-4607-9BD6-EDF00BD9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带余除法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给定任意整数</a:t>
                </a:r>
                <a14:m>
                  <m:oMath xmlns:m="http://schemas.openxmlformats.org/officeDocument/2006/math"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CA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，必存在唯一的一对整数</a:t>
                </a:r>
                <a14:m>
                  <m:oMath xmlns:m="http://schemas.openxmlformats.org/officeDocument/2006/math">
                    <m:r>
                      <a:rPr lang="en-CA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，满足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A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altLang="zh-CN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altLang="zh-CN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altLang="zh-CN" i="1" dirty="0" err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CA" altLang="zh-CN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CA" altLang="zh-CN" i="1" dirty="0">
                          <a:latin typeface="Cambria Math" panose="02040503050406030204" pitchFamily="18" charset="0"/>
                        </a:rPr>
                        <m:t>&lt;=</m:t>
                      </m:r>
                      <m:r>
                        <a:rPr lang="en-CA" altLang="zh-CN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CA" altLang="zh-CN" i="1" dirty="0" smtClean="0">
                          <a:latin typeface="Cambria Math" panose="02040503050406030204" pitchFamily="18" charset="0"/>
                        </a:rPr>
                        <m:t>&lt;|</m:t>
                      </m:r>
                      <m:r>
                        <a:rPr lang="en-CA" altLang="zh-CN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altLang="zh-CN" i="1" dirty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CA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称为商数，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称为余数，该式称为除法算式，其运算过程为带余除法。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 dirty="0"/>
                  <a:t>的充要条件是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 dirty="0"/>
                  <a:t>。</a:t>
                </a:r>
                <a:endParaRPr lang="en-CA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2022" r="-1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82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4367E-5F32-4607-9BD6-EDF00BD9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最大公因数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若</a:t>
                </a:r>
                <a:r>
                  <a:rPr lang="en-US" altLang="zh-CN" dirty="0" err="1"/>
                  <a:t>a,b,c</a:t>
                </a:r>
                <a:r>
                  <a:rPr lang="zh-CN" altLang="en-US" dirty="0"/>
                  <a:t>都是整数，且</a:t>
                </a:r>
                <a:r>
                  <a:rPr lang="en-CA" altLang="zh-CN" dirty="0" err="1"/>
                  <a:t>a|b</a:t>
                </a:r>
                <a:r>
                  <a:rPr lang="zh-CN" altLang="en-US" dirty="0"/>
                  <a:t>，</a:t>
                </a:r>
                <a:r>
                  <a:rPr lang="en-CA" altLang="zh-CN" dirty="0" err="1"/>
                  <a:t>a|c</a:t>
                </a:r>
                <a:r>
                  <a:rPr lang="zh-CN" altLang="en-US" dirty="0"/>
                  <a:t>，那么称</a:t>
                </a:r>
                <a:r>
                  <a:rPr lang="en-CA" altLang="zh-CN" dirty="0"/>
                  <a:t>a</a:t>
                </a:r>
                <a:r>
                  <a:rPr lang="zh-CN" altLang="en-US" dirty="0"/>
                  <a:t>是</a:t>
                </a:r>
                <a:r>
                  <a:rPr lang="en-CA" altLang="zh-CN" dirty="0"/>
                  <a:t>b</a:t>
                </a:r>
                <a:r>
                  <a:rPr lang="zh-CN" altLang="en-US" dirty="0"/>
                  <a:t>和</a:t>
                </a:r>
                <a:r>
                  <a:rPr lang="en-CA" altLang="zh-CN" dirty="0"/>
                  <a:t>c</a:t>
                </a:r>
                <a:r>
                  <a:rPr lang="zh-CN" altLang="en-US" dirty="0"/>
                  <a:t>的公因数。在所有公因数中最大的一个，称为最大公因数，记为</a:t>
                </a:r>
                <a:r>
                  <a:rPr lang="en-CA" altLang="zh-CN" dirty="0" err="1"/>
                  <a:t>gcd</a:t>
                </a:r>
                <a:r>
                  <a:rPr lang="en-CA" altLang="zh-CN" dirty="0"/>
                  <a:t>(</a:t>
                </a:r>
                <a:r>
                  <a:rPr lang="en-CA" altLang="zh-CN" dirty="0" err="1"/>
                  <a:t>b,c</a:t>
                </a:r>
                <a:r>
                  <a:rPr lang="en-CA" altLang="zh-CN" dirty="0"/>
                  <a:t>)</a:t>
                </a:r>
                <a:r>
                  <a:rPr lang="zh-CN" altLang="en-US" dirty="0"/>
                  <a:t>或者</a:t>
                </a:r>
                <a:r>
                  <a:rPr lang="en-CA" altLang="zh-CN" dirty="0"/>
                  <a:t>(</a:t>
                </a:r>
                <a:r>
                  <a:rPr lang="en-CA" altLang="zh-CN" dirty="0" err="1"/>
                  <a:t>b,c</a:t>
                </a:r>
                <a:r>
                  <a:rPr lang="en-CA" altLang="zh-CN" dirty="0"/>
                  <a:t>)</a:t>
                </a:r>
                <a:r>
                  <a:rPr lang="zh-CN" altLang="en-US" dirty="0"/>
                  <a:t>。</a:t>
                </a:r>
                <a:endParaRPr lang="en-CA" altLang="zh-CN" dirty="0"/>
              </a:p>
              <a:p>
                <a:r>
                  <a:rPr lang="zh-CN" altLang="en-US" dirty="0"/>
                  <a:t>例如：</a:t>
                </a:r>
                <a:r>
                  <a:rPr lang="en-US" altLang="zh-CN" dirty="0"/>
                  <a:t>12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18</a:t>
                </a:r>
                <a:r>
                  <a:rPr lang="zh-CN" altLang="en-US" dirty="0"/>
                  <a:t>的公因数有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1,±2,±3,±6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，所以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(12,18)=6.</a:t>
                </a:r>
              </a:p>
              <a:p>
                <a:r>
                  <a:rPr lang="zh-CN" altLang="en-US" dirty="0"/>
                  <a:t>若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)=1</a:t>
                </a:r>
                <a:r>
                  <a:rPr lang="zh-CN" altLang="en-US" dirty="0"/>
                  <a:t>，则称</a:t>
                </a:r>
                <a:r>
                  <a:rPr lang="en-CA" altLang="zh-CN" dirty="0"/>
                  <a:t>a</a:t>
                </a:r>
                <a:r>
                  <a:rPr lang="zh-CN" altLang="en-US" dirty="0"/>
                  <a:t>与</a:t>
                </a:r>
                <a:r>
                  <a:rPr lang="en-CA" altLang="zh-CN" dirty="0"/>
                  <a:t>b</a:t>
                </a:r>
                <a:r>
                  <a:rPr lang="zh-CN" altLang="en-US" dirty="0"/>
                  <a:t>互素或者互质。</a:t>
                </a:r>
                <a:endParaRPr lang="en-US" altLang="zh-CN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2426" r="-6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97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32"/>
                <a:ext cx="9036496" cy="669674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：最大公因数的性质</a:t>
                </a:r>
                <a:endParaRPr lang="en-US" altLang="zh-CN" dirty="0"/>
              </a:p>
              <a:p>
                <a:r>
                  <a:rPr lang="zh-CN" altLang="en-US" sz="2800" dirty="0"/>
                  <a:t>对于任意整数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800" dirty="0"/>
                  <a:t>有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⁡(−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，则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）对于任意两个整数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，有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4</a:t>
                </a:r>
                <a:r>
                  <a:rPr lang="zh-CN" altLang="en-US" sz="2400" dirty="0"/>
                  <a:t>）对于任意整数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，存在整数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/>
                  <a:t>使得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5</a:t>
                </a:r>
                <a:r>
                  <a:rPr lang="zh-CN" altLang="en-US" sz="24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/>
                  <a:t>是一个整数，则有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</a:t>
                </a:r>
                <a:r>
                  <a:rPr lang="zh-CN" altLang="en-US" sz="2400" dirty="0"/>
                  <a:t>证明：显然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𝑏𝑞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                所以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根据</m:t>
                    </m:r>
                  </m:oMath>
                </a14:m>
                <a:r>
                  <a:rPr lang="zh-CN" altLang="en-US" sz="2400" dirty="0"/>
                  <a:t>最大公因数的定义及整除的定义，有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/>
                  <a:t>所以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𝑏𝑞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i="1" dirty="0"/>
                  <a:t>a</a:t>
                </a:r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所以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所以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dirty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32"/>
                <a:ext cx="9036496" cy="6696744"/>
              </a:xfrm>
              <a:blipFill>
                <a:blip r:embed="rId3"/>
                <a:stretch>
                  <a:fillRect l="-1552" t="-1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40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32"/>
                <a:ext cx="9036496" cy="669674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：最大公因数的性质</a:t>
                </a:r>
                <a:endParaRPr lang="en-US" altLang="zh-CN" dirty="0"/>
              </a:p>
              <a:p>
                <a:r>
                  <a:rPr lang="zh-CN" altLang="en-US" sz="2800" dirty="0"/>
                  <a:t>对于任意整数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800" dirty="0"/>
                  <a:t>有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（</a:t>
                </a:r>
                <a:r>
                  <a:rPr lang="en-US" altLang="zh-CN" sz="2800" dirty="0"/>
                  <a:t>6</a:t>
                </a:r>
                <a:r>
                  <a:rPr lang="zh-CN" altLang="en-US" sz="2800" dirty="0"/>
                  <a:t>）若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（</a:t>
                </a:r>
                <a:r>
                  <a:rPr lang="en-US" altLang="zh-CN" sz="2800" dirty="0"/>
                  <a:t>7</a:t>
                </a:r>
                <a:r>
                  <a:rPr lang="zh-CN" altLang="en-US" sz="2800" dirty="0"/>
                  <a:t>）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 smtClean="0">
                                        <a:latin typeface="Cambria Math" panose="02040503050406030204" pitchFamily="18" charset="0"/>
                                      </a:rPr>
                                      <m:t>gcd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func>
                              </m:den>
                            </m:f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 smtClean="0">
                                        <a:latin typeface="Cambria Math" panose="02040503050406030204" pitchFamily="18" charset="0"/>
                                      </a:rPr>
                                      <m:t>gcd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证明：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设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den>
                            </m:f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800" dirty="0"/>
                  <a:t>，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CA" sz="2800" dirty="0"/>
                  <a:t> ,</a:t>
                </a:r>
                <a:r>
                  <a:rPr lang="zh-CN" altLang="en-US" sz="2800" dirty="0"/>
                  <a:t>可得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根据最大公因数性质可知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CA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2921-E4B4-4038-9635-C85B7300A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32"/>
                <a:ext cx="9036496" cy="6696744"/>
              </a:xfrm>
              <a:blipFill>
                <a:blip r:embed="rId3"/>
                <a:stretch>
                  <a:fillRect l="-1552" t="-1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9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素数</a:t>
            </a:r>
          </a:p>
        </p:txBody>
      </p:sp>
      <p:sp>
        <p:nvSpPr>
          <p:cNvPr id="1536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只能被</a:t>
            </a:r>
            <a:r>
              <a:rPr lang="en-US" altLang="zh-CN" dirty="0"/>
              <a:t>1</a:t>
            </a:r>
            <a:r>
              <a:rPr lang="zh-CN" altLang="en-US" dirty="0"/>
              <a:t>和其本身整除的自然数称为素数，非素数的正整数称为合数。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如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11……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</a:p>
        </p:txBody>
      </p:sp>
      <p:sp>
        <p:nvSpPr>
          <p:cNvPr id="9" name="Rectangle 8" descr="新闻纸"/>
          <p:cNvSpPr>
            <a:spLocks noChangeArrowheads="1"/>
          </p:cNvSpPr>
          <p:nvPr/>
        </p:nvSpPr>
        <p:spPr bwMode="auto">
          <a:xfrm>
            <a:off x="683568" y="3284984"/>
            <a:ext cx="8135937" cy="326243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2110FC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cs typeface="Arial" panose="020B0604020202020204" pitchFamily="34" charset="0"/>
              </a:rPr>
              <a:t>每一个比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cs typeface="Arial" panose="020B0604020202020204" pitchFamily="34" charset="0"/>
              </a:rPr>
              <a:t>大的整数，要么本身是一个素数，要么可以写成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一系列不同素数的乘积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cs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2110FC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2110FC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2110FC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 eaLnBrk="1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2110FC"/>
              </a:buClr>
            </a:pPr>
            <a:r>
              <a:rPr lang="zh-CN" altLang="en-US" sz="2400" dirty="0"/>
              <a:t>    所有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i</a:t>
            </a:r>
            <a:r>
              <a:rPr lang="zh-CN" altLang="en-US" sz="2400" dirty="0"/>
              <a:t>均为正整数，不考虑乘积顺序时，表示法是惟一的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4222502"/>
            <a:ext cx="4752975" cy="93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261937" y="5157539"/>
            <a:ext cx="8135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2110FC"/>
              </a:buClr>
              <a:buSzTx/>
              <a:buFont typeface="Webdings" panose="05030102010509060703" pitchFamily="18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例如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999999 = 3·3·3·7·11·13·37</a:t>
            </a:r>
          </a:p>
        </p:txBody>
      </p:sp>
    </p:spTree>
    <p:extLst>
      <p:ext uri="{BB962C8B-B14F-4D97-AF65-F5344CB8AC3E}">
        <p14:creationId xmlns:p14="http://schemas.microsoft.com/office/powerpoint/2010/main" val="257902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素数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79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548680"/>
                <a:ext cx="8229600" cy="5577483"/>
              </a:xfrm>
              <a:ln>
                <a:solidFill>
                  <a:srgbClr val="4F81BD"/>
                </a:solidFill>
              </a:ln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150000"/>
                  </a:lnSpc>
                  <a:defRPr/>
                </a:pPr>
                <a:r>
                  <a:rPr lang="zh-CN" altLang="en-US" dirty="0"/>
                  <a:t>定理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：设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是一个素数，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dirty="0"/>
                  <a:t>任意整数。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  <a:defRPr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互素。</a:t>
                </a:r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zh-CN" altLang="en-US" dirty="0"/>
                  <a:t>	证明：设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素数，所以可得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或者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None/>
                  <a:defRPr/>
                </a:pP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可得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，这与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矛盾。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None/>
                  <a:defRPr/>
                </a:pP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互素。</a:t>
                </a:r>
                <a:endParaRPr lang="en-US" altLang="zh-CN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6179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48680"/>
                <a:ext cx="8229600" cy="5577483"/>
              </a:xfrm>
              <a:blipFill>
                <a:blip r:embed="rId3"/>
                <a:stretch>
                  <a:fillRect l="-1775" r="-740"/>
                </a:stretch>
              </a:blipFill>
              <a:ln>
                <a:solidFill>
                  <a:srgbClr val="4F81BD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211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素数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79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548680"/>
                <a:ext cx="8229600" cy="5577483"/>
              </a:xfrm>
              <a:ln>
                <a:solidFill>
                  <a:srgbClr val="4F81BD"/>
                </a:solidFill>
              </a:ln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150000"/>
                  </a:lnSpc>
                  <a:defRPr/>
                </a:pPr>
                <a:r>
                  <a:rPr lang="zh-CN" altLang="en-US" dirty="0"/>
                  <a:t>定理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：设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是一个素数，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dirty="0"/>
                  <a:t>任意整数。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或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/>
                  <a:t>一般地，若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则必然存在某个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，使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dirty="0"/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zh-CN" altLang="en-US" dirty="0"/>
                  <a:t>	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6179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48680"/>
                <a:ext cx="8229600" cy="5577483"/>
              </a:xfrm>
              <a:blipFill>
                <a:blip r:embed="rId3"/>
                <a:stretch>
                  <a:fillRect l="-1775" r="-74"/>
                </a:stretch>
              </a:blipFill>
              <a:ln>
                <a:solidFill>
                  <a:srgbClr val="4F81BD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9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/>
              <a:t>素数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79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908720"/>
                <a:ext cx="8229600" cy="5616624"/>
              </a:xfrm>
              <a:ln>
                <a:solidFill>
                  <a:srgbClr val="4F81BD"/>
                </a:solidFill>
              </a:ln>
            </p:spPr>
            <p:txBody>
              <a:bodyPr>
                <a:normAutofit fontScale="92500" lnSpcReduction="10000"/>
              </a:bodyPr>
              <a:lstStyle/>
              <a:p>
                <a:pPr eaLnBrk="1" hangingPunct="1">
                  <a:lnSpc>
                    <a:spcPct val="150000"/>
                  </a:lnSpc>
                  <a:defRPr/>
                </a:pPr>
                <a:r>
                  <a:rPr lang="zh-CN" altLang="en-US" dirty="0"/>
                  <a:t>定理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：设</a:t>
                </a:r>
                <a:r>
                  <a:rPr lang="en-US" altLang="zh-CN" dirty="0"/>
                  <a:t>a≥2</a:t>
                </a:r>
                <a:r>
                  <a:rPr lang="zh-CN" altLang="en-US" dirty="0"/>
                  <a:t>是正整数，则：</a:t>
                </a:r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zh-CN" altLang="en-US" dirty="0"/>
                  <a:t>	 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）如果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是合数，那么必存在素因子</a:t>
                </a:r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zh-CN" altLang="en-US" dirty="0"/>
                  <a:t>    </a:t>
                </a:r>
                <a:r>
                  <a:rPr lang="en-US" altLang="zh-CN" dirty="0"/>
                  <a:t>	    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 ≤a</a:t>
                </a:r>
                <a:r>
                  <a:rPr lang="en-US" altLang="zh-CN" baseline="30000" dirty="0"/>
                  <a:t>1/2</a:t>
                </a:r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/>
                  <a:t>      (2)</a:t>
                </a:r>
                <a:r>
                  <a:rPr lang="zh-CN" altLang="en-US" dirty="0"/>
                  <a:t>如果有素数分解式</a:t>
                </a:r>
                <a:r>
                  <a:rPr lang="en-US" altLang="zh-CN" dirty="0"/>
                  <a:t>a= p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…</a:t>
                </a:r>
                <a:r>
                  <a:rPr lang="en-US" altLang="zh-CN" dirty="0" err="1"/>
                  <a:t>p</a:t>
                </a:r>
                <a:r>
                  <a:rPr lang="en-US" altLang="zh-CN" baseline="-25000" dirty="0" err="1"/>
                  <a:t>s</a:t>
                </a:r>
                <a:r>
                  <a:rPr lang="zh-CN" altLang="en-US" dirty="0"/>
                  <a:t>，则存在素因子</a:t>
                </a:r>
                <a:r>
                  <a:rPr lang="en-US" altLang="zh-CN" dirty="0"/>
                  <a:t>p ≤a</a:t>
                </a:r>
                <a:r>
                  <a:rPr lang="en-US" altLang="zh-CN" baseline="30000" dirty="0"/>
                  <a:t>1/s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dirty="0"/>
                  <a:t>素数有无穷多个。目前已经知道的最大素数是</a:t>
                </a:r>
                <a:r>
                  <a:rPr lang="en-US" altLang="zh-CN" dirty="0"/>
                  <a:t>2018</a:t>
                </a:r>
                <a:r>
                  <a:rPr lang="zh-CN" altLang="en-US" dirty="0"/>
                  <a:t>年</a:t>
                </a:r>
                <a:r>
                  <a:rPr lang="en-US" altLang="zh-CN" dirty="0"/>
                  <a:t>12</a:t>
                </a:r>
                <a:r>
                  <a:rPr lang="zh-CN" altLang="en-US" dirty="0"/>
                  <a:t>月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日发现的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82589933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/>
                  <a:t>，共有</a:t>
                </a:r>
                <a:r>
                  <a:rPr lang="en-US" altLang="zh-CN" dirty="0"/>
                  <a:t>24862048</a:t>
                </a:r>
                <a:r>
                  <a:rPr lang="zh-CN" altLang="en-US" dirty="0"/>
                  <a:t>位数。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6179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229600" cy="5616624"/>
              </a:xfrm>
              <a:blipFill>
                <a:blip r:embed="rId3"/>
                <a:stretch>
                  <a:fillRect l="-1405" r="-1331" b="-1733"/>
                </a:stretch>
              </a:blipFill>
              <a:ln>
                <a:solidFill>
                  <a:srgbClr val="4F81BD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88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1B1BA-937B-4FD1-923E-D3BF6894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同余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96" y="750714"/>
                <a:ext cx="9145016" cy="5918646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800" dirty="0"/>
                  <a:t>定义</a:t>
                </a:r>
                <a:r>
                  <a:rPr lang="zh-CN" altLang="en-US" sz="3800" b="0" i="0" dirty="0">
                    <a:latin typeface="+mj-lt"/>
                  </a:rPr>
                  <a:t>（</a:t>
                </a:r>
                <a:r>
                  <a:rPr lang="zh-CN" altLang="en-US" sz="3800" i="0" dirty="0">
                    <a:latin typeface="+mj-lt"/>
                  </a:rPr>
                  <a:t>同余</a:t>
                </a:r>
                <a:r>
                  <a:rPr lang="zh-CN" altLang="en-US" sz="3800" b="0" i="0" dirty="0">
                    <a:latin typeface="+mj-lt"/>
                  </a:rPr>
                  <a:t>）：给定</a:t>
                </a:r>
                <a:r>
                  <a:rPr lang="en-US" altLang="zh-CN" sz="3800" b="0" i="0" dirty="0">
                    <a:latin typeface="+mj-lt"/>
                  </a:rPr>
                  <a:t>3</a:t>
                </a:r>
                <a:r>
                  <a:rPr lang="zh-CN" altLang="en-US" sz="3800" b="0" i="0" dirty="0">
                    <a:latin typeface="+mj-lt"/>
                  </a:rPr>
                  <a:t>个整数</a:t>
                </a:r>
                <a14:m>
                  <m:oMath xmlns:m="http://schemas.openxmlformats.org/officeDocument/2006/math">
                    <m:r>
                      <a:rPr lang="en-CA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altLang="zh-CN" sz="3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altLang="zh-CN" sz="3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，如果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800" dirty="0"/>
                  <a:t>，则称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800" dirty="0"/>
                  <a:t>模</a:t>
                </a:r>
                <a14:m>
                  <m:oMath xmlns:m="http://schemas.openxmlformats.org/officeDocument/2006/math">
                    <m:r>
                      <a:rPr lang="en-US" altLang="zh-CN" sz="38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同余于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3800" dirty="0"/>
                  <a:t>，或者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3800" dirty="0"/>
                  <a:t>模</a:t>
                </a:r>
                <a14:m>
                  <m:oMath xmlns:m="http://schemas.openxmlformats.org/officeDocument/2006/math">
                    <m:r>
                      <a:rPr lang="en-US" altLang="zh-CN" sz="38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同余，记作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。若</a:t>
                </a:r>
                <a:r>
                  <a:rPr lang="en-US" altLang="zh-CN" sz="3800" dirty="0"/>
                  <a:t>m</a:t>
                </a:r>
                <a14:m>
                  <m:oMath xmlns:m="http://schemas.openxmlformats.org/officeDocument/2006/math">
                    <m:r>
                      <a:rPr lang="en-US" altLang="zh-CN" sz="3800" i="1" dirty="0">
                        <a:latin typeface="Cambria Math" panose="02040503050406030204" pitchFamily="18" charset="0"/>
                      </a:rPr>
                      <m:t>∤</m:t>
                    </m:r>
                    <m:r>
                      <a:rPr lang="en-US" altLang="zh-CN" sz="3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altLang="zh-CN" sz="3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800" dirty="0"/>
                  <a:t>，则称</a:t>
                </a:r>
                <a14:m>
                  <m:oMath xmlns:m="http://schemas.openxmlformats.org/officeDocument/2006/math"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3800" dirty="0"/>
                  <a:t>模</a:t>
                </a:r>
                <a14:m>
                  <m:oMath xmlns:m="http://schemas.openxmlformats.org/officeDocument/2006/math">
                    <m:r>
                      <a:rPr lang="en-US" altLang="zh-CN" sz="38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不同余。</a:t>
                </a:r>
                <a:endParaRPr lang="en-US" altLang="zh-CN" sz="3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3800" dirty="0"/>
                  <a:t>注意：由于</a:t>
                </a:r>
                <a14:m>
                  <m:oMath xmlns:m="http://schemas.openxmlformats.org/officeDocument/2006/math"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800" dirty="0"/>
                  <a:t>等价于</a:t>
                </a:r>
                <a14:m>
                  <m:oMath xmlns:m="http://schemas.openxmlformats.org/officeDocument/2006/math">
                    <m:r>
                      <a:rPr lang="en-US" altLang="zh-CN" sz="3800" b="0" i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800" dirty="0"/>
                  <a:t>，所以在以后内容中，总假定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是一个正整数。</a:t>
                </a:r>
                <a:endParaRPr lang="en-CA" altLang="zh-CN" sz="3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3800" b="1" dirty="0"/>
                  <a:t>定理</a:t>
                </a:r>
                <a:r>
                  <a:rPr lang="en-US" altLang="zh-CN" sz="3800" b="1" dirty="0"/>
                  <a:t>5</a:t>
                </a:r>
                <a:r>
                  <a:rPr lang="zh-CN" altLang="en-US" sz="3800" b="1" dirty="0"/>
                  <a:t>：</a:t>
                </a:r>
                <a:endParaRPr lang="en-US" altLang="zh-CN" sz="3800" b="1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3800" dirty="0"/>
                  <a:t>（</a:t>
                </a:r>
                <a:r>
                  <a:rPr lang="en-US" altLang="zh-CN" sz="3800" dirty="0"/>
                  <a:t>1</a:t>
                </a:r>
                <a:r>
                  <a:rPr lang="zh-CN" altLang="en-US" sz="38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当且仅当存在整数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800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38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8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3800" dirty="0"/>
                  <a:t>（</a:t>
                </a:r>
                <a:r>
                  <a:rPr lang="en-US" altLang="zh-CN" sz="3800" dirty="0"/>
                  <a:t>2</a:t>
                </a:r>
                <a:r>
                  <a:rPr lang="zh-CN" altLang="en-US" sz="3800" dirty="0"/>
                  <a:t>）设</a:t>
                </a:r>
                <a14:m>
                  <m:oMath xmlns:m="http://schemas.openxmlformats.org/officeDocument/2006/math"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, 0≤</m:t>
                    </m:r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,0≤</m:t>
                    </m:r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3800" i="1">
                        <a:latin typeface="Cambria Math" panose="02040503050406030204" pitchFamily="18" charset="0"/>
                      </a:rPr>
                      <m:t>则</m:t>
                    </m:r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800" dirty="0"/>
                  <a:t>，当且仅当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800" dirty="0"/>
                  <a:t>。</a:t>
                </a:r>
                <a:endParaRPr lang="en-US" altLang="zh-CN" sz="3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750714"/>
                <a:ext cx="9145016" cy="5918646"/>
              </a:xfrm>
              <a:blipFill>
                <a:blip r:embed="rId2"/>
                <a:stretch>
                  <a:fillRect l="-1267" t="-1339" r="-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81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1B1BA-937B-4FD1-923E-D3BF6894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同余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96" y="750714"/>
                <a:ext cx="9145016" cy="591864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1" dirty="0"/>
                  <a:t>定理</a:t>
                </a:r>
                <a:r>
                  <a:rPr lang="en-US" altLang="zh-CN" b="1" dirty="0"/>
                  <a:t>6</a:t>
                </a:r>
                <a:r>
                  <a:rPr lang="zh-CN" altLang="en-US" b="1" dirty="0"/>
                  <a:t>：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是正整数，则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）自反性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）对称性：若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）传递性：若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750714"/>
                <a:ext cx="9145016" cy="5918646"/>
              </a:xfrm>
              <a:blipFill>
                <a:blip r:embed="rId3"/>
                <a:stretch>
                  <a:fillRect l="-1733" t="-1030" r="-6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71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1B1BA-937B-4FD1-923E-D3BF6894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同余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96" y="750714"/>
                <a:ext cx="9145016" cy="591864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b="1" dirty="0"/>
                  <a:t>定理</a:t>
                </a:r>
                <a:r>
                  <a:rPr lang="en-US" altLang="zh-CN" sz="2800" b="1" dirty="0"/>
                  <a:t>7</a:t>
                </a:r>
                <a:r>
                  <a:rPr lang="zh-CN" altLang="en-US" sz="2800" b="1" dirty="0"/>
                  <a:t>：</a:t>
                </a:r>
                <a:r>
                  <a:rPr lang="zh-CN" altLang="en-US" sz="28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是正整数，则</a:t>
                </a:r>
                <a:endParaRPr lang="en-US" altLang="zh-CN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dirty="0"/>
                  <a:t>（</a:t>
                </a:r>
                <a:r>
                  <a:rPr lang="en-US" altLang="zh-CN" sz="2800" dirty="0"/>
                  <a:t>3</a:t>
                </a:r>
                <a:r>
                  <a:rPr lang="zh-CN" altLang="en-US" sz="28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，且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dirty="0"/>
                  <a:t>（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则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750714"/>
                <a:ext cx="9145016" cy="5918646"/>
              </a:xfrm>
              <a:blipFill>
                <a:blip r:embed="rId3"/>
                <a:stretch>
                  <a:fillRect l="-1400" t="-7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7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1B1BA-937B-4FD1-923E-D3BF6894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欧几里德算法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50714"/>
                <a:ext cx="8435280" cy="591864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b="1" dirty="0"/>
                  <a:t>定理</a:t>
                </a:r>
                <a:r>
                  <a:rPr lang="en-US" altLang="zh-CN" sz="2400" b="1" dirty="0"/>
                  <a:t>8</a:t>
                </a:r>
                <a:r>
                  <a:rPr lang="zh-CN" altLang="en-US" sz="2400" b="1" dirty="0"/>
                  <a:t>：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欧几里德算法</a:t>
                </a:r>
                <a:r>
                  <a:rPr lang="en-US" altLang="zh-CN" sz="2400" dirty="0"/>
                  <a:t>): </a:t>
                </a:r>
                <a:r>
                  <a:rPr lang="zh-CN" altLang="en-US" sz="2400" dirty="0"/>
                  <a:t>给定整数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重复使用带余除法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即用每次的余数为除数去除上一次的除数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直至余数为</a:t>
                </a:r>
                <a:r>
                  <a:rPr lang="en-US" altLang="zh-CN" sz="2400" dirty="0"/>
                  <a:t>0,</a:t>
                </a:r>
                <a:r>
                  <a:rPr lang="zh-CN" altLang="en-US" sz="2400" dirty="0"/>
                  <a:t>这样可得下面一组方程：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0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0&lt;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0&lt;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⋯,</m:t>
                      </m:r>
                    </m:oMath>
                  </m:oMathPara>
                </a14:m>
                <a:endParaRPr lang="en-US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dirty="0"/>
                  <a:t>最后一个不为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的余数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/>
                  <a:t>就是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/>
                  <a:t>的最大公因数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F10D71-9314-469D-9CFF-E56F6219F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50714"/>
                <a:ext cx="8435280" cy="5918646"/>
              </a:xfrm>
              <a:blipFill>
                <a:blip r:embed="rId3"/>
                <a:stretch>
                  <a:fillRect l="-1084" t="-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58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C492F-FB97-4128-BE1B-2E567B9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欧几里德算法举例</a:t>
            </a:r>
            <a:endParaRPr lang="en-CA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42CE10-5516-4299-B3BA-897F64EF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CA" altLang="zh-CN" dirty="0"/>
              <a:t>1</a:t>
            </a:r>
            <a:r>
              <a:rPr lang="zh-CN" altLang="en-US" dirty="0"/>
              <a:t>：求</a:t>
            </a:r>
            <a:r>
              <a:rPr lang="en-CA" altLang="zh-CN" dirty="0"/>
              <a:t>169</a:t>
            </a:r>
            <a:r>
              <a:rPr lang="zh-CN" altLang="en-US" dirty="0"/>
              <a:t>与</a:t>
            </a:r>
            <a:r>
              <a:rPr lang="en-CA" altLang="zh-CN" dirty="0"/>
              <a:t>48</a:t>
            </a:r>
            <a:r>
              <a:rPr lang="zh-CN" altLang="en-US" dirty="0"/>
              <a:t>的最大公约数</a:t>
            </a:r>
            <a:endParaRPr lang="en-CA" altLang="zh-CN" dirty="0"/>
          </a:p>
          <a:p>
            <a:r>
              <a:rPr lang="zh-CN" altLang="en-US" dirty="0"/>
              <a:t>解：</a:t>
            </a:r>
            <a:endParaRPr lang="en-CA" altLang="zh-CN" dirty="0"/>
          </a:p>
          <a:p>
            <a:pPr lvl="1"/>
            <a:r>
              <a:rPr lang="en-CA" dirty="0">
                <a:solidFill>
                  <a:srgbClr val="FF0000"/>
                </a:solidFill>
              </a:rPr>
              <a:t>169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B050"/>
                </a:solidFill>
              </a:rPr>
              <a:t>48</a:t>
            </a:r>
            <a:r>
              <a:rPr lang="zh-CN" altLang="en-US" dirty="0"/>
              <a:t>*</a:t>
            </a:r>
            <a:r>
              <a:rPr lang="en-CA" altLang="zh-CN" dirty="0"/>
              <a:t>3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0066FF"/>
                </a:solidFill>
              </a:rPr>
              <a:t>25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48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B050"/>
                </a:solidFill>
              </a:rPr>
              <a:t>25</a:t>
            </a:r>
            <a:r>
              <a:rPr lang="zh-CN" altLang="en-US" dirty="0"/>
              <a:t>*</a:t>
            </a:r>
            <a:r>
              <a:rPr lang="en-CA" altLang="zh-CN" dirty="0"/>
              <a:t>1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0066FF"/>
                </a:solidFill>
              </a:rPr>
              <a:t>23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25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B050"/>
                </a:solidFill>
              </a:rPr>
              <a:t>23</a:t>
            </a:r>
            <a:r>
              <a:rPr lang="zh-CN" altLang="en-US" dirty="0"/>
              <a:t>*</a:t>
            </a:r>
            <a:r>
              <a:rPr lang="en-CA" altLang="zh-CN" dirty="0"/>
              <a:t>1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0066FF"/>
                </a:solidFill>
              </a:rPr>
              <a:t>2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23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/>
              <a:t>*</a:t>
            </a:r>
            <a:r>
              <a:rPr lang="en-CA" altLang="zh-CN" dirty="0"/>
              <a:t>11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0066FF"/>
                </a:solidFill>
              </a:rPr>
              <a:t>1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/>
              <a:t>*</a:t>
            </a:r>
            <a:r>
              <a:rPr lang="en-CA" altLang="zh-CN" dirty="0"/>
              <a:t>2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0066FF"/>
                </a:solidFill>
              </a:rPr>
              <a:t>0</a:t>
            </a:r>
          </a:p>
          <a:p>
            <a:pPr lvl="1"/>
            <a:r>
              <a:rPr lang="zh-CN" altLang="en-US" dirty="0">
                <a:solidFill>
                  <a:srgbClr val="0066FF"/>
                </a:solidFill>
              </a:rPr>
              <a:t>所以最大公约数（</a:t>
            </a:r>
            <a:r>
              <a:rPr lang="en-CA" altLang="zh-CN" dirty="0">
                <a:solidFill>
                  <a:srgbClr val="0066FF"/>
                </a:solidFill>
              </a:rPr>
              <a:t>169,48</a:t>
            </a:r>
            <a:r>
              <a:rPr lang="zh-CN" altLang="en-US" dirty="0">
                <a:solidFill>
                  <a:srgbClr val="0066FF"/>
                </a:solidFill>
              </a:rPr>
              <a:t>）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zh-CN" altLang="en-US" dirty="0">
                <a:solidFill>
                  <a:srgbClr val="0066FF"/>
                </a:solidFill>
              </a:rPr>
              <a:t>（</a:t>
            </a:r>
            <a:r>
              <a:rPr lang="en-CA" altLang="zh-CN" dirty="0">
                <a:solidFill>
                  <a:srgbClr val="0066FF"/>
                </a:solidFill>
              </a:rPr>
              <a:t>2,1</a:t>
            </a:r>
            <a:r>
              <a:rPr lang="zh-CN" altLang="en-US" dirty="0">
                <a:solidFill>
                  <a:srgbClr val="0066FF"/>
                </a:solidFill>
              </a:rPr>
              <a:t>）</a:t>
            </a:r>
            <a:r>
              <a:rPr lang="en-US" altLang="zh-CN" dirty="0">
                <a:solidFill>
                  <a:srgbClr val="0066FF"/>
                </a:solidFill>
              </a:rPr>
              <a:t>=1</a:t>
            </a:r>
            <a:endParaRPr lang="en-CA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50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C492F-FB97-4128-BE1B-2E567B9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欧几里德算法举例</a:t>
            </a:r>
            <a:endParaRPr lang="en-CA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42CE10-5516-4299-B3BA-897F64EF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CA" altLang="zh-CN" dirty="0"/>
              <a:t>2</a:t>
            </a:r>
            <a:r>
              <a:rPr lang="zh-CN" altLang="en-US" dirty="0"/>
              <a:t>：求</a:t>
            </a:r>
            <a:r>
              <a:rPr lang="en-CA" altLang="zh-CN" dirty="0"/>
              <a:t>168</a:t>
            </a:r>
            <a:r>
              <a:rPr lang="zh-CN" altLang="en-US" dirty="0"/>
              <a:t>与</a:t>
            </a:r>
            <a:r>
              <a:rPr lang="en-CA" altLang="zh-CN" dirty="0"/>
              <a:t>48</a:t>
            </a:r>
            <a:r>
              <a:rPr lang="zh-CN" altLang="en-US" dirty="0"/>
              <a:t>的最大公约数</a:t>
            </a:r>
            <a:endParaRPr lang="en-CA" altLang="zh-CN" dirty="0"/>
          </a:p>
          <a:p>
            <a:r>
              <a:rPr lang="zh-CN" altLang="en-US" dirty="0"/>
              <a:t>解：</a:t>
            </a:r>
            <a:endParaRPr lang="en-CA" altLang="zh-CN" dirty="0"/>
          </a:p>
          <a:p>
            <a:pPr lvl="1"/>
            <a:r>
              <a:rPr lang="en-CA" dirty="0">
                <a:solidFill>
                  <a:srgbClr val="FF0000"/>
                </a:solidFill>
              </a:rPr>
              <a:t>168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B050"/>
                </a:solidFill>
              </a:rPr>
              <a:t>48</a:t>
            </a:r>
            <a:r>
              <a:rPr lang="zh-CN" altLang="en-US" dirty="0"/>
              <a:t>*</a:t>
            </a:r>
            <a:r>
              <a:rPr lang="en-CA" altLang="zh-CN" dirty="0"/>
              <a:t>3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0066FF"/>
                </a:solidFill>
              </a:rPr>
              <a:t>24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48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B050"/>
                </a:solidFill>
              </a:rPr>
              <a:t>24</a:t>
            </a:r>
            <a:r>
              <a:rPr lang="zh-CN" altLang="en-US" dirty="0"/>
              <a:t>*</a:t>
            </a:r>
            <a:r>
              <a:rPr lang="en-CA" altLang="zh-CN" dirty="0"/>
              <a:t>2</a:t>
            </a:r>
            <a:r>
              <a:rPr lang="en-US" altLang="zh-CN" dirty="0"/>
              <a:t>+ </a:t>
            </a:r>
            <a:r>
              <a:rPr lang="en-US" altLang="zh-CN" dirty="0">
                <a:solidFill>
                  <a:srgbClr val="0066FF"/>
                </a:solidFill>
              </a:rPr>
              <a:t>0</a:t>
            </a:r>
          </a:p>
          <a:p>
            <a:pPr lvl="1"/>
            <a:r>
              <a:rPr lang="zh-CN" altLang="en-US" dirty="0">
                <a:solidFill>
                  <a:srgbClr val="0066FF"/>
                </a:solidFill>
              </a:rPr>
              <a:t>所以最大公约数（</a:t>
            </a:r>
            <a:r>
              <a:rPr lang="en-CA" altLang="zh-CN" dirty="0">
                <a:solidFill>
                  <a:srgbClr val="0066FF"/>
                </a:solidFill>
              </a:rPr>
              <a:t>168,48</a:t>
            </a:r>
            <a:r>
              <a:rPr lang="zh-CN" altLang="en-US" dirty="0">
                <a:solidFill>
                  <a:srgbClr val="0066FF"/>
                </a:solidFill>
              </a:rPr>
              <a:t>）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zh-CN" altLang="en-US" dirty="0">
                <a:solidFill>
                  <a:srgbClr val="0066FF"/>
                </a:solidFill>
              </a:rPr>
              <a:t>（</a:t>
            </a:r>
            <a:r>
              <a:rPr lang="en-CA" altLang="zh-CN" dirty="0">
                <a:solidFill>
                  <a:srgbClr val="0066FF"/>
                </a:solidFill>
              </a:rPr>
              <a:t>48,24</a:t>
            </a:r>
            <a:r>
              <a:rPr lang="zh-CN" altLang="en-US" dirty="0">
                <a:solidFill>
                  <a:srgbClr val="0066FF"/>
                </a:solidFill>
              </a:rPr>
              <a:t>）</a:t>
            </a:r>
            <a:r>
              <a:rPr lang="en-CA" altLang="zh-CN" dirty="0">
                <a:solidFill>
                  <a:srgbClr val="0066FF"/>
                </a:solidFill>
              </a:rPr>
              <a:t>=</a:t>
            </a:r>
            <a:r>
              <a:rPr lang="en-US" altLang="zh-CN" dirty="0">
                <a:solidFill>
                  <a:srgbClr val="0066FF"/>
                </a:solidFill>
              </a:rPr>
              <a:t>24</a:t>
            </a:r>
            <a:endParaRPr lang="en-CA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19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02CAF5E-6BE7-4F6F-A4E8-BED6B968A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57163"/>
            <a:ext cx="7793038" cy="7667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+mj-ea"/>
              </a:rPr>
              <a:t>逆元 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D5CF8A8-D365-4FB6-8A7E-5C29E27D3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59800" cy="4864100"/>
          </a:xfrm>
        </p:spPr>
        <p:txBody>
          <a:bodyPr/>
          <a:lstStyle/>
          <a:p>
            <a:pPr eaLnBrk="1" hangingPunct="1"/>
            <a:r>
              <a:rPr lang="zh-CN" altLang="en-US"/>
              <a:t>设</a:t>
            </a:r>
            <a:r>
              <a:rPr lang="en-US" altLang="zh-CN"/>
              <a:t>m</a:t>
            </a:r>
            <a:r>
              <a:rPr lang="zh-CN" altLang="en-US"/>
              <a:t>是正整数，</a:t>
            </a:r>
            <a:r>
              <a:rPr lang="en-US" altLang="zh-CN"/>
              <a:t>a</a:t>
            </a:r>
            <a:r>
              <a:rPr lang="zh-CN" altLang="en-US"/>
              <a:t>是整数，如果存在</a:t>
            </a:r>
            <a:r>
              <a:rPr lang="en-US" altLang="zh-CN"/>
              <a:t>a’, </a:t>
            </a:r>
            <a:r>
              <a:rPr lang="zh-CN" altLang="en-US"/>
              <a:t>使得</a:t>
            </a:r>
            <a:r>
              <a:rPr lang="en-US" altLang="zh-CN"/>
              <a:t>a×a’ ≡1(mod m)</a:t>
            </a:r>
            <a:r>
              <a:rPr lang="zh-CN" altLang="en-US"/>
              <a:t>成立，则</a:t>
            </a:r>
            <a:r>
              <a:rPr lang="en-US" altLang="zh-CN"/>
              <a:t>a</a:t>
            </a:r>
            <a:r>
              <a:rPr lang="zh-CN" altLang="en-US"/>
              <a:t>叫模</a:t>
            </a:r>
            <a:r>
              <a:rPr lang="en-US" altLang="zh-CN"/>
              <a:t>m</a:t>
            </a:r>
            <a:r>
              <a:rPr lang="zh-CN" altLang="en-US"/>
              <a:t>的可逆元，</a:t>
            </a:r>
            <a:r>
              <a:rPr lang="en-US" altLang="zh-CN"/>
              <a:t>a’ </a:t>
            </a:r>
            <a:r>
              <a:rPr lang="zh-CN" altLang="en-US"/>
              <a:t>叫</a:t>
            </a:r>
            <a:r>
              <a:rPr lang="en-US" altLang="zh-CN"/>
              <a:t>a</a:t>
            </a:r>
            <a:r>
              <a:rPr lang="zh-CN" altLang="en-US"/>
              <a:t>模</a:t>
            </a:r>
            <a:r>
              <a:rPr lang="en-US" altLang="zh-CN"/>
              <a:t>m</a:t>
            </a:r>
            <a:r>
              <a:rPr lang="zh-CN" altLang="en-US"/>
              <a:t>的逆元。</a:t>
            </a:r>
          </a:p>
          <a:p>
            <a:pPr eaLnBrk="1" hangingPunct="1"/>
            <a:r>
              <a:rPr lang="zh-CN" altLang="en-US"/>
              <a:t>例如，设</a:t>
            </a:r>
            <a:r>
              <a:rPr lang="en-US" altLang="zh-CN"/>
              <a:t>m</a:t>
            </a:r>
            <a:r>
              <a:rPr lang="zh-CN" altLang="en-US"/>
              <a:t>为</a:t>
            </a:r>
            <a:r>
              <a:rPr lang="en-US" altLang="zh-CN"/>
              <a:t>11</a:t>
            </a:r>
            <a:r>
              <a:rPr lang="zh-CN" altLang="en-US"/>
              <a:t>，则</a:t>
            </a:r>
            <a:r>
              <a:rPr lang="en-US" altLang="zh-CN"/>
              <a:t>8</a:t>
            </a:r>
            <a:r>
              <a:rPr lang="zh-CN" altLang="en-US"/>
              <a:t>模</a:t>
            </a:r>
            <a:r>
              <a:rPr lang="en-US" altLang="zh-CN"/>
              <a:t>11</a:t>
            </a:r>
            <a:r>
              <a:rPr lang="zh-CN" altLang="en-US"/>
              <a:t>的逆元为</a:t>
            </a:r>
            <a:r>
              <a:rPr lang="en-US" altLang="zh-CN"/>
              <a:t>7</a:t>
            </a:r>
            <a:r>
              <a:rPr lang="zh-CN" altLang="en-US"/>
              <a:t>，因为</a:t>
            </a:r>
            <a:r>
              <a:rPr lang="en-US" altLang="zh-CN"/>
              <a:t>8×7≡1(mod11)</a:t>
            </a:r>
          </a:p>
          <a:p>
            <a:pPr eaLnBrk="1" hangingPunct="1"/>
            <a:r>
              <a:rPr lang="zh-CN" altLang="en-US"/>
              <a:t>当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m</a:t>
            </a:r>
            <a:r>
              <a:rPr lang="zh-CN" altLang="en-US"/>
              <a:t>互素的情况下，即（</a:t>
            </a:r>
            <a:r>
              <a:rPr lang="en-US" altLang="zh-CN"/>
              <a:t>a,m</a:t>
            </a:r>
            <a:r>
              <a:rPr lang="zh-CN" altLang="en-US"/>
              <a:t>）</a:t>
            </a:r>
            <a:r>
              <a:rPr lang="en-US" altLang="zh-CN"/>
              <a:t>=1,</a:t>
            </a:r>
            <a:r>
              <a:rPr lang="zh-CN" altLang="en-US"/>
              <a:t>则</a:t>
            </a:r>
            <a:r>
              <a:rPr lang="en-US" altLang="zh-CN"/>
              <a:t>a</a:t>
            </a:r>
            <a:r>
              <a:rPr lang="zh-CN" altLang="en-US"/>
              <a:t>的模</a:t>
            </a:r>
            <a:r>
              <a:rPr lang="en-US" altLang="zh-CN"/>
              <a:t>m</a:t>
            </a:r>
            <a:r>
              <a:rPr lang="zh-CN" altLang="en-US"/>
              <a:t>的逆元总是存在的，且可以用上面的辗转相除法求得。</a:t>
            </a:r>
          </a:p>
        </p:txBody>
      </p:sp>
      <p:sp>
        <p:nvSpPr>
          <p:cNvPr id="36868" name="灯片编号占位符 1">
            <a:extLst>
              <a:ext uri="{FF2B5EF4-FFF2-40B4-BE49-F238E27FC236}">
                <a16:creationId xmlns:a16="http://schemas.microsoft.com/office/drawing/2014/main" id="{CFC9B129-04F5-496A-A72A-F2D9F7ECE1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DA0CDBB-2148-4E00-A301-2B240592F3D1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626D4CA-B124-4BFF-91FE-E62EFA867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7793037" cy="9096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+mj-ea"/>
              </a:rPr>
              <a:t>求逆元举例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3C78C12-BA71-47C9-90B1-0736E3FF6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229600" cy="55895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例如，我们知道</a:t>
            </a:r>
            <a:r>
              <a:rPr lang="en-US" altLang="zh-CN" dirty="0"/>
              <a:t>89</a:t>
            </a:r>
            <a:r>
              <a:rPr lang="zh-CN" altLang="en-US" dirty="0"/>
              <a:t>是素数，求</a:t>
            </a:r>
            <a:r>
              <a:rPr lang="en-US" altLang="zh-CN" dirty="0"/>
              <a:t>60</a:t>
            </a:r>
            <a:r>
              <a:rPr lang="zh-CN" altLang="en-US" dirty="0"/>
              <a:t>模</a:t>
            </a:r>
            <a:r>
              <a:rPr lang="en-US" altLang="zh-CN" dirty="0"/>
              <a:t>89</a:t>
            </a:r>
            <a:r>
              <a:rPr lang="zh-CN" altLang="en-US" dirty="0"/>
              <a:t>的逆元，可以用下面方法。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89=60×1+29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60=29×2+2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29=2×14+1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则</a:t>
            </a:r>
            <a:r>
              <a:rPr lang="en-US" altLang="zh-CN" sz="2800" dirty="0"/>
              <a:t>1=29-2×14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=29- (60-2×29) ×14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=29×29-60×14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=(89-60) ×29-60×14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=89×29-60×43</a:t>
            </a:r>
          </a:p>
        </p:txBody>
      </p:sp>
      <p:sp>
        <p:nvSpPr>
          <p:cNvPr id="37892" name="灯片编号占位符 1">
            <a:extLst>
              <a:ext uri="{FF2B5EF4-FFF2-40B4-BE49-F238E27FC236}">
                <a16:creationId xmlns:a16="http://schemas.microsoft.com/office/drawing/2014/main" id="{AC522CE1-571D-4F06-BE47-09274C6A39E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EBE984A-FCD9-4132-A26E-C185D89127C8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F29CC1C-A89C-43CC-8F33-3ADBCEFB7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57163"/>
            <a:ext cx="7793038" cy="7667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+mj-ea"/>
              </a:rPr>
              <a:t>求逆元举例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62FB00E-52E1-4551-A2CC-105850DAD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59800" cy="4864100"/>
          </a:xfrm>
        </p:spPr>
        <p:txBody>
          <a:bodyPr/>
          <a:lstStyle/>
          <a:p>
            <a:pPr eaLnBrk="1" hangingPunct="1"/>
            <a:r>
              <a:rPr lang="zh-CN" altLang="en-US" dirty="0"/>
              <a:t>等式两端同时</a:t>
            </a:r>
            <a:r>
              <a:rPr lang="en-US" altLang="zh-CN" dirty="0"/>
              <a:t>mod 89</a:t>
            </a:r>
            <a:r>
              <a:rPr lang="zh-CN" altLang="en-US" dirty="0"/>
              <a:t>得：</a:t>
            </a:r>
            <a:r>
              <a:rPr lang="en-US" altLang="zh-CN" dirty="0"/>
              <a:t>60×(-43) ≡1 mod 89</a:t>
            </a:r>
          </a:p>
          <a:p>
            <a:pPr eaLnBrk="1" hangingPunct="1"/>
            <a:r>
              <a:rPr lang="zh-CN" altLang="en-US" dirty="0"/>
              <a:t>故</a:t>
            </a:r>
            <a:r>
              <a:rPr lang="en-US" altLang="zh-CN" dirty="0"/>
              <a:t>60</a:t>
            </a:r>
            <a:r>
              <a:rPr lang="zh-CN" altLang="en-US" dirty="0"/>
              <a:t>模</a:t>
            </a:r>
            <a:r>
              <a:rPr lang="en-US" altLang="zh-CN" dirty="0"/>
              <a:t>89</a:t>
            </a:r>
            <a:r>
              <a:rPr lang="zh-CN" altLang="en-US" dirty="0"/>
              <a:t>的逆元为</a:t>
            </a:r>
            <a:r>
              <a:rPr lang="en-US" altLang="zh-CN" dirty="0"/>
              <a:t>-43</a:t>
            </a:r>
            <a:r>
              <a:rPr lang="zh-CN" altLang="en-US" dirty="0"/>
              <a:t>，为方便记为最小非负数，因为</a:t>
            </a:r>
            <a:r>
              <a:rPr lang="en-US" altLang="zh-CN" dirty="0"/>
              <a:t>-43≡46 mod 89</a:t>
            </a:r>
            <a:r>
              <a:rPr lang="zh-CN" altLang="en-US" dirty="0"/>
              <a:t>，故一般说</a:t>
            </a:r>
            <a:r>
              <a:rPr lang="en-US" altLang="zh-CN" dirty="0"/>
              <a:t>60</a:t>
            </a:r>
            <a:r>
              <a:rPr lang="zh-CN" altLang="en-US" dirty="0"/>
              <a:t>模</a:t>
            </a:r>
            <a:r>
              <a:rPr lang="en-US" altLang="zh-CN" dirty="0"/>
              <a:t>89</a:t>
            </a:r>
            <a:r>
              <a:rPr lang="zh-CN" altLang="en-US" dirty="0"/>
              <a:t>的逆元为</a:t>
            </a:r>
            <a:r>
              <a:rPr lang="en-US" altLang="zh-CN" dirty="0"/>
              <a:t>46. </a:t>
            </a:r>
          </a:p>
        </p:txBody>
      </p:sp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7571F46C-3998-4531-9FEA-886903E77B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954C4C-976C-4A0B-9C4B-6FBA00C74851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908720"/>
            <a:ext cx="8964612" cy="6264696"/>
          </a:xfrm>
        </p:spPr>
        <p:txBody>
          <a:bodyPr vert="horz">
            <a:no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Fermat</a:t>
            </a:r>
            <a:r>
              <a:rPr lang="zh-CN" altLang="en-US" b="1" dirty="0">
                <a:solidFill>
                  <a:schemeClr val="tx1"/>
                </a:solidFill>
              </a:rPr>
              <a:t>定理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若</a:t>
            </a:r>
            <a:r>
              <a:rPr lang="en-US" altLang="zh-CN" sz="2800" dirty="0">
                <a:solidFill>
                  <a:schemeClr val="tx1"/>
                </a:solidFill>
              </a:rPr>
              <a:t>p</a:t>
            </a:r>
            <a:r>
              <a:rPr lang="zh-CN" altLang="en-US" sz="2800" dirty="0">
                <a:solidFill>
                  <a:schemeClr val="tx1"/>
                </a:solidFill>
              </a:rPr>
              <a:t>是素数，</a:t>
            </a:r>
            <a:r>
              <a:rPr lang="en-US" altLang="zh-CN" sz="2800" dirty="0">
                <a:solidFill>
                  <a:schemeClr val="tx1"/>
                </a:solidFill>
              </a:rPr>
              <a:t>a</a:t>
            </a:r>
            <a:r>
              <a:rPr lang="zh-CN" altLang="en-US" sz="2800" dirty="0">
                <a:solidFill>
                  <a:schemeClr val="tx1"/>
                </a:solidFill>
              </a:rPr>
              <a:t>为任意正整数，若</a:t>
            </a:r>
            <a:r>
              <a:rPr lang="en-US" altLang="zh-CN" sz="2800" dirty="0">
                <a:solidFill>
                  <a:schemeClr val="tx1"/>
                </a:solidFill>
              </a:rPr>
              <a:t>a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</a:rPr>
              <a:t>p</a:t>
            </a:r>
            <a:r>
              <a:rPr lang="zh-CN" altLang="en-US" sz="2800" dirty="0">
                <a:solidFill>
                  <a:schemeClr val="tx1"/>
                </a:solidFill>
              </a:rPr>
              <a:t>互素，则</a:t>
            </a:r>
            <a:endParaRPr lang="en-CA" altLang="zh-CN" sz="2800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i="1" baseline="30000" dirty="0">
                <a:solidFill>
                  <a:schemeClr val="tx1"/>
                </a:solidFill>
              </a:rPr>
              <a:t>p-1</a:t>
            </a:r>
            <a:r>
              <a:rPr lang="en-US" altLang="zh-CN" sz="2800" i="1" dirty="0">
                <a:solidFill>
                  <a:schemeClr val="tx1"/>
                </a:solidFill>
              </a:rPr>
              <a:t>mod</a:t>
            </a:r>
            <a:r>
              <a:rPr lang="zh-CN" altLang="en-US" sz="2800" i="1" dirty="0">
                <a:solidFill>
                  <a:schemeClr val="tx1"/>
                </a:solidFill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p=1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例：计算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en-US" altLang="zh-CN" sz="2800" baseline="30000" dirty="0">
                <a:solidFill>
                  <a:schemeClr val="tx1"/>
                </a:solidFill>
              </a:rPr>
              <a:t>43210</a:t>
            </a:r>
            <a:r>
              <a:rPr lang="en-US" altLang="zh-CN" sz="2800" dirty="0">
                <a:solidFill>
                  <a:schemeClr val="tx1"/>
                </a:solidFill>
              </a:rPr>
              <a:t> (mod 101)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因为 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</a:rPr>
              <a:t>100 </a:t>
            </a:r>
            <a:r>
              <a:rPr lang="en-US" altLang="zh-CN" sz="2400" dirty="0">
                <a:solidFill>
                  <a:schemeClr val="tx1"/>
                </a:solidFill>
              </a:rPr>
              <a:t>≡1(mod 101)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/>
              <a:t>所以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43210</a:t>
            </a:r>
            <a:r>
              <a:rPr lang="en-US" altLang="zh-CN" sz="2400" dirty="0"/>
              <a:t> (mod 101)=</a:t>
            </a:r>
            <a:r>
              <a:rPr lang="en-US" altLang="zh-CN" sz="2400" dirty="0">
                <a:solidFill>
                  <a:schemeClr val="tx1"/>
                </a:solidFill>
              </a:rPr>
              <a:t> (2</a:t>
            </a:r>
            <a:r>
              <a:rPr lang="en-US" altLang="zh-CN" sz="2400" baseline="30000" dirty="0">
                <a:solidFill>
                  <a:schemeClr val="tx1"/>
                </a:solidFill>
              </a:rPr>
              <a:t>100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r>
              <a:rPr lang="en-US" altLang="zh-CN" sz="2400" baseline="30000" dirty="0">
                <a:solidFill>
                  <a:schemeClr val="tx1"/>
                </a:solidFill>
              </a:rPr>
              <a:t>432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</a:rPr>
              <a:t>10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400" baseline="300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≡1</a:t>
            </a:r>
            <a:r>
              <a:rPr lang="en-US" altLang="zh-CN" sz="2400" baseline="30000" dirty="0">
                <a:solidFill>
                  <a:schemeClr val="tx1"/>
                </a:solidFill>
              </a:rPr>
              <a:t>432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</a:rPr>
              <a:t>10 </a:t>
            </a:r>
            <a:r>
              <a:rPr lang="en-US" altLang="zh-CN" sz="2400" dirty="0">
                <a:solidFill>
                  <a:schemeClr val="tx1"/>
                </a:solidFill>
              </a:rPr>
              <a:t>≡1024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≡14(mod 101)</a:t>
            </a:r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323528" y="260648"/>
            <a:ext cx="8312150" cy="72008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C0C0C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1pPr>
            <a:lvl2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2pPr>
            <a:lvl3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3pPr>
            <a:lvl4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4pPr>
            <a:lvl5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9pPr>
          </a:lstStyle>
          <a:p>
            <a:pPr algn="ctr" defTabSz="457200" eaLnBrk="1" hangingPunct="1">
              <a:defRPr/>
            </a:pPr>
            <a:r>
              <a:rPr lang="en-US" altLang="zh-CN" sz="4000" b="0" dirty="0">
                <a:solidFill>
                  <a:schemeClr val="tx1"/>
                </a:solidFill>
                <a:effectLst/>
                <a:latin typeface="+mj-ea"/>
                <a:ea typeface="+mj-ea"/>
                <a:cs typeface="+mj-cs"/>
              </a:rPr>
              <a:t>Fermat</a:t>
            </a:r>
            <a:r>
              <a:rPr lang="zh-CN" altLang="en-US" sz="4000" b="0" dirty="0">
                <a:solidFill>
                  <a:schemeClr val="tx1"/>
                </a:solidFill>
                <a:effectLst/>
                <a:latin typeface="+mj-ea"/>
                <a:ea typeface="+mj-ea"/>
                <a:cs typeface="+mj-cs"/>
              </a:rPr>
              <a:t>定理和</a:t>
            </a:r>
            <a:r>
              <a:rPr lang="en-US" altLang="zh-CN" sz="4000" b="0" dirty="0">
                <a:solidFill>
                  <a:schemeClr val="tx1"/>
                </a:solidFill>
                <a:effectLst/>
                <a:latin typeface="+mj-ea"/>
                <a:ea typeface="+mj-ea"/>
                <a:cs typeface="+mj-cs"/>
              </a:rPr>
              <a:t>Euler</a:t>
            </a:r>
            <a:r>
              <a:rPr lang="zh-CN" altLang="en-US" sz="4000" b="0" dirty="0">
                <a:solidFill>
                  <a:schemeClr val="tx1"/>
                </a:solidFill>
                <a:effectLst/>
                <a:latin typeface="+mj-ea"/>
                <a:ea typeface="+mj-ea"/>
                <a:cs typeface="+mj-cs"/>
              </a:rPr>
              <a:t>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5375"/>
            <a:ext cx="9144000" cy="5762625"/>
          </a:xfrm>
        </p:spPr>
        <p:txBody>
          <a:bodyPr/>
          <a:lstStyle/>
          <a:p>
            <a:pPr eaLnBrk="1" hangingPunct="1">
              <a:buNone/>
              <a:defRPr/>
            </a:pPr>
            <a:r>
              <a:rPr lang="en-US" altLang="zh-CN" sz="2800" b="1" dirty="0"/>
              <a:t>Euler</a:t>
            </a:r>
            <a:r>
              <a:rPr lang="zh-CN" altLang="en-US" sz="2800" b="1" dirty="0"/>
              <a:t>函数 ：</a:t>
            </a:r>
            <a:r>
              <a:rPr lang="zh-CN" altLang="en-US" sz="2800" dirty="0"/>
              <a:t>小于</a:t>
            </a:r>
            <a:r>
              <a:rPr lang="en-US" altLang="zh-CN" sz="2800" dirty="0"/>
              <a:t>m</a:t>
            </a:r>
            <a:r>
              <a:rPr lang="zh-CN" altLang="en-US" sz="2800" dirty="0"/>
              <a:t>且与</a:t>
            </a:r>
            <a:r>
              <a:rPr lang="en-US" altLang="zh-CN" sz="2800" dirty="0"/>
              <a:t>m</a:t>
            </a:r>
            <a:r>
              <a:rPr lang="zh-CN" altLang="en-US" sz="2800" dirty="0"/>
              <a:t>互素的正整数的个数称为</a:t>
            </a:r>
            <a:r>
              <a:rPr lang="en-US" altLang="zh-CN" sz="2800" dirty="0"/>
              <a:t>m</a:t>
            </a:r>
            <a:r>
              <a:rPr lang="zh-CN" altLang="en-US" sz="2800" dirty="0"/>
              <a:t>的</a:t>
            </a:r>
            <a:r>
              <a:rPr lang="en-US" altLang="zh-CN" sz="2800" dirty="0"/>
              <a:t>Euler</a:t>
            </a:r>
            <a:r>
              <a:rPr lang="zh-CN" altLang="en-US" sz="2800" dirty="0"/>
              <a:t>函数，记为</a:t>
            </a:r>
            <a:r>
              <a:rPr lang="el-GR" altLang="zh-CN" dirty="0"/>
              <a:t>Φ</a:t>
            </a:r>
            <a:r>
              <a:rPr lang="en-US" altLang="zh-CN" dirty="0"/>
              <a:t> </a:t>
            </a:r>
            <a:r>
              <a:rPr lang="en-US" altLang="zh-CN" sz="2800" dirty="0"/>
              <a:t>(m),</a:t>
            </a:r>
            <a:r>
              <a:rPr lang="el-GR" altLang="zh-CN" sz="2800" dirty="0"/>
              <a:t> </a:t>
            </a:r>
            <a:r>
              <a:rPr lang="zh-CN" altLang="en-US" sz="2800" dirty="0"/>
              <a:t>习惯上</a:t>
            </a:r>
            <a:r>
              <a:rPr lang="el-GR" altLang="zh-CN" sz="2800" dirty="0"/>
              <a:t>Φ</a:t>
            </a:r>
            <a:r>
              <a:rPr lang="en-US" altLang="zh-CN" sz="2800" dirty="0"/>
              <a:t>(1)=1</a:t>
            </a:r>
            <a:endParaRPr lang="en-US" altLang="zh-CN" sz="28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例：</a:t>
            </a:r>
            <a:r>
              <a:rPr lang="zh-CN" altLang="en-US" sz="2800" dirty="0"/>
              <a:t>确定</a:t>
            </a:r>
            <a:r>
              <a:rPr lang="el-GR" altLang="zh-CN" dirty="0"/>
              <a:t>Φ</a:t>
            </a:r>
            <a:r>
              <a:rPr lang="en-US" altLang="zh-CN" dirty="0"/>
              <a:t> </a:t>
            </a:r>
            <a:r>
              <a:rPr lang="en-US" altLang="zh-CN" sz="2800" dirty="0"/>
              <a:t>(37)</a:t>
            </a:r>
            <a:r>
              <a:rPr lang="zh-CN" altLang="en-US" sz="2800" dirty="0"/>
              <a:t>和</a:t>
            </a:r>
            <a:r>
              <a:rPr lang="en-US" altLang="zh-CN" sz="2800" dirty="0"/>
              <a:t>Φ (35)</a:t>
            </a:r>
            <a:r>
              <a:rPr lang="zh-CN" altLang="en-US" sz="2800" dirty="0"/>
              <a:t>的值。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因为</a:t>
            </a:r>
            <a:r>
              <a:rPr lang="en-US" altLang="zh-CN" sz="2800" dirty="0"/>
              <a:t>37</a:t>
            </a:r>
            <a:r>
              <a:rPr lang="zh-CN" altLang="en-US" sz="2800" dirty="0"/>
              <a:t>是素数，所以从</a:t>
            </a:r>
            <a:r>
              <a:rPr lang="en-US" altLang="zh-CN" sz="2800" dirty="0"/>
              <a:t>1</a:t>
            </a:r>
            <a:r>
              <a:rPr lang="zh-CN" altLang="en-US" sz="2800" dirty="0"/>
              <a:t>到</a:t>
            </a:r>
            <a:r>
              <a:rPr lang="en-US" altLang="zh-CN" sz="2800" dirty="0"/>
              <a:t>36</a:t>
            </a:r>
            <a:r>
              <a:rPr lang="zh-CN" altLang="en-US" sz="2800" dirty="0"/>
              <a:t>的所有正整数均与</a:t>
            </a:r>
            <a:r>
              <a:rPr lang="en-US" altLang="zh-CN" sz="2800" dirty="0"/>
              <a:t>37</a:t>
            </a:r>
            <a:r>
              <a:rPr lang="zh-CN" altLang="en-US" sz="2800" dirty="0"/>
              <a:t>互素。故</a:t>
            </a:r>
            <a:r>
              <a:rPr lang="el-GR" altLang="zh-CN" dirty="0"/>
              <a:t>Φ</a:t>
            </a:r>
            <a:r>
              <a:rPr lang="en-US" altLang="zh-CN" sz="2800" dirty="0"/>
              <a:t>(37)=36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列出所有小于</a:t>
            </a:r>
            <a:r>
              <a:rPr lang="en-US" altLang="zh-CN" sz="2800" dirty="0"/>
              <a:t>35</a:t>
            </a:r>
            <a:r>
              <a:rPr lang="zh-CN" altLang="en-US" sz="2800" dirty="0"/>
              <a:t>且与</a:t>
            </a:r>
            <a:r>
              <a:rPr lang="en-US" altLang="zh-CN" sz="2800" dirty="0"/>
              <a:t>35</a:t>
            </a:r>
            <a:r>
              <a:rPr lang="zh-CN" altLang="en-US" sz="2800" dirty="0"/>
              <a:t>互素的正整数如下：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4</a:t>
            </a:r>
            <a:r>
              <a:rPr lang="zh-CN" altLang="en-US" sz="2800" dirty="0"/>
              <a:t>，</a:t>
            </a:r>
            <a:r>
              <a:rPr lang="en-US" altLang="zh-CN" sz="2800" dirty="0"/>
              <a:t>6</a:t>
            </a:r>
            <a:r>
              <a:rPr lang="zh-CN" altLang="en-US" sz="2800" dirty="0"/>
              <a:t>，</a:t>
            </a:r>
            <a:r>
              <a:rPr lang="en-US" altLang="zh-CN" sz="2800" dirty="0"/>
              <a:t>8</a:t>
            </a:r>
            <a:r>
              <a:rPr lang="zh-CN" altLang="en-US" sz="2800" dirty="0"/>
              <a:t>，</a:t>
            </a:r>
            <a:r>
              <a:rPr lang="en-US" altLang="zh-CN" sz="2800" dirty="0"/>
              <a:t>9</a:t>
            </a:r>
            <a:r>
              <a:rPr lang="zh-CN" altLang="en-US" sz="2800" dirty="0"/>
              <a:t>，</a:t>
            </a:r>
            <a:r>
              <a:rPr lang="en-US" altLang="zh-CN" sz="2800" dirty="0"/>
              <a:t>11</a:t>
            </a:r>
            <a:r>
              <a:rPr lang="zh-CN" altLang="en-US" sz="2800" dirty="0"/>
              <a:t>，</a:t>
            </a:r>
            <a:r>
              <a:rPr lang="en-US" altLang="zh-CN" sz="2800" dirty="0"/>
              <a:t>12</a:t>
            </a:r>
            <a:r>
              <a:rPr lang="zh-CN" altLang="en-US" sz="2800" dirty="0"/>
              <a:t>，</a:t>
            </a:r>
            <a:r>
              <a:rPr lang="en-US" altLang="zh-CN" sz="2800" dirty="0"/>
              <a:t>13</a:t>
            </a:r>
            <a:r>
              <a:rPr lang="zh-CN" altLang="en-US" sz="2800" dirty="0"/>
              <a:t>，</a:t>
            </a:r>
            <a:r>
              <a:rPr lang="en-US" altLang="zh-CN" sz="2800" dirty="0"/>
              <a:t>16</a:t>
            </a:r>
            <a:r>
              <a:rPr lang="zh-CN" altLang="en-US" sz="2800" dirty="0"/>
              <a:t>，</a:t>
            </a:r>
            <a:r>
              <a:rPr lang="en-US" altLang="zh-CN" sz="2800" dirty="0"/>
              <a:t>17</a:t>
            </a:r>
            <a:r>
              <a:rPr lang="zh-CN" altLang="en-US" sz="2800" dirty="0"/>
              <a:t>，</a:t>
            </a:r>
            <a:r>
              <a:rPr lang="en-US" altLang="zh-CN" sz="2800" dirty="0"/>
              <a:t>18</a:t>
            </a:r>
            <a:r>
              <a:rPr lang="zh-CN" altLang="en-US" sz="2800" dirty="0"/>
              <a:t>，</a:t>
            </a:r>
            <a:r>
              <a:rPr lang="en-US" altLang="zh-CN" sz="2800" dirty="0"/>
              <a:t>19</a:t>
            </a:r>
            <a:r>
              <a:rPr lang="zh-CN" altLang="en-US" sz="2800" dirty="0"/>
              <a:t>，</a:t>
            </a:r>
            <a:r>
              <a:rPr lang="en-US" altLang="zh-CN" sz="2800" dirty="0"/>
              <a:t>22</a:t>
            </a:r>
            <a:r>
              <a:rPr lang="zh-CN" altLang="en-US" sz="2800" dirty="0"/>
              <a:t>，</a:t>
            </a:r>
            <a:r>
              <a:rPr lang="en-US" altLang="zh-CN" sz="2800" dirty="0"/>
              <a:t>23</a:t>
            </a:r>
            <a:r>
              <a:rPr lang="zh-CN" altLang="en-US" sz="2800" dirty="0"/>
              <a:t>，</a:t>
            </a:r>
            <a:r>
              <a:rPr lang="en-US" altLang="zh-CN" sz="2800" dirty="0"/>
              <a:t>24</a:t>
            </a:r>
            <a:r>
              <a:rPr lang="zh-CN" altLang="en-US" sz="2800" dirty="0"/>
              <a:t>，</a:t>
            </a:r>
            <a:r>
              <a:rPr lang="en-US" altLang="zh-CN" sz="2800" dirty="0"/>
              <a:t>26</a:t>
            </a:r>
            <a:r>
              <a:rPr lang="zh-CN" altLang="en-US" sz="2800" dirty="0"/>
              <a:t>，</a:t>
            </a:r>
            <a:r>
              <a:rPr lang="en-US" altLang="zh-CN" sz="2800" dirty="0"/>
              <a:t>27</a:t>
            </a:r>
            <a:r>
              <a:rPr lang="zh-CN" altLang="en-US" sz="2800" dirty="0"/>
              <a:t>，</a:t>
            </a:r>
            <a:r>
              <a:rPr lang="en-US" altLang="zh-CN" sz="2800" dirty="0"/>
              <a:t>29</a:t>
            </a:r>
            <a:r>
              <a:rPr lang="zh-CN" altLang="en-US" sz="2800" dirty="0"/>
              <a:t>，</a:t>
            </a:r>
            <a:r>
              <a:rPr lang="en-US" altLang="zh-CN" sz="2800" dirty="0"/>
              <a:t>31</a:t>
            </a:r>
            <a:r>
              <a:rPr lang="zh-CN" altLang="en-US" sz="2800" dirty="0"/>
              <a:t>，</a:t>
            </a:r>
            <a:r>
              <a:rPr lang="en-US" altLang="zh-CN" sz="2800" dirty="0"/>
              <a:t>32</a:t>
            </a:r>
            <a:r>
              <a:rPr lang="zh-CN" altLang="en-US" sz="2800" dirty="0"/>
              <a:t>，</a:t>
            </a:r>
            <a:r>
              <a:rPr lang="en-US" altLang="zh-CN" sz="2800" dirty="0"/>
              <a:t>33</a:t>
            </a:r>
            <a:r>
              <a:rPr lang="zh-CN" altLang="en-US" sz="2800" dirty="0"/>
              <a:t>，</a:t>
            </a:r>
            <a:r>
              <a:rPr lang="en-US" altLang="zh-CN" sz="2800" dirty="0"/>
              <a:t>34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</a:t>
            </a:r>
            <a:r>
              <a:rPr lang="zh-CN" altLang="en-US" sz="2800" dirty="0"/>
              <a:t>共有</a:t>
            </a:r>
            <a:r>
              <a:rPr lang="en-US" altLang="zh-CN" sz="2800" dirty="0"/>
              <a:t>24</a:t>
            </a:r>
            <a:r>
              <a:rPr lang="zh-CN" altLang="en-US" sz="2800" dirty="0"/>
              <a:t>个数，所以</a:t>
            </a:r>
            <a:r>
              <a:rPr lang="el-GR" altLang="zh-CN" dirty="0"/>
              <a:t>Φ</a:t>
            </a:r>
            <a:r>
              <a:rPr lang="en-US" altLang="zh-CN" sz="2800" dirty="0"/>
              <a:t>(35)=24</a:t>
            </a:r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0" y="0"/>
            <a:ext cx="9144000" cy="9413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C0C0C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1pPr>
            <a:lvl2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2pPr>
            <a:lvl3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3pPr>
            <a:lvl4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4pPr>
            <a:lvl5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0" dirty="0">
                <a:solidFill>
                  <a:srgbClr val="1C1C1C"/>
                </a:solidFill>
                <a:effectLst/>
              </a:rPr>
              <a:t>Euler</a:t>
            </a:r>
            <a:r>
              <a:rPr lang="zh-CN" altLang="en-US" b="0" dirty="0">
                <a:solidFill>
                  <a:srgbClr val="1C1C1C"/>
                </a:solidFill>
                <a:effectLst/>
              </a:rPr>
              <a:t>定理和</a:t>
            </a:r>
            <a:r>
              <a:rPr lang="en-US" altLang="zh-CN" b="0" dirty="0">
                <a:solidFill>
                  <a:srgbClr val="1C1C1C"/>
                </a:solidFill>
                <a:effectLst/>
              </a:rPr>
              <a:t>Fermat</a:t>
            </a:r>
            <a:r>
              <a:rPr lang="zh-CN" altLang="en-US" b="0" dirty="0">
                <a:solidFill>
                  <a:srgbClr val="1C1C1C"/>
                </a:solidFill>
                <a:effectLst/>
              </a:rPr>
              <a:t>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81075"/>
            <a:ext cx="9144000" cy="60071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Euler</a:t>
            </a:r>
            <a:r>
              <a:rPr lang="zh-CN" altLang="en-US" dirty="0"/>
              <a:t>函数具有下面的重要性质：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CC"/>
                </a:solidFill>
              </a:rPr>
              <a:t>(1)</a:t>
            </a:r>
            <a:r>
              <a:rPr lang="zh-CN" altLang="en-US" sz="2800" dirty="0">
                <a:solidFill>
                  <a:srgbClr val="0000CC"/>
                </a:solidFill>
              </a:rPr>
              <a:t>若</a:t>
            </a:r>
            <a:r>
              <a:rPr lang="en-US" altLang="zh-CN" sz="2800" dirty="0">
                <a:solidFill>
                  <a:srgbClr val="0000CC"/>
                </a:solidFill>
              </a:rPr>
              <a:t>p</a:t>
            </a:r>
            <a:r>
              <a:rPr lang="zh-CN" altLang="en-US" sz="2800" dirty="0">
                <a:solidFill>
                  <a:srgbClr val="0000CC"/>
                </a:solidFill>
              </a:rPr>
              <a:t>素数，则：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CC"/>
                </a:solidFill>
              </a:rPr>
              <a:t> 		</a:t>
            </a:r>
            <a:r>
              <a:rPr lang="en-US" altLang="zh-CN" sz="2800" dirty="0">
                <a:solidFill>
                  <a:srgbClr val="0000CC"/>
                </a:solidFill>
              </a:rPr>
              <a:t>Φ(p)=p-1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		</a:t>
            </a:r>
            <a:r>
              <a:rPr lang="zh-CN" altLang="en-US" sz="2800" b="1" dirty="0"/>
              <a:t>例如：</a:t>
            </a:r>
            <a:r>
              <a:rPr lang="en-US" altLang="zh-CN" sz="2800" dirty="0"/>
              <a:t>p=13,</a:t>
            </a:r>
            <a:r>
              <a:rPr lang="zh-CN" altLang="en-US" sz="2800" dirty="0"/>
              <a:t>小于</a:t>
            </a:r>
            <a:r>
              <a:rPr lang="en-US" altLang="zh-CN" sz="2800" dirty="0"/>
              <a:t>13</a:t>
            </a:r>
            <a:r>
              <a:rPr lang="zh-CN" altLang="en-US" sz="2800" dirty="0"/>
              <a:t>的数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4</a:t>
            </a:r>
            <a:r>
              <a:rPr lang="zh-CN" altLang="en-US" sz="2800" dirty="0"/>
              <a:t>，	</a:t>
            </a:r>
            <a:r>
              <a:rPr lang="en-US" altLang="zh-CN" sz="2800" dirty="0"/>
              <a:t>5</a:t>
            </a:r>
            <a:r>
              <a:rPr lang="zh-CN" altLang="en-US" sz="2800" dirty="0"/>
              <a:t>，</a:t>
            </a:r>
            <a:r>
              <a:rPr lang="en-US" altLang="zh-CN" sz="2800" dirty="0"/>
              <a:t>6</a:t>
            </a:r>
            <a:r>
              <a:rPr lang="zh-CN" altLang="en-US" sz="2800" dirty="0"/>
              <a:t>，</a:t>
            </a:r>
            <a:r>
              <a:rPr lang="en-US" altLang="zh-CN" sz="2800" dirty="0"/>
              <a:t>7</a:t>
            </a:r>
            <a:r>
              <a:rPr lang="zh-CN" altLang="en-US" sz="2800" dirty="0"/>
              <a:t>，</a:t>
            </a:r>
            <a:r>
              <a:rPr lang="en-US" altLang="zh-CN" sz="2800" dirty="0"/>
              <a:t>8</a:t>
            </a:r>
            <a:r>
              <a:rPr lang="zh-CN" altLang="en-US" sz="2800" dirty="0"/>
              <a:t>，</a:t>
            </a:r>
            <a:r>
              <a:rPr lang="en-US" altLang="zh-CN" sz="2800" dirty="0"/>
              <a:t>9</a:t>
            </a:r>
            <a:r>
              <a:rPr lang="zh-CN" altLang="en-US" sz="2800" dirty="0"/>
              <a:t>，</a:t>
            </a:r>
            <a:r>
              <a:rPr lang="en-US" altLang="zh-CN" sz="2800" dirty="0"/>
              <a:t>10</a:t>
            </a:r>
            <a:r>
              <a:rPr lang="zh-CN" altLang="en-US" sz="2800" dirty="0"/>
              <a:t>，</a:t>
            </a:r>
            <a:r>
              <a:rPr lang="en-US" altLang="zh-CN" sz="2800" dirty="0"/>
              <a:t>11</a:t>
            </a:r>
            <a:r>
              <a:rPr lang="zh-CN" altLang="en-US" sz="2800" dirty="0"/>
              <a:t>，</a:t>
            </a:r>
            <a:r>
              <a:rPr lang="en-US" altLang="zh-CN" sz="2800" dirty="0"/>
              <a:t>12</a:t>
            </a:r>
            <a:r>
              <a:rPr lang="zh-CN" altLang="en-US" sz="2800" dirty="0"/>
              <a:t>都与</a:t>
            </a:r>
            <a:r>
              <a:rPr lang="en-US" altLang="zh-CN" sz="2800" dirty="0"/>
              <a:t>13</a:t>
            </a:r>
            <a:r>
              <a:rPr lang="zh-CN" altLang="en-US" sz="2800" dirty="0"/>
              <a:t>互	素。 </a:t>
            </a:r>
            <a:r>
              <a:rPr lang="en-US" altLang="zh-CN" sz="2800" dirty="0"/>
              <a:t>Φ (13)=12.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CC"/>
                </a:solidFill>
              </a:rPr>
              <a:t>(2)</a:t>
            </a:r>
            <a:r>
              <a:rPr lang="zh-CN" altLang="en-US" sz="2800" dirty="0">
                <a:solidFill>
                  <a:srgbClr val="0000CC"/>
                </a:solidFill>
              </a:rPr>
              <a:t>若</a:t>
            </a:r>
            <a:r>
              <a:rPr lang="en-US" altLang="zh-CN" sz="2800" dirty="0" err="1">
                <a:solidFill>
                  <a:srgbClr val="0000CC"/>
                </a:solidFill>
              </a:rPr>
              <a:t>m,n</a:t>
            </a:r>
            <a:r>
              <a:rPr lang="zh-CN" altLang="en-US" sz="2800" dirty="0">
                <a:solidFill>
                  <a:srgbClr val="0000CC"/>
                </a:solidFill>
              </a:rPr>
              <a:t>互素，即</a:t>
            </a:r>
            <a:r>
              <a:rPr lang="en-US" altLang="zh-CN" sz="2800" dirty="0" err="1">
                <a:solidFill>
                  <a:srgbClr val="0000CC"/>
                </a:solidFill>
              </a:rPr>
              <a:t>gcd</a:t>
            </a:r>
            <a:r>
              <a:rPr lang="en-US" altLang="zh-CN" sz="2800" dirty="0">
                <a:solidFill>
                  <a:srgbClr val="0000CC"/>
                </a:solidFill>
              </a:rPr>
              <a:t>(</a:t>
            </a:r>
            <a:r>
              <a:rPr lang="en-US" altLang="zh-CN" sz="2800" dirty="0" err="1">
                <a:solidFill>
                  <a:srgbClr val="0000CC"/>
                </a:solidFill>
              </a:rPr>
              <a:t>m,n</a:t>
            </a:r>
            <a:r>
              <a:rPr lang="en-US" altLang="zh-CN" sz="2800" dirty="0">
                <a:solidFill>
                  <a:srgbClr val="0000CC"/>
                </a:solidFill>
              </a:rPr>
              <a:t>)=1</a:t>
            </a:r>
            <a:r>
              <a:rPr lang="zh-CN" altLang="en-US" sz="2800" dirty="0">
                <a:solidFill>
                  <a:srgbClr val="0000CC"/>
                </a:solidFill>
              </a:rPr>
              <a:t>，有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CC"/>
                </a:solidFill>
              </a:rPr>
              <a:t>		</a:t>
            </a:r>
            <a:r>
              <a:rPr lang="en-US" altLang="zh-CN" sz="2800" dirty="0">
                <a:solidFill>
                  <a:srgbClr val="0000CC"/>
                </a:solidFill>
              </a:rPr>
              <a:t>Φ(</a:t>
            </a:r>
            <a:r>
              <a:rPr lang="en-US" altLang="zh-CN" sz="2800" dirty="0" err="1">
                <a:solidFill>
                  <a:srgbClr val="0000CC"/>
                </a:solidFill>
              </a:rPr>
              <a:t>mn</a:t>
            </a:r>
            <a:r>
              <a:rPr lang="en-US" altLang="zh-CN" sz="2800" dirty="0">
                <a:solidFill>
                  <a:srgbClr val="0000CC"/>
                </a:solidFill>
              </a:rPr>
              <a:t>)= Φ (m) Φ (n)</a:t>
            </a:r>
            <a:endParaRPr lang="en-US" altLang="zh-CN" sz="2800" b="1" dirty="0">
              <a:solidFill>
                <a:srgbClr val="0000CC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</a:t>
            </a:r>
            <a:r>
              <a:rPr lang="zh-CN" altLang="en-US" sz="2800" b="1" dirty="0"/>
              <a:t>例如</a:t>
            </a:r>
            <a:r>
              <a:rPr lang="en-US" altLang="zh-CN" sz="2800" b="1" dirty="0"/>
              <a:t>:</a:t>
            </a:r>
            <a:r>
              <a:rPr lang="en-US" altLang="zh-CN" sz="2800" dirty="0"/>
              <a:t> Φ (5*6)= Φ (5) Φ (6)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= Φ(5) Φ(2) Φ(3)=4*1*2=8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</a:t>
            </a:r>
            <a:r>
              <a:rPr lang="zh-CN" altLang="en-US" sz="2800" dirty="0">
                <a:solidFill>
                  <a:srgbClr val="0000CC"/>
                </a:solidFill>
              </a:rPr>
              <a:t>进一步，若</a:t>
            </a:r>
            <a:r>
              <a:rPr lang="en-US" altLang="zh-CN" sz="2800" dirty="0">
                <a:solidFill>
                  <a:srgbClr val="0000CC"/>
                </a:solidFill>
              </a:rPr>
              <a:t>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1</a:t>
            </a:r>
            <a:r>
              <a:rPr lang="en-US" altLang="zh-CN" sz="2800" dirty="0">
                <a:solidFill>
                  <a:srgbClr val="0000CC"/>
                </a:solidFill>
              </a:rPr>
              <a:t>,n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2</a:t>
            </a:r>
            <a:r>
              <a:rPr lang="en-US" altLang="zh-CN" sz="2800" dirty="0">
                <a:solidFill>
                  <a:srgbClr val="0000CC"/>
                </a:solidFill>
              </a:rPr>
              <a:t>,…</a:t>
            </a:r>
            <a:r>
              <a:rPr lang="zh-CN" altLang="en-US" sz="2800" dirty="0">
                <a:solidFill>
                  <a:srgbClr val="0000CC"/>
                </a:solidFill>
              </a:rPr>
              <a:t>，</a:t>
            </a:r>
            <a:r>
              <a:rPr lang="en-US" altLang="zh-CN" sz="2800" dirty="0">
                <a:solidFill>
                  <a:srgbClr val="0000CC"/>
                </a:solidFill>
              </a:rPr>
              <a:t>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m</a:t>
            </a:r>
            <a:r>
              <a:rPr lang="zh-CN" altLang="en-US" sz="2800" dirty="0">
                <a:solidFill>
                  <a:srgbClr val="0000CC"/>
                </a:solidFill>
              </a:rPr>
              <a:t>两两互素，则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CC"/>
                </a:solidFill>
              </a:rPr>
              <a:t>	</a:t>
            </a:r>
            <a:r>
              <a:rPr lang="en-US" altLang="zh-CN" sz="2800" dirty="0">
                <a:solidFill>
                  <a:srgbClr val="0000CC"/>
                </a:solidFill>
              </a:rPr>
              <a:t>Φ(n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1</a:t>
            </a:r>
            <a:r>
              <a:rPr lang="en-US" altLang="zh-CN" sz="2800" dirty="0">
                <a:solidFill>
                  <a:srgbClr val="0000CC"/>
                </a:solidFill>
              </a:rPr>
              <a:t>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2</a:t>
            </a:r>
            <a:r>
              <a:rPr lang="en-US" altLang="zh-CN" sz="2800" dirty="0">
                <a:solidFill>
                  <a:srgbClr val="0000CC"/>
                </a:solidFill>
              </a:rPr>
              <a:t>…n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m</a:t>
            </a:r>
            <a:r>
              <a:rPr lang="en-US" altLang="zh-CN" sz="2800" dirty="0">
                <a:solidFill>
                  <a:srgbClr val="0000CC"/>
                </a:solidFill>
              </a:rPr>
              <a:t>)=Φ ( 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1</a:t>
            </a:r>
            <a:r>
              <a:rPr lang="en-US" altLang="zh-CN" sz="2800" dirty="0">
                <a:solidFill>
                  <a:srgbClr val="0000CC"/>
                </a:solidFill>
              </a:rPr>
              <a:t>) Φ( 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2</a:t>
            </a:r>
            <a:r>
              <a:rPr lang="en-US" altLang="zh-CN" sz="2800" dirty="0">
                <a:solidFill>
                  <a:srgbClr val="0000CC"/>
                </a:solidFill>
              </a:rPr>
              <a:t>)…Φ( n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m</a:t>
            </a:r>
            <a:r>
              <a:rPr lang="en-US" altLang="zh-CN" sz="2800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220663" y="0"/>
            <a:ext cx="8312150" cy="9413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C0C0C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1pPr>
            <a:lvl2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2pPr>
            <a:lvl3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3pPr>
            <a:lvl4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4pPr>
            <a:lvl5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dirty="0">
                <a:solidFill>
                  <a:srgbClr val="1C1C1C"/>
                </a:solidFill>
              </a:rPr>
              <a:t>Euler</a:t>
            </a:r>
            <a:r>
              <a:rPr lang="zh-CN" altLang="en-US" dirty="0">
                <a:solidFill>
                  <a:srgbClr val="1C1C1C"/>
                </a:solidFill>
              </a:rPr>
              <a:t>定理和</a:t>
            </a:r>
            <a:r>
              <a:rPr lang="en-US" altLang="zh-CN" dirty="0">
                <a:solidFill>
                  <a:srgbClr val="1C1C1C"/>
                </a:solidFill>
              </a:rPr>
              <a:t>Fermat</a:t>
            </a:r>
            <a:r>
              <a:rPr lang="zh-CN" altLang="en-US" dirty="0">
                <a:solidFill>
                  <a:srgbClr val="1C1C1C"/>
                </a:solidFill>
              </a:rPr>
              <a:t>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28775"/>
            <a:ext cx="9144000" cy="48958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CC"/>
                </a:solidFill>
              </a:rPr>
              <a:t>（</a:t>
            </a:r>
            <a:r>
              <a:rPr lang="en-US" altLang="zh-CN" dirty="0">
                <a:solidFill>
                  <a:srgbClr val="0000CC"/>
                </a:solidFill>
              </a:rPr>
              <a:t>3</a:t>
            </a:r>
            <a:r>
              <a:rPr lang="zh-CN" altLang="en-US" dirty="0">
                <a:solidFill>
                  <a:srgbClr val="0000CC"/>
                </a:solidFill>
              </a:rPr>
              <a:t>）设</a:t>
            </a:r>
            <a:r>
              <a:rPr lang="en-US" altLang="zh-CN" dirty="0">
                <a:solidFill>
                  <a:srgbClr val="0000CC"/>
                </a:solidFill>
              </a:rPr>
              <a:t>m=p</a:t>
            </a:r>
            <a:r>
              <a:rPr lang="en-US" altLang="zh-CN" baseline="-25000" dirty="0">
                <a:solidFill>
                  <a:srgbClr val="0000CC"/>
                </a:solidFill>
              </a:rPr>
              <a:t>1</a:t>
            </a:r>
            <a:r>
              <a:rPr lang="en-US" altLang="zh-CN" baseline="30000" dirty="0">
                <a:solidFill>
                  <a:srgbClr val="0000CC"/>
                </a:solidFill>
              </a:rPr>
              <a:t>α1</a:t>
            </a:r>
            <a:r>
              <a:rPr lang="en-US" altLang="zh-CN" dirty="0">
                <a:solidFill>
                  <a:srgbClr val="0000CC"/>
                </a:solidFill>
              </a:rPr>
              <a:t>p</a:t>
            </a:r>
            <a:r>
              <a:rPr lang="en-US" altLang="zh-CN" baseline="-25000" dirty="0">
                <a:solidFill>
                  <a:srgbClr val="0000CC"/>
                </a:solidFill>
              </a:rPr>
              <a:t>2</a:t>
            </a:r>
            <a:r>
              <a:rPr lang="en-US" altLang="zh-CN" baseline="30000" dirty="0">
                <a:solidFill>
                  <a:srgbClr val="0000CC"/>
                </a:solidFill>
              </a:rPr>
              <a:t>α2</a:t>
            </a:r>
            <a:r>
              <a:rPr lang="en-US" altLang="zh-CN" dirty="0">
                <a:solidFill>
                  <a:srgbClr val="0000CC"/>
                </a:solidFill>
              </a:rPr>
              <a:t>…</a:t>
            </a:r>
            <a:r>
              <a:rPr lang="en-US" altLang="zh-CN" dirty="0" err="1">
                <a:solidFill>
                  <a:srgbClr val="0000CC"/>
                </a:solidFill>
              </a:rPr>
              <a:t>p</a:t>
            </a:r>
            <a:r>
              <a:rPr lang="en-US" altLang="zh-CN" baseline="-25000" dirty="0" err="1">
                <a:solidFill>
                  <a:srgbClr val="0000CC"/>
                </a:solidFill>
              </a:rPr>
              <a:t>k</a:t>
            </a:r>
            <a:r>
              <a:rPr lang="en-US" altLang="zh-CN" baseline="30000" dirty="0">
                <a:solidFill>
                  <a:srgbClr val="0000CC"/>
                </a:solidFill>
              </a:rPr>
              <a:t>αk</a:t>
            </a:r>
            <a:r>
              <a:rPr lang="zh-CN" altLang="en-US" dirty="0">
                <a:solidFill>
                  <a:srgbClr val="0000CC"/>
                </a:solidFill>
              </a:rPr>
              <a:t>是</a:t>
            </a:r>
            <a:r>
              <a:rPr lang="en-US" altLang="zh-CN" dirty="0">
                <a:solidFill>
                  <a:srgbClr val="0000CC"/>
                </a:solidFill>
              </a:rPr>
              <a:t>m</a:t>
            </a:r>
            <a:r>
              <a:rPr lang="zh-CN" altLang="en-US" dirty="0">
                <a:solidFill>
                  <a:srgbClr val="0000CC"/>
                </a:solidFill>
              </a:rPr>
              <a:t>的标准分解式，</a:t>
            </a:r>
            <a:r>
              <a:rPr lang="en-US" altLang="zh-CN" dirty="0">
                <a:solidFill>
                  <a:srgbClr val="0000CC"/>
                </a:solidFill>
              </a:rPr>
              <a:t>p</a:t>
            </a:r>
            <a:r>
              <a:rPr lang="en-US" altLang="zh-CN" baseline="-25000" dirty="0">
                <a:solidFill>
                  <a:srgbClr val="0000CC"/>
                </a:solidFill>
              </a:rPr>
              <a:t>1</a:t>
            </a:r>
            <a:r>
              <a:rPr lang="zh-CN" altLang="en-US" dirty="0">
                <a:solidFill>
                  <a:srgbClr val="0000CC"/>
                </a:solidFill>
              </a:rPr>
              <a:t>，</a:t>
            </a:r>
            <a:r>
              <a:rPr lang="en-US" altLang="zh-CN" dirty="0">
                <a:solidFill>
                  <a:srgbClr val="0000CC"/>
                </a:solidFill>
              </a:rPr>
              <a:t>p</a:t>
            </a:r>
            <a:r>
              <a:rPr lang="en-US" altLang="zh-CN" baseline="-25000" dirty="0">
                <a:solidFill>
                  <a:srgbClr val="0000CC"/>
                </a:solidFill>
              </a:rPr>
              <a:t>2</a:t>
            </a:r>
            <a:r>
              <a:rPr lang="zh-CN" altLang="en-US" dirty="0">
                <a:solidFill>
                  <a:srgbClr val="0000CC"/>
                </a:solidFill>
              </a:rPr>
              <a:t>，</a:t>
            </a:r>
            <a:r>
              <a:rPr lang="en-US" altLang="zh-CN" dirty="0">
                <a:solidFill>
                  <a:srgbClr val="0000CC"/>
                </a:solidFill>
              </a:rPr>
              <a:t>…</a:t>
            </a:r>
            <a:r>
              <a:rPr lang="zh-CN" altLang="en-US" dirty="0">
                <a:solidFill>
                  <a:srgbClr val="0000CC"/>
                </a:solidFill>
              </a:rPr>
              <a:t>，</a:t>
            </a:r>
            <a:r>
              <a:rPr lang="en-US" altLang="zh-CN" dirty="0" err="1">
                <a:solidFill>
                  <a:srgbClr val="0000CC"/>
                </a:solidFill>
              </a:rPr>
              <a:t>p</a:t>
            </a:r>
            <a:r>
              <a:rPr lang="en-US" altLang="zh-CN" baseline="-25000" dirty="0" err="1">
                <a:solidFill>
                  <a:srgbClr val="0000CC"/>
                </a:solidFill>
              </a:rPr>
              <a:t>k</a:t>
            </a:r>
            <a:r>
              <a:rPr lang="zh-CN" altLang="en-US" dirty="0">
                <a:solidFill>
                  <a:srgbClr val="0000CC"/>
                </a:solidFill>
              </a:rPr>
              <a:t>是互不相同的素数，则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Φ (m)=m(1-1/p</a:t>
            </a:r>
            <a:r>
              <a:rPr lang="en-US" altLang="zh-CN" baseline="-25000" dirty="0">
                <a:solidFill>
                  <a:srgbClr val="0000CC"/>
                </a:solidFill>
              </a:rPr>
              <a:t>1</a:t>
            </a:r>
            <a:r>
              <a:rPr lang="en-US" altLang="zh-CN" dirty="0">
                <a:solidFill>
                  <a:srgbClr val="0000CC"/>
                </a:solidFill>
              </a:rPr>
              <a:t>)(1-1/p</a:t>
            </a:r>
            <a:r>
              <a:rPr lang="en-US" altLang="zh-CN" baseline="-25000" dirty="0">
                <a:solidFill>
                  <a:srgbClr val="0000CC"/>
                </a:solidFill>
              </a:rPr>
              <a:t>2</a:t>
            </a:r>
            <a:r>
              <a:rPr lang="en-US" altLang="zh-CN" dirty="0">
                <a:solidFill>
                  <a:srgbClr val="0000CC"/>
                </a:solidFill>
              </a:rPr>
              <a:t>)…</a:t>
            </a:r>
            <a:r>
              <a:rPr lang="zh-CN" altLang="en-US" dirty="0">
                <a:solidFill>
                  <a:srgbClr val="0000CC"/>
                </a:solidFill>
              </a:rPr>
              <a:t>（</a:t>
            </a:r>
            <a:r>
              <a:rPr lang="en-US" altLang="zh-CN" dirty="0">
                <a:solidFill>
                  <a:srgbClr val="0000CC"/>
                </a:solidFill>
              </a:rPr>
              <a:t>1-1/</a:t>
            </a:r>
            <a:r>
              <a:rPr lang="en-US" altLang="zh-CN" dirty="0" err="1">
                <a:solidFill>
                  <a:srgbClr val="0000CC"/>
                </a:solidFill>
              </a:rPr>
              <a:t>p</a:t>
            </a:r>
            <a:r>
              <a:rPr lang="en-US" altLang="zh-CN" baseline="-25000" dirty="0" err="1">
                <a:solidFill>
                  <a:srgbClr val="0000CC"/>
                </a:solidFill>
              </a:rPr>
              <a:t>k</a:t>
            </a:r>
            <a:r>
              <a:rPr lang="zh-CN" altLang="en-US" dirty="0">
                <a:solidFill>
                  <a:srgbClr val="0000CC"/>
                </a:solidFill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effectLst/>
              </a:rPr>
              <a:t>  		例如：</a:t>
            </a:r>
            <a:r>
              <a:rPr lang="en-US" altLang="zh-CN" dirty="0">
                <a:effectLst/>
              </a:rPr>
              <a:t>20=2</a:t>
            </a:r>
            <a:r>
              <a:rPr lang="en-US" altLang="zh-CN" baseline="30000" dirty="0">
                <a:effectLst/>
              </a:rPr>
              <a:t>2</a:t>
            </a:r>
            <a:r>
              <a:rPr lang="en-US" altLang="zh-CN" dirty="0">
                <a:effectLst/>
              </a:rPr>
              <a:t>*5</a:t>
            </a:r>
            <a:r>
              <a:rPr lang="en-US" altLang="zh-CN" baseline="30000" dirty="0">
                <a:effectLst/>
              </a:rPr>
              <a:t>1</a:t>
            </a:r>
            <a:r>
              <a:rPr lang="zh-CN" altLang="en-US" dirty="0">
                <a:effectLst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effectLst/>
              </a:rPr>
              <a:t>  		这样，</a:t>
            </a:r>
            <a:r>
              <a:rPr lang="en-US" altLang="zh-CN" dirty="0"/>
              <a:t>Φ</a:t>
            </a:r>
            <a:r>
              <a:rPr lang="en-US" altLang="zh-CN" dirty="0">
                <a:effectLst/>
              </a:rPr>
              <a:t> (20) =20(1-1/2)(1-1/5)=8</a:t>
            </a:r>
            <a:endParaRPr lang="en-US" altLang="zh-CN" b="1" dirty="0">
              <a:solidFill>
                <a:srgbClr val="00CC99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b="1" dirty="0">
              <a:solidFill>
                <a:srgbClr val="00CC99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00CC99"/>
                </a:solidFill>
              </a:rPr>
              <a:t>课堂练习：</a:t>
            </a:r>
            <a:r>
              <a:rPr lang="zh-CN" altLang="en-US" b="1" dirty="0"/>
              <a:t>计算</a:t>
            </a:r>
            <a:r>
              <a:rPr lang="en-US" altLang="zh-CN" dirty="0"/>
              <a:t>Φ</a:t>
            </a:r>
            <a:r>
              <a:rPr lang="en-US" altLang="zh-CN" b="1" dirty="0"/>
              <a:t>(9)</a:t>
            </a:r>
          </a:p>
        </p:txBody>
      </p:sp>
      <p:sp>
        <p:nvSpPr>
          <p:cNvPr id="198664" name="Rectangle 8"/>
          <p:cNvSpPr>
            <a:spLocks noChangeArrowheads="1"/>
          </p:cNvSpPr>
          <p:nvPr/>
        </p:nvSpPr>
        <p:spPr bwMode="auto">
          <a:xfrm>
            <a:off x="508000" y="0"/>
            <a:ext cx="8312150" cy="9413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C0C0C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1pPr>
            <a:lvl2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2pPr>
            <a:lvl3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3pPr>
            <a:lvl4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4pPr>
            <a:lvl5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dirty="0">
                <a:solidFill>
                  <a:srgbClr val="1C1C1C"/>
                </a:solidFill>
              </a:rPr>
              <a:t>Euler</a:t>
            </a:r>
            <a:r>
              <a:rPr lang="zh-CN" altLang="en-US" dirty="0">
                <a:solidFill>
                  <a:srgbClr val="1C1C1C"/>
                </a:solidFill>
              </a:rPr>
              <a:t>定理和</a:t>
            </a:r>
            <a:r>
              <a:rPr lang="en-US" altLang="zh-CN" dirty="0">
                <a:solidFill>
                  <a:srgbClr val="1C1C1C"/>
                </a:solidFill>
              </a:rPr>
              <a:t>Fermat</a:t>
            </a:r>
            <a:r>
              <a:rPr lang="zh-CN" altLang="en-US" dirty="0">
                <a:solidFill>
                  <a:srgbClr val="1C1C1C"/>
                </a:solidFill>
              </a:rPr>
              <a:t>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7544" y="1340768"/>
            <a:ext cx="8229600" cy="511256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Euler</a:t>
            </a:r>
            <a:r>
              <a:rPr lang="zh-CN" altLang="en-US" b="1" dirty="0"/>
              <a:t>定理：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m</a:t>
            </a:r>
            <a:r>
              <a:rPr lang="zh-CN" altLang="en-US" dirty="0"/>
              <a:t>互素</a:t>
            </a:r>
            <a:r>
              <a:rPr lang="en-US" altLang="zh-CN" dirty="0"/>
              <a:t>,</a:t>
            </a:r>
            <a:r>
              <a:rPr lang="zh-CN" altLang="en-US" dirty="0"/>
              <a:t>则</a:t>
            </a:r>
            <a:r>
              <a:rPr lang="en-US" altLang="zh-CN" dirty="0"/>
              <a:t>a </a:t>
            </a:r>
            <a:r>
              <a:rPr lang="en-US" altLang="zh-CN" baseline="30000" dirty="0"/>
              <a:t>Φ(m)</a:t>
            </a:r>
            <a:r>
              <a:rPr lang="en-US" altLang="zh-CN" dirty="0"/>
              <a:t>≡1 (mod m).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当</a:t>
            </a:r>
            <a:r>
              <a:rPr lang="en-US" altLang="zh-CN" dirty="0"/>
              <a:t>m</a:t>
            </a:r>
            <a:r>
              <a:rPr lang="zh-CN" altLang="en-US" dirty="0"/>
              <a:t>为素数时，即为</a:t>
            </a:r>
            <a:r>
              <a:rPr lang="en-US" altLang="zh-CN" dirty="0"/>
              <a:t>Fermat</a:t>
            </a:r>
            <a:r>
              <a:rPr lang="zh-CN" altLang="en-US" dirty="0"/>
              <a:t>定理形式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例如：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(1)a=3,m=10;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Φ(m)= Φ(10)= Φ(2) Φ(5)=4;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3</a:t>
            </a:r>
            <a:r>
              <a:rPr lang="en-US" altLang="zh-CN" baseline="30000" dirty="0"/>
              <a:t>4</a:t>
            </a:r>
            <a:r>
              <a:rPr lang="en-US" altLang="zh-CN" dirty="0"/>
              <a:t>=81≡1 (mod 10).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(2)a=2;m=11;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Φ (m)=Φ( 11)= 10;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2</a:t>
            </a:r>
            <a:r>
              <a:rPr lang="en-US" altLang="zh-CN" baseline="30000" dirty="0"/>
              <a:t>10</a:t>
            </a:r>
            <a:r>
              <a:rPr lang="en-US" altLang="zh-CN" dirty="0"/>
              <a:t>=1024≡1 (mod 11)</a:t>
            </a:r>
          </a:p>
          <a:p>
            <a:pPr eaLnBrk="1" hangingPunct="1">
              <a:buNone/>
              <a:defRPr/>
            </a:pPr>
            <a:r>
              <a:rPr lang="zh-CN" altLang="en-US" dirty="0"/>
              <a:t>另一种形式：</a:t>
            </a:r>
            <a:r>
              <a:rPr lang="en-US" altLang="zh-CN" dirty="0"/>
              <a:t>a </a:t>
            </a:r>
            <a:r>
              <a:rPr lang="en-US" altLang="zh-CN" baseline="30000" dirty="0"/>
              <a:t>Φ(m)+1 </a:t>
            </a:r>
            <a:r>
              <a:rPr lang="en-US" altLang="zh-CN" dirty="0"/>
              <a:t>≡a (mod m).</a:t>
            </a:r>
          </a:p>
        </p:txBody>
      </p:sp>
      <p:sp>
        <p:nvSpPr>
          <p:cNvPr id="200707" name="Rectangle 3"/>
          <p:cNvSpPr>
            <a:spLocks noChangeArrowheads="1"/>
          </p:cNvSpPr>
          <p:nvPr/>
        </p:nvSpPr>
        <p:spPr bwMode="auto">
          <a:xfrm>
            <a:off x="292100" y="0"/>
            <a:ext cx="8312150" cy="9413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C0C0C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1pPr>
            <a:lvl2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2pPr>
            <a:lvl3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3pPr>
            <a:lvl4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4pPr>
            <a:lvl5pPr algn="l"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华文中宋" pitchFamily="2" charset="-122"/>
                <a:ea typeface="华文中宋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dirty="0">
                <a:solidFill>
                  <a:srgbClr val="1C1C1C"/>
                </a:solidFill>
              </a:rPr>
              <a:t>Euler</a:t>
            </a:r>
            <a:r>
              <a:rPr lang="zh-CN" altLang="en-US" dirty="0">
                <a:solidFill>
                  <a:srgbClr val="1C1C1C"/>
                </a:solidFill>
              </a:rPr>
              <a:t>定理和</a:t>
            </a:r>
            <a:r>
              <a:rPr lang="en-US" altLang="zh-CN" dirty="0">
                <a:solidFill>
                  <a:srgbClr val="1C1C1C"/>
                </a:solidFill>
              </a:rPr>
              <a:t>Fermat</a:t>
            </a:r>
            <a:r>
              <a:rPr lang="zh-CN" altLang="en-US" dirty="0">
                <a:solidFill>
                  <a:srgbClr val="1C1C1C"/>
                </a:solidFill>
              </a:rPr>
              <a:t>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367CBDD-2E7F-C4CF-94D9-3F5BFF813F82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0"/>
            <a:ext cx="8312150" cy="67627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b="0" dirty="0"/>
              <a:t>一次同余式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b="1" dirty="0"/>
                  <a:t>定义</a:t>
                </a:r>
                <a:r>
                  <a:rPr lang="zh-CN" altLang="en-US" b="0" dirty="0"/>
                  <a:t>：给定整数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zh-CN" altLang="en-US" b="0" dirty="0"/>
                  <a:t>正整数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当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≠0,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r>
                  <a:rPr lang="zh-CN" altLang="en-US" b="0" dirty="0"/>
                  <a:t>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为模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的一次同余式，其中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b="0" dirty="0"/>
                  <a:t>为变量。</a:t>
                </a:r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dirty="0"/>
                  <a:t>一次同余式的解</a:t>
                </a:r>
                <a:r>
                  <a:rPr lang="zh-CN" altLang="en-US" b="0" dirty="0"/>
                  <a:t>：</a:t>
                </a:r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b="0" dirty="0"/>
                  <a:t>一次同余式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有解，当且仅当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b="0" dirty="0"/>
                  <a:t>。如果这个同余式有解，则共有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个不同的解。</a:t>
                </a:r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b="0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/>
                  <a:t>是满足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的一个整数，那么满足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的所有整数也能满足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。也就是说，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/>
                  <a:t>的同余类都满足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。我们称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/>
                  <a:t>的同余类为同余式的一个解。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  <a:blipFill>
                <a:blip r:embed="rId2"/>
                <a:stretch>
                  <a:fillRect l="-1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41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367CBDD-2E7F-C4CF-94D9-3F5BFF813F82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0"/>
            <a:ext cx="8312150" cy="67627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b="0" dirty="0"/>
              <a:t>一次同余式组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/>
                  <a:t>在密码学中，有时候需要求解一次同余式组：</a:t>
                </a:r>
                <a:endParaRPr lang="en-US" altLang="zh-CN" sz="2800" b="1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0" dirty="0"/>
                  <a:t>其中，当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en-US" sz="2800" b="0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800" b="0" dirty="0"/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b="0" dirty="0"/>
                  <a:t>。求解这样的一次同余式组，可以用中国剩余定理。</a:t>
                </a:r>
                <a:endParaRPr lang="en-US" altLang="zh-CN" sz="2800" b="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  <a:blipFill>
                <a:blip r:embed="rId2"/>
                <a:stretch>
                  <a:fillRect l="-1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69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>
            <a:spLocks noChangeArrowheads="1"/>
          </p:cNvSpPr>
          <p:nvPr/>
        </p:nvSpPr>
        <p:spPr bwMode="auto">
          <a:xfrm>
            <a:off x="250825" y="692150"/>
            <a:ext cx="8893175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32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1pPr>
            <a:lvl2pPr marL="742950" indent="-28575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2pPr>
            <a:lvl3pPr marL="11430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3pPr>
            <a:lvl4pPr marL="16002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4pPr>
            <a:lvl5pPr marL="20574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5pPr>
            <a:lvl6pPr marL="25146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6pPr>
            <a:lvl7pPr marL="29718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7pPr>
            <a:lvl8pPr marL="34290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8pPr>
            <a:lvl9pPr marL="38862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Symbol" pitchFamily="18" charset="2"/>
              <a:buNone/>
              <a:defRPr/>
            </a:pPr>
            <a:endParaRPr lang="en-US" altLang="zh-CN" sz="2800" b="0"/>
          </a:p>
          <a:p>
            <a:pPr eaLnBrk="1" hangingPunct="1">
              <a:lnSpc>
                <a:spcPct val="90000"/>
              </a:lnSpc>
              <a:buFont typeface="Symbol" pitchFamily="18" charset="2"/>
              <a:buNone/>
              <a:defRPr/>
            </a:pPr>
            <a:r>
              <a:rPr lang="en-US" altLang="zh-CN" sz="2800" b="0"/>
              <a:t>     </a:t>
            </a:r>
          </a:p>
        </p:txBody>
      </p:sp>
      <p:sp>
        <p:nvSpPr>
          <p:cNvPr id="242694" name="Text Box 7"/>
          <p:cNvSpPr txBox="1">
            <a:spLocks noChangeArrowheads="1"/>
          </p:cNvSpPr>
          <p:nvPr/>
        </p:nvSpPr>
        <p:spPr bwMode="auto">
          <a:xfrm>
            <a:off x="1285875" y="3717884"/>
            <a:ext cx="2655887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X≡2 (mod 3)</a:t>
            </a:r>
          </a:p>
          <a:p>
            <a:pPr algn="just" eaLnBrk="1" hangingPunct="1"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X≡3 (mod 5)</a:t>
            </a:r>
          </a:p>
          <a:p>
            <a:pPr algn="just" eaLnBrk="1" hangingPunct="1"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X≡2 (mod 7)</a:t>
            </a:r>
          </a:p>
        </p:txBody>
      </p:sp>
      <p:sp>
        <p:nvSpPr>
          <p:cNvPr id="67588" name="Text Box 9"/>
          <p:cNvSpPr txBox="1">
            <a:spLocks noChangeArrowheads="1"/>
          </p:cNvSpPr>
          <p:nvPr/>
        </p:nvSpPr>
        <p:spPr bwMode="auto">
          <a:xfrm>
            <a:off x="0" y="2989221"/>
            <a:ext cx="5472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32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     </a:t>
            </a:r>
            <a:r>
              <a:rPr kumimoji="1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问题归结为解</a:t>
            </a:r>
          </a:p>
        </p:txBody>
      </p:sp>
      <p:sp>
        <p:nvSpPr>
          <p:cNvPr id="67589" name="AutoShape 10"/>
          <p:cNvSpPr>
            <a:spLocks/>
          </p:cNvSpPr>
          <p:nvPr/>
        </p:nvSpPr>
        <p:spPr bwMode="auto">
          <a:xfrm>
            <a:off x="914400" y="3789321"/>
            <a:ext cx="73025" cy="1152525"/>
          </a:xfrm>
          <a:prstGeom prst="leftBrace">
            <a:avLst>
              <a:gd name="adj1" fmla="val 131522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32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1" lang="zh-CN" altLang="zh-CN" sz="2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0" name="Rectangle 10"/>
          <p:cNvSpPr>
            <a:spLocks noChangeArrowheads="1"/>
          </p:cNvSpPr>
          <p:nvPr/>
        </p:nvSpPr>
        <p:spPr bwMode="auto">
          <a:xfrm>
            <a:off x="267262" y="1128712"/>
            <a:ext cx="8713788" cy="561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7889FB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286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32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65138" indent="-28575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tabLst>
                <a:tab pos="228600" algn="l"/>
                <a:tab pos="742950" algn="l"/>
                <a:tab pos="1143000" algn="l"/>
                <a:tab pos="1600200" algn="l"/>
                <a:tab pos="2057400" algn="l"/>
              </a:tabLst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60000"/>
              </a:spcAft>
              <a:buClr>
                <a:srgbClr val="2110FC"/>
              </a:buClr>
              <a:buFont typeface="Wingdings" panose="05000000000000000000" pitchFamily="2" charset="2"/>
              <a:buNone/>
            </a:pPr>
            <a:r>
              <a:rPr lang="zh-CN" altLang="en-AU" sz="28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南北朝时期</a:t>
            </a:r>
            <a:r>
              <a:rPr lang="en-AU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《</a:t>
            </a:r>
            <a:r>
              <a:rPr lang="zh-CN" altLang="en-AU" sz="28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孙子算经</a:t>
            </a:r>
            <a:r>
              <a:rPr lang="en-AU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》</a:t>
            </a:r>
            <a:r>
              <a:rPr lang="zh-CN" altLang="en-AU" sz="2800" dirty="0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中有“物不知数”问题：今有物不知其数，三三数之剩二，五五数之剩三，七七数之剩二，问物几何？</a:t>
            </a:r>
          </a:p>
        </p:txBody>
      </p:sp>
      <p:sp>
        <p:nvSpPr>
          <p:cNvPr id="242699" name="Rectangle 11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312150" cy="6762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/>
              <a:t>中国剩余定理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4" grpId="0"/>
      <p:bldP spid="67588" grpId="0"/>
      <p:bldP spid="6758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0652" name="Rectangle 3"/>
              <p:cNvSpPr>
                <a:spLocks noChangeArrowheads="1"/>
              </p:cNvSpPr>
              <p:nvPr/>
            </p:nvSpPr>
            <p:spPr bwMode="auto">
              <a:xfrm>
                <a:off x="0" y="981075"/>
                <a:ext cx="8991600" cy="4924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 algn="l">
                  <a:lnSpc>
                    <a:spcPct val="110000"/>
                  </a:lnSpc>
                  <a:spcBef>
                    <a:spcPct val="20000"/>
                  </a:spcBef>
                  <a:buClr>
                    <a:srgbClr val="0000CC"/>
                  </a:buClr>
                  <a:buFont typeface="Wingdings" pitchFamily="2" charset="2"/>
                  <a:buChar char="u"/>
                  <a:defRPr sz="32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1pPr>
                <a:lvl2pPr marL="742950" indent="-285750" algn="l">
                  <a:lnSpc>
                    <a:spcPct val="110000"/>
                  </a:lnSpc>
                  <a:spcBef>
                    <a:spcPct val="20000"/>
                  </a:spcBef>
                  <a:buClr>
                    <a:srgbClr val="0000CC"/>
                  </a:buClr>
                  <a:buFont typeface="Wingdings" pitchFamily="2" charset="2"/>
                  <a:buChar char="u"/>
                  <a:defRPr sz="28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2pPr>
                <a:lvl3pPr marL="1143000" indent="-228600" algn="l">
                  <a:lnSpc>
                    <a:spcPct val="110000"/>
                  </a:lnSpc>
                  <a:spcBef>
                    <a:spcPct val="20000"/>
                  </a:spcBef>
                  <a:buClr>
                    <a:srgbClr val="0000CC"/>
                  </a:buClr>
                  <a:buFont typeface="Wingdings" pitchFamily="2" charset="2"/>
                  <a:buChar char="u"/>
                  <a:defRPr sz="24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3pPr>
                <a:lvl4pPr marL="1600200" indent="-228600" algn="l">
                  <a:lnSpc>
                    <a:spcPct val="110000"/>
                  </a:lnSpc>
                  <a:spcBef>
                    <a:spcPct val="20000"/>
                  </a:spcBef>
                  <a:buClr>
                    <a:srgbClr val="0000CC"/>
                  </a:buClr>
                  <a:buFont typeface="Wingdings" pitchFamily="2" charset="2"/>
                  <a:buChar char="u"/>
                  <a:defRPr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4pPr>
                <a:lvl5pPr marL="2057400" indent="-228600" algn="l">
                  <a:lnSpc>
                    <a:spcPct val="110000"/>
                  </a:lnSpc>
                  <a:spcBef>
                    <a:spcPct val="20000"/>
                  </a:spcBef>
                  <a:buClr>
                    <a:srgbClr val="0000CC"/>
                  </a:buClr>
                  <a:buFont typeface="Wingdings" pitchFamily="2" charset="2"/>
                  <a:buChar char="u"/>
                  <a:defRPr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5pPr>
                <a:lvl6pPr marL="2514600" indent="-228600" fontAlgn="base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Font typeface="Wingdings" pitchFamily="2" charset="2"/>
                  <a:buChar char="u"/>
                  <a:defRPr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6pPr>
                <a:lvl7pPr marL="2971800" indent="-228600" fontAlgn="base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Font typeface="Wingdings" pitchFamily="2" charset="2"/>
                  <a:buChar char="u"/>
                  <a:defRPr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7pPr>
                <a:lvl8pPr marL="3429000" indent="-228600" fontAlgn="base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Font typeface="Wingdings" pitchFamily="2" charset="2"/>
                  <a:buChar char="u"/>
                  <a:defRPr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8pPr>
                <a:lvl9pPr marL="3886200" indent="-228600" fontAlgn="base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Font typeface="Wingdings" pitchFamily="2" charset="2"/>
                  <a:buChar char="u"/>
                  <a:defRPr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itchFamily="2" charset="-122"/>
                    <a:ea typeface="华文中宋" pitchFamily="2" charset="-122"/>
                  </a:defRPr>
                </a:lvl9pPr>
              </a:lstStyle>
              <a:p>
                <a:pPr eaLnBrk="1" hangingPunct="1">
                  <a:buFont typeface="Symbol" pitchFamily="18" charset="2"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zh-CN" altLang="en-US" b="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baseline="-25000" dirty="0" err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是两两互素的正整数，</a:t>
                </a:r>
                <a:endParaRPr lang="en-US" altLang="zh-CN" b="0" dirty="0"/>
              </a:p>
              <a:p>
                <a:pPr eaLnBrk="1" hangingPunct="1">
                  <a:buFont typeface="Symbol" pitchFamily="18" charset="2"/>
                  <a:buNone/>
                  <a:defRPr/>
                </a:pPr>
                <a:r>
                  <a:rPr lang="zh-CN" altLang="en-US" b="0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baseline="-25000" dirty="0" err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b="0" dirty="0"/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None/>
                  <a:defRPr/>
                </a:pPr>
                <a:r>
                  <a:rPr lang="en-US" altLang="zh-CN" b="0" dirty="0" err="1"/>
                  <a:t>M</a:t>
                </a:r>
                <a:r>
                  <a:rPr lang="en-US" altLang="zh-CN" sz="2400" b="0" baseline="-25000" dirty="0" err="1"/>
                  <a:t>i</a:t>
                </a:r>
                <a:r>
                  <a:rPr lang="en-US" altLang="zh-CN" b="0" dirty="0"/>
                  <a:t>=M/m</a:t>
                </a:r>
                <a:r>
                  <a:rPr lang="en-US" altLang="zh-CN" sz="2400" b="0" baseline="-25000" dirty="0"/>
                  <a:t>i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M</a:t>
                </a:r>
                <a:r>
                  <a:rPr lang="en-US" altLang="zh-CN" sz="2400" b="0" baseline="-25000" dirty="0"/>
                  <a:t>i</a:t>
                </a:r>
                <a:r>
                  <a:rPr lang="en-US" altLang="zh-CN" b="0" dirty="0"/>
                  <a:t>M</a:t>
                </a:r>
                <a:r>
                  <a:rPr lang="en-US" altLang="zh-CN" sz="2400" b="0" baseline="-25000" dirty="0"/>
                  <a:t>i</a:t>
                </a:r>
                <a:r>
                  <a:rPr lang="en-US" altLang="zh-CN" b="0" baseline="30000" dirty="0"/>
                  <a:t>-1</a:t>
                </a:r>
                <a:r>
                  <a:rPr lang="en-US" altLang="zh-CN" b="0" dirty="0"/>
                  <a:t>≡1(mod m</a:t>
                </a:r>
                <a:r>
                  <a:rPr lang="en-US" altLang="zh-CN" sz="2400" b="0" baseline="-25000" dirty="0"/>
                  <a:t>i</a:t>
                </a:r>
                <a:r>
                  <a:rPr lang="en-US" altLang="zh-CN" sz="2400" b="0" dirty="0"/>
                  <a:t>)</a:t>
                </a:r>
                <a:r>
                  <a:rPr lang="zh-CN" altLang="en-US" sz="2400" b="0" dirty="0"/>
                  <a:t>，</a:t>
                </a:r>
                <a:endParaRPr lang="zh-CN" altLang="en-US" b="0" dirty="0"/>
              </a:p>
              <a:p>
                <a:pPr eaLnBrk="1" hangingPunct="1">
                  <a:buFont typeface="Symbol" pitchFamily="18" charset="2"/>
                  <a:buNone/>
                  <a:defRPr/>
                </a:pPr>
                <a:r>
                  <a:rPr lang="zh-CN" altLang="en-US" b="0" dirty="0"/>
                  <a:t>则同余方程组：</a:t>
                </a:r>
              </a:p>
            </p:txBody>
          </p:sp>
        </mc:Choice>
        <mc:Fallback xmlns="">
          <p:sp>
            <p:nvSpPr>
              <p:cNvPr id="240652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981075"/>
                <a:ext cx="8991600" cy="4924425"/>
              </a:xfrm>
              <a:prstGeom prst="rect">
                <a:avLst/>
              </a:prstGeom>
              <a:blipFill rotWithShape="0">
                <a:blip r:embed="rId3"/>
                <a:stretch>
                  <a:fillRect l="-1831" t="-14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39" name="Text Box 4"/>
          <p:cNvSpPr txBox="1">
            <a:spLocks noChangeArrowheads="1"/>
          </p:cNvSpPr>
          <p:nvPr/>
        </p:nvSpPr>
        <p:spPr bwMode="auto">
          <a:xfrm>
            <a:off x="2771775" y="3644900"/>
            <a:ext cx="2592602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32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X≡b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(mod m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en-US" altLang="zh-CN" sz="28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X≡b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(mod m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X≡b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(mod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0" name="AutoShape 6"/>
          <p:cNvSpPr>
            <a:spLocks/>
          </p:cNvSpPr>
          <p:nvPr/>
        </p:nvSpPr>
        <p:spPr bwMode="auto">
          <a:xfrm>
            <a:off x="2700338" y="3860800"/>
            <a:ext cx="71437" cy="1727200"/>
          </a:xfrm>
          <a:prstGeom prst="leftBrace">
            <a:avLst>
              <a:gd name="adj1" fmla="val 201483"/>
              <a:gd name="adj2" fmla="val 50000"/>
            </a:avLst>
          </a:prstGeom>
          <a:noFill/>
          <a:ln w="12700" cap="sq">
            <a:solidFill>
              <a:srgbClr val="FFFF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32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anose="05000000000000000000" pitchFamily="2" charset="2"/>
              <a:buChar char="u"/>
              <a:defRPr sz="2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1" lang="zh-CN" altLang="zh-CN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0655" name="Rectangle 15"/>
          <p:cNvSpPr>
            <a:spLocks noChangeArrowheads="1"/>
          </p:cNvSpPr>
          <p:nvPr/>
        </p:nvSpPr>
        <p:spPr bwMode="auto">
          <a:xfrm>
            <a:off x="5535827" y="4815780"/>
            <a:ext cx="4144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9999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FFFF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有模</a:t>
            </a:r>
            <a:r>
              <a:rPr lang="en-US" altLang="zh-CN" sz="32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</a:t>
            </a:r>
            <a:r>
              <a:rPr lang="zh-CN" altLang="en-US" sz="32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的解</a:t>
            </a:r>
            <a:r>
              <a:rPr lang="en-US" altLang="zh-CN" sz="32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x</a:t>
            </a:r>
            <a:r>
              <a:rPr lang="zh-CN" altLang="en-US" sz="32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</a:t>
            </a:r>
          </a:p>
        </p:txBody>
      </p:sp>
      <p:sp>
        <p:nvSpPr>
          <p:cNvPr id="49156" name="Text Box 4"/>
          <p:cNvSpPr>
            <a:spLocks noChangeArrowheads="1"/>
          </p:cNvSpPr>
          <p:nvPr/>
        </p:nvSpPr>
        <p:spPr bwMode="auto">
          <a:xfrm>
            <a:off x="360363" y="5461000"/>
            <a:ext cx="8459787" cy="139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32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1pPr>
            <a:lvl2pPr marL="742950" indent="-28575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2pPr>
            <a:lvl3pPr marL="11430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3pPr>
            <a:lvl4pPr marL="16002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4pPr>
            <a:lvl5pPr marL="20574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5pPr>
            <a:lvl6pPr marL="25146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6pPr>
            <a:lvl7pPr marL="29718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7pPr>
            <a:lvl8pPr marL="34290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8pPr>
            <a:lvl9pPr marL="38862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Symbol" pitchFamily="18" charset="2"/>
              <a:buNone/>
              <a:defRPr/>
            </a:pPr>
            <a:endParaRPr lang="en-US" altLang="zh-CN" b="0" dirty="0"/>
          </a:p>
          <a:p>
            <a:pPr eaLnBrk="1" hangingPunct="1">
              <a:lnSpc>
                <a:spcPct val="90000"/>
              </a:lnSpc>
              <a:buFont typeface="Symbol" pitchFamily="18" charset="2"/>
              <a:buNone/>
              <a:defRPr/>
            </a:pPr>
            <a:r>
              <a:rPr lang="en-US" altLang="zh-CN" sz="2800" dirty="0">
                <a:solidFill>
                  <a:srgbClr val="0000CC"/>
                </a:solidFill>
              </a:rPr>
              <a:t>x≡M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1</a:t>
            </a:r>
            <a:r>
              <a:rPr lang="en-US" altLang="zh-CN" sz="2800" dirty="0">
                <a:solidFill>
                  <a:srgbClr val="0000CC"/>
                </a:solidFill>
              </a:rPr>
              <a:t>M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1</a:t>
            </a:r>
            <a:r>
              <a:rPr lang="en-US" altLang="zh-CN" sz="2800" baseline="30000" dirty="0">
                <a:solidFill>
                  <a:srgbClr val="0000CC"/>
                </a:solidFill>
              </a:rPr>
              <a:t>-1</a:t>
            </a:r>
            <a:r>
              <a:rPr lang="en-US" altLang="zh-CN" sz="2800" dirty="0">
                <a:solidFill>
                  <a:srgbClr val="0000CC"/>
                </a:solidFill>
              </a:rPr>
              <a:t>b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1</a:t>
            </a:r>
            <a:r>
              <a:rPr lang="en-US" altLang="zh-CN" sz="2800" dirty="0">
                <a:solidFill>
                  <a:srgbClr val="0000CC"/>
                </a:solidFill>
              </a:rPr>
              <a:t> + M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2</a:t>
            </a:r>
            <a:r>
              <a:rPr lang="en-US" altLang="zh-CN" sz="2800" dirty="0">
                <a:solidFill>
                  <a:srgbClr val="0000CC"/>
                </a:solidFill>
              </a:rPr>
              <a:t>M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2</a:t>
            </a:r>
            <a:r>
              <a:rPr lang="en-US" altLang="zh-CN" sz="2800" baseline="30000" dirty="0">
                <a:solidFill>
                  <a:srgbClr val="0000CC"/>
                </a:solidFill>
              </a:rPr>
              <a:t>-1</a:t>
            </a:r>
            <a:r>
              <a:rPr lang="en-US" altLang="zh-CN" sz="2800" dirty="0">
                <a:solidFill>
                  <a:srgbClr val="0000CC"/>
                </a:solidFill>
              </a:rPr>
              <a:t>b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2</a:t>
            </a:r>
            <a:r>
              <a:rPr lang="en-US" altLang="zh-CN" sz="2800" dirty="0">
                <a:solidFill>
                  <a:srgbClr val="0000CC"/>
                </a:solidFill>
              </a:rPr>
              <a:t> +…+ M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k</a:t>
            </a:r>
            <a:r>
              <a:rPr lang="en-US" altLang="zh-CN" sz="2800" dirty="0">
                <a:solidFill>
                  <a:srgbClr val="0000CC"/>
                </a:solidFill>
              </a:rPr>
              <a:t>M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k</a:t>
            </a:r>
            <a:r>
              <a:rPr lang="en-US" altLang="zh-CN" sz="2800" baseline="30000" dirty="0">
                <a:solidFill>
                  <a:srgbClr val="0000CC"/>
                </a:solidFill>
              </a:rPr>
              <a:t>-1</a:t>
            </a:r>
            <a:r>
              <a:rPr lang="en-US" altLang="zh-CN" sz="2800" dirty="0">
                <a:solidFill>
                  <a:srgbClr val="0000CC"/>
                </a:solidFill>
              </a:rPr>
              <a:t>b</a:t>
            </a:r>
            <a:r>
              <a:rPr lang="en-US" altLang="zh-CN" sz="2800" baseline="-25000" dirty="0">
                <a:solidFill>
                  <a:srgbClr val="0000CC"/>
                </a:solidFill>
              </a:rPr>
              <a:t>k</a:t>
            </a:r>
            <a:r>
              <a:rPr lang="en-US" altLang="zh-CN" sz="2800" dirty="0">
                <a:solidFill>
                  <a:srgbClr val="0000CC"/>
                </a:solidFill>
              </a:rPr>
              <a:t>  (mod M)</a:t>
            </a:r>
          </a:p>
        </p:txBody>
      </p:sp>
      <p:sp>
        <p:nvSpPr>
          <p:cNvPr id="240660" name="Rectangle 20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312150" cy="6762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/>
              <a:t>中国剩余定理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40" name="Rectangle 3"/>
          <p:cNvSpPr>
            <a:spLocks noChangeArrowheads="1"/>
          </p:cNvSpPr>
          <p:nvPr/>
        </p:nvSpPr>
        <p:spPr bwMode="auto">
          <a:xfrm>
            <a:off x="1258889" y="1162050"/>
            <a:ext cx="5102894" cy="3563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32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1pPr>
            <a:lvl2pPr marL="742950" indent="-28575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2pPr>
            <a:lvl3pPr marL="11430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3pPr>
            <a:lvl4pPr marL="16002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4pPr>
            <a:lvl5pPr marL="2057400" indent="-228600" algn="l">
              <a:lnSpc>
                <a:spcPct val="110000"/>
              </a:lnSpc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5pPr>
            <a:lvl6pPr marL="25146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6pPr>
            <a:lvl7pPr marL="29718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7pPr>
            <a:lvl8pPr marL="34290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8pPr>
            <a:lvl9pPr marL="3886200" indent="-2286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Symbol" pitchFamily="18" charset="2"/>
              <a:buNone/>
              <a:defRPr/>
            </a:pPr>
            <a:r>
              <a:rPr lang="en-US" altLang="zh-CN" sz="2800" b="0" dirty="0"/>
              <a:t>M = m</a:t>
            </a:r>
            <a:r>
              <a:rPr lang="en-US" altLang="zh-CN" sz="2800" b="0" baseline="-25000" dirty="0"/>
              <a:t>1</a:t>
            </a:r>
            <a:r>
              <a:rPr lang="en-US" altLang="zh-CN" sz="2800" b="0" dirty="0"/>
              <a:t> m</a:t>
            </a:r>
            <a:r>
              <a:rPr lang="en-US" altLang="zh-CN" sz="2800" b="0" baseline="-25000" dirty="0"/>
              <a:t>2</a:t>
            </a:r>
            <a:r>
              <a:rPr lang="en-US" altLang="zh-CN" sz="2800" b="0" dirty="0"/>
              <a:t> m</a:t>
            </a:r>
            <a:r>
              <a:rPr lang="en-US" altLang="zh-CN" sz="2800" b="0" baseline="-25000" dirty="0"/>
              <a:t>3</a:t>
            </a:r>
            <a:r>
              <a:rPr lang="en-US" altLang="zh-CN" sz="2800" b="0" dirty="0"/>
              <a:t> =3*5*7=105</a:t>
            </a:r>
          </a:p>
          <a:p>
            <a:pPr eaLnBrk="1" hangingPunct="1">
              <a:lnSpc>
                <a:spcPct val="100000"/>
              </a:lnSpc>
              <a:buFont typeface="Symbol" pitchFamily="18" charset="2"/>
              <a:buNone/>
              <a:defRPr/>
            </a:pPr>
            <a:r>
              <a:rPr lang="en-US" altLang="zh-CN" sz="2800" b="0" dirty="0"/>
              <a:t>M</a:t>
            </a:r>
            <a:r>
              <a:rPr lang="en-US" altLang="zh-CN" sz="2800" b="0" baseline="-25000" dirty="0"/>
              <a:t>1</a:t>
            </a:r>
            <a:r>
              <a:rPr lang="en-US" altLang="zh-CN" sz="2800" b="0" dirty="0"/>
              <a:t>= M / m</a:t>
            </a:r>
            <a:r>
              <a:rPr lang="en-US" altLang="zh-CN" sz="2800" b="0" baseline="-25000" dirty="0"/>
              <a:t>1</a:t>
            </a:r>
            <a:r>
              <a:rPr lang="en-US" altLang="zh-CN" sz="2800" b="0" dirty="0"/>
              <a:t>=105/3=35</a:t>
            </a:r>
          </a:p>
          <a:p>
            <a:pPr eaLnBrk="1" hangingPunct="1">
              <a:lnSpc>
                <a:spcPct val="100000"/>
              </a:lnSpc>
              <a:buFont typeface="Symbol" pitchFamily="18" charset="2"/>
              <a:buNone/>
              <a:defRPr/>
            </a:pPr>
            <a:r>
              <a:rPr lang="en-US" altLang="zh-CN" sz="2800" b="0" dirty="0"/>
              <a:t>M</a:t>
            </a:r>
            <a:r>
              <a:rPr lang="en-US" altLang="zh-CN" sz="2800" b="0" baseline="-25000" dirty="0"/>
              <a:t>2</a:t>
            </a:r>
            <a:r>
              <a:rPr lang="en-US" altLang="zh-CN" sz="2800" b="0" dirty="0"/>
              <a:t>=M/m</a:t>
            </a:r>
            <a:r>
              <a:rPr lang="en-US" altLang="zh-CN" sz="2800" b="0" baseline="-25000" dirty="0"/>
              <a:t>2</a:t>
            </a:r>
            <a:r>
              <a:rPr lang="en-US" altLang="zh-CN" sz="2800" b="0" dirty="0"/>
              <a:t>=105/5=21</a:t>
            </a:r>
          </a:p>
          <a:p>
            <a:pPr eaLnBrk="1" hangingPunct="1">
              <a:lnSpc>
                <a:spcPct val="100000"/>
              </a:lnSpc>
              <a:buFont typeface="Symbol" pitchFamily="18" charset="2"/>
              <a:buNone/>
              <a:defRPr/>
            </a:pPr>
            <a:r>
              <a:rPr lang="en-US" altLang="zh-CN" sz="2800" b="0" dirty="0"/>
              <a:t>M</a:t>
            </a:r>
            <a:r>
              <a:rPr lang="en-US" altLang="zh-CN" sz="2800" b="0" baseline="-25000" dirty="0"/>
              <a:t>3</a:t>
            </a:r>
            <a:r>
              <a:rPr lang="en-US" altLang="zh-CN" sz="2800" b="0" dirty="0"/>
              <a:t>=M/ m</a:t>
            </a:r>
            <a:r>
              <a:rPr lang="en-US" altLang="zh-CN" sz="2800" b="0" baseline="-25000" dirty="0"/>
              <a:t>3</a:t>
            </a:r>
            <a:r>
              <a:rPr lang="en-US" altLang="zh-CN" sz="2800" b="0" dirty="0"/>
              <a:t>=105/7=15</a:t>
            </a:r>
          </a:p>
          <a:p>
            <a:pPr eaLnBrk="1" hangingPunct="1">
              <a:lnSpc>
                <a:spcPct val="100000"/>
              </a:lnSpc>
              <a:buFont typeface="Symbol" pitchFamily="18" charset="2"/>
              <a:buNone/>
              <a:defRPr/>
            </a:pPr>
            <a:r>
              <a:rPr lang="en-US" altLang="zh-CN" sz="2800" b="0" dirty="0"/>
              <a:t>M</a:t>
            </a:r>
            <a:r>
              <a:rPr lang="en-US" altLang="zh-CN" sz="2800" b="0" baseline="-25000" dirty="0"/>
              <a:t>1</a:t>
            </a:r>
            <a:r>
              <a:rPr lang="en-US" altLang="zh-CN" sz="2800" b="0" dirty="0"/>
              <a:t>M</a:t>
            </a:r>
            <a:r>
              <a:rPr lang="en-US" altLang="zh-CN" sz="2800" b="0" baseline="-25000" dirty="0"/>
              <a:t>1</a:t>
            </a:r>
            <a:r>
              <a:rPr lang="en-US" altLang="zh-CN" sz="2800" b="0" baseline="30000" dirty="0"/>
              <a:t>-1</a:t>
            </a:r>
            <a:r>
              <a:rPr lang="en-US" altLang="zh-CN" sz="2800" b="0" dirty="0"/>
              <a:t>≡1 (mod m</a:t>
            </a:r>
            <a:r>
              <a:rPr lang="en-US" altLang="zh-CN" sz="2800" b="0" baseline="-25000" dirty="0"/>
              <a:t>1</a:t>
            </a:r>
            <a:r>
              <a:rPr lang="en-US" altLang="zh-CN" sz="2800" b="0" dirty="0"/>
              <a:t>)</a:t>
            </a:r>
          </a:p>
          <a:p>
            <a:pPr eaLnBrk="1" hangingPunct="1">
              <a:lnSpc>
                <a:spcPct val="100000"/>
              </a:lnSpc>
              <a:buFont typeface="Symbol" pitchFamily="18" charset="2"/>
              <a:buNone/>
              <a:defRPr/>
            </a:pPr>
            <a:r>
              <a:rPr lang="en-US" altLang="zh-CN" sz="2800" b="0" dirty="0"/>
              <a:t>M</a:t>
            </a:r>
            <a:r>
              <a:rPr lang="en-US" altLang="zh-CN" sz="2800" b="0" baseline="-25000" dirty="0"/>
              <a:t>2</a:t>
            </a:r>
            <a:r>
              <a:rPr lang="en-US" altLang="zh-CN" sz="2800" b="0" dirty="0"/>
              <a:t>M</a:t>
            </a:r>
            <a:r>
              <a:rPr lang="en-US" altLang="zh-CN" sz="2800" b="0" baseline="-25000" dirty="0"/>
              <a:t>2</a:t>
            </a:r>
            <a:r>
              <a:rPr lang="en-US" altLang="zh-CN" sz="2800" b="0" baseline="30000" dirty="0"/>
              <a:t>-1</a:t>
            </a:r>
            <a:r>
              <a:rPr lang="en-US" altLang="zh-CN" sz="2800" b="0" dirty="0"/>
              <a:t>≡1 (mod m</a:t>
            </a:r>
            <a:r>
              <a:rPr lang="en-US" altLang="zh-CN" sz="2800" b="0" baseline="-25000" dirty="0"/>
              <a:t>2</a:t>
            </a:r>
            <a:r>
              <a:rPr lang="en-US" altLang="zh-CN" sz="2800" b="0" dirty="0"/>
              <a:t>)</a:t>
            </a:r>
          </a:p>
          <a:p>
            <a:pPr eaLnBrk="1" hangingPunct="1">
              <a:lnSpc>
                <a:spcPct val="100000"/>
              </a:lnSpc>
              <a:buFont typeface="Symbol" pitchFamily="18" charset="2"/>
              <a:buNone/>
              <a:defRPr/>
            </a:pPr>
            <a:r>
              <a:rPr lang="en-US" altLang="zh-CN" sz="2800" b="0" dirty="0"/>
              <a:t>M</a:t>
            </a:r>
            <a:r>
              <a:rPr lang="en-US" altLang="zh-CN" sz="2800" b="0" baseline="-25000" dirty="0"/>
              <a:t>3</a:t>
            </a:r>
            <a:r>
              <a:rPr lang="en-US" altLang="zh-CN" sz="2800" b="0" dirty="0"/>
              <a:t>M</a:t>
            </a:r>
            <a:r>
              <a:rPr lang="en-US" altLang="zh-CN" sz="2800" b="0" baseline="-25000" dirty="0"/>
              <a:t>3</a:t>
            </a:r>
            <a:r>
              <a:rPr lang="en-US" altLang="zh-CN" sz="2800" b="0" baseline="30000" dirty="0"/>
              <a:t>-1</a:t>
            </a:r>
            <a:r>
              <a:rPr lang="en-US" altLang="zh-CN" sz="2800" b="0" dirty="0"/>
              <a:t>≡1 (mod m</a:t>
            </a:r>
            <a:r>
              <a:rPr lang="en-US" altLang="zh-CN" sz="2800" b="0" baseline="-25000" dirty="0"/>
              <a:t>3</a:t>
            </a:r>
            <a:r>
              <a:rPr lang="en-US" altLang="zh-CN" sz="2800" b="0" dirty="0"/>
              <a:t>)</a:t>
            </a:r>
          </a:p>
        </p:txBody>
      </p:sp>
      <p:sp>
        <p:nvSpPr>
          <p:cNvPr id="244741" name="Text Box 4"/>
          <p:cNvSpPr txBox="1">
            <a:spLocks noChangeArrowheads="1"/>
          </p:cNvSpPr>
          <p:nvPr/>
        </p:nvSpPr>
        <p:spPr bwMode="auto">
          <a:xfrm>
            <a:off x="1403350" y="5212357"/>
            <a:ext cx="640873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35M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b="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≡1 (mod 3)                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得：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b="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≡2</a:t>
            </a:r>
          </a:p>
          <a:p>
            <a:pPr eaLnBrk="1" hangingPunct="1">
              <a:defRPr/>
            </a:pP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21M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800" b="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≡1 (mod 5)                        M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800" b="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≡1</a:t>
            </a:r>
          </a:p>
          <a:p>
            <a:pPr eaLnBrk="1" hangingPunct="1">
              <a:defRPr/>
            </a:pP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15M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800" b="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≡1 (mod 7)                        M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800" b="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≡1</a:t>
            </a:r>
          </a:p>
        </p:txBody>
      </p:sp>
      <p:sp>
        <p:nvSpPr>
          <p:cNvPr id="244743" name="Rectangle 7"/>
          <p:cNvSpPr>
            <a:spLocks noChangeArrowheads="1"/>
          </p:cNvSpPr>
          <p:nvPr/>
        </p:nvSpPr>
        <p:spPr bwMode="auto">
          <a:xfrm>
            <a:off x="537021" y="4473575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即：</a:t>
            </a:r>
          </a:p>
        </p:txBody>
      </p:sp>
      <p:sp>
        <p:nvSpPr>
          <p:cNvPr id="244744" name="Rectangle 8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312150" cy="6762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/>
              <a:t>中国剩余定理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660232" y="1162050"/>
            <a:ext cx="3027362" cy="1385887"/>
            <a:chOff x="914400" y="1196752"/>
            <a:chExt cx="3027362" cy="1385887"/>
          </a:xfrm>
        </p:grpSpPr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285875" y="1196752"/>
              <a:ext cx="2655887" cy="138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1" hangingPunct="1">
                <a:defRPr/>
              </a:pPr>
              <a:r>
                <a:rPr kumimoji="1" lang="en-US" altLang="zh-CN" sz="2800" b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X≡2 (mod 3)</a:t>
              </a:r>
            </a:p>
            <a:p>
              <a:pPr algn="just" eaLnBrk="1" hangingPunct="1">
                <a:defRPr/>
              </a:pPr>
              <a:r>
                <a:rPr kumimoji="1" lang="en-US" altLang="zh-CN" sz="2800" b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X≡3 (mod 5)</a:t>
              </a:r>
            </a:p>
            <a:p>
              <a:pPr algn="just" eaLnBrk="1" hangingPunct="1">
                <a:defRPr/>
              </a:pPr>
              <a:r>
                <a:rPr kumimoji="1" lang="en-US" altLang="zh-CN" sz="2800" b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X≡2 (mod 7)</a:t>
              </a:r>
            </a:p>
          </p:txBody>
        </p:sp>
        <p:sp>
          <p:nvSpPr>
            <p:cNvPr id="9" name="AutoShape 10"/>
            <p:cNvSpPr>
              <a:spLocks/>
            </p:cNvSpPr>
            <p:nvPr/>
          </p:nvSpPr>
          <p:spPr bwMode="auto">
            <a:xfrm>
              <a:off x="914400" y="1268189"/>
              <a:ext cx="73025" cy="1152525"/>
            </a:xfrm>
            <a:prstGeom prst="leftBrace">
              <a:avLst>
                <a:gd name="adj1" fmla="val 131522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rgbClr val="0000CC"/>
                </a:buClr>
                <a:buFont typeface="Wingdings" panose="05000000000000000000" pitchFamily="2" charset="2"/>
                <a:buChar char="u"/>
                <a:defRPr sz="32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rgbClr val="0000CC"/>
                </a:buClr>
                <a:buFont typeface="Wingdings" panose="05000000000000000000" pitchFamily="2" charset="2"/>
                <a:buChar char="u"/>
                <a:defRPr sz="28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rgbClr val="0000CC"/>
                </a:buClr>
                <a:buFont typeface="Wingdings" panose="05000000000000000000" pitchFamily="2" charset="2"/>
                <a:buChar char="u"/>
                <a:defRPr sz="24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rgbClr val="0000CC"/>
                </a:buClr>
                <a:buFont typeface="Wingdings" panose="05000000000000000000" pitchFamily="2" charset="2"/>
                <a:buChar char="u"/>
                <a:defRPr sz="20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rgbClr val="0000CC"/>
                </a:buClr>
                <a:buFont typeface="Wingdings" panose="05000000000000000000" pitchFamily="2" charset="2"/>
                <a:buChar char="u"/>
                <a:defRPr sz="20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Font typeface="Wingdings" panose="05000000000000000000" pitchFamily="2" charset="2"/>
                <a:buChar char="u"/>
                <a:defRPr sz="20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Font typeface="Wingdings" panose="05000000000000000000" pitchFamily="2" charset="2"/>
                <a:buChar char="u"/>
                <a:defRPr sz="20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Font typeface="Wingdings" panose="05000000000000000000" pitchFamily="2" charset="2"/>
                <a:buChar char="u"/>
                <a:defRPr sz="20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Font typeface="Wingdings" panose="05000000000000000000" pitchFamily="2" charset="2"/>
                <a:buChar char="u"/>
                <a:defRPr sz="200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8" name="Text Box 4"/>
          <p:cNvSpPr txBox="1">
            <a:spLocks noChangeArrowheads="1"/>
          </p:cNvSpPr>
          <p:nvPr/>
        </p:nvSpPr>
        <p:spPr bwMode="auto">
          <a:xfrm>
            <a:off x="611188" y="1412875"/>
            <a:ext cx="8137525" cy="547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x≡M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b="0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+ M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800" b="0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+ M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800" b="0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-1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(mod 105)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≡70 b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+21 b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+15 b</a:t>
            </a:r>
            <a:r>
              <a:rPr kumimoji="1" lang="en-US" altLang="zh-CN" sz="2800" b="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(mod 105)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≡70*2+21*3+15*2 (mod 105)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≡140+63+30   (mod 105)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≡35+63+30  (mod 105)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≡128 (mod 105)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≡23 (mod 105)</a:t>
            </a:r>
          </a:p>
          <a:p>
            <a:pPr eaLnBrk="1" hangingPunct="1">
              <a:defRPr/>
            </a:pPr>
            <a:endParaRPr kumimoji="1" lang="en-US" altLang="zh-CN" sz="28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eaLnBrk="1" hangingPunct="1">
              <a:defRPr/>
            </a:pPr>
            <a:r>
              <a:rPr kumimoji="1"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所以，此物有</a:t>
            </a:r>
            <a:r>
              <a:rPr kumimoji="1"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23</a:t>
            </a:r>
            <a:r>
              <a:rPr kumimoji="1"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个</a:t>
            </a:r>
          </a:p>
        </p:txBody>
      </p:sp>
      <p:sp>
        <p:nvSpPr>
          <p:cNvPr id="246789" name="Rectangle 5"/>
          <p:cNvSpPr>
            <a:spLocks noChangeArrowheads="1"/>
          </p:cNvSpPr>
          <p:nvPr/>
        </p:nvSpPr>
        <p:spPr bwMode="auto">
          <a:xfrm>
            <a:off x="971550" y="3844925"/>
            <a:ext cx="7199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endParaRPr lang="zh-CN" altLang="zh-CN" sz="2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6791" name="Rectangle 7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312150" cy="6762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/>
              <a:t>中国剩余定理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516216" y="2687637"/>
            <a:ext cx="3027362" cy="1385887"/>
            <a:chOff x="914400" y="1196752"/>
            <a:chExt cx="3027362" cy="1385887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285875" y="1196752"/>
              <a:ext cx="2655887" cy="138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1" hangingPunct="1">
                <a:defRPr/>
              </a:pPr>
              <a:r>
                <a:rPr kumimoji="1" lang="en-US" altLang="zh-CN" sz="2800" b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X≡2 (mod 3)</a:t>
              </a:r>
            </a:p>
            <a:p>
              <a:pPr algn="just" eaLnBrk="1" hangingPunct="1">
                <a:defRPr/>
              </a:pPr>
              <a:r>
                <a:rPr kumimoji="1" lang="en-US" altLang="zh-CN" sz="2800" b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X≡3 (mod 5)</a:t>
              </a:r>
            </a:p>
            <a:p>
              <a:pPr algn="just" eaLnBrk="1" hangingPunct="1">
                <a:defRPr/>
              </a:pPr>
              <a:r>
                <a:rPr kumimoji="1" lang="en-US" altLang="zh-CN" sz="2800" b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X≡2 (mod 7)</a:t>
              </a:r>
            </a:p>
          </p:txBody>
        </p:sp>
        <p:sp>
          <p:nvSpPr>
            <p:cNvPr id="8" name="AutoShape 10"/>
            <p:cNvSpPr>
              <a:spLocks/>
            </p:cNvSpPr>
            <p:nvPr/>
          </p:nvSpPr>
          <p:spPr bwMode="auto">
            <a:xfrm>
              <a:off x="914400" y="1268189"/>
              <a:ext cx="73025" cy="1152525"/>
            </a:xfrm>
            <a:prstGeom prst="leftBrace">
              <a:avLst>
                <a:gd name="adj1" fmla="val 131522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367CBDD-2E7F-C4CF-94D9-3F5BFF813F82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0"/>
            <a:ext cx="8312150" cy="67627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b="0" dirty="0"/>
              <a:t>二次剩余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b="1" dirty="0"/>
                  <a:t>定义</a:t>
                </a:r>
                <a:r>
                  <a:rPr lang="zh-CN" altLang="en-US" b="0" dirty="0"/>
                  <a:t>：令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为正整数，若一整数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b="0" dirty="0"/>
                  <a:t>满足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b="0" dirty="0"/>
                  <a:t>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有解，则称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b="0" dirty="0"/>
                  <a:t>为模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的二次剩余</a:t>
                </a:r>
                <a:r>
                  <a:rPr lang="en-US" altLang="zh-CN" b="0" dirty="0"/>
                  <a:t>(quadratic residue);</a:t>
                </a:r>
                <a:r>
                  <a:rPr lang="zh-CN" altLang="en-US" b="0" dirty="0"/>
                  <a:t>否则称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b="0" dirty="0"/>
                  <a:t>为模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的二次非剩余</a:t>
                </a:r>
                <a:r>
                  <a:rPr lang="en-US" altLang="zh-CN" b="0" dirty="0"/>
                  <a:t>(quadratic non-residue)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dirty="0"/>
                  <a:t>欧拉判别法则</a:t>
                </a:r>
                <a:r>
                  <a:rPr lang="zh-CN" altLang="en-US" b="0" dirty="0"/>
                  <a:t>：</a:t>
                </a:r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en-US" altLang="zh-CN" b="0" dirty="0"/>
                  <a:t>  </a:t>
                </a:r>
                <a:r>
                  <a:rPr lang="zh-CN" altLang="en-US" b="0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b="0" dirty="0"/>
                  <a:t>奇素数，如果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b="0" dirty="0"/>
                  <a:t>的二次剩余，则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如果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是模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b="0" dirty="0"/>
                  <a:t>的二次非剩余，则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  <a:blipFill>
                <a:blip r:embed="rId2"/>
                <a:stretch>
                  <a:fillRect l="-1340" r="-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14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367CBDD-2E7F-C4CF-94D9-3F5BFF813F82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0"/>
            <a:ext cx="8312150" cy="67627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b="0" dirty="0"/>
              <a:t>二次剩余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b="1" dirty="0"/>
                  <a:t>例如：</a:t>
                </a:r>
                <a:r>
                  <a:rPr lang="zh-CN" altLang="en-US" b="0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b="0" dirty="0"/>
                  <a:t>，则有：</a:t>
                </a:r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7,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7,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7,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7,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b="0" dirty="0"/>
                  <a:t>因此，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、</a:t>
                </a:r>
                <a:r>
                  <a:rPr lang="en-US" altLang="zh-CN" b="0" dirty="0"/>
                  <a:t>2</a:t>
                </a:r>
                <a:r>
                  <a:rPr lang="zh-CN" altLang="en-US" b="0" dirty="0"/>
                  <a:t>、</a:t>
                </a:r>
                <a:r>
                  <a:rPr lang="en-US" altLang="zh-CN" b="0" dirty="0"/>
                  <a:t>4</a:t>
                </a:r>
                <a:r>
                  <a:rPr lang="zh-CN" altLang="en-US" b="0" dirty="0"/>
                  <a:t>是模</a:t>
                </a:r>
                <a:r>
                  <a:rPr lang="en-US" altLang="zh-CN" b="0" dirty="0"/>
                  <a:t>7</a:t>
                </a:r>
                <a:r>
                  <a:rPr lang="zh-CN" altLang="en-US" b="0" dirty="0"/>
                  <a:t>的二次剩余，</a:t>
                </a:r>
                <a:r>
                  <a:rPr lang="en-US" altLang="zh-CN" b="0" dirty="0"/>
                  <a:t>3</a:t>
                </a:r>
                <a:r>
                  <a:rPr lang="zh-CN" altLang="en-US" b="0" dirty="0"/>
                  <a:t>、</a:t>
                </a:r>
                <a:r>
                  <a:rPr lang="en-US" altLang="zh-CN" b="0" dirty="0"/>
                  <a:t>5</a:t>
                </a:r>
                <a:r>
                  <a:rPr lang="zh-CN" altLang="en-US" b="0" dirty="0"/>
                  <a:t>、</a:t>
                </a:r>
                <a:r>
                  <a:rPr lang="en-US" altLang="zh-CN" b="0" dirty="0"/>
                  <a:t>6</a:t>
                </a:r>
                <a:r>
                  <a:rPr lang="zh-CN" altLang="en-US" b="0" dirty="0"/>
                  <a:t>是模</a:t>
                </a:r>
                <a:r>
                  <a:rPr lang="en-US" altLang="zh-CN" b="0" dirty="0"/>
                  <a:t>7</a:t>
                </a:r>
                <a:r>
                  <a:rPr lang="zh-CN" altLang="en-US" b="0" dirty="0"/>
                  <a:t>的二次非剩余。</a:t>
                </a:r>
                <a:endParaRPr lang="en-US" altLang="zh-CN" b="0" dirty="0"/>
              </a:p>
              <a:p>
                <a:pPr fontAlgn="auto">
                  <a:lnSpc>
                    <a:spcPct val="160000"/>
                  </a:lnSpc>
                  <a:spcAft>
                    <a:spcPts val="0"/>
                  </a:spcAft>
                  <a:buFont typeface="Wingdings" panose="05000000000000000000" pitchFamily="2" charset="2"/>
                  <a:buNone/>
                  <a:defRPr/>
                </a:pPr>
                <a:r>
                  <a:rPr lang="zh-CN" altLang="en-US" dirty="0"/>
                  <a:t>性质</a:t>
                </a:r>
                <a:r>
                  <a:rPr lang="zh-CN" altLang="en-US" b="0" dirty="0"/>
                  <a:t>：如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b="0" dirty="0"/>
                  <a:t>是素数，则模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b="0" dirty="0"/>
                  <a:t>的二次剩余的个数为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b="0" dirty="0"/>
                  <a:t>，模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b="0" dirty="0"/>
                  <a:t>的二次非剩余的个数也为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b="0" dirty="0"/>
                  <a:t> 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EE543D81-9809-D2FE-A9AB-41662DF8A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640960" cy="5544616"/>
              </a:xfrm>
              <a:prstGeom prst="rect">
                <a:avLst/>
              </a:prstGeom>
              <a:blipFill>
                <a:blip r:embed="rId2"/>
                <a:stretch>
                  <a:fillRect l="-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19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77809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离散对数</a:t>
            </a:r>
            <a:endParaRPr lang="zh-CN" altLang="en-US" sz="29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898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179388" y="908720"/>
                <a:ext cx="8964612" cy="5949280"/>
              </a:xfrm>
            </p:spPr>
            <p:txBody>
              <a:bodyPr>
                <a:normAutofit fontScale="70000" lnSpcReduction="20000"/>
              </a:bodyPr>
              <a:lstStyle/>
              <a:p>
                <a:pPr eaLnBrk="1" hangingPunct="1">
                  <a:lnSpc>
                    <a:spcPct val="17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zh-CN" altLang="en-US" sz="3400" dirty="0"/>
                  <a:t>由欧拉定理，对</a:t>
                </a:r>
                <a:r>
                  <a:rPr lang="en-US" altLang="zh-CN" sz="3400" dirty="0" err="1"/>
                  <a:t>gcd</a:t>
                </a:r>
                <a:r>
                  <a:rPr lang="en-US" altLang="zh-CN" sz="3400" dirty="0"/>
                  <a:t>(</a:t>
                </a:r>
                <a:r>
                  <a:rPr lang="en-US" altLang="zh-CN" sz="3400" dirty="0" err="1"/>
                  <a:t>a,m</a:t>
                </a:r>
                <a:r>
                  <a:rPr lang="en-US" altLang="zh-CN" sz="3400" dirty="0"/>
                  <a:t>)=1,</a:t>
                </a:r>
                <a:r>
                  <a:rPr lang="zh-CN" altLang="en-US" sz="3400" dirty="0"/>
                  <a:t>有</a:t>
                </a:r>
                <a:r>
                  <a:rPr lang="en-US" altLang="zh-CN" sz="3400" dirty="0"/>
                  <a:t>a </a:t>
                </a:r>
                <a:r>
                  <a:rPr lang="en-US" altLang="zh-CN" sz="3400" baseline="30000" dirty="0"/>
                  <a:t>Φ(m)</a:t>
                </a:r>
                <a:r>
                  <a:rPr lang="en-US" altLang="zh-CN" sz="3400" dirty="0"/>
                  <a:t>≡1 (mod m)</a:t>
                </a:r>
                <a:r>
                  <a:rPr lang="zh-CN" altLang="en-US" sz="3400" dirty="0"/>
                  <a:t>，下面考虑更一般的形式，</a:t>
                </a:r>
                <a:endParaRPr lang="zh-CN" altLang="en-US" sz="3400" b="1" dirty="0"/>
              </a:p>
              <a:p>
                <a:pPr eaLnBrk="1" hangingPunct="1">
                  <a:lnSpc>
                    <a:spcPct val="17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zh-CN" altLang="en-US" sz="3400" dirty="0"/>
                  <a:t>定义 </a:t>
                </a:r>
                <a:r>
                  <a:rPr lang="zh-CN" altLang="en-US" sz="3400" dirty="0">
                    <a:solidFill>
                      <a:srgbClr val="00CC99"/>
                    </a:solidFill>
                  </a:rPr>
                  <a:t>指数</a:t>
                </a:r>
                <a:r>
                  <a:rPr lang="zh-CN" altLang="en-US" sz="3400" dirty="0"/>
                  <a:t>： 设</a:t>
                </a:r>
                <a:r>
                  <a:rPr lang="en-US" altLang="zh-CN" sz="3400" dirty="0" err="1"/>
                  <a:t>gcd</a:t>
                </a:r>
                <a:r>
                  <a:rPr lang="en-US" altLang="zh-CN" sz="3400" dirty="0"/>
                  <a:t>(</a:t>
                </a:r>
                <a:r>
                  <a:rPr lang="en-US" altLang="zh-CN" sz="3400" dirty="0" err="1"/>
                  <a:t>a,m</a:t>
                </a:r>
                <a:r>
                  <a:rPr lang="en-US" altLang="zh-CN" sz="3400" dirty="0"/>
                  <a:t>)=1,</a:t>
                </a:r>
                <a:r>
                  <a:rPr lang="zh-CN" altLang="en-US" sz="3400" dirty="0"/>
                  <a:t>使</a:t>
                </a:r>
                <a:r>
                  <a:rPr lang="en-US" altLang="zh-CN" sz="3400" dirty="0"/>
                  <a:t>a</a:t>
                </a:r>
                <a:r>
                  <a:rPr lang="en-US" altLang="zh-CN" sz="3400" baseline="30000" dirty="0"/>
                  <a:t>n</a:t>
                </a:r>
                <a:r>
                  <a:rPr lang="en-US" altLang="zh-CN" sz="3400" dirty="0"/>
                  <a:t>≡1 (mod m)</a:t>
                </a:r>
                <a:r>
                  <a:rPr lang="zh-CN" altLang="en-US" sz="3400" dirty="0"/>
                  <a:t>成立的最小正整数</a:t>
                </a:r>
                <a:r>
                  <a:rPr lang="en-US" altLang="zh-CN" sz="3400" dirty="0"/>
                  <a:t>n</a:t>
                </a:r>
                <a:r>
                  <a:rPr lang="zh-CN" altLang="en-US" sz="3400" dirty="0"/>
                  <a:t>称为</a:t>
                </a:r>
                <a:r>
                  <a:rPr lang="en-US" altLang="zh-CN" sz="3400" dirty="0"/>
                  <a:t>a</a:t>
                </a:r>
                <a:r>
                  <a:rPr lang="zh-CN" altLang="en-US" sz="3400" dirty="0"/>
                  <a:t>对模</a:t>
                </a:r>
                <a:r>
                  <a:rPr lang="en-US" altLang="zh-CN" sz="3400" dirty="0"/>
                  <a:t>m</a:t>
                </a:r>
                <a:r>
                  <a:rPr lang="zh-CN" altLang="en-US" sz="3400" dirty="0"/>
                  <a:t>的指数或阶、或</a:t>
                </a:r>
                <a:r>
                  <a:rPr lang="en-US" altLang="zh-CN" sz="3400" dirty="0"/>
                  <a:t>a</a:t>
                </a:r>
                <a:r>
                  <a:rPr lang="zh-CN" altLang="en-US" sz="3400" dirty="0"/>
                  <a:t>所产生的周期长，记为</a:t>
                </a:r>
                <a:r>
                  <a:rPr lang="en-US" altLang="zh-CN" sz="3400" dirty="0" err="1"/>
                  <a:t>δ</a:t>
                </a:r>
                <a:r>
                  <a:rPr lang="en-US" altLang="zh-CN" sz="3400" baseline="-25000" dirty="0" err="1"/>
                  <a:t>m</a:t>
                </a:r>
                <a:r>
                  <a:rPr lang="en-US" altLang="zh-CN" sz="3400" dirty="0"/>
                  <a:t>(a)</a:t>
                </a:r>
                <a:r>
                  <a:rPr lang="zh-CN" altLang="en-US" sz="3400" dirty="0"/>
                  <a:t>。</a:t>
                </a:r>
              </a:p>
              <a:p>
                <a:pPr eaLnBrk="1" hangingPunct="1">
                  <a:lnSpc>
                    <a:spcPct val="170000"/>
                  </a:lnSpc>
                  <a:buNone/>
                  <a:defRPr/>
                </a:pPr>
                <a:r>
                  <a:rPr lang="zh-CN" altLang="en-US" sz="3400" dirty="0"/>
                  <a:t>定义 </a:t>
                </a:r>
                <a:r>
                  <a:rPr lang="zh-CN" altLang="en-US" sz="3400" dirty="0">
                    <a:solidFill>
                      <a:srgbClr val="00CC99"/>
                    </a:solidFill>
                  </a:rPr>
                  <a:t>本原根</a:t>
                </a:r>
                <a:r>
                  <a:rPr lang="zh-CN" altLang="en-US" sz="3400" dirty="0"/>
                  <a:t>： 如果</a:t>
                </a:r>
                <a:r>
                  <a:rPr lang="en-US" altLang="zh-CN" sz="3400" dirty="0" err="1"/>
                  <a:t>δ</a:t>
                </a:r>
                <a:r>
                  <a:rPr lang="en-US" altLang="zh-CN" sz="3400" baseline="-25000" dirty="0" err="1"/>
                  <a:t>m</a:t>
                </a:r>
                <a:r>
                  <a:rPr lang="en-US" altLang="zh-CN" sz="3400" dirty="0"/>
                  <a:t>(a)=Φ (m)</a:t>
                </a:r>
                <a:r>
                  <a:rPr lang="zh-CN" altLang="en-US" sz="3400" dirty="0"/>
                  <a:t>，则称</a:t>
                </a:r>
                <a:r>
                  <a:rPr lang="en-US" altLang="zh-CN" sz="3400" dirty="0"/>
                  <a:t>a</a:t>
                </a:r>
                <a:r>
                  <a:rPr lang="zh-CN" altLang="en-US" sz="3400" dirty="0"/>
                  <a:t>是模</a:t>
                </a:r>
                <a:r>
                  <a:rPr lang="en-US" altLang="zh-CN" sz="3400" dirty="0"/>
                  <a:t>m</a:t>
                </a:r>
                <a:r>
                  <a:rPr lang="zh-CN" altLang="en-US" sz="3400" dirty="0"/>
                  <a:t>的本原根。对于任意模</a:t>
                </a:r>
                <a:r>
                  <a:rPr lang="en-US" altLang="zh-CN" sz="3400" dirty="0"/>
                  <a:t>m</a:t>
                </a:r>
                <a:r>
                  <a:rPr lang="zh-CN" altLang="en-US" sz="3400" dirty="0"/>
                  <a:t>，本原根并不一定存在。</a:t>
                </a:r>
                <a:endParaRPr lang="en-US" altLang="zh-CN" sz="3400" dirty="0"/>
              </a:p>
              <a:p>
                <a:pPr eaLnBrk="1" hangingPunct="1">
                  <a:lnSpc>
                    <a:spcPct val="170000"/>
                  </a:lnSpc>
                  <a:buNone/>
                  <a:defRPr/>
                </a:pPr>
                <a:r>
                  <a:rPr lang="zh-CN" altLang="en-US" sz="3400" b="1" dirty="0"/>
                  <a:t>模</a:t>
                </a:r>
                <a14:m>
                  <m:oMath xmlns:m="http://schemas.openxmlformats.org/officeDocument/2006/math">
                    <m:r>
                      <a:rPr lang="en-US" altLang="zh-CN" sz="34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3400" b="1" dirty="0"/>
                  <a:t>的本原根存在的充分必要条件：</a:t>
                </a:r>
                <a14:m>
                  <m:oMath xmlns:m="http://schemas.openxmlformats.org/officeDocument/2006/math">
                    <m:r>
                      <a:rPr lang="en-US" altLang="zh-CN" sz="3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400" b="0" i="1" smtClean="0">
                        <a:latin typeface="Cambria Math" panose="02040503050406030204" pitchFamily="18" charset="0"/>
                      </a:rPr>
                      <m:t>=2,4,</m:t>
                    </m:r>
                    <m:sSup>
                      <m:sSupPr>
                        <m:ctrlP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sz="3400" b="0" i="1" smtClean="0">
                        <a:latin typeface="Cambria Math" panose="02040503050406030204" pitchFamily="18" charset="0"/>
                      </a:rPr>
                      <m:t>,2</m:t>
                    </m:r>
                    <m:sSup>
                      <m:sSupPr>
                        <m:ctrlP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zh-CN" altLang="en-US" sz="3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4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34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400" dirty="0"/>
                  <a:t>是奇素数，</a:t>
                </a:r>
                <a14:m>
                  <m:oMath xmlns:m="http://schemas.openxmlformats.org/officeDocument/2006/math">
                    <m:r>
                      <a:rPr lang="en-US" altLang="zh-CN" sz="3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en-US" sz="3400" dirty="0"/>
                  <a:t>。此时，本原根的个数为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4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sz="3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400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400" dirty="0"/>
                  <a:t>。</a:t>
                </a:r>
                <a:endParaRPr lang="en-US" altLang="zh-CN" sz="3400" dirty="0"/>
              </a:p>
              <a:p>
                <a:pPr eaLnBrk="1" hangingPunct="1">
                  <a:lnSpc>
                    <a:spcPct val="170000"/>
                  </a:lnSpc>
                  <a:buNone/>
                  <a:defRPr/>
                </a:pPr>
                <a:r>
                  <a:rPr lang="en-US" altLang="zh-CN" dirty="0"/>
                  <a:t>	</a:t>
                </a:r>
              </a:p>
            </p:txBody>
          </p:sp>
        </mc:Choice>
        <mc:Fallback xmlns="">
          <p:sp>
            <p:nvSpPr>
              <p:cNvPr id="20889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179388" y="908720"/>
                <a:ext cx="8964612" cy="5949280"/>
              </a:xfrm>
              <a:blipFill>
                <a:blip r:embed="rId3"/>
                <a:stretch>
                  <a:fillRect l="-1020" r="-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136" name="Group 19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252641390"/>
              </p:ext>
            </p:extLst>
          </p:nvPr>
        </p:nvGraphicFramePr>
        <p:xfrm>
          <a:off x="0" y="333375"/>
          <a:ext cx="9144000" cy="6383341"/>
        </p:xfrm>
        <a:graphic>
          <a:graphicData uri="http://schemas.openxmlformats.org/drawingml/2006/table">
            <a:tbl>
              <a:tblPr/>
              <a:tblGrid>
                <a:gridCol w="80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27932">
                <a:tc gridSpan="13"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kumimoji="0" lang="en-US" altLang="zh-CN" sz="32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≡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y (mod 13)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35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y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2"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51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99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005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99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068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6750"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8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4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23" marB="4572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28738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从上表中可以看出：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）阶为</a:t>
            </a:r>
            <a:r>
              <a:rPr lang="en-US" altLang="zh-CN" sz="2800" dirty="0"/>
              <a:t>2</a:t>
            </a:r>
            <a:r>
              <a:rPr lang="zh-CN" altLang="en-US" sz="2800" dirty="0"/>
              <a:t>元素有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(2)=1</a:t>
            </a:r>
            <a:r>
              <a:rPr lang="zh-CN" altLang="en-US" sz="2800" dirty="0"/>
              <a:t>个；</a:t>
            </a:r>
            <a:r>
              <a:rPr lang="en-US" altLang="zh-CN" sz="2800" dirty="0"/>
              <a:t>12</a:t>
            </a:r>
            <a:r>
              <a:rPr lang="zh-CN" altLang="en-US" sz="2800" dirty="0"/>
              <a:t>模</a:t>
            </a:r>
            <a:r>
              <a:rPr lang="en-US" altLang="zh-CN" sz="2800" dirty="0"/>
              <a:t>13</a:t>
            </a:r>
            <a:r>
              <a:rPr lang="zh-CN" altLang="en-US" sz="2800" dirty="0"/>
              <a:t>的阶为</a:t>
            </a:r>
            <a:r>
              <a:rPr lang="en-US" altLang="zh-CN" sz="2800" dirty="0"/>
              <a:t>2</a:t>
            </a:r>
            <a:r>
              <a:rPr lang="zh-CN" altLang="en-US" sz="2800" dirty="0"/>
              <a:t>。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）阶为</a:t>
            </a:r>
            <a:r>
              <a:rPr lang="en-US" altLang="zh-CN" sz="2800" dirty="0"/>
              <a:t>3</a:t>
            </a:r>
            <a:r>
              <a:rPr lang="zh-CN" altLang="en-US" sz="2800" dirty="0"/>
              <a:t>元素有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(3)=2</a:t>
            </a:r>
            <a:r>
              <a:rPr lang="zh-CN" altLang="en-US" sz="2800" dirty="0"/>
              <a:t>个；</a:t>
            </a:r>
            <a:r>
              <a:rPr lang="en-US" altLang="zh-CN" sz="2800" dirty="0"/>
              <a:t>3</a:t>
            </a:r>
            <a:r>
              <a:rPr lang="zh-CN" altLang="en-US" sz="2800" dirty="0"/>
              <a:t>，</a:t>
            </a:r>
            <a:r>
              <a:rPr lang="en-US" altLang="zh-CN" sz="2800" dirty="0"/>
              <a:t>9</a:t>
            </a:r>
            <a:r>
              <a:rPr lang="zh-CN" altLang="en-US" sz="2800" dirty="0"/>
              <a:t>模</a:t>
            </a:r>
            <a:r>
              <a:rPr lang="en-US" altLang="zh-CN" sz="2800" dirty="0"/>
              <a:t>13</a:t>
            </a:r>
            <a:r>
              <a:rPr lang="zh-CN" altLang="en-US" sz="2800" dirty="0"/>
              <a:t>的阶为</a:t>
            </a:r>
            <a:r>
              <a:rPr lang="en-US" altLang="zh-CN" sz="2800" dirty="0"/>
              <a:t>3</a:t>
            </a:r>
            <a:r>
              <a:rPr lang="zh-CN" altLang="en-US" sz="2800" dirty="0"/>
              <a:t>。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）阶为</a:t>
            </a:r>
            <a:r>
              <a:rPr lang="en-US" altLang="zh-CN" sz="2800" dirty="0"/>
              <a:t>4</a:t>
            </a:r>
            <a:r>
              <a:rPr lang="zh-CN" altLang="en-US" sz="2800" dirty="0"/>
              <a:t>元素有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(4)=2</a:t>
            </a:r>
            <a:r>
              <a:rPr lang="zh-CN" altLang="en-US" sz="2800" dirty="0"/>
              <a:t>个；</a:t>
            </a:r>
            <a:r>
              <a:rPr lang="en-US" altLang="zh-CN" sz="2800" dirty="0"/>
              <a:t>5</a:t>
            </a:r>
            <a:r>
              <a:rPr lang="zh-CN" altLang="en-US" sz="2800" dirty="0"/>
              <a:t>，</a:t>
            </a:r>
            <a:r>
              <a:rPr lang="en-US" altLang="zh-CN" sz="2800" dirty="0"/>
              <a:t>8</a:t>
            </a:r>
            <a:r>
              <a:rPr lang="zh-CN" altLang="en-US" sz="2800" dirty="0"/>
              <a:t>模</a:t>
            </a:r>
            <a:r>
              <a:rPr lang="en-US" altLang="zh-CN" sz="2800" dirty="0"/>
              <a:t>13</a:t>
            </a:r>
            <a:r>
              <a:rPr lang="zh-CN" altLang="en-US" sz="2800" dirty="0"/>
              <a:t>的阶为</a:t>
            </a:r>
            <a:r>
              <a:rPr lang="en-US" altLang="zh-CN" sz="2800" dirty="0"/>
              <a:t>4</a:t>
            </a:r>
            <a:r>
              <a:rPr lang="zh-CN" altLang="en-US" sz="2800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）阶为</a:t>
            </a:r>
            <a:r>
              <a:rPr lang="en-US" altLang="zh-CN" sz="2800" dirty="0"/>
              <a:t>6</a:t>
            </a:r>
            <a:r>
              <a:rPr lang="zh-CN" altLang="en-US" sz="2800" dirty="0"/>
              <a:t>元素有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(6)=2</a:t>
            </a:r>
            <a:r>
              <a:rPr lang="zh-CN" altLang="en-US" sz="2800" dirty="0"/>
              <a:t>个；</a:t>
            </a:r>
            <a:r>
              <a:rPr lang="en-US" altLang="zh-CN" sz="2800" dirty="0"/>
              <a:t>4</a:t>
            </a:r>
            <a:r>
              <a:rPr lang="zh-CN" altLang="en-US" sz="2800" dirty="0"/>
              <a:t>，</a:t>
            </a:r>
            <a:r>
              <a:rPr lang="en-US" altLang="zh-CN" sz="2800" dirty="0"/>
              <a:t>10</a:t>
            </a:r>
            <a:r>
              <a:rPr lang="zh-CN" altLang="en-US" sz="2800" dirty="0"/>
              <a:t>模</a:t>
            </a:r>
            <a:r>
              <a:rPr lang="en-US" altLang="zh-CN" sz="2800" dirty="0"/>
              <a:t>13</a:t>
            </a:r>
            <a:r>
              <a:rPr lang="zh-CN" altLang="en-US" sz="2800" dirty="0"/>
              <a:t>的阶为</a:t>
            </a:r>
            <a:r>
              <a:rPr lang="en-US" altLang="zh-CN" sz="2800" dirty="0"/>
              <a:t>6</a:t>
            </a:r>
            <a:r>
              <a:rPr lang="zh-CN" altLang="en-US" sz="2800" dirty="0"/>
              <a:t>。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（</a:t>
            </a:r>
            <a:r>
              <a:rPr lang="en-US" altLang="zh-CN" sz="2800" dirty="0"/>
              <a:t>5</a:t>
            </a:r>
            <a:r>
              <a:rPr lang="zh-CN" altLang="en-US" sz="2800" dirty="0"/>
              <a:t>）阶为</a:t>
            </a:r>
            <a:r>
              <a:rPr lang="en-US" altLang="zh-CN" sz="2800" dirty="0"/>
              <a:t>12</a:t>
            </a:r>
            <a:r>
              <a:rPr lang="zh-CN" altLang="en-US" sz="2800" dirty="0"/>
              <a:t>元素有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(12)= 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 (3) 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 (2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)=4</a:t>
            </a:r>
            <a:r>
              <a:rPr lang="zh-CN" altLang="en-US" sz="2800" dirty="0"/>
              <a:t>个；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6</a:t>
            </a:r>
            <a:r>
              <a:rPr lang="zh-CN" altLang="en-US" sz="2800" dirty="0"/>
              <a:t>，</a:t>
            </a:r>
            <a:r>
              <a:rPr lang="en-US" altLang="zh-CN" sz="2800" dirty="0"/>
              <a:t>7</a:t>
            </a:r>
            <a:r>
              <a:rPr lang="zh-CN" altLang="en-US" sz="2800" dirty="0"/>
              <a:t>，</a:t>
            </a:r>
            <a:r>
              <a:rPr lang="en-US" altLang="zh-CN" sz="2800" dirty="0"/>
              <a:t>11</a:t>
            </a:r>
            <a:r>
              <a:rPr lang="zh-CN" altLang="en-US" sz="2800" dirty="0"/>
              <a:t>模</a:t>
            </a:r>
            <a:r>
              <a:rPr lang="en-US" altLang="zh-CN" sz="2800" dirty="0"/>
              <a:t>13</a:t>
            </a:r>
            <a:r>
              <a:rPr lang="zh-CN" altLang="en-US" sz="2800" dirty="0"/>
              <a:t>的阶为</a:t>
            </a:r>
            <a:r>
              <a:rPr lang="en-US" altLang="zh-CN" sz="2800" dirty="0"/>
              <a:t>12</a:t>
            </a:r>
            <a:r>
              <a:rPr lang="zh-CN" altLang="en-US" sz="2800" dirty="0"/>
              <a:t>，等于</a:t>
            </a:r>
            <a:r>
              <a:rPr lang="en-US" altLang="zh-CN" sz="2800" dirty="0" err="1"/>
              <a:t>Φ</a:t>
            </a:r>
            <a:r>
              <a:rPr lang="en-US" altLang="zh-CN" sz="2800" dirty="0"/>
              <a:t>(13)</a:t>
            </a:r>
            <a:r>
              <a:rPr lang="zh-CN" altLang="en-US" sz="2800" dirty="0"/>
              <a:t>，所以</a:t>
            </a: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6</a:t>
            </a:r>
            <a:r>
              <a:rPr lang="zh-CN" altLang="en-US" sz="2800" dirty="0"/>
              <a:t>，</a:t>
            </a:r>
            <a:r>
              <a:rPr lang="en-US" altLang="zh-CN" sz="2800" dirty="0"/>
              <a:t>7</a:t>
            </a:r>
            <a:r>
              <a:rPr lang="zh-CN" altLang="en-US" sz="2800" dirty="0"/>
              <a:t>，</a:t>
            </a:r>
            <a:r>
              <a:rPr lang="en-US" altLang="zh-CN" sz="2800" dirty="0"/>
              <a:t>11</a:t>
            </a:r>
            <a:r>
              <a:rPr lang="zh-CN" altLang="en-US" sz="2800" dirty="0"/>
              <a:t>是模</a:t>
            </a:r>
            <a:r>
              <a:rPr lang="en-US" altLang="zh-CN" sz="2800" dirty="0"/>
              <a:t>13</a:t>
            </a:r>
            <a:r>
              <a:rPr lang="zh-CN" altLang="en-US" sz="2800" dirty="0"/>
              <a:t>的本原根</a:t>
            </a:r>
            <a:r>
              <a:rPr lang="en-US" altLang="zh-CN" sz="2800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28738"/>
            <a:ext cx="8569325" cy="4525962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p</a:t>
            </a:r>
            <a:r>
              <a:rPr lang="zh-CN" altLang="en-US" dirty="0"/>
              <a:t>互素，且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en-US" altLang="zh-CN" dirty="0"/>
              <a:t>p</a:t>
            </a:r>
            <a:r>
              <a:rPr lang="zh-CN" altLang="en-US" dirty="0"/>
              <a:t>的本原根，则其幂：</a:t>
            </a:r>
            <a:r>
              <a:rPr lang="en-US" altLang="zh-CN" dirty="0"/>
              <a:t>a</a:t>
            </a:r>
            <a:r>
              <a:rPr lang="en-US" altLang="zh-CN" baseline="30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a </a:t>
            </a:r>
            <a:r>
              <a:rPr lang="en-US" altLang="zh-CN" baseline="30000" dirty="0"/>
              <a:t>Φ(p)</a:t>
            </a:r>
            <a:r>
              <a:rPr lang="zh-CN" altLang="en-US" dirty="0"/>
              <a:t>模</a:t>
            </a:r>
            <a:r>
              <a:rPr lang="en-US" altLang="zh-CN" dirty="0"/>
              <a:t>p</a:t>
            </a:r>
            <a:r>
              <a:rPr lang="zh-CN" altLang="en-US" dirty="0"/>
              <a:t>两两不同余，且均与</a:t>
            </a:r>
            <a:r>
              <a:rPr lang="en-US" altLang="zh-CN" dirty="0"/>
              <a:t>p</a:t>
            </a:r>
            <a:r>
              <a:rPr lang="zh-CN" altLang="en-US" dirty="0"/>
              <a:t>互素。</a:t>
            </a:r>
          </a:p>
          <a:p>
            <a:pPr>
              <a:defRPr/>
            </a:pPr>
            <a:r>
              <a:rPr lang="zh-CN" altLang="en-US" dirty="0"/>
              <a:t>特别的，如果</a:t>
            </a:r>
            <a:r>
              <a:rPr lang="en-US" altLang="zh-CN" dirty="0"/>
              <a:t>p</a:t>
            </a:r>
            <a:r>
              <a:rPr lang="zh-CN" altLang="en-US" dirty="0"/>
              <a:t>为素数，则对其本原根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(p-1)</a:t>
            </a:r>
            <a:r>
              <a:rPr lang="zh-CN" altLang="en-US" dirty="0"/>
              <a:t>的各次幂恰好可产生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(p-1)</a:t>
            </a:r>
            <a:r>
              <a:rPr lang="zh-CN" altLang="en-US" dirty="0"/>
              <a:t>每个整数一次且仅一次。</a:t>
            </a:r>
            <a:endParaRPr lang="en-US" altLang="zh-CN" dirty="0"/>
          </a:p>
          <a:p>
            <a:r>
              <a:rPr lang="zh-CN" altLang="en-US" dirty="0"/>
              <a:t>即</a:t>
            </a:r>
            <a:r>
              <a:rPr lang="en-US" altLang="zh-CN" dirty="0"/>
              <a:t>{</a:t>
            </a:r>
            <a:r>
              <a:rPr lang="en-US" altLang="zh-CN" i="1" dirty="0"/>
              <a:t>a </a:t>
            </a:r>
            <a:r>
              <a:rPr lang="en-US" altLang="zh-CN" dirty="0"/>
              <a:t>mod </a:t>
            </a:r>
            <a:r>
              <a:rPr lang="en-US" altLang="zh-CN" i="1" dirty="0"/>
              <a:t>p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 mod</a:t>
            </a:r>
            <a:r>
              <a:rPr lang="en-US" altLang="zh-CN" i="1" dirty="0"/>
              <a:t> p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p</a:t>
            </a:r>
            <a:r>
              <a:rPr lang="en-US" altLang="zh-CN" baseline="30000" dirty="0"/>
              <a:t>-1 </a:t>
            </a:r>
            <a:r>
              <a:rPr lang="en-US" altLang="zh-CN" dirty="0"/>
              <a:t>mod </a:t>
            </a:r>
            <a:r>
              <a:rPr lang="en-US" altLang="zh-CN" i="1" dirty="0"/>
              <a:t>p</a:t>
            </a: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i="1" dirty="0"/>
              <a:t>    =</a:t>
            </a:r>
            <a:r>
              <a:rPr lang="en-US" altLang="zh-CN" dirty="0"/>
              <a:t> 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p-1}=</a:t>
            </a:r>
            <a:r>
              <a:rPr lang="en-US" altLang="zh-CN" i="1" dirty="0"/>
              <a:t> </a:t>
            </a:r>
            <a:r>
              <a:rPr lang="en-US" altLang="zh-CN" i="1" dirty="0" err="1"/>
              <a:t>Z</a:t>
            </a:r>
            <a:r>
              <a:rPr lang="en-US" altLang="zh-CN" i="1" baseline="-25000" dirty="0" err="1"/>
              <a:t>p</a:t>
            </a:r>
            <a:r>
              <a:rPr lang="en-US" altLang="zh-CN" baseline="30000" dirty="0"/>
              <a:t>*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离散对数</a:t>
            </a:r>
            <a:endParaRPr lang="zh-CN" altLang="zh-CN" dirty="0"/>
          </a:p>
        </p:txBody>
      </p:sp>
      <p:sp>
        <p:nvSpPr>
          <p:cNvPr id="221186" name="Rectangle 2"/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29600" cy="4321175"/>
          </a:xfrm>
        </p:spPr>
        <p:txBody>
          <a:bodyPr>
            <a:normAutofit fontScale="92500" lnSpcReduction="20000"/>
          </a:bodyPr>
          <a:lstStyle/>
          <a:p>
            <a:pPr>
              <a:buNone/>
              <a:defRPr/>
            </a:pPr>
            <a:r>
              <a:rPr lang="zh-CN" altLang="en-US" sz="2800" dirty="0"/>
              <a:t>对某素数</a:t>
            </a:r>
            <a:r>
              <a:rPr lang="en-US" altLang="zh-CN" sz="2800" dirty="0"/>
              <a:t>p</a:t>
            </a:r>
            <a:r>
              <a:rPr lang="zh-CN" altLang="en-US" sz="2800" dirty="0"/>
              <a:t>的本原根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zh-CN" altLang="en-US" sz="2800" dirty="0"/>
              <a:t>的</a:t>
            </a:r>
            <a:r>
              <a:rPr lang="en-US" altLang="zh-CN" sz="2800" dirty="0"/>
              <a:t>1</a:t>
            </a:r>
            <a:r>
              <a:rPr lang="zh-CN" altLang="en-US" sz="2800" dirty="0"/>
              <a:t>到</a:t>
            </a:r>
            <a:r>
              <a:rPr lang="en-US" altLang="zh-CN" sz="2800" dirty="0"/>
              <a:t>(p-1)</a:t>
            </a:r>
            <a:r>
              <a:rPr lang="zh-CN" altLang="en-US" sz="2800" dirty="0"/>
              <a:t>的各次幂恰好能产生</a:t>
            </a:r>
            <a:r>
              <a:rPr lang="en-US" altLang="zh-CN" sz="2800" dirty="0"/>
              <a:t>1</a:t>
            </a:r>
            <a:r>
              <a:rPr lang="zh-CN" altLang="en-US" sz="2800" dirty="0"/>
              <a:t>到</a:t>
            </a:r>
            <a:r>
              <a:rPr lang="en-US" altLang="zh-CN" sz="2800" dirty="0"/>
              <a:t>(p-1)</a:t>
            </a:r>
            <a:r>
              <a:rPr lang="zh-CN" altLang="en-US" sz="2800" dirty="0"/>
              <a:t>的每个整数一次且一次</a:t>
            </a:r>
            <a:endParaRPr lang="en-US" altLang="zh-CN" sz="2800" dirty="0"/>
          </a:p>
          <a:p>
            <a:pPr>
              <a:buNone/>
              <a:defRPr/>
            </a:pPr>
            <a:r>
              <a:rPr lang="zh-CN" altLang="en-US" sz="2800" dirty="0"/>
              <a:t>对何整数</a:t>
            </a:r>
            <a:r>
              <a:rPr lang="en-US" altLang="zh-CN" sz="2800" dirty="0"/>
              <a:t>b</a:t>
            </a:r>
            <a:r>
              <a:rPr lang="zh-CN" altLang="en-US" sz="2800" dirty="0"/>
              <a:t>，</a:t>
            </a:r>
            <a:r>
              <a:rPr lang="en-US" altLang="zh-CN" sz="2800" dirty="0"/>
              <a:t>0&lt;b≤p-1</a:t>
            </a:r>
            <a:r>
              <a:rPr lang="zh-CN" altLang="en-US" sz="2800" dirty="0"/>
              <a:t>，必定有：</a:t>
            </a:r>
            <a:endParaRPr lang="en-US" altLang="zh-CN" sz="2800" dirty="0"/>
          </a:p>
          <a:p>
            <a:pPr algn="ctr">
              <a:buNone/>
              <a:defRPr/>
            </a:pPr>
            <a:r>
              <a:rPr lang="en-US" altLang="zh-CN" sz="2800" dirty="0"/>
              <a:t>b=</a:t>
            </a:r>
            <a:r>
              <a:rPr lang="en-US" altLang="zh-CN" sz="2800" i="1" dirty="0" err="1"/>
              <a:t>a</a:t>
            </a:r>
            <a:r>
              <a:rPr lang="en-US" altLang="zh-CN" sz="2800" baseline="30000" dirty="0" err="1"/>
              <a:t>r</a:t>
            </a:r>
            <a:r>
              <a:rPr lang="en-US" altLang="zh-CN" sz="2800" baseline="30000" dirty="0"/>
              <a:t> </a:t>
            </a:r>
            <a:r>
              <a:rPr lang="en-US" altLang="zh-CN" sz="2800" dirty="0"/>
              <a:t>mod </a:t>
            </a:r>
            <a:r>
              <a:rPr lang="en-US" altLang="zh-CN" sz="2800" i="1" dirty="0"/>
              <a:t>p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>
              <a:buNone/>
              <a:defRPr/>
            </a:pPr>
            <a:r>
              <a:rPr lang="zh-CN" altLang="en-US" sz="2800" dirty="0"/>
              <a:t>其中</a:t>
            </a:r>
            <a:r>
              <a:rPr lang="en-US" altLang="zh-CN" sz="2800" dirty="0"/>
              <a:t>0&lt;r≤p-1</a:t>
            </a:r>
            <a:r>
              <a:rPr lang="zh-CN" altLang="en-US" sz="2800" dirty="0"/>
              <a:t>，只考虑非零元素，</a:t>
            </a:r>
            <a:endParaRPr lang="en-US" altLang="zh-CN" sz="2800" dirty="0"/>
          </a:p>
          <a:p>
            <a:pPr eaLnBrk="1" hangingPunct="1">
              <a:buNone/>
              <a:defRPr/>
            </a:pPr>
            <a:r>
              <a:rPr lang="zh-CN" altLang="en-US" sz="2800" dirty="0"/>
              <a:t>因此对任意非零整数</a:t>
            </a:r>
            <a:r>
              <a:rPr lang="en-US" altLang="zh-CN" sz="2800" dirty="0"/>
              <a:t>b</a:t>
            </a:r>
            <a:r>
              <a:rPr lang="zh-CN" altLang="en-US" sz="2800" dirty="0"/>
              <a:t>、素数</a:t>
            </a:r>
            <a:r>
              <a:rPr lang="en-US" altLang="zh-CN" sz="2800" dirty="0"/>
              <a:t>p</a:t>
            </a:r>
            <a:r>
              <a:rPr lang="zh-CN" altLang="en-US" sz="2800" dirty="0"/>
              <a:t>的本原根</a:t>
            </a:r>
            <a:r>
              <a:rPr lang="en-US" altLang="zh-CN" sz="2800" dirty="0"/>
              <a:t>a,</a:t>
            </a:r>
            <a:r>
              <a:rPr lang="zh-CN" altLang="en-US" sz="2800" dirty="0"/>
              <a:t>有唯一整数</a:t>
            </a:r>
            <a:r>
              <a:rPr lang="en-US" altLang="zh-CN" sz="2800" dirty="0" err="1"/>
              <a:t>i</a:t>
            </a:r>
            <a:r>
              <a:rPr lang="zh-CN" altLang="en-US" sz="2800" dirty="0"/>
              <a:t>，使得：</a:t>
            </a:r>
          </a:p>
          <a:p>
            <a:pPr algn="ctr">
              <a:buNone/>
              <a:defRPr/>
            </a:pPr>
            <a:r>
              <a:rPr lang="zh-CN" altLang="en-US" sz="2800" dirty="0"/>
              <a:t>   </a:t>
            </a:r>
            <a:r>
              <a:rPr lang="en-US" altLang="zh-CN" sz="2800" dirty="0"/>
              <a:t>b=</a:t>
            </a:r>
            <a:r>
              <a:rPr lang="en-US" altLang="zh-CN" sz="2800" i="1" dirty="0"/>
              <a:t>a</a:t>
            </a:r>
            <a:r>
              <a:rPr lang="en-US" altLang="zh-CN" sz="2800" baseline="30000" dirty="0"/>
              <a:t>i </a:t>
            </a:r>
            <a:r>
              <a:rPr lang="en-US" altLang="zh-CN" sz="2800" dirty="0"/>
              <a:t>mod </a:t>
            </a:r>
            <a:r>
              <a:rPr lang="en-US" altLang="zh-CN" sz="2800" i="1" dirty="0"/>
              <a:t>p</a:t>
            </a:r>
            <a:r>
              <a:rPr lang="en-US" altLang="zh-CN" sz="2800" dirty="0"/>
              <a:t>,</a:t>
            </a:r>
          </a:p>
          <a:p>
            <a:pPr>
              <a:buNone/>
              <a:defRPr/>
            </a:pPr>
            <a:r>
              <a:rPr lang="zh-CN" altLang="en-US" sz="2800" dirty="0"/>
              <a:t>其中</a:t>
            </a:r>
            <a:r>
              <a:rPr lang="en-US" altLang="zh-CN" sz="2800" dirty="0"/>
              <a:t>1≤i≤(p-1)</a:t>
            </a:r>
            <a:r>
              <a:rPr lang="zh-CN" altLang="en-US" sz="2800" dirty="0"/>
              <a:t>，该指数</a:t>
            </a:r>
            <a:r>
              <a:rPr lang="en-US" altLang="zh-CN" sz="2800" dirty="0" err="1"/>
              <a:t>i</a:t>
            </a:r>
            <a:r>
              <a:rPr lang="zh-CN" altLang="en-US" sz="2800" dirty="0"/>
              <a:t>称为以</a:t>
            </a:r>
            <a:r>
              <a:rPr lang="en-US" altLang="zh-CN" sz="2800" dirty="0"/>
              <a:t>a</a:t>
            </a:r>
            <a:r>
              <a:rPr lang="zh-CN" altLang="en-US" sz="2800" dirty="0"/>
              <a:t>为底</a:t>
            </a:r>
            <a:r>
              <a:rPr lang="en-US" altLang="zh-CN" sz="2800" dirty="0"/>
              <a:t>(</a:t>
            </a:r>
            <a:r>
              <a:rPr lang="zh-CN" altLang="en-US" sz="2800" dirty="0"/>
              <a:t>模</a:t>
            </a:r>
            <a:r>
              <a:rPr lang="en-US" altLang="zh-CN" sz="2800" dirty="0"/>
              <a:t>p)b</a:t>
            </a:r>
            <a:r>
              <a:rPr lang="zh-CN" altLang="en-US" sz="2800" dirty="0"/>
              <a:t>的离散对数，记为</a:t>
            </a:r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err="1"/>
              <a:t>log</a:t>
            </a:r>
            <a:r>
              <a:rPr lang="en-US" altLang="zh-CN" sz="2800" baseline="-25000" dirty="0" err="1"/>
              <a:t>a,p</a:t>
            </a:r>
            <a:r>
              <a:rPr lang="en-US" altLang="zh-CN" sz="2800" dirty="0"/>
              <a:t>(b)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8264" y="494116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>
            <a:extLst>
              <a:ext uri="{FF2B5EF4-FFF2-40B4-BE49-F238E27FC236}">
                <a16:creationId xmlns:a16="http://schemas.microsoft.com/office/drawing/2014/main" id="{5DEA33A1-0780-4A6E-8F7C-206ED09F1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8" y="157163"/>
            <a:ext cx="7793037" cy="76835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离散对数</a:t>
            </a:r>
          </a:p>
        </p:txBody>
      </p:sp>
      <p:sp>
        <p:nvSpPr>
          <p:cNvPr id="97283" name="内容占位符 2">
            <a:extLst>
              <a:ext uri="{FF2B5EF4-FFF2-40B4-BE49-F238E27FC236}">
                <a16:creationId xmlns:a16="http://schemas.microsoft.com/office/drawing/2014/main" id="{6602C015-523B-448E-8D8F-2C79AA8944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4663" y="930275"/>
            <a:ext cx="8229600" cy="660400"/>
          </a:xfrm>
        </p:spPr>
        <p:txBody>
          <a:bodyPr/>
          <a:lstStyle/>
          <a:p>
            <a:pPr algn="ctr"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模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19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的离散对数表</a:t>
            </a:r>
          </a:p>
        </p:txBody>
      </p:sp>
      <p:pic>
        <p:nvPicPr>
          <p:cNvPr id="97284" name="图片 3" descr="屏幕剪辑">
            <a:extLst>
              <a:ext uri="{FF2B5EF4-FFF2-40B4-BE49-F238E27FC236}">
                <a16:creationId xmlns:a16="http://schemas.microsoft.com/office/drawing/2014/main" id="{B3C2D110-7AFA-4983-978C-AEDC33A43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1916113"/>
            <a:ext cx="9109075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图片 4" descr="屏幕剪辑">
            <a:extLst>
              <a:ext uri="{FF2B5EF4-FFF2-40B4-BE49-F238E27FC236}">
                <a16:creationId xmlns:a16="http://schemas.microsoft.com/office/drawing/2014/main" id="{32A31007-5068-4800-94CC-F0F36EB7F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3344863"/>
            <a:ext cx="90995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图片 5" descr="屏幕剪辑">
            <a:extLst>
              <a:ext uri="{FF2B5EF4-FFF2-40B4-BE49-F238E27FC236}">
                <a16:creationId xmlns:a16="http://schemas.microsoft.com/office/drawing/2014/main" id="{FE0692FB-DE36-4708-B324-E2BAA0479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4713288"/>
            <a:ext cx="907891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7" name="灯片编号占位符 1">
            <a:extLst>
              <a:ext uri="{FF2B5EF4-FFF2-40B4-BE49-F238E27FC236}">
                <a16:creationId xmlns:a16="http://schemas.microsoft.com/office/drawing/2014/main" id="{31DC5E89-54B5-4AC9-9ED8-9F0D9AF0E2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04263" y="6492875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245FCB-6B55-481F-9DC5-E84CC18470D0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57616B-C4B9-4956-8E3C-D1C1DBBF78D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2571750"/>
            <a:ext cx="899214" cy="349326"/>
          </a:xfrm>
          <a:prstGeom prst="rect">
            <a:avLst/>
          </a:prstGeom>
          <a:blipFill>
            <a:blip r:embed="rId6"/>
            <a:stretch>
              <a:fillRect l="-680" r="-14966" b="-8772"/>
            </a:stretch>
          </a:blipFill>
        </p:spPr>
        <p:txBody>
          <a:bodyPr/>
          <a:lstStyle/>
          <a:p>
            <a:r>
              <a:rPr lang="en-CA">
                <a:noFill/>
              </a:rPr>
              <a:t>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D22EAC-3D54-4A4B-A6C5-BA17B0EBB41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4023014"/>
            <a:ext cx="899214" cy="349326"/>
          </a:xfrm>
          <a:prstGeom prst="rect">
            <a:avLst/>
          </a:prstGeom>
          <a:blipFill>
            <a:blip r:embed="rId7"/>
            <a:stretch>
              <a:fillRect l="-680" r="-14966" b="-8772"/>
            </a:stretch>
          </a:blipFill>
        </p:spPr>
        <p:txBody>
          <a:bodyPr/>
          <a:lstStyle/>
          <a:p>
            <a:r>
              <a:rPr lang="en-CA">
                <a:noFill/>
              </a:rPr>
              <a:t>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D0ED33-B2E1-4AC8-9AFC-353E179EA33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86" y="5414134"/>
            <a:ext cx="899214" cy="349326"/>
          </a:xfrm>
          <a:prstGeom prst="rect">
            <a:avLst/>
          </a:prstGeom>
          <a:blipFill>
            <a:blip r:embed="rId8"/>
            <a:stretch>
              <a:fillRect l="-680" r="-23810" b="-8772"/>
            </a:stretch>
          </a:blipFill>
        </p:spPr>
        <p:txBody>
          <a:bodyPr/>
          <a:lstStyle/>
          <a:p>
            <a:r>
              <a:rPr lang="en-CA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89D146-D603-FAAA-0178-58FC26504C0F}"/>
                  </a:ext>
                </a:extLst>
              </p:cNvPr>
              <p:cNvSpPr txBox="1"/>
              <p:nvPr/>
            </p:nvSpPr>
            <p:spPr>
              <a:xfrm>
                <a:off x="119308" y="2025534"/>
                <a:ext cx="7566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89D146-D603-FAAA-0178-58FC26504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08" y="2025534"/>
                <a:ext cx="7566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A06F2ED-DAAF-EB57-5950-1D864D620A24}"/>
                  </a:ext>
                </a:extLst>
              </p:cNvPr>
              <p:cNvSpPr txBox="1"/>
              <p:nvPr/>
            </p:nvSpPr>
            <p:spPr>
              <a:xfrm>
                <a:off x="143690" y="3480871"/>
                <a:ext cx="7566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A06F2ED-DAAF-EB57-5950-1D864D620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90" y="3480871"/>
                <a:ext cx="75660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CBE0CE-2D7C-8230-8183-629B6C1449F2}"/>
                  </a:ext>
                </a:extLst>
              </p:cNvPr>
              <p:cNvSpPr txBox="1"/>
              <p:nvPr/>
            </p:nvSpPr>
            <p:spPr>
              <a:xfrm>
                <a:off x="178808" y="4810887"/>
                <a:ext cx="75660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7CBE0CE-2D7C-8230-8183-629B6C14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08" y="4810887"/>
                <a:ext cx="75660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077229"/>
            <a:ext cx="7772400" cy="57626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00CC99"/>
                </a:solidFill>
              </a:rPr>
              <a:t>离散对数的计算：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tx2"/>
                </a:solidFill>
              </a:rPr>
              <a:t>考虑一般形式的方程表示方式：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      </a:t>
            </a:r>
            <a:r>
              <a:rPr lang="en-US" altLang="zh-CN" b="1" dirty="0"/>
              <a:t>y=</a:t>
            </a:r>
            <a:r>
              <a:rPr lang="en-US" altLang="zh-CN" b="1" dirty="0" err="1"/>
              <a:t>g</a:t>
            </a:r>
            <a:r>
              <a:rPr lang="en-US" altLang="zh-CN" b="1" baseline="30000" dirty="0" err="1"/>
              <a:t>x</a:t>
            </a:r>
            <a:r>
              <a:rPr lang="en-US" altLang="zh-CN" b="1" dirty="0"/>
              <a:t> (mod p)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对于给定的</a:t>
            </a:r>
            <a:r>
              <a:rPr lang="en-US" altLang="zh-CN" b="1" dirty="0"/>
              <a:t>g</a:t>
            </a:r>
            <a:r>
              <a:rPr lang="zh-CN" altLang="en-US" b="1" dirty="0"/>
              <a:t>、</a:t>
            </a:r>
            <a:r>
              <a:rPr lang="en-US" altLang="zh-CN" b="1" dirty="0"/>
              <a:t>x</a:t>
            </a:r>
            <a:r>
              <a:rPr lang="zh-CN" altLang="en-US" b="1" dirty="0"/>
              <a:t>、</a:t>
            </a:r>
            <a:r>
              <a:rPr lang="en-US" altLang="zh-CN" b="1" dirty="0"/>
              <a:t>p</a:t>
            </a:r>
            <a:r>
              <a:rPr lang="zh-CN" altLang="en-US" b="1" dirty="0"/>
              <a:t>，可直接计算出</a:t>
            </a:r>
            <a:r>
              <a:rPr lang="en-US" altLang="zh-CN" b="1" dirty="0"/>
              <a:t>y</a:t>
            </a:r>
            <a:r>
              <a:rPr lang="zh-CN" altLang="en-US" b="1" dirty="0"/>
              <a:t>。在最坏情况下需执行</a:t>
            </a:r>
            <a:r>
              <a:rPr lang="en-US" altLang="zh-CN" b="1" dirty="0"/>
              <a:t>x</a:t>
            </a:r>
            <a:r>
              <a:rPr lang="zh-CN" altLang="en-US" b="1" dirty="0"/>
              <a:t>次乘法。但是，对于给定的</a:t>
            </a:r>
            <a:r>
              <a:rPr lang="en-US" altLang="zh-CN" b="1" dirty="0"/>
              <a:t>g</a:t>
            </a:r>
            <a:r>
              <a:rPr lang="zh-CN" altLang="en-US" b="1" dirty="0"/>
              <a:t>、</a:t>
            </a:r>
            <a:r>
              <a:rPr lang="en-US" altLang="zh-CN" b="1" dirty="0"/>
              <a:t>y</a:t>
            </a:r>
            <a:r>
              <a:rPr lang="zh-CN" altLang="en-US" b="1" dirty="0"/>
              <a:t>、</a:t>
            </a:r>
            <a:r>
              <a:rPr lang="en-US" altLang="zh-CN" b="1" dirty="0"/>
              <a:t>p</a:t>
            </a:r>
            <a:r>
              <a:rPr lang="zh-CN" altLang="en-US" b="1" dirty="0"/>
              <a:t>，当</a:t>
            </a:r>
            <a:r>
              <a:rPr lang="en-US" altLang="zh-CN" b="1" dirty="0"/>
              <a:t>p</a:t>
            </a:r>
            <a:r>
              <a:rPr lang="zh-CN" altLang="en-US" b="1" dirty="0"/>
              <a:t>值很大时，计算</a:t>
            </a:r>
            <a:r>
              <a:rPr lang="en-US" altLang="zh-CN" b="1" dirty="0"/>
              <a:t>x=</a:t>
            </a:r>
            <a:r>
              <a:rPr lang="en-US" altLang="zh-CN" b="1" dirty="0" err="1"/>
              <a:t>log</a:t>
            </a:r>
            <a:r>
              <a:rPr lang="en-US" altLang="zh-CN" b="1" baseline="-25000" dirty="0" err="1"/>
              <a:t>g,p</a:t>
            </a:r>
            <a:r>
              <a:rPr lang="en-US" altLang="zh-CN" b="1" dirty="0"/>
              <a:t>(y)</a:t>
            </a:r>
            <a:r>
              <a:rPr lang="zh-CN" altLang="en-US" b="1" dirty="0"/>
              <a:t>一般非常困难（即求离散对数）。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71600" y="981075"/>
            <a:ext cx="7772400" cy="60960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  <a:defRPr/>
            </a:pPr>
            <a:r>
              <a:rPr lang="zh-CN" altLang="en-US" b="1" dirty="0">
                <a:solidFill>
                  <a:srgbClr val="00CC99"/>
                </a:solidFill>
              </a:rPr>
              <a:t>思考题：</a:t>
            </a:r>
            <a:endParaRPr lang="zh-CN" altLang="en-US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dirty="0"/>
              <a:t>如果今天是星期一，问过</a:t>
            </a:r>
            <a:r>
              <a:rPr lang="en-US" altLang="zh-CN" dirty="0"/>
              <a:t>2</a:t>
            </a:r>
            <a:r>
              <a:rPr lang="en-US" altLang="zh-CN" baseline="30000" dirty="0"/>
              <a:t>2000</a:t>
            </a:r>
            <a:r>
              <a:rPr lang="zh-CN" altLang="en-US" dirty="0"/>
              <a:t>天后是星期几？</a:t>
            </a:r>
            <a:endParaRPr lang="en-US" altLang="zh-CN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dirty="0"/>
              <a:t>思路：</a:t>
            </a:r>
            <a:endParaRPr lang="en-US" altLang="zh-CN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dirty="0"/>
              <a:t>因为</a:t>
            </a:r>
            <a:r>
              <a:rPr lang="en-US" altLang="zh-CN" dirty="0" err="1"/>
              <a:t>gcd</a:t>
            </a:r>
            <a:r>
              <a:rPr lang="en-US" altLang="zh-CN" dirty="0"/>
              <a:t>(2,7)=1</a:t>
            </a:r>
            <a:r>
              <a:rPr lang="zh-CN" altLang="en-US" dirty="0"/>
              <a:t>，且</a:t>
            </a:r>
            <a:r>
              <a:rPr lang="en-US" altLang="zh-CN" dirty="0"/>
              <a:t>7</a:t>
            </a:r>
            <a:r>
              <a:rPr lang="zh-CN" altLang="en-US" dirty="0"/>
              <a:t>是素数，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effectLst/>
              </a:rPr>
              <a:t>所以，</a:t>
            </a:r>
            <a:r>
              <a:rPr lang="zh-CN" altLang="zh-CN" dirty="0">
                <a:effectLst/>
              </a:rPr>
              <a:t>2</a:t>
            </a:r>
            <a:r>
              <a:rPr lang="zh-CN" altLang="zh-CN" baseline="30000" dirty="0">
                <a:effectLst/>
              </a:rPr>
              <a:t>6</a:t>
            </a:r>
            <a:r>
              <a:rPr lang="zh-CN" altLang="zh-CN" dirty="0">
                <a:effectLst/>
              </a:rPr>
              <a:t> ≡1</a:t>
            </a:r>
            <a:r>
              <a:rPr lang="en-US" altLang="zh-CN" dirty="0">
                <a:effectLst/>
              </a:rPr>
              <a:t>(</a:t>
            </a:r>
            <a:r>
              <a:rPr lang="zh-CN" altLang="zh-CN" dirty="0">
                <a:effectLst/>
              </a:rPr>
              <a:t>mod 7</a:t>
            </a:r>
            <a:r>
              <a:rPr lang="en-US" altLang="zh-CN" dirty="0">
                <a:effectLst/>
              </a:rPr>
              <a:t>)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zh-CN" altLang="zh-CN" dirty="0">
                <a:effectLst/>
              </a:rPr>
              <a:t>且</a:t>
            </a:r>
            <a:r>
              <a:rPr lang="en-US" altLang="zh-CN" dirty="0">
                <a:effectLst/>
              </a:rPr>
              <a:t>2000=6</a:t>
            </a:r>
            <a:r>
              <a:rPr lang="zh-CN" altLang="zh-CN" dirty="0">
                <a:effectLst/>
              </a:rPr>
              <a:t>×</a:t>
            </a:r>
            <a:r>
              <a:rPr lang="en-US" altLang="zh-CN" dirty="0">
                <a:effectLst/>
              </a:rPr>
              <a:t>333+2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2</a:t>
            </a:r>
            <a:r>
              <a:rPr lang="en-US" altLang="zh-CN" baseline="30000" dirty="0">
                <a:effectLst/>
              </a:rPr>
              <a:t>2000</a:t>
            </a:r>
            <a:r>
              <a:rPr lang="zh-CN" altLang="zh-CN" dirty="0">
                <a:effectLst/>
              </a:rPr>
              <a:t>≡</a:t>
            </a:r>
            <a:r>
              <a:rPr lang="en-US" altLang="zh-CN" dirty="0">
                <a:effectLst/>
              </a:rPr>
              <a:t>2</a:t>
            </a:r>
            <a:r>
              <a:rPr lang="en-US" altLang="zh-CN" baseline="30000" dirty="0">
                <a:effectLst/>
              </a:rPr>
              <a:t>2</a:t>
            </a:r>
            <a:r>
              <a:rPr lang="en-US" altLang="zh-CN" dirty="0">
                <a:effectLst/>
              </a:rPr>
              <a:t>(mod 7)</a:t>
            </a:r>
            <a:r>
              <a:rPr lang="zh-CN" altLang="zh-CN" dirty="0">
                <a:effectLst/>
              </a:rPr>
              <a:t>＝</a:t>
            </a:r>
            <a:r>
              <a:rPr lang="en-US" altLang="zh-CN" dirty="0">
                <a:effectLst/>
              </a:rPr>
              <a:t>4</a:t>
            </a:r>
            <a:r>
              <a:rPr lang="zh-CN" altLang="zh-CN" dirty="0">
                <a:effectLst/>
              </a:rPr>
              <a:t>， 即过</a:t>
            </a:r>
            <a:r>
              <a:rPr lang="en-US" altLang="zh-CN" dirty="0">
                <a:effectLst/>
              </a:rPr>
              <a:t>2</a:t>
            </a:r>
            <a:r>
              <a:rPr lang="en-US" altLang="zh-CN" baseline="30000" dirty="0">
                <a:effectLst/>
              </a:rPr>
              <a:t>2000</a:t>
            </a:r>
            <a:r>
              <a:rPr lang="zh-CN" altLang="zh-CN" dirty="0">
                <a:effectLst/>
              </a:rPr>
              <a:t>天后是星期五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build="p"/>
    </p:bldLst>
  </p:timing>
</p:sld>
</file>

<file path=ppt/theme/theme1.xml><?xml version="1.0" encoding="utf-8"?>
<a:theme xmlns:a="http://schemas.openxmlformats.org/drawingml/2006/main" name="1_Default Design">
  <a:themeElements>
    <a:clrScheme name="1_Default Design 3">
      <a:dk1>
        <a:srgbClr val="1C1C1C"/>
      </a:dk1>
      <a:lt1>
        <a:srgbClr val="FFFFFF"/>
      </a:lt1>
      <a:dk2>
        <a:srgbClr val="080808"/>
      </a:dk2>
      <a:lt2>
        <a:srgbClr val="DDDDDD"/>
      </a:lt2>
      <a:accent1>
        <a:srgbClr val="5C414F"/>
      </a:accent1>
      <a:accent2>
        <a:srgbClr val="EC9F14"/>
      </a:accent2>
      <a:accent3>
        <a:srgbClr val="FFFFFF"/>
      </a:accent3>
      <a:accent4>
        <a:srgbClr val="161616"/>
      </a:accent4>
      <a:accent5>
        <a:srgbClr val="B5B0B2"/>
      </a:accent5>
      <a:accent6>
        <a:srgbClr val="D69011"/>
      </a:accent6>
      <a:hlink>
        <a:srgbClr val="B24476"/>
      </a:hlink>
      <a:folHlink>
        <a:srgbClr val="939932"/>
      </a:folHlink>
    </a:clrScheme>
    <a:fontScheme name="1_Default Design">
      <a:majorFont>
        <a:latin typeface="华文中宋"/>
        <a:ea typeface="华文中宋"/>
        <a:cs typeface=""/>
      </a:majorFont>
      <a:minorFont>
        <a:latin typeface="华文中宋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Default Design 1">
        <a:dk1>
          <a:srgbClr val="1C1C1C"/>
        </a:dk1>
        <a:lt1>
          <a:srgbClr val="FFFFFF"/>
        </a:lt1>
        <a:dk2>
          <a:srgbClr val="080808"/>
        </a:dk2>
        <a:lt2>
          <a:srgbClr val="DDDDDD"/>
        </a:lt2>
        <a:accent1>
          <a:srgbClr val="C59360"/>
        </a:accent1>
        <a:accent2>
          <a:srgbClr val="A6B16F"/>
        </a:accent2>
        <a:accent3>
          <a:srgbClr val="FFFFFF"/>
        </a:accent3>
        <a:accent4>
          <a:srgbClr val="161616"/>
        </a:accent4>
        <a:accent5>
          <a:srgbClr val="DFC8B6"/>
        </a:accent5>
        <a:accent6>
          <a:srgbClr val="96A064"/>
        </a:accent6>
        <a:hlink>
          <a:srgbClr val="A9AE9A"/>
        </a:hlink>
        <a:folHlink>
          <a:srgbClr val="DDC4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1C1C1C"/>
        </a:dk1>
        <a:lt1>
          <a:srgbClr val="FFFFFF"/>
        </a:lt1>
        <a:dk2>
          <a:srgbClr val="080808"/>
        </a:dk2>
        <a:lt2>
          <a:srgbClr val="DDDDDD"/>
        </a:lt2>
        <a:accent1>
          <a:srgbClr val="855BAD"/>
        </a:accent1>
        <a:accent2>
          <a:srgbClr val="5BACAD"/>
        </a:accent2>
        <a:accent3>
          <a:srgbClr val="FFFFFF"/>
        </a:accent3>
        <a:accent4>
          <a:srgbClr val="161616"/>
        </a:accent4>
        <a:accent5>
          <a:srgbClr val="C2B5D3"/>
        </a:accent5>
        <a:accent6>
          <a:srgbClr val="529B9C"/>
        </a:accent6>
        <a:hlink>
          <a:srgbClr val="FE941A"/>
        </a:hlink>
        <a:folHlink>
          <a:srgbClr val="FF669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1C1C1C"/>
        </a:dk1>
        <a:lt1>
          <a:srgbClr val="FFFFFF"/>
        </a:lt1>
        <a:dk2>
          <a:srgbClr val="080808"/>
        </a:dk2>
        <a:lt2>
          <a:srgbClr val="DDDDDD"/>
        </a:lt2>
        <a:accent1>
          <a:srgbClr val="5C414F"/>
        </a:accent1>
        <a:accent2>
          <a:srgbClr val="EC9F14"/>
        </a:accent2>
        <a:accent3>
          <a:srgbClr val="FFFFFF"/>
        </a:accent3>
        <a:accent4>
          <a:srgbClr val="161616"/>
        </a:accent4>
        <a:accent5>
          <a:srgbClr val="B5B0B2"/>
        </a:accent5>
        <a:accent6>
          <a:srgbClr val="D69011"/>
        </a:accent6>
        <a:hlink>
          <a:srgbClr val="B24476"/>
        </a:hlink>
        <a:folHlink>
          <a:srgbClr val="93993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Rh_026_finance</Template>
  <TotalTime>0</TotalTime>
  <Words>4279</Words>
  <Application>Microsoft Office PowerPoint</Application>
  <PresentationFormat>全屏显示(4:3)</PresentationFormat>
  <Paragraphs>501</Paragraphs>
  <Slides>42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5" baseType="lpstr">
      <vt:lpstr>方正姚体</vt:lpstr>
      <vt:lpstr>黑体</vt:lpstr>
      <vt:lpstr>华文中宋</vt:lpstr>
      <vt:lpstr>宋体</vt:lpstr>
      <vt:lpstr>Arial</vt:lpstr>
      <vt:lpstr>Calibri</vt:lpstr>
      <vt:lpstr>Cambria Math</vt:lpstr>
      <vt:lpstr>Symbol</vt:lpstr>
      <vt:lpstr>Times New Roman</vt:lpstr>
      <vt:lpstr>Webdings</vt:lpstr>
      <vt:lpstr>Wingdings</vt:lpstr>
      <vt:lpstr>1_Default Design</vt:lpstr>
      <vt:lpstr>Office Theme</vt:lpstr>
      <vt:lpstr>第4章  公钥加密 4.1 数论</vt:lpstr>
      <vt:lpstr>整除</vt:lpstr>
      <vt:lpstr>整除</vt:lpstr>
      <vt:lpstr>整除</vt:lpstr>
      <vt:lpstr>带余除法</vt:lpstr>
      <vt:lpstr>最大公因数</vt:lpstr>
      <vt:lpstr>PowerPoint 演示文稿</vt:lpstr>
      <vt:lpstr>PowerPoint 演示文稿</vt:lpstr>
      <vt:lpstr>素数</vt:lpstr>
      <vt:lpstr>素数</vt:lpstr>
      <vt:lpstr>素数</vt:lpstr>
      <vt:lpstr>素数</vt:lpstr>
      <vt:lpstr>同余</vt:lpstr>
      <vt:lpstr>同余</vt:lpstr>
      <vt:lpstr>同余</vt:lpstr>
      <vt:lpstr>欧几里德算法</vt:lpstr>
      <vt:lpstr>欧几里德算法举例</vt:lpstr>
      <vt:lpstr>欧几里德算法举例</vt:lpstr>
      <vt:lpstr>逆元 </vt:lpstr>
      <vt:lpstr>求逆元举例</vt:lpstr>
      <vt:lpstr>求逆元举例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中国剩余定理</vt:lpstr>
      <vt:lpstr>中国剩余定理</vt:lpstr>
      <vt:lpstr>中国剩余定理</vt:lpstr>
      <vt:lpstr>中国剩余定理</vt:lpstr>
      <vt:lpstr>PowerPoint 演示文稿</vt:lpstr>
      <vt:lpstr>PowerPoint 演示文稿</vt:lpstr>
      <vt:lpstr>离散对数</vt:lpstr>
      <vt:lpstr>PowerPoint 演示文稿</vt:lpstr>
      <vt:lpstr>PowerPoint 演示文稿</vt:lpstr>
      <vt:lpstr>PowerPoint 演示文稿</vt:lpstr>
      <vt:lpstr>离散对数</vt:lpstr>
      <vt:lpstr>离散对数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2014-05-03T15:41:19Z</dcterms:created>
  <dcterms:modified xsi:type="dcterms:W3CDTF">2024-10-12T05:42:25Z</dcterms:modified>
</cp:coreProperties>
</file>