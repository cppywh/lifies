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3"/>
  </p:notesMasterIdLst>
  <p:sldIdLst>
    <p:sldId id="286" r:id="rId2"/>
    <p:sldId id="394" r:id="rId3"/>
    <p:sldId id="363" r:id="rId4"/>
    <p:sldId id="426" r:id="rId5"/>
    <p:sldId id="418" r:id="rId6"/>
    <p:sldId id="396" r:id="rId7"/>
    <p:sldId id="397" r:id="rId8"/>
    <p:sldId id="366" r:id="rId9"/>
    <p:sldId id="398" r:id="rId10"/>
    <p:sldId id="421" r:id="rId11"/>
    <p:sldId id="399" r:id="rId12"/>
    <p:sldId id="400" r:id="rId13"/>
    <p:sldId id="401" r:id="rId14"/>
    <p:sldId id="410" r:id="rId15"/>
    <p:sldId id="369" r:id="rId16"/>
    <p:sldId id="392" r:id="rId17"/>
    <p:sldId id="371" r:id="rId18"/>
    <p:sldId id="373" r:id="rId19"/>
    <p:sldId id="402" r:id="rId20"/>
    <p:sldId id="374" r:id="rId21"/>
    <p:sldId id="403" r:id="rId22"/>
    <p:sldId id="393" r:id="rId23"/>
    <p:sldId id="375" r:id="rId24"/>
    <p:sldId id="378" r:id="rId25"/>
    <p:sldId id="404" r:id="rId26"/>
    <p:sldId id="379" r:id="rId27"/>
    <p:sldId id="380" r:id="rId28"/>
    <p:sldId id="381" r:id="rId29"/>
    <p:sldId id="382" r:id="rId30"/>
    <p:sldId id="405" r:id="rId31"/>
    <p:sldId id="415" r:id="rId32"/>
    <p:sldId id="423" r:id="rId33"/>
    <p:sldId id="424" r:id="rId34"/>
    <p:sldId id="417" r:id="rId35"/>
    <p:sldId id="362" r:id="rId36"/>
    <p:sldId id="422" r:id="rId37"/>
    <p:sldId id="341" r:id="rId38"/>
    <p:sldId id="342" r:id="rId39"/>
    <p:sldId id="343" r:id="rId40"/>
    <p:sldId id="344" r:id="rId41"/>
    <p:sldId id="414" r:id="rId4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77557" autoAdjust="0"/>
  </p:normalViewPr>
  <p:slideViewPr>
    <p:cSldViewPr>
      <p:cViewPr varScale="1">
        <p:scale>
          <a:sx n="125" d="100"/>
          <a:sy n="125" d="100"/>
        </p:scale>
        <p:origin x="263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8B5C3B6-E309-B2E9-7333-9FCC7104B6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EEDAFAB-4109-8852-9C1B-B142F11C79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A91D4F59-DBA6-1CD0-4C51-09C7960E6CB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0650E332-E2CE-5106-0239-82C3707939F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CF5E02FD-4F43-819D-760D-F0E31DE0A5D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E7B42ADF-877E-B904-68F6-BF4D07E987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E5E4AF-C11E-4943-934A-73AA59D809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5E4AF-C11E-4943-934A-73AA59D809D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784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9405552-B664-9F2D-861A-C5F4FA554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4CCE47-CDDF-4508-A91D-7AC5ED41BADE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A43FE72-137A-FE08-694B-846D74E1E9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D5B0F04-A880-7B37-C5CD-F580FAAA3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求相应的逆置换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0B9C4C8-7508-DE58-54FF-6D6B6D57D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BD19C6-9338-4DE9-8CBA-5BFFE760C363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5603" name="幻灯片图像占位符 1">
            <a:extLst>
              <a:ext uri="{FF2B5EF4-FFF2-40B4-BE49-F238E27FC236}">
                <a16:creationId xmlns:a16="http://schemas.microsoft.com/office/drawing/2014/main" id="{F1240183-0A38-464B-C062-E67266177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备注占位符 2">
            <a:extLst>
              <a:ext uri="{FF2B5EF4-FFF2-40B4-BE49-F238E27FC236}">
                <a16:creationId xmlns:a16="http://schemas.microsoft.com/office/drawing/2014/main" id="{35159A1B-262A-DD5F-6A68-17099BBAB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5605" name="灯片编号占位符 3">
            <a:extLst>
              <a:ext uri="{FF2B5EF4-FFF2-40B4-BE49-F238E27FC236}">
                <a16:creationId xmlns:a16="http://schemas.microsoft.com/office/drawing/2014/main" id="{93E2BA0C-4EC1-A530-62BB-BDFCE1E6592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13785F-9477-49C9-BDBD-2C4576FA458A}" type="slidenum">
              <a:rPr kumimoji="0" lang="zh-CN" altLang="en-US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kumimoji="0"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395806F0-BB1E-FED1-34E9-EFC7746147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C0C8B7-DB89-41D2-8F19-F80139C334B6}" type="slidenum">
              <a:rPr lang="en-US" altLang="zh-CN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F40710EA-B7CA-E187-BDDD-EF375089A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4B052D0-C596-853F-E12B-1C0E359F9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求相应的逆置换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0AFA4AB-6F42-39FC-B50E-9625961BC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B2A7C5-E2E3-4264-8550-68127E50FBA5}" type="slidenum">
              <a:rPr lang="en-US" altLang="zh-CN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C9F8F710-7CD7-64BA-5A88-CAB36A703A4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5AABF3-AD8F-44D6-9DC0-9151701D5533}" type="slidenum">
              <a:rPr lang="en-US" altLang="zh-CN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64188AD2-93F2-62BF-070B-35EEA0EE6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74813469-318C-CF58-4B40-E0A0A58B9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1085742F-A170-DEA5-9CB7-E5398FB26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5AEE0DE-7B3C-437A-A45A-C1E443275C91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4F08F416-2C3A-447D-2EA9-BB2389D12DE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0EC99B-5C4D-46F5-8AFD-2D7C54D90BEA}" type="slidenum">
              <a:rPr lang="en-US" altLang="zh-CN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44655AA7-3BF3-0BA6-3250-75B860A01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31077B37-5C51-C811-204A-2B6FD6AAD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E6EBC76-0FF9-5DCB-10F8-0FB002980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222AD8-32A7-4F93-96CB-AF65F12E6327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88033A42-8126-BD3E-7D9B-9F6FD2128E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6E259C8-942B-41FF-9717-0177DEBB3C1E}" type="slidenum">
              <a:rPr lang="en-US" altLang="zh-CN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5A8D9BAE-4A85-6D6A-5ABF-B70154715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E699D90F-B9C2-8842-66DD-C6E1F8890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2D3C0B7-BE62-2C4A-6681-3068317E0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519F8A-6B65-471B-96A8-E646C20B7F62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39939" name="Rectangle 7">
            <a:extLst>
              <a:ext uri="{FF2B5EF4-FFF2-40B4-BE49-F238E27FC236}">
                <a16:creationId xmlns:a16="http://schemas.microsoft.com/office/drawing/2014/main" id="{30183CDA-A8CF-AE56-0C3E-76AF905EA4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DEF792B-2FE3-49DE-AF9A-F4D64469FFD9}" type="slidenum">
              <a:rPr lang="en-US" altLang="zh-CN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5A88AD7A-BC59-3F3C-16DE-5BB0ADF6B6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AE3CE335-A755-76D5-D37C-A7EDB285A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873A0E8-CD38-DE6C-7EF5-0266D4BC6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E893331-B024-49A1-A947-1E752F936C89}" type="slidenum">
              <a:rPr lang="en-US" altLang="zh-CN" smtClean="0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6D741809-1B87-0D4A-4D44-B45F184102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F6F3E7-BE09-4B3D-912C-2AA812014059}" type="slidenum">
              <a:rPr lang="en-US" altLang="zh-CN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BA0F1AA7-CB4C-5375-0550-452CE236CF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23C65C99-1EF8-5E20-3336-3C04DE42A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FA606BF-D78F-0587-2287-7EB387F59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38527A-190A-4FCA-9925-56ADEFCD4154}" type="slidenum">
              <a:rPr lang="en-US" altLang="zh-CN" smtClean="0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936A6A57-6595-FE70-023D-9F190DBC9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49CFB17-0D0D-C643-BD5B-6EA7B7151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分析三个函数的扩散和混淆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47186C87-31B0-2078-896D-316A2E38D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ED1D4F07-9F56-0429-F39D-7D75F9955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DES</a:t>
            </a:r>
            <a:r>
              <a:rPr lang="zh-CN" altLang="en-US">
                <a:latin typeface="Times New Roman" panose="02020603050405020304" pitchFamily="18" charset="0"/>
              </a:rPr>
              <a:t>加密算法的密钥扩展算法需要用到两个缩减变换</a:t>
            </a:r>
            <a:r>
              <a:rPr lang="en-US" altLang="zh-CN" i="1">
                <a:latin typeface="Times New Roman" panose="02020603050405020304" pitchFamily="18" charset="0"/>
              </a:rPr>
              <a:t>PC-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PC-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，其中</a:t>
            </a:r>
            <a:r>
              <a:rPr lang="en-US" altLang="zh-CN" i="1">
                <a:latin typeface="Times New Roman" panose="02020603050405020304" pitchFamily="18" charset="0"/>
              </a:rPr>
              <a:t>PC-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是将</a:t>
            </a:r>
            <a:r>
              <a:rPr lang="en-US" altLang="zh-CN">
                <a:latin typeface="Times New Roman" panose="02020603050405020304" pitchFamily="18" charset="0"/>
              </a:rPr>
              <a:t>64</a:t>
            </a:r>
            <a:r>
              <a:rPr lang="zh-CN" altLang="en-US">
                <a:latin typeface="Times New Roman" panose="02020603050405020304" pitchFamily="18" charset="0"/>
              </a:rPr>
              <a:t>比特长的串缩减为</a:t>
            </a:r>
            <a:r>
              <a:rPr lang="en-US" altLang="zh-CN">
                <a:latin typeface="Times New Roman" panose="02020603050405020304" pitchFamily="18" charset="0"/>
              </a:rPr>
              <a:t>56</a:t>
            </a:r>
            <a:r>
              <a:rPr lang="zh-CN" altLang="en-US">
                <a:latin typeface="Times New Roman" panose="02020603050405020304" pitchFamily="18" charset="0"/>
              </a:rPr>
              <a:t>比特；</a:t>
            </a:r>
            <a:r>
              <a:rPr lang="en-US" altLang="zh-CN" i="1">
                <a:latin typeface="Times New Roman" panose="02020603050405020304" pitchFamily="18" charset="0"/>
              </a:rPr>
              <a:t>PC-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是将</a:t>
            </a:r>
            <a:r>
              <a:rPr lang="en-US" altLang="zh-CN">
                <a:latin typeface="Times New Roman" panose="02020603050405020304" pitchFamily="18" charset="0"/>
              </a:rPr>
              <a:t>56</a:t>
            </a:r>
            <a:r>
              <a:rPr lang="zh-CN" altLang="en-US">
                <a:latin typeface="Times New Roman" panose="02020603050405020304" pitchFamily="18" charset="0"/>
              </a:rPr>
              <a:t>比特长的串缩减为</a:t>
            </a:r>
            <a:r>
              <a:rPr lang="en-US" altLang="zh-CN">
                <a:latin typeface="Times New Roman" panose="02020603050405020304" pitchFamily="18" charset="0"/>
              </a:rPr>
              <a:t>48</a:t>
            </a:r>
            <a:r>
              <a:rPr lang="zh-CN" altLang="en-US">
                <a:latin typeface="Times New Roman" panose="02020603050405020304" pitchFamily="18" charset="0"/>
              </a:rPr>
              <a:t>比特。</a:t>
            </a:r>
          </a:p>
          <a:p>
            <a:endParaRPr lang="en-CA" altLang="zh-CN">
              <a:latin typeface="Arial" panose="020B0604020202020204" pitchFamily="34" charset="0"/>
            </a:endParaRPr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33416C07-E852-6D57-EB24-40A2934AAA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AF5627F-FDB2-4B6C-B687-6E966717E9B4}" type="slidenum">
              <a:rPr kumimoji="0" lang="en-US" altLang="zh-CN" sz="1200" smtClean="0">
                <a:latin typeface="Arial" panose="020B0604020202020204" pitchFamily="34" charset="0"/>
              </a:rPr>
              <a:pPr/>
              <a:t>24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420F5DE9-4273-C12F-6F25-238727554B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5C6662-844A-413A-BA54-624C63CBC614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95E3BAC-4F98-DB23-C86F-75180110A6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193B1C8-9CE6-3056-B650-DEA14ED0E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5E4AF-C11E-4943-934A-73AA59D809DC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349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0C434B89-19F2-8C01-D884-2D0A4C2BD2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1950A43C-6B50-58C0-947C-B4AF6D15A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b="1" dirty="0">
                <a:solidFill>
                  <a:srgbClr val="4B4B4B"/>
                </a:solidFill>
                <a:latin typeface="Verdana" panose="020B0604030504040204" pitchFamily="34" charset="0"/>
              </a:rPr>
              <a:t>中间相遇攻击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：一种对所有分组密码均有效的攻击方法</a:t>
            </a:r>
          </a:p>
          <a:p>
            <a:pPr algn="just"/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　　以双重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DES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位例，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C = E(K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2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,E(K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1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,P)) 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。首先设定一个中间值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X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，有</a:t>
            </a:r>
            <a:endParaRPr lang="zh-CN" altLang="en-US" dirty="0">
              <a:solidFill>
                <a:srgbClr val="4B4B4B"/>
              </a:solidFill>
              <a:latin typeface="Verdana" panose="020B0604030504040204" pitchFamily="34" charset="0"/>
            </a:endParaRPr>
          </a:p>
          <a:p>
            <a:pPr algn="just"/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　　　　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X = E(K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1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,P) = D(K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2</a:t>
            </a:r>
            <a:r>
              <a:rPr lang="en-US" altLang="zh-CN" dirty="0">
                <a:solidFill>
                  <a:srgbClr val="4B4B4B"/>
                </a:solidFill>
                <a:latin typeface="Verdana" panose="020B0604030504040204" pitchFamily="34" charset="0"/>
              </a:rPr>
              <a:t>,C)</a:t>
            </a:r>
          </a:p>
          <a:p>
            <a:pPr algn="just"/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　　给定明密文对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(P,C),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首先，将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P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按所有可能的密钥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1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加密，得到的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2</a:t>
            </a:r>
            <a:r>
              <a:rPr lang="en-US" altLang="zh-CN" baseline="30000" dirty="0">
                <a:solidFill>
                  <a:srgbClr val="4B4B4B"/>
                </a:solidFill>
                <a:latin typeface="Verdana" panose="020B0604030504040204" pitchFamily="34" charset="0"/>
              </a:rPr>
              <a:t>56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个结果按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X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的值排序放在一个表内，然后将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C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用所有可能的密钥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K</a:t>
            </a:r>
            <a:r>
              <a:rPr lang="en-US" altLang="zh-CN" baseline="-25000" dirty="0">
                <a:solidFill>
                  <a:srgbClr val="4B4B4B"/>
                </a:solidFill>
                <a:latin typeface="Verdana" panose="020B0604030504040204" pitchFamily="34" charset="0"/>
              </a:rPr>
              <a:t>2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解密，每解密一次，将解密结果与表中的值比较，如果由相等的，就将刚才测试的两个密钥对一个新的明密文对进行验证，若验证成功，则认定这两个密钥对是正确的密钥。</a:t>
            </a:r>
            <a:endParaRPr lang="en-CA" altLang="zh-CN" dirty="0">
              <a:solidFill>
                <a:srgbClr val="4B4B4B"/>
              </a:solidFill>
              <a:latin typeface="Verdana" panose="020B0604030504040204" pitchFamily="34" charset="0"/>
            </a:endParaRPr>
          </a:p>
          <a:p>
            <a:pPr algn="just"/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结论：中间相遇攻击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使用两组已知明密文对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就可以猜出正确的密钥，其时间复杂度是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2</a:t>
            </a:r>
            <a:r>
              <a:rPr lang="en-US" altLang="zh-CN" baseline="30000" dirty="0">
                <a:solidFill>
                  <a:srgbClr val="4B4B4B"/>
                </a:solidFill>
                <a:latin typeface="Verdana" panose="020B0604030504040204" pitchFamily="34" charset="0"/>
              </a:rPr>
              <a:t>56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，比单重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DES</a:t>
            </a:r>
            <a:r>
              <a:rPr lang="zh-CN" altLang="en-US" dirty="0">
                <a:solidFill>
                  <a:srgbClr val="4B4B4B"/>
                </a:solidFill>
                <a:latin typeface="宋体" panose="02010600030101010101" pitchFamily="2" charset="-122"/>
              </a:rPr>
              <a:t>所需的</a:t>
            </a:r>
            <a:r>
              <a:rPr lang="en-US" altLang="zh-CN" dirty="0">
                <a:solidFill>
                  <a:srgbClr val="4B4B4B"/>
                </a:solidFill>
                <a:latin typeface="Calibri" panose="020F0502020204030204" pitchFamily="34" charset="0"/>
              </a:rPr>
              <a:t>2</a:t>
            </a:r>
            <a:r>
              <a:rPr lang="en-US" altLang="zh-CN" baseline="30000" dirty="0">
                <a:solidFill>
                  <a:srgbClr val="4B4B4B"/>
                </a:solidFill>
                <a:latin typeface="Verdana" panose="020B0604030504040204" pitchFamily="34" charset="0"/>
              </a:rPr>
              <a:t>55</a:t>
            </a:r>
            <a:r>
              <a:rPr lang="zh-CN" altLang="en-US" dirty="0">
                <a:solidFill>
                  <a:srgbClr val="4B4B4B"/>
                </a:solidFill>
                <a:latin typeface="Verdana" panose="020B0604030504040204" pitchFamily="34" charset="0"/>
              </a:rPr>
              <a:t>次方多不了多少。</a:t>
            </a: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D31B1451-E987-2985-BF12-F5521EC639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7BC3A0-E960-4E11-820A-B724F7AD81F3}" type="slidenum">
              <a:rPr kumimoji="0" lang="en-US" altLang="zh-CN" sz="1200" smtClean="0">
                <a:latin typeface="Arial" panose="020B0604020202020204" pitchFamily="34" charset="0"/>
              </a:rPr>
              <a:pPr/>
              <a:t>35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5E4AF-C11E-4943-934A-73AA59D809D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548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5673F289-D96C-F1BC-9150-4A97697FB2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6969EC14-9808-EC08-AEAA-C186AD7EF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安全强度</a:t>
            </a:r>
            <a:r>
              <a:rPr lang="en-CA" altLang="zh-CN">
                <a:latin typeface="Arial" panose="020B0604020202020204" pitchFamily="34" charset="0"/>
              </a:rPr>
              <a:t>112bit</a:t>
            </a:r>
            <a:r>
              <a:rPr lang="en-US" altLang="zh-CN">
                <a:latin typeface="Arial" panose="020B0604020202020204" pitchFamily="34" charset="0"/>
              </a:rPr>
              <a:t>s</a:t>
            </a:r>
            <a:endParaRPr lang="en-CA" altLang="zh-CN">
              <a:latin typeface="Arial" panose="020B0604020202020204" pitchFamily="34" charset="0"/>
            </a:endParaRP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6EE67902-DA5D-7FF9-B47F-6BD9E9BDC4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D185DA-83C3-4366-9876-135C3C63EB43}" type="slidenum">
              <a:rPr kumimoji="0" lang="en-US" altLang="zh-CN" sz="1200" smtClean="0">
                <a:latin typeface="Arial" panose="020B0604020202020204" pitchFamily="34" charset="0"/>
              </a:rPr>
              <a:pPr/>
              <a:t>38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/>
              <a:t>NIST</a:t>
            </a:r>
            <a:r>
              <a:rPr lang="zh-CN" altLang="en-US" dirty="0"/>
              <a:t>推荐密钥长度看，目前这种三重</a:t>
            </a:r>
            <a:r>
              <a:rPr lang="en-US" altLang="zh-CN" dirty="0"/>
              <a:t>DES</a:t>
            </a:r>
            <a:r>
              <a:rPr lang="zh-CN" altLang="en-US" dirty="0"/>
              <a:t>，又叫</a:t>
            </a:r>
            <a:r>
              <a:rPr lang="en-US" altLang="zh-CN" dirty="0"/>
              <a:t>2TDEA</a:t>
            </a:r>
            <a:r>
              <a:rPr lang="zh-CN" altLang="en-US" dirty="0"/>
              <a:t>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Triple Data Encryption Algorithm with two keys)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，安全强度降到了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80bits</a:t>
            </a:r>
            <a:endParaRPr lang="en-US" altLang="zh-CN" dirty="0"/>
          </a:p>
          <a:p>
            <a:r>
              <a:rPr lang="en-US" altLang="zh-CN" dirty="0"/>
              <a:t>https://www.keylength.com/en/4/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5E4AF-C11E-4943-934A-73AA59D809DC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726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/>
              <a:t>NIST</a:t>
            </a:r>
            <a:r>
              <a:rPr lang="zh-CN" altLang="en-US" dirty="0"/>
              <a:t>推荐密钥长度看，目前这种三重</a:t>
            </a:r>
            <a:r>
              <a:rPr lang="en-US" altLang="zh-CN" dirty="0"/>
              <a:t>DES</a:t>
            </a:r>
            <a:r>
              <a:rPr lang="zh-CN" altLang="en-US" dirty="0"/>
              <a:t>，又叫</a:t>
            </a:r>
            <a:r>
              <a:rPr lang="en-US" altLang="zh-CN" dirty="0"/>
              <a:t>2TDEA</a:t>
            </a:r>
            <a:r>
              <a:rPr lang="zh-CN" altLang="en-US" dirty="0"/>
              <a:t>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Triple Data Encryption Algorithm with two keys)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，安全强度降到了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80bits</a:t>
            </a:r>
            <a:endParaRPr lang="en-US" altLang="zh-CN" dirty="0"/>
          </a:p>
          <a:p>
            <a:r>
              <a:rPr lang="en-US" altLang="zh-CN" dirty="0"/>
              <a:t>https://www.keylength.com/en/4/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5E4AF-C11E-4943-934A-73AA59D809DC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317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CBE55F-35BE-4030-8299-6005CC2E55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9CCD76-9E98-1441-F7F4-7428F88B8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17AEF6-15AF-FEDB-9EB2-9BDD00BE5C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C6868-E0E9-4E8F-B2CC-99E96B549C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97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F7D64E-95ED-5557-0C0D-E60CC8CB9E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4D2412-3F99-6417-AEA8-3E25DF0AE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ABBE8F-D378-D34B-A818-B2FE5139F6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89DEE-9B72-4568-9948-C7D71BA06C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22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1D1A7B-8F80-E362-2416-2E856C0E68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3A1E46-B39B-861D-964F-E39C978E08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1B45B1-E38C-CA2D-0E56-5FD30B573A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E1AAB-4A7C-4DAF-9718-CEB2F18160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55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90513" y="1268413"/>
            <a:ext cx="41529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5813" y="1268413"/>
            <a:ext cx="41529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B8D4A-B1A3-0CEE-A8C9-DF34915972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DF86D-5F1B-7236-476C-577CBF5C41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DF646B-C0E2-9E35-C4A0-DAEC0E5A9F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0A052-03C0-4F30-BDAF-DD4BDB7EBB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128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6B3CA1-06E1-83C5-18A6-F0EF394078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B13FBFE-C2B4-7C01-A59D-A4EFAB7D72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2223BF-A0DA-7084-6D73-4EA31D7387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60A21-81EB-4225-946C-03CA29A48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02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16C9DAF-427A-A999-ACF0-492D11C723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69D8AA-9B6A-515F-C799-EA86B2CE59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BD96A3-320C-8EC1-4CC6-B96E180F7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67453-F40F-4723-BE95-FD25A94E73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4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10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4428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4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06ABD-27F6-7268-FD2F-A9E07B85B6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1EAB7D-C0DF-196E-D735-C88D6C9462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63AB3C-80FF-8A0C-2CEC-8B7B304DF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FD927-4D35-43AA-B609-44663297DF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98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4163" y="125413"/>
            <a:ext cx="2114550" cy="5967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0513" y="125413"/>
            <a:ext cx="6191250" cy="5967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80DA31-A058-DCD6-297A-EFA7EBEE2A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04D8E2-5E46-730A-0329-A72247788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F28E50-DDD7-1EB8-1A81-49A4E7C776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420CE-F444-4671-9204-E296D50D33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028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25413"/>
            <a:ext cx="7772400" cy="1000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90513" y="1268413"/>
            <a:ext cx="4152900" cy="48244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95813" y="1268413"/>
            <a:ext cx="41529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95813" y="3756025"/>
            <a:ext cx="4152900" cy="233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42402AA-75DF-392B-ABAD-BC4F372292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05DC0B-8EF7-0925-9C88-CD1BDCABB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0F40985-53EA-1175-58FE-89D062212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90794-79A5-4953-AEAA-C753AD1C0D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03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25413"/>
            <a:ext cx="7772400" cy="1000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90513" y="1268413"/>
            <a:ext cx="4152900" cy="48244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5813" y="1268413"/>
            <a:ext cx="4152900" cy="48244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07094-9919-C21F-063A-6D5492C370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4D5F5E-5A4E-8B31-B03D-F4AAB3AEF6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F01C1-508C-B866-8B63-3A17D7767E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BE257-B576-45E1-9B9C-6A55431B59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1481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25413"/>
            <a:ext cx="7772400" cy="1000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90513" y="1268413"/>
            <a:ext cx="8458200" cy="482441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5E06F6-20B5-8EB4-F26D-65C9534FAC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05C84A-F3C1-6D11-6AE1-AE5D53367F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9F5088-30E6-47F7-B089-C2AFFB1B8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A9829-5EE1-407D-926A-006B2E361D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01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FBC171-48DF-8D49-BAC0-E0AB43B48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5413"/>
            <a:ext cx="77724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3C558D-452E-58D0-06B6-82CEE2C66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68413"/>
            <a:ext cx="8458200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A6DCCA5-9EDA-E4E0-50DA-F46A3E55D6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0388" y="6411913"/>
            <a:ext cx="14398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AD746A-1167-C096-88CC-193A50DAF0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A580E2-C082-0E4D-1CB6-955C073095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66000" y="6434138"/>
            <a:ext cx="1054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F6046BCE-3CC5-403A-AAB7-2AF8CF5843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73AF4A6E-CA4E-8BB2-8D46-CF09E89BE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88913"/>
            <a:ext cx="9144000" cy="0"/>
          </a:xfrm>
          <a:prstGeom prst="line">
            <a:avLst/>
          </a:prstGeom>
          <a:noFill/>
          <a:ln w="114300" cmpd="tri">
            <a:solidFill>
              <a:srgbClr val="FF9933">
                <a:alpha val="59999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Rectangle 108">
            <a:extLst>
              <a:ext uri="{FF2B5EF4-FFF2-40B4-BE49-F238E27FC236}">
                <a16:creationId xmlns:a16="http://schemas.microsoft.com/office/drawing/2014/main" id="{9279DED8-CEAD-06DE-48CE-D6AE247FD7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450" y="188913"/>
            <a:ext cx="5757863" cy="76200"/>
          </a:xfrm>
          <a:prstGeom prst="rect">
            <a:avLst/>
          </a:prstGeom>
          <a:gradFill rotWithShape="0">
            <a:gsLst>
              <a:gs pos="0">
                <a:srgbClr val="AB374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4" name="Rectangle 109">
            <a:extLst>
              <a:ext uri="{FF2B5EF4-FFF2-40B4-BE49-F238E27FC236}">
                <a16:creationId xmlns:a16="http://schemas.microsoft.com/office/drawing/2014/main" id="{B01F9A76-06DD-BFBA-1813-CD4C25312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43225" y="1149350"/>
            <a:ext cx="5757863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AB374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0000FF"/>
          </a:solidFill>
          <a:latin typeface="Times New Roman" pitchFamily="18" charset="0"/>
          <a:ea typeface="宋体" pitchFamily="2" charset="-122"/>
        </a:defRPr>
      </a:lvl9pPr>
    </p:titleStyle>
    <p:bodyStyle>
      <a:lvl1pPr marL="3175" indent="468313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1290638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2pPr>
      <a:lvl3pPr marL="1698625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3pPr>
      <a:lvl4pPr marL="2106613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4pPr>
      <a:lvl5pPr marL="25146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5pPr>
      <a:lvl6pPr marL="29718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6pPr>
      <a:lvl7pPr marL="3429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7pPr>
      <a:lvl8pPr marL="3886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8pPr>
      <a:lvl9pPr marL="4343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hyperlink" Target="https://www.keylength.com/en/4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hyperlink" Target="https://www.keylength.com/en/4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0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455ACCC-1659-3A08-032E-6B1DBD55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76475"/>
            <a:ext cx="7391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对称密码</a:t>
            </a:r>
            <a:endParaRPr lang="en-CA" altLang="zh-CN" sz="6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CA" altLang="zh-CN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分组密码</a:t>
            </a:r>
            <a:r>
              <a:rPr lang="en-US" altLang="zh-CN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DES</a:t>
            </a:r>
            <a:endParaRPr lang="zh-CN" altLang="en-US" sz="6400" b="1">
              <a:solidFill>
                <a:srgbClr val="FFFF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DD925A4-1E5F-DC1C-E5AB-744C8A15B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本节主要内容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4812A52-FC86-82C0-0272-9397EB87F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的发展</a:t>
            </a:r>
          </a:p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算法的整体结构</a:t>
            </a:r>
            <a:r>
              <a:rPr lang="en-US" altLang="zh-CN" dirty="0"/>
              <a:t>——Feistel</a:t>
            </a:r>
            <a:r>
              <a:rPr lang="zh-CN" altLang="en-US" dirty="0"/>
              <a:t>结构</a:t>
            </a:r>
          </a:p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算法的轮函数</a:t>
            </a:r>
          </a:p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算法的密钥编排算法</a:t>
            </a:r>
          </a:p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的解密变换</a:t>
            </a:r>
          </a:p>
          <a:p>
            <a:pPr marL="460375" indent="-457200">
              <a:buFont typeface="Wingdings" panose="05000000000000000000" pitchFamily="2" charset="2"/>
              <a:buChar char="u"/>
            </a:pPr>
            <a:r>
              <a:rPr lang="en-US" altLang="zh-CN" dirty="0"/>
              <a:t>DES</a:t>
            </a:r>
            <a:r>
              <a:rPr lang="zh-CN" altLang="en-US" dirty="0"/>
              <a:t>安全分析与改进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>
            <a:extLst>
              <a:ext uri="{FF2B5EF4-FFF2-40B4-BE49-F238E27FC236}">
                <a16:creationId xmlns:a16="http://schemas.microsoft.com/office/drawing/2014/main" id="{CCBCFAEC-09AB-8918-57BE-6E20E04978DF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165850"/>
            <a:ext cx="2133600" cy="4762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36B1C7E8-199D-4A47-B811-48F9CCDDF78A}" type="slidenum">
              <a:rPr kumimoji="0"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3</a:t>
            </a:fld>
            <a:endParaRPr kumimoji="0" lang="en-US" altLang="zh-CN" sz="1400" b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2AF50DA-16A9-871D-E9F9-877461B5D0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7504" y="214270"/>
            <a:ext cx="8229600" cy="720725"/>
          </a:xfrm>
        </p:spPr>
        <p:txBody>
          <a:bodyPr/>
          <a:lstStyle/>
          <a:p>
            <a:pPr eaLnBrk="1" hangingPunct="1"/>
            <a:r>
              <a:rPr lang="en-US" altLang="zh-CN" sz="4000">
                <a:solidFill>
                  <a:schemeClr val="tx1"/>
                </a:solidFill>
              </a:rPr>
              <a:t>DES</a:t>
            </a:r>
            <a:r>
              <a:rPr lang="zh-CN" altLang="en-US" sz="4000">
                <a:solidFill>
                  <a:schemeClr val="tx1"/>
                </a:solidFill>
              </a:rPr>
              <a:t>的发展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309A0898-28AF-C8A8-5E6A-4FBF900006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934994"/>
            <a:ext cx="8856984" cy="5734366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+mj-ea"/>
                <a:ea typeface="+mj-ea"/>
              </a:rPr>
              <a:t>数据加密标准</a:t>
            </a:r>
            <a:r>
              <a:rPr lang="en-US" altLang="zh-CN" b="1" dirty="0">
                <a:latin typeface="+mj-ea"/>
                <a:ea typeface="+mj-ea"/>
              </a:rPr>
              <a:t>(Data Encryption Standard</a:t>
            </a:r>
            <a:r>
              <a:rPr lang="zh-CN" altLang="en-US" b="1" dirty="0">
                <a:latin typeface="+mj-ea"/>
                <a:ea typeface="+mj-ea"/>
              </a:rPr>
              <a:t>，</a:t>
            </a:r>
            <a:r>
              <a:rPr lang="en-US" altLang="zh-CN" b="1" dirty="0">
                <a:latin typeface="+mj-ea"/>
                <a:ea typeface="+mj-ea"/>
              </a:rPr>
              <a:t>DES)</a:t>
            </a:r>
            <a:endParaRPr lang="en-US" altLang="zh-CN" dirty="0"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j-ea"/>
                <a:ea typeface="+mj-ea"/>
              </a:rPr>
              <a:t>1973</a:t>
            </a:r>
            <a:r>
              <a:rPr lang="zh-CN" altLang="en-US" sz="2400" dirty="0">
                <a:latin typeface="+mj-ea"/>
                <a:ea typeface="+mj-ea"/>
              </a:rPr>
              <a:t>年美国商业部所属的美国国家标准局（</a:t>
            </a:r>
            <a:r>
              <a:rPr lang="en-US" altLang="zh-CN" sz="2400" dirty="0">
                <a:latin typeface="+mj-ea"/>
                <a:ea typeface="+mj-ea"/>
              </a:rPr>
              <a:t>NBS</a:t>
            </a:r>
            <a:r>
              <a:rPr lang="zh-CN" altLang="en-US" sz="2400" dirty="0">
                <a:latin typeface="+mj-ea"/>
                <a:ea typeface="+mj-ea"/>
              </a:rPr>
              <a:t>）发布文告征集在传输和存储数据中保护计算机数据的密码算法。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DES</a:t>
            </a:r>
            <a:r>
              <a:rPr lang="zh-CN" altLang="en-US" sz="2400" dirty="0">
                <a:latin typeface="+mj-ea"/>
                <a:ea typeface="+mj-ea"/>
              </a:rPr>
              <a:t>是从</a:t>
            </a:r>
            <a:r>
              <a:rPr lang="en-US" altLang="zh-CN" sz="2400" dirty="0">
                <a:latin typeface="+mj-ea"/>
                <a:ea typeface="+mj-ea"/>
              </a:rPr>
              <a:t>1975</a:t>
            </a:r>
            <a:r>
              <a:rPr lang="zh-CN" altLang="en-US" sz="2400" dirty="0">
                <a:latin typeface="+mj-ea"/>
                <a:ea typeface="+mj-ea"/>
              </a:rPr>
              <a:t>年被美国联邦政府确定为非敏感信息的加密标准，它利用</a:t>
            </a:r>
            <a:r>
              <a:rPr lang="en-US" altLang="zh-CN" sz="2400" dirty="0">
                <a:latin typeface="+mj-ea"/>
                <a:ea typeface="+mj-ea"/>
              </a:rPr>
              <a:t>56</a:t>
            </a:r>
            <a:r>
              <a:rPr lang="zh-CN" altLang="en-US" sz="2400" dirty="0">
                <a:latin typeface="+mj-ea"/>
                <a:ea typeface="+mj-ea"/>
              </a:rPr>
              <a:t>比特长度的密钥</a:t>
            </a:r>
            <a:r>
              <a:rPr lang="en-US" altLang="zh-CN" sz="2400" dirty="0">
                <a:latin typeface="+mj-ea"/>
                <a:ea typeface="+mj-ea"/>
              </a:rPr>
              <a:t>K</a:t>
            </a:r>
            <a:r>
              <a:rPr lang="zh-CN" altLang="en-US" sz="2400" dirty="0">
                <a:latin typeface="+mj-ea"/>
                <a:ea typeface="+mj-ea"/>
              </a:rPr>
              <a:t>来加密长度为</a:t>
            </a:r>
            <a:r>
              <a:rPr lang="en-US" altLang="zh-CN" sz="2400" dirty="0">
                <a:latin typeface="+mj-ea"/>
                <a:ea typeface="+mj-ea"/>
              </a:rPr>
              <a:t>64</a:t>
            </a:r>
            <a:r>
              <a:rPr lang="zh-CN" altLang="en-US" sz="2400" dirty="0">
                <a:latin typeface="+mj-ea"/>
                <a:ea typeface="+mj-ea"/>
              </a:rPr>
              <a:t>比特的明文，得到</a:t>
            </a:r>
            <a:r>
              <a:rPr lang="en-US" altLang="zh-CN" sz="2400" dirty="0">
                <a:latin typeface="+mj-ea"/>
                <a:ea typeface="+mj-ea"/>
              </a:rPr>
              <a:t>64</a:t>
            </a:r>
            <a:r>
              <a:rPr lang="zh-CN" altLang="en-US" sz="2400" dirty="0">
                <a:latin typeface="+mj-ea"/>
                <a:ea typeface="+mj-ea"/>
              </a:rPr>
              <a:t>比特长的密文</a:t>
            </a:r>
            <a:r>
              <a:rPr lang="en-US" altLang="zh-CN" sz="2400" dirty="0">
                <a:latin typeface="+mj-ea"/>
                <a:ea typeface="+mj-ea"/>
              </a:rPr>
              <a:t>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1997</a:t>
            </a:r>
            <a:r>
              <a:rPr lang="zh-CN" altLang="en-US" sz="2400" dirty="0">
                <a:latin typeface="+mj-ea"/>
                <a:ea typeface="+mj-ea"/>
              </a:rPr>
              <a:t>年，由于计算机技术迅速发展，</a:t>
            </a:r>
            <a:r>
              <a:rPr lang="en-US" altLang="zh-CN" sz="2400" dirty="0">
                <a:latin typeface="+mj-ea"/>
                <a:ea typeface="+mj-ea"/>
              </a:rPr>
              <a:t>DES</a:t>
            </a:r>
            <a:r>
              <a:rPr lang="zh-CN" altLang="en-US" sz="2400" dirty="0">
                <a:latin typeface="+mj-ea"/>
                <a:ea typeface="+mj-ea"/>
              </a:rPr>
              <a:t>的密钥长度已经太短，</a:t>
            </a:r>
            <a:r>
              <a:rPr lang="en-US" altLang="zh-CN" sz="2400" dirty="0">
                <a:latin typeface="+mj-ea"/>
                <a:ea typeface="+mj-ea"/>
              </a:rPr>
              <a:t>NIST</a:t>
            </a:r>
            <a:r>
              <a:rPr lang="zh-CN" altLang="en-US" sz="2400" dirty="0">
                <a:latin typeface="+mj-ea"/>
                <a:ea typeface="+mj-ea"/>
              </a:rPr>
              <a:t>建议停止使用</a:t>
            </a:r>
            <a:r>
              <a:rPr lang="en-US" altLang="zh-CN" sz="2400" dirty="0">
                <a:latin typeface="+mj-ea"/>
                <a:ea typeface="+mj-ea"/>
              </a:rPr>
              <a:t>DES</a:t>
            </a:r>
            <a:r>
              <a:rPr lang="zh-CN" altLang="en-US" sz="2400" dirty="0">
                <a:latin typeface="+mj-ea"/>
                <a:ea typeface="+mj-ea"/>
              </a:rPr>
              <a:t>算法作为标准</a:t>
            </a:r>
            <a:r>
              <a:rPr lang="en-US" altLang="zh-CN" sz="2400" dirty="0">
                <a:latin typeface="+mj-ea"/>
                <a:ea typeface="+mj-ea"/>
              </a:rPr>
              <a:t>. </a:t>
            </a:r>
            <a:r>
              <a:rPr lang="zh-CN" altLang="en-US" sz="2400" dirty="0">
                <a:latin typeface="+mj-ea"/>
                <a:ea typeface="+mj-ea"/>
              </a:rPr>
              <a:t>目前，二重</a:t>
            </a:r>
            <a:r>
              <a:rPr lang="en-US" altLang="zh-CN" sz="2400" dirty="0">
                <a:latin typeface="+mj-ea"/>
                <a:ea typeface="+mj-ea"/>
              </a:rPr>
              <a:t>DES</a:t>
            </a:r>
            <a:r>
              <a:rPr lang="zh-CN" altLang="en-US" sz="2400" dirty="0">
                <a:latin typeface="+mj-ea"/>
                <a:ea typeface="+mj-ea"/>
              </a:rPr>
              <a:t>和三重</a:t>
            </a:r>
            <a:r>
              <a:rPr lang="en-US" altLang="zh-CN" sz="2400" dirty="0">
                <a:latin typeface="+mj-ea"/>
                <a:ea typeface="+mj-ea"/>
              </a:rPr>
              <a:t>DES</a:t>
            </a:r>
            <a:r>
              <a:rPr lang="zh-CN" altLang="en-US" sz="2400" dirty="0">
                <a:latin typeface="+mj-ea"/>
                <a:ea typeface="+mj-ea"/>
              </a:rPr>
              <a:t>仍然广泛使用</a:t>
            </a:r>
            <a:r>
              <a:rPr lang="en-US" altLang="zh-CN" sz="2400" dirty="0"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967A18-5208-1422-42DD-61EEBB727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6632"/>
            <a:ext cx="8229600" cy="550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DES</a:t>
            </a:r>
            <a:r>
              <a:rPr lang="zh-CN" altLang="en-US" sz="4000" kern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算法的基本原理</a:t>
            </a:r>
            <a:endParaRPr lang="zh-CN" altLang="en-US" sz="4000" kern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0351B6-251F-78C2-92E3-328AEFBA5E6C}"/>
                  </a:ext>
                </a:extLst>
              </p:cNvPr>
              <p:cNvSpPr txBox="1"/>
              <p:nvPr/>
            </p:nvSpPr>
            <p:spPr>
              <a:xfrm>
                <a:off x="107504" y="908720"/>
                <a:ext cx="900100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latin typeface="+mj-ea"/>
                    <a:ea typeface="+mj-ea"/>
                  </a:rPr>
                  <a:t>DES</a:t>
                </a:r>
                <a:r>
                  <a:rPr lang="zh-CN" altLang="en-US" sz="2400" dirty="0">
                    <a:latin typeface="+mj-ea"/>
                    <a:ea typeface="+mj-ea"/>
                  </a:rPr>
                  <a:t>密码算法采用</a:t>
                </a:r>
                <a:r>
                  <a:rPr lang="en-US" altLang="zh-CN" sz="2400" dirty="0">
                    <a:latin typeface="+mj-ea"/>
                    <a:ea typeface="+mj-ea"/>
                  </a:rPr>
                  <a:t>Feistel</a:t>
                </a:r>
                <a:r>
                  <a:rPr lang="zh-CN" altLang="en-US" sz="2400" dirty="0">
                    <a:latin typeface="+mj-ea"/>
                    <a:ea typeface="+mj-ea"/>
                  </a:rPr>
                  <a:t>密码的</a:t>
                </a:r>
                <a:r>
                  <a:rPr lang="en-US" altLang="zh-CN" sz="2400" dirty="0">
                    <a:latin typeface="+mj-ea"/>
                    <a:ea typeface="+mj-ea"/>
                  </a:rPr>
                  <a:t>S-P</a:t>
                </a:r>
                <a:r>
                  <a:rPr lang="zh-CN" altLang="en-US" sz="2400" dirty="0">
                    <a:latin typeface="+mj-ea"/>
                    <a:ea typeface="+mj-ea"/>
                  </a:rPr>
                  <a:t>结构</a:t>
                </a:r>
                <a:r>
                  <a:rPr lang="en-US" altLang="zh-CN" sz="2400" dirty="0">
                    <a:latin typeface="+mj-ea"/>
                    <a:ea typeface="+mj-ea"/>
                  </a:rPr>
                  <a:t>,</a:t>
                </a:r>
                <a:r>
                  <a:rPr lang="zh-CN" altLang="en-US" sz="2400" dirty="0">
                    <a:latin typeface="+mj-ea"/>
                    <a:ea typeface="+mj-ea"/>
                  </a:rPr>
                  <a:t>其特点是</a:t>
                </a:r>
                <a:r>
                  <a:rPr lang="en-US" altLang="zh-CN" sz="2400" dirty="0">
                    <a:latin typeface="+mj-ea"/>
                    <a:ea typeface="+mj-ea"/>
                  </a:rPr>
                  <a:t>:</a:t>
                </a:r>
                <a:r>
                  <a:rPr lang="zh-CN" altLang="en-US" sz="2400" dirty="0">
                    <a:latin typeface="+mj-ea"/>
                    <a:ea typeface="+mj-ea"/>
                  </a:rPr>
                  <a:t>加密和解密使用同一算法、同一密钥、同一结构</a:t>
                </a:r>
                <a:r>
                  <a:rPr lang="en-US" altLang="zh-CN" sz="2400" dirty="0">
                    <a:latin typeface="+mj-ea"/>
                    <a:ea typeface="+mj-ea"/>
                  </a:rPr>
                  <a:t>.</a:t>
                </a:r>
              </a:p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dirty="0">
                    <a:latin typeface="+mj-ea"/>
                    <a:ea typeface="+mj-ea"/>
                  </a:rPr>
                  <a:t>区别是</a:t>
                </a:r>
                <a:r>
                  <a:rPr lang="en-US" altLang="zh-CN" sz="2400" dirty="0">
                    <a:latin typeface="+mj-ea"/>
                    <a:ea typeface="+mj-ea"/>
                  </a:rPr>
                  <a:t>:16</a:t>
                </a:r>
                <a:r>
                  <a:rPr lang="zh-CN" altLang="en-US" sz="2400" dirty="0">
                    <a:latin typeface="+mj-ea"/>
                    <a:ea typeface="+mj-ea"/>
                  </a:rPr>
                  <a:t>轮加密子密钥顺序为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j-ea"/>
                    <a:ea typeface="+mj-ea"/>
                  </a:rPr>
                  <a:t>,</a:t>
                </a:r>
                <a:r>
                  <a:rPr lang="zh-CN" altLang="en-US" sz="2400" dirty="0">
                    <a:latin typeface="+mj-ea"/>
                    <a:ea typeface="+mj-ea"/>
                  </a:rPr>
                  <a:t>解密子密钥顺序为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16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15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, 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j-ea"/>
                    <a:ea typeface="+mj-ea"/>
                  </a:rPr>
                  <a:t>.</a:t>
                </a:r>
              </a:p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endParaRPr lang="en-US" altLang="zh-CN" dirty="0">
                  <a:latin typeface="+mj-ea"/>
                  <a:ea typeface="+mj-ea"/>
                </a:endParaRPr>
              </a:p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endParaRPr lang="en-US" altLang="zh-CN" sz="2400" dirty="0">
                  <a:latin typeface="+mj-ea"/>
                  <a:ea typeface="+mj-ea"/>
                </a:endParaRPr>
              </a:p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dirty="0">
                    <a:latin typeface="+mj-ea"/>
                    <a:ea typeface="+mj-ea"/>
                  </a:rPr>
                  <a:t>关键步骤</a:t>
                </a:r>
                <a:r>
                  <a:rPr lang="en-US" altLang="zh-CN" sz="2400" dirty="0">
                    <a:latin typeface="+mj-ea"/>
                    <a:ea typeface="+mj-ea"/>
                  </a:rPr>
                  <a:t>:</a:t>
                </a:r>
              </a:p>
              <a:p>
                <a:pPr marL="342900" indent="-342900" eaLnBrk="1" hangingPunct="1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+mj-ea"/>
                    <a:ea typeface="+mj-ea"/>
                  </a:rPr>
                  <a:t>初始置换</a:t>
                </a:r>
                <a:endParaRPr lang="en-US" altLang="zh-CN" sz="2400" dirty="0">
                  <a:latin typeface="+mj-ea"/>
                  <a:ea typeface="+mj-ea"/>
                </a:endParaRPr>
              </a:p>
              <a:p>
                <a:pPr marL="342900" indent="-342900" eaLnBrk="1" hangingPunct="1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+mj-ea"/>
                    <a:ea typeface="+mj-ea"/>
                  </a:rPr>
                  <a:t>16</a:t>
                </a:r>
                <a:r>
                  <a:rPr lang="zh-CN" altLang="en-US" dirty="0">
                    <a:latin typeface="+mj-ea"/>
                    <a:ea typeface="+mj-ea"/>
                  </a:rPr>
                  <a:t>轮迭代运算（</a:t>
                </a:r>
                <a:r>
                  <a:rPr lang="zh-CN" altLang="en-US" sz="2400" dirty="0">
                    <a:latin typeface="+mj-ea"/>
                    <a:ea typeface="+mj-ea"/>
                  </a:rPr>
                  <a:t>乘积变换）</a:t>
                </a:r>
                <a:endParaRPr lang="en-US" altLang="zh-CN" sz="2400" dirty="0">
                  <a:latin typeface="+mj-ea"/>
                  <a:ea typeface="+mj-ea"/>
                </a:endParaRPr>
              </a:p>
              <a:p>
                <a:pPr marL="342900" indent="-342900" eaLnBrk="1" hangingPunct="1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400" dirty="0">
                    <a:latin typeface="+mj-ea"/>
                    <a:ea typeface="+mj-ea"/>
                  </a:rPr>
                  <a:t>逆初始置换</a:t>
                </a:r>
                <a:endParaRPr lang="en-US" altLang="zh-CN" sz="2400" dirty="0">
                  <a:latin typeface="+mj-ea"/>
                  <a:ea typeface="+mj-ea"/>
                </a:endParaRPr>
              </a:p>
              <a:p>
                <a:pPr marL="342900" indent="-342900" eaLnBrk="1" hangingPunct="1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+mj-ea"/>
                    <a:ea typeface="+mj-ea"/>
                  </a:rPr>
                  <a:t>子密钥生成</a:t>
                </a:r>
                <a:endParaRPr lang="en-US" altLang="zh-CN" sz="2400" dirty="0">
                  <a:latin typeface="+mj-ea"/>
                  <a:ea typeface="+mj-ea"/>
                </a:endParaRPr>
              </a:p>
              <a:p>
                <a:pPr eaLnBrk="1" hangingPunct="1">
                  <a:lnSpc>
                    <a:spcPct val="100000"/>
                  </a:lnSpc>
                  <a:buFont typeface="Wingdings" panose="05000000000000000000" pitchFamily="2" charset="2"/>
                  <a:buNone/>
                </a:pPr>
                <a:endParaRPr lang="en-US" altLang="zh-CN" sz="2400" dirty="0">
                  <a:latin typeface="+mj-ea"/>
                  <a:ea typeface="+mj-ea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0351B6-251F-78C2-92E3-328AEFBA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908720"/>
                <a:ext cx="9001000" cy="4893647"/>
              </a:xfrm>
              <a:prstGeom prst="rect">
                <a:avLst/>
              </a:prstGeom>
              <a:blipFill>
                <a:blip r:embed="rId3"/>
                <a:stretch>
                  <a:fillRect l="-1084" t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7" descr="xd27">
            <a:extLst>
              <a:ext uri="{FF2B5EF4-FFF2-40B4-BE49-F238E27FC236}">
                <a16:creationId xmlns:a16="http://schemas.microsoft.com/office/drawing/2014/main" id="{01299590-3FF1-C46E-074A-4C68621ED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636912"/>
            <a:ext cx="4784945" cy="36724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33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04A5339C-9C72-B706-D35D-28E75562F7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DES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算法的整体结构</a:t>
            </a:r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—Feistel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040D9E6E-A450-597D-8B6C-3CDEAFF5B67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23850" y="1700213"/>
            <a:ext cx="8305800" cy="3384971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</a:pPr>
            <a:r>
              <a:rPr lang="en-CA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世纪</a:t>
            </a:r>
            <a:r>
              <a:rPr lang="en-CA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年代末由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IBM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公司的</a:t>
            </a:r>
            <a:r>
              <a:rPr lang="en-CA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Horst Feistel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Walter Tuchman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在设计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LUCIFFER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分组密码算法（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DES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前期模型）时提出</a:t>
            </a:r>
            <a:endParaRPr lang="en-CA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特点：通过代换和置换（</a:t>
            </a:r>
            <a:r>
              <a:rPr lang="en-CA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S-P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网络）交替的方式来构造分组密码，其实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就是基于混淆和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扩散原理实现加解密运算。</a:t>
            </a:r>
          </a:p>
          <a:p>
            <a:pPr marL="514350" indent="-514350" eaLnBrk="1" hangingPunct="1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9E625FC8-4E8E-A1A5-AB03-B99F780ABC5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099C3DFA-4C46-4930-BB5F-ED2484D713EB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5</a:t>
            </a:fld>
            <a:endParaRPr kumimoji="0" lang="en-US" altLang="zh-CN" sz="1400"/>
          </a:p>
        </p:txBody>
      </p:sp>
      <p:graphicFrame>
        <p:nvGraphicFramePr>
          <p:cNvPr id="22533" name="Object 6">
            <a:extLst>
              <a:ext uri="{FF2B5EF4-FFF2-40B4-BE49-F238E27FC236}">
                <a16:creationId xmlns:a16="http://schemas.microsoft.com/office/drawing/2014/main" id="{5416E09A-51E7-F1D2-9AAD-27669C24E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1303" imgH="739129" progId="Equation.3">
                  <p:embed/>
                </p:oleObj>
              </mc:Choice>
              <mc:Fallback>
                <p:oleObj name="Equation" r:id="rId3" imgW="391303" imgH="7391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E6293AB3-00B3-1AD8-40E3-6B46445AD1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23813"/>
            <a:ext cx="3225800" cy="711200"/>
          </a:xfrm>
        </p:spPr>
        <p:txBody>
          <a:bodyPr anchor="b"/>
          <a:lstStyle/>
          <a:p>
            <a:pPr eaLnBrk="1" hangingPunct="1"/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Feistel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3DAFAC3F-9F2E-7193-0C51-74D1A208D3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CDF9735E-9EED-4FB1-811A-33E5C3BE234F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6</a:t>
            </a:fld>
            <a:endParaRPr kumimoji="0" lang="en-US" altLang="zh-CN" sz="1400"/>
          </a:p>
        </p:txBody>
      </p:sp>
      <p:graphicFrame>
        <p:nvGraphicFramePr>
          <p:cNvPr id="24580" name="Object 5">
            <a:extLst>
              <a:ext uri="{FF2B5EF4-FFF2-40B4-BE49-F238E27FC236}">
                <a16:creationId xmlns:a16="http://schemas.microsoft.com/office/drawing/2014/main" id="{669C2F34-7757-45F4-1F1D-956B9D008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755677"/>
              </p:ext>
            </p:extLst>
          </p:nvPr>
        </p:nvGraphicFramePr>
        <p:xfrm>
          <a:off x="220663" y="1052736"/>
          <a:ext cx="4159339" cy="4679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54541" imgH="5282012" progId="Visio.Drawing.11">
                  <p:embed/>
                </p:oleObj>
              </mc:Choice>
              <mc:Fallback>
                <p:oleObj name="Visio" r:id="rId3" imgW="4354541" imgH="5282012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3" y="1052736"/>
                        <a:ext cx="4159339" cy="4679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4C1D46E1-6801-1991-1AF3-F4E303B3B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08" y="379413"/>
            <a:ext cx="4390560" cy="616530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16F2C633-A7D4-CE97-DC9F-1F6A566916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Feistel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54A1C2D6-44A8-7617-D6A6-725F8037178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28625" y="1357313"/>
            <a:ext cx="8305800" cy="1495425"/>
          </a:xfrm>
        </p:spPr>
        <p:txBody>
          <a:bodyPr/>
          <a:lstStyle/>
          <a:p>
            <a:pPr marL="514350" indent="-514350" eaLnBrk="1" hangingPunct="1"/>
            <a:r>
              <a:rPr lang="en-US" altLang="zh-CN" sz="2400" dirty="0">
                <a:latin typeface="+mj-ea"/>
                <a:ea typeface="+mj-ea"/>
              </a:rPr>
              <a:t>1. </a:t>
            </a:r>
            <a:r>
              <a:rPr lang="zh-CN" altLang="en-US" sz="2400" dirty="0">
                <a:latin typeface="+mj-ea"/>
                <a:ea typeface="+mj-ea"/>
              </a:rPr>
              <a:t>给定明文，通过一个固定的初始置换</a:t>
            </a:r>
            <a:r>
              <a:rPr lang="en-US" altLang="zh-CN" sz="2400" dirty="0">
                <a:latin typeface="+mj-ea"/>
                <a:ea typeface="+mj-ea"/>
              </a:rPr>
              <a:t>IP</a:t>
            </a:r>
            <a:r>
              <a:rPr lang="zh-CN" altLang="en-US" sz="2400" dirty="0">
                <a:latin typeface="+mj-ea"/>
                <a:ea typeface="+mj-ea"/>
              </a:rPr>
              <a:t>来重排输入明文块</a:t>
            </a:r>
            <a:r>
              <a:rPr lang="en-US" altLang="zh-CN" sz="2400" dirty="0">
                <a:latin typeface="+mj-ea"/>
                <a:ea typeface="+mj-ea"/>
              </a:rPr>
              <a:t>P</a:t>
            </a:r>
            <a:r>
              <a:rPr lang="zh-CN" altLang="en-US" sz="2400" dirty="0">
                <a:latin typeface="+mj-ea"/>
                <a:ea typeface="+mj-ea"/>
              </a:rPr>
              <a:t>中的比特，得到比特串</a:t>
            </a:r>
            <a:r>
              <a:rPr lang="en-US" altLang="zh-CN" sz="2400" dirty="0">
                <a:latin typeface="+mj-ea"/>
                <a:ea typeface="+mj-ea"/>
              </a:rPr>
              <a:t>P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en-US" altLang="zh-CN" sz="2400" dirty="0">
                <a:latin typeface="+mj-ea"/>
                <a:ea typeface="+mj-ea"/>
              </a:rPr>
              <a:t>=IP(P)=L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en-US" altLang="zh-CN" sz="2400" dirty="0">
                <a:latin typeface="+mj-ea"/>
                <a:ea typeface="+mj-ea"/>
              </a:rPr>
              <a:t>R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baseline="-25000" dirty="0">
                <a:latin typeface="+mj-ea"/>
                <a:ea typeface="+mj-ea"/>
              </a:rPr>
              <a:t>，</a:t>
            </a:r>
            <a:r>
              <a:rPr lang="zh-CN" altLang="en-US" sz="2400" dirty="0">
                <a:latin typeface="+mj-ea"/>
                <a:ea typeface="+mj-ea"/>
              </a:rPr>
              <a:t>这里</a:t>
            </a:r>
            <a:r>
              <a:rPr lang="en-US" altLang="zh-CN" sz="2400" dirty="0">
                <a:latin typeface="+mj-ea"/>
                <a:ea typeface="+mj-ea"/>
              </a:rPr>
              <a:t>L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baseline="-25000" dirty="0">
                <a:latin typeface="+mj-ea"/>
                <a:ea typeface="+mj-ea"/>
              </a:rPr>
              <a:t>和</a:t>
            </a:r>
            <a:r>
              <a:rPr lang="en-US" altLang="zh-CN" sz="2400" dirty="0">
                <a:latin typeface="+mj-ea"/>
                <a:ea typeface="+mj-ea"/>
              </a:rPr>
              <a:t>R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dirty="0">
                <a:latin typeface="+mj-ea"/>
                <a:ea typeface="+mj-ea"/>
              </a:rPr>
              <a:t>分别是</a:t>
            </a:r>
            <a:r>
              <a:rPr lang="en-US" altLang="zh-CN" sz="2400" dirty="0">
                <a:latin typeface="+mj-ea"/>
                <a:ea typeface="+mj-ea"/>
              </a:rPr>
              <a:t>P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dirty="0">
                <a:latin typeface="+mj-ea"/>
                <a:ea typeface="+mj-ea"/>
              </a:rPr>
              <a:t>的前</a:t>
            </a:r>
            <a:r>
              <a:rPr lang="en-US" altLang="zh-CN" sz="2400" dirty="0">
                <a:latin typeface="+mj-ea"/>
                <a:ea typeface="+mj-ea"/>
              </a:rPr>
              <a:t>32</a:t>
            </a:r>
            <a:r>
              <a:rPr lang="zh-CN" altLang="en-US" sz="2400" dirty="0">
                <a:latin typeface="+mj-ea"/>
                <a:ea typeface="+mj-ea"/>
              </a:rPr>
              <a:t>比特和后</a:t>
            </a:r>
            <a:r>
              <a:rPr lang="en-US" altLang="zh-CN" sz="2400" dirty="0">
                <a:latin typeface="+mj-ea"/>
                <a:ea typeface="+mj-ea"/>
              </a:rPr>
              <a:t>32</a:t>
            </a:r>
            <a:r>
              <a:rPr lang="zh-CN" altLang="en-US" sz="2400" dirty="0">
                <a:latin typeface="+mj-ea"/>
                <a:ea typeface="+mj-ea"/>
              </a:rPr>
              <a:t>比特</a:t>
            </a:r>
          </a:p>
          <a:p>
            <a:pPr marL="514350" indent="-514350" eaLnBrk="1" hangingPunct="1"/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C52CB51D-D006-0DDF-9D57-A848D1E71D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135244E9-132F-466F-98AB-AACA35541ED4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7</a:t>
            </a:fld>
            <a:endParaRPr kumimoji="0" lang="en-US" altLang="zh-CN" sz="1400"/>
          </a:p>
        </p:txBody>
      </p:sp>
      <p:graphicFrame>
        <p:nvGraphicFramePr>
          <p:cNvPr id="26629" name="Object 6">
            <a:extLst>
              <a:ext uri="{FF2B5EF4-FFF2-40B4-BE49-F238E27FC236}">
                <a16:creationId xmlns:a16="http://schemas.microsoft.com/office/drawing/2014/main" id="{2C7FEE89-FFCA-50E3-6DC9-61FB4327C4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1303" imgH="739129" progId="Equation.3">
                  <p:embed/>
                </p:oleObj>
              </mc:Choice>
              <mc:Fallback>
                <p:oleObj name="Equation" r:id="rId3" imgW="391303" imgH="7391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11662D5-801D-F420-4FC1-F2DFEE477379}"/>
              </a:ext>
            </a:extLst>
          </p:cNvPr>
          <p:cNvGraphicFramePr>
            <a:graphicFrameLocks noGrp="1"/>
          </p:cNvGraphicFramePr>
          <p:nvPr/>
        </p:nvGraphicFramePr>
        <p:xfrm>
          <a:off x="2195513" y="2997200"/>
          <a:ext cx="6481762" cy="309562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488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IP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50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38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48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40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32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24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16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49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37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39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708" name="TextBox 22">
            <a:extLst>
              <a:ext uri="{FF2B5EF4-FFF2-40B4-BE49-F238E27FC236}">
                <a16:creationId xmlns:a16="http://schemas.microsoft.com/office/drawing/2014/main" id="{657B8EE4-2600-2939-FAA4-B9B36B313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437063"/>
            <a:ext cx="1357313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初始置换</a:t>
            </a:r>
            <a:r>
              <a:rPr kumimoji="0" lang="en-US" altLang="zh-CN" sz="1800" dirty="0">
                <a:latin typeface="Tahoma" panose="020B0604030504040204" pitchFamily="34" charset="0"/>
                <a:ea typeface="宋体" panose="02010600030101010101" pitchFamily="2" charset="-122"/>
              </a:rPr>
              <a:t>IP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kumimoji="0" lang="en-US" altLang="zh-CN" sz="18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目的是打乱明文中各位的顺序</a:t>
            </a:r>
            <a:endParaRPr kumimoji="0" lang="en-US" altLang="zh-CN" sz="1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>
            <a:extLst>
              <a:ext uri="{FF2B5EF4-FFF2-40B4-BE49-F238E27FC236}">
                <a16:creationId xmlns:a16="http://schemas.microsoft.com/office/drawing/2014/main" id="{89CD4E07-7AA7-85D2-8F5B-1F101345EDBB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165850"/>
            <a:ext cx="2133600" cy="4762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0F0E7808-F07B-4669-B251-2AF11EB595E2}" type="slidenum">
              <a:rPr kumimoji="0"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8</a:t>
            </a:fld>
            <a:endParaRPr kumimoji="0" lang="en-US" altLang="zh-CN" sz="1400" b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3358C8C4-4CC8-6354-0F4D-A316C8C1E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21209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kumimoji="0" lang="zh-CN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DF4989AE-55B2-8205-DE53-FEDAE5BBB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0"/>
            <a:ext cx="3887787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3200">
                <a:latin typeface="Arial" panose="020B0604020202020204" pitchFamily="34" charset="0"/>
                <a:ea typeface="黑体" panose="02010609060101010101" pitchFamily="49" charset="-122"/>
              </a:rPr>
              <a:t>第一阶段	初始变换</a:t>
            </a:r>
          </a:p>
        </p:txBody>
      </p:sp>
      <p:sp>
        <p:nvSpPr>
          <p:cNvPr id="187397" name="AutoShape 5">
            <a:extLst>
              <a:ext uri="{FF2B5EF4-FFF2-40B4-BE49-F238E27FC236}">
                <a16:creationId xmlns:a16="http://schemas.microsoft.com/office/drawing/2014/main" id="{197B3E17-22CC-FDEB-C9C9-2F5515DBF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25" y="3038475"/>
            <a:ext cx="1219200" cy="762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IP</a:t>
            </a:r>
          </a:p>
        </p:txBody>
      </p:sp>
      <p:pic>
        <p:nvPicPr>
          <p:cNvPr id="28678" name="Picture 6">
            <a:extLst>
              <a:ext uri="{FF2B5EF4-FFF2-40B4-BE49-F238E27FC236}">
                <a16:creationId xmlns:a16="http://schemas.microsoft.com/office/drawing/2014/main" id="{AE3E74C0-38A5-0602-C7EC-B5DEE4064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844675"/>
            <a:ext cx="3200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>
            <a:extLst>
              <a:ext uri="{FF2B5EF4-FFF2-40B4-BE49-F238E27FC236}">
                <a16:creationId xmlns:a16="http://schemas.microsoft.com/office/drawing/2014/main" id="{170B243D-8D9E-F41A-EC83-6F5CAD61A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900238"/>
            <a:ext cx="31242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400" name="Rectangle 8">
            <a:extLst>
              <a:ext uri="{FF2B5EF4-FFF2-40B4-BE49-F238E27FC236}">
                <a16:creationId xmlns:a16="http://schemas.microsoft.com/office/drawing/2014/main" id="{3ACA8C90-3BAB-592D-518D-88BA0348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2733675"/>
            <a:ext cx="3048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87401" name="Line 9">
            <a:extLst>
              <a:ext uri="{FF2B5EF4-FFF2-40B4-BE49-F238E27FC236}">
                <a16:creationId xmlns:a16="http://schemas.microsoft.com/office/drawing/2014/main" id="{3CF930BC-6AC1-B6FC-9FCA-DE1355CE34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92313" y="2474913"/>
            <a:ext cx="5105400" cy="304800"/>
          </a:xfrm>
          <a:prstGeom prst="line">
            <a:avLst/>
          </a:prstGeom>
          <a:noFill/>
          <a:ln w="38100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7402" name="Rectangle 10">
            <a:extLst>
              <a:ext uri="{FF2B5EF4-FFF2-40B4-BE49-F238E27FC236}">
                <a16:creationId xmlns:a16="http://schemas.microsoft.com/office/drawing/2014/main" id="{A8C90BF5-B4FF-6027-9C42-F90F49A4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2276475"/>
            <a:ext cx="3048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7403" name="Rectangle 11">
            <a:extLst>
              <a:ext uri="{FF2B5EF4-FFF2-40B4-BE49-F238E27FC236}">
                <a16:creationId xmlns:a16="http://schemas.microsoft.com/office/drawing/2014/main" id="{EFA05594-8F9C-DC26-E59B-E5FB20460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8766175" cy="8175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输入明文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64bit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：</a:t>
            </a:r>
          </a:p>
          <a:p>
            <a:pPr eaLnBrk="1" hangingPunct="1"/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01100011 01101111 011</a:t>
            </a:r>
            <a:r>
              <a:rPr kumimoji="0" lang="en-US" altLang="zh-CN" sz="180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1101 01110000 01110101 01110100 01100101 0</a:t>
            </a:r>
            <a:r>
              <a:rPr kumimoji="0" lang="en-US" altLang="zh-CN" sz="180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110010</a:t>
            </a:r>
          </a:p>
        </p:txBody>
      </p:sp>
      <p:sp>
        <p:nvSpPr>
          <p:cNvPr id="187404" name="Rectangle 12">
            <a:extLst>
              <a:ext uri="{FF2B5EF4-FFF2-40B4-BE49-F238E27FC236}">
                <a16:creationId xmlns:a16="http://schemas.microsoft.com/office/drawing/2014/main" id="{ED226A8E-F557-A23F-414A-ACB80DAF1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064125"/>
            <a:ext cx="8421687" cy="17938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经过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IP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置换置换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64bit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输出：</a:t>
            </a:r>
          </a:p>
          <a:p>
            <a:pPr eaLnBrk="1" hangingPunct="1"/>
            <a:r>
              <a:rPr kumimoji="0" lang="en-US" altLang="zh-CN" sz="320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zh-CN" sz="3200">
                <a:solidFill>
                  <a:schemeClr val="bg1"/>
                </a:solidFill>
                <a:latin typeface="Arial" panose="020B0604020202020204" pitchFamily="34" charset="0"/>
              </a:rPr>
              <a:t>1111111  10111</a:t>
            </a:r>
            <a:r>
              <a:rPr kumimoji="0" lang="en-US" altLang="zh-CN" sz="320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3200">
                <a:solidFill>
                  <a:schemeClr val="bg1"/>
                </a:solidFill>
                <a:latin typeface="Arial" panose="020B0604020202020204" pitchFamily="34" charset="0"/>
              </a:rPr>
              <a:t>00    01110110    01010111</a:t>
            </a:r>
          </a:p>
          <a:p>
            <a:pPr eaLnBrk="1" hangingPunct="1"/>
            <a:r>
              <a:rPr kumimoji="0" lang="en-US" altLang="zh-CN" sz="3200">
                <a:solidFill>
                  <a:schemeClr val="bg1"/>
                </a:solidFill>
                <a:latin typeface="Arial" panose="020B0604020202020204" pitchFamily="34" charset="0"/>
              </a:rPr>
              <a:t>00000000  11111111   00000110   10000011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 animBg="1" autoUpdateAnimBg="0"/>
      <p:bldP spid="187400" grpId="0" animBg="1"/>
      <p:bldP spid="187402" grpId="0" animBg="1" autoUpdateAnimBg="0"/>
      <p:bldP spid="187403" grpId="0" animBg="1"/>
      <p:bldP spid="1874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A969C37-48AF-2EB7-268C-056A6E574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Feistel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B0DD9042-C63B-D505-ACA0-A8D97CDE9C92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251520" y="1258095"/>
                <a:ext cx="3816350" cy="4032250"/>
              </a:xfrm>
            </p:spPr>
            <p:txBody>
              <a:bodyPr/>
              <a:lstStyle/>
              <a:p>
                <a:pPr marL="0" indent="471488" eaLnBrk="1" hangingPunct="1"/>
                <a:r>
                  <a:rPr lang="en-US" altLang="zh-CN" sz="2000" dirty="0">
                    <a:latin typeface="+mj-ea"/>
                    <a:ea typeface="+mj-ea"/>
                  </a:rPr>
                  <a:t>2. </a:t>
                </a:r>
                <a:r>
                  <a:rPr lang="zh-CN" altLang="en-US" sz="2000" dirty="0">
                    <a:latin typeface="+mj-ea"/>
                    <a:ea typeface="+mj-ea"/>
                  </a:rPr>
                  <a:t>按下述规则进行</a:t>
                </a:r>
                <a:r>
                  <a:rPr lang="en-US" altLang="zh-CN" sz="2000" dirty="0">
                    <a:latin typeface="+mj-ea"/>
                    <a:ea typeface="+mj-ea"/>
                  </a:rPr>
                  <a:t>16</a:t>
                </a:r>
                <a:r>
                  <a:rPr lang="zh-CN" altLang="en-US" sz="2000" dirty="0">
                    <a:latin typeface="+mj-ea"/>
                    <a:ea typeface="+mj-ea"/>
                  </a:rPr>
                  <a:t>次迭代，即</a:t>
                </a:r>
                <a:r>
                  <a:rPr lang="en-US" altLang="zh-CN" sz="2000" dirty="0">
                    <a:latin typeface="+mj-ea"/>
                    <a:ea typeface="+mj-ea"/>
                  </a:rPr>
                  <a:t>1≤i≤16</a:t>
                </a:r>
              </a:p>
              <a:p>
                <a:pPr marL="0" indent="471488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2000" b="0" dirty="0">
                  <a:latin typeface="+mj-ea"/>
                  <a:ea typeface="+mj-ea"/>
                </a:endParaRPr>
              </a:p>
              <a:p>
                <a:pPr marL="0" indent="471488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⊕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−1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latin typeface="+mj-ea"/>
                  <a:ea typeface="+mj-ea"/>
                </a:endParaRPr>
              </a:p>
              <a:p>
                <a:pPr marL="0" indent="471488" eaLnBrk="1" hangingPunct="1"/>
                <a:r>
                  <a:rPr lang="en-US" altLang="zh-CN" sz="2000" dirty="0">
                    <a:latin typeface="+mj-ea"/>
                    <a:ea typeface="+mj-ea"/>
                  </a:rPr>
                  <a:t>    </a:t>
                </a:r>
              </a:p>
              <a:p>
                <a:pPr marL="0" indent="471488" eaLnBrk="1" hangingPunct="1"/>
                <a:r>
                  <a:rPr lang="en-US" altLang="zh-CN" sz="2000" dirty="0">
                    <a:latin typeface="+mj-ea"/>
                    <a:ea typeface="+mj-ea"/>
                  </a:rPr>
                  <a:t> </a:t>
                </a:r>
                <a:r>
                  <a:rPr lang="zh-CN" altLang="en-US" sz="2000" dirty="0">
                    <a:latin typeface="+mj-ea"/>
                    <a:ea typeface="+mj-ea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j-ea"/>
                      </a:rPr>
                      <m:t>⊕</m:t>
                    </m:r>
                  </m:oMath>
                </a14:m>
                <a:r>
                  <a:rPr lang="zh-CN" altLang="en-US" sz="2000" dirty="0">
                    <a:latin typeface="+mj-ea"/>
                    <a:ea typeface="+mj-ea"/>
                  </a:rPr>
                  <a:t>是对应比特的模</a:t>
                </a:r>
                <a:r>
                  <a:rPr lang="en-US" altLang="zh-CN" sz="2000" dirty="0">
                    <a:latin typeface="+mj-ea"/>
                    <a:ea typeface="+mj-ea"/>
                  </a:rPr>
                  <a:t>2</a:t>
                </a:r>
                <a:r>
                  <a:rPr lang="zh-CN" altLang="en-US" sz="2000" dirty="0">
                    <a:latin typeface="+mj-ea"/>
                    <a:ea typeface="+mj-ea"/>
                  </a:rPr>
                  <a:t>加，</a:t>
                </a:r>
                <a:r>
                  <a:rPr lang="en-US" altLang="zh-CN" sz="2000" dirty="0">
                    <a:latin typeface="+mj-ea"/>
                    <a:ea typeface="+mj-ea"/>
                  </a:rPr>
                  <a:t>f</a:t>
                </a:r>
                <a:r>
                  <a:rPr lang="zh-CN" altLang="en-US" sz="2000" dirty="0">
                    <a:latin typeface="+mj-ea"/>
                    <a:ea typeface="+mj-ea"/>
                  </a:rPr>
                  <a:t>是一个函数（称为轮函数）；</a:t>
                </a:r>
              </a:p>
              <a:p>
                <a:pPr marL="0" indent="471488" eaLnBrk="1" hangingPunct="1"/>
                <a:r>
                  <a:rPr lang="en-US" altLang="zh-CN" sz="2000" dirty="0">
                    <a:latin typeface="+mj-ea"/>
                    <a:ea typeface="+mj-ea"/>
                  </a:rPr>
                  <a:t>16</a:t>
                </a:r>
                <a:r>
                  <a:rPr lang="zh-CN" altLang="en-US" sz="2000" dirty="0">
                    <a:latin typeface="+mj-ea"/>
                    <a:ea typeface="+mj-ea"/>
                  </a:rPr>
                  <a:t>个长度为</a:t>
                </a:r>
                <a:r>
                  <a:rPr lang="en-US" altLang="zh-CN" sz="2000" dirty="0">
                    <a:latin typeface="+mj-ea"/>
                    <a:ea typeface="+mj-ea"/>
                  </a:rPr>
                  <a:t>48</a:t>
                </a:r>
                <a:r>
                  <a:rPr lang="zh-CN" altLang="en-US" sz="2000" dirty="0">
                    <a:latin typeface="+mj-ea"/>
                    <a:ea typeface="+mj-ea"/>
                  </a:rPr>
                  <a:t>比特的子密钥</a:t>
                </a:r>
                <a:r>
                  <a:rPr lang="en-US" altLang="zh-CN" sz="2000" dirty="0">
                    <a:latin typeface="+mj-ea"/>
                    <a:ea typeface="+mj-ea"/>
                  </a:rPr>
                  <a:t>K</a:t>
                </a:r>
                <a:r>
                  <a:rPr lang="en-US" altLang="zh-CN" sz="2000" baseline="-25000" dirty="0">
                    <a:latin typeface="+mj-ea"/>
                    <a:ea typeface="+mj-ea"/>
                  </a:rPr>
                  <a:t>i</a:t>
                </a:r>
                <a:r>
                  <a:rPr lang="en-US" altLang="zh-CN" sz="2000" dirty="0">
                    <a:latin typeface="+mj-ea"/>
                    <a:ea typeface="+mj-ea"/>
                  </a:rPr>
                  <a:t>(1≤i≤16)</a:t>
                </a:r>
                <a:r>
                  <a:rPr lang="zh-CN" altLang="en-US" sz="2000" dirty="0">
                    <a:latin typeface="+mj-ea"/>
                    <a:ea typeface="+mj-ea"/>
                  </a:rPr>
                  <a:t>是由密钥</a:t>
                </a:r>
                <a:r>
                  <a:rPr lang="en-US" altLang="zh-CN" sz="2000" dirty="0">
                    <a:latin typeface="+mj-ea"/>
                    <a:ea typeface="+mj-ea"/>
                  </a:rPr>
                  <a:t>k</a:t>
                </a:r>
                <a:r>
                  <a:rPr lang="zh-CN" altLang="en-US" sz="2000" dirty="0">
                    <a:latin typeface="+mj-ea"/>
                    <a:ea typeface="+mj-ea"/>
                  </a:rPr>
                  <a:t>经密钥编排函数计算出来的</a:t>
                </a:r>
                <a:r>
                  <a:rPr lang="en-US" altLang="zh-CN" sz="2000" dirty="0">
                    <a:latin typeface="+mj-ea"/>
                    <a:ea typeface="+mj-ea"/>
                  </a:rPr>
                  <a:t>.</a:t>
                </a:r>
              </a:p>
              <a:p>
                <a:pPr marL="0" indent="471488" eaLnBrk="1" hangingPunct="1"/>
                <a:r>
                  <a:rPr lang="zh-CN" altLang="en-US" sz="2000" dirty="0">
                    <a:solidFill>
                      <a:srgbClr val="FF3300"/>
                    </a:solidFill>
                    <a:latin typeface="+mj-ea"/>
                    <a:ea typeface="+mj-ea"/>
                  </a:rPr>
                  <a:t>最后一轮完成之后，还要进行一次左右交换！！！（切记）</a:t>
                </a:r>
                <a:endParaRPr lang="zh-CN" altLang="en-US" sz="1600" dirty="0">
                  <a:latin typeface="+mj-ea"/>
                  <a:ea typeface="+mj-ea"/>
                </a:endParaRPr>
              </a:p>
              <a:p>
                <a:pPr marL="0" indent="471488"/>
                <a:endParaRPr lang="en-US" altLang="zh-CN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B0DD9042-C63B-D505-ACA0-A8D97CDE9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51520" y="1258095"/>
                <a:ext cx="3816350" cy="4032250"/>
              </a:xfrm>
              <a:blipFill>
                <a:blip r:embed="rId2"/>
                <a:stretch>
                  <a:fillRect l="-1597" t="-453" r="-8307" b="-18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725" name="Object 23">
            <a:extLst>
              <a:ext uri="{FF2B5EF4-FFF2-40B4-BE49-F238E27FC236}">
                <a16:creationId xmlns:a16="http://schemas.microsoft.com/office/drawing/2014/main" id="{57E6CF5E-3B8E-163A-AD2E-9C2D43CA2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1481138"/>
          <a:ext cx="4968875" cy="32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928181" imgH="2541939" progId="Visio.Drawing.11">
                  <p:embed/>
                </p:oleObj>
              </mc:Choice>
              <mc:Fallback>
                <p:oleObj name="Visio" r:id="rId3" imgW="3928181" imgH="2541939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481138"/>
                        <a:ext cx="4968875" cy="321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内容占位符 3">
            <a:extLst>
              <a:ext uri="{FF2B5EF4-FFF2-40B4-BE49-F238E27FC236}">
                <a16:creationId xmlns:a16="http://schemas.microsoft.com/office/drawing/2014/main" id="{AC976AEC-CC6D-A566-D6EB-73F071D8389D}"/>
              </a:ext>
            </a:extLst>
          </p:cNvPr>
          <p:cNvSpPr>
            <a:spLocks noGrp="1" noChangeArrowheads="1"/>
          </p:cNvSpPr>
          <p:nvPr>
            <p:ph sz="quarter" idx="2"/>
          </p:nvPr>
        </p:nvSpPr>
        <p:spPr/>
        <p:txBody>
          <a:bodyPr/>
          <a:lstStyle/>
          <a:p>
            <a:r>
              <a:rPr lang="en-CA" altLang="en-US"/>
              <a:t> 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87C2B8A8-009C-BC3A-247A-179E812106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25413"/>
            <a:ext cx="7772400" cy="782637"/>
          </a:xfrm>
        </p:spPr>
        <p:txBody>
          <a:bodyPr anchor="b"/>
          <a:lstStyle/>
          <a:p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轮函数</a:t>
            </a:r>
            <a:r>
              <a:rPr lang="en-CA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endParaRPr lang="zh-CN" altLang="en-US" sz="400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D15FFF88-41F8-98DC-494F-42413DE3ED2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8172F2D5-BBF0-42CD-A08B-9EEBD53AA2A7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10</a:t>
            </a:fld>
            <a:endParaRPr kumimoji="0" lang="en-US" altLang="zh-CN" sz="1400"/>
          </a:p>
        </p:txBody>
      </p:sp>
      <p:pic>
        <p:nvPicPr>
          <p:cNvPr id="31748" name="图片 1">
            <a:extLst>
              <a:ext uri="{FF2B5EF4-FFF2-40B4-BE49-F238E27FC236}">
                <a16:creationId xmlns:a16="http://schemas.microsoft.com/office/drawing/2014/main" id="{A0ADC587-2337-593F-F3C1-5A0CDBEA8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144588"/>
            <a:ext cx="8909050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B5486C3A-3CAB-22A8-FC1B-80A2C3C706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Feistel</a:t>
            </a:r>
            <a:r>
              <a:rPr lang="zh-CN" altLang="en-US" sz="4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</a:p>
        </p:txBody>
      </p:sp>
      <p:sp>
        <p:nvSpPr>
          <p:cNvPr id="32771" name="灯片编号占位符 3">
            <a:extLst>
              <a:ext uri="{FF2B5EF4-FFF2-40B4-BE49-F238E27FC236}">
                <a16:creationId xmlns:a16="http://schemas.microsoft.com/office/drawing/2014/main" id="{683BF977-4C59-2879-FE24-0385F15404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B5369ED7-BAE4-4EFE-9D79-5CA87AF51FA8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11</a:t>
            </a:fld>
            <a:endParaRPr kumimoji="0" lang="en-US" altLang="zh-CN" sz="1400"/>
          </a:p>
        </p:txBody>
      </p:sp>
      <p:graphicFrame>
        <p:nvGraphicFramePr>
          <p:cNvPr id="234500" name="Group 4">
            <a:extLst>
              <a:ext uri="{FF2B5EF4-FFF2-40B4-BE49-F238E27FC236}">
                <a16:creationId xmlns:a16="http://schemas.microsoft.com/office/drawing/2014/main" id="{29FE0982-A4EF-6E93-6B44-05F884157FF7}"/>
              </a:ext>
            </a:extLst>
          </p:cNvPr>
          <p:cNvGraphicFramePr>
            <a:graphicFrameLocks noGrp="1"/>
          </p:cNvGraphicFramePr>
          <p:nvPr/>
        </p:nvGraphicFramePr>
        <p:xfrm>
          <a:off x="2124075" y="3284538"/>
          <a:ext cx="6072188" cy="2406729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337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IP</a:t>
                      </a:r>
                      <a:r>
                        <a:rPr kumimoji="1" lang="en-US" altLang="zh-CN" sz="1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-1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40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48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16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56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39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55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38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46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37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45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36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44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60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35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43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59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34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42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50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58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5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33</a:t>
                      </a:r>
                    </a:p>
                  </a:txBody>
                  <a:tcPr marL="9525" marR="9525" marT="9517" marB="0" anchor="ctr" horzOverflow="overflow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41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49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57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L="9525" marR="9525" marT="9517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850" name="TextBox 23">
            <a:extLst>
              <a:ext uri="{FF2B5EF4-FFF2-40B4-BE49-F238E27FC236}">
                <a16:creationId xmlns:a16="http://schemas.microsoft.com/office/drawing/2014/main" id="{EA23618A-90BA-4647-77DF-3F7AA49A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76700"/>
            <a:ext cx="1357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初始置换的逆置换</a:t>
            </a:r>
            <a:r>
              <a:rPr kumimoji="0"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32851" name="内容占位符 2">
            <a:extLst>
              <a:ext uri="{FF2B5EF4-FFF2-40B4-BE49-F238E27FC236}">
                <a16:creationId xmlns:a16="http://schemas.microsoft.com/office/drawing/2014/main" id="{3FD1AB02-4E74-5570-683E-E19D1FEE398A}"/>
              </a:ext>
            </a:extLst>
          </p:cNvPr>
          <p:cNvSpPr>
            <a:spLocks/>
          </p:cNvSpPr>
          <p:nvPr/>
        </p:nvSpPr>
        <p:spPr bwMode="auto">
          <a:xfrm>
            <a:off x="428625" y="1357313"/>
            <a:ext cx="83058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+mj-ea"/>
                <a:ea typeface="+mj-ea"/>
              </a:rPr>
              <a:t>3.</a:t>
            </a:r>
            <a:r>
              <a:rPr lang="zh-CN" altLang="en-US" sz="2400" dirty="0">
                <a:latin typeface="+mj-ea"/>
                <a:ea typeface="+mj-ea"/>
              </a:rPr>
              <a:t>对比特串</a:t>
            </a:r>
            <a:r>
              <a:rPr lang="en-US" altLang="zh-CN" sz="2400" dirty="0">
                <a:latin typeface="+mj-ea"/>
                <a:ea typeface="+mj-ea"/>
              </a:rPr>
              <a:t>R</a:t>
            </a:r>
            <a:r>
              <a:rPr lang="en-US" altLang="zh-CN" sz="2400" baseline="-25000" dirty="0">
                <a:latin typeface="+mj-ea"/>
                <a:ea typeface="+mj-ea"/>
              </a:rPr>
              <a:t>16</a:t>
            </a:r>
            <a:r>
              <a:rPr lang="en-US" altLang="zh-CN" sz="2400" dirty="0">
                <a:latin typeface="+mj-ea"/>
                <a:ea typeface="+mj-ea"/>
              </a:rPr>
              <a:t>L</a:t>
            </a:r>
            <a:r>
              <a:rPr lang="en-US" altLang="zh-CN" sz="2400" baseline="-25000" dirty="0">
                <a:latin typeface="+mj-ea"/>
                <a:ea typeface="+mj-ea"/>
              </a:rPr>
              <a:t>16</a:t>
            </a:r>
            <a:r>
              <a:rPr lang="zh-CN" altLang="en-US" sz="2400" dirty="0">
                <a:latin typeface="+mj-ea"/>
                <a:ea typeface="+mj-ea"/>
              </a:rPr>
              <a:t>使用逆置换</a:t>
            </a:r>
            <a:r>
              <a:rPr lang="en-US" altLang="zh-CN" sz="2400" dirty="0">
                <a:latin typeface="+mj-ea"/>
                <a:ea typeface="+mj-ea"/>
              </a:rPr>
              <a:t>IP</a:t>
            </a:r>
            <a:r>
              <a:rPr lang="en-US" altLang="zh-CN" sz="2400" baseline="30000" dirty="0">
                <a:latin typeface="+mj-ea"/>
                <a:ea typeface="+mj-ea"/>
              </a:rPr>
              <a:t>-1</a:t>
            </a:r>
            <a:r>
              <a:rPr lang="zh-CN" altLang="en-US" sz="2400" dirty="0">
                <a:latin typeface="+mj-ea"/>
                <a:ea typeface="+mj-ea"/>
              </a:rPr>
              <a:t>得到密文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zh-CN" altLang="en-US" sz="2400" dirty="0">
                <a:latin typeface="+mj-ea"/>
                <a:ea typeface="+mj-ea"/>
              </a:rPr>
              <a:t>，即</a:t>
            </a:r>
            <a:r>
              <a:rPr lang="en-US" altLang="zh-CN" sz="2400" dirty="0">
                <a:latin typeface="+mj-ea"/>
                <a:ea typeface="+mj-ea"/>
              </a:rPr>
              <a:t>C=IP</a:t>
            </a:r>
            <a:r>
              <a:rPr lang="en-US" altLang="zh-CN" sz="2400" baseline="30000" dirty="0">
                <a:latin typeface="+mj-ea"/>
                <a:ea typeface="+mj-ea"/>
              </a:rPr>
              <a:t>-1 </a:t>
            </a:r>
            <a:r>
              <a:rPr lang="en-US" altLang="zh-CN" sz="2400" dirty="0">
                <a:latin typeface="+mj-ea"/>
                <a:ea typeface="+mj-ea"/>
              </a:rPr>
              <a:t>(R</a:t>
            </a:r>
            <a:r>
              <a:rPr lang="en-US" altLang="zh-CN" sz="2400" baseline="-25000" dirty="0">
                <a:latin typeface="+mj-ea"/>
                <a:ea typeface="+mj-ea"/>
              </a:rPr>
              <a:t>16</a:t>
            </a:r>
            <a:r>
              <a:rPr lang="en-US" altLang="zh-CN" sz="2400" dirty="0">
                <a:latin typeface="+mj-ea"/>
                <a:ea typeface="+mj-ea"/>
              </a:rPr>
              <a:t>L</a:t>
            </a:r>
            <a:r>
              <a:rPr lang="en-US" altLang="zh-CN" sz="2400" baseline="-25000" dirty="0">
                <a:latin typeface="+mj-ea"/>
                <a:ea typeface="+mj-ea"/>
              </a:rPr>
              <a:t>16</a:t>
            </a:r>
            <a:r>
              <a:rPr lang="en-US" altLang="zh-CN" sz="2400" dirty="0">
                <a:latin typeface="+mj-ea"/>
                <a:ea typeface="+mj-ea"/>
              </a:rPr>
              <a:t>)</a:t>
            </a:r>
            <a:r>
              <a:rPr lang="zh-CN" altLang="en-US" sz="2400" dirty="0">
                <a:latin typeface="+mj-ea"/>
                <a:ea typeface="+mj-ea"/>
              </a:rPr>
              <a:t>。（</a:t>
            </a:r>
            <a:r>
              <a:rPr lang="zh-CN" altLang="en-US" sz="2400" b="1" dirty="0">
                <a:latin typeface="+mj-ea"/>
                <a:ea typeface="+mj-ea"/>
              </a:rPr>
              <a:t>注意</a:t>
            </a:r>
            <a:r>
              <a:rPr lang="en-US" altLang="zh-CN" sz="2400" b="1" dirty="0">
                <a:latin typeface="+mj-ea"/>
                <a:ea typeface="+mj-ea"/>
              </a:rPr>
              <a:t>L</a:t>
            </a:r>
            <a:r>
              <a:rPr lang="en-US" altLang="zh-CN" sz="2400" b="1" baseline="-25000" dirty="0">
                <a:latin typeface="+mj-ea"/>
                <a:ea typeface="+mj-ea"/>
              </a:rPr>
              <a:t>16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R</a:t>
            </a:r>
            <a:r>
              <a:rPr lang="en-US" altLang="zh-CN" sz="2400" b="1" baseline="-25000" dirty="0">
                <a:latin typeface="+mj-ea"/>
                <a:ea typeface="+mj-ea"/>
              </a:rPr>
              <a:t>16</a:t>
            </a:r>
            <a:r>
              <a:rPr lang="zh-CN" altLang="en-US" sz="2400" b="1" dirty="0">
                <a:latin typeface="+mj-ea"/>
                <a:ea typeface="+mj-ea"/>
              </a:rPr>
              <a:t>的相反顺序</a:t>
            </a:r>
            <a:r>
              <a:rPr lang="zh-CN" altLang="en-US" sz="2400" dirty="0">
                <a:latin typeface="+mj-ea"/>
                <a:ea typeface="+mj-ea"/>
              </a:rPr>
              <a:t>）</a:t>
            </a:r>
          </a:p>
          <a:p>
            <a:pPr eaLnBrk="1" hangingPunct="1"/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>
            <a:extLst>
              <a:ext uri="{FF2B5EF4-FFF2-40B4-BE49-F238E27FC236}">
                <a16:creationId xmlns:a16="http://schemas.microsoft.com/office/drawing/2014/main" id="{33F867D6-7B6A-674D-7499-0FC9E46B3321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165850"/>
            <a:ext cx="2133600" cy="4762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B20EDE3B-3BF0-444C-AE0D-32C68E8FAAD9}" type="slidenum">
              <a:rPr kumimoji="0"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12</a:t>
            </a:fld>
            <a:endParaRPr kumimoji="0" lang="en-US" altLang="zh-CN" sz="1400" b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F767F948-3153-B0FC-09B4-33310F528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21209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kumimoji="0" lang="zh-CN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24" name="AutoShape 4">
            <a:extLst>
              <a:ext uri="{FF2B5EF4-FFF2-40B4-BE49-F238E27FC236}">
                <a16:creationId xmlns:a16="http://schemas.microsoft.com/office/drawing/2014/main" id="{93759A25-11A6-4851-97DE-A332A0C03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2997200"/>
            <a:ext cx="1435100" cy="762000"/>
          </a:xfrm>
          <a:prstGeom prst="rightArrow">
            <a:avLst>
              <a:gd name="adj1" fmla="val 50000"/>
              <a:gd name="adj2" fmla="val 47083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IP</a:t>
            </a:r>
            <a:r>
              <a:rPr lang="zh-CN" altLang="en-US" sz="2400" b="1">
                <a:ea typeface="宋体" panose="02010600030101010101" pitchFamily="2" charset="-122"/>
              </a:rPr>
              <a:t>逆置换</a:t>
            </a:r>
          </a:p>
        </p:txBody>
      </p:sp>
      <p:pic>
        <p:nvPicPr>
          <p:cNvPr id="33797" name="Picture 5">
            <a:extLst>
              <a:ext uri="{FF2B5EF4-FFF2-40B4-BE49-F238E27FC236}">
                <a16:creationId xmlns:a16="http://schemas.microsoft.com/office/drawing/2014/main" id="{D2EA1FC8-EB37-535B-A0D6-E5769E910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73238"/>
            <a:ext cx="31242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26" name="Rectangle 6">
            <a:extLst>
              <a:ext uri="{FF2B5EF4-FFF2-40B4-BE49-F238E27FC236}">
                <a16:creationId xmlns:a16="http://schemas.microsoft.com/office/drawing/2014/main" id="{0813CF38-514F-4E77-4B07-4CD2ACF13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3048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35527" name="Rectangle 7">
            <a:extLst>
              <a:ext uri="{FF2B5EF4-FFF2-40B4-BE49-F238E27FC236}">
                <a16:creationId xmlns:a16="http://schemas.microsoft.com/office/drawing/2014/main" id="{2EC55A22-527F-4DBC-1720-B87AB530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9464675" cy="8175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输入明文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64bit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： </a:t>
            </a:r>
          </a:p>
          <a:p>
            <a:pPr eaLnBrk="1" hangingPunct="1"/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11111111 10111000    01110110    01010111 0000000</a:t>
            </a:r>
            <a:r>
              <a:rPr kumimoji="0" lang="en-US" altLang="zh-CN" sz="180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  11111111   00000110   10000011</a:t>
            </a:r>
          </a:p>
        </p:txBody>
      </p:sp>
      <p:sp>
        <p:nvSpPr>
          <p:cNvPr id="235528" name="Rectangle 8">
            <a:extLst>
              <a:ext uri="{FF2B5EF4-FFF2-40B4-BE49-F238E27FC236}">
                <a16:creationId xmlns:a16="http://schemas.microsoft.com/office/drawing/2014/main" id="{9582BC98-299D-3F02-71CE-E86029CA3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064125"/>
            <a:ext cx="7745412" cy="17938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经过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IP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逆置换置换</a:t>
            </a:r>
            <a:r>
              <a:rPr kumimoji="0"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64bit</a:t>
            </a:r>
            <a:r>
              <a:rPr kumimoji="0"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输出：</a:t>
            </a:r>
          </a:p>
          <a:p>
            <a:pPr eaLnBrk="1" hangingPunct="1"/>
            <a:r>
              <a:rPr kumimoji="0" lang="en-US" altLang="zh-CN" sz="3200">
                <a:solidFill>
                  <a:srgbClr val="FF3300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3200">
                <a:solidFill>
                  <a:schemeClr val="bg1"/>
                </a:solidFill>
                <a:latin typeface="Arial" panose="020B0604020202020204" pitchFamily="34" charset="0"/>
              </a:rPr>
              <a:t>1100011 01101111 01101101 01110000</a:t>
            </a:r>
          </a:p>
          <a:p>
            <a:pPr eaLnBrk="1" hangingPunct="1"/>
            <a:r>
              <a:rPr kumimoji="0" lang="en-US" altLang="zh-CN" sz="3200">
                <a:solidFill>
                  <a:schemeClr val="bg1"/>
                </a:solidFill>
                <a:latin typeface="Arial" panose="020B0604020202020204" pitchFamily="34" charset="0"/>
              </a:rPr>
              <a:t>01110101 01110100 01100101 01110010</a:t>
            </a:r>
          </a:p>
        </p:txBody>
      </p:sp>
      <p:sp>
        <p:nvSpPr>
          <p:cNvPr id="33801" name="Text Box 2">
            <a:extLst>
              <a:ext uri="{FF2B5EF4-FFF2-40B4-BE49-F238E27FC236}">
                <a16:creationId xmlns:a16="http://schemas.microsoft.com/office/drawing/2014/main" id="{04D7EFF4-64AF-83A9-CF08-79212D736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0"/>
            <a:ext cx="4683125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3200">
                <a:latin typeface="Arial" panose="020B0604020202020204" pitchFamily="34" charset="0"/>
                <a:ea typeface="黑体" panose="02010609060101010101" pitchFamily="49" charset="-122"/>
              </a:rPr>
              <a:t>第三阶段	逆初始变换</a:t>
            </a:r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8875B4DA-BFB3-F2FE-8232-7BA6E88B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1773238"/>
            <a:ext cx="3673475" cy="3024187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175" indent="468313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it-IT" altLang="zh-CN" sz="1800" b="1">
                <a:solidFill>
                  <a:schemeClr val="bg1"/>
                </a:solidFill>
                <a:latin typeface="宋体" panose="02010600030101010101" pitchFamily="2" charset="-122"/>
              </a:rPr>
              <a:t>40</a:t>
            </a:r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 8 48 16 56 24 64 32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39 7 47 15 55 23 63 31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38 6 46 14 54 22 62 30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37 5 45 13 53 21 61 29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36 4 44 12 52 20 60 28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35 3 43 11 51 19 59 27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34 2 42 10 50 18 58 26</a:t>
            </a:r>
          </a:p>
          <a:p>
            <a:r>
              <a:rPr lang="it-IT" altLang="zh-CN" sz="1800">
                <a:solidFill>
                  <a:schemeClr val="bg1"/>
                </a:solidFill>
                <a:latin typeface="宋体" panose="02010600030101010101" pitchFamily="2" charset="-122"/>
              </a:rPr>
              <a:t>33 1 41  9 49 17 57 25</a:t>
            </a:r>
            <a:endParaRPr lang="en-US" altLang="zh-CN" sz="18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35531" name="Rectangle 11">
            <a:extLst>
              <a:ext uri="{FF2B5EF4-FFF2-40B4-BE49-F238E27FC236}">
                <a16:creationId xmlns:a16="http://schemas.microsoft.com/office/drawing/2014/main" id="{D6F9E367-850D-345C-5ED6-D3515782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844675"/>
            <a:ext cx="3048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35532" name="Line 12">
            <a:extLst>
              <a:ext uri="{FF2B5EF4-FFF2-40B4-BE49-F238E27FC236}">
                <a16:creationId xmlns:a16="http://schemas.microsoft.com/office/drawing/2014/main" id="{650C7D13-46AB-CE5A-7948-ADB76511A8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2205038"/>
            <a:ext cx="1728788" cy="1152525"/>
          </a:xfrm>
          <a:prstGeom prst="line">
            <a:avLst/>
          </a:prstGeom>
          <a:noFill/>
          <a:ln w="38100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 animBg="1" autoUpdateAnimBg="0"/>
      <p:bldP spid="235526" grpId="0" animBg="1"/>
      <p:bldP spid="235527" grpId="0" animBg="1"/>
      <p:bldP spid="235528" grpId="0" animBg="1"/>
      <p:bldP spid="23553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2FAB1C05-4314-0CAF-13DC-254FA32156FC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165850"/>
            <a:ext cx="2133600" cy="4762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591EA0A7-775F-46C2-A0C9-42F91F68AB63}" type="slidenum">
              <a:rPr kumimoji="0"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13</a:t>
            </a:fld>
            <a:endParaRPr kumimoji="0" lang="en-US" altLang="zh-CN" sz="1400" b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86E2AF56-C0F6-431E-936E-DE2831C0C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908050"/>
          <a:ext cx="3090863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2762392" imgH="2324219" progId="PBrush">
                  <p:embed/>
                </p:oleObj>
              </mc:Choice>
              <mc:Fallback>
                <p:oleObj name="位图图像" r:id="rId3" imgW="2762392" imgH="2324219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908050"/>
                        <a:ext cx="3090863" cy="255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7115F688-0E38-A906-A726-F88812E67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955675"/>
          <a:ext cx="2765425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4723810" imgH="3990476" progId="PBrush">
                  <p:embed/>
                </p:oleObj>
              </mc:Choice>
              <mc:Fallback>
                <p:oleObj name="位图图像" r:id="rId5" imgW="4723810" imgH="3990476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55675"/>
                        <a:ext cx="2765425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D65C220D-74CD-A9BC-73DB-9EC98F3FA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900488"/>
          <a:ext cx="2765425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3149762" imgH="2660787" progId="PBrush">
                  <p:embed/>
                </p:oleObj>
              </mc:Choice>
              <mc:Fallback>
                <p:oleObj name="位图图像" r:id="rId7" imgW="3149762" imgH="2660787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00488"/>
                        <a:ext cx="2765425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F5EEA9D3-A21A-BF25-F6FC-535EA1626B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3695700"/>
          <a:ext cx="2949575" cy="273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9" imgW="2444876" imgH="2095608" progId="PBrush">
                  <p:embed/>
                </p:oleObj>
              </mc:Choice>
              <mc:Fallback>
                <p:oleObj name="位图图像" r:id="rId9" imgW="2444876" imgH="2095608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3695700"/>
                        <a:ext cx="2949575" cy="273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6">
            <a:extLst>
              <a:ext uri="{FF2B5EF4-FFF2-40B4-BE49-F238E27FC236}">
                <a16:creationId xmlns:a16="http://schemas.microsoft.com/office/drawing/2014/main" id="{F0FB6672-7DAC-85F3-2B17-AAC41E743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684338"/>
            <a:ext cx="282575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00587B2E-EE47-AB78-1047-770DB4B12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1252538"/>
            <a:ext cx="280987" cy="3048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D69786FB-A5BF-A9D7-8C06-EC2129206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1773238"/>
          <a:ext cx="16875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00100" imgH="228600" progId="Equation.DSMT4">
                  <p:embed/>
                </p:oleObj>
              </mc:Choice>
              <mc:Fallback>
                <p:oleObj name="Equation" r:id="rId11" imgW="8001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contrast="24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773238"/>
                        <a:ext cx="1687513" cy="5222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Rectangle 9">
            <a:extLst>
              <a:ext uri="{FF2B5EF4-FFF2-40B4-BE49-F238E27FC236}">
                <a16:creationId xmlns:a16="http://schemas.microsoft.com/office/drawing/2014/main" id="{26327F8A-E304-CA77-1A04-30084D28F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221163"/>
            <a:ext cx="280988" cy="3048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E712ECEA-08CE-C5D3-700D-09DBA847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419600"/>
            <a:ext cx="282575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9F766FAB-0606-DE9D-46A2-1C084E9FCB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4365625"/>
          <a:ext cx="13858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300" imgH="228600" progId="Equation.DSMT4">
                  <p:embed/>
                </p:oleObj>
              </mc:Choice>
              <mc:Fallback>
                <p:oleObj name="Equation" r:id="rId13" imgW="8763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contrast="3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365625"/>
                        <a:ext cx="1385888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Line 12">
            <a:extLst>
              <a:ext uri="{FF2B5EF4-FFF2-40B4-BE49-F238E27FC236}">
                <a16:creationId xmlns:a16="http://schemas.microsoft.com/office/drawing/2014/main" id="{CCE3382E-4B10-C5F7-B097-4009DDF0F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1341438"/>
            <a:ext cx="4105275" cy="43180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4" name="AutoShape 13">
            <a:extLst>
              <a:ext uri="{FF2B5EF4-FFF2-40B4-BE49-F238E27FC236}">
                <a16:creationId xmlns:a16="http://schemas.microsoft.com/office/drawing/2014/main" id="{14A3AA90-06B1-1134-A1A5-8EB5471CB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324100"/>
            <a:ext cx="835025" cy="533400"/>
          </a:xfrm>
          <a:prstGeom prst="rightArrow">
            <a:avLst>
              <a:gd name="adj1" fmla="val 50000"/>
              <a:gd name="adj2" fmla="val 391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35855" name="AutoShape 14">
            <a:extLst>
              <a:ext uri="{FF2B5EF4-FFF2-40B4-BE49-F238E27FC236}">
                <a16:creationId xmlns:a16="http://schemas.microsoft.com/office/drawing/2014/main" id="{A97225FF-03DB-3024-F0E5-137B37176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4457700"/>
            <a:ext cx="765175" cy="533400"/>
          </a:xfrm>
          <a:prstGeom prst="rightArrow">
            <a:avLst>
              <a:gd name="adj1" fmla="val 50000"/>
              <a:gd name="adj2" fmla="val 358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latin typeface="Comic Sans MS" panose="030F0702030302020204" pitchFamily="66" charset="0"/>
                <a:ea typeface="宋体" panose="02010600030101010101" pitchFamily="2" charset="-122"/>
              </a:rPr>
              <a:t>IP</a:t>
            </a:r>
            <a:r>
              <a:rPr lang="en-US" altLang="zh-CN" sz="2000" baseline="30000">
                <a:latin typeface="Comic Sans MS" panose="030F0702030302020204" pitchFamily="66" charset="0"/>
                <a:ea typeface="宋体" panose="02010600030101010101" pitchFamily="2" charset="-122"/>
              </a:rPr>
              <a:t>—1</a:t>
            </a:r>
          </a:p>
        </p:txBody>
      </p:sp>
      <p:sp>
        <p:nvSpPr>
          <p:cNvPr id="35856" name="Line 15">
            <a:extLst>
              <a:ext uri="{FF2B5EF4-FFF2-40B4-BE49-F238E27FC236}">
                <a16:creationId xmlns:a16="http://schemas.microsoft.com/office/drawing/2014/main" id="{BB10E58E-779D-50F3-39E2-BC4156A9AE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7313" y="1557338"/>
            <a:ext cx="3671887" cy="2735262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7" name="Line 16">
            <a:extLst>
              <a:ext uri="{FF2B5EF4-FFF2-40B4-BE49-F238E27FC236}">
                <a16:creationId xmlns:a16="http://schemas.microsoft.com/office/drawing/2014/main" id="{3F7EE9E0-F787-F1B0-76D4-AE12F1797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365625"/>
            <a:ext cx="2592387" cy="142875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8" name="Text Box 17">
            <a:extLst>
              <a:ext uri="{FF2B5EF4-FFF2-40B4-BE49-F238E27FC236}">
                <a16:creationId xmlns:a16="http://schemas.microsoft.com/office/drawing/2014/main" id="{EBC0F998-AE65-0789-10B6-D9159D763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34940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32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IP</a:t>
            </a:r>
            <a:r>
              <a:rPr kumimoji="0" lang="zh-CN" altLang="en-US" sz="32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sz="32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IP</a:t>
            </a:r>
            <a:r>
              <a:rPr kumimoji="0" lang="en-US" altLang="zh-CN" sz="3200" baseline="30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-1</a:t>
            </a:r>
            <a:r>
              <a:rPr kumimoji="0" lang="zh-CN" altLang="en-US" sz="32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之间的关系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8177C491-C649-810E-3BDC-A91C162EB0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>
                <a:solidFill>
                  <a:schemeClr val="tx1"/>
                </a:solidFill>
                <a:ea typeface="华文楷体" panose="02010600040101010101" pitchFamily="2" charset="-122"/>
              </a:rPr>
              <a:t>DES</a:t>
            </a:r>
            <a:r>
              <a:rPr lang="zh-CN" altLang="en-US">
                <a:solidFill>
                  <a:schemeClr val="tx1"/>
                </a:solidFill>
                <a:ea typeface="华文楷体" panose="02010600040101010101" pitchFamily="2" charset="-122"/>
              </a:rPr>
              <a:t>的轮函数</a:t>
            </a:r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044A621A-AD30-A52B-A59A-0C19A2EBAF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D6B8B665-68AA-4708-9976-4023CAD4D70E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14</a:t>
            </a:fld>
            <a:endParaRPr kumimoji="0" lang="en-US" altLang="zh-CN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9E2C8-8FE2-B7C4-2367-CFF668F126A7}"/>
              </a:ext>
            </a:extLst>
          </p:cNvPr>
          <p:cNvSpPr txBox="1"/>
          <p:nvPr/>
        </p:nvSpPr>
        <p:spPr>
          <a:xfrm>
            <a:off x="1071563" y="1143000"/>
            <a:ext cx="1785937" cy="37941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1800" dirty="0">
                <a:solidFill>
                  <a:srgbClr val="000000"/>
                </a:solidFill>
              </a:rPr>
              <a:t>R</a:t>
            </a:r>
            <a:r>
              <a:rPr kumimoji="0" lang="en-US" altLang="zh-CN" sz="1200" dirty="0">
                <a:solidFill>
                  <a:srgbClr val="000000"/>
                </a:solidFill>
              </a:rPr>
              <a:t>i-1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73717-7F51-597D-5B3F-07E85564125C}"/>
              </a:ext>
            </a:extLst>
          </p:cNvPr>
          <p:cNvSpPr txBox="1"/>
          <p:nvPr/>
        </p:nvSpPr>
        <p:spPr>
          <a:xfrm>
            <a:off x="3929063" y="1143000"/>
            <a:ext cx="1785937" cy="37941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1800">
                <a:solidFill>
                  <a:srgbClr val="000000"/>
                </a:solidFill>
              </a:rPr>
              <a:t>K</a:t>
            </a:r>
            <a:r>
              <a:rPr kumimoji="0" lang="en-US" altLang="zh-CN" sz="12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92E16-B692-B46B-38C8-4786253EF392}"/>
              </a:ext>
            </a:extLst>
          </p:cNvPr>
          <p:cNvSpPr txBox="1"/>
          <p:nvPr/>
        </p:nvSpPr>
        <p:spPr>
          <a:xfrm>
            <a:off x="1071563" y="2143125"/>
            <a:ext cx="1785937" cy="40011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 dirty="0">
                <a:solidFill>
                  <a:srgbClr val="000000"/>
                </a:solidFill>
                <a:latin typeface="Tahoma" pitchFamily="34" charset="0"/>
              </a:rPr>
              <a:t>E (</a:t>
            </a:r>
            <a:r>
              <a:rPr kumimoji="0" lang="en-US" altLang="zh-CN" sz="1800" dirty="0">
                <a:solidFill>
                  <a:srgbClr val="000000"/>
                </a:solidFill>
              </a:rPr>
              <a:t>R</a:t>
            </a:r>
            <a:r>
              <a:rPr kumimoji="0" lang="en-US" altLang="zh-CN" sz="1200" dirty="0">
                <a:solidFill>
                  <a:srgbClr val="000000"/>
                </a:solidFill>
              </a:rPr>
              <a:t>i-1</a:t>
            </a:r>
            <a:r>
              <a:rPr kumimoji="0" lang="en-US" altLang="zh-CN" sz="2000" dirty="0">
                <a:solidFill>
                  <a:srgbClr val="000000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EAD29-6BAE-70E0-014B-6448612B00D2}"/>
              </a:ext>
            </a:extLst>
          </p:cNvPr>
          <p:cNvSpPr txBox="1"/>
          <p:nvPr/>
        </p:nvSpPr>
        <p:spPr>
          <a:xfrm>
            <a:off x="1214438" y="3214688"/>
            <a:ext cx="785812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2834A-7ED4-D00D-5C0B-1A71D62A0BCD}"/>
              </a:ext>
            </a:extLst>
          </p:cNvPr>
          <p:cNvSpPr txBox="1"/>
          <p:nvPr/>
        </p:nvSpPr>
        <p:spPr>
          <a:xfrm>
            <a:off x="2000250" y="3214688"/>
            <a:ext cx="785813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5E8507-6143-C4AA-E7D1-FF55DC7A0773}"/>
              </a:ext>
            </a:extLst>
          </p:cNvPr>
          <p:cNvSpPr txBox="1"/>
          <p:nvPr/>
        </p:nvSpPr>
        <p:spPr>
          <a:xfrm>
            <a:off x="2786063" y="3214688"/>
            <a:ext cx="785812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06F66-6936-13DA-7FAB-723F3F2AA3B8}"/>
              </a:ext>
            </a:extLst>
          </p:cNvPr>
          <p:cNvSpPr txBox="1"/>
          <p:nvPr/>
        </p:nvSpPr>
        <p:spPr>
          <a:xfrm>
            <a:off x="3571875" y="3214688"/>
            <a:ext cx="785813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CB02B0-227A-7A83-3524-CAC04AD6D58F}"/>
              </a:ext>
            </a:extLst>
          </p:cNvPr>
          <p:cNvSpPr txBox="1"/>
          <p:nvPr/>
        </p:nvSpPr>
        <p:spPr>
          <a:xfrm>
            <a:off x="4357688" y="3214688"/>
            <a:ext cx="785812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49B0F-3723-0F5D-8E04-AE44C5ED64E4}"/>
              </a:ext>
            </a:extLst>
          </p:cNvPr>
          <p:cNvSpPr txBox="1"/>
          <p:nvPr/>
        </p:nvSpPr>
        <p:spPr>
          <a:xfrm>
            <a:off x="5143500" y="3214688"/>
            <a:ext cx="785813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ADFACF-84CF-CD7B-959A-31512F19A7FD}"/>
              </a:ext>
            </a:extLst>
          </p:cNvPr>
          <p:cNvSpPr txBox="1"/>
          <p:nvPr/>
        </p:nvSpPr>
        <p:spPr>
          <a:xfrm>
            <a:off x="5929313" y="3214688"/>
            <a:ext cx="785812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4DB5D4-5BF9-4CA9-2E2A-1C9484A63729}"/>
              </a:ext>
            </a:extLst>
          </p:cNvPr>
          <p:cNvSpPr txBox="1"/>
          <p:nvPr/>
        </p:nvSpPr>
        <p:spPr>
          <a:xfrm>
            <a:off x="6715125" y="3214688"/>
            <a:ext cx="785813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B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C691D-8F32-C2B5-87C6-09C3DBE2B091}"/>
              </a:ext>
            </a:extLst>
          </p:cNvPr>
          <p:cNvSpPr txBox="1"/>
          <p:nvPr/>
        </p:nvSpPr>
        <p:spPr>
          <a:xfrm>
            <a:off x="1314450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CCBA9-30D9-0D8D-4DBF-0F0924321994}"/>
              </a:ext>
            </a:extLst>
          </p:cNvPr>
          <p:cNvSpPr txBox="1"/>
          <p:nvPr/>
        </p:nvSpPr>
        <p:spPr>
          <a:xfrm>
            <a:off x="2114550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98C1A3-981E-724E-7EC6-500754DD39C1}"/>
              </a:ext>
            </a:extLst>
          </p:cNvPr>
          <p:cNvSpPr txBox="1"/>
          <p:nvPr/>
        </p:nvSpPr>
        <p:spPr>
          <a:xfrm>
            <a:off x="2900363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5481B-90B0-EC62-6BCD-5AE8D09E152B}"/>
              </a:ext>
            </a:extLst>
          </p:cNvPr>
          <p:cNvSpPr txBox="1"/>
          <p:nvPr/>
        </p:nvSpPr>
        <p:spPr>
          <a:xfrm>
            <a:off x="3686175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122DB-9B7C-910D-45F4-F9EDC3F134FA}"/>
              </a:ext>
            </a:extLst>
          </p:cNvPr>
          <p:cNvSpPr txBox="1"/>
          <p:nvPr/>
        </p:nvSpPr>
        <p:spPr>
          <a:xfrm>
            <a:off x="4471988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A621B-40FE-C766-9D93-C5B1548E0C75}"/>
              </a:ext>
            </a:extLst>
          </p:cNvPr>
          <p:cNvSpPr txBox="1"/>
          <p:nvPr/>
        </p:nvSpPr>
        <p:spPr>
          <a:xfrm>
            <a:off x="5257800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F41920-1E0C-8079-416A-A61A8EB2FE09}"/>
              </a:ext>
            </a:extLst>
          </p:cNvPr>
          <p:cNvSpPr txBox="1"/>
          <p:nvPr/>
        </p:nvSpPr>
        <p:spPr>
          <a:xfrm>
            <a:off x="6043613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BD4D43-F353-B11C-3B57-74B7D6143329}"/>
              </a:ext>
            </a:extLst>
          </p:cNvPr>
          <p:cNvSpPr txBox="1"/>
          <p:nvPr/>
        </p:nvSpPr>
        <p:spPr>
          <a:xfrm>
            <a:off x="6829425" y="400050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F1856-46D9-7C75-10F5-7FE65D461B0C}"/>
              </a:ext>
            </a:extLst>
          </p:cNvPr>
          <p:cNvSpPr txBox="1"/>
          <p:nvPr/>
        </p:nvSpPr>
        <p:spPr>
          <a:xfrm>
            <a:off x="20859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7F892-977E-C8AD-5DBB-100678FFC85D}"/>
              </a:ext>
            </a:extLst>
          </p:cNvPr>
          <p:cNvSpPr txBox="1"/>
          <p:nvPr/>
        </p:nvSpPr>
        <p:spPr>
          <a:xfrm>
            <a:off x="26574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D8406F-7216-36A4-0070-2DFE6AC549E9}"/>
              </a:ext>
            </a:extLst>
          </p:cNvPr>
          <p:cNvSpPr txBox="1"/>
          <p:nvPr/>
        </p:nvSpPr>
        <p:spPr>
          <a:xfrm>
            <a:off x="32289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DC2ED1-AA6E-0E3D-893F-A5313CD88E23}"/>
              </a:ext>
            </a:extLst>
          </p:cNvPr>
          <p:cNvSpPr txBox="1"/>
          <p:nvPr/>
        </p:nvSpPr>
        <p:spPr>
          <a:xfrm>
            <a:off x="38004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3B26B-40F3-69EF-5C64-E56785108230}"/>
              </a:ext>
            </a:extLst>
          </p:cNvPr>
          <p:cNvSpPr txBox="1"/>
          <p:nvPr/>
        </p:nvSpPr>
        <p:spPr>
          <a:xfrm>
            <a:off x="43719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F4AC2-86FB-7E5C-DCFA-71BB4A635408}"/>
              </a:ext>
            </a:extLst>
          </p:cNvPr>
          <p:cNvSpPr txBox="1"/>
          <p:nvPr/>
        </p:nvSpPr>
        <p:spPr>
          <a:xfrm>
            <a:off x="49434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7D358C-ED6F-325E-9716-660C11E405C4}"/>
              </a:ext>
            </a:extLst>
          </p:cNvPr>
          <p:cNvSpPr txBox="1"/>
          <p:nvPr/>
        </p:nvSpPr>
        <p:spPr>
          <a:xfrm>
            <a:off x="55149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96B18B-CA92-2590-8E54-68D0BA3A1AEF}"/>
              </a:ext>
            </a:extLst>
          </p:cNvPr>
          <p:cNvSpPr txBox="1"/>
          <p:nvPr/>
        </p:nvSpPr>
        <p:spPr>
          <a:xfrm>
            <a:off x="6086475" y="4845050"/>
            <a:ext cx="571500" cy="40005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</a:rPr>
              <a:t>C</a:t>
            </a:r>
            <a:r>
              <a:rPr kumimoji="0" lang="en-US" altLang="zh-CN" sz="2000" baseline="-25000">
                <a:solidFill>
                  <a:srgbClr val="000000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89FF6-0495-72BA-FE67-0D08992F95E0}"/>
              </a:ext>
            </a:extLst>
          </p:cNvPr>
          <p:cNvSpPr txBox="1"/>
          <p:nvPr/>
        </p:nvSpPr>
        <p:spPr>
          <a:xfrm>
            <a:off x="3471863" y="6143625"/>
            <a:ext cx="1785937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sz="1800" dirty="0">
                <a:solidFill>
                  <a:srgbClr val="000000"/>
                </a:solidFill>
                <a:latin typeface="Tahoma" pitchFamily="34" charset="0"/>
              </a:rPr>
              <a:t>f (</a:t>
            </a:r>
            <a:r>
              <a:rPr kumimoji="0" lang="en-US" altLang="zh-CN" sz="1800" dirty="0">
                <a:solidFill>
                  <a:srgbClr val="000000"/>
                </a:solidFill>
              </a:rPr>
              <a:t>R</a:t>
            </a:r>
            <a:r>
              <a:rPr kumimoji="0" lang="en-US" altLang="zh-CN" sz="1200" dirty="0">
                <a:solidFill>
                  <a:srgbClr val="000000"/>
                </a:solidFill>
              </a:rPr>
              <a:t>i-1</a:t>
            </a:r>
            <a:r>
              <a:rPr kumimoji="0" lang="en-US" altLang="zh-CN" sz="1800" dirty="0">
                <a:solidFill>
                  <a:srgbClr val="000000"/>
                </a:solidFill>
                <a:latin typeface="Tahoma" pitchFamily="34" charset="0"/>
              </a:rPr>
              <a:t> ,K</a:t>
            </a:r>
            <a:r>
              <a:rPr kumimoji="0" lang="en-US" altLang="zh-CN" sz="1200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kumimoji="0" lang="en-US" altLang="zh-CN" sz="1800" dirty="0">
                <a:solidFill>
                  <a:srgbClr val="000000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DBD9B13-7527-393A-B342-2A0FAF89EBF9}"/>
              </a:ext>
            </a:extLst>
          </p:cNvPr>
          <p:cNvSpPr/>
          <p:nvPr/>
        </p:nvSpPr>
        <p:spPr>
          <a:xfrm>
            <a:off x="4143375" y="2571750"/>
            <a:ext cx="428625" cy="4286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+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811B462-F549-5E02-8026-8DCA82BFE0A2}"/>
              </a:ext>
            </a:extLst>
          </p:cNvPr>
          <p:cNvSpPr/>
          <p:nvPr/>
        </p:nvSpPr>
        <p:spPr>
          <a:xfrm>
            <a:off x="4143375" y="5500688"/>
            <a:ext cx="428625" cy="428625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P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71F4976-9300-6253-801B-5AD77D5F0A33}"/>
              </a:ext>
            </a:extLst>
          </p:cNvPr>
          <p:cNvSpPr/>
          <p:nvPr/>
        </p:nvSpPr>
        <p:spPr>
          <a:xfrm>
            <a:off x="1828800" y="1685925"/>
            <a:ext cx="285750" cy="28575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0" lang="en-US" altLang="zh-CN" sz="200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E</a:t>
            </a:r>
          </a:p>
        </p:txBody>
      </p:sp>
      <p:cxnSp>
        <p:nvCxnSpPr>
          <p:cNvPr id="37923" name="直接箭头连接符 38">
            <a:extLst>
              <a:ext uri="{FF2B5EF4-FFF2-40B4-BE49-F238E27FC236}">
                <a16:creationId xmlns:a16="http://schemas.microsoft.com/office/drawing/2014/main" id="{C598FA4C-FB1E-6CF7-8C28-86D3AF8C28FC}"/>
              </a:ext>
            </a:extLst>
          </p:cNvPr>
          <p:cNvCxnSpPr>
            <a:cxnSpLocks noChangeShapeType="1"/>
            <a:stCxn id="5" idx="2"/>
            <a:endCxn id="37" idx="0"/>
          </p:cNvCxnSpPr>
          <p:nvPr/>
        </p:nvCxnSpPr>
        <p:spPr bwMode="auto">
          <a:xfrm>
            <a:off x="1965325" y="1522413"/>
            <a:ext cx="6350" cy="1635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4" name="直接箭头连接符 40">
            <a:extLst>
              <a:ext uri="{FF2B5EF4-FFF2-40B4-BE49-F238E27FC236}">
                <a16:creationId xmlns:a16="http://schemas.microsoft.com/office/drawing/2014/main" id="{FAB20FF8-CFD2-5EB3-FDAF-B8FCA819EB26}"/>
              </a:ext>
            </a:extLst>
          </p:cNvPr>
          <p:cNvCxnSpPr>
            <a:cxnSpLocks noChangeShapeType="1"/>
            <a:stCxn id="37" idx="4"/>
            <a:endCxn id="7" idx="0"/>
          </p:cNvCxnSpPr>
          <p:nvPr/>
        </p:nvCxnSpPr>
        <p:spPr bwMode="auto">
          <a:xfrm flipH="1">
            <a:off x="1964532" y="1971675"/>
            <a:ext cx="7143" cy="1714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5" name="直接箭头连接符 44">
            <a:extLst>
              <a:ext uri="{FF2B5EF4-FFF2-40B4-BE49-F238E27FC236}">
                <a16:creationId xmlns:a16="http://schemas.microsoft.com/office/drawing/2014/main" id="{6E11A011-966A-FFF2-DE02-D091C311B69E}"/>
              </a:ext>
            </a:extLst>
          </p:cNvPr>
          <p:cNvCxnSpPr>
            <a:cxnSpLocks noChangeShapeType="1"/>
            <a:stCxn id="6" idx="2"/>
            <a:endCxn id="35" idx="7"/>
          </p:cNvCxnSpPr>
          <p:nvPr/>
        </p:nvCxnSpPr>
        <p:spPr bwMode="auto">
          <a:xfrm flipH="1">
            <a:off x="4508500" y="1522413"/>
            <a:ext cx="314325" cy="11128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6" name="直接箭头连接符 46">
            <a:extLst>
              <a:ext uri="{FF2B5EF4-FFF2-40B4-BE49-F238E27FC236}">
                <a16:creationId xmlns:a16="http://schemas.microsoft.com/office/drawing/2014/main" id="{5D893719-93E0-348F-5CC5-F92F4C1B03EF}"/>
              </a:ext>
            </a:extLst>
          </p:cNvPr>
          <p:cNvCxnSpPr>
            <a:cxnSpLocks noChangeShapeType="1"/>
            <a:endCxn id="35" idx="2"/>
          </p:cNvCxnSpPr>
          <p:nvPr/>
        </p:nvCxnSpPr>
        <p:spPr bwMode="auto">
          <a:xfrm>
            <a:off x="1979613" y="2781300"/>
            <a:ext cx="2163762" cy="47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ECE0B4D-3037-A19F-F799-4FDC0A9493EB}"/>
              </a:ext>
            </a:extLst>
          </p:cNvPr>
          <p:cNvCxnSpPr>
            <a:stCxn id="35" idx="4"/>
          </p:cNvCxnSpPr>
          <p:nvPr/>
        </p:nvCxnSpPr>
        <p:spPr>
          <a:xfrm rot="5400000">
            <a:off x="4249737" y="3106738"/>
            <a:ext cx="214313" cy="158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7314DEF-ED5E-F1F0-C1B3-1E0001552534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rot="5400000">
            <a:off x="1411288" y="3803650"/>
            <a:ext cx="385762" cy="793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FE01036-FB55-77F5-352B-81C7F8DD1EF1}"/>
              </a:ext>
            </a:extLst>
          </p:cNvPr>
          <p:cNvCxnSpPr>
            <a:stCxn id="11" idx="2"/>
            <a:endCxn id="19" idx="0"/>
          </p:cNvCxnSpPr>
          <p:nvPr/>
        </p:nvCxnSpPr>
        <p:spPr>
          <a:xfrm rot="16200000" flipH="1">
            <a:off x="2203451" y="3803650"/>
            <a:ext cx="385762" cy="793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B5E2E46-6F59-7047-908D-F897F57D89EA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16200000" flipH="1">
            <a:off x="2990057" y="3804444"/>
            <a:ext cx="385762" cy="635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60A8666-4CB4-CEA8-466E-F9175EA9DB0B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rot="16200000" flipH="1">
            <a:off x="3775076" y="3803650"/>
            <a:ext cx="385762" cy="793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9E292E6-0E78-7148-9EBF-39551F51ABE1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 rot="16200000" flipH="1">
            <a:off x="4561682" y="3804444"/>
            <a:ext cx="385762" cy="635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92BD9BD-31FA-1DC6-CB13-8362B322901F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5346701" y="3803650"/>
            <a:ext cx="385762" cy="793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9A42D20-092B-EDE3-9C4C-69CD6D8A0DEF}"/>
              </a:ext>
            </a:extLst>
          </p:cNvPr>
          <p:cNvCxnSpPr>
            <a:stCxn id="16" idx="2"/>
            <a:endCxn id="24" idx="0"/>
          </p:cNvCxnSpPr>
          <p:nvPr/>
        </p:nvCxnSpPr>
        <p:spPr>
          <a:xfrm rot="16200000" flipH="1">
            <a:off x="6133307" y="3804444"/>
            <a:ext cx="385762" cy="635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F96DBE2-310A-B76D-93AE-BCCF699EE016}"/>
              </a:ext>
            </a:extLst>
          </p:cNvPr>
          <p:cNvCxnSpPr>
            <a:stCxn id="17" idx="2"/>
            <a:endCxn id="25" idx="0"/>
          </p:cNvCxnSpPr>
          <p:nvPr/>
        </p:nvCxnSpPr>
        <p:spPr>
          <a:xfrm rot="16200000" flipH="1">
            <a:off x="6918326" y="3803650"/>
            <a:ext cx="385762" cy="7937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0A16C96-3C67-544C-A433-AE727292DEC4}"/>
              </a:ext>
            </a:extLst>
          </p:cNvPr>
          <p:cNvCxnSpPr>
            <a:stCxn id="18" idx="2"/>
            <a:endCxn id="26" idx="0"/>
          </p:cNvCxnSpPr>
          <p:nvPr/>
        </p:nvCxnSpPr>
        <p:spPr>
          <a:xfrm rot="16200000" flipH="1">
            <a:off x="1763713" y="4237037"/>
            <a:ext cx="444500" cy="771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A09B6FCD-73B3-4A5F-5AE2-BC3BA8AB3F24}"/>
              </a:ext>
            </a:extLst>
          </p:cNvPr>
          <p:cNvCxnSpPr>
            <a:stCxn id="19" idx="2"/>
            <a:endCxn id="27" idx="0"/>
          </p:cNvCxnSpPr>
          <p:nvPr/>
        </p:nvCxnSpPr>
        <p:spPr>
          <a:xfrm rot="16200000" flipH="1">
            <a:off x="2449513" y="4351337"/>
            <a:ext cx="444500" cy="542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21DB4EC-6FBD-7E1E-89F3-0DF59E710B75}"/>
              </a:ext>
            </a:extLst>
          </p:cNvPr>
          <p:cNvCxnSpPr>
            <a:stCxn id="20" idx="2"/>
            <a:endCxn id="28" idx="0"/>
          </p:cNvCxnSpPr>
          <p:nvPr/>
        </p:nvCxnSpPr>
        <p:spPr>
          <a:xfrm rot="16200000" flipH="1">
            <a:off x="3128169" y="4458494"/>
            <a:ext cx="444500" cy="328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2244F8C-AFA6-BD88-46FC-BC239D82B668}"/>
              </a:ext>
            </a:extLst>
          </p:cNvPr>
          <p:cNvCxnSpPr>
            <a:stCxn id="21" idx="2"/>
            <a:endCxn id="29" idx="0"/>
          </p:cNvCxnSpPr>
          <p:nvPr/>
        </p:nvCxnSpPr>
        <p:spPr>
          <a:xfrm rot="16200000" flipH="1">
            <a:off x="3806825" y="4565650"/>
            <a:ext cx="4445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804F069-4909-875D-B344-56B3AD42B755}"/>
              </a:ext>
            </a:extLst>
          </p:cNvPr>
          <p:cNvCxnSpPr>
            <a:stCxn id="22" idx="2"/>
            <a:endCxn id="30" idx="0"/>
          </p:cNvCxnSpPr>
          <p:nvPr/>
        </p:nvCxnSpPr>
        <p:spPr>
          <a:xfrm rot="5400000">
            <a:off x="4485482" y="4572793"/>
            <a:ext cx="444500" cy="1000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038AE73-40C7-5005-C2FB-8A6AE352FA03}"/>
              </a:ext>
            </a:extLst>
          </p:cNvPr>
          <p:cNvCxnSpPr>
            <a:stCxn id="23" idx="2"/>
            <a:endCxn id="31" idx="0"/>
          </p:cNvCxnSpPr>
          <p:nvPr/>
        </p:nvCxnSpPr>
        <p:spPr>
          <a:xfrm rot="5400000">
            <a:off x="5164138" y="4465637"/>
            <a:ext cx="444500" cy="314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407D8850-6D3F-208A-66D8-9D51687482F4}"/>
              </a:ext>
            </a:extLst>
          </p:cNvPr>
          <p:cNvCxnSpPr>
            <a:stCxn id="24" idx="2"/>
            <a:endCxn id="32" idx="0"/>
          </p:cNvCxnSpPr>
          <p:nvPr/>
        </p:nvCxnSpPr>
        <p:spPr>
          <a:xfrm rot="5400000">
            <a:off x="5842794" y="4358481"/>
            <a:ext cx="444500" cy="5286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DEDF60C-B244-D2B9-EFCF-874BC93E2FDE}"/>
              </a:ext>
            </a:extLst>
          </p:cNvPr>
          <p:cNvCxnSpPr>
            <a:stCxn id="25" idx="2"/>
            <a:endCxn id="33" idx="0"/>
          </p:cNvCxnSpPr>
          <p:nvPr/>
        </p:nvCxnSpPr>
        <p:spPr>
          <a:xfrm rot="5400000">
            <a:off x="6521450" y="4251325"/>
            <a:ext cx="444500" cy="742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2B308B5-7015-C8FD-F9F9-C296B2A9BB25}"/>
              </a:ext>
            </a:extLst>
          </p:cNvPr>
          <p:cNvCxnSpPr>
            <a:endCxn id="36" idx="0"/>
          </p:cNvCxnSpPr>
          <p:nvPr/>
        </p:nvCxnSpPr>
        <p:spPr>
          <a:xfrm rot="5400000">
            <a:off x="4214019" y="5358606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945" name="直接箭头连接符 87">
            <a:extLst>
              <a:ext uri="{FF2B5EF4-FFF2-40B4-BE49-F238E27FC236}">
                <a16:creationId xmlns:a16="http://schemas.microsoft.com/office/drawing/2014/main" id="{A4F09FE1-6B3A-2891-0C54-DFD20E5E95FD}"/>
              </a:ext>
            </a:extLst>
          </p:cNvPr>
          <p:cNvCxnSpPr>
            <a:cxnSpLocks noChangeShapeType="1"/>
            <a:stCxn id="36" idx="4"/>
            <a:endCxn id="34" idx="0"/>
          </p:cNvCxnSpPr>
          <p:nvPr/>
        </p:nvCxnSpPr>
        <p:spPr bwMode="auto">
          <a:xfrm>
            <a:off x="4357688" y="5929313"/>
            <a:ext cx="7144" cy="2143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46" name="Line 58">
            <a:extLst>
              <a:ext uri="{FF2B5EF4-FFF2-40B4-BE49-F238E27FC236}">
                <a16:creationId xmlns:a16="http://schemas.microsoft.com/office/drawing/2014/main" id="{FD738578-F3F9-12CE-2DBB-61F874A40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49237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7" name="AutoShape 59">
            <a:extLst>
              <a:ext uri="{FF2B5EF4-FFF2-40B4-BE49-F238E27FC236}">
                <a16:creationId xmlns:a16="http://schemas.microsoft.com/office/drawing/2014/main" id="{4803EC7A-B0A2-2E30-6794-004C92E72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484313"/>
            <a:ext cx="914400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kumimoji="0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扩展</a:t>
            </a:r>
          </a:p>
        </p:txBody>
      </p:sp>
      <p:sp>
        <p:nvSpPr>
          <p:cNvPr id="37948" name="AutoShape 60">
            <a:extLst>
              <a:ext uri="{FF2B5EF4-FFF2-40B4-BE49-F238E27FC236}">
                <a16:creationId xmlns:a16="http://schemas.microsoft.com/office/drawing/2014/main" id="{F88E397A-0608-41D9-6FB0-D468893F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205038"/>
            <a:ext cx="914400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密钥加</a:t>
            </a:r>
          </a:p>
        </p:txBody>
      </p:sp>
      <p:sp>
        <p:nvSpPr>
          <p:cNvPr id="37949" name="AutoShape 61">
            <a:extLst>
              <a:ext uri="{FF2B5EF4-FFF2-40B4-BE49-F238E27FC236}">
                <a16:creationId xmlns:a16="http://schemas.microsoft.com/office/drawing/2014/main" id="{0011E8AF-EEBF-D3F0-336E-F674FC0A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284538"/>
            <a:ext cx="914400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kumimoji="0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盒代换</a:t>
            </a:r>
          </a:p>
        </p:txBody>
      </p:sp>
      <p:sp>
        <p:nvSpPr>
          <p:cNvPr id="37950" name="AutoShape 62">
            <a:extLst>
              <a:ext uri="{FF2B5EF4-FFF2-40B4-BE49-F238E27FC236}">
                <a16:creationId xmlns:a16="http://schemas.microsoft.com/office/drawing/2014/main" id="{112D5942-B8AF-F07C-8827-ABEECEAFE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300663"/>
            <a:ext cx="914400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置换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BC22D97-78DA-606C-165C-6DEF94F9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82089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扩展置换Ｅ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盒－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位扩展到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48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79ED7DF3-3B65-F2E1-D8DB-FEC9DE22F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1658938"/>
            <a:ext cx="2039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78CD49CC-12F5-8880-ECAF-664A7973C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484313"/>
          <a:ext cx="2320925" cy="37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2724290" imgH="3708591" progId="PBrush">
                  <p:embed/>
                </p:oleObj>
              </mc:Choice>
              <mc:Fallback>
                <p:oleObj name="位图图像" r:id="rId3" imgW="2724290" imgH="370859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84313"/>
                        <a:ext cx="2320925" cy="370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63656CB9-9FE2-EDA2-1032-B49B95FA6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285875"/>
          <a:ext cx="3703637" cy="372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5004057" imgH="3727642" progId="PBrush">
                  <p:embed/>
                </p:oleObj>
              </mc:Choice>
              <mc:Fallback>
                <p:oleObj name="位图图像" r:id="rId5" imgW="5004057" imgH="3727642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285875"/>
                        <a:ext cx="3703637" cy="372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AutoShape 6">
            <a:hlinkClick r:id="" action="ppaction://noaction"/>
            <a:extLst>
              <a:ext uri="{FF2B5EF4-FFF2-40B4-BE49-F238E27FC236}">
                <a16:creationId xmlns:a16="http://schemas.microsoft.com/office/drawing/2014/main" id="{1B0FFC4D-4CB5-8CCB-948A-2BA4A144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738" y="2878138"/>
            <a:ext cx="1266825" cy="609600"/>
          </a:xfrm>
          <a:prstGeom prst="rightArrow">
            <a:avLst>
              <a:gd name="adj1" fmla="val 50000"/>
              <a:gd name="adj2" fmla="val 51953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扩展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80263EB9-8376-B4AD-04D9-893931E8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422275" cy="3810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6AD839CF-6E10-6DC0-867E-CBCA34939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341438"/>
            <a:ext cx="420687" cy="3810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77F31618-95A2-AD5B-BDB3-AB833FDA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797425"/>
            <a:ext cx="422275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2" name="Rectangle 10">
            <a:extLst>
              <a:ext uri="{FF2B5EF4-FFF2-40B4-BE49-F238E27FC236}">
                <a16:creationId xmlns:a16="http://schemas.microsoft.com/office/drawing/2014/main" id="{CD307F73-E237-97D7-6113-8AED6C42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652963"/>
            <a:ext cx="422275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3" name="Rectangle 11">
            <a:extLst>
              <a:ext uri="{FF2B5EF4-FFF2-40B4-BE49-F238E27FC236}">
                <a16:creationId xmlns:a16="http://schemas.microsoft.com/office/drawing/2014/main" id="{033EC774-AC7D-02F2-A4D3-7F5F5E5A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341438"/>
            <a:ext cx="420687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Char char="•"/>
            </a:pPr>
            <a:endParaRPr kumimoji="0" lang="zh-CN" altLang="zh-CN" sz="3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95F19FD1-B6C3-B948-6F6A-7A41CE728F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1773238"/>
            <a:ext cx="2160588" cy="3132137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222EE0D2-FF61-C878-0E15-5043C3D45E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3050" y="5011738"/>
            <a:ext cx="4289425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926" name="Line 14">
            <a:extLst>
              <a:ext uri="{FF2B5EF4-FFF2-40B4-BE49-F238E27FC236}">
                <a16:creationId xmlns:a16="http://schemas.microsoft.com/office/drawing/2014/main" id="{4389CFD9-EDCD-6A7C-5CD4-13694020C7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575" y="1628775"/>
            <a:ext cx="4502150" cy="0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A733797-957D-D501-6027-D6B301BAE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</a:t>
            </a:r>
            <a:r>
              <a:rPr lang="zh-CN" altLang="en-US"/>
              <a:t>盒扩展</a:t>
            </a:r>
          </a:p>
        </p:txBody>
      </p:sp>
      <p:pic>
        <p:nvPicPr>
          <p:cNvPr id="224260" name="Picture 4">
            <a:extLst>
              <a:ext uri="{FF2B5EF4-FFF2-40B4-BE49-F238E27FC236}">
                <a16:creationId xmlns:a16="http://schemas.microsoft.com/office/drawing/2014/main" id="{2DBD5658-06BA-CFB1-8AA8-6190B1813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060575"/>
            <a:ext cx="7812087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61" name="Rectangle 5">
            <a:extLst>
              <a:ext uri="{FF2B5EF4-FFF2-40B4-BE49-F238E27FC236}">
                <a16:creationId xmlns:a16="http://schemas.microsoft.com/office/drawing/2014/main" id="{11C358CF-DA5E-7C90-7693-5FF6075F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08050"/>
            <a:ext cx="6858000" cy="1196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i="1">
                <a:solidFill>
                  <a:schemeClr val="bg1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经过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IP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置换后得到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i="1">
                <a:solidFill>
                  <a:schemeClr val="bg1"/>
                </a:solidFill>
                <a:ea typeface="宋体" panose="02010600030101010101" pitchFamily="2" charset="-122"/>
              </a:rPr>
              <a:t>L0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= 11111111 10111000    01110110    01010111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i="1">
                <a:solidFill>
                  <a:schemeClr val="bg1"/>
                </a:solidFill>
                <a:ea typeface="宋体" panose="02010600030101010101" pitchFamily="2" charset="-122"/>
              </a:rPr>
              <a:t>R0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400" b="1">
                <a:solidFill>
                  <a:schemeClr val="bg1"/>
                </a:solidFill>
                <a:ea typeface="宋体" panose="02010600030101010101" pitchFamily="2" charset="-122"/>
              </a:rPr>
              <a:t>00000000  11111111   00000110   10000011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endParaRPr lang="en-US" altLang="zh-CN" sz="2400" b="1" i="1">
              <a:ea typeface="宋体" panose="02010600030101010101" pitchFamily="2" charset="-122"/>
            </a:endParaRPr>
          </a:p>
        </p:txBody>
      </p:sp>
      <p:sp>
        <p:nvSpPr>
          <p:cNvPr id="224262" name="Rectangle 6">
            <a:extLst>
              <a:ext uri="{FF2B5EF4-FFF2-40B4-BE49-F238E27FC236}">
                <a16:creationId xmlns:a16="http://schemas.microsoft.com/office/drawing/2014/main" id="{14C1F535-9644-D708-20E6-7540C85AA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805488"/>
            <a:ext cx="838835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i="1">
                <a:solidFill>
                  <a:schemeClr val="bg1"/>
                </a:solidFill>
                <a:ea typeface="宋体" panose="02010600030101010101" pitchFamily="2" charset="-122"/>
              </a:rPr>
              <a:t>R0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32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位）经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作用膨胀为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48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位，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100000 000001 011111 111110 100000 001101 010000 000110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 animBg="1"/>
      <p:bldP spid="22426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D790C50D-66AD-2E63-83AE-F5910D2EE160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165850"/>
            <a:ext cx="2133600" cy="4762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76702830-F065-400D-955F-BD5841B371E5}" type="slidenum">
              <a:rPr kumimoji="0"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17</a:t>
            </a:fld>
            <a:endParaRPr kumimoji="0" lang="en-US" altLang="zh-CN" sz="1400" b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639BE24-7DA1-3718-3640-AA7C0914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02798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压缩替代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S-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盒－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48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位压缩到</a:t>
            </a:r>
            <a:r>
              <a:rPr lang="en-US" altLang="zh-CN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36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</a:p>
        </p:txBody>
      </p:sp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2F407616-E1EC-EE92-5E2D-64960ED83E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341438"/>
          <a:ext cx="7526337" cy="420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390476" imgH="1676634" progId="PBrush">
                  <p:embed/>
                </p:oleObj>
              </mc:Choice>
              <mc:Fallback>
                <p:oleObj name="位图图像" r:id="rId3" imgW="3390476" imgH="1676634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341438"/>
                        <a:ext cx="7526337" cy="420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4">
            <a:extLst>
              <a:ext uri="{FF2B5EF4-FFF2-40B4-BE49-F238E27FC236}">
                <a16:creationId xmlns:a16="http://schemas.microsoft.com/office/drawing/2014/main" id="{9C0F8A29-E29E-ECDE-3104-31FD50D6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936625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共</a:t>
            </a:r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b="1">
                <a:latin typeface="Tahoma" panose="020B0604030504040204" pitchFamily="34" charset="0"/>
                <a:ea typeface="宋体" panose="02010600030101010101" pitchFamily="2" charset="-122"/>
              </a:rPr>
              <a:t>盒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>
            <a:extLst>
              <a:ext uri="{FF2B5EF4-FFF2-40B4-BE49-F238E27FC236}">
                <a16:creationId xmlns:a16="http://schemas.microsoft.com/office/drawing/2014/main" id="{59A427DA-B90D-F7AE-D77A-BFB41CB5A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838200"/>
          <a:ext cx="8991600" cy="41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7400000" imgH="3428571" progId="Paint.Picture">
                  <p:embed/>
                </p:oleObj>
              </mc:Choice>
              <mc:Fallback>
                <p:oleObj name="位图图像" r:id="rId2" imgW="7400000" imgH="342857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38200"/>
                        <a:ext cx="8991600" cy="416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Line 3">
            <a:extLst>
              <a:ext uri="{FF2B5EF4-FFF2-40B4-BE49-F238E27FC236}">
                <a16:creationId xmlns:a16="http://schemas.microsoft.com/office/drawing/2014/main" id="{8F0B2BCC-F39F-1DD4-81F8-A2F923C3D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733800"/>
            <a:ext cx="40386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6" name="Line 4">
            <a:extLst>
              <a:ext uri="{FF2B5EF4-FFF2-40B4-BE49-F238E27FC236}">
                <a16:creationId xmlns:a16="http://schemas.microsoft.com/office/drawing/2014/main" id="{8510205F-BADE-B078-36EB-FB153DC01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35052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7" name="Line 5">
            <a:extLst>
              <a:ext uri="{FF2B5EF4-FFF2-40B4-BE49-F238E27FC236}">
                <a16:creationId xmlns:a16="http://schemas.microsoft.com/office/drawing/2014/main" id="{D6BE997B-FBF7-CF08-606E-6A8CFFD1D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5240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8" name="Line 6">
            <a:extLst>
              <a:ext uri="{FF2B5EF4-FFF2-40B4-BE49-F238E27FC236}">
                <a16:creationId xmlns:a16="http://schemas.microsoft.com/office/drawing/2014/main" id="{0D5970AE-3ACB-382E-920D-CFE337B8C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52400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9" name="Line 7">
            <a:extLst>
              <a:ext uri="{FF2B5EF4-FFF2-40B4-BE49-F238E27FC236}">
                <a16:creationId xmlns:a16="http://schemas.microsoft.com/office/drawing/2014/main" id="{FF665BAF-E12C-0337-3CBA-82413E1C6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4290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7AB6288-05C7-87BF-A4EE-54A029DCCB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CA" altLang="zh-CN"/>
              <a:t> </a:t>
            </a:r>
            <a:endParaRPr lang="zh-CN" altLang="zh-CN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C49D567-68B6-48DA-F13F-0342544A4EC7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44450"/>
          <a:ext cx="8493124" cy="6797660"/>
        </p:xfrm>
        <a:graphic>
          <a:graphicData uri="http://schemas.openxmlformats.org/drawingml/2006/table">
            <a:tbl>
              <a:tblPr/>
              <a:tblGrid>
                <a:gridCol w="530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0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16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69893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893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93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93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0378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  <a:endParaRPr kumimoji="1" lang="en-US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0378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  <a:endParaRPr kumimoji="1" lang="en-US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70378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  <a:endParaRPr kumimoji="1" lang="en-US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70378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9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  <a:endParaRPr kumimoji="1" lang="en-US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698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5292" marR="5292" marT="5290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E44A101-DAAF-1C1E-EACF-257A6F861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75" y="0"/>
            <a:ext cx="3754438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/>
              <a:t>S</a:t>
            </a:r>
            <a:r>
              <a:rPr lang="zh-CN" altLang="en-US"/>
              <a:t>盒的选择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57C23DD-7CDC-4572-9406-53471CEC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981075"/>
            <a:ext cx="8893175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i="1">
                <a:ea typeface="宋体" panose="02010600030101010101" pitchFamily="2" charset="-122"/>
              </a:rPr>
              <a:t>R0</a:t>
            </a:r>
            <a:r>
              <a:rPr lang="zh-CN" altLang="en-US" sz="2400">
                <a:ea typeface="宋体" panose="02010600030101010101" pitchFamily="2" charset="-122"/>
              </a:rPr>
              <a:t>（</a:t>
            </a:r>
            <a:r>
              <a:rPr lang="en-US" altLang="zh-CN" sz="2400">
                <a:ea typeface="宋体" panose="02010600030101010101" pitchFamily="2" charset="-122"/>
              </a:rPr>
              <a:t>32</a:t>
            </a:r>
            <a:r>
              <a:rPr lang="zh-CN" altLang="en-US" sz="2400">
                <a:ea typeface="宋体" panose="02010600030101010101" pitchFamily="2" charset="-122"/>
              </a:rPr>
              <a:t>位）经</a:t>
            </a:r>
            <a:r>
              <a:rPr lang="en-US" altLang="zh-CN" sz="2400">
                <a:ea typeface="宋体" panose="02010600030101010101" pitchFamily="2" charset="-122"/>
              </a:rPr>
              <a:t>E</a:t>
            </a:r>
            <a:r>
              <a:rPr lang="zh-CN" altLang="en-US" sz="2400">
                <a:ea typeface="宋体" panose="02010600030101010101" pitchFamily="2" charset="-122"/>
              </a:rPr>
              <a:t>作用膨胀为</a:t>
            </a:r>
            <a:r>
              <a:rPr lang="en-US" altLang="zh-CN" sz="2400">
                <a:ea typeface="宋体" panose="02010600030101010101" pitchFamily="2" charset="-122"/>
              </a:rPr>
              <a:t>48</a:t>
            </a:r>
            <a:r>
              <a:rPr lang="zh-CN" altLang="en-US" sz="2400">
                <a:ea typeface="宋体" panose="02010600030101010101" pitchFamily="2" charset="-122"/>
              </a:rPr>
              <a:t>位，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100000 000001 011111 111110 100000 001101 010000 000110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6F888CB3-3CE7-DE83-8C64-FE80DF2AC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8964613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9A05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2400">
                <a:ea typeface="宋体" panose="02010600030101010101" pitchFamily="2" charset="-122"/>
              </a:rPr>
              <a:t>再和</a:t>
            </a:r>
            <a:r>
              <a:rPr lang="en-US" altLang="zh-CN" sz="2400" i="1">
                <a:ea typeface="宋体" panose="02010600030101010101" pitchFamily="2" charset="-122"/>
              </a:rPr>
              <a:t>k1</a:t>
            </a:r>
            <a:r>
              <a:rPr lang="zh-CN" altLang="en-US" sz="2400" i="1">
                <a:ea typeface="宋体" panose="02010600030101010101" pitchFamily="2" charset="-122"/>
              </a:rPr>
              <a:t>（</a:t>
            </a:r>
            <a:r>
              <a:rPr lang="en-CA" altLang="zh-CN" sz="2400" i="1">
                <a:ea typeface="宋体" panose="02010600030101010101" pitchFamily="2" charset="-122"/>
              </a:rPr>
              <a:t>KS[1]</a:t>
            </a:r>
            <a:r>
              <a:rPr lang="zh-CN" altLang="en-US" sz="2400" i="1">
                <a:ea typeface="宋体" panose="02010600030101010101" pitchFamily="2" charset="-122"/>
              </a:rPr>
              <a:t>）</a:t>
            </a:r>
            <a:r>
              <a:rPr lang="zh-CN" altLang="en-US" sz="2400">
                <a:ea typeface="宋体" panose="02010600030101010101" pitchFamily="2" charset="-122"/>
              </a:rPr>
              <a:t>作异或运算得到（分成</a:t>
            </a:r>
            <a:r>
              <a:rPr lang="en-US" altLang="zh-CN" sz="2400">
                <a:ea typeface="宋体" panose="02010600030101010101" pitchFamily="2" charset="-122"/>
              </a:rPr>
              <a:t>8</a:t>
            </a:r>
            <a:r>
              <a:rPr lang="zh-CN" altLang="en-US" sz="2400">
                <a:ea typeface="宋体" panose="02010600030101010101" pitchFamily="2" charset="-122"/>
              </a:rPr>
              <a:t>组）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宋体" panose="02010600030101010101" pitchFamily="2" charset="-122"/>
              </a:rPr>
              <a:t>        </a:t>
            </a:r>
            <a:r>
              <a:rPr lang="en-US" altLang="zh-CN" sz="2400">
                <a:ea typeface="宋体" panose="02010600030101010101" pitchFamily="2" charset="-122"/>
              </a:rPr>
              <a:t>E xor KS: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       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</a:rPr>
              <a:t>101111 011001 100000 110011 101101 111110 101101 001110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S</a:t>
            </a:r>
            <a:r>
              <a:rPr lang="zh-CN" altLang="en-US" sz="2400">
                <a:ea typeface="宋体" panose="02010600030101010101" pitchFamily="2" charset="-122"/>
              </a:rPr>
              <a:t>盒    </a:t>
            </a:r>
            <a:r>
              <a:rPr lang="en-US" altLang="zh-CN" sz="2400">
                <a:ea typeface="宋体" panose="02010600030101010101" pitchFamily="2" charset="-122"/>
              </a:rPr>
              <a:t>S1          S2       S3         S4         S5         S6         S7       S8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  </a:t>
            </a:r>
            <a:r>
              <a:rPr lang="zh-CN" altLang="en-US" sz="2400">
                <a:ea typeface="宋体" panose="02010600030101010101" pitchFamily="2" charset="-122"/>
              </a:rPr>
              <a:t>行： </a:t>
            </a:r>
            <a:r>
              <a:rPr lang="en-US" altLang="zh-CN" sz="2400">
                <a:ea typeface="宋体" panose="02010600030101010101" pitchFamily="2" charset="-122"/>
              </a:rPr>
              <a:t>3             1         2            3           3           2          3          0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  </a:t>
            </a:r>
            <a:r>
              <a:rPr lang="zh-CN" altLang="en-US" sz="2400">
                <a:ea typeface="宋体" panose="02010600030101010101" pitchFamily="2" charset="-122"/>
              </a:rPr>
              <a:t>列： </a:t>
            </a:r>
            <a:r>
              <a:rPr lang="en-US" altLang="zh-CN" sz="2400">
                <a:ea typeface="宋体" panose="02010600030101010101" pitchFamily="2" charset="-122"/>
              </a:rPr>
              <a:t>7             12       0            9           6           15        6          7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宋体" panose="02010600030101010101" pitchFamily="2" charset="-122"/>
              </a:rPr>
              <a:t>查表：</a:t>
            </a:r>
            <a:r>
              <a:rPr lang="en-US" altLang="zh-CN" sz="2400">
                <a:ea typeface="宋体" panose="02010600030101010101" pitchFamily="2" charset="-122"/>
              </a:rPr>
              <a:t>7            6         13          4           2           6          10        1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          </a:t>
            </a:r>
            <a:r>
              <a:rPr lang="en-US" altLang="zh-CN" sz="2400" b="1">
                <a:solidFill>
                  <a:srgbClr val="FF3300"/>
                </a:solidFill>
                <a:ea typeface="宋体" panose="02010600030101010101" pitchFamily="2" charset="-122"/>
              </a:rPr>
              <a:t>0111      0110   1101       0100      0010     0110    1010    0001</a:t>
            </a:r>
            <a:r>
              <a:rPr lang="en-US" altLang="zh-CN" sz="2400">
                <a:ea typeface="宋体" panose="02010600030101010101" pitchFamily="2" charset="-122"/>
              </a:rPr>
              <a:t>                                      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2CD3722-CBE9-3BAF-20FF-535447357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44675"/>
            <a:ext cx="8856663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KS[1]: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001111 011000 111111 001101 001101 110011 111101 001000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2547CB21-8751-B2E6-E9B4-4EA789A239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>
                <a:solidFill>
                  <a:schemeClr val="tx1"/>
                </a:solidFill>
                <a:ea typeface="华文楷体" panose="02010600040101010101" pitchFamily="2" charset="-122"/>
              </a:rPr>
              <a:t>DES</a:t>
            </a:r>
            <a:r>
              <a:rPr lang="zh-CN" altLang="en-US">
                <a:solidFill>
                  <a:schemeClr val="tx1"/>
                </a:solidFill>
                <a:ea typeface="华文楷体" panose="02010600040101010101" pitchFamily="2" charset="-122"/>
              </a:rPr>
              <a:t>的轮函数</a:t>
            </a:r>
          </a:p>
        </p:txBody>
      </p:sp>
      <p:sp>
        <p:nvSpPr>
          <p:cNvPr id="47107" name="灯片编号占位符 3">
            <a:extLst>
              <a:ext uri="{FF2B5EF4-FFF2-40B4-BE49-F238E27FC236}">
                <a16:creationId xmlns:a16="http://schemas.microsoft.com/office/drawing/2014/main" id="{6529D3A2-52AF-FAF8-DE6A-BD0BC026FA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ED190E9E-189A-4F49-92B8-0401B09A1FD3}" type="slidenum">
              <a:rPr kumimoji="0" lang="en-US" altLang="zh-CN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21</a:t>
            </a:fld>
            <a:endParaRPr kumimoji="0" lang="en-US" altLang="zh-CN" sz="1400"/>
          </a:p>
        </p:txBody>
      </p:sp>
      <p:graphicFrame>
        <p:nvGraphicFramePr>
          <p:cNvPr id="242692" name="Group 4">
            <a:extLst>
              <a:ext uri="{FF2B5EF4-FFF2-40B4-BE49-F238E27FC236}">
                <a16:creationId xmlns:a16="http://schemas.microsoft.com/office/drawing/2014/main" id="{66AE639B-1F41-82D8-3800-1094F2FA18DB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2205038"/>
          <a:ext cx="7143750" cy="4179889"/>
        </p:xfrm>
        <a:graphic>
          <a:graphicData uri="http://schemas.openxmlformats.org/drawingml/2006/table">
            <a:tbl>
              <a:tblPr/>
              <a:tblGrid>
                <a:gridCol w="1785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282">
                <a:tc gridSpan="4"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P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置换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7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16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7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7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5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24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17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32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5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17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L="9525" marR="9525" marT="9522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157" name="Rectangle 53">
            <a:extLst>
              <a:ext uri="{FF2B5EF4-FFF2-40B4-BE49-F238E27FC236}">
                <a16:creationId xmlns:a16="http://schemas.microsoft.com/office/drawing/2014/main" id="{9B09E6E2-0AE2-C24B-5411-FCD580307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208962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i="1" dirty="0">
                <a:latin typeface="+mj-ea"/>
                <a:ea typeface="+mj-ea"/>
              </a:rPr>
              <a:t>P</a:t>
            </a:r>
            <a:r>
              <a:rPr lang="zh-CN" altLang="en-US" sz="2400" b="1" i="1" dirty="0">
                <a:latin typeface="+mj-ea"/>
                <a:ea typeface="+mj-ea"/>
              </a:rPr>
              <a:t>置换</a:t>
            </a:r>
            <a:r>
              <a:rPr lang="zh-CN" altLang="en-US" sz="2400" dirty="0">
                <a:latin typeface="+mj-ea"/>
                <a:ea typeface="+mj-ea"/>
              </a:rPr>
              <a:t>：长度为</a:t>
            </a:r>
            <a:r>
              <a:rPr lang="en-US" altLang="zh-CN" sz="2400" dirty="0">
                <a:latin typeface="+mj-ea"/>
                <a:ea typeface="+mj-ea"/>
              </a:rPr>
              <a:t>32</a:t>
            </a:r>
            <a:r>
              <a:rPr lang="zh-CN" altLang="en-US" sz="2400" dirty="0">
                <a:latin typeface="+mj-ea"/>
                <a:ea typeface="+mj-ea"/>
              </a:rPr>
              <a:t>比特串</a:t>
            </a:r>
            <a:r>
              <a:rPr lang="en-US" altLang="zh-CN" sz="2400" dirty="0">
                <a:latin typeface="+mj-ea"/>
                <a:ea typeface="+mj-ea"/>
              </a:rPr>
              <a:t>C=C</a:t>
            </a:r>
            <a:r>
              <a:rPr lang="en-US" altLang="zh-CN" sz="2400" baseline="-25000" dirty="0">
                <a:latin typeface="+mj-ea"/>
                <a:ea typeface="+mj-ea"/>
              </a:rPr>
              <a:t>1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2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3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4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5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6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7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8</a:t>
            </a:r>
            <a:r>
              <a:rPr lang="en-US" altLang="zh-CN" sz="2400" dirty="0">
                <a:latin typeface="+mj-ea"/>
                <a:ea typeface="+mj-ea"/>
              </a:rPr>
              <a:t>, </a:t>
            </a:r>
            <a:r>
              <a:rPr lang="zh-CN" altLang="en-US" sz="2400" dirty="0">
                <a:latin typeface="+mj-ea"/>
                <a:ea typeface="+mj-ea"/>
              </a:rPr>
              <a:t>根据固定置换</a:t>
            </a:r>
            <a:r>
              <a:rPr lang="en-US" altLang="zh-CN" sz="2400" dirty="0">
                <a:latin typeface="+mj-ea"/>
                <a:ea typeface="+mj-ea"/>
              </a:rPr>
              <a:t>P(*)</a:t>
            </a:r>
            <a:r>
              <a:rPr lang="zh-CN" altLang="en-US" sz="2400" dirty="0">
                <a:latin typeface="+mj-ea"/>
                <a:ea typeface="+mj-ea"/>
              </a:rPr>
              <a:t>进行置换，得到比特串</a:t>
            </a:r>
            <a:r>
              <a:rPr lang="en-US" altLang="zh-CN" sz="2400" dirty="0">
                <a:latin typeface="+mj-ea"/>
                <a:ea typeface="+mj-ea"/>
              </a:rPr>
              <a:t>P(C).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1EF1EA7-F00A-5256-B703-F645D6D5F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置换</a:t>
            </a:r>
            <a:r>
              <a:rPr lang="en-US" altLang="zh-CN"/>
              <a:t>P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CDF317D-4F23-5850-ED54-DE9640025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62A8AC3D-F869-BDC4-684A-564065E8D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2875"/>
            <a:ext cx="7920038" cy="459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894F032-D22A-313F-78BF-A7C1805E1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75" y="0"/>
            <a:ext cx="4186238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/>
              <a:t>P</a:t>
            </a:r>
            <a:r>
              <a:rPr lang="zh-CN" altLang="en-US"/>
              <a:t>盒置换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467B097-7645-211D-B0DD-8B0BCFB60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8748712" cy="23083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盒后输出位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32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比特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标号：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1 2 3 4 5 6 7 8 9 10 11 12 13 14 15  16 17 18 19 20 21 22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            0 1 1 1 0 1 </a:t>
            </a:r>
            <a:r>
              <a:rPr lang="en-US" altLang="zh-CN" sz="2400" dirty="0">
                <a:solidFill>
                  <a:schemeClr val="fol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 0 1  1   0    1   0  1   0    </a:t>
            </a:r>
            <a:r>
              <a:rPr lang="en-US" altLang="zh-CN" sz="2400" dirty="0">
                <a:solidFill>
                  <a:srgbClr val="FFFF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 0    0    1  0   0   1</a:t>
            </a:r>
            <a:r>
              <a:rPr lang="en-US" altLang="zh-CN" sz="2400" dirty="0">
                <a:ea typeface="宋体" panose="02010600030101010101" pitchFamily="2" charset="-122"/>
              </a:rPr>
              <a:t>                    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标号：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23  24  25  26  27 28 29 30 31 32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             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1    0    </a:t>
            </a:r>
            <a:r>
              <a:rPr lang="en-US" altLang="zh-CN" sz="2400" dirty="0">
                <a:solidFill>
                  <a:srgbClr val="FFFF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    0    1   0   0   0   0   1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54454195-FCE9-6BF9-9C40-55C8ADE15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516563"/>
            <a:ext cx="8424862" cy="94456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P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盒置换之后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32bit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的输出：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3200">
                <a:solidFill>
                  <a:schemeClr val="bg1"/>
                </a:solidFill>
                <a:ea typeface="宋体" panose="02010600030101010101" pitchFamily="2" charset="-122"/>
              </a:rPr>
              <a:t>1000100 00100001 10011111 1001101</a:t>
            </a:r>
            <a:r>
              <a:rPr lang="en-US" altLang="zh-CN" sz="3200">
                <a:solidFill>
                  <a:srgbClr val="FFFF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0181" name="AutoShape 5">
            <a:extLst>
              <a:ext uri="{FF2B5EF4-FFF2-40B4-BE49-F238E27FC236}">
                <a16:creationId xmlns:a16="http://schemas.microsoft.com/office/drawing/2014/main" id="{314E659B-AE7C-FBE8-B2A3-61C40BBB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013325"/>
            <a:ext cx="43180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50182" name="Picture 6">
            <a:extLst>
              <a:ext uri="{FF2B5EF4-FFF2-40B4-BE49-F238E27FC236}">
                <a16:creationId xmlns:a16="http://schemas.microsoft.com/office/drawing/2014/main" id="{0DA42D9E-0628-F018-2886-D40BB60B2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213100"/>
            <a:ext cx="58959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11" name="Oval 7">
            <a:extLst>
              <a:ext uri="{FF2B5EF4-FFF2-40B4-BE49-F238E27FC236}">
                <a16:creationId xmlns:a16="http://schemas.microsoft.com/office/drawing/2014/main" id="{7637F0FD-ED76-77FA-BB2E-C2C8FA21D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052513"/>
            <a:ext cx="431800" cy="79216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00712" name="Oval 8">
            <a:extLst>
              <a:ext uri="{FF2B5EF4-FFF2-40B4-BE49-F238E27FC236}">
                <a16:creationId xmlns:a16="http://schemas.microsoft.com/office/drawing/2014/main" id="{03CA3D8C-46BB-4FC4-1B57-69D5A6E6B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288925" cy="79216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00713" name="Oval 9">
            <a:extLst>
              <a:ext uri="{FF2B5EF4-FFF2-40B4-BE49-F238E27FC236}">
                <a16:creationId xmlns:a16="http://schemas.microsoft.com/office/drawing/2014/main" id="{DED0A7D7-4D8C-B54F-D15D-9444993CD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773238"/>
            <a:ext cx="431800" cy="792162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Char char="•"/>
            </a:pPr>
            <a:endParaRPr kumimoji="0" lang="zh-CN" altLang="zh-CN" sz="3200">
              <a:solidFill>
                <a:srgbClr val="FF9A05"/>
              </a:solidFill>
              <a:latin typeface="Arial" panose="020B0604020202020204" pitchFamily="34" charset="0"/>
            </a:endParaRPr>
          </a:p>
        </p:txBody>
      </p:sp>
      <p:sp>
        <p:nvSpPr>
          <p:cNvPr id="200714" name="Oval 10">
            <a:extLst>
              <a:ext uri="{FF2B5EF4-FFF2-40B4-BE49-F238E27FC236}">
                <a16:creationId xmlns:a16="http://schemas.microsoft.com/office/drawing/2014/main" id="{FB0D35B5-C60E-47B0-DD65-FA985467A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734050"/>
            <a:ext cx="431800" cy="792163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Char char="•"/>
            </a:pPr>
            <a:endParaRPr kumimoji="0" lang="zh-CN" altLang="zh-CN" sz="3200">
              <a:solidFill>
                <a:srgbClr val="FF9A05"/>
              </a:solidFill>
              <a:latin typeface="Arial" panose="020B0604020202020204" pitchFamily="34" charset="0"/>
            </a:endParaRPr>
          </a:p>
        </p:txBody>
      </p:sp>
      <p:sp>
        <p:nvSpPr>
          <p:cNvPr id="50187" name="AutoShape 11">
            <a:extLst>
              <a:ext uri="{FF2B5EF4-FFF2-40B4-BE49-F238E27FC236}">
                <a16:creationId xmlns:a16="http://schemas.microsoft.com/office/drawing/2014/main" id="{7691A3A8-4BAB-684D-D0C7-7214C96A9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924175"/>
            <a:ext cx="360362" cy="28892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1" grpId="0" animBg="1"/>
      <p:bldP spid="200712" grpId="0" animBg="1"/>
      <p:bldP spid="200713" grpId="0" animBg="1"/>
      <p:bldP spid="2007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>
            <a:extLst>
              <a:ext uri="{FF2B5EF4-FFF2-40B4-BE49-F238E27FC236}">
                <a16:creationId xmlns:a16="http://schemas.microsoft.com/office/drawing/2014/main" id="{54162D59-5228-F075-B33A-89F42C160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760413"/>
          <a:ext cx="8991600" cy="540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7876190" imgH="4734586" progId="Paint.Picture">
                  <p:embed/>
                </p:oleObj>
              </mc:Choice>
              <mc:Fallback>
                <p:oleObj name="位图图像" r:id="rId3" imgW="7876190" imgH="47345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760413"/>
                        <a:ext cx="8991600" cy="540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3">
            <a:extLst>
              <a:ext uri="{FF2B5EF4-FFF2-40B4-BE49-F238E27FC236}">
                <a16:creationId xmlns:a16="http://schemas.microsoft.com/office/drawing/2014/main" id="{C4EA156F-4F90-DFF5-1767-4E7F9045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60350"/>
            <a:ext cx="353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DES</a:t>
            </a:r>
            <a:r>
              <a:rPr lang="zh-CN" altLang="en-US" sz="2400" b="1">
                <a:ea typeface="宋体" panose="02010600030101010101" pitchFamily="2" charset="-122"/>
              </a:rPr>
              <a:t>算法的密钥编排算法</a:t>
            </a:r>
          </a:p>
        </p:txBody>
      </p:sp>
      <p:sp>
        <p:nvSpPr>
          <p:cNvPr id="51204" name="文本框 1">
            <a:extLst>
              <a:ext uri="{FF2B5EF4-FFF2-40B4-BE49-F238E27FC236}">
                <a16:creationId xmlns:a16="http://schemas.microsoft.com/office/drawing/2014/main" id="{657B4C4D-936C-91AB-4312-C115CDDBA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760413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宋体" panose="02010600030101010101" pitchFamily="2" charset="-122"/>
              </a:rPr>
              <a:t>缩减置换</a:t>
            </a:r>
            <a:r>
              <a:rPr lang="en-CA" altLang="zh-CN" sz="2400">
                <a:ea typeface="宋体" panose="02010600030101010101" pitchFamily="2" charset="-122"/>
              </a:rPr>
              <a:t>PC-1/2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8644AE1-3D12-E1E1-1C23-AC455290B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DES</a:t>
            </a:r>
            <a:r>
              <a:rPr lang="zh-CN" altLang="en-US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算法的密钥编排算法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0823758-D84F-4978-82F8-67C1AFFADC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68413"/>
            <a:ext cx="3236912" cy="4824412"/>
          </a:xfrm>
        </p:spPr>
        <p:txBody>
          <a:bodyPr/>
          <a:lstStyle/>
          <a:p>
            <a:pPr marL="0" indent="471488"/>
            <a:r>
              <a:rPr lang="en-US" altLang="zh-CN" sz="2400" dirty="0">
                <a:latin typeface="+mj-ea"/>
                <a:ea typeface="+mj-ea"/>
              </a:rPr>
              <a:t>1.  </a:t>
            </a:r>
            <a:r>
              <a:rPr lang="zh-CN" altLang="en-US" sz="2400" dirty="0">
                <a:latin typeface="+mj-ea"/>
                <a:ea typeface="+mj-ea"/>
              </a:rPr>
              <a:t>给定</a:t>
            </a:r>
            <a:r>
              <a:rPr lang="en-US" altLang="zh-CN" sz="2400" dirty="0">
                <a:latin typeface="+mj-ea"/>
                <a:ea typeface="+mj-ea"/>
              </a:rPr>
              <a:t>64</a:t>
            </a:r>
            <a:r>
              <a:rPr lang="zh-CN" altLang="en-US" sz="2400" dirty="0">
                <a:latin typeface="+mj-ea"/>
                <a:ea typeface="+mj-ea"/>
              </a:rPr>
              <a:t>比特密钥</a:t>
            </a:r>
            <a:r>
              <a:rPr lang="en-US" altLang="zh-CN" sz="2400" dirty="0">
                <a:latin typeface="+mj-ea"/>
                <a:ea typeface="+mj-ea"/>
              </a:rPr>
              <a:t>K</a:t>
            </a:r>
            <a:r>
              <a:rPr lang="zh-CN" altLang="en-US" sz="2400" dirty="0">
                <a:latin typeface="+mj-ea"/>
                <a:ea typeface="+mj-ea"/>
              </a:rPr>
              <a:t>，根据固定的置换</a:t>
            </a:r>
            <a:r>
              <a:rPr lang="en-US" altLang="zh-CN" sz="2400" dirty="0">
                <a:latin typeface="+mj-ea"/>
                <a:ea typeface="+mj-ea"/>
              </a:rPr>
              <a:t>PC-1</a:t>
            </a:r>
            <a:r>
              <a:rPr lang="zh-CN" altLang="en-US" sz="2400" dirty="0">
                <a:latin typeface="+mj-ea"/>
                <a:ea typeface="+mj-ea"/>
              </a:rPr>
              <a:t>来处理</a:t>
            </a:r>
            <a:r>
              <a:rPr lang="en-US" altLang="zh-CN" sz="2400" dirty="0">
                <a:latin typeface="+mj-ea"/>
                <a:ea typeface="+mj-ea"/>
              </a:rPr>
              <a:t>K</a:t>
            </a:r>
            <a:r>
              <a:rPr lang="zh-CN" altLang="en-US" sz="2400" dirty="0">
                <a:latin typeface="+mj-ea"/>
                <a:ea typeface="+mj-ea"/>
              </a:rPr>
              <a:t>得到</a:t>
            </a:r>
            <a:r>
              <a:rPr lang="en-US" altLang="zh-CN" sz="2400" dirty="0">
                <a:latin typeface="+mj-ea"/>
                <a:ea typeface="+mj-ea"/>
              </a:rPr>
              <a:t>PC-1</a:t>
            </a:r>
            <a:r>
              <a:rPr lang="zh-CN" altLang="en-US" sz="2400" dirty="0">
                <a:latin typeface="+mj-ea"/>
                <a:ea typeface="+mj-ea"/>
              </a:rPr>
              <a:t>（</a:t>
            </a:r>
            <a:r>
              <a:rPr lang="en-US" altLang="zh-CN" sz="2400" dirty="0">
                <a:latin typeface="+mj-ea"/>
                <a:ea typeface="+mj-ea"/>
              </a:rPr>
              <a:t>K</a:t>
            </a:r>
            <a:r>
              <a:rPr lang="zh-CN" altLang="en-US" sz="2400" dirty="0">
                <a:latin typeface="+mj-ea"/>
                <a:ea typeface="+mj-ea"/>
              </a:rPr>
              <a:t>）</a:t>
            </a:r>
            <a:r>
              <a:rPr lang="en-US" altLang="zh-CN" sz="2400" dirty="0">
                <a:latin typeface="+mj-ea"/>
                <a:ea typeface="+mj-ea"/>
              </a:rPr>
              <a:t>=C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en-US" altLang="zh-CN" sz="2400" dirty="0">
                <a:latin typeface="+mj-ea"/>
                <a:ea typeface="+mj-ea"/>
              </a:rPr>
              <a:t>D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dirty="0">
                <a:latin typeface="+mj-ea"/>
                <a:ea typeface="+mj-ea"/>
              </a:rPr>
              <a:t>，其中</a:t>
            </a: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dirty="0">
                <a:latin typeface="+mj-ea"/>
                <a:ea typeface="+mj-ea"/>
              </a:rPr>
              <a:t>和</a:t>
            </a:r>
            <a:r>
              <a:rPr lang="en-US" altLang="zh-CN" sz="2400" dirty="0">
                <a:latin typeface="+mj-ea"/>
                <a:ea typeface="+mj-ea"/>
              </a:rPr>
              <a:t>D</a:t>
            </a:r>
            <a:r>
              <a:rPr lang="en-US" altLang="zh-CN" sz="2400" baseline="-25000" dirty="0">
                <a:latin typeface="+mj-ea"/>
                <a:ea typeface="+mj-ea"/>
              </a:rPr>
              <a:t>0</a:t>
            </a:r>
            <a:r>
              <a:rPr lang="zh-CN" altLang="en-US" sz="2400" dirty="0">
                <a:latin typeface="+mj-ea"/>
                <a:ea typeface="+mj-ea"/>
              </a:rPr>
              <a:t>分别由</a:t>
            </a:r>
            <a:r>
              <a:rPr lang="en-US" altLang="zh-CN" sz="2400" dirty="0">
                <a:latin typeface="+mj-ea"/>
                <a:ea typeface="+mj-ea"/>
              </a:rPr>
              <a:t>28</a:t>
            </a:r>
            <a:r>
              <a:rPr lang="zh-CN" altLang="en-US" sz="2400" dirty="0">
                <a:latin typeface="+mj-ea"/>
                <a:ea typeface="+mj-ea"/>
              </a:rPr>
              <a:t>比特组成</a:t>
            </a:r>
          </a:p>
          <a:p>
            <a:pPr marL="0" indent="471488"/>
            <a:endParaRPr lang="zh-CN" altLang="en-US" sz="2400" dirty="0"/>
          </a:p>
          <a:p>
            <a:pPr marL="0" indent="471488"/>
            <a:endParaRPr lang="en-US" altLang="zh-CN" sz="2400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C87D828-811F-9CD7-4A78-C103647F92D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6720119"/>
              </p:ext>
            </p:extLst>
          </p:nvPr>
        </p:nvGraphicFramePr>
        <p:xfrm>
          <a:off x="3733800" y="1412875"/>
          <a:ext cx="4724400" cy="4876803"/>
        </p:xfrm>
        <a:graphic>
          <a:graphicData uri="http://schemas.openxmlformats.org/drawingml/2006/table">
            <a:tbl>
              <a:tblPr/>
              <a:tblGrid>
                <a:gridCol w="67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1338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PC-1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4DA4FA7C-9414-726E-BF40-624FD2F88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3921125" cy="38369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E78E15F-8B80-E55F-F3BC-37EE5F783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485900"/>
            <a:ext cx="3924300" cy="379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175" indent="468313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1  2  3  4  5  6  7  8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9  10 11 12 13 14 15 16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17 18 19 20 21 22 23 24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25 26 27 28 29 30 31 32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33 34 35 36 37 38 39 40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41 42 43 44 45 46 47 48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49 50 51 52 53 54 55 56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57 58 59 60 61 62 63 64</a:t>
            </a:r>
          </a:p>
        </p:txBody>
      </p:sp>
      <p:sp>
        <p:nvSpPr>
          <p:cNvPr id="54276" name="AutoShape 4">
            <a:extLst>
              <a:ext uri="{FF2B5EF4-FFF2-40B4-BE49-F238E27FC236}">
                <a16:creationId xmlns:a16="http://schemas.microsoft.com/office/drawing/2014/main" id="{CAB98472-46D0-DDAD-0A41-1171E510E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2817812" cy="3657600"/>
          </a:xfrm>
          <a:prstGeom prst="roundRect">
            <a:avLst>
              <a:gd name="adj" fmla="val 4741"/>
            </a:avLst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D5F74655-5AD4-396B-1251-959E67381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9475" y="188913"/>
            <a:ext cx="2743200" cy="2413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500">
                <a:solidFill>
                  <a:schemeClr val="tx1"/>
                </a:solidFill>
                <a:ea typeface="华文行楷" panose="02010800040101010101" pitchFamily="2" charset="-122"/>
              </a:rPr>
              <a:t>密钥置换</a:t>
            </a:r>
            <a:r>
              <a:rPr lang="en-US" altLang="zh-CN" sz="2500">
                <a:solidFill>
                  <a:schemeClr val="tx1"/>
                </a:solidFill>
                <a:ea typeface="华文行楷" panose="02010800040101010101" pitchFamily="2" charset="-122"/>
              </a:rPr>
              <a:t>PC-1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283F0CDA-1047-3C27-27F2-EA4ACF15B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32388" y="1341438"/>
            <a:ext cx="4011612" cy="3810000"/>
          </a:xfrm>
          <a:solidFill>
            <a:schemeClr val="tx1"/>
          </a:solidFill>
        </p:spPr>
        <p:txBody>
          <a:bodyPr/>
          <a:lstStyle/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57 49 41 33 25 17  9  8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1  58 50 42 34 26 18 16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10  2 59 51 43 35 27 24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19 11  3 60 52 44 36 32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63 55 47 39 31 23 15 40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7  62 54 46 38 30 22 48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14  6 61 53 45 37 29 56</a:t>
            </a:r>
          </a:p>
          <a:p>
            <a:r>
              <a:rPr lang="en-US" altLang="zh-CN" sz="2100">
                <a:solidFill>
                  <a:schemeClr val="bg1"/>
                </a:solidFill>
                <a:latin typeface="宋体" panose="02010600030101010101" pitchFamily="2" charset="-122"/>
              </a:rPr>
              <a:t>21 13  5 28 20 12  4 64</a:t>
            </a:r>
          </a:p>
        </p:txBody>
      </p:sp>
      <p:sp>
        <p:nvSpPr>
          <p:cNvPr id="54279" name="AutoShape 7">
            <a:extLst>
              <a:ext uri="{FF2B5EF4-FFF2-40B4-BE49-F238E27FC236}">
                <a16:creationId xmlns:a16="http://schemas.microsoft.com/office/drawing/2014/main" id="{616677FE-4485-67A8-9692-B2F8EB7AA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1412875"/>
            <a:ext cx="3073400" cy="3692525"/>
          </a:xfrm>
          <a:prstGeom prst="roundRect">
            <a:avLst>
              <a:gd name="adj" fmla="val 4741"/>
            </a:avLst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06856" name="Rectangle 8">
            <a:extLst>
              <a:ext uri="{FF2B5EF4-FFF2-40B4-BE49-F238E27FC236}">
                <a16:creationId xmlns:a16="http://schemas.microsoft.com/office/drawing/2014/main" id="{36E6E645-F626-D122-E2BE-C22532FA7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6250"/>
            <a:ext cx="6551612" cy="762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</a:rPr>
              <a:t>输入</a:t>
            </a:r>
            <a:r>
              <a:rPr kumimoji="0" lang="en-US" altLang="zh-CN" sz="2000">
                <a:solidFill>
                  <a:schemeClr val="bg1"/>
                </a:solidFill>
                <a:latin typeface="Arial" panose="020B0604020202020204" pitchFamily="34" charset="0"/>
              </a:rPr>
              <a:t>64</a:t>
            </a:r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</a:rPr>
              <a:t>位</a:t>
            </a:r>
            <a:r>
              <a:rPr kumimoji="0" lang="en-US" altLang="zh-CN" sz="2000">
                <a:solidFill>
                  <a:schemeClr val="bg1"/>
                </a:solidFill>
                <a:latin typeface="Arial" panose="020B0604020202020204" pitchFamily="34" charset="0"/>
              </a:rPr>
              <a:t>k0</a:t>
            </a:r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</a:rPr>
              <a:t>：</a:t>
            </a:r>
            <a:r>
              <a:rPr kumimoji="0" lang="en-US" altLang="zh-CN" sz="2000">
                <a:solidFill>
                  <a:schemeClr val="bg1"/>
                </a:solidFill>
                <a:latin typeface="Arial" panose="020B0604020202020204" pitchFamily="34" charset="0"/>
              </a:rPr>
              <a:t>01110000 00111000 10011011 11101100 </a:t>
            </a:r>
          </a:p>
          <a:p>
            <a:pPr>
              <a:lnSpc>
                <a:spcPct val="100000"/>
              </a:lnSpc>
            </a:pPr>
            <a:r>
              <a:rPr kumimoji="0" lang="en-US" altLang="zh-CN" sz="2000">
                <a:solidFill>
                  <a:schemeClr val="bg1"/>
                </a:solidFill>
                <a:latin typeface="Arial" panose="020B0604020202020204" pitchFamily="34" charset="0"/>
              </a:rPr>
              <a:t>                      01110110 10010010 10000101 11011010</a:t>
            </a:r>
          </a:p>
        </p:txBody>
      </p:sp>
      <p:sp>
        <p:nvSpPr>
          <p:cNvPr id="54281" name="AutoShape 6">
            <a:hlinkClick r:id="" action="ppaction://noaction"/>
            <a:extLst>
              <a:ext uri="{FF2B5EF4-FFF2-40B4-BE49-F238E27FC236}">
                <a16:creationId xmlns:a16="http://schemas.microsoft.com/office/drawing/2014/main" id="{289101F8-A5ED-5724-E24C-E86F3064B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2636838"/>
            <a:ext cx="1031875" cy="609600"/>
          </a:xfrm>
          <a:prstGeom prst="rightArrow">
            <a:avLst>
              <a:gd name="adj1" fmla="val 50000"/>
              <a:gd name="adj2" fmla="val 5195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PC-1</a:t>
            </a:r>
          </a:p>
        </p:txBody>
      </p:sp>
      <p:sp>
        <p:nvSpPr>
          <p:cNvPr id="206858" name="Rectangle 10">
            <a:extLst>
              <a:ext uri="{FF2B5EF4-FFF2-40B4-BE49-F238E27FC236}">
                <a16:creationId xmlns:a16="http://schemas.microsoft.com/office/drawing/2014/main" id="{045D4986-9DB3-416A-F5C7-734C21CE3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5202238"/>
            <a:ext cx="6134100" cy="154463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PC-1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置换输出</a:t>
            </a:r>
            <a:r>
              <a:rPr kumimoji="0"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56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位：</a:t>
            </a:r>
          </a:p>
          <a:p>
            <a:pPr>
              <a:lnSpc>
                <a:spcPct val="100000"/>
              </a:lnSpc>
            </a:pPr>
            <a:r>
              <a:rPr kumimoji="0"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11101100 10011001 00011011 1011 </a:t>
            </a:r>
          </a:p>
          <a:p>
            <a:pPr>
              <a:lnSpc>
                <a:spcPct val="100000"/>
              </a:lnSpc>
            </a:pPr>
            <a:r>
              <a:rPr kumimoji="0"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10110100 01011000 10001110 0110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6" grpId="0" animBg="1"/>
      <p:bldP spid="2068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6D2AACE-77D7-1B5A-64FD-5B78107A5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3938" y="0"/>
            <a:ext cx="3609975" cy="576263"/>
          </a:xfrm>
        </p:spPr>
        <p:txBody>
          <a:bodyPr/>
          <a:lstStyle/>
          <a:p>
            <a:r>
              <a:rPr lang="zh-CN" altLang="en-US"/>
              <a:t>左循环移位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85AEC25-CC8F-21AC-75CA-A14D400E2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229600" cy="4525962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及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根据左循环移位函数进行左循环移位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或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位，各轮移位位数如表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3-1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所示。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置换选择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PC-1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输出的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56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位，分为两半，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=11101100 10011001 00011011 1011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=10110100 01011000 10001110 0110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。</a:t>
            </a:r>
          </a:p>
          <a:p>
            <a:pPr algn="just">
              <a:lnSpc>
                <a:spcPct val="110000"/>
              </a:lnSpc>
            </a:pPr>
            <a:r>
              <a:rPr lang="en-US" altLang="zh-CN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en-US" altLang="zh-CN" baseline="-25000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zh-CN" altLang="en-US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及</a:t>
            </a:r>
            <a:r>
              <a:rPr lang="en-US" altLang="zh-CN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D</a:t>
            </a:r>
            <a:r>
              <a:rPr lang="en-US" altLang="zh-CN" baseline="-25000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0</a:t>
            </a:r>
            <a:r>
              <a:rPr lang="zh-CN" altLang="en-US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分别左循环</a:t>
            </a:r>
            <a:r>
              <a:rPr lang="en-US" altLang="zh-CN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位得到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=1101100 10011001 00011011 1011</a:t>
            </a:r>
            <a:r>
              <a:rPr lang="en-US" altLang="zh-CN" dirty="0">
                <a:solidFill>
                  <a:srgbClr val="FF33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=0110100 01011000 10001110 0110</a:t>
            </a:r>
            <a:r>
              <a:rPr lang="en-US" altLang="zh-CN" dirty="0">
                <a:solidFill>
                  <a:srgbClr val="FF33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</a:p>
        </p:txBody>
      </p:sp>
      <p:grpSp>
        <p:nvGrpSpPr>
          <p:cNvPr id="56324" name="Group 4">
            <a:extLst>
              <a:ext uri="{FF2B5EF4-FFF2-40B4-BE49-F238E27FC236}">
                <a16:creationId xmlns:a16="http://schemas.microsoft.com/office/drawing/2014/main" id="{803F4F36-D26A-1C64-43A2-DCCC566CDAED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5517728"/>
            <a:ext cx="6653213" cy="863600"/>
            <a:chOff x="657" y="3168"/>
            <a:chExt cx="4355" cy="544"/>
          </a:xfrm>
        </p:grpSpPr>
        <p:sp>
          <p:nvSpPr>
            <p:cNvPr id="56326" name="Rectangle 5">
              <a:extLst>
                <a:ext uri="{FF2B5EF4-FFF2-40B4-BE49-F238E27FC236}">
                  <a16:creationId xmlns:a16="http://schemas.microsoft.com/office/drawing/2014/main" id="{02011452-5CBF-48EF-C711-D58858CB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168"/>
              <a:ext cx="4287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2300" dirty="0">
                  <a:latin typeface="宋体" panose="02010600030101010101" pitchFamily="2" charset="-122"/>
                  <a:ea typeface="宋体" panose="02010600030101010101" pitchFamily="2" charset="-122"/>
                </a:rPr>
                <a:t>轮序 </a:t>
              </a:r>
              <a:r>
                <a:rPr kumimoji="0" lang="en-US" altLang="zh-CN" sz="2300" dirty="0">
                  <a:latin typeface="宋体" panose="02010600030101010101" pitchFamily="2" charset="-122"/>
                  <a:ea typeface="宋体" panose="02010600030101010101" pitchFamily="2" charset="-122"/>
                </a:rPr>
                <a:t>1 2 3 4 5 6 7 8 9 10 11 12 13 14 15 16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2300" dirty="0">
                  <a:latin typeface="宋体" panose="02010600030101010101" pitchFamily="2" charset="-122"/>
                  <a:ea typeface="宋体" panose="02010600030101010101" pitchFamily="2" charset="-122"/>
                </a:rPr>
                <a:t>移位 </a:t>
              </a:r>
              <a:r>
                <a:rPr kumimoji="0" lang="en-US" altLang="zh-CN" sz="2300" dirty="0">
                  <a:latin typeface="宋体" panose="02010600030101010101" pitchFamily="2" charset="-122"/>
                  <a:ea typeface="宋体" panose="02010600030101010101" pitchFamily="2" charset="-122"/>
                </a:rPr>
                <a:t>1 1 2 2 2 2 2 2 1  2  2  2  2  2  2  1</a:t>
              </a:r>
            </a:p>
          </p:txBody>
        </p:sp>
        <p:sp>
          <p:nvSpPr>
            <p:cNvPr id="56327" name="Rectangle 6">
              <a:extLst>
                <a:ext uri="{FF2B5EF4-FFF2-40B4-BE49-F238E27FC236}">
                  <a16:creationId xmlns:a16="http://schemas.microsoft.com/office/drawing/2014/main" id="{CEC30B40-E1F5-312F-4E2A-381EE9BAD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168"/>
              <a:ext cx="4355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56328" name="Line 7">
              <a:extLst>
                <a:ext uri="{FF2B5EF4-FFF2-40B4-BE49-F238E27FC236}">
                  <a16:creationId xmlns:a16="http://schemas.microsoft.com/office/drawing/2014/main" id="{FC90FE43-8CBD-834D-9C44-6C80914AC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3440"/>
              <a:ext cx="43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Line 8">
              <a:extLst>
                <a:ext uri="{FF2B5EF4-FFF2-40B4-BE49-F238E27FC236}">
                  <a16:creationId xmlns:a16="http://schemas.microsoft.com/office/drawing/2014/main" id="{94C69182-0B1D-FD90-D433-2B3CEC599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325" name="Rectangle 9">
            <a:extLst>
              <a:ext uri="{FF2B5EF4-FFF2-40B4-BE49-F238E27FC236}">
                <a16:creationId xmlns:a16="http://schemas.microsoft.com/office/drawing/2014/main" id="{60EBC6A2-FD9D-B62D-90D0-575957EE4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085184"/>
            <a:ext cx="2735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循环左移位数表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3-1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525ED21-4767-A099-4B7A-438F4EA28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75" y="0"/>
            <a:ext cx="2601913" cy="720725"/>
          </a:xfrm>
        </p:spPr>
        <p:txBody>
          <a:bodyPr/>
          <a:lstStyle/>
          <a:p>
            <a:r>
              <a:rPr lang="zh-CN" altLang="en-US" sz="2400"/>
              <a:t>密钥置换</a:t>
            </a:r>
            <a:r>
              <a:rPr lang="en-US" altLang="zh-CN" sz="2400"/>
              <a:t>PC-2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0113CAD-9CB2-45D5-FAB5-0B0D1748EF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404813"/>
            <a:ext cx="9144000" cy="1008062"/>
          </a:xfrm>
        </p:spPr>
        <p:txBody>
          <a:bodyPr/>
          <a:lstStyle/>
          <a:p>
            <a:pPr marL="0" indent="471488" algn="just">
              <a:lnSpc>
                <a:spcPct val="11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输入</a:t>
            </a:r>
            <a:r>
              <a:rPr lang="en-US" altLang="zh-CN" sz="2400" dirty="0">
                <a:ea typeface="宋体" panose="02010600030101010101" pitchFamily="2" charset="-122"/>
              </a:rPr>
              <a:t>56bit </a:t>
            </a:r>
            <a:r>
              <a:rPr lang="zh-CN" altLang="en-US" sz="2400" dirty="0"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ea typeface="宋体" panose="02010600030101010101" pitchFamily="2" charset="-122"/>
              </a:rPr>
              <a:t>1101100 1001100 1000110 1110111 </a:t>
            </a:r>
          </a:p>
          <a:p>
            <a:pPr marL="0" indent="471488" algn="just">
              <a:lnSpc>
                <a:spcPct val="11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                     0110100 0101100 0100011 1001101</a:t>
            </a:r>
          </a:p>
          <a:p>
            <a:pPr marL="0" indent="471488" algn="just">
              <a:lnSpc>
                <a:spcPct val="11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DF456689-1469-C809-2319-4C9FA4528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73688"/>
            <a:ext cx="9251950" cy="10414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PC-2</a:t>
            </a:r>
            <a:r>
              <a:rPr kumimoji="0" lang="zh-CN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输出</a:t>
            </a:r>
            <a:r>
              <a:rPr kumimoji="0"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48bit</a:t>
            </a:r>
            <a:r>
              <a:rPr kumimoji="0" lang="zh-CN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：</a:t>
            </a:r>
          </a:p>
          <a:p>
            <a:pPr eaLnBrk="1" hangingPunct="1"/>
            <a:r>
              <a:rPr kumimoji="0" lang="zh-CN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001111 011000 111111 001101 001101 110011 111101 001000</a:t>
            </a:r>
          </a:p>
        </p:txBody>
      </p:sp>
      <p:graphicFrame>
        <p:nvGraphicFramePr>
          <p:cNvPr id="209925" name="Group 5">
            <a:extLst>
              <a:ext uri="{FF2B5EF4-FFF2-40B4-BE49-F238E27FC236}">
                <a16:creationId xmlns:a16="http://schemas.microsoft.com/office/drawing/2014/main" id="{7F4DFF7D-BD84-F94E-1DB5-0F85F0199C9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49292186"/>
              </p:ext>
            </p:extLst>
          </p:nvPr>
        </p:nvGraphicFramePr>
        <p:xfrm>
          <a:off x="2484438" y="1773238"/>
          <a:ext cx="4149725" cy="3146428"/>
        </p:xfrm>
        <a:graphic>
          <a:graphicData uri="http://schemas.openxmlformats.org/drawingml/2006/table">
            <a:tbl>
              <a:tblPr/>
              <a:tblGrid>
                <a:gridCol w="69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414" name="Text Box 70">
            <a:extLst>
              <a:ext uri="{FF2B5EF4-FFF2-40B4-BE49-F238E27FC236}">
                <a16:creationId xmlns:a16="http://schemas.microsoft.com/office/drawing/2014/main" id="{8BF3C946-69DD-8BA8-0CC1-EFD95C7B7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2884488"/>
            <a:ext cx="21367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en-US" altLang="zh-CN" sz="2400">
                <a:solidFill>
                  <a:schemeClr val="bg1"/>
                </a:solidFill>
                <a:latin typeface="Arial" panose="020B0604020202020204" pitchFamily="34" charset="0"/>
              </a:rPr>
              <a:t>PC-2</a:t>
            </a:r>
            <a:r>
              <a:rPr kumimoji="0" lang="zh-CN" altLang="en-US" sz="2400">
                <a:solidFill>
                  <a:schemeClr val="bg1"/>
                </a:solidFill>
                <a:latin typeface="Arial" panose="020B0604020202020204" pitchFamily="34" charset="0"/>
              </a:rPr>
              <a:t>置换表</a:t>
            </a:r>
          </a:p>
        </p:txBody>
      </p:sp>
      <p:sp>
        <p:nvSpPr>
          <p:cNvPr id="57415" name="AutoShape 71">
            <a:extLst>
              <a:ext uri="{FF2B5EF4-FFF2-40B4-BE49-F238E27FC236}">
                <a16:creationId xmlns:a16="http://schemas.microsoft.com/office/drawing/2014/main" id="{26BC3E47-4B66-987C-DBC1-5A4828643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941888"/>
            <a:ext cx="504825" cy="3603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7416" name="AutoShape 72">
            <a:extLst>
              <a:ext uri="{FF2B5EF4-FFF2-40B4-BE49-F238E27FC236}">
                <a16:creationId xmlns:a16="http://schemas.microsoft.com/office/drawing/2014/main" id="{FFD58B69-47BA-6779-C26C-090FCC223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268413"/>
            <a:ext cx="43180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7417" name="Text Box 73">
            <a:extLst>
              <a:ext uri="{FF2B5EF4-FFF2-40B4-BE49-F238E27FC236}">
                <a16:creationId xmlns:a16="http://schemas.microsoft.com/office/drawing/2014/main" id="{7439BF3A-28F8-23D7-785A-7336246A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1169988"/>
            <a:ext cx="145573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rgbClr val="FF3300"/>
                </a:solidFill>
                <a:latin typeface="Arial" panose="020B0604020202020204" pitchFamily="34" charset="0"/>
              </a:rPr>
              <a:t>输入</a:t>
            </a:r>
            <a:r>
              <a:rPr kumimoji="0" lang="en-US" altLang="zh-CN" sz="2400">
                <a:solidFill>
                  <a:srgbClr val="FF3300"/>
                </a:solidFill>
                <a:latin typeface="Arial" panose="020B0604020202020204" pitchFamily="34" charset="0"/>
              </a:rPr>
              <a:t>56bit</a:t>
            </a:r>
          </a:p>
        </p:txBody>
      </p:sp>
      <p:sp>
        <p:nvSpPr>
          <p:cNvPr id="57418" name="Text Box 74">
            <a:extLst>
              <a:ext uri="{FF2B5EF4-FFF2-40B4-BE49-F238E27FC236}">
                <a16:creationId xmlns:a16="http://schemas.microsoft.com/office/drawing/2014/main" id="{166427FE-65B0-3C1F-2EF9-B992BC002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797425"/>
            <a:ext cx="145573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 dirty="0">
                <a:solidFill>
                  <a:srgbClr val="FF3300"/>
                </a:solidFill>
                <a:latin typeface="Arial" panose="020B0604020202020204" pitchFamily="34" charset="0"/>
              </a:rPr>
              <a:t>输出</a:t>
            </a:r>
            <a:r>
              <a:rPr kumimoji="0" lang="en-US" altLang="zh-CN" sz="2400" dirty="0">
                <a:solidFill>
                  <a:srgbClr val="FF3300"/>
                </a:solidFill>
                <a:latin typeface="Arial" panose="020B0604020202020204" pitchFamily="34" charset="0"/>
              </a:rPr>
              <a:t>48bit</a:t>
            </a:r>
          </a:p>
        </p:txBody>
      </p:sp>
      <p:sp>
        <p:nvSpPr>
          <p:cNvPr id="57419" name="文本框 1">
            <a:extLst>
              <a:ext uri="{FF2B5EF4-FFF2-40B4-BE49-F238E27FC236}">
                <a16:creationId xmlns:a16="http://schemas.microsoft.com/office/drawing/2014/main" id="{97AAC209-090D-B929-C198-DB1E8888C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513" y="1817688"/>
            <a:ext cx="1223962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>
                <a:ea typeface="宋体" panose="02010600030101010101" pitchFamily="2" charset="-122"/>
              </a:rPr>
              <a:t>去除</a:t>
            </a:r>
            <a:endParaRPr lang="en-US" altLang="zh-CN" sz="2000" b="1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9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18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22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25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35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38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43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>
                <a:ea typeface="宋体" panose="02010600030101010101" pitchFamily="2" charset="-122"/>
              </a:rPr>
              <a:t>54</a:t>
            </a:r>
            <a:r>
              <a:rPr lang="zh-CN" altLang="en-US" sz="2000">
                <a:ea typeface="宋体" panose="02010600030101010101" pitchFamily="2" charset="-122"/>
              </a:rPr>
              <a:t>位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B36D910-7CA1-60A2-0164-07F90F30D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00" y="260350"/>
            <a:ext cx="2314575" cy="649288"/>
          </a:xfrm>
        </p:spPr>
        <p:txBody>
          <a:bodyPr/>
          <a:lstStyle/>
          <a:p>
            <a:r>
              <a:rPr lang="zh-CN" altLang="en-US" sz="2800"/>
              <a:t>子密钥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244EE3C-83F8-0EDA-BA68-1365965F7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496300" cy="2305050"/>
          </a:xfrm>
        </p:spPr>
        <p:txBody>
          <a:bodyPr/>
          <a:lstStyle/>
          <a:p>
            <a:pPr algn="just"/>
            <a:r>
              <a:rPr lang="zh-CN" altLang="en-US" dirty="0">
                <a:ea typeface="宋体" panose="02010600030101010101" pitchFamily="2" charset="-122"/>
              </a:rPr>
              <a:t>通过</a:t>
            </a:r>
            <a:r>
              <a:rPr lang="en-US" altLang="zh-CN" dirty="0">
                <a:ea typeface="宋体" panose="02010600030101010101" pitchFamily="2" charset="-122"/>
              </a:rPr>
              <a:t>PC-2</a:t>
            </a:r>
            <a:r>
              <a:rPr lang="zh-CN" altLang="en-US" dirty="0">
                <a:ea typeface="宋体" panose="02010600030101010101" pitchFamily="2" charset="-122"/>
              </a:rPr>
              <a:t>置换选择输出的就是</a:t>
            </a:r>
            <a:r>
              <a:rPr lang="en-US" altLang="zh-CN" dirty="0">
                <a:ea typeface="宋体" panose="02010600030101010101" pitchFamily="2" charset="-122"/>
              </a:rPr>
              <a:t>DES</a:t>
            </a:r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轮的子密钥</a:t>
            </a:r>
            <a:r>
              <a:rPr lang="en-US" altLang="zh-CN" dirty="0">
                <a:ea typeface="宋体" panose="02010600030101010101" pitchFamily="2" charset="-122"/>
              </a:rPr>
              <a:t>K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为</a:t>
            </a:r>
            <a:r>
              <a:rPr lang="en-US" altLang="zh-CN" dirty="0">
                <a:ea typeface="宋体" panose="02010600030101010101" pitchFamily="2" charset="-122"/>
              </a:rPr>
              <a:t>001111 011000 111111 001101 001101 110011 111101 001000</a:t>
            </a:r>
            <a:r>
              <a:rPr lang="zh-CN" altLang="en-US" dirty="0">
                <a:ea typeface="宋体" panose="02010600030101010101" pitchFamily="2" charset="-122"/>
              </a:rPr>
              <a:t>，作为</a:t>
            </a:r>
            <a:r>
              <a:rPr lang="en-US" altLang="zh-CN" dirty="0">
                <a:ea typeface="宋体" panose="02010600030101010101" pitchFamily="2" charset="-122"/>
              </a:rPr>
              <a:t>DES</a:t>
            </a:r>
            <a:r>
              <a:rPr lang="zh-CN" altLang="en-US" dirty="0">
                <a:ea typeface="宋体" panose="02010600030101010101" pitchFamily="2" charset="-122"/>
              </a:rPr>
              <a:t>轮结构变换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zh-CN" altLang="en-US" dirty="0">
                <a:ea typeface="宋体" panose="02010600030101010101" pitchFamily="2" charset="-122"/>
              </a:rPr>
              <a:t>函数的输入。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276B9EFB-F96B-4313-2F80-86E84E56A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13100"/>
            <a:ext cx="84582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75" indent="468313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latin typeface="+mj-ea"/>
                <a:ea typeface="+mj-ea"/>
              </a:rPr>
              <a:t>由前面的加密可知，</a:t>
            </a:r>
            <a:r>
              <a:rPr lang="en-US" altLang="zh-CN" dirty="0">
                <a:latin typeface="+mj-ea"/>
                <a:ea typeface="+mj-ea"/>
              </a:rPr>
              <a:t>DES</a:t>
            </a:r>
            <a:r>
              <a:rPr lang="zh-CN" altLang="en-US" dirty="0">
                <a:latin typeface="+mj-ea"/>
                <a:ea typeface="+mj-ea"/>
              </a:rPr>
              <a:t>加密一共是</a:t>
            </a:r>
            <a:r>
              <a:rPr lang="en-US" altLang="zh-CN" dirty="0">
                <a:latin typeface="+mj-ea"/>
                <a:ea typeface="+mj-ea"/>
              </a:rPr>
              <a:t>16</a:t>
            </a:r>
            <a:r>
              <a:rPr lang="zh-CN" altLang="en-US" dirty="0">
                <a:latin typeface="+mj-ea"/>
                <a:ea typeface="+mj-ea"/>
              </a:rPr>
              <a:t>轮，每一轮需要用一个子密钥，故一共要产生</a:t>
            </a:r>
            <a:r>
              <a:rPr lang="en-US" altLang="zh-CN" dirty="0">
                <a:latin typeface="+mj-ea"/>
                <a:ea typeface="+mj-ea"/>
              </a:rPr>
              <a:t>16</a:t>
            </a:r>
            <a:r>
              <a:rPr lang="zh-CN" altLang="en-US" dirty="0">
                <a:latin typeface="+mj-ea"/>
                <a:ea typeface="+mj-ea"/>
              </a:rPr>
              <a:t>个轮子密钥，通常表示为</a:t>
            </a:r>
            <a:r>
              <a:rPr lang="en-US" altLang="zh-CN" dirty="0">
                <a:latin typeface="+mj-ea"/>
                <a:ea typeface="+mj-ea"/>
              </a:rPr>
              <a:t>K1,K2, K3, ……,K16.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9750173-BD06-4345-29CF-751A1F44C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DES的解密变换</a:t>
            </a:r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4B8C61B-A192-A7D4-9B88-F4B0AC0445C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68413"/>
            <a:ext cx="4151312" cy="4824412"/>
          </a:xfrm>
        </p:spPr>
        <p:txBody>
          <a:bodyPr/>
          <a:lstStyle/>
          <a:p>
            <a:pPr marL="0" indent="471488"/>
            <a:r>
              <a:rPr lang="en-US" altLang="zh-CN" sz="2400"/>
              <a:t>DES</a:t>
            </a:r>
            <a:r>
              <a:rPr lang="zh-CN" altLang="en-US" sz="2400"/>
              <a:t>的解密</a:t>
            </a:r>
            <a:r>
              <a:rPr lang="en-US" altLang="zh-CN" sz="2400"/>
              <a:t>:</a:t>
            </a:r>
          </a:p>
        </p:txBody>
      </p:sp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2B03C081-1558-CC14-2741-4AE6F207BF4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348038" y="1341438"/>
          <a:ext cx="39528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51468" imgH="5366865" progId="Visio.Drawing.11">
                  <p:embed/>
                </p:oleObj>
              </mc:Choice>
              <mc:Fallback>
                <p:oleObj name="Visio" r:id="rId2" imgW="4351468" imgH="536686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341438"/>
                        <a:ext cx="3952875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A4CF18D-0B8D-F2FD-4716-0799A6826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</a:t>
            </a:r>
            <a:r>
              <a:rPr lang="zh-CN" altLang="en-US"/>
              <a:t>解密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F3BA93B-9EE2-9B13-DB10-A154D5FAE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的加密和解密，从流程图上和代码上几乎完全一致。只不过加密输入的是明文和密钥，解密输入的是密文和密钥。</a:t>
            </a:r>
          </a:p>
          <a:p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细节的差别在于，加密时使用的轮子密钥是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K1, K2, K3, ……,K16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，而解密时使用的轮子密钥是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K16, K15, K14, ……,K1.</a:t>
            </a:r>
          </a:p>
          <a:p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换句话说，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轮解密是其加密的每一轮的逆过程。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81B7D4C-73A3-9918-9FBF-3BD58217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 </a:t>
            </a:r>
            <a:r>
              <a:rPr lang="zh-CN" altLang="en-US" dirty="0"/>
              <a:t>弱密钥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C698923-9790-6CA9-7814-F60C9AA88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46417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在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加密中，有一些密钥属于 “弱密钥” 严禁在加密的过程中使用。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在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的计算中，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56bit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的密钥最终会被处理为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16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个轮密钥，每一个轮密钥用于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16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轮计算中的一轮，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弱密钥会使这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16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个轮密钥完全一致。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有四个弱密钥是绝对不能使用的：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\x01\x01\x01\x01\x01\x01\x01\x01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</a:t>
            </a:r>
            <a:r>
              <a:rPr lang="en-US" altLang="zh-CN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xFE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\xE0\xE0\xE0\xE0\xF1\xF1\xF1\xF1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\x1F\x1F\x1F\x1F\x0E\x0E\x0E\x0E</a:t>
            </a:r>
          </a:p>
        </p:txBody>
      </p:sp>
    </p:spTree>
    <p:extLst>
      <p:ext uri="{BB962C8B-B14F-4D97-AF65-F5344CB8AC3E}">
        <p14:creationId xmlns:p14="http://schemas.microsoft.com/office/powerpoint/2010/main" val="3495039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81B7D4C-73A3-9918-9FBF-3BD58217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25413"/>
            <a:ext cx="7772400" cy="567283"/>
          </a:xfrm>
        </p:spPr>
        <p:txBody>
          <a:bodyPr/>
          <a:lstStyle/>
          <a:p>
            <a:r>
              <a:rPr lang="en-US" altLang="zh-CN" dirty="0"/>
              <a:t>DES </a:t>
            </a:r>
            <a:r>
              <a:rPr lang="zh-CN" altLang="en-US" dirty="0"/>
              <a:t>弱密钥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C698923-9790-6CA9-7814-F60C9AA88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032" y="764704"/>
            <a:ext cx="8748464" cy="59678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例如：如果采用密钥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\x01\x01\x01\x01\x01\x01\x01\x01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，则经过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PC-1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置换后，得到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C0D0=0x00000001111111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，则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16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轮子密钥都完全相同。</a:t>
            </a:r>
            <a:endParaRPr lang="en-US" altLang="zh-CN" sz="20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使用弱密钥后，所有的轮密钥都是一样的，并且 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DES 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是 </a:t>
            </a:r>
            <a:r>
              <a:rPr lang="en-US" altLang="zh-CN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Feistel 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网络的</a:t>
            </a:r>
            <a:r>
              <a:rPr lang="zh-CN" altLang="en-US" sz="2000">
                <a:latin typeface="华文宋体" panose="02010600040101010101" pitchFamily="2" charset="-122"/>
                <a:ea typeface="华文宋体" panose="02010600040101010101" pitchFamily="2" charset="-122"/>
              </a:rPr>
              <a:t>结构，结果</a:t>
            </a:r>
            <a:r>
              <a:rPr lang="zh-CN" altLang="en-US" sz="2000" dirty="0">
                <a:latin typeface="华文宋体" panose="02010600040101010101" pitchFamily="2" charset="-122"/>
                <a:ea typeface="华文宋体" panose="02010600040101010101" pitchFamily="2" charset="-122"/>
              </a:rPr>
              <a:t>就是加密一次看起来没什么问题，但是如果再加密一次就得到了明文。</a:t>
            </a:r>
            <a:endParaRPr lang="en-US" altLang="zh-CN" sz="20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2" name="内容占位符 4">
            <a:extLst>
              <a:ext uri="{FF2B5EF4-FFF2-40B4-BE49-F238E27FC236}">
                <a16:creationId xmlns:a16="http://schemas.microsoft.com/office/drawing/2014/main" id="{74EF5264-827B-1ED0-4162-6D0B3284FF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9662977"/>
              </p:ext>
            </p:extLst>
          </p:nvPr>
        </p:nvGraphicFramePr>
        <p:xfrm>
          <a:off x="395536" y="3765736"/>
          <a:ext cx="2275226" cy="2520279"/>
        </p:xfrm>
        <a:graphic>
          <a:graphicData uri="http://schemas.openxmlformats.org/drawingml/2006/table">
            <a:tbl>
              <a:tblPr/>
              <a:tblGrid>
                <a:gridCol w="324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9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031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PC-1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37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内容占位符 4">
            <a:extLst>
              <a:ext uri="{FF2B5EF4-FFF2-40B4-BE49-F238E27FC236}">
                <a16:creationId xmlns:a16="http://schemas.microsoft.com/office/drawing/2014/main" id="{EFC4A81B-DCB5-1E5B-6131-F8E0ACDEB2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1802839"/>
              </p:ext>
            </p:extLst>
          </p:nvPr>
        </p:nvGraphicFramePr>
        <p:xfrm>
          <a:off x="3347864" y="3456532"/>
          <a:ext cx="2521208" cy="3140817"/>
        </p:xfrm>
        <a:graphic>
          <a:graphicData uri="http://schemas.openxmlformats.org/drawingml/2006/table">
            <a:tbl>
              <a:tblPr/>
              <a:tblGrid>
                <a:gridCol w="315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151">
                  <a:extLst>
                    <a:ext uri="{9D8B030D-6E8A-4147-A177-3AD203B41FA5}">
                      <a16:colId xmlns:a16="http://schemas.microsoft.com/office/drawing/2014/main" val="3019410106"/>
                    </a:ext>
                  </a:extLst>
                </a:gridCol>
              </a:tblGrid>
              <a:tr h="345281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原密钥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4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32580B26-9164-B952-007E-E1F9D66B53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7314534"/>
              </p:ext>
            </p:extLst>
          </p:nvPr>
        </p:nvGraphicFramePr>
        <p:xfrm>
          <a:off x="6327556" y="3456533"/>
          <a:ext cx="2250455" cy="3140820"/>
        </p:xfrm>
        <a:graphic>
          <a:graphicData uri="http://schemas.openxmlformats.org/drawingml/2006/table">
            <a:tbl>
              <a:tblPr/>
              <a:tblGrid>
                <a:gridCol w="32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13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8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PC-1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之后的密钥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98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822EA7E1-CEA9-6096-EBC0-3C53C9D790EC}"/>
              </a:ext>
            </a:extLst>
          </p:cNvPr>
          <p:cNvSpPr/>
          <p:nvPr/>
        </p:nvSpPr>
        <p:spPr bwMode="auto">
          <a:xfrm>
            <a:off x="5869072" y="4912816"/>
            <a:ext cx="466711" cy="288032"/>
          </a:xfrm>
          <a:prstGeom prst="rightArrow">
            <a:avLst/>
          </a:prstGeom>
          <a:solidFill>
            <a:srgbClr val="00B0F0"/>
          </a:solidFill>
          <a:ln>
            <a:noFill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63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81B7D4C-73A3-9918-9FBF-3BD58217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 </a:t>
            </a:r>
            <a:r>
              <a:rPr lang="zh-CN" altLang="en-US"/>
              <a:t>安全分析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C698923-9790-6CA9-7814-F60C9AA88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48244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1990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年，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密码利用穷举法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理论强度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97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年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$100000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的机器可以在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小时内用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穷举法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攻破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DES.</a:t>
            </a:r>
            <a:endParaRPr lang="en-US" altLang="zh-CN" dirty="0">
              <a:solidFill>
                <a:srgbClr val="0000FF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实际攻破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的例子，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97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年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月提出挑战，有人利用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Internet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的分布式计算能力，组织志愿军连接了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70000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多个系统在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96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天后攻破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这意味着随着计算能力的增长，必须相应地增加密钥长度。</a:t>
            </a:r>
            <a:r>
              <a:rPr lang="en-US" altLang="zh-CN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2-DES</a:t>
            </a:r>
            <a:r>
              <a:rPr lang="zh-CN" altLang="en-US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3-DES </a:t>
            </a:r>
            <a:r>
              <a:rPr lang="zh-CN" altLang="en-US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Triple DES</a:t>
            </a:r>
            <a:r>
              <a:rPr lang="zh-CN" altLang="en-US" sz="3200" b="1" dirty="0">
                <a:solidFill>
                  <a:srgbClr val="FE625E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</a:p>
          <a:p>
            <a:pPr>
              <a:lnSpc>
                <a:spcPct val="110000"/>
              </a:lnSpc>
            </a:pP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8C89F152-EC13-D67D-07BA-C9F9974CE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</a:t>
            </a:r>
            <a:r>
              <a:rPr lang="zh-CN" altLang="en-US"/>
              <a:t>的变形算法</a:t>
            </a:r>
            <a:r>
              <a:rPr lang="en-US" altLang="zh-CN"/>
              <a:t>-2DES</a:t>
            </a:r>
          </a:p>
        </p:txBody>
      </p:sp>
      <p:pic>
        <p:nvPicPr>
          <p:cNvPr id="62467" name="Picture 3">
            <a:extLst>
              <a:ext uri="{FF2B5EF4-FFF2-40B4-BE49-F238E27FC236}">
                <a16:creationId xmlns:a16="http://schemas.microsoft.com/office/drawing/2014/main" id="{EAF14045-80B3-2368-CB04-AC415231331D}"/>
              </a:ext>
            </a:extLst>
          </p:cNvPr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908050"/>
            <a:ext cx="5761038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82279" name="Group 7">
            <a:extLst>
              <a:ext uri="{FF2B5EF4-FFF2-40B4-BE49-F238E27FC236}">
                <a16:creationId xmlns:a16="http://schemas.microsoft.com/office/drawing/2014/main" id="{9AA9349E-35CD-DF06-AF62-7DFCEEDAC646}"/>
              </a:ext>
            </a:extLst>
          </p:cNvPr>
          <p:cNvGrpSpPr>
            <a:grpSpLocks/>
          </p:cNvGrpSpPr>
          <p:nvPr/>
        </p:nvGrpSpPr>
        <p:grpSpPr bwMode="auto">
          <a:xfrm>
            <a:off x="2890838" y="5229225"/>
            <a:ext cx="3409950" cy="1425575"/>
            <a:chOff x="3499" y="1525"/>
            <a:chExt cx="2148" cy="898"/>
          </a:xfrm>
        </p:grpSpPr>
        <p:graphicFrame>
          <p:nvGraphicFramePr>
            <p:cNvPr id="62470" name="Object 4">
              <a:extLst>
                <a:ext uri="{FF2B5EF4-FFF2-40B4-BE49-F238E27FC236}">
                  <a16:creationId xmlns:a16="http://schemas.microsoft.com/office/drawing/2014/main" id="{7AB5A1D7-4DDA-30C7-0381-B50B9BE490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1525"/>
            <a:ext cx="1996" cy="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448660" imgH="1550464" progId="Visio.Drawing.11">
                    <p:embed/>
                  </p:oleObj>
                </mc:Choice>
                <mc:Fallback>
                  <p:oleObj name="Visio" r:id="rId4" imgW="3448660" imgH="1550464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525"/>
                          <a:ext cx="1996" cy="8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1" name="Text Box 6">
              <a:extLst>
                <a:ext uri="{FF2B5EF4-FFF2-40B4-BE49-F238E27FC236}">
                  <a16:creationId xmlns:a16="http://schemas.microsoft.com/office/drawing/2014/main" id="{59B1943B-D9D4-3CB0-F689-038EF05A8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" y="1570"/>
              <a:ext cx="17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>
                  <a:solidFill>
                    <a:srgbClr val="FF0000"/>
                  </a:solidFill>
                  <a:ea typeface="宋体" panose="02010600030101010101" pitchFamily="2" charset="-122"/>
                </a:rPr>
                <a:t>安全比特长度</a:t>
              </a: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56bits</a:t>
              </a:r>
            </a:p>
          </p:txBody>
        </p:sp>
      </p:grpSp>
      <p:sp>
        <p:nvSpPr>
          <p:cNvPr id="182280" name="Text Box 8">
            <a:extLst>
              <a:ext uri="{FF2B5EF4-FFF2-40B4-BE49-F238E27FC236}">
                <a16:creationId xmlns:a16="http://schemas.microsoft.com/office/drawing/2014/main" id="{EA22A86D-D825-F76A-A8F3-817865540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652963"/>
            <a:ext cx="631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宋体" panose="02010600030101010101" pitchFamily="2" charset="-122"/>
              </a:rPr>
              <a:t>一个密钥有效长度</a:t>
            </a:r>
            <a:r>
              <a:rPr lang="en-US" altLang="zh-CN" sz="2400">
                <a:ea typeface="宋体" panose="02010600030101010101" pitchFamily="2" charset="-122"/>
              </a:rPr>
              <a:t>56bit</a:t>
            </a:r>
            <a:r>
              <a:rPr lang="zh-CN" altLang="en-US" sz="2400">
                <a:ea typeface="宋体" panose="02010600030101010101" pitchFamily="2" charset="-122"/>
              </a:rPr>
              <a:t>，两个密钥为</a:t>
            </a:r>
            <a:r>
              <a:rPr lang="en-US" altLang="zh-CN" sz="2400">
                <a:ea typeface="宋体" panose="02010600030101010101" pitchFamily="2" charset="-122"/>
              </a:rPr>
              <a:t>56*2=112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BC05B181-FFE9-26BD-C5F7-4E46F3242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中间相遇攻击</a:t>
            </a:r>
            <a:endParaRPr lang="en-CA" alt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C43A94-C10D-B87E-B36E-82B6A28FD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5538"/>
            <a:ext cx="9144000" cy="4967287"/>
          </a:xfrm>
        </p:spPr>
        <p:txBody>
          <a:bodyPr/>
          <a:lstStyle/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一种对所有分组密码均有效的攻击方法</a:t>
            </a:r>
          </a:p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　　以双重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位例，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 = E(K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,E(K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,P)) 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。首先设定一个中间值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，有</a:t>
            </a:r>
          </a:p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　　　　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 = E(K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,P) = D(K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,C)</a:t>
            </a:r>
          </a:p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　　给定明密文对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(P,C),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首先，将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P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按所有可能的密钥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加密，得到的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sz="2200" baseline="30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56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个结果按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的值排序放在一个表内，</a:t>
            </a:r>
            <a:endParaRPr lang="en-CA" altLang="zh-CN" sz="2200" dirty="0">
              <a:solidFill>
                <a:srgbClr val="4B4B4B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然后将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用所有可能的密钥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K</a:t>
            </a:r>
            <a:r>
              <a:rPr lang="en-US" altLang="zh-CN" sz="2200" baseline="-25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解密，每解密一次，将解密结果与表中的值比较，如果有相等的，就将刚才测试的两个密钥对一个新的明密文对进行验证，若验证成功，则认定这两个密钥对是正确的密钥。</a:t>
            </a:r>
            <a:endParaRPr lang="en-CA" altLang="zh-CN" sz="2200" dirty="0">
              <a:solidFill>
                <a:srgbClr val="4B4B4B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/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结论：中间相遇攻击</a:t>
            </a:r>
            <a:r>
              <a:rPr lang="zh-CN" altLang="en-US" sz="22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使用两组已知明密文对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就可以猜出正确的密钥，其时间复杂度是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sz="2200" baseline="30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56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（平均），比单重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所需的</a:t>
            </a:r>
            <a:r>
              <a:rPr lang="en-US" altLang="zh-CN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en-US" altLang="zh-CN" sz="2200" baseline="300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55</a:t>
            </a:r>
            <a:r>
              <a:rPr lang="zh-CN" altLang="en-US" sz="2200" dirty="0">
                <a:solidFill>
                  <a:srgbClr val="4B4B4B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次方多不了多少。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3E95D81-8A3B-322F-3075-4529022DD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三重</a:t>
            </a:r>
            <a:r>
              <a:rPr lang="en-US" altLang="zh-CN"/>
              <a:t>DES -EEE3 </a:t>
            </a:r>
          </a:p>
        </p:txBody>
      </p:sp>
      <p:sp>
        <p:nvSpPr>
          <p:cNvPr id="65539" name="Rectangle 9">
            <a:extLst>
              <a:ext uri="{FF2B5EF4-FFF2-40B4-BE49-F238E27FC236}">
                <a16:creationId xmlns:a16="http://schemas.microsoft.com/office/drawing/2014/main" id="{1FD9D66A-CDE1-9FB7-D4B1-2EDFDAFFA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65540" name="Object 8">
            <a:extLst>
              <a:ext uri="{FF2B5EF4-FFF2-40B4-BE49-F238E27FC236}">
                <a16:creationId xmlns:a16="http://schemas.microsoft.com/office/drawing/2014/main" id="{99239DC1-E033-9819-F125-CE56EB786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484313"/>
          <a:ext cx="7705725" cy="328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15510" imgH="2114093" progId="Visio.Drawing.11">
                  <p:embed/>
                </p:oleObj>
              </mc:Choice>
              <mc:Fallback>
                <p:oleObj r:id="rId2" imgW="4915510" imgH="2114093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84313"/>
                        <a:ext cx="7705725" cy="328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">
            <a:extLst>
              <a:ext uri="{FF2B5EF4-FFF2-40B4-BE49-F238E27FC236}">
                <a16:creationId xmlns:a16="http://schemas.microsoft.com/office/drawing/2014/main" id="{93715A82-9D5F-933B-A2DD-B0717F0AA6AB}"/>
              </a:ext>
            </a:extLst>
          </p:cNvPr>
          <p:cNvGrpSpPr>
            <a:grpSpLocks/>
          </p:cNvGrpSpPr>
          <p:nvPr/>
        </p:nvGrpSpPr>
        <p:grpSpPr bwMode="auto">
          <a:xfrm>
            <a:off x="3035300" y="5084763"/>
            <a:ext cx="3481388" cy="1425575"/>
            <a:chOff x="3454" y="1525"/>
            <a:chExt cx="2193" cy="898"/>
          </a:xfrm>
        </p:grpSpPr>
        <p:graphicFrame>
          <p:nvGraphicFramePr>
            <p:cNvPr id="65542" name="Object 7">
              <a:extLst>
                <a:ext uri="{FF2B5EF4-FFF2-40B4-BE49-F238E27FC236}">
                  <a16:creationId xmlns:a16="http://schemas.microsoft.com/office/drawing/2014/main" id="{D09FE9C1-1AB0-0EB6-4721-93B062F8B3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1525"/>
            <a:ext cx="1996" cy="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448660" imgH="1550464" progId="Visio.Drawing.11">
                    <p:embed/>
                  </p:oleObj>
                </mc:Choice>
                <mc:Fallback>
                  <p:oleObj name="Visio" r:id="rId4" imgW="3448660" imgH="1550464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525"/>
                          <a:ext cx="1996" cy="8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43" name="Text Box 8">
              <a:extLst>
                <a:ext uri="{FF2B5EF4-FFF2-40B4-BE49-F238E27FC236}">
                  <a16:creationId xmlns:a16="http://schemas.microsoft.com/office/drawing/2014/main" id="{FA0A45D7-9CBE-10D4-D752-EC0DDE4AF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1570"/>
              <a:ext cx="18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>
                  <a:solidFill>
                    <a:srgbClr val="FF0000"/>
                  </a:solidFill>
                  <a:ea typeface="宋体" panose="02010600030101010101" pitchFamily="2" charset="-122"/>
                </a:rPr>
                <a:t>安全比特长度</a:t>
              </a: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112bits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FA0CE87-2DD3-DBF9-5BFF-453FECEE4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DES-EDE3 </a:t>
            </a:r>
          </a:p>
        </p:txBody>
      </p:sp>
      <p:sp>
        <p:nvSpPr>
          <p:cNvPr id="66563" name="Rectangle 5">
            <a:extLst>
              <a:ext uri="{FF2B5EF4-FFF2-40B4-BE49-F238E27FC236}">
                <a16:creationId xmlns:a16="http://schemas.microsoft.com/office/drawing/2014/main" id="{E4732381-73C4-CE8A-65B2-F4D50875B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F3D46435-9822-C533-7DC7-19AD1696B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196975"/>
          <a:ext cx="7272338" cy="32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69459" imgH="2258873" progId="Visio.Drawing.11">
                  <p:embed/>
                </p:oleObj>
              </mc:Choice>
              <mc:Fallback>
                <p:oleObj r:id="rId3" imgW="4969459" imgH="225887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96975"/>
                        <a:ext cx="7272338" cy="327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26" name="Group 6">
            <a:extLst>
              <a:ext uri="{FF2B5EF4-FFF2-40B4-BE49-F238E27FC236}">
                <a16:creationId xmlns:a16="http://schemas.microsoft.com/office/drawing/2014/main" id="{EDA2075D-A386-A0FC-D36A-3248DB40392E}"/>
              </a:ext>
            </a:extLst>
          </p:cNvPr>
          <p:cNvGrpSpPr>
            <a:grpSpLocks/>
          </p:cNvGrpSpPr>
          <p:nvPr/>
        </p:nvGrpSpPr>
        <p:grpSpPr bwMode="auto">
          <a:xfrm>
            <a:off x="3035300" y="5432425"/>
            <a:ext cx="3481388" cy="1425575"/>
            <a:chOff x="3454" y="1525"/>
            <a:chExt cx="2193" cy="898"/>
          </a:xfrm>
        </p:grpSpPr>
        <p:graphicFrame>
          <p:nvGraphicFramePr>
            <p:cNvPr id="66567" name="Object 7">
              <a:extLst>
                <a:ext uri="{FF2B5EF4-FFF2-40B4-BE49-F238E27FC236}">
                  <a16:creationId xmlns:a16="http://schemas.microsoft.com/office/drawing/2014/main" id="{79FED5D7-4F8C-569C-9CEF-B5DBDD6A4A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1525"/>
            <a:ext cx="1996" cy="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3448660" imgH="1550464" progId="Visio.Drawing.11">
                    <p:embed/>
                  </p:oleObj>
                </mc:Choice>
                <mc:Fallback>
                  <p:oleObj name="Visio" r:id="rId5" imgW="3448660" imgH="1550464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525"/>
                          <a:ext cx="1996" cy="8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68" name="Text Box 8">
              <a:extLst>
                <a:ext uri="{FF2B5EF4-FFF2-40B4-BE49-F238E27FC236}">
                  <a16:creationId xmlns:a16="http://schemas.microsoft.com/office/drawing/2014/main" id="{55A6DAB5-DD6F-39BB-42E1-51030F536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1570"/>
              <a:ext cx="18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>
                  <a:solidFill>
                    <a:srgbClr val="FF0000"/>
                  </a:solidFill>
                  <a:ea typeface="宋体" panose="02010600030101010101" pitchFamily="2" charset="-122"/>
                </a:rPr>
                <a:t>安全比特长度</a:t>
              </a: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112bits</a:t>
              </a:r>
            </a:p>
          </p:txBody>
        </p:sp>
      </p:grpSp>
      <p:sp>
        <p:nvSpPr>
          <p:cNvPr id="158729" name="Text Box 9">
            <a:extLst>
              <a:ext uri="{FF2B5EF4-FFF2-40B4-BE49-F238E27FC236}">
                <a16:creationId xmlns:a16="http://schemas.microsoft.com/office/drawing/2014/main" id="{ADA524B6-C861-BA23-ECF0-BBE1CA81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868863"/>
            <a:ext cx="631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宋体" panose="02010600030101010101" pitchFamily="2" charset="-122"/>
              </a:rPr>
              <a:t>一个密钥有效长度</a:t>
            </a:r>
            <a:r>
              <a:rPr lang="en-US" altLang="zh-CN" sz="2400">
                <a:ea typeface="宋体" panose="02010600030101010101" pitchFamily="2" charset="-122"/>
              </a:rPr>
              <a:t>56bit</a:t>
            </a:r>
            <a:r>
              <a:rPr lang="zh-CN" altLang="en-US" sz="2400">
                <a:ea typeface="宋体" panose="02010600030101010101" pitchFamily="2" charset="-122"/>
              </a:rPr>
              <a:t>，三个密钥为</a:t>
            </a:r>
            <a:r>
              <a:rPr lang="en-US" altLang="zh-CN" sz="2400">
                <a:ea typeface="宋体" panose="02010600030101010101" pitchFamily="2" charset="-122"/>
              </a:rPr>
              <a:t>56*3=168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A0F3192-D641-6CA4-9B24-196339965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DES-EEE2 </a:t>
            </a:r>
          </a:p>
        </p:txBody>
      </p:sp>
      <p:sp>
        <p:nvSpPr>
          <p:cNvPr id="68611" name="Rectangle 5">
            <a:extLst>
              <a:ext uri="{FF2B5EF4-FFF2-40B4-BE49-F238E27FC236}">
                <a16:creationId xmlns:a16="http://schemas.microsoft.com/office/drawing/2014/main" id="{B2F84E4B-FB83-041F-95DA-38041D912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68612" name="Object 4">
            <a:extLst>
              <a:ext uri="{FF2B5EF4-FFF2-40B4-BE49-F238E27FC236}">
                <a16:creationId xmlns:a16="http://schemas.microsoft.com/office/drawing/2014/main" id="{911B7479-3053-41D1-D376-69F7FC51DB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81642"/>
              </p:ext>
            </p:extLst>
          </p:nvPr>
        </p:nvGraphicFramePr>
        <p:xfrm>
          <a:off x="900113" y="1052736"/>
          <a:ext cx="7559675" cy="325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15510" imgH="2114093" progId="Visio.Drawing.11">
                  <p:embed/>
                </p:oleObj>
              </mc:Choice>
              <mc:Fallback>
                <p:oleObj r:id="rId3" imgW="4915510" imgH="211409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052736"/>
                        <a:ext cx="7559675" cy="325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9750" name="Group 6">
            <a:extLst>
              <a:ext uri="{FF2B5EF4-FFF2-40B4-BE49-F238E27FC236}">
                <a16:creationId xmlns:a16="http://schemas.microsoft.com/office/drawing/2014/main" id="{6201E768-0D33-55AC-87A6-CBE811839FE3}"/>
              </a:ext>
            </a:extLst>
          </p:cNvPr>
          <p:cNvGrpSpPr>
            <a:grpSpLocks/>
          </p:cNvGrpSpPr>
          <p:nvPr/>
        </p:nvGrpSpPr>
        <p:grpSpPr bwMode="auto">
          <a:xfrm>
            <a:off x="3111501" y="4221088"/>
            <a:ext cx="3189288" cy="1425575"/>
            <a:chOff x="3638" y="1525"/>
            <a:chExt cx="2009" cy="898"/>
          </a:xfrm>
        </p:grpSpPr>
        <p:graphicFrame>
          <p:nvGraphicFramePr>
            <p:cNvPr id="68614" name="Object 7">
              <a:extLst>
                <a:ext uri="{FF2B5EF4-FFF2-40B4-BE49-F238E27FC236}">
                  <a16:creationId xmlns:a16="http://schemas.microsoft.com/office/drawing/2014/main" id="{81F470A6-3749-2A03-C7B6-36EABE5597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1525"/>
            <a:ext cx="1996" cy="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3448660" imgH="1550464" progId="Visio.Drawing.11">
                    <p:embed/>
                  </p:oleObj>
                </mc:Choice>
                <mc:Fallback>
                  <p:oleObj name="Visio" r:id="rId5" imgW="3448660" imgH="1550464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525"/>
                          <a:ext cx="1996" cy="8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15" name="Text Box 8">
              <a:extLst>
                <a:ext uri="{FF2B5EF4-FFF2-40B4-BE49-F238E27FC236}">
                  <a16:creationId xmlns:a16="http://schemas.microsoft.com/office/drawing/2014/main" id="{66D6D167-17C7-0EC7-BF43-963BE19EC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1570"/>
              <a:ext cx="14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ea typeface="宋体" panose="02010600030101010101" pitchFamily="2" charset="-122"/>
                </a:rPr>
                <a:t>安全比特长度？</a:t>
              </a:r>
              <a:endPara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57E99A7-5067-5BAD-5EE5-820817BA68E7}"/>
              </a:ext>
            </a:extLst>
          </p:cNvPr>
          <p:cNvSpPr txBox="1"/>
          <p:nvPr/>
        </p:nvSpPr>
        <p:spPr>
          <a:xfrm>
            <a:off x="251520" y="578650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根据</a:t>
            </a:r>
            <a:r>
              <a:rPr lang="en-US" altLang="zh-CN" sz="2000" dirty="0"/>
              <a:t>NIST</a:t>
            </a:r>
            <a:r>
              <a:rPr lang="zh-CN" altLang="en-US" sz="2000" dirty="0"/>
              <a:t>推荐密钥长度看，目前这种三重</a:t>
            </a:r>
            <a:r>
              <a:rPr lang="en-US" altLang="zh-CN" sz="2000" dirty="0"/>
              <a:t>DES</a:t>
            </a:r>
            <a:r>
              <a:rPr lang="zh-CN" altLang="en-US" sz="2000" dirty="0"/>
              <a:t>，又叫</a:t>
            </a:r>
            <a:r>
              <a:rPr lang="en-US" altLang="zh-CN" sz="2000" dirty="0"/>
              <a:t>2TDEA</a:t>
            </a:r>
            <a:r>
              <a:rPr lang="zh-CN" altLang="en-US" sz="2000" dirty="0"/>
              <a:t>（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Triple Data Encryption Algorithm with two keys)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，安全强度降到了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80bits</a:t>
            </a:r>
            <a:endParaRPr lang="en-US" altLang="zh-CN" sz="2000" dirty="0"/>
          </a:p>
          <a:p>
            <a:r>
              <a:rPr lang="en-US" altLang="zh-CN" sz="2000" dirty="0">
                <a:hlinkClick r:id="rId7"/>
              </a:rPr>
              <a:t>https://www.keylength.com/en/4/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270AC16A-2FF9-CB79-F164-CCD058BA9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DES-EDE2 </a:t>
            </a:r>
          </a:p>
        </p:txBody>
      </p:sp>
      <p:sp>
        <p:nvSpPr>
          <p:cNvPr id="69635" name="Rectangle 5">
            <a:extLst>
              <a:ext uri="{FF2B5EF4-FFF2-40B4-BE49-F238E27FC236}">
                <a16:creationId xmlns:a16="http://schemas.microsoft.com/office/drawing/2014/main" id="{ADC4AB31-EA33-CAFC-8054-E5E8E939D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69636" name="Object 4">
            <a:extLst>
              <a:ext uri="{FF2B5EF4-FFF2-40B4-BE49-F238E27FC236}">
                <a16:creationId xmlns:a16="http://schemas.microsoft.com/office/drawing/2014/main" id="{47CAF682-5DBE-2636-3A70-381041AC4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472959"/>
              </p:ext>
            </p:extLst>
          </p:nvPr>
        </p:nvGraphicFramePr>
        <p:xfrm>
          <a:off x="1187450" y="836712"/>
          <a:ext cx="7416800" cy="337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69459" imgH="2258873" progId="Visio.Drawing.11">
                  <p:embed/>
                </p:oleObj>
              </mc:Choice>
              <mc:Fallback>
                <p:oleObj r:id="rId3" imgW="4969459" imgH="225887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836712"/>
                        <a:ext cx="7416800" cy="337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0774" name="Group 6">
            <a:extLst>
              <a:ext uri="{FF2B5EF4-FFF2-40B4-BE49-F238E27FC236}">
                <a16:creationId xmlns:a16="http://schemas.microsoft.com/office/drawing/2014/main" id="{DD542BBA-8188-3E33-BB77-8DFC591BB944}"/>
              </a:ext>
            </a:extLst>
          </p:cNvPr>
          <p:cNvGrpSpPr>
            <a:grpSpLocks/>
          </p:cNvGrpSpPr>
          <p:nvPr/>
        </p:nvGrpSpPr>
        <p:grpSpPr bwMode="auto">
          <a:xfrm>
            <a:off x="3203848" y="4211836"/>
            <a:ext cx="3168650" cy="1425575"/>
            <a:chOff x="3651" y="1525"/>
            <a:chExt cx="1996" cy="898"/>
          </a:xfrm>
        </p:grpSpPr>
        <p:graphicFrame>
          <p:nvGraphicFramePr>
            <p:cNvPr id="69638" name="Object 7">
              <a:extLst>
                <a:ext uri="{FF2B5EF4-FFF2-40B4-BE49-F238E27FC236}">
                  <a16:creationId xmlns:a16="http://schemas.microsoft.com/office/drawing/2014/main" id="{65B8516C-51E3-A1A7-673A-9F2D7F2D87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1525"/>
            <a:ext cx="1996" cy="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3448660" imgH="1550464" progId="Visio.Drawing.11">
                    <p:embed/>
                  </p:oleObj>
                </mc:Choice>
                <mc:Fallback>
                  <p:oleObj name="Visio" r:id="rId5" imgW="3448660" imgH="1550464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525"/>
                          <a:ext cx="1996" cy="8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39" name="Text Box 8">
              <a:extLst>
                <a:ext uri="{FF2B5EF4-FFF2-40B4-BE49-F238E27FC236}">
                  <a16:creationId xmlns:a16="http://schemas.microsoft.com/office/drawing/2014/main" id="{F8104080-71D8-8FB3-795D-1313B9B85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" y="1551"/>
              <a:ext cx="14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ea typeface="宋体" panose="02010600030101010101" pitchFamily="2" charset="-122"/>
                </a:rPr>
                <a:t>安全比特长度？</a:t>
              </a:r>
              <a:endPara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4ECBB20-3210-5394-8C15-C60245BF6C95}"/>
              </a:ext>
            </a:extLst>
          </p:cNvPr>
          <p:cNvSpPr txBox="1"/>
          <p:nvPr/>
        </p:nvSpPr>
        <p:spPr>
          <a:xfrm>
            <a:off x="251520" y="578650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根据</a:t>
            </a:r>
            <a:r>
              <a:rPr lang="en-US" altLang="zh-CN" sz="2000" dirty="0"/>
              <a:t>NIST</a:t>
            </a:r>
            <a:r>
              <a:rPr lang="zh-CN" altLang="en-US" sz="2000" dirty="0"/>
              <a:t>推荐密钥长度看，目前这种三重</a:t>
            </a:r>
            <a:r>
              <a:rPr lang="en-US" altLang="zh-CN" sz="2000" dirty="0"/>
              <a:t>DES</a:t>
            </a:r>
            <a:r>
              <a:rPr lang="zh-CN" altLang="en-US" sz="2000" dirty="0"/>
              <a:t>，又叫</a:t>
            </a:r>
            <a:r>
              <a:rPr lang="en-US" altLang="zh-CN" sz="2000" dirty="0"/>
              <a:t>2TDEA</a:t>
            </a:r>
            <a:r>
              <a:rPr lang="zh-CN" altLang="en-US" sz="2000" dirty="0"/>
              <a:t>（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Triple Data Encryption Algorithm with two keys)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，安全强度降到了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80bits</a:t>
            </a:r>
            <a:endParaRPr lang="en-US" altLang="zh-CN" sz="2000" dirty="0"/>
          </a:p>
          <a:p>
            <a:r>
              <a:rPr lang="en-US" altLang="zh-CN" sz="2000" dirty="0">
                <a:hlinkClick r:id="rId7"/>
              </a:rPr>
              <a:t>https://www.keylength.com/en/4/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668B073-D589-5B73-AD36-0A41DC920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</a:t>
            </a:r>
            <a:r>
              <a:rPr lang="zh-CN" altLang="en-US"/>
              <a:t>的注意事项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47F2E36-07D6-F9C6-CEDD-101F2F61B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844675"/>
            <a:ext cx="8928100" cy="3168650"/>
          </a:xfrm>
        </p:spPr>
        <p:txBody>
          <a:bodyPr/>
          <a:lstStyle/>
          <a:p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、加密的明文分组为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64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比特，密钥长度为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64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比特，有效密钥长度为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56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比特，密文长度为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64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比特。</a:t>
            </a:r>
          </a:p>
          <a:p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、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DES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加密一共是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16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轮。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第1章_绪论">
  <a:themeElements>
    <a:clrScheme name="第1章_绪论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1章_绪论">
      <a:majorFont>
        <a:latin typeface="Times New Roman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1章_绪论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1章_绪论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1章_绪论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1章_绪论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1章_绪论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1章_绪论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1章_绪论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2_密码技术</Template>
  <TotalTime>12121</TotalTime>
  <Words>3621</Words>
  <Application>Microsoft Office PowerPoint</Application>
  <PresentationFormat>全屏显示(4:3)</PresentationFormat>
  <Paragraphs>1264</Paragraphs>
  <Slides>41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黑体</vt:lpstr>
      <vt:lpstr>华文楷体</vt:lpstr>
      <vt:lpstr>华文宋体</vt:lpstr>
      <vt:lpstr>华文新魏</vt:lpstr>
      <vt:lpstr>华文行楷</vt:lpstr>
      <vt:lpstr>隶书</vt:lpstr>
      <vt:lpstr>宋体</vt:lpstr>
      <vt:lpstr>Arial</vt:lpstr>
      <vt:lpstr>Calibri</vt:lpstr>
      <vt:lpstr>Cambria Math</vt:lpstr>
      <vt:lpstr>Comic Sans MS</vt:lpstr>
      <vt:lpstr>Helvetica</vt:lpstr>
      <vt:lpstr>Tahoma</vt:lpstr>
      <vt:lpstr>Times New Roman</vt:lpstr>
      <vt:lpstr>Verdana</vt:lpstr>
      <vt:lpstr>Wingdings</vt:lpstr>
      <vt:lpstr>第1章_绪论</vt:lpstr>
      <vt:lpstr>Equation</vt:lpstr>
      <vt:lpstr>Visio</vt:lpstr>
      <vt:lpstr>位图图像</vt:lpstr>
      <vt:lpstr>Microsoft Visio 2003-2010 Drawing</vt:lpstr>
      <vt:lpstr>PowerPoint 演示文稿</vt:lpstr>
      <vt:lpstr>本节主要内容</vt:lpstr>
      <vt:lpstr>DES的发展</vt:lpstr>
      <vt:lpstr>PowerPoint 演示文稿</vt:lpstr>
      <vt:lpstr>DES算法的整体结构—Feistel结构</vt:lpstr>
      <vt:lpstr>Feistel结构</vt:lpstr>
      <vt:lpstr>Feistel结构</vt:lpstr>
      <vt:lpstr>PowerPoint 演示文稿</vt:lpstr>
      <vt:lpstr>Feistel结构</vt:lpstr>
      <vt:lpstr>轮函数f</vt:lpstr>
      <vt:lpstr>Feistel结构</vt:lpstr>
      <vt:lpstr>PowerPoint 演示文稿</vt:lpstr>
      <vt:lpstr>PowerPoint 演示文稿</vt:lpstr>
      <vt:lpstr>DES的轮函数</vt:lpstr>
      <vt:lpstr>PowerPoint 演示文稿</vt:lpstr>
      <vt:lpstr>E盒扩展</vt:lpstr>
      <vt:lpstr>PowerPoint 演示文稿</vt:lpstr>
      <vt:lpstr>PowerPoint 演示文稿</vt:lpstr>
      <vt:lpstr> </vt:lpstr>
      <vt:lpstr>S盒的选择</vt:lpstr>
      <vt:lpstr>DES的轮函数</vt:lpstr>
      <vt:lpstr>置换P</vt:lpstr>
      <vt:lpstr>P盒置换</vt:lpstr>
      <vt:lpstr>PowerPoint 演示文稿</vt:lpstr>
      <vt:lpstr>DES算法的密钥编排算法</vt:lpstr>
      <vt:lpstr>密钥置换PC-1</vt:lpstr>
      <vt:lpstr>左循环移位</vt:lpstr>
      <vt:lpstr>密钥置换PC-2</vt:lpstr>
      <vt:lpstr>子密钥</vt:lpstr>
      <vt:lpstr>DES的解密变换</vt:lpstr>
      <vt:lpstr>DES解密</vt:lpstr>
      <vt:lpstr>DES 弱密钥</vt:lpstr>
      <vt:lpstr>DES 弱密钥</vt:lpstr>
      <vt:lpstr>DES 安全分析</vt:lpstr>
      <vt:lpstr>DES的变形算法-2DES</vt:lpstr>
      <vt:lpstr>中间相遇攻击</vt:lpstr>
      <vt:lpstr>三重DES -EEE3 </vt:lpstr>
      <vt:lpstr>DES-EDE3 </vt:lpstr>
      <vt:lpstr>DES-EEE2 </vt:lpstr>
      <vt:lpstr>DES-EDE2 </vt:lpstr>
      <vt:lpstr>DES的注意事项</vt:lpstr>
    </vt:vector>
  </TitlesOfParts>
  <Company>CUIT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　代　密　码　学</dc:title>
  <dc:creator>ZhJq</dc:creator>
  <cp:lastModifiedBy>Yang anjia</cp:lastModifiedBy>
  <cp:revision>263</cp:revision>
  <dcterms:created xsi:type="dcterms:W3CDTF">2009-02-15T08:39:19Z</dcterms:created>
  <dcterms:modified xsi:type="dcterms:W3CDTF">2025-10-16T08:11:29Z</dcterms:modified>
</cp:coreProperties>
</file>