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3" r:id="rId1"/>
  </p:sldMasterIdLst>
  <p:notesMasterIdLst>
    <p:notesMasterId r:id="rId63"/>
  </p:notesMasterIdLst>
  <p:handoutMasterIdLst>
    <p:handoutMasterId r:id="rId64"/>
  </p:handoutMasterIdLst>
  <p:sldIdLst>
    <p:sldId id="493" r:id="rId2"/>
    <p:sldId id="758" r:id="rId3"/>
    <p:sldId id="469" r:id="rId4"/>
    <p:sldId id="470" r:id="rId5"/>
    <p:sldId id="471" r:id="rId6"/>
    <p:sldId id="472" r:id="rId7"/>
    <p:sldId id="473" r:id="rId8"/>
    <p:sldId id="475" r:id="rId9"/>
    <p:sldId id="476" r:id="rId10"/>
    <p:sldId id="759" r:id="rId11"/>
    <p:sldId id="760" r:id="rId12"/>
    <p:sldId id="329" r:id="rId13"/>
    <p:sldId id="332" r:id="rId14"/>
    <p:sldId id="767" r:id="rId15"/>
    <p:sldId id="333" r:id="rId16"/>
    <p:sldId id="335" r:id="rId17"/>
    <p:sldId id="334" r:id="rId18"/>
    <p:sldId id="336" r:id="rId19"/>
    <p:sldId id="337" r:id="rId20"/>
    <p:sldId id="339" r:id="rId21"/>
    <p:sldId id="338" r:id="rId22"/>
    <p:sldId id="343" r:id="rId23"/>
    <p:sldId id="344" r:id="rId24"/>
    <p:sldId id="345" r:id="rId25"/>
    <p:sldId id="346" r:id="rId26"/>
    <p:sldId id="361" r:id="rId27"/>
    <p:sldId id="362" r:id="rId28"/>
    <p:sldId id="363" r:id="rId29"/>
    <p:sldId id="364" r:id="rId30"/>
    <p:sldId id="365" r:id="rId31"/>
    <p:sldId id="347" r:id="rId32"/>
    <p:sldId id="348" r:id="rId33"/>
    <p:sldId id="349" r:id="rId34"/>
    <p:sldId id="350" r:id="rId35"/>
    <p:sldId id="351" r:id="rId36"/>
    <p:sldId id="352" r:id="rId37"/>
    <p:sldId id="353" r:id="rId38"/>
    <p:sldId id="354" r:id="rId39"/>
    <p:sldId id="355" r:id="rId40"/>
    <p:sldId id="356" r:id="rId41"/>
    <p:sldId id="357" r:id="rId42"/>
    <p:sldId id="358" r:id="rId43"/>
    <p:sldId id="359" r:id="rId44"/>
    <p:sldId id="360" r:id="rId45"/>
    <p:sldId id="366" r:id="rId46"/>
    <p:sldId id="367" r:id="rId47"/>
    <p:sldId id="368" r:id="rId48"/>
    <p:sldId id="761" r:id="rId49"/>
    <p:sldId id="369" r:id="rId50"/>
    <p:sldId id="370" r:id="rId51"/>
    <p:sldId id="371" r:id="rId52"/>
    <p:sldId id="372" r:id="rId53"/>
    <p:sldId id="762" r:id="rId54"/>
    <p:sldId id="373" r:id="rId55"/>
    <p:sldId id="768" r:id="rId56"/>
    <p:sldId id="769" r:id="rId57"/>
    <p:sldId id="763" r:id="rId58"/>
    <p:sldId id="764" r:id="rId59"/>
    <p:sldId id="765" r:id="rId60"/>
    <p:sldId id="766" r:id="rId61"/>
    <p:sldId id="541" r:id="rId6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006600"/>
    <a:srgbClr val="009900"/>
    <a:srgbClr val="FF9900"/>
    <a:srgbClr val="FF0000"/>
    <a:srgbClr val="008000"/>
    <a:srgbClr val="669900"/>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94" autoAdjust="0"/>
    <p:restoredTop sz="80090" autoAdjust="0"/>
  </p:normalViewPr>
  <p:slideViewPr>
    <p:cSldViewPr>
      <p:cViewPr varScale="1">
        <p:scale>
          <a:sx n="70" d="100"/>
          <a:sy n="70" d="100"/>
        </p:scale>
        <p:origin x="1695" y="51"/>
      </p:cViewPr>
      <p:guideLst>
        <p:guide orient="horz" pos="2160"/>
        <p:guide pos="2880"/>
      </p:guideLst>
    </p:cSldViewPr>
  </p:slideViewPr>
  <p:outlineViewPr>
    <p:cViewPr>
      <p:scale>
        <a:sx n="33" d="100"/>
        <a:sy n="33" d="100"/>
      </p:scale>
      <p:origin x="0" y="-5917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3" d="100"/>
          <a:sy n="63" d="100"/>
        </p:scale>
        <p:origin x="3134" y="5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911016A-7C7C-B2E8-56B3-778822767F8D}"/>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anose="02020603050405020304" pitchFamily="18" charset="0"/>
              </a:defRPr>
            </a:lvl1pPr>
          </a:lstStyle>
          <a:p>
            <a:pPr>
              <a:defRPr/>
            </a:pPr>
            <a:endParaRPr lang="zh-CN" altLang="en-US"/>
          </a:p>
        </p:txBody>
      </p:sp>
      <p:sp>
        <p:nvSpPr>
          <p:cNvPr id="5124" name="Rectangle 4">
            <a:extLst>
              <a:ext uri="{FF2B5EF4-FFF2-40B4-BE49-F238E27FC236}">
                <a16:creationId xmlns:a16="http://schemas.microsoft.com/office/drawing/2014/main" id="{65AB253B-5A44-2E67-F60B-B0430D433E39}"/>
              </a:ext>
            </a:extLst>
          </p:cNvPr>
          <p:cNvSpPr>
            <a:spLocks noGrp="1" noChangeArrowheads="1"/>
          </p:cNvSpPr>
          <p:nvPr>
            <p:ph type="ftr" sz="quarter" idx="2"/>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anose="02020603050405020304" pitchFamily="18" charset="0"/>
              </a:defRPr>
            </a:lvl1pPr>
          </a:lstStyle>
          <a:p>
            <a:pPr>
              <a:defRPr/>
            </a:pPr>
            <a:endParaRPr lang="en-US" altLang="zh-CN"/>
          </a:p>
        </p:txBody>
      </p:sp>
      <p:sp>
        <p:nvSpPr>
          <p:cNvPr id="5125" name="Rectangle 5">
            <a:extLst>
              <a:ext uri="{FF2B5EF4-FFF2-40B4-BE49-F238E27FC236}">
                <a16:creationId xmlns:a16="http://schemas.microsoft.com/office/drawing/2014/main" id="{7DBC482E-A42D-B26E-38A4-E88135CE7C78}"/>
              </a:ext>
            </a:extLst>
          </p:cNvPr>
          <p:cNvSpPr>
            <a:spLocks noGrp="1" noChangeArrowheads="1"/>
          </p:cNvSpPr>
          <p:nvPr>
            <p:ph type="sldNum" sz="quarter" idx="3"/>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pPr>
              <a:defRPr/>
            </a:pPr>
            <a:fld id="{9A33F00D-5373-47A5-A7FE-A02C4BBE0D49}" type="slidenum">
              <a:rPr lang="zh-CN" altLang="en-US"/>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4FA3BDA1-6F62-816F-B579-0317F66934CA}"/>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anose="02020603050405020304" pitchFamily="18" charset="0"/>
              </a:defRPr>
            </a:lvl1pPr>
          </a:lstStyle>
          <a:p>
            <a:pPr>
              <a:defRPr/>
            </a:pPr>
            <a:endParaRPr lang="zh-CN" altLang="en-US"/>
          </a:p>
        </p:txBody>
      </p:sp>
      <p:sp>
        <p:nvSpPr>
          <p:cNvPr id="14339" name="Rectangle 4">
            <a:extLst>
              <a:ext uri="{FF2B5EF4-FFF2-40B4-BE49-F238E27FC236}">
                <a16:creationId xmlns:a16="http://schemas.microsoft.com/office/drawing/2014/main" id="{27563278-E420-64EC-8B2C-B462C8CA5BBF}"/>
              </a:ext>
            </a:extLst>
          </p:cNvPr>
          <p:cNvSpPr>
            <a:spLocks noGrp="1" noRot="1" noChangeAspect="1" noChangeArrowheads="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99322FA0-A6E8-7CA0-1705-422F451E7BCA}"/>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02" name="Rectangle 6">
            <a:extLst>
              <a:ext uri="{FF2B5EF4-FFF2-40B4-BE49-F238E27FC236}">
                <a16:creationId xmlns:a16="http://schemas.microsoft.com/office/drawing/2014/main" id="{D396A97E-ABFE-5426-81CC-68CA80BA81A0}"/>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anose="02020603050405020304" pitchFamily="18" charset="0"/>
              </a:defRPr>
            </a:lvl1pPr>
          </a:lstStyle>
          <a:p>
            <a:pPr>
              <a:defRPr/>
            </a:pPr>
            <a:endParaRPr lang="en-US" altLang="zh-CN"/>
          </a:p>
        </p:txBody>
      </p:sp>
      <p:sp>
        <p:nvSpPr>
          <p:cNvPr id="4103" name="Rectangle 7">
            <a:extLst>
              <a:ext uri="{FF2B5EF4-FFF2-40B4-BE49-F238E27FC236}">
                <a16:creationId xmlns:a16="http://schemas.microsoft.com/office/drawing/2014/main" id="{8F8BDF8C-18C1-28DB-0D83-BAEB12781F96}"/>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pPr>
              <a:defRPr/>
            </a:pPr>
            <a:fld id="{EE992DF1-6293-439F-A062-20D4C1D95BA0}"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a:extLst>
              <a:ext uri="{FF2B5EF4-FFF2-40B4-BE49-F238E27FC236}">
                <a16:creationId xmlns:a16="http://schemas.microsoft.com/office/drawing/2014/main" id="{0111455D-1238-DB0D-9D1F-5109C70890D8}"/>
              </a:ext>
            </a:extLst>
          </p:cNvPr>
          <p:cNvSpPr>
            <a:spLocks noGrp="1" noRot="1" noChangeAspect="1" noChangeArrowheads="1" noTextEdit="1"/>
          </p:cNvSpPr>
          <p:nvPr>
            <p:ph type="sldImg"/>
          </p:nvPr>
        </p:nvSpPr>
        <p:spPr>
          <a:ln/>
        </p:spPr>
      </p:sp>
      <p:sp>
        <p:nvSpPr>
          <p:cNvPr id="18435" name="备注占位符 2">
            <a:extLst>
              <a:ext uri="{FF2B5EF4-FFF2-40B4-BE49-F238E27FC236}">
                <a16:creationId xmlns:a16="http://schemas.microsoft.com/office/drawing/2014/main" id="{7893C7BF-84FD-1853-D917-6D61D5262B8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报文时间性：指报文的顺序性。报文时间性的鉴别是指收方在收到一份报文后，需要确认是否保持正确的顺序，有无断漏和重复。</a:t>
            </a:r>
          </a:p>
          <a:p>
            <a:r>
              <a:rPr lang="zh-CN" altLang="en-US"/>
              <a:t>（</a:t>
            </a:r>
            <a:r>
              <a:rPr lang="en-US" altLang="zh-CN"/>
              <a:t>1</a:t>
            </a:r>
            <a:r>
              <a:rPr lang="zh-CN" altLang="en-US"/>
              <a:t>）初始向量法：收发双方事先约定一组顺序的初始向量</a:t>
            </a:r>
            <a:r>
              <a:rPr lang="en-US" altLang="zh-CN"/>
              <a:t>Z1, Z2, …, Zn</a:t>
            </a:r>
            <a:r>
              <a:rPr lang="zh-CN" altLang="en-US"/>
              <a:t>，并用</a:t>
            </a:r>
            <a:r>
              <a:rPr lang="en-US" altLang="zh-CN"/>
              <a:t>Zi</a:t>
            </a:r>
            <a:r>
              <a:rPr lang="zh-CN" altLang="en-US"/>
              <a:t>作为初始向量链接加密第</a:t>
            </a:r>
            <a:r>
              <a:rPr lang="en-US" altLang="zh-CN"/>
              <a:t>i</a:t>
            </a:r>
            <a:r>
              <a:rPr lang="zh-CN" altLang="en-US"/>
              <a:t>分报文</a:t>
            </a:r>
            <a:r>
              <a:rPr lang="en-US" altLang="zh-CN"/>
              <a:t>Mi</a:t>
            </a:r>
            <a:r>
              <a:rPr lang="zh-CN" altLang="en-US"/>
              <a:t>。因为只有使用</a:t>
            </a:r>
            <a:r>
              <a:rPr lang="en-US" altLang="zh-CN"/>
              <a:t>Zi</a:t>
            </a:r>
            <a:r>
              <a:rPr lang="zh-CN" altLang="en-US"/>
              <a:t>才能还原</a:t>
            </a:r>
            <a:r>
              <a:rPr lang="en-US" altLang="zh-CN"/>
              <a:t>Mi</a:t>
            </a:r>
            <a:r>
              <a:rPr lang="zh-CN" altLang="en-US"/>
              <a:t>，从而收方便可确认报文的顺序是否正确。</a:t>
            </a:r>
          </a:p>
          <a:p>
            <a:r>
              <a:rPr lang="zh-CN" altLang="en-US"/>
              <a:t>（</a:t>
            </a:r>
            <a:r>
              <a:rPr lang="en-US" altLang="zh-CN"/>
              <a:t>2</a:t>
            </a:r>
            <a:r>
              <a:rPr lang="zh-CN" altLang="en-US"/>
              <a:t>）时间参数法：设时间参数为</a:t>
            </a:r>
            <a:r>
              <a:rPr lang="en-US" altLang="zh-CN"/>
              <a:t>T1, T2, …, Tn</a:t>
            </a:r>
            <a:r>
              <a:rPr lang="zh-CN" altLang="en-US"/>
              <a:t>，发方在第</a:t>
            </a:r>
            <a:r>
              <a:rPr lang="en-US" altLang="zh-CN"/>
              <a:t>i</a:t>
            </a:r>
            <a:r>
              <a:rPr lang="zh-CN" altLang="en-US"/>
              <a:t>份报文中加入时间参数</a:t>
            </a:r>
            <a:r>
              <a:rPr lang="en-US" altLang="zh-CN"/>
              <a:t>Ti</a:t>
            </a:r>
            <a:r>
              <a:rPr lang="zh-CN" altLang="en-US"/>
              <a:t>，收方只要验证一下</a:t>
            </a:r>
            <a:r>
              <a:rPr lang="en-US" altLang="zh-CN"/>
              <a:t>Ti</a:t>
            </a:r>
            <a:r>
              <a:rPr lang="zh-CN" altLang="en-US"/>
              <a:t>的顺序是否合理，便可确认报文的顺序是否正确。时间参数可取自然数或年，月，日，时，分，秒。</a:t>
            </a:r>
          </a:p>
          <a:p>
            <a:r>
              <a:rPr lang="zh-CN" altLang="en-US"/>
              <a:t>（</a:t>
            </a:r>
            <a:r>
              <a:rPr lang="en-US" altLang="zh-CN"/>
              <a:t>3</a:t>
            </a:r>
            <a:r>
              <a:rPr lang="zh-CN" altLang="en-US"/>
              <a:t>）随机数法：每当</a:t>
            </a:r>
            <a:r>
              <a:rPr lang="en-US" altLang="zh-CN"/>
              <a:t>A</a:t>
            </a:r>
            <a:r>
              <a:rPr lang="zh-CN" altLang="en-US"/>
              <a:t>要发报给</a:t>
            </a:r>
            <a:r>
              <a:rPr lang="en-US" altLang="zh-CN"/>
              <a:t>B</a:t>
            </a:r>
            <a:r>
              <a:rPr lang="zh-CN" altLang="en-US"/>
              <a:t>时，</a:t>
            </a:r>
            <a:r>
              <a:rPr lang="en-US" altLang="zh-CN"/>
              <a:t>A</a:t>
            </a:r>
            <a:r>
              <a:rPr lang="zh-CN" altLang="en-US"/>
              <a:t>先通知</a:t>
            </a:r>
            <a:r>
              <a:rPr lang="en-US" altLang="zh-CN"/>
              <a:t>B</a:t>
            </a:r>
            <a:r>
              <a:rPr lang="zh-CN" altLang="en-US"/>
              <a:t>，</a:t>
            </a:r>
            <a:r>
              <a:rPr lang="en-US" altLang="zh-CN"/>
              <a:t>B</a:t>
            </a:r>
            <a:r>
              <a:rPr lang="zh-CN" altLang="en-US"/>
              <a:t>动态地产生一个随机数</a:t>
            </a:r>
            <a:r>
              <a:rPr lang="en-US" altLang="zh-CN"/>
              <a:t>RN</a:t>
            </a:r>
            <a:r>
              <a:rPr lang="zh-CN" altLang="en-US"/>
              <a:t>，并发送给</a:t>
            </a:r>
            <a:r>
              <a:rPr lang="en-US" altLang="zh-CN"/>
              <a:t>A</a:t>
            </a:r>
            <a:r>
              <a:rPr lang="zh-CN" altLang="en-US"/>
              <a:t>。</a:t>
            </a:r>
            <a:r>
              <a:rPr lang="en-US" altLang="zh-CN"/>
              <a:t>A</a:t>
            </a:r>
            <a:r>
              <a:rPr lang="zh-CN" altLang="en-US"/>
              <a:t>将</a:t>
            </a:r>
            <a:r>
              <a:rPr lang="en-US" altLang="zh-CN"/>
              <a:t>RN</a:t>
            </a:r>
            <a:r>
              <a:rPr lang="zh-CN" altLang="en-US"/>
              <a:t>加入报文中，然后加密发送给</a:t>
            </a:r>
            <a:r>
              <a:rPr lang="en-US" altLang="zh-CN"/>
              <a:t>B</a:t>
            </a:r>
            <a:r>
              <a:rPr lang="zh-CN" altLang="en-US"/>
              <a:t>。</a:t>
            </a:r>
            <a:r>
              <a:rPr lang="en-US" altLang="zh-CN"/>
              <a:t>B</a:t>
            </a:r>
            <a:r>
              <a:rPr lang="zh-CN" altLang="en-US"/>
              <a:t>收到报文后，解密还原</a:t>
            </a:r>
            <a:r>
              <a:rPr lang="en-US" altLang="zh-CN"/>
              <a:t>RN</a:t>
            </a:r>
            <a:r>
              <a:rPr lang="zh-CN" altLang="en-US"/>
              <a:t>。若解密所得</a:t>
            </a:r>
            <a:r>
              <a:rPr lang="en-US" altLang="zh-CN"/>
              <a:t>RN</a:t>
            </a:r>
            <a:r>
              <a:rPr lang="zh-CN" altLang="en-US"/>
              <a:t>正确，便确认报文的顺序是正确的。这种方法很适合于全双工通信。</a:t>
            </a:r>
          </a:p>
        </p:txBody>
      </p:sp>
      <p:sp>
        <p:nvSpPr>
          <p:cNvPr id="18436" name="灯片编号占位符 3">
            <a:extLst>
              <a:ext uri="{FF2B5EF4-FFF2-40B4-BE49-F238E27FC236}">
                <a16:creationId xmlns:a16="http://schemas.microsoft.com/office/drawing/2014/main" id="{D33929C0-E9FA-6241-B6EC-4D720446C58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789F4031-D0C2-4DFB-BB8C-A1EB9D00032D}" type="slidenum">
              <a:rPr lang="zh-CN" altLang="en-US" smtClean="0">
                <a:latin typeface="Times New Roman" panose="02020603050405020304" pitchFamily="18" charset="0"/>
              </a:rPr>
              <a:pPr/>
              <a:t>2</a:t>
            </a:fld>
            <a:endParaRPr lang="en-US" altLang="zh-CN">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F2A46B95-FBDF-875F-60E8-B8648C24B22E}"/>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b"/>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04DC1EB4-4DE2-4D7C-928B-56AD7578277A}" type="slidenum">
              <a:rPr lang="zh-CN" altLang="en-US">
                <a:latin typeface="Arial" panose="020B0604020202020204" pitchFamily="34" charset="0"/>
              </a:rPr>
              <a:pPr algn="r" eaLnBrk="1" hangingPunct="1">
                <a:spcBef>
                  <a:spcPct val="0"/>
                </a:spcBef>
              </a:pPr>
              <a:t>3</a:t>
            </a:fld>
            <a:endParaRPr lang="en-US" altLang="zh-CN">
              <a:latin typeface="Arial" panose="020B0604020202020204" pitchFamily="34" charset="0"/>
            </a:endParaRPr>
          </a:p>
        </p:txBody>
      </p:sp>
      <p:sp>
        <p:nvSpPr>
          <p:cNvPr id="20483" name="Rectangle 2">
            <a:extLst>
              <a:ext uri="{FF2B5EF4-FFF2-40B4-BE49-F238E27FC236}">
                <a16:creationId xmlns:a16="http://schemas.microsoft.com/office/drawing/2014/main" id="{7329691D-7BF6-4876-2DCE-798D1FFD7C03}"/>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2A18CEE6-AA03-EB05-9F1A-6BBBCE46DC77}"/>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D8F3EE33-6A31-CDD2-8B4F-E6FBAD3E4DD6}"/>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b"/>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CAEAA9D8-9A61-49AA-9254-AEF029D27745}" type="slidenum">
              <a:rPr lang="zh-CN" altLang="en-US">
                <a:latin typeface="Arial" panose="020B0604020202020204" pitchFamily="34" charset="0"/>
              </a:rPr>
              <a:pPr algn="r" eaLnBrk="1" hangingPunct="1">
                <a:spcBef>
                  <a:spcPct val="0"/>
                </a:spcBef>
              </a:pPr>
              <a:t>4</a:t>
            </a:fld>
            <a:endParaRPr lang="en-US" altLang="zh-CN">
              <a:latin typeface="Arial" panose="020B0604020202020204" pitchFamily="34" charset="0"/>
            </a:endParaRPr>
          </a:p>
        </p:txBody>
      </p:sp>
      <p:sp>
        <p:nvSpPr>
          <p:cNvPr id="22531" name="Rectangle 2">
            <a:extLst>
              <a:ext uri="{FF2B5EF4-FFF2-40B4-BE49-F238E27FC236}">
                <a16:creationId xmlns:a16="http://schemas.microsoft.com/office/drawing/2014/main" id="{BFA8DBD3-ED30-0A88-E664-AB64F971D457}"/>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CA7CE997-216B-051F-102C-3D27C441DA6C}"/>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lstStyle/>
          <a:p>
            <a:r>
              <a:rPr lang="zh-CN" altLang="en-US"/>
              <a:t>有许多应用是将同一消息广播给很多接收者。例如需要通知各用户网络暂时不可使用，或一个军事控制中心要发一条警报。这种情况下，一种经济可靠的方法就是只要一个接收者负责验证消息的真实性，所以消息必须以明文加上消息认证码的形式进行广播。上述负责验证的接受者拥有密钥并执行认证过程，若</a:t>
            </a:r>
            <a:r>
              <a:rPr lang="en-US" altLang="zh-CN"/>
              <a:t>MAC</a:t>
            </a:r>
            <a:r>
              <a:rPr lang="zh-CN" altLang="en-US"/>
              <a:t>错误，则他发警报通知其他接收者。</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314466D3-3E4E-DAC3-6400-4E3472C91376}"/>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b"/>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6841686A-E0C7-404E-961A-D39D529A6B22}" type="slidenum">
              <a:rPr lang="zh-CN" altLang="en-US">
                <a:latin typeface="Arial" panose="020B0604020202020204" pitchFamily="34" charset="0"/>
              </a:rPr>
              <a:pPr algn="r" eaLnBrk="1" hangingPunct="1">
                <a:spcBef>
                  <a:spcPct val="0"/>
                </a:spcBef>
              </a:pPr>
              <a:t>5</a:t>
            </a:fld>
            <a:endParaRPr lang="en-US" altLang="zh-CN">
              <a:latin typeface="Arial" panose="020B0604020202020204" pitchFamily="34" charset="0"/>
            </a:endParaRPr>
          </a:p>
        </p:txBody>
      </p:sp>
      <p:sp>
        <p:nvSpPr>
          <p:cNvPr id="24579" name="Rectangle 2">
            <a:extLst>
              <a:ext uri="{FF2B5EF4-FFF2-40B4-BE49-F238E27FC236}">
                <a16:creationId xmlns:a16="http://schemas.microsoft.com/office/drawing/2014/main" id="{8CB7EBEB-D8AA-61D9-2E0A-677C022278F2}"/>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552C814E-5BB8-BED9-59E1-AE74F518F5C3}"/>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lstStyle/>
          <a:p>
            <a:r>
              <a:rPr lang="zh-CN" altLang="en-US"/>
              <a:t>将认证和保密性分离开来，可使层次结构更加灵活。例如，在应用层我们可能希望对消息进行认证，而在更低层上，如传输层，我们可能希望提供保密性。</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653BBD98-5526-8554-7DD3-97DE1F1FC223}"/>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b"/>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516BCB9C-147E-460E-939D-3E74A8D9CB56}" type="slidenum">
              <a:rPr lang="zh-CN" altLang="en-US">
                <a:latin typeface="Arial" panose="020B0604020202020204" pitchFamily="34" charset="0"/>
              </a:rPr>
              <a:pPr algn="r" eaLnBrk="1" hangingPunct="1">
                <a:spcBef>
                  <a:spcPct val="0"/>
                </a:spcBef>
              </a:pPr>
              <a:t>6</a:t>
            </a:fld>
            <a:endParaRPr lang="en-US" altLang="zh-CN">
              <a:latin typeface="Arial" panose="020B0604020202020204" pitchFamily="34" charset="0"/>
            </a:endParaRPr>
          </a:p>
        </p:txBody>
      </p:sp>
      <p:sp>
        <p:nvSpPr>
          <p:cNvPr id="26627" name="Rectangle 2">
            <a:extLst>
              <a:ext uri="{FF2B5EF4-FFF2-40B4-BE49-F238E27FC236}">
                <a16:creationId xmlns:a16="http://schemas.microsoft.com/office/drawing/2014/main" id="{DEEB2DE5-9ABE-AD12-291B-934913FE6494}"/>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08B71F2F-9844-2426-61E9-098ED1BF558D}"/>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lstStyle/>
          <a:p>
            <a:r>
              <a:rPr lang="zh-CN" altLang="en-US"/>
              <a:t>仅在接收消息期间对消息实施保护是不够的，用户可能希望延长对消息的保护时间。就消息加密而言，消息被解密后就不再受任何保护，这样只是在传输中可以使消息不被修改，而不是在接收方系统中保护消息不被修改。</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BF67A5F8-4A36-2E91-6E1D-93D7E0FCC5EC}"/>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b"/>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89700CDD-B72D-4179-A613-814B79EFCF15}" type="slidenum">
              <a:rPr lang="zh-CN" altLang="en-US">
                <a:latin typeface="Arial" panose="020B0604020202020204" pitchFamily="34" charset="0"/>
              </a:rPr>
              <a:pPr algn="r" eaLnBrk="1" hangingPunct="1">
                <a:spcBef>
                  <a:spcPct val="0"/>
                </a:spcBef>
              </a:pPr>
              <a:t>7</a:t>
            </a:fld>
            <a:endParaRPr lang="en-US" altLang="zh-CN">
              <a:latin typeface="Arial" panose="020B0604020202020204" pitchFamily="34" charset="0"/>
            </a:endParaRPr>
          </a:p>
        </p:txBody>
      </p:sp>
      <p:sp>
        <p:nvSpPr>
          <p:cNvPr id="28675" name="Rectangle 2">
            <a:extLst>
              <a:ext uri="{FF2B5EF4-FFF2-40B4-BE49-F238E27FC236}">
                <a16:creationId xmlns:a16="http://schemas.microsoft.com/office/drawing/2014/main" id="{8A153799-98FB-EB8E-A60E-22312FD44D89}"/>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AFC0E592-89F1-F19B-117E-EF0477CC505E}"/>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lstStyle/>
          <a:p>
            <a:r>
              <a:rPr lang="en-US" altLang="zh-CN"/>
              <a:t>1</a:t>
            </a:r>
            <a:r>
              <a:rPr lang="zh-CN" altLang="en-US"/>
              <a:t>）接收方可以相信消息未被修改。如果攻击者改变了消息，但他无法改变相应的</a:t>
            </a:r>
            <a:r>
              <a:rPr lang="en-US" altLang="zh-CN"/>
              <a:t>MAC</a:t>
            </a:r>
            <a:r>
              <a:rPr lang="zh-CN" altLang="en-US"/>
              <a:t>，所以接收方计算出的</a:t>
            </a:r>
            <a:r>
              <a:rPr lang="en-US" altLang="zh-CN"/>
              <a:t>MAC</a:t>
            </a:r>
            <a:r>
              <a:rPr lang="zh-CN" altLang="en-US"/>
              <a:t>将不等于接收到的</a:t>
            </a:r>
            <a:r>
              <a:rPr lang="en-US" altLang="zh-CN"/>
              <a:t>MAC</a:t>
            </a:r>
            <a:r>
              <a:rPr lang="zh-CN" altLang="en-US"/>
              <a:t>。因为我们已假定攻击者不知道密钥，所以他不知道应如何改变</a:t>
            </a:r>
            <a:r>
              <a:rPr lang="en-US" altLang="zh-CN"/>
              <a:t>MAC</a:t>
            </a:r>
            <a:r>
              <a:rPr lang="zh-CN" altLang="en-US"/>
              <a:t>才能使其与修改后的消息一致。</a:t>
            </a:r>
          </a:p>
          <a:p>
            <a:r>
              <a:rPr lang="en-US" altLang="zh-CN"/>
              <a:t>2</a:t>
            </a:r>
            <a:r>
              <a:rPr lang="zh-CN" altLang="en-US"/>
              <a:t>）接收方可以相信消息来自真正的发送方。因为其他各方均不知道密钥，因此他们不能产生具有正确</a:t>
            </a:r>
            <a:r>
              <a:rPr lang="en-US" altLang="zh-CN"/>
              <a:t>MAC</a:t>
            </a:r>
            <a:r>
              <a:rPr lang="zh-CN" altLang="en-US"/>
              <a:t>的消息</a:t>
            </a:r>
          </a:p>
          <a:p>
            <a:r>
              <a:rPr lang="zh-CN" altLang="en-US"/>
              <a:t>如果消息中含有序列号，那么接收方可以相信消息顺序是正确的。因为攻击者无法成功地修改序列号</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8C9B469F-988C-F089-7937-A8D1CBC3CFA4}"/>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b"/>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5B9F24B9-AEB3-4801-A2C3-204A89B7259C}" type="slidenum">
              <a:rPr lang="zh-CN" altLang="en-US">
                <a:latin typeface="Arial" panose="020B0604020202020204" pitchFamily="34" charset="0"/>
              </a:rPr>
              <a:pPr algn="r" eaLnBrk="1" hangingPunct="1">
                <a:spcBef>
                  <a:spcPct val="0"/>
                </a:spcBef>
              </a:pPr>
              <a:t>8</a:t>
            </a:fld>
            <a:endParaRPr lang="en-US" altLang="zh-CN">
              <a:latin typeface="Arial" panose="020B0604020202020204" pitchFamily="34" charset="0"/>
            </a:endParaRPr>
          </a:p>
        </p:txBody>
      </p:sp>
      <p:sp>
        <p:nvSpPr>
          <p:cNvPr id="30723" name="Rectangle 2">
            <a:extLst>
              <a:ext uri="{FF2B5EF4-FFF2-40B4-BE49-F238E27FC236}">
                <a16:creationId xmlns:a16="http://schemas.microsoft.com/office/drawing/2014/main" id="{1DF5A546-CD8B-9B1F-3C69-88D04DB99CF7}"/>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6951625C-7CE7-0B1F-2FED-B535E2A7BB94}"/>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lstStyle/>
          <a:p>
            <a:r>
              <a:rPr lang="en-US" altLang="zh-CN"/>
              <a:t>Hash</a:t>
            </a:r>
            <a:r>
              <a:rPr lang="zh-CN" altLang="en-US"/>
              <a:t>码提供了认证所需的结构或冗余，并且由于该方法是对整个消息和</a:t>
            </a:r>
            <a:r>
              <a:rPr lang="en-US" altLang="zh-CN"/>
              <a:t>hash</a:t>
            </a:r>
            <a:r>
              <a:rPr lang="zh-CN" altLang="en-US"/>
              <a:t>码加密，所以也提供了保密性</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42A0EBE8-53B5-6747-CB1A-2D3FA6EE0E62}"/>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b"/>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94CB7A69-4441-4CCE-9931-A46F622D4E85}" type="slidenum">
              <a:rPr lang="zh-CN" altLang="en-US">
                <a:latin typeface="Arial" panose="020B0604020202020204" pitchFamily="34" charset="0"/>
              </a:rPr>
              <a:pPr algn="r" eaLnBrk="1" hangingPunct="1">
                <a:spcBef>
                  <a:spcPct val="0"/>
                </a:spcBef>
              </a:pPr>
              <a:t>9</a:t>
            </a:fld>
            <a:endParaRPr lang="en-US" altLang="zh-CN">
              <a:latin typeface="Arial" panose="020B0604020202020204" pitchFamily="34" charset="0"/>
            </a:endParaRPr>
          </a:p>
        </p:txBody>
      </p:sp>
      <p:sp>
        <p:nvSpPr>
          <p:cNvPr id="32771" name="Rectangle 2">
            <a:extLst>
              <a:ext uri="{FF2B5EF4-FFF2-40B4-BE49-F238E27FC236}">
                <a16:creationId xmlns:a16="http://schemas.microsoft.com/office/drawing/2014/main" id="{CA660B61-C9D4-C5D3-127B-54C45435BAA4}"/>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F91135BD-CD1F-2D0D-4A83-7365CF83A253}"/>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lstStyle/>
          <a:p>
            <a:r>
              <a:rPr lang="zh-CN" altLang="en-US"/>
              <a:t>这种方法与</a:t>
            </a:r>
            <a:r>
              <a:rPr lang="en-US" altLang="zh-CN"/>
              <a:t>MAC</a:t>
            </a:r>
            <a:r>
              <a:rPr lang="zh-CN" altLang="en-US"/>
              <a:t>有异曲同工之妙。</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A648A7B9-7CAA-E3FF-29EC-60A775851A7E}"/>
              </a:ext>
            </a:extLst>
          </p:cNvPr>
          <p:cNvSpPr>
            <a:spLocks noGrp="1" noRot="1" noChangeAspect="1" noChangeArrowheads="1" noTextEdit="1"/>
          </p:cNvSpPr>
          <p:nvPr>
            <p:ph type="sldImg"/>
          </p:nvPr>
        </p:nvSpPr>
        <p:spPr>
          <a:ln/>
        </p:spPr>
      </p:sp>
      <p:sp>
        <p:nvSpPr>
          <p:cNvPr id="36867" name="备注占位符 2">
            <a:extLst>
              <a:ext uri="{FF2B5EF4-FFF2-40B4-BE49-F238E27FC236}">
                <a16:creationId xmlns:a16="http://schemas.microsoft.com/office/drawing/2014/main" id="{DD6D0F55-9224-472C-B51F-9F5419C58C0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CA" altLang="en-US"/>
          </a:p>
        </p:txBody>
      </p:sp>
      <p:sp>
        <p:nvSpPr>
          <p:cNvPr id="36868" name="灯片编号占位符 3">
            <a:extLst>
              <a:ext uri="{FF2B5EF4-FFF2-40B4-BE49-F238E27FC236}">
                <a16:creationId xmlns:a16="http://schemas.microsoft.com/office/drawing/2014/main" id="{47B6C97C-112E-FE14-581F-D747F278E8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877C2B99-09C5-443A-B9BF-987D30168AB4}" type="slidenum">
              <a:rPr lang="zh-CN" altLang="en-US" smtClean="0">
                <a:latin typeface="Times New Roman" panose="02020603050405020304" pitchFamily="18" charset="0"/>
              </a:rPr>
              <a:pPr/>
              <a:t>12</a:t>
            </a:fld>
            <a:endParaRPr lang="en-US" altLang="zh-CN">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E992DF1-6293-439F-A062-20D4C1D95BA0}" type="slidenum">
              <a:rPr lang="zh-CN" altLang="en-US" smtClean="0"/>
              <a:pPr>
                <a:defRPr/>
              </a:pPr>
              <a:t>56</a:t>
            </a:fld>
            <a:endParaRPr lang="en-US" altLang="zh-CN"/>
          </a:p>
        </p:txBody>
      </p:sp>
    </p:spTree>
    <p:extLst>
      <p:ext uri="{BB962C8B-B14F-4D97-AF65-F5344CB8AC3E}">
        <p14:creationId xmlns:p14="http://schemas.microsoft.com/office/powerpoint/2010/main" val="1283154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签名者的私钥隐藏在集合</a:t>
            </a:r>
            <a:r>
              <a:rPr lang="en-US" altLang="zh-CN" dirty="0"/>
              <a:t>R</a:t>
            </a:r>
            <a:r>
              <a:rPr lang="zh-CN" altLang="en-US" dirty="0"/>
              <a:t>中。</a:t>
            </a:r>
          </a:p>
        </p:txBody>
      </p:sp>
      <p:sp>
        <p:nvSpPr>
          <p:cNvPr id="4" name="灯片编号占位符 3"/>
          <p:cNvSpPr>
            <a:spLocks noGrp="1"/>
          </p:cNvSpPr>
          <p:nvPr>
            <p:ph type="sldNum" sz="quarter" idx="5"/>
          </p:nvPr>
        </p:nvSpPr>
        <p:spPr/>
        <p:txBody>
          <a:bodyPr/>
          <a:lstStyle/>
          <a:p>
            <a:pPr>
              <a:defRPr/>
            </a:pPr>
            <a:fld id="{EE992DF1-6293-439F-A062-20D4C1D95BA0}" type="slidenum">
              <a:rPr lang="zh-CN" altLang="en-US" smtClean="0"/>
              <a:pPr>
                <a:defRPr/>
              </a:pPr>
              <a:t>59</a:t>
            </a:fld>
            <a:endParaRPr lang="en-US" altLang="zh-CN"/>
          </a:p>
        </p:txBody>
      </p:sp>
    </p:spTree>
    <p:extLst>
      <p:ext uri="{BB962C8B-B14F-4D97-AF65-F5344CB8AC3E}">
        <p14:creationId xmlns:p14="http://schemas.microsoft.com/office/powerpoint/2010/main" val="17780825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FEA96E45-9427-EB62-BF0E-B27F274F6DD4}"/>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8ECD84D0-67E0-307C-E084-D884701D8245}"/>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D418D5CB-80F9-4A3D-1051-4DF0D2E306BE}"/>
                  </a:ext>
                </a:extLst>
              </p:cNvPr>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en-CA" altLang="en-US"/>
              </a:p>
            </p:txBody>
          </p:sp>
          <p:sp>
            <p:nvSpPr>
              <p:cNvPr id="11" name="Rectangle 5">
                <a:extLst>
                  <a:ext uri="{FF2B5EF4-FFF2-40B4-BE49-F238E27FC236}">
                    <a16:creationId xmlns:a16="http://schemas.microsoft.com/office/drawing/2014/main" id="{30FCD458-CC7B-8709-D94E-0A038333909F}"/>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en-CA" altLang="en-US"/>
              </a:p>
            </p:txBody>
          </p:sp>
        </p:grpSp>
        <p:grpSp>
          <p:nvGrpSpPr>
            <p:cNvPr id="4" name="Group 6">
              <a:extLst>
                <a:ext uri="{FF2B5EF4-FFF2-40B4-BE49-F238E27FC236}">
                  <a16:creationId xmlns:a16="http://schemas.microsoft.com/office/drawing/2014/main" id="{2AA8D4E9-0283-2FEA-CDBE-C0D5B3A78395}"/>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5D579F00-A5CE-B710-60A7-8DD109952ED5}"/>
                  </a:ext>
                </a:extLst>
              </p:cNvPr>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en-CA" altLang="en-US"/>
              </a:p>
            </p:txBody>
          </p:sp>
          <p:sp>
            <p:nvSpPr>
              <p:cNvPr id="9" name="Rectangle 8">
                <a:extLst>
                  <a:ext uri="{FF2B5EF4-FFF2-40B4-BE49-F238E27FC236}">
                    <a16:creationId xmlns:a16="http://schemas.microsoft.com/office/drawing/2014/main" id="{C2A7D722-08BC-B365-47E6-E0332A1FF034}"/>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en-CA" altLang="en-US"/>
              </a:p>
            </p:txBody>
          </p:sp>
        </p:grpSp>
        <p:sp>
          <p:nvSpPr>
            <p:cNvPr id="5" name="Rectangle 9">
              <a:extLst>
                <a:ext uri="{FF2B5EF4-FFF2-40B4-BE49-F238E27FC236}">
                  <a16:creationId xmlns:a16="http://schemas.microsoft.com/office/drawing/2014/main" id="{F2E8BC2B-A23F-87D0-E5B8-689EFC33504E}"/>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en-CA" altLang="en-US"/>
            </a:p>
          </p:txBody>
        </p:sp>
        <p:sp>
          <p:nvSpPr>
            <p:cNvPr id="6" name="Rectangle 10">
              <a:extLst>
                <a:ext uri="{FF2B5EF4-FFF2-40B4-BE49-F238E27FC236}">
                  <a16:creationId xmlns:a16="http://schemas.microsoft.com/office/drawing/2014/main" id="{83C45B7B-AE3C-20EA-58F1-D74E0BA91A91}"/>
                </a:ext>
              </a:extLst>
            </p:cNvPr>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en-CA" altLang="en-US"/>
            </a:p>
          </p:txBody>
        </p:sp>
        <p:sp>
          <p:nvSpPr>
            <p:cNvPr id="7" name="Rectangle 11">
              <a:extLst>
                <a:ext uri="{FF2B5EF4-FFF2-40B4-BE49-F238E27FC236}">
                  <a16:creationId xmlns:a16="http://schemas.microsoft.com/office/drawing/2014/main" id="{3FB9D87F-5F26-57A8-1B93-056F069CE9EE}"/>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en-CA" altLang="en-US"/>
            </a:p>
          </p:txBody>
        </p:sp>
      </p:grpSp>
      <p:sp>
        <p:nvSpPr>
          <p:cNvPr id="183308"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a:t>单击此处编辑母版标题样式</a:t>
            </a:r>
          </a:p>
        </p:txBody>
      </p:sp>
      <p:sp>
        <p:nvSpPr>
          <p:cNvPr id="183309"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12" name="Rectangle 16">
            <a:extLst>
              <a:ext uri="{FF2B5EF4-FFF2-40B4-BE49-F238E27FC236}">
                <a16:creationId xmlns:a16="http://schemas.microsoft.com/office/drawing/2014/main" id="{B61FD3BB-A8FF-24FF-47EF-CBAF2607EC68}"/>
              </a:ext>
            </a:extLst>
          </p:cNvPr>
          <p:cNvSpPr>
            <a:spLocks noGrp="1" noChangeArrowheads="1"/>
          </p:cNvSpPr>
          <p:nvPr>
            <p:ph type="sldNum" sz="quarter" idx="10"/>
          </p:nvPr>
        </p:nvSpPr>
        <p:spPr>
          <a:xfrm>
            <a:off x="6858000" y="6248400"/>
            <a:ext cx="1905000" cy="457200"/>
          </a:xfrm>
        </p:spPr>
        <p:txBody>
          <a:bodyPr/>
          <a:lstStyle>
            <a:lvl1pPr>
              <a:defRPr>
                <a:solidFill>
                  <a:schemeClr val="bg2"/>
                </a:solidFill>
              </a:defRPr>
            </a:lvl1pPr>
          </a:lstStyle>
          <a:p>
            <a:pPr>
              <a:defRPr/>
            </a:pPr>
            <a:fld id="{1752F9DC-4468-4D33-85F7-A54205B64A3C}" type="slidenum">
              <a:rPr lang="zh-CN" altLang="en-US"/>
              <a:pPr>
                <a:defRPr/>
              </a:pPr>
              <a:t>‹#›</a:t>
            </a:fld>
            <a:endParaRPr lang="en-US" altLang="zh-CN"/>
          </a:p>
        </p:txBody>
      </p:sp>
    </p:spTree>
    <p:extLst>
      <p:ext uri="{BB962C8B-B14F-4D97-AF65-F5344CB8AC3E}">
        <p14:creationId xmlns:p14="http://schemas.microsoft.com/office/powerpoint/2010/main" val="3750915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rgbClr val="FF0000"/>
                </a:solidFill>
              </a:defRPr>
            </a:lvl1pPr>
          </a:lstStyle>
          <a:p>
            <a:r>
              <a:rPr lang="zh-CN" altLang="en-US" dirty="0"/>
              <a:t>单击此处编辑母版标题样式</a:t>
            </a:r>
            <a:endParaRPr lang="en-CA" dirty="0"/>
          </a:p>
        </p:txBody>
      </p:sp>
      <p:sp>
        <p:nvSpPr>
          <p:cNvPr id="3" name="内容占位符 2"/>
          <p:cNvSpPr>
            <a:spLocks noGrp="1"/>
          </p:cNvSpPr>
          <p:nvPr>
            <p:ph idx="1"/>
          </p:nvPr>
        </p:nvSpPr>
        <p:spPr>
          <a:xfrm>
            <a:off x="395536" y="2017713"/>
            <a:ext cx="8559552"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CA"/>
          </a:p>
        </p:txBody>
      </p:sp>
      <p:sp>
        <p:nvSpPr>
          <p:cNvPr id="4" name="Rectangle 13">
            <a:extLst>
              <a:ext uri="{FF2B5EF4-FFF2-40B4-BE49-F238E27FC236}">
                <a16:creationId xmlns:a16="http://schemas.microsoft.com/office/drawing/2014/main" id="{22FD1C4A-FF4A-FD21-BF02-D4F2C412342D}"/>
              </a:ext>
            </a:extLst>
          </p:cNvPr>
          <p:cNvSpPr>
            <a:spLocks noGrp="1" noChangeArrowheads="1"/>
          </p:cNvSpPr>
          <p:nvPr>
            <p:ph type="sldNum" sz="quarter" idx="10"/>
          </p:nvPr>
        </p:nvSpPr>
        <p:spPr/>
        <p:txBody>
          <a:bodyPr/>
          <a:lstStyle>
            <a:lvl1pPr>
              <a:defRPr/>
            </a:lvl1pPr>
          </a:lstStyle>
          <a:p>
            <a:pPr>
              <a:defRPr/>
            </a:pPr>
            <a:fld id="{9F8570D8-99D5-4A2B-952C-DAF2ADA290B2}" type="slidenum">
              <a:rPr lang="zh-CN" altLang="en-US"/>
              <a:pPr>
                <a:defRPr/>
              </a:pPr>
              <a:t>‹#›</a:t>
            </a:fld>
            <a:endParaRPr lang="en-US" altLang="zh-CN"/>
          </a:p>
        </p:txBody>
      </p:sp>
    </p:spTree>
    <p:extLst>
      <p:ext uri="{BB962C8B-B14F-4D97-AF65-F5344CB8AC3E}">
        <p14:creationId xmlns:p14="http://schemas.microsoft.com/office/powerpoint/2010/main" val="1436546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4400">
                <a:solidFill>
                  <a:srgbClr val="FF0000"/>
                </a:solidFill>
              </a:defRPr>
            </a:lvl1pPr>
          </a:lstStyle>
          <a:p>
            <a:r>
              <a:rPr lang="zh-CN" altLang="en-US" dirty="0"/>
              <a:t>单击此处编辑母版标题样式</a:t>
            </a:r>
            <a:endParaRPr lang="en-CA" dirty="0"/>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12">
            <a:extLst>
              <a:ext uri="{FF2B5EF4-FFF2-40B4-BE49-F238E27FC236}">
                <a16:creationId xmlns:a16="http://schemas.microsoft.com/office/drawing/2014/main" id="{A0305F42-0DCD-98F6-7F4C-F80E9974E8AD}"/>
              </a:ext>
            </a:extLst>
          </p:cNvPr>
          <p:cNvSpPr>
            <a:spLocks noGrp="1" noChangeArrowheads="1"/>
          </p:cNvSpPr>
          <p:nvPr>
            <p:ph type="ftr" sz="quarter" idx="10"/>
          </p:nvPr>
        </p:nvSpPr>
        <p:spPr/>
        <p:txBody>
          <a:bodyPr/>
          <a:lstStyle>
            <a:lvl1pPr>
              <a:defRPr/>
            </a:lvl1pPr>
          </a:lstStyle>
          <a:p>
            <a:pPr>
              <a:defRPr/>
            </a:pPr>
            <a:endParaRPr lang="zh-CN" altLang="en-US"/>
          </a:p>
        </p:txBody>
      </p:sp>
      <p:sp>
        <p:nvSpPr>
          <p:cNvPr id="5" name="Rectangle 13">
            <a:extLst>
              <a:ext uri="{FF2B5EF4-FFF2-40B4-BE49-F238E27FC236}">
                <a16:creationId xmlns:a16="http://schemas.microsoft.com/office/drawing/2014/main" id="{DBE18F3A-45CB-09F8-8384-6B087B7C64A5}"/>
              </a:ext>
            </a:extLst>
          </p:cNvPr>
          <p:cNvSpPr>
            <a:spLocks noGrp="1" noChangeArrowheads="1"/>
          </p:cNvSpPr>
          <p:nvPr>
            <p:ph type="sldNum" sz="quarter" idx="11"/>
          </p:nvPr>
        </p:nvSpPr>
        <p:spPr/>
        <p:txBody>
          <a:bodyPr/>
          <a:lstStyle>
            <a:lvl1pPr>
              <a:defRPr/>
            </a:lvl1pPr>
          </a:lstStyle>
          <a:p>
            <a:pPr>
              <a:defRPr/>
            </a:pPr>
            <a:fld id="{DA51634C-66E2-44A4-9030-DECDF9DB11C7}" type="slidenum">
              <a:rPr lang="zh-CN" altLang="en-US"/>
              <a:pPr>
                <a:defRPr/>
              </a:pPr>
              <a:t>‹#›</a:t>
            </a:fld>
            <a:endParaRPr lang="en-US" altLang="zh-CN"/>
          </a:p>
        </p:txBody>
      </p:sp>
    </p:spTree>
    <p:extLst>
      <p:ext uri="{BB962C8B-B14F-4D97-AF65-F5344CB8AC3E}">
        <p14:creationId xmlns:p14="http://schemas.microsoft.com/office/powerpoint/2010/main" val="3991029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rgbClr val="FF0000"/>
                </a:solidFill>
              </a:defRPr>
            </a:lvl1pPr>
          </a:lstStyle>
          <a:p>
            <a:r>
              <a:rPr lang="zh-CN" altLang="en-US" dirty="0"/>
              <a:t>单击此处编辑母版标题样式</a:t>
            </a:r>
            <a:endParaRPr lang="en-CA" dirty="0"/>
          </a:p>
        </p:txBody>
      </p:sp>
      <p:sp>
        <p:nvSpPr>
          <p:cNvPr id="3" name="内容占位符 2"/>
          <p:cNvSpPr>
            <a:spLocks noGrp="1"/>
          </p:cNvSpPr>
          <p:nvPr>
            <p:ph sz="half" idx="1"/>
          </p:nvPr>
        </p:nvSpPr>
        <p:spPr>
          <a:xfrm>
            <a:off x="188912" y="2017713"/>
            <a:ext cx="4455096"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CA"/>
          </a:p>
        </p:txBody>
      </p:sp>
      <p:sp>
        <p:nvSpPr>
          <p:cNvPr id="4" name="内容占位符 3"/>
          <p:cNvSpPr>
            <a:spLocks noGrp="1"/>
          </p:cNvSpPr>
          <p:nvPr>
            <p:ph sz="half" idx="2"/>
          </p:nvPr>
        </p:nvSpPr>
        <p:spPr>
          <a:xfrm>
            <a:off x="4860032" y="2017713"/>
            <a:ext cx="4095056"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CA"/>
          </a:p>
        </p:txBody>
      </p:sp>
      <p:sp>
        <p:nvSpPr>
          <p:cNvPr id="5" name="Rectangle 12">
            <a:extLst>
              <a:ext uri="{FF2B5EF4-FFF2-40B4-BE49-F238E27FC236}">
                <a16:creationId xmlns:a16="http://schemas.microsoft.com/office/drawing/2014/main" id="{5B8BEC52-B4C5-499C-5581-92FD7B339D20}"/>
              </a:ext>
            </a:extLst>
          </p:cNvPr>
          <p:cNvSpPr>
            <a:spLocks noGrp="1" noChangeArrowheads="1"/>
          </p:cNvSpPr>
          <p:nvPr>
            <p:ph type="ftr" sz="quarter" idx="10"/>
          </p:nvPr>
        </p:nvSpPr>
        <p:spPr/>
        <p:txBody>
          <a:bodyPr/>
          <a:lstStyle>
            <a:lvl1pPr>
              <a:defRPr/>
            </a:lvl1pPr>
          </a:lstStyle>
          <a:p>
            <a:pPr>
              <a:defRPr/>
            </a:pPr>
            <a:endParaRPr lang="zh-CN" altLang="en-US"/>
          </a:p>
        </p:txBody>
      </p:sp>
      <p:sp>
        <p:nvSpPr>
          <p:cNvPr id="6" name="Rectangle 13">
            <a:extLst>
              <a:ext uri="{FF2B5EF4-FFF2-40B4-BE49-F238E27FC236}">
                <a16:creationId xmlns:a16="http://schemas.microsoft.com/office/drawing/2014/main" id="{D4602DEF-3B8A-F47E-CFEE-451A4BAAA058}"/>
              </a:ext>
            </a:extLst>
          </p:cNvPr>
          <p:cNvSpPr>
            <a:spLocks noGrp="1" noChangeArrowheads="1"/>
          </p:cNvSpPr>
          <p:nvPr>
            <p:ph type="sldNum" sz="quarter" idx="11"/>
          </p:nvPr>
        </p:nvSpPr>
        <p:spPr/>
        <p:txBody>
          <a:bodyPr/>
          <a:lstStyle>
            <a:lvl1pPr>
              <a:defRPr/>
            </a:lvl1pPr>
          </a:lstStyle>
          <a:p>
            <a:pPr>
              <a:defRPr/>
            </a:pPr>
            <a:fld id="{BE9CB4E0-E7AB-4497-9FDC-E4D42E8FC725}" type="slidenum">
              <a:rPr lang="zh-CN" altLang="en-US"/>
              <a:pPr>
                <a:defRPr/>
              </a:pPr>
              <a:t>‹#›</a:t>
            </a:fld>
            <a:endParaRPr lang="en-US" altLang="zh-CN"/>
          </a:p>
        </p:txBody>
      </p:sp>
    </p:spTree>
    <p:extLst>
      <p:ext uri="{BB962C8B-B14F-4D97-AF65-F5344CB8AC3E}">
        <p14:creationId xmlns:p14="http://schemas.microsoft.com/office/powerpoint/2010/main" val="509581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lvl1pPr>
              <a:defRPr>
                <a:solidFill>
                  <a:srgbClr val="FF0000"/>
                </a:solidFill>
              </a:defRPr>
            </a:lvl1pPr>
          </a:lstStyle>
          <a:p>
            <a:r>
              <a:rPr lang="zh-CN" altLang="en-US" dirty="0"/>
              <a:t>单击此处编辑母版标题样式</a:t>
            </a:r>
            <a:endParaRPr lang="en-CA" dirty="0"/>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CA"/>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CA"/>
          </a:p>
        </p:txBody>
      </p:sp>
      <p:sp>
        <p:nvSpPr>
          <p:cNvPr id="7" name="Rectangle 12">
            <a:extLst>
              <a:ext uri="{FF2B5EF4-FFF2-40B4-BE49-F238E27FC236}">
                <a16:creationId xmlns:a16="http://schemas.microsoft.com/office/drawing/2014/main" id="{4766B916-5FC4-2039-4C11-C58F5A4EB064}"/>
              </a:ext>
            </a:extLst>
          </p:cNvPr>
          <p:cNvSpPr>
            <a:spLocks noGrp="1" noChangeArrowheads="1"/>
          </p:cNvSpPr>
          <p:nvPr>
            <p:ph type="ftr" sz="quarter" idx="10"/>
          </p:nvPr>
        </p:nvSpPr>
        <p:spPr/>
        <p:txBody>
          <a:bodyPr/>
          <a:lstStyle>
            <a:lvl1pPr>
              <a:defRPr/>
            </a:lvl1pPr>
          </a:lstStyle>
          <a:p>
            <a:pPr>
              <a:defRPr/>
            </a:pPr>
            <a:endParaRPr lang="zh-CN" altLang="en-US"/>
          </a:p>
        </p:txBody>
      </p:sp>
      <p:sp>
        <p:nvSpPr>
          <p:cNvPr id="8" name="Rectangle 13">
            <a:extLst>
              <a:ext uri="{FF2B5EF4-FFF2-40B4-BE49-F238E27FC236}">
                <a16:creationId xmlns:a16="http://schemas.microsoft.com/office/drawing/2014/main" id="{9E9DD1C7-9295-ADF7-67BA-0905360E9EB6}"/>
              </a:ext>
            </a:extLst>
          </p:cNvPr>
          <p:cNvSpPr>
            <a:spLocks noGrp="1" noChangeArrowheads="1"/>
          </p:cNvSpPr>
          <p:nvPr>
            <p:ph type="sldNum" sz="quarter" idx="11"/>
          </p:nvPr>
        </p:nvSpPr>
        <p:spPr/>
        <p:txBody>
          <a:bodyPr/>
          <a:lstStyle>
            <a:lvl1pPr>
              <a:defRPr/>
            </a:lvl1pPr>
          </a:lstStyle>
          <a:p>
            <a:pPr>
              <a:defRPr/>
            </a:pPr>
            <a:fld id="{404E72E9-82D8-43BC-9C63-0BDA6D676AC2}" type="slidenum">
              <a:rPr lang="zh-CN" altLang="en-US"/>
              <a:pPr>
                <a:defRPr/>
              </a:pPr>
              <a:t>‹#›</a:t>
            </a:fld>
            <a:endParaRPr lang="en-US" altLang="zh-CN"/>
          </a:p>
        </p:txBody>
      </p:sp>
    </p:spTree>
    <p:extLst>
      <p:ext uri="{BB962C8B-B14F-4D97-AF65-F5344CB8AC3E}">
        <p14:creationId xmlns:p14="http://schemas.microsoft.com/office/powerpoint/2010/main" val="451883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rgbClr val="FF0000"/>
                </a:solidFill>
              </a:defRPr>
            </a:lvl1pPr>
          </a:lstStyle>
          <a:p>
            <a:r>
              <a:rPr lang="zh-CN" altLang="en-US" dirty="0"/>
              <a:t>单击此处编辑母版标题样式</a:t>
            </a:r>
            <a:endParaRPr lang="en-CA" dirty="0"/>
          </a:p>
        </p:txBody>
      </p:sp>
      <p:sp>
        <p:nvSpPr>
          <p:cNvPr id="3" name="Rectangle 12">
            <a:extLst>
              <a:ext uri="{FF2B5EF4-FFF2-40B4-BE49-F238E27FC236}">
                <a16:creationId xmlns:a16="http://schemas.microsoft.com/office/drawing/2014/main" id="{ADD86595-D9D9-F6A0-DDFE-028511858163}"/>
              </a:ext>
            </a:extLst>
          </p:cNvPr>
          <p:cNvSpPr>
            <a:spLocks noGrp="1" noChangeArrowheads="1"/>
          </p:cNvSpPr>
          <p:nvPr>
            <p:ph type="ftr" sz="quarter" idx="10"/>
          </p:nvPr>
        </p:nvSpPr>
        <p:spPr/>
        <p:txBody>
          <a:bodyPr/>
          <a:lstStyle>
            <a:lvl1pPr>
              <a:defRPr/>
            </a:lvl1pPr>
          </a:lstStyle>
          <a:p>
            <a:pPr>
              <a:defRPr/>
            </a:pPr>
            <a:endParaRPr lang="zh-CN" altLang="en-US"/>
          </a:p>
        </p:txBody>
      </p:sp>
      <p:sp>
        <p:nvSpPr>
          <p:cNvPr id="4" name="Rectangle 13">
            <a:extLst>
              <a:ext uri="{FF2B5EF4-FFF2-40B4-BE49-F238E27FC236}">
                <a16:creationId xmlns:a16="http://schemas.microsoft.com/office/drawing/2014/main" id="{C1D930E0-904C-0A61-F0F8-91C7338FDFFE}"/>
              </a:ext>
            </a:extLst>
          </p:cNvPr>
          <p:cNvSpPr>
            <a:spLocks noGrp="1" noChangeArrowheads="1"/>
          </p:cNvSpPr>
          <p:nvPr>
            <p:ph type="sldNum" sz="quarter" idx="11"/>
          </p:nvPr>
        </p:nvSpPr>
        <p:spPr/>
        <p:txBody>
          <a:bodyPr/>
          <a:lstStyle>
            <a:lvl1pPr>
              <a:defRPr/>
            </a:lvl1pPr>
          </a:lstStyle>
          <a:p>
            <a:pPr>
              <a:defRPr/>
            </a:pPr>
            <a:fld id="{8729F855-A766-4BEB-97ED-345383FD4C12}" type="slidenum">
              <a:rPr lang="zh-CN" altLang="en-US"/>
              <a:pPr>
                <a:defRPr/>
              </a:pPr>
              <a:t>‹#›</a:t>
            </a:fld>
            <a:endParaRPr lang="en-US" altLang="zh-CN"/>
          </a:p>
        </p:txBody>
      </p:sp>
    </p:spTree>
    <p:extLst>
      <p:ext uri="{BB962C8B-B14F-4D97-AF65-F5344CB8AC3E}">
        <p14:creationId xmlns:p14="http://schemas.microsoft.com/office/powerpoint/2010/main" val="4104216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12">
            <a:extLst>
              <a:ext uri="{FF2B5EF4-FFF2-40B4-BE49-F238E27FC236}">
                <a16:creationId xmlns:a16="http://schemas.microsoft.com/office/drawing/2014/main" id="{C8C8FB4B-0B05-5724-674D-870E28781914}"/>
              </a:ext>
            </a:extLst>
          </p:cNvPr>
          <p:cNvSpPr>
            <a:spLocks noGrp="1" noChangeArrowheads="1"/>
          </p:cNvSpPr>
          <p:nvPr>
            <p:ph type="ftr" sz="quarter" idx="10"/>
          </p:nvPr>
        </p:nvSpPr>
        <p:spPr/>
        <p:txBody>
          <a:bodyPr/>
          <a:lstStyle>
            <a:lvl1pPr>
              <a:defRPr/>
            </a:lvl1pPr>
          </a:lstStyle>
          <a:p>
            <a:pPr>
              <a:defRPr/>
            </a:pPr>
            <a:endParaRPr lang="zh-CN" altLang="en-US"/>
          </a:p>
        </p:txBody>
      </p:sp>
      <p:sp>
        <p:nvSpPr>
          <p:cNvPr id="3" name="Rectangle 13">
            <a:extLst>
              <a:ext uri="{FF2B5EF4-FFF2-40B4-BE49-F238E27FC236}">
                <a16:creationId xmlns:a16="http://schemas.microsoft.com/office/drawing/2014/main" id="{281C0EF2-8CB2-B700-20A9-161A515592D8}"/>
              </a:ext>
            </a:extLst>
          </p:cNvPr>
          <p:cNvSpPr>
            <a:spLocks noGrp="1" noChangeArrowheads="1"/>
          </p:cNvSpPr>
          <p:nvPr>
            <p:ph type="sldNum" sz="quarter" idx="11"/>
          </p:nvPr>
        </p:nvSpPr>
        <p:spPr/>
        <p:txBody>
          <a:bodyPr/>
          <a:lstStyle>
            <a:lvl1pPr>
              <a:defRPr/>
            </a:lvl1pPr>
          </a:lstStyle>
          <a:p>
            <a:pPr>
              <a:defRPr/>
            </a:pPr>
            <a:fld id="{41C31354-BF59-4D3C-B363-57CF2D213324}" type="slidenum">
              <a:rPr lang="zh-CN" altLang="en-US"/>
              <a:pPr>
                <a:defRPr/>
              </a:pPr>
              <a:t>‹#›</a:t>
            </a:fld>
            <a:endParaRPr lang="en-US" altLang="zh-CN"/>
          </a:p>
        </p:txBody>
      </p:sp>
    </p:spTree>
    <p:extLst>
      <p:ext uri="{BB962C8B-B14F-4D97-AF65-F5344CB8AC3E}">
        <p14:creationId xmlns:p14="http://schemas.microsoft.com/office/powerpoint/2010/main" val="3985115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endParaRPr lang="en-CA"/>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CA"/>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12">
            <a:extLst>
              <a:ext uri="{FF2B5EF4-FFF2-40B4-BE49-F238E27FC236}">
                <a16:creationId xmlns:a16="http://schemas.microsoft.com/office/drawing/2014/main" id="{F4E5E4FB-CFAE-F6D2-F7D9-1D935F4A769B}"/>
              </a:ext>
            </a:extLst>
          </p:cNvPr>
          <p:cNvSpPr>
            <a:spLocks noGrp="1" noChangeArrowheads="1"/>
          </p:cNvSpPr>
          <p:nvPr>
            <p:ph type="ftr" sz="quarter" idx="10"/>
          </p:nvPr>
        </p:nvSpPr>
        <p:spPr/>
        <p:txBody>
          <a:bodyPr/>
          <a:lstStyle>
            <a:lvl1pPr>
              <a:defRPr/>
            </a:lvl1pPr>
          </a:lstStyle>
          <a:p>
            <a:pPr>
              <a:defRPr/>
            </a:pPr>
            <a:endParaRPr lang="zh-CN" altLang="en-US"/>
          </a:p>
        </p:txBody>
      </p:sp>
      <p:sp>
        <p:nvSpPr>
          <p:cNvPr id="6" name="Rectangle 13">
            <a:extLst>
              <a:ext uri="{FF2B5EF4-FFF2-40B4-BE49-F238E27FC236}">
                <a16:creationId xmlns:a16="http://schemas.microsoft.com/office/drawing/2014/main" id="{363BAA35-8F28-73FE-32B6-8404D6268B06}"/>
              </a:ext>
            </a:extLst>
          </p:cNvPr>
          <p:cNvSpPr>
            <a:spLocks noGrp="1" noChangeArrowheads="1"/>
          </p:cNvSpPr>
          <p:nvPr>
            <p:ph type="sldNum" sz="quarter" idx="11"/>
          </p:nvPr>
        </p:nvSpPr>
        <p:spPr/>
        <p:txBody>
          <a:bodyPr/>
          <a:lstStyle>
            <a:lvl1pPr>
              <a:defRPr/>
            </a:lvl1pPr>
          </a:lstStyle>
          <a:p>
            <a:pPr>
              <a:defRPr/>
            </a:pPr>
            <a:fld id="{DB846076-539D-4D78-BDE7-B849913DD22A}" type="slidenum">
              <a:rPr lang="zh-CN" altLang="en-US"/>
              <a:pPr>
                <a:defRPr/>
              </a:pPr>
              <a:t>‹#›</a:t>
            </a:fld>
            <a:endParaRPr lang="en-US" altLang="zh-CN"/>
          </a:p>
        </p:txBody>
      </p:sp>
    </p:spTree>
    <p:extLst>
      <p:ext uri="{BB962C8B-B14F-4D97-AF65-F5344CB8AC3E}">
        <p14:creationId xmlns:p14="http://schemas.microsoft.com/office/powerpoint/2010/main" val="113557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endParaRPr lang="en-CA"/>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12">
            <a:extLst>
              <a:ext uri="{FF2B5EF4-FFF2-40B4-BE49-F238E27FC236}">
                <a16:creationId xmlns:a16="http://schemas.microsoft.com/office/drawing/2014/main" id="{ACBAB5FA-04F2-6911-6214-FB2F685FB0DA}"/>
              </a:ext>
            </a:extLst>
          </p:cNvPr>
          <p:cNvSpPr>
            <a:spLocks noGrp="1" noChangeArrowheads="1"/>
          </p:cNvSpPr>
          <p:nvPr>
            <p:ph type="ftr" sz="quarter" idx="10"/>
          </p:nvPr>
        </p:nvSpPr>
        <p:spPr/>
        <p:txBody>
          <a:bodyPr/>
          <a:lstStyle>
            <a:lvl1pPr>
              <a:defRPr/>
            </a:lvl1pPr>
          </a:lstStyle>
          <a:p>
            <a:pPr>
              <a:defRPr/>
            </a:pPr>
            <a:endParaRPr lang="zh-CN" altLang="en-US"/>
          </a:p>
        </p:txBody>
      </p:sp>
      <p:sp>
        <p:nvSpPr>
          <p:cNvPr id="6" name="Rectangle 13">
            <a:extLst>
              <a:ext uri="{FF2B5EF4-FFF2-40B4-BE49-F238E27FC236}">
                <a16:creationId xmlns:a16="http://schemas.microsoft.com/office/drawing/2014/main" id="{8352DD82-C6BF-4091-5101-309EDDA5C6D0}"/>
              </a:ext>
            </a:extLst>
          </p:cNvPr>
          <p:cNvSpPr>
            <a:spLocks noGrp="1" noChangeArrowheads="1"/>
          </p:cNvSpPr>
          <p:nvPr>
            <p:ph type="sldNum" sz="quarter" idx="11"/>
          </p:nvPr>
        </p:nvSpPr>
        <p:spPr/>
        <p:txBody>
          <a:bodyPr/>
          <a:lstStyle>
            <a:lvl1pPr>
              <a:defRPr/>
            </a:lvl1pPr>
          </a:lstStyle>
          <a:p>
            <a:pPr>
              <a:defRPr/>
            </a:pPr>
            <a:fld id="{64F9A4F6-1E2C-47ED-B53D-3F5D9357B71F}" type="slidenum">
              <a:rPr lang="zh-CN" altLang="en-US"/>
              <a:pPr>
                <a:defRPr/>
              </a:pPr>
              <a:t>‹#›</a:t>
            </a:fld>
            <a:endParaRPr lang="en-US" altLang="zh-CN"/>
          </a:p>
        </p:txBody>
      </p:sp>
    </p:spTree>
    <p:extLst>
      <p:ext uri="{BB962C8B-B14F-4D97-AF65-F5344CB8AC3E}">
        <p14:creationId xmlns:p14="http://schemas.microsoft.com/office/powerpoint/2010/main" val="2287126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CA"/>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CA"/>
          </a:p>
        </p:txBody>
      </p:sp>
      <p:sp>
        <p:nvSpPr>
          <p:cNvPr id="4" name="Rectangle 12">
            <a:extLst>
              <a:ext uri="{FF2B5EF4-FFF2-40B4-BE49-F238E27FC236}">
                <a16:creationId xmlns:a16="http://schemas.microsoft.com/office/drawing/2014/main" id="{DB820AF6-4D93-8109-E143-7182E8B4E031}"/>
              </a:ext>
            </a:extLst>
          </p:cNvPr>
          <p:cNvSpPr>
            <a:spLocks noGrp="1" noChangeArrowheads="1"/>
          </p:cNvSpPr>
          <p:nvPr>
            <p:ph type="ftr" sz="quarter" idx="10"/>
          </p:nvPr>
        </p:nvSpPr>
        <p:spPr/>
        <p:txBody>
          <a:bodyPr/>
          <a:lstStyle>
            <a:lvl1pPr>
              <a:defRPr/>
            </a:lvl1pPr>
          </a:lstStyle>
          <a:p>
            <a:pPr>
              <a:defRPr/>
            </a:pPr>
            <a:endParaRPr lang="zh-CN" altLang="en-US"/>
          </a:p>
        </p:txBody>
      </p:sp>
      <p:sp>
        <p:nvSpPr>
          <p:cNvPr id="5" name="Rectangle 13">
            <a:extLst>
              <a:ext uri="{FF2B5EF4-FFF2-40B4-BE49-F238E27FC236}">
                <a16:creationId xmlns:a16="http://schemas.microsoft.com/office/drawing/2014/main" id="{F4C0509C-FDCC-C576-9E18-4976CFE9A94B}"/>
              </a:ext>
            </a:extLst>
          </p:cNvPr>
          <p:cNvSpPr>
            <a:spLocks noGrp="1" noChangeArrowheads="1"/>
          </p:cNvSpPr>
          <p:nvPr>
            <p:ph type="sldNum" sz="quarter" idx="11"/>
          </p:nvPr>
        </p:nvSpPr>
        <p:spPr/>
        <p:txBody>
          <a:bodyPr/>
          <a:lstStyle>
            <a:lvl1pPr>
              <a:defRPr/>
            </a:lvl1pPr>
          </a:lstStyle>
          <a:p>
            <a:pPr>
              <a:defRPr/>
            </a:pPr>
            <a:fld id="{7970F2BA-CC06-4BDE-9538-E21C16DC6E58}" type="slidenum">
              <a:rPr lang="zh-CN" altLang="en-US"/>
              <a:pPr>
                <a:defRPr/>
              </a:pPr>
              <a:t>‹#›</a:t>
            </a:fld>
            <a:endParaRPr lang="en-US" altLang="zh-CN"/>
          </a:p>
        </p:txBody>
      </p:sp>
    </p:spTree>
    <p:extLst>
      <p:ext uri="{BB962C8B-B14F-4D97-AF65-F5344CB8AC3E}">
        <p14:creationId xmlns:p14="http://schemas.microsoft.com/office/powerpoint/2010/main" val="4293900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a:t>单击此处编辑母版标题样式</a:t>
            </a:r>
            <a:endParaRPr lang="en-CA"/>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CA"/>
          </a:p>
        </p:txBody>
      </p:sp>
      <p:sp>
        <p:nvSpPr>
          <p:cNvPr id="4" name="Rectangle 12">
            <a:extLst>
              <a:ext uri="{FF2B5EF4-FFF2-40B4-BE49-F238E27FC236}">
                <a16:creationId xmlns:a16="http://schemas.microsoft.com/office/drawing/2014/main" id="{D5D1F5FE-B74E-0E50-FC9D-B89AF74F9F36}"/>
              </a:ext>
            </a:extLst>
          </p:cNvPr>
          <p:cNvSpPr>
            <a:spLocks noGrp="1" noChangeArrowheads="1"/>
          </p:cNvSpPr>
          <p:nvPr>
            <p:ph type="ftr" sz="quarter" idx="10"/>
          </p:nvPr>
        </p:nvSpPr>
        <p:spPr/>
        <p:txBody>
          <a:bodyPr/>
          <a:lstStyle>
            <a:lvl1pPr>
              <a:defRPr/>
            </a:lvl1pPr>
          </a:lstStyle>
          <a:p>
            <a:pPr>
              <a:defRPr/>
            </a:pPr>
            <a:endParaRPr lang="zh-CN" altLang="en-US"/>
          </a:p>
        </p:txBody>
      </p:sp>
      <p:sp>
        <p:nvSpPr>
          <p:cNvPr id="5" name="Rectangle 13">
            <a:extLst>
              <a:ext uri="{FF2B5EF4-FFF2-40B4-BE49-F238E27FC236}">
                <a16:creationId xmlns:a16="http://schemas.microsoft.com/office/drawing/2014/main" id="{E2D8223D-458F-01B5-47BF-84AB2D05C2FE}"/>
              </a:ext>
            </a:extLst>
          </p:cNvPr>
          <p:cNvSpPr>
            <a:spLocks noGrp="1" noChangeArrowheads="1"/>
          </p:cNvSpPr>
          <p:nvPr>
            <p:ph type="sldNum" sz="quarter" idx="11"/>
          </p:nvPr>
        </p:nvSpPr>
        <p:spPr/>
        <p:txBody>
          <a:bodyPr/>
          <a:lstStyle>
            <a:lvl1pPr>
              <a:defRPr/>
            </a:lvl1pPr>
          </a:lstStyle>
          <a:p>
            <a:pPr>
              <a:defRPr/>
            </a:pPr>
            <a:fld id="{8810E8B0-17EF-4496-B1DC-604D6AD74A6A}" type="slidenum">
              <a:rPr lang="zh-CN" altLang="en-US"/>
              <a:pPr>
                <a:defRPr/>
              </a:pPr>
              <a:t>‹#›</a:t>
            </a:fld>
            <a:endParaRPr lang="en-US" altLang="zh-CN"/>
          </a:p>
        </p:txBody>
      </p:sp>
    </p:spTree>
    <p:extLst>
      <p:ext uri="{BB962C8B-B14F-4D97-AF65-F5344CB8AC3E}">
        <p14:creationId xmlns:p14="http://schemas.microsoft.com/office/powerpoint/2010/main" val="38340611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endParaRPr lang="en-CA"/>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CA"/>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CA"/>
          </a:p>
        </p:txBody>
      </p:sp>
      <p:sp>
        <p:nvSpPr>
          <p:cNvPr id="5" name="Rectangle 12">
            <a:extLst>
              <a:ext uri="{FF2B5EF4-FFF2-40B4-BE49-F238E27FC236}">
                <a16:creationId xmlns:a16="http://schemas.microsoft.com/office/drawing/2014/main" id="{FD96171D-79A4-90A5-3F88-1955E279E0A2}"/>
              </a:ext>
            </a:extLst>
          </p:cNvPr>
          <p:cNvSpPr>
            <a:spLocks noGrp="1" noChangeArrowheads="1"/>
          </p:cNvSpPr>
          <p:nvPr>
            <p:ph type="ftr" sz="quarter" idx="10"/>
          </p:nvPr>
        </p:nvSpPr>
        <p:spPr/>
        <p:txBody>
          <a:bodyPr/>
          <a:lstStyle>
            <a:lvl1pPr>
              <a:defRPr/>
            </a:lvl1pPr>
          </a:lstStyle>
          <a:p>
            <a:pPr>
              <a:defRPr/>
            </a:pPr>
            <a:endParaRPr lang="zh-CN" altLang="en-US"/>
          </a:p>
        </p:txBody>
      </p:sp>
      <p:sp>
        <p:nvSpPr>
          <p:cNvPr id="6" name="Rectangle 13">
            <a:extLst>
              <a:ext uri="{FF2B5EF4-FFF2-40B4-BE49-F238E27FC236}">
                <a16:creationId xmlns:a16="http://schemas.microsoft.com/office/drawing/2014/main" id="{4B81EFC0-BF9F-54EB-1DD8-D34879A9D784}"/>
              </a:ext>
            </a:extLst>
          </p:cNvPr>
          <p:cNvSpPr>
            <a:spLocks noGrp="1" noChangeArrowheads="1"/>
          </p:cNvSpPr>
          <p:nvPr>
            <p:ph type="sldNum" sz="quarter" idx="11"/>
          </p:nvPr>
        </p:nvSpPr>
        <p:spPr/>
        <p:txBody>
          <a:bodyPr/>
          <a:lstStyle>
            <a:lvl1pPr>
              <a:defRPr/>
            </a:lvl1pPr>
          </a:lstStyle>
          <a:p>
            <a:pPr>
              <a:defRPr/>
            </a:pPr>
            <a:fld id="{8814C5DE-2FD8-40E2-842C-3761978C3A56}" type="slidenum">
              <a:rPr lang="zh-CN" altLang="en-US"/>
              <a:pPr>
                <a:defRPr/>
              </a:pPr>
              <a:t>‹#›</a:t>
            </a:fld>
            <a:endParaRPr lang="en-US" altLang="zh-CN"/>
          </a:p>
        </p:txBody>
      </p:sp>
    </p:spTree>
    <p:extLst>
      <p:ext uri="{BB962C8B-B14F-4D97-AF65-F5344CB8AC3E}">
        <p14:creationId xmlns:p14="http://schemas.microsoft.com/office/powerpoint/2010/main" val="3073629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FB16E5D-34BB-76B7-DB09-62716866BC00}"/>
              </a:ext>
            </a:extLst>
          </p:cNvPr>
          <p:cNvSpPr>
            <a:spLocks noChangeArrowheads="1"/>
          </p:cNvSpPr>
          <p:nvPr/>
        </p:nvSpPr>
        <p:spPr bwMode="ltGray">
          <a:xfrm>
            <a:off x="417513" y="1098550"/>
            <a:ext cx="438150" cy="474663"/>
          </a:xfrm>
          <a:prstGeom prst="rect">
            <a:avLst/>
          </a:prstGeom>
          <a:solidFill>
            <a:schemeClr val="accent2"/>
          </a:solidFill>
          <a:ln>
            <a:noFill/>
          </a:ln>
          <a:effec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en-US" sz="2400"/>
          </a:p>
        </p:txBody>
      </p:sp>
      <p:sp>
        <p:nvSpPr>
          <p:cNvPr id="1027" name="Rectangle 3">
            <a:extLst>
              <a:ext uri="{FF2B5EF4-FFF2-40B4-BE49-F238E27FC236}">
                <a16:creationId xmlns:a16="http://schemas.microsoft.com/office/drawing/2014/main" id="{34C263DA-CA91-2F71-79DA-BBCF95EF3FA4}"/>
              </a:ext>
            </a:extLst>
          </p:cNvPr>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en-US" sz="2400"/>
          </a:p>
        </p:txBody>
      </p:sp>
      <p:sp>
        <p:nvSpPr>
          <p:cNvPr id="1028" name="Rectangle 4">
            <a:extLst>
              <a:ext uri="{FF2B5EF4-FFF2-40B4-BE49-F238E27FC236}">
                <a16:creationId xmlns:a16="http://schemas.microsoft.com/office/drawing/2014/main" id="{AE50E45B-7CC6-B2E4-DF26-219A98AE65DA}"/>
              </a:ext>
            </a:extLst>
          </p:cNvPr>
          <p:cNvSpPr>
            <a:spLocks noChangeArrowheads="1"/>
          </p:cNvSpPr>
          <p:nvPr/>
        </p:nvSpPr>
        <p:spPr bwMode="ltGray">
          <a:xfrm>
            <a:off x="541338" y="1520825"/>
            <a:ext cx="422275" cy="474663"/>
          </a:xfrm>
          <a:prstGeom prst="rect">
            <a:avLst/>
          </a:prstGeom>
          <a:solidFill>
            <a:schemeClr val="folHlink"/>
          </a:solidFill>
          <a:ln>
            <a:noFill/>
          </a:ln>
          <a:effec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en-US" sz="2400"/>
          </a:p>
        </p:txBody>
      </p:sp>
      <p:sp>
        <p:nvSpPr>
          <p:cNvPr id="1029" name="Rectangle 5">
            <a:extLst>
              <a:ext uri="{FF2B5EF4-FFF2-40B4-BE49-F238E27FC236}">
                <a16:creationId xmlns:a16="http://schemas.microsoft.com/office/drawing/2014/main" id="{F7C74569-8699-1E38-0E80-6A54110B96CC}"/>
              </a:ext>
            </a:extLst>
          </p:cNvPr>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en-US" sz="2400"/>
          </a:p>
        </p:txBody>
      </p:sp>
      <p:sp>
        <p:nvSpPr>
          <p:cNvPr id="1030" name="Rectangle 6">
            <a:extLst>
              <a:ext uri="{FF2B5EF4-FFF2-40B4-BE49-F238E27FC236}">
                <a16:creationId xmlns:a16="http://schemas.microsoft.com/office/drawing/2014/main" id="{FC08F526-03D4-4AAF-2F76-845F239B7FEF}"/>
              </a:ext>
            </a:extLst>
          </p:cNvPr>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en-US" sz="2400"/>
          </a:p>
        </p:txBody>
      </p:sp>
      <p:sp>
        <p:nvSpPr>
          <p:cNvPr id="1031" name="Rectangle 7">
            <a:extLst>
              <a:ext uri="{FF2B5EF4-FFF2-40B4-BE49-F238E27FC236}">
                <a16:creationId xmlns:a16="http://schemas.microsoft.com/office/drawing/2014/main" id="{13128E0C-9414-BDDF-229D-DCC7D1A64B25}"/>
              </a:ext>
            </a:extLst>
          </p:cNvPr>
          <p:cNvSpPr>
            <a:spLocks noChangeArrowheads="1"/>
          </p:cNvSpPr>
          <p:nvPr/>
        </p:nvSpPr>
        <p:spPr bwMode="gray">
          <a:xfrm>
            <a:off x="762000" y="990600"/>
            <a:ext cx="31750" cy="1052513"/>
          </a:xfrm>
          <a:prstGeom prst="rect">
            <a:avLst/>
          </a:prstGeom>
          <a:solidFill>
            <a:schemeClr val="bg2"/>
          </a:solidFill>
          <a:ln>
            <a:noFill/>
          </a:ln>
          <a:effec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en-US" sz="2400"/>
          </a:p>
        </p:txBody>
      </p:sp>
      <p:sp>
        <p:nvSpPr>
          <p:cNvPr id="1032" name="Rectangle 8">
            <a:extLst>
              <a:ext uri="{FF2B5EF4-FFF2-40B4-BE49-F238E27FC236}">
                <a16:creationId xmlns:a16="http://schemas.microsoft.com/office/drawing/2014/main" id="{F6D7DF37-6053-F7A6-F919-62F1651DBFEA}"/>
              </a:ext>
            </a:extLst>
          </p:cNvPr>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ffectLst/>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en-US" sz="2400"/>
          </a:p>
        </p:txBody>
      </p:sp>
      <p:sp>
        <p:nvSpPr>
          <p:cNvPr id="1033" name="Rectangle 9">
            <a:extLst>
              <a:ext uri="{FF2B5EF4-FFF2-40B4-BE49-F238E27FC236}">
                <a16:creationId xmlns:a16="http://schemas.microsoft.com/office/drawing/2014/main" id="{BF5A876F-EE12-6E42-809D-CB60379DFB52}"/>
              </a:ext>
            </a:extLst>
          </p:cNvPr>
          <p:cNvSpPr>
            <a:spLocks noGrp="1" noChangeArrowheads="1"/>
          </p:cNvSpPr>
          <p:nvPr>
            <p:ph type="title"/>
          </p:nvPr>
        </p:nvSpPr>
        <p:spPr bwMode="auto">
          <a:xfrm>
            <a:off x="1150938" y="214313"/>
            <a:ext cx="7793037" cy="14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
            <a:extLst>
              <a:ext uri="{FF2B5EF4-FFF2-40B4-BE49-F238E27FC236}">
                <a16:creationId xmlns:a16="http://schemas.microsoft.com/office/drawing/2014/main" id="{FA425D34-F6DE-CF5B-8698-D2205BA772BA}"/>
              </a:ext>
            </a:extLst>
          </p:cNvPr>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82283" name="Rectangle 11">
            <a:extLst>
              <a:ext uri="{FF2B5EF4-FFF2-40B4-BE49-F238E27FC236}">
                <a16:creationId xmlns:a16="http://schemas.microsoft.com/office/drawing/2014/main" id="{82942002-4E85-C209-27FA-E02B5863D636}"/>
              </a:ext>
            </a:extLst>
          </p:cNvPr>
          <p:cNvSpPr>
            <a:spLocks noGrp="1" noChangeArrowheads="1"/>
          </p:cNvSpPr>
          <p:nvPr>
            <p:ph type="dt" sz="half" idx="2"/>
          </p:nvPr>
        </p:nvSpPr>
        <p:spPr bwMode="auto">
          <a:xfrm>
            <a:off x="1162050" y="6243638"/>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lvl1pPr>
          </a:lstStyle>
          <a:p>
            <a:pPr>
              <a:defRPr/>
            </a:pPr>
            <a:fld id="{A2BECE7E-5550-4FBB-9561-78B501DB40DB}" type="datetime1">
              <a:rPr lang="zh-CN" altLang="en-US"/>
              <a:pPr>
                <a:defRPr/>
              </a:pPr>
              <a:t>2024/10/14</a:t>
            </a:fld>
            <a:endParaRPr lang="en-US" altLang="zh-CN"/>
          </a:p>
        </p:txBody>
      </p:sp>
      <p:sp>
        <p:nvSpPr>
          <p:cNvPr id="182284" name="Rectangle 12">
            <a:extLst>
              <a:ext uri="{FF2B5EF4-FFF2-40B4-BE49-F238E27FC236}">
                <a16:creationId xmlns:a16="http://schemas.microsoft.com/office/drawing/2014/main" id="{27C3CB92-005F-3C96-63B1-61DAD50080A1}"/>
              </a:ext>
            </a:extLst>
          </p:cNvPr>
          <p:cNvSpPr>
            <a:spLocks noGrp="1" noChangeArrowheads="1"/>
          </p:cNvSpPr>
          <p:nvPr>
            <p:ph type="ftr" sz="quarter" idx="3"/>
          </p:nvPr>
        </p:nvSpPr>
        <p:spPr bwMode="auto">
          <a:xfrm>
            <a:off x="3657600" y="6243638"/>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2000">
                <a:solidFill>
                  <a:schemeClr val="tx2"/>
                </a:solidFill>
                <a:latin typeface="Monotype Corsiva" panose="03010101010201010101" pitchFamily="66" charset="0"/>
                <a:ea typeface="隶书" panose="02010509060101010101" pitchFamily="49" charset="-122"/>
              </a:defRPr>
            </a:lvl1pPr>
          </a:lstStyle>
          <a:p>
            <a:pPr>
              <a:defRPr/>
            </a:pPr>
            <a:endParaRPr lang="zh-CN" altLang="en-US"/>
          </a:p>
        </p:txBody>
      </p:sp>
      <p:sp>
        <p:nvSpPr>
          <p:cNvPr id="182285" name="Rectangle 13">
            <a:extLst>
              <a:ext uri="{FF2B5EF4-FFF2-40B4-BE49-F238E27FC236}">
                <a16:creationId xmlns:a16="http://schemas.microsoft.com/office/drawing/2014/main" id="{6EC5F554-42CE-61DE-44FE-A257F9C6ACC7}"/>
              </a:ext>
            </a:extLst>
          </p:cNvPr>
          <p:cNvSpPr>
            <a:spLocks noGrp="1" noChangeArrowheads="1"/>
          </p:cNvSpPr>
          <p:nvPr>
            <p:ph type="sldNum" sz="quarter" idx="4"/>
          </p:nvPr>
        </p:nvSpPr>
        <p:spPr bwMode="auto">
          <a:xfrm>
            <a:off x="7042150" y="6243638"/>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a:lvl1pPr>
          </a:lstStyle>
          <a:p>
            <a:pPr>
              <a:defRPr/>
            </a:pPr>
            <a:fld id="{666BBC89-D069-4341-9D05-91963E0CB72A}"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 id="2147484110" r:id="rId12"/>
  </p:sldLayoutIdLst>
  <p:hf hdr="0" ft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png"/><Relationship Id="rId7" Type="http://schemas.openxmlformats.org/officeDocument/2006/relationships/image" Target="../media/image7.png"/><Relationship Id="rId12" Type="http://schemas.openxmlformats.org/officeDocument/2006/relationships/image" Target="../media/image10.wmf"/><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oleObject" Target="../embeddings/oleObject1.bin"/><Relationship Id="rId5" Type="http://schemas.openxmlformats.org/officeDocument/2006/relationships/image" Target="../media/image3.wmf"/><Relationship Id="rId10" Type="http://schemas.openxmlformats.org/officeDocument/2006/relationships/image" Target="../media/image9.emf"/><Relationship Id="rId4" Type="http://schemas.openxmlformats.org/officeDocument/2006/relationships/image" Target="../media/image5.png"/><Relationship Id="rId9" Type="http://schemas.openxmlformats.org/officeDocument/2006/relationships/image" Target="../media/image8.emf"/></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4.wmf"/><Relationship Id="rId3" Type="http://schemas.openxmlformats.org/officeDocument/2006/relationships/image" Target="../media/image2.png"/><Relationship Id="rId7" Type="http://schemas.openxmlformats.org/officeDocument/2006/relationships/image" Target="../media/image7.png"/><Relationship Id="rId12" Type="http://schemas.openxmlformats.org/officeDocument/2006/relationships/oleObject" Target="../embeddings/oleObject2.bin"/><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3.emf"/><Relationship Id="rId5" Type="http://schemas.openxmlformats.org/officeDocument/2006/relationships/image" Target="../media/image3.wmf"/><Relationship Id="rId10" Type="http://schemas.openxmlformats.org/officeDocument/2006/relationships/image" Target="../media/image12.emf"/><Relationship Id="rId4" Type="http://schemas.openxmlformats.org/officeDocument/2006/relationships/image" Target="../media/image5.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3.wmf"/><Relationship Id="rId10" Type="http://schemas.openxmlformats.org/officeDocument/2006/relationships/image" Target="../media/image15.wmf"/><Relationship Id="rId4" Type="http://schemas.openxmlformats.org/officeDocument/2006/relationships/image" Target="../media/image5.png"/><Relationship Id="rId9"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wmf"/><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6.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3">
            <a:extLst>
              <a:ext uri="{FF2B5EF4-FFF2-40B4-BE49-F238E27FC236}">
                <a16:creationId xmlns:a16="http://schemas.microsoft.com/office/drawing/2014/main" id="{2C2AC163-996F-D469-F371-21102C7D773F}"/>
              </a:ext>
            </a:extLst>
          </p:cNvPr>
          <p:cNvSpPr>
            <a:spLocks noGrp="1" noChangeArrowheads="1"/>
          </p:cNvSpPr>
          <p:nvPr>
            <p:ph type="body" idx="1"/>
          </p:nvPr>
        </p:nvSpPr>
        <p:spPr>
          <a:xfrm>
            <a:off x="395288" y="2017713"/>
            <a:ext cx="8559800" cy="4114800"/>
          </a:xfrm>
        </p:spPr>
        <p:txBody>
          <a:bodyPr/>
          <a:lstStyle/>
          <a:p>
            <a:pPr eaLnBrk="1" hangingPunct="1"/>
            <a:r>
              <a:rPr lang="zh-CN" altLang="en-US"/>
              <a:t>消息认证</a:t>
            </a:r>
            <a:endParaRPr lang="en-CA" altLang="zh-CN"/>
          </a:p>
          <a:p>
            <a:pPr eaLnBrk="1" hangingPunct="1"/>
            <a:r>
              <a:rPr lang="zh-CN" altLang="en-US"/>
              <a:t>数字签名基本概念</a:t>
            </a:r>
          </a:p>
          <a:p>
            <a:pPr eaLnBrk="1" hangingPunct="1"/>
            <a:r>
              <a:rPr lang="zh-CN" altLang="en-US"/>
              <a:t>几种常用的数字签名</a:t>
            </a:r>
          </a:p>
          <a:p>
            <a:pPr eaLnBrk="1" hangingPunct="1"/>
            <a:r>
              <a:rPr lang="zh-CN" altLang="en-US"/>
              <a:t>具有特殊用途的数字签名</a:t>
            </a:r>
            <a:endParaRPr lang="en-US" altLang="zh-CN"/>
          </a:p>
        </p:txBody>
      </p:sp>
      <p:sp>
        <p:nvSpPr>
          <p:cNvPr id="4" name="Rectangle 2">
            <a:extLst>
              <a:ext uri="{FF2B5EF4-FFF2-40B4-BE49-F238E27FC236}">
                <a16:creationId xmlns:a16="http://schemas.microsoft.com/office/drawing/2014/main" id="{BEB016EE-0B55-5E99-141D-63AE3D005B68}"/>
              </a:ext>
            </a:extLst>
          </p:cNvPr>
          <p:cNvSpPr txBox="1">
            <a:spLocks noChangeArrowheads="1"/>
          </p:cNvSpPr>
          <p:nvPr/>
        </p:nvSpPr>
        <p:spPr bwMode="auto">
          <a:xfrm>
            <a:off x="1116013" y="404813"/>
            <a:ext cx="815657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4800" b="1">
                <a:solidFill>
                  <a:srgbClr val="FF0066"/>
                </a:solidFill>
                <a:ea typeface="隶书" panose="02010509060101010101" pitchFamily="49" charset="-122"/>
              </a:rPr>
              <a:t>第五章：</a:t>
            </a:r>
            <a:r>
              <a:rPr lang="zh-CN" altLang="en-US" sz="4800">
                <a:solidFill>
                  <a:srgbClr val="FF0066"/>
                </a:solidFill>
                <a:ea typeface="隶书" panose="02010509060101010101" pitchFamily="49" charset="-122"/>
              </a:rPr>
              <a:t>数字签名</a:t>
            </a:r>
            <a:endParaRPr lang="zh-CN" altLang="en-US" sz="3600">
              <a:solidFill>
                <a:srgbClr val="FF0000"/>
              </a:solidFill>
            </a:endParaRPr>
          </a:p>
        </p:txBody>
      </p:sp>
      <p:sp>
        <p:nvSpPr>
          <p:cNvPr id="16388" name="灯片编号占位符 1">
            <a:extLst>
              <a:ext uri="{FF2B5EF4-FFF2-40B4-BE49-F238E27FC236}">
                <a16:creationId xmlns:a16="http://schemas.microsoft.com/office/drawing/2014/main" id="{561A3EE8-D373-A7E5-F282-D203ABE934B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069C50E3-2AE7-4155-A6D3-4E8E4EF10C2A}" type="slidenum">
              <a:rPr lang="zh-CN" altLang="en-US" sz="1400" smtClean="0"/>
              <a:pPr>
                <a:spcBef>
                  <a:spcPct val="0"/>
                </a:spcBef>
                <a:buClrTx/>
                <a:buSzTx/>
                <a:buFontTx/>
                <a:buNone/>
              </a:pPr>
              <a:t>1</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grpId="0" nodeType="withEffect">
                                  <p:stCondLst>
                                    <p:cond delay="0"/>
                                  </p:stCondLst>
                                  <p:childTnLst>
                                    <p:set>
                                      <p:cBhvr>
                                        <p:cTn id="6" dur="0"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灯片编号占位符 5">
            <a:extLst>
              <a:ext uri="{FF2B5EF4-FFF2-40B4-BE49-F238E27FC236}">
                <a16:creationId xmlns:a16="http://schemas.microsoft.com/office/drawing/2014/main" id="{BC34652E-3E89-7055-67B3-0D120F4A6C23}"/>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786B116E-1A07-4603-8C59-76525301BAE1}" type="slidenum">
              <a:rPr lang="en-US" altLang="zh-CN" sz="1400" smtClean="0"/>
              <a:pPr>
                <a:spcBef>
                  <a:spcPct val="0"/>
                </a:spcBef>
                <a:buClrTx/>
                <a:buSzTx/>
                <a:buFontTx/>
                <a:buNone/>
              </a:pPr>
              <a:t>2</a:t>
            </a:fld>
            <a:endParaRPr lang="en-US" altLang="zh-CN" sz="1400"/>
          </a:p>
        </p:txBody>
      </p:sp>
      <p:sp>
        <p:nvSpPr>
          <p:cNvPr id="17411" name="Rectangle 2">
            <a:extLst>
              <a:ext uri="{FF2B5EF4-FFF2-40B4-BE49-F238E27FC236}">
                <a16:creationId xmlns:a16="http://schemas.microsoft.com/office/drawing/2014/main" id="{116F7379-C280-6177-E80D-BFFDFBFDA726}"/>
              </a:ext>
            </a:extLst>
          </p:cNvPr>
          <p:cNvSpPr>
            <a:spLocks noGrp="1" noChangeArrowheads="1"/>
          </p:cNvSpPr>
          <p:nvPr>
            <p:ph type="title"/>
          </p:nvPr>
        </p:nvSpPr>
        <p:spPr>
          <a:noFill/>
        </p:spPr>
        <p:txBody>
          <a:bodyPr/>
          <a:lstStyle/>
          <a:p>
            <a:pPr eaLnBrk="1" hangingPunct="1"/>
            <a:r>
              <a:rPr lang="zh-CN" altLang="en-US"/>
              <a:t>一、消息认证</a:t>
            </a:r>
          </a:p>
        </p:txBody>
      </p:sp>
      <p:sp>
        <p:nvSpPr>
          <p:cNvPr id="17412" name="Rectangle 3">
            <a:extLst>
              <a:ext uri="{FF2B5EF4-FFF2-40B4-BE49-F238E27FC236}">
                <a16:creationId xmlns:a16="http://schemas.microsoft.com/office/drawing/2014/main" id="{FD185DEB-FC99-D6C5-9A66-EFCA6351BB6B}"/>
              </a:ext>
            </a:extLst>
          </p:cNvPr>
          <p:cNvSpPr>
            <a:spLocks noGrp="1" noChangeArrowheads="1"/>
          </p:cNvSpPr>
          <p:nvPr>
            <p:ph type="body" idx="1"/>
          </p:nvPr>
        </p:nvSpPr>
        <p:spPr>
          <a:xfrm>
            <a:off x="395288" y="2017713"/>
            <a:ext cx="8559800" cy="4114800"/>
          </a:xfrm>
        </p:spPr>
        <p:txBody>
          <a:bodyPr/>
          <a:lstStyle/>
          <a:p>
            <a:pPr eaLnBrk="1" hangingPunct="1">
              <a:lnSpc>
                <a:spcPct val="110000"/>
              </a:lnSpc>
            </a:pPr>
            <a:r>
              <a:rPr lang="zh-CN" altLang="en-US" sz="2800"/>
              <a:t>消息认证是一个过程，用以验证接收消息的真实性（的确是由它所声称的实体发来的）和完整性（未被篡改、插入、删除），同时还用于验证消息的顺序性和时间性（未重排、重放、延迟）。消息认证过程中检验内容应包括：</a:t>
            </a:r>
          </a:p>
          <a:p>
            <a:pPr eaLnBrk="1" hangingPunct="1">
              <a:lnSpc>
                <a:spcPct val="110000"/>
              </a:lnSpc>
            </a:pPr>
            <a:r>
              <a:rPr lang="zh-CN" altLang="en-US" sz="2800"/>
              <a:t>（</a:t>
            </a:r>
            <a:r>
              <a:rPr lang="en-US" altLang="zh-CN" sz="2800"/>
              <a:t>1</a:t>
            </a:r>
            <a:r>
              <a:rPr lang="zh-CN" altLang="en-US" sz="2800"/>
              <a:t>）证实报文的源和宿；</a:t>
            </a:r>
          </a:p>
          <a:p>
            <a:pPr eaLnBrk="1" hangingPunct="1">
              <a:lnSpc>
                <a:spcPct val="110000"/>
              </a:lnSpc>
            </a:pPr>
            <a:r>
              <a:rPr lang="zh-CN" altLang="en-US" sz="2800"/>
              <a:t>（</a:t>
            </a:r>
            <a:r>
              <a:rPr lang="en-US" altLang="zh-CN" sz="2800"/>
              <a:t>2</a:t>
            </a:r>
            <a:r>
              <a:rPr lang="zh-CN" altLang="en-US" sz="2800"/>
              <a:t>）报文内容是否曾受到偶然的或有意的篡改；</a:t>
            </a:r>
          </a:p>
          <a:p>
            <a:pPr eaLnBrk="1" hangingPunct="1">
              <a:lnSpc>
                <a:spcPct val="110000"/>
              </a:lnSpc>
            </a:pPr>
            <a:r>
              <a:rPr lang="zh-CN" altLang="en-US" sz="2800"/>
              <a:t>（</a:t>
            </a:r>
            <a:r>
              <a:rPr lang="en-US" altLang="zh-CN" sz="2800"/>
              <a:t>3</a:t>
            </a:r>
            <a:r>
              <a:rPr lang="zh-CN" altLang="en-US" sz="2800"/>
              <a:t>）报文的序号和时间先后。</a:t>
            </a:r>
          </a:p>
          <a:p>
            <a:pPr eaLnBrk="1" hangingPunct="1">
              <a:lnSpc>
                <a:spcPct val="110000"/>
              </a:lnSpc>
              <a:buFont typeface="Wingdings" panose="05000000000000000000" pitchFamily="2" charset="2"/>
              <a:buNone/>
            </a:pPr>
            <a:r>
              <a:rPr lang="zh-CN" altLang="en-US" sz="2800"/>
              <a:t>         </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86520D32-2E44-0C7A-588D-10DBAC097606}"/>
              </a:ext>
            </a:extLst>
          </p:cNvPr>
          <p:cNvSpPr>
            <a:spLocks noGrp="1" noChangeArrowheads="1"/>
          </p:cNvSpPr>
          <p:nvPr>
            <p:ph type="sldNum" sz="quarter" idx="11"/>
          </p:nvPr>
        </p:nvSpPr>
        <p:spPr>
          <a:xfrm>
            <a:off x="8069263" y="6340475"/>
            <a:ext cx="1054100" cy="457200"/>
          </a:xfrm>
          <a:ln>
            <a:miter lim="800000"/>
            <a:headEnd/>
            <a:tailEnd/>
          </a:ln>
        </p:spPr>
        <p:txBody>
          <a:bodyPr anchor="t"/>
          <a:lstStyle>
            <a:defPPr>
              <a:defRPr lang="zh-CN"/>
            </a:defPPr>
            <a:lvl1pPr algn="r" rtl="0" fontAlgn="base">
              <a:spcBef>
                <a:spcPct val="0"/>
              </a:spcBef>
              <a:spcAft>
                <a:spcPct val="0"/>
              </a:spcAft>
              <a:defRPr kumimoji="1" sz="1600" b="1" kern="1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defRPr/>
            </a:pPr>
            <a:fld id="{1A134EE9-3B28-486C-A1CD-4C56DDEE9243}" type="slidenum">
              <a:rPr lang="en-US" altLang="zh-CN" smtClean="0">
                <a:solidFill>
                  <a:schemeClr val="tx1"/>
                </a:solidFill>
              </a:rPr>
              <a:pPr>
                <a:defRPr/>
              </a:pPr>
              <a:t>3</a:t>
            </a:fld>
            <a:endParaRPr lang="en-US" altLang="zh-CN" dirty="0">
              <a:solidFill>
                <a:schemeClr val="tx1"/>
              </a:solidFill>
            </a:endParaRPr>
          </a:p>
        </p:txBody>
      </p:sp>
      <p:sp>
        <p:nvSpPr>
          <p:cNvPr id="121858" name="Rectangle 2">
            <a:extLst>
              <a:ext uri="{FF2B5EF4-FFF2-40B4-BE49-F238E27FC236}">
                <a16:creationId xmlns:a16="http://schemas.microsoft.com/office/drawing/2014/main" id="{375109D5-A240-B917-F95D-3D9B0C944F74}"/>
              </a:ext>
            </a:extLst>
          </p:cNvPr>
          <p:cNvSpPr>
            <a:spLocks noGrp="1" noChangeArrowheads="1"/>
          </p:cNvSpPr>
          <p:nvPr>
            <p:ph type="title" idx="4294967295"/>
          </p:nvPr>
        </p:nvSpPr>
        <p:spPr>
          <a:xfrm>
            <a:off x="590923" y="260648"/>
            <a:ext cx="7793037" cy="767680"/>
          </a:xfrm>
        </p:spPr>
        <p:txBody>
          <a:bodyPr/>
          <a:lstStyle/>
          <a:p>
            <a:pPr eaLnBrk="1" hangingPunct="1">
              <a:defRPr/>
            </a:pPr>
            <a:r>
              <a:rPr lang="zh-CN" altLang="en-US" dirty="0">
                <a:solidFill>
                  <a:srgbClr val="FF0000"/>
                </a:solidFill>
                <a:effectLst>
                  <a:outerShdw blurRad="38100" dist="38100" dir="2700000" algn="tl">
                    <a:srgbClr val="C0C0C0"/>
                  </a:outerShdw>
                </a:effectLst>
              </a:rPr>
              <a:t>消息认证码</a:t>
            </a:r>
          </a:p>
        </p:txBody>
      </p:sp>
      <mc:AlternateContent xmlns:mc="http://schemas.openxmlformats.org/markup-compatibility/2006" xmlns:a14="http://schemas.microsoft.com/office/drawing/2010/main">
        <mc:Choice Requires="a14">
          <p:sp>
            <p:nvSpPr>
              <p:cNvPr id="121859" name="Rectangle 3">
                <a:extLst>
                  <a:ext uri="{FF2B5EF4-FFF2-40B4-BE49-F238E27FC236}">
                    <a16:creationId xmlns:a16="http://schemas.microsoft.com/office/drawing/2014/main" id="{9DC041F9-F26F-9E07-FC75-23568F3BF0DF}"/>
                  </a:ext>
                </a:extLst>
              </p:cNvPr>
              <p:cNvSpPr>
                <a:spLocks noGrp="1" noChangeArrowheads="1"/>
              </p:cNvSpPr>
              <p:nvPr>
                <p:ph type="body" idx="4294967295"/>
              </p:nvPr>
            </p:nvSpPr>
            <p:spPr>
              <a:xfrm>
                <a:off x="611560" y="1772817"/>
                <a:ext cx="7772400" cy="4392488"/>
              </a:xfrm>
            </p:spPr>
            <p:txBody>
              <a:bodyPr/>
              <a:lstStyle/>
              <a:p>
                <a:pPr marL="0" indent="542925" eaLnBrk="1" hangingPunct="1">
                  <a:defRPr/>
                </a:pPr>
                <a:r>
                  <a:rPr lang="en-US" altLang="zh-CN" sz="2800" dirty="0">
                    <a:effectLst>
                      <a:outerShdw blurRad="38100" dist="38100" dir="2700000" algn="tl">
                        <a:srgbClr val="C0C0C0"/>
                      </a:outerShdw>
                    </a:effectLst>
                    <a:latin typeface="宋体" panose="02010600030101010101" pitchFamily="2" charset="-122"/>
                  </a:rPr>
                  <a:t>Message Authentication Code</a:t>
                </a:r>
                <a:r>
                  <a:rPr lang="zh-CN" altLang="en-US" sz="2800" dirty="0">
                    <a:effectLst>
                      <a:outerShdw blurRad="38100" dist="38100" dir="2700000" algn="tl">
                        <a:srgbClr val="C0C0C0"/>
                      </a:outerShdw>
                    </a:effectLst>
                    <a:latin typeface="宋体" panose="02010600030101010101" pitchFamily="2" charset="-122"/>
                  </a:rPr>
                  <a:t>，</a:t>
                </a:r>
                <a:r>
                  <a:rPr lang="en-US" altLang="zh-CN" sz="2800" dirty="0">
                    <a:effectLst>
                      <a:outerShdw blurRad="38100" dist="38100" dir="2700000" algn="tl">
                        <a:srgbClr val="C0C0C0"/>
                      </a:outerShdw>
                    </a:effectLst>
                    <a:latin typeface="宋体" panose="02010600030101010101" pitchFamily="2" charset="-122"/>
                  </a:rPr>
                  <a:t>MAC</a:t>
                </a:r>
              </a:p>
              <a:p>
                <a:pPr lvl="1" eaLnBrk="1" hangingPunct="1">
                  <a:defRPr/>
                </a:pPr>
                <a:r>
                  <a:rPr lang="zh-CN" altLang="en-US" sz="2400" dirty="0">
                    <a:effectLst>
                      <a:outerShdw blurRad="38100" dist="38100" dir="2700000" algn="tl">
                        <a:srgbClr val="C0C0C0"/>
                      </a:outerShdw>
                    </a:effectLst>
                    <a:latin typeface="宋体" panose="02010600030101010101" pitchFamily="2" charset="-122"/>
                  </a:rPr>
                  <a:t>也叫消息认证码</a:t>
                </a:r>
              </a:p>
              <a:p>
                <a:pPr lvl="1" eaLnBrk="1" hangingPunct="1">
                  <a:spcBef>
                    <a:spcPct val="0"/>
                  </a:spcBef>
                  <a:defRPr/>
                </a:pPr>
                <a:r>
                  <a:rPr lang="zh-CN" altLang="en-US" sz="2400" dirty="0">
                    <a:effectLst>
                      <a:outerShdw blurRad="38100" dist="38100" dir="2700000" algn="tl">
                        <a:srgbClr val="C0C0C0"/>
                      </a:outerShdw>
                    </a:effectLst>
                    <a:latin typeface="宋体" panose="02010600030101010101" pitchFamily="2" charset="-122"/>
                  </a:rPr>
                  <a:t>利用密钥来生成一个固定长度的短数据块，并将该数据块附加在消息之后。</a:t>
                </a:r>
                <a:endParaRPr lang="en-US" altLang="zh-CN" sz="2400" dirty="0">
                  <a:effectLst>
                    <a:outerShdw blurRad="38100" dist="38100" dir="2700000" algn="tl">
                      <a:srgbClr val="C0C0C0"/>
                    </a:outerShdw>
                  </a:effectLst>
                  <a:latin typeface="宋体" panose="02010600030101010101" pitchFamily="2" charset="-122"/>
                </a:endParaRPr>
              </a:p>
              <a:p>
                <a:pPr marL="457200" lvl="1" indent="0" eaLnBrk="1" hangingPunct="1">
                  <a:spcBef>
                    <a:spcPct val="0"/>
                  </a:spcBef>
                  <a:buNone/>
                  <a:defRPr/>
                </a:pPr>
                <a:r>
                  <a:rPr lang="zh-CN" altLang="en-US" sz="2400" dirty="0">
                    <a:effectLst>
                      <a:outerShdw blurRad="38100" dist="38100" dir="2700000" algn="tl">
                        <a:srgbClr val="C0C0C0"/>
                      </a:outerShdw>
                    </a:effectLst>
                    <a:latin typeface="宋体" panose="02010600030101010101" pitchFamily="2" charset="-122"/>
                  </a:rPr>
                  <a:t>设：</a:t>
                </a:r>
                <a:r>
                  <a:rPr lang="en-US" altLang="zh-CN" sz="2400" dirty="0">
                    <a:effectLst>
                      <a:outerShdw blurRad="38100" dist="38100" dir="2700000" algn="tl">
                        <a:srgbClr val="C0C0C0"/>
                      </a:outerShdw>
                    </a:effectLst>
                    <a:latin typeface="宋体" panose="02010600030101010101" pitchFamily="2" charset="-122"/>
                  </a:rPr>
                  <a:t>M</a:t>
                </a:r>
                <a:r>
                  <a:rPr lang="zh-CN" altLang="en-US" sz="2400" dirty="0">
                    <a:effectLst>
                      <a:outerShdw blurRad="38100" dist="38100" dir="2700000" algn="tl">
                        <a:srgbClr val="C0C0C0"/>
                      </a:outerShdw>
                    </a:effectLst>
                    <a:latin typeface="宋体" panose="02010600030101010101" pitchFamily="2" charset="-122"/>
                  </a:rPr>
                  <a:t>为输入消息</a:t>
                </a:r>
                <a:endParaRPr lang="en-US" altLang="zh-CN" sz="2400" dirty="0">
                  <a:effectLst>
                    <a:outerShdw blurRad="38100" dist="38100" dir="2700000" algn="tl">
                      <a:srgbClr val="C0C0C0"/>
                    </a:outerShdw>
                  </a:effectLst>
                  <a:latin typeface="宋体" panose="02010600030101010101" pitchFamily="2" charset="-122"/>
                </a:endParaRPr>
              </a:p>
              <a:p>
                <a:pPr marL="457200" lvl="1" indent="0" eaLnBrk="1" hangingPunct="1">
                  <a:spcBef>
                    <a:spcPct val="0"/>
                  </a:spcBef>
                  <a:buNone/>
                  <a:defRPr/>
                </a:pPr>
                <a:r>
                  <a:rPr lang="en-US" altLang="zh-CN" sz="2400" dirty="0">
                    <a:effectLst>
                      <a:outerShdw blurRad="38100" dist="38100" dir="2700000" algn="tl">
                        <a:srgbClr val="C0C0C0"/>
                      </a:outerShdw>
                    </a:effectLst>
                    <a:latin typeface="宋体" panose="02010600030101010101" pitchFamily="2" charset="-122"/>
                  </a:rPr>
                  <a:t>    C</a:t>
                </a:r>
                <a:r>
                  <a:rPr lang="zh-CN" altLang="en-US" sz="2400" dirty="0">
                    <a:effectLst>
                      <a:outerShdw blurRad="38100" dist="38100" dir="2700000" algn="tl">
                        <a:srgbClr val="C0C0C0"/>
                      </a:outerShdw>
                    </a:effectLst>
                    <a:latin typeface="宋体" panose="02010600030101010101" pitchFamily="2" charset="-122"/>
                  </a:rPr>
                  <a:t>为</a:t>
                </a:r>
                <a:r>
                  <a:rPr lang="en-US" altLang="zh-CN" sz="2400" dirty="0">
                    <a:effectLst>
                      <a:outerShdw blurRad="38100" dist="38100" dir="2700000" algn="tl">
                        <a:srgbClr val="C0C0C0"/>
                      </a:outerShdw>
                    </a:effectLst>
                    <a:latin typeface="宋体" panose="02010600030101010101" pitchFamily="2" charset="-122"/>
                  </a:rPr>
                  <a:t>MAC</a:t>
                </a:r>
                <a:r>
                  <a:rPr lang="zh-CN" altLang="en-US" sz="2400" dirty="0">
                    <a:effectLst>
                      <a:outerShdw blurRad="38100" dist="38100" dir="2700000" algn="tl">
                        <a:srgbClr val="C0C0C0"/>
                      </a:outerShdw>
                    </a:effectLst>
                    <a:latin typeface="宋体" panose="02010600030101010101" pitchFamily="2" charset="-122"/>
                  </a:rPr>
                  <a:t>函数</a:t>
                </a:r>
                <a:endParaRPr lang="en-US" altLang="zh-CN" sz="2400" dirty="0">
                  <a:effectLst>
                    <a:outerShdw blurRad="38100" dist="38100" dir="2700000" algn="tl">
                      <a:srgbClr val="C0C0C0"/>
                    </a:outerShdw>
                  </a:effectLst>
                  <a:latin typeface="宋体" panose="02010600030101010101" pitchFamily="2" charset="-122"/>
                </a:endParaRPr>
              </a:p>
              <a:p>
                <a:pPr marL="457200" lvl="1" indent="0" eaLnBrk="1" hangingPunct="1">
                  <a:spcBef>
                    <a:spcPct val="0"/>
                  </a:spcBef>
                  <a:buNone/>
                  <a:defRPr/>
                </a:pPr>
                <a:r>
                  <a:rPr lang="en-US" altLang="zh-CN" sz="2400" dirty="0">
                    <a:effectLst>
                      <a:outerShdw blurRad="38100" dist="38100" dir="2700000" algn="tl">
                        <a:srgbClr val="C0C0C0"/>
                      </a:outerShdw>
                    </a:effectLst>
                    <a:latin typeface="宋体" panose="02010600030101010101" pitchFamily="2" charset="-122"/>
                  </a:rPr>
                  <a:t>    K</a:t>
                </a:r>
                <a:r>
                  <a:rPr lang="zh-CN" altLang="en-US" sz="2400" dirty="0">
                    <a:effectLst>
                      <a:outerShdw blurRad="38100" dist="38100" dir="2700000" algn="tl">
                        <a:srgbClr val="C0C0C0"/>
                      </a:outerShdw>
                    </a:effectLst>
                    <a:latin typeface="宋体" panose="02010600030101010101" pitchFamily="2" charset="-122"/>
                  </a:rPr>
                  <a:t>为收发双方共享密钥</a:t>
                </a:r>
                <a:endParaRPr lang="en-US" altLang="zh-CN" sz="2400" dirty="0">
                  <a:effectLst>
                    <a:outerShdw blurRad="38100" dist="38100" dir="2700000" algn="tl">
                      <a:srgbClr val="C0C0C0"/>
                    </a:outerShdw>
                  </a:effectLst>
                  <a:latin typeface="宋体" panose="02010600030101010101" pitchFamily="2" charset="-122"/>
                </a:endParaRPr>
              </a:p>
              <a:p>
                <a:pPr marL="457200" lvl="1" indent="0" eaLnBrk="1" hangingPunct="1">
                  <a:spcBef>
                    <a:spcPct val="0"/>
                  </a:spcBef>
                  <a:buNone/>
                  <a:defRPr/>
                </a:pPr>
                <a:r>
                  <a:rPr lang="en-US" altLang="zh-CN" sz="2400" dirty="0">
                    <a:effectLst>
                      <a:outerShdw blurRad="38100" dist="38100" dir="2700000" algn="tl">
                        <a:srgbClr val="C0C0C0"/>
                      </a:outerShdw>
                    </a:effectLst>
                    <a:latin typeface="宋体" panose="02010600030101010101" pitchFamily="2" charset="-122"/>
                  </a:rPr>
                  <a:t>    t</a:t>
                </a:r>
                <a:r>
                  <a:rPr lang="zh-CN" altLang="en-US" sz="2400" dirty="0">
                    <a:effectLst>
                      <a:outerShdw blurRad="38100" dist="38100" dir="2700000" algn="tl">
                        <a:srgbClr val="C0C0C0"/>
                      </a:outerShdw>
                    </a:effectLst>
                    <a:latin typeface="宋体" panose="02010600030101010101" pitchFamily="2" charset="-122"/>
                  </a:rPr>
                  <a:t>为消息认证码</a:t>
                </a:r>
                <a:r>
                  <a:rPr lang="en-US" altLang="zh-CN" sz="2400" dirty="0">
                    <a:effectLst>
                      <a:outerShdw blurRad="38100" dist="38100" dir="2700000" algn="tl">
                        <a:srgbClr val="C0C0C0"/>
                      </a:outerShdw>
                    </a:effectLst>
                    <a:latin typeface="宋体" panose="02010600030101010101" pitchFamily="2" charset="-122"/>
                  </a:rPr>
                  <a:t>(MAC)</a:t>
                </a:r>
              </a:p>
              <a:p>
                <a:pPr marL="457200" lvl="1" indent="0" eaLnBrk="1" hangingPunct="1">
                  <a:spcBef>
                    <a:spcPct val="0"/>
                  </a:spcBef>
                  <a:buNone/>
                  <a:defRPr/>
                </a:pPr>
                <a:r>
                  <a:rPr lang="zh-CN" altLang="en-US" sz="2400" dirty="0">
                    <a:effectLst>
                      <a:outerShdw blurRad="38100" dist="38100" dir="2700000" algn="tl">
                        <a:srgbClr val="C0C0C0"/>
                      </a:outerShdw>
                    </a:effectLst>
                    <a:latin typeface="宋体" panose="02010600030101010101" pitchFamily="2" charset="-122"/>
                  </a:rPr>
                  <a:t>则</a:t>
                </a:r>
                <a:r>
                  <a:rPr lang="en-US" altLang="zh-CN" sz="2400" dirty="0">
                    <a:effectLst>
                      <a:outerShdw blurRad="38100" dist="38100" dir="2700000" algn="tl">
                        <a:srgbClr val="C0C0C0"/>
                      </a:outerShdw>
                    </a:effectLst>
                    <a:latin typeface="宋体" panose="02010600030101010101" pitchFamily="2" charset="-122"/>
                  </a:rPr>
                  <a:t> </a:t>
                </a:r>
                <a14:m>
                  <m:oMath xmlns:m="http://schemas.openxmlformats.org/officeDocument/2006/math">
                    <m:r>
                      <a:rPr lang="en-US" altLang="zh-CN" sz="2400" b="0" i="1" smtClean="0">
                        <a:effectLst>
                          <a:outerShdw blurRad="38100" dist="38100" dir="2700000" algn="tl">
                            <a:srgbClr val="C0C0C0"/>
                          </a:outerShdw>
                        </a:effectLst>
                        <a:latin typeface="Cambria Math" panose="02040503050406030204" pitchFamily="18" charset="0"/>
                      </a:rPr>
                      <m:t>𝑡</m:t>
                    </m:r>
                    <m:r>
                      <a:rPr lang="en-US" altLang="zh-CN" sz="2400" b="0" i="1" smtClean="0">
                        <a:effectLst>
                          <a:outerShdw blurRad="38100" dist="38100" dir="2700000" algn="tl">
                            <a:srgbClr val="C0C0C0"/>
                          </a:outerShdw>
                        </a:effectLst>
                        <a:latin typeface="Cambria Math" panose="02040503050406030204" pitchFamily="18" charset="0"/>
                      </a:rPr>
                      <m:t>=</m:t>
                    </m:r>
                    <m:sSub>
                      <m:sSubPr>
                        <m:ctrlPr>
                          <a:rPr lang="en-US" altLang="zh-CN" sz="2400" b="0" i="1" smtClean="0">
                            <a:effectLst>
                              <a:outerShdw blurRad="38100" dist="38100" dir="2700000" algn="tl">
                                <a:srgbClr val="C0C0C0"/>
                              </a:outerShdw>
                            </a:effectLst>
                            <a:latin typeface="Cambria Math" panose="02040503050406030204" pitchFamily="18" charset="0"/>
                          </a:rPr>
                        </m:ctrlPr>
                      </m:sSubPr>
                      <m:e>
                        <m:r>
                          <a:rPr lang="en-US" altLang="zh-CN" sz="2400" b="0" i="1" smtClean="0">
                            <a:effectLst>
                              <a:outerShdw blurRad="38100" dist="38100" dir="2700000" algn="tl">
                                <a:srgbClr val="C0C0C0"/>
                              </a:outerShdw>
                            </a:effectLst>
                            <a:latin typeface="Cambria Math" panose="02040503050406030204" pitchFamily="18" charset="0"/>
                          </a:rPr>
                          <m:t>𝐶</m:t>
                        </m:r>
                      </m:e>
                      <m:sub>
                        <m:r>
                          <a:rPr lang="en-US" altLang="zh-CN" sz="2400" b="0" i="1" smtClean="0">
                            <a:effectLst>
                              <a:outerShdw blurRad="38100" dist="38100" dir="2700000" algn="tl">
                                <a:srgbClr val="C0C0C0"/>
                              </a:outerShdw>
                            </a:effectLst>
                            <a:latin typeface="Cambria Math" panose="02040503050406030204" pitchFamily="18" charset="0"/>
                          </a:rPr>
                          <m:t>𝐾</m:t>
                        </m:r>
                      </m:sub>
                    </m:sSub>
                    <m:r>
                      <a:rPr lang="en-US" altLang="zh-CN" sz="2400" b="0" i="1" smtClean="0">
                        <a:effectLst>
                          <a:outerShdw blurRad="38100" dist="38100" dir="2700000" algn="tl">
                            <a:srgbClr val="C0C0C0"/>
                          </a:outerShdw>
                        </a:effectLst>
                        <a:latin typeface="Cambria Math" panose="02040503050406030204" pitchFamily="18" charset="0"/>
                      </a:rPr>
                      <m:t>(</m:t>
                    </m:r>
                    <m:r>
                      <a:rPr lang="en-US" altLang="zh-CN" sz="2400" b="0" i="1" smtClean="0">
                        <a:effectLst>
                          <a:outerShdw blurRad="38100" dist="38100" dir="2700000" algn="tl">
                            <a:srgbClr val="C0C0C0"/>
                          </a:outerShdw>
                        </a:effectLst>
                        <a:latin typeface="Cambria Math" panose="02040503050406030204" pitchFamily="18" charset="0"/>
                      </a:rPr>
                      <m:t>𝑀</m:t>
                    </m:r>
                    <m:r>
                      <a:rPr lang="en-US" altLang="zh-CN" sz="2400" b="0" i="1" smtClean="0">
                        <a:effectLst>
                          <a:outerShdw blurRad="38100" dist="38100" dir="2700000" algn="tl">
                            <a:srgbClr val="C0C0C0"/>
                          </a:outerShdw>
                        </a:effectLst>
                        <a:latin typeface="Cambria Math" panose="02040503050406030204" pitchFamily="18" charset="0"/>
                      </a:rPr>
                      <m:t>)</m:t>
                    </m:r>
                  </m:oMath>
                </a14:m>
                <a:endParaRPr lang="en-US" altLang="zh-CN" sz="2400" dirty="0">
                  <a:effectLst>
                    <a:outerShdw blurRad="38100" dist="38100" dir="2700000" algn="tl">
                      <a:srgbClr val="C0C0C0"/>
                    </a:outerShdw>
                  </a:effectLst>
                  <a:latin typeface="宋体" panose="02010600030101010101" pitchFamily="2" charset="-122"/>
                </a:endParaRPr>
              </a:p>
            </p:txBody>
          </p:sp>
        </mc:Choice>
        <mc:Fallback xmlns="">
          <p:sp>
            <p:nvSpPr>
              <p:cNvPr id="121859" name="Rectangle 3">
                <a:extLst>
                  <a:ext uri="{FF2B5EF4-FFF2-40B4-BE49-F238E27FC236}">
                    <a16:creationId xmlns:a16="http://schemas.microsoft.com/office/drawing/2014/main" id="{9DC041F9-F26F-9E07-FC75-23568F3BF0DF}"/>
                  </a:ext>
                </a:extLst>
              </p:cNvPr>
              <p:cNvSpPr>
                <a:spLocks noGrp="1" noRot="1" noChangeAspect="1" noMove="1" noResize="1" noEditPoints="1" noAdjustHandles="1" noChangeArrowheads="1" noChangeShapeType="1" noTextEdit="1"/>
              </p:cNvSpPr>
              <p:nvPr>
                <p:ph type="body" idx="4294967295"/>
              </p:nvPr>
            </p:nvSpPr>
            <p:spPr>
              <a:xfrm>
                <a:off x="611560" y="1772817"/>
                <a:ext cx="7772400" cy="4392488"/>
              </a:xfrm>
              <a:blipFill>
                <a:blip r:embed="rId3"/>
                <a:stretch>
                  <a:fillRect l="-392" t="-1667"/>
                </a:stretch>
              </a:blipFill>
            </p:spPr>
            <p:txBody>
              <a:bodyPr/>
              <a:lstStyle/>
              <a:p>
                <a:r>
                  <a:rPr lang="zh-CN" altLang="en-US">
                    <a:noFill/>
                  </a:rPr>
                  <a:t> </a:t>
                </a:r>
              </a:p>
            </p:txBody>
          </p:sp>
        </mc:Fallback>
      </mc:AlternateContent>
      <p:sp useBgFill="1">
        <p:nvSpPr>
          <p:cNvPr id="19461" name="Rectangle 5">
            <a:extLst>
              <a:ext uri="{FF2B5EF4-FFF2-40B4-BE49-F238E27FC236}">
                <a16:creationId xmlns:a16="http://schemas.microsoft.com/office/drawing/2014/main" id="{14EEA6F2-3313-2360-4343-43B822DC662B}"/>
              </a:ext>
            </a:extLst>
          </p:cNvPr>
          <p:cNvSpPr>
            <a:spLocks noChangeArrowheads="1"/>
          </p:cNvSpPr>
          <p:nvPr/>
        </p:nvSpPr>
        <p:spPr bwMode="auto">
          <a:xfrm>
            <a:off x="1692275" y="5805488"/>
            <a:ext cx="4032250" cy="50482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latin typeface="Verdana" panose="020B0604030504040204" pitchFamily="34" charset="0"/>
            </a:endParaRPr>
          </a:p>
        </p:txBody>
      </p:sp>
    </p:spTree>
  </p:cSld>
  <p:clrMapOvr>
    <a:masterClrMapping/>
  </p:clrMapOvr>
  <p:transition>
    <p:strips dir="rd"/>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 name="Rectangle 6">
            <a:extLst>
              <a:ext uri="{FF2B5EF4-FFF2-40B4-BE49-F238E27FC236}">
                <a16:creationId xmlns:a16="http://schemas.microsoft.com/office/drawing/2014/main" id="{66E40052-757B-4ECD-F8D1-BC3B18259BB8}"/>
              </a:ext>
            </a:extLst>
          </p:cNvPr>
          <p:cNvSpPr>
            <a:spLocks noGrp="1" noChangeArrowheads="1"/>
          </p:cNvSpPr>
          <p:nvPr>
            <p:ph type="sldNum" sz="quarter" idx="11"/>
          </p:nvPr>
        </p:nvSpPr>
        <p:spPr>
          <a:xfrm>
            <a:off x="7994650" y="6400800"/>
            <a:ext cx="1054100" cy="457200"/>
          </a:xfrm>
          <a:ln>
            <a:miter lim="800000"/>
            <a:headEnd/>
            <a:tailEnd/>
          </a:ln>
        </p:spPr>
        <p:txBody>
          <a:bodyPr anchor="t"/>
          <a:lstStyle>
            <a:defPPr>
              <a:defRPr lang="zh-CN"/>
            </a:defPPr>
            <a:lvl1pPr algn="r" rtl="0" fontAlgn="base">
              <a:spcBef>
                <a:spcPct val="0"/>
              </a:spcBef>
              <a:spcAft>
                <a:spcPct val="0"/>
              </a:spcAft>
              <a:defRPr kumimoji="1" sz="1600" b="1" kern="1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defRPr/>
            </a:pPr>
            <a:fld id="{E39EEC53-549A-45B0-9E0F-047C50341B4C}" type="slidenum">
              <a:rPr lang="en-US" altLang="zh-CN" b="0" smtClean="0">
                <a:solidFill>
                  <a:schemeClr val="tx1"/>
                </a:solidFill>
              </a:rPr>
              <a:pPr>
                <a:defRPr/>
              </a:pPr>
              <a:t>4</a:t>
            </a:fld>
            <a:endParaRPr lang="en-US" altLang="zh-CN" b="0" dirty="0">
              <a:solidFill>
                <a:schemeClr val="tx1"/>
              </a:solidFill>
            </a:endParaRPr>
          </a:p>
        </p:txBody>
      </p:sp>
      <p:sp>
        <p:nvSpPr>
          <p:cNvPr id="36866" name="Rectangle 2">
            <a:extLst>
              <a:ext uri="{FF2B5EF4-FFF2-40B4-BE49-F238E27FC236}">
                <a16:creationId xmlns:a16="http://schemas.microsoft.com/office/drawing/2014/main" id="{809738B6-40DF-1679-9B42-DECB18344675}"/>
              </a:ext>
            </a:extLst>
          </p:cNvPr>
          <p:cNvSpPr>
            <a:spLocks noGrp="1" noChangeArrowheads="1"/>
          </p:cNvSpPr>
          <p:nvPr>
            <p:ph type="title" idx="4294967295"/>
          </p:nvPr>
        </p:nvSpPr>
        <p:spPr/>
        <p:txBody>
          <a:bodyPr/>
          <a:lstStyle/>
          <a:p>
            <a:pPr eaLnBrk="1" hangingPunct="1">
              <a:defRPr/>
            </a:pPr>
            <a:r>
              <a:rPr lang="zh-CN" altLang="en-US">
                <a:solidFill>
                  <a:srgbClr val="FF0000"/>
                </a:solidFill>
                <a:effectLst>
                  <a:outerShdw blurRad="38100" dist="38100" dir="2700000" algn="tl">
                    <a:srgbClr val="C0C0C0"/>
                  </a:outerShdw>
                </a:effectLst>
              </a:rPr>
              <a:t>消息认证码</a:t>
            </a:r>
          </a:p>
        </p:txBody>
      </p:sp>
      <p:sp>
        <p:nvSpPr>
          <p:cNvPr id="36867" name="Rectangle 3">
            <a:extLst>
              <a:ext uri="{FF2B5EF4-FFF2-40B4-BE49-F238E27FC236}">
                <a16:creationId xmlns:a16="http://schemas.microsoft.com/office/drawing/2014/main" id="{595E7933-74F0-9E2F-CDFF-584966F5DE19}"/>
              </a:ext>
            </a:extLst>
          </p:cNvPr>
          <p:cNvSpPr>
            <a:spLocks noGrp="1" noChangeArrowheads="1"/>
          </p:cNvSpPr>
          <p:nvPr>
            <p:ph type="body" idx="4294967295"/>
          </p:nvPr>
        </p:nvSpPr>
        <p:spPr>
          <a:xfrm>
            <a:off x="899592" y="1850218"/>
            <a:ext cx="7777162" cy="4967287"/>
          </a:xfrm>
        </p:spPr>
        <p:txBody>
          <a:bodyPr/>
          <a:lstStyle/>
          <a:p>
            <a:pPr marL="0" indent="542925" eaLnBrk="1" hangingPunct="1">
              <a:defRPr/>
            </a:pPr>
            <a:r>
              <a:rPr lang="zh-CN" altLang="en-US" dirty="0">
                <a:effectLst>
                  <a:outerShdw blurRad="38100" dist="38100" dir="2700000" algn="tl">
                    <a:srgbClr val="C0C0C0"/>
                  </a:outerShdw>
                </a:effectLst>
                <a:latin typeface="宋体" panose="02010600030101010101" pitchFamily="2" charset="-122"/>
              </a:rPr>
              <a:t>消息认证</a:t>
            </a:r>
          </a:p>
          <a:p>
            <a:pPr lvl="1" eaLnBrk="1" hangingPunct="1">
              <a:defRPr/>
            </a:pPr>
            <a:r>
              <a:rPr lang="zh-CN" altLang="en-US" dirty="0">
                <a:effectLst>
                  <a:outerShdw blurRad="38100" dist="38100" dir="2700000" algn="tl">
                    <a:srgbClr val="C0C0C0"/>
                  </a:outerShdw>
                </a:effectLst>
                <a:latin typeface="宋体" panose="02010600030101010101" pitchFamily="2" charset="-122"/>
              </a:rPr>
              <a:t>只保证消息的完整性，不保证消息的保密性</a:t>
            </a:r>
          </a:p>
          <a:p>
            <a:pPr lvl="1" eaLnBrk="1" hangingPunct="1">
              <a:defRPr/>
            </a:pPr>
            <a:r>
              <a:rPr lang="zh-CN" altLang="en-US" dirty="0">
                <a:effectLst>
                  <a:outerShdw blurRad="38100" dist="38100" dir="2700000" algn="tl">
                    <a:srgbClr val="C0C0C0"/>
                  </a:outerShdw>
                </a:effectLst>
                <a:latin typeface="宋体" panose="02010600030101010101" pitchFamily="2" charset="-122"/>
              </a:rPr>
              <a:t>密钥只能收发双方有</a:t>
            </a:r>
          </a:p>
        </p:txBody>
      </p:sp>
      <p:grpSp>
        <p:nvGrpSpPr>
          <p:cNvPr id="2" name="Group 42">
            <a:extLst>
              <a:ext uri="{FF2B5EF4-FFF2-40B4-BE49-F238E27FC236}">
                <a16:creationId xmlns:a16="http://schemas.microsoft.com/office/drawing/2014/main" id="{50F51115-9B83-2A20-1FB3-946EE2D67F37}"/>
              </a:ext>
            </a:extLst>
          </p:cNvPr>
          <p:cNvGrpSpPr>
            <a:grpSpLocks/>
          </p:cNvGrpSpPr>
          <p:nvPr/>
        </p:nvGrpSpPr>
        <p:grpSpPr bwMode="auto">
          <a:xfrm>
            <a:off x="1193800" y="3009900"/>
            <a:ext cx="7350125" cy="3549650"/>
            <a:chOff x="385" y="1630"/>
            <a:chExt cx="5087" cy="2480"/>
          </a:xfrm>
        </p:grpSpPr>
        <p:sp>
          <p:nvSpPr>
            <p:cNvPr id="21510" name="AutoShape 4" descr="浅色横线">
              <a:extLst>
                <a:ext uri="{FF2B5EF4-FFF2-40B4-BE49-F238E27FC236}">
                  <a16:creationId xmlns:a16="http://schemas.microsoft.com/office/drawing/2014/main" id="{EEC108F9-5100-9D52-1A93-17DE7764DEAC}"/>
                </a:ext>
              </a:extLst>
            </p:cNvPr>
            <p:cNvSpPr>
              <a:spLocks noChangeArrowheads="1"/>
            </p:cNvSpPr>
            <p:nvPr/>
          </p:nvSpPr>
          <p:spPr bwMode="auto">
            <a:xfrm>
              <a:off x="385" y="2455"/>
              <a:ext cx="317" cy="499"/>
            </a:xfrm>
            <a:prstGeom prst="foldedCorner">
              <a:avLst>
                <a:gd name="adj" fmla="val 39648"/>
              </a:avLst>
            </a:prstGeom>
            <a:blipFill dpi="0" rotWithShape="0">
              <a:blip r:embed="rId3"/>
              <a:srcRect/>
              <a:tile tx="0" ty="0" sx="100000" sy="100000" flip="none" algn="tl"/>
            </a:blipFill>
            <a:ln w="952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M</a:t>
              </a:r>
            </a:p>
          </p:txBody>
        </p:sp>
        <p:sp>
          <p:nvSpPr>
            <p:cNvPr id="21511" name="Line 5">
              <a:extLst>
                <a:ext uri="{FF2B5EF4-FFF2-40B4-BE49-F238E27FC236}">
                  <a16:creationId xmlns:a16="http://schemas.microsoft.com/office/drawing/2014/main" id="{09C3BBFD-66FF-CE68-1C7B-9263CEDE0050}"/>
                </a:ext>
              </a:extLst>
            </p:cNvPr>
            <p:cNvSpPr>
              <a:spLocks noChangeShapeType="1"/>
            </p:cNvSpPr>
            <p:nvPr/>
          </p:nvSpPr>
          <p:spPr bwMode="auto">
            <a:xfrm>
              <a:off x="708" y="2565"/>
              <a:ext cx="2399"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21512" name="Picture 7" descr="MCj02327690000[1]">
              <a:extLst>
                <a:ext uri="{FF2B5EF4-FFF2-40B4-BE49-F238E27FC236}">
                  <a16:creationId xmlns:a16="http://schemas.microsoft.com/office/drawing/2014/main" id="{11C90E96-D00F-66F9-57B3-3E08DD3114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8" y="3792"/>
              <a:ext cx="15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3" name="Line 8">
              <a:extLst>
                <a:ext uri="{FF2B5EF4-FFF2-40B4-BE49-F238E27FC236}">
                  <a16:creationId xmlns:a16="http://schemas.microsoft.com/office/drawing/2014/main" id="{97D49F2F-8A5A-8C45-DF40-E9AD8B8455DE}"/>
                </a:ext>
              </a:extLst>
            </p:cNvPr>
            <p:cNvSpPr>
              <a:spLocks noChangeShapeType="1"/>
            </p:cNvSpPr>
            <p:nvPr/>
          </p:nvSpPr>
          <p:spPr bwMode="auto">
            <a:xfrm flipV="1">
              <a:off x="1156" y="3384"/>
              <a:ext cx="0" cy="3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21514" name="Picture 13" descr="MCj02327690000[1]">
              <a:extLst>
                <a:ext uri="{FF2B5EF4-FFF2-40B4-BE49-F238E27FC236}">
                  <a16:creationId xmlns:a16="http://schemas.microsoft.com/office/drawing/2014/main" id="{CF5B17A9-448E-AFF6-8064-AA35126DCF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0" y="1630"/>
              <a:ext cx="15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5" name="Line 14">
              <a:extLst>
                <a:ext uri="{FF2B5EF4-FFF2-40B4-BE49-F238E27FC236}">
                  <a16:creationId xmlns:a16="http://schemas.microsoft.com/office/drawing/2014/main" id="{7BD6F2C4-AE01-9864-C3FE-55C242017DBB}"/>
                </a:ext>
              </a:extLst>
            </p:cNvPr>
            <p:cNvSpPr>
              <a:spLocks noChangeShapeType="1"/>
            </p:cNvSpPr>
            <p:nvPr/>
          </p:nvSpPr>
          <p:spPr bwMode="auto">
            <a:xfrm>
              <a:off x="4931" y="1983"/>
              <a:ext cx="0" cy="40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6" name="AutoShape 17" descr="10%">
              <a:extLst>
                <a:ext uri="{FF2B5EF4-FFF2-40B4-BE49-F238E27FC236}">
                  <a16:creationId xmlns:a16="http://schemas.microsoft.com/office/drawing/2014/main" id="{01753988-94E3-87DD-D542-109A3971D07C}"/>
                </a:ext>
              </a:extLst>
            </p:cNvPr>
            <p:cNvSpPr>
              <a:spLocks noChangeArrowheads="1"/>
            </p:cNvSpPr>
            <p:nvPr/>
          </p:nvSpPr>
          <p:spPr bwMode="auto">
            <a:xfrm>
              <a:off x="1020" y="3110"/>
              <a:ext cx="272" cy="272"/>
            </a:xfrm>
            <a:prstGeom prst="roundRect">
              <a:avLst>
                <a:gd name="adj" fmla="val 22083"/>
              </a:avLst>
            </a:prstGeom>
            <a:blipFill dpi="0" rotWithShape="0">
              <a:blip r:embed="rId5"/>
              <a:srcRect/>
              <a:tile tx="0" ty="0" sx="100000" sy="100000" flip="none" algn="tl"/>
            </a:blipFill>
            <a:ln w="2857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C</a:t>
              </a:r>
            </a:p>
          </p:txBody>
        </p:sp>
        <p:sp>
          <p:nvSpPr>
            <p:cNvPr id="21517" name="Line 18">
              <a:extLst>
                <a:ext uri="{FF2B5EF4-FFF2-40B4-BE49-F238E27FC236}">
                  <a16:creationId xmlns:a16="http://schemas.microsoft.com/office/drawing/2014/main" id="{4A19FA20-9DBA-F1C8-2A52-0C65A82F5CBC}"/>
                </a:ext>
              </a:extLst>
            </p:cNvPr>
            <p:cNvSpPr>
              <a:spLocks noChangeShapeType="1"/>
            </p:cNvSpPr>
            <p:nvPr/>
          </p:nvSpPr>
          <p:spPr bwMode="auto">
            <a:xfrm>
              <a:off x="703" y="2701"/>
              <a:ext cx="1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8" name="Line 19">
              <a:extLst>
                <a:ext uri="{FF2B5EF4-FFF2-40B4-BE49-F238E27FC236}">
                  <a16:creationId xmlns:a16="http://schemas.microsoft.com/office/drawing/2014/main" id="{0D0418AC-A50F-66CA-4D82-BEFA2A6C7E1D}"/>
                </a:ext>
              </a:extLst>
            </p:cNvPr>
            <p:cNvSpPr>
              <a:spLocks noChangeShapeType="1"/>
            </p:cNvSpPr>
            <p:nvPr/>
          </p:nvSpPr>
          <p:spPr bwMode="auto">
            <a:xfrm>
              <a:off x="839" y="2701"/>
              <a:ext cx="0" cy="54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9" name="Line 20">
              <a:extLst>
                <a:ext uri="{FF2B5EF4-FFF2-40B4-BE49-F238E27FC236}">
                  <a16:creationId xmlns:a16="http://schemas.microsoft.com/office/drawing/2014/main" id="{BE2A6593-B870-9B32-6329-B8FB91F294C5}"/>
                </a:ext>
              </a:extLst>
            </p:cNvPr>
            <p:cNvSpPr>
              <a:spLocks noChangeShapeType="1"/>
            </p:cNvSpPr>
            <p:nvPr/>
          </p:nvSpPr>
          <p:spPr bwMode="auto">
            <a:xfrm>
              <a:off x="839" y="3246"/>
              <a:ext cx="18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20" name="Line 21">
              <a:extLst>
                <a:ext uri="{FF2B5EF4-FFF2-40B4-BE49-F238E27FC236}">
                  <a16:creationId xmlns:a16="http://schemas.microsoft.com/office/drawing/2014/main" id="{713DB618-D909-937A-30CF-A14DE6E6CB28}"/>
                </a:ext>
              </a:extLst>
            </p:cNvPr>
            <p:cNvSpPr>
              <a:spLocks noChangeShapeType="1"/>
            </p:cNvSpPr>
            <p:nvPr/>
          </p:nvSpPr>
          <p:spPr bwMode="auto">
            <a:xfrm>
              <a:off x="1292" y="3246"/>
              <a:ext cx="9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1" name="Line 22">
              <a:extLst>
                <a:ext uri="{FF2B5EF4-FFF2-40B4-BE49-F238E27FC236}">
                  <a16:creationId xmlns:a16="http://schemas.microsoft.com/office/drawing/2014/main" id="{D0D172B3-DA8F-710E-8D2E-24F01CF88E49}"/>
                </a:ext>
              </a:extLst>
            </p:cNvPr>
            <p:cNvSpPr>
              <a:spLocks noChangeShapeType="1"/>
            </p:cNvSpPr>
            <p:nvPr/>
          </p:nvSpPr>
          <p:spPr bwMode="auto">
            <a:xfrm flipV="1">
              <a:off x="1383" y="2928"/>
              <a:ext cx="0" cy="31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2" name="Line 23">
              <a:extLst>
                <a:ext uri="{FF2B5EF4-FFF2-40B4-BE49-F238E27FC236}">
                  <a16:creationId xmlns:a16="http://schemas.microsoft.com/office/drawing/2014/main" id="{DE6680B0-CC72-921A-E1D4-DB8D701CC529}"/>
                </a:ext>
              </a:extLst>
            </p:cNvPr>
            <p:cNvSpPr>
              <a:spLocks noChangeShapeType="1"/>
            </p:cNvSpPr>
            <p:nvPr/>
          </p:nvSpPr>
          <p:spPr bwMode="auto">
            <a:xfrm>
              <a:off x="1383" y="2928"/>
              <a:ext cx="172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1523" name="Group 29">
              <a:extLst>
                <a:ext uri="{FF2B5EF4-FFF2-40B4-BE49-F238E27FC236}">
                  <a16:creationId xmlns:a16="http://schemas.microsoft.com/office/drawing/2014/main" id="{ACC551E3-5C0F-7113-E6CA-419D96BED543}"/>
                </a:ext>
              </a:extLst>
            </p:cNvPr>
            <p:cNvGrpSpPr>
              <a:grpSpLocks/>
            </p:cNvGrpSpPr>
            <p:nvPr/>
          </p:nvGrpSpPr>
          <p:grpSpPr bwMode="auto">
            <a:xfrm>
              <a:off x="3107" y="2338"/>
              <a:ext cx="408" cy="681"/>
              <a:chOff x="1565" y="1867"/>
              <a:chExt cx="408" cy="681"/>
            </a:xfrm>
          </p:grpSpPr>
          <p:sp>
            <p:nvSpPr>
              <p:cNvPr id="21530" name="AutoShape 30">
                <a:extLst>
                  <a:ext uri="{FF2B5EF4-FFF2-40B4-BE49-F238E27FC236}">
                    <a16:creationId xmlns:a16="http://schemas.microsoft.com/office/drawing/2014/main" id="{BA904652-78F7-473A-6D18-9E04F1ECC494}"/>
                  </a:ext>
                </a:extLst>
              </p:cNvPr>
              <p:cNvSpPr>
                <a:spLocks noChangeArrowheads="1"/>
              </p:cNvSpPr>
              <p:nvPr/>
            </p:nvSpPr>
            <p:spPr bwMode="auto">
              <a:xfrm>
                <a:off x="1565" y="1867"/>
                <a:ext cx="408" cy="681"/>
              </a:xfrm>
              <a:prstGeom prst="bevel">
                <a:avLst>
                  <a:gd name="adj" fmla="val 5394"/>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dirty="0">
                    <a:latin typeface="Verdana" panose="020B0604030504040204" pitchFamily="34" charset="0"/>
                  </a:rPr>
                  <a:t>M</a:t>
                </a:r>
              </a:p>
              <a:p>
                <a:pPr algn="ctr" eaLnBrk="1" hangingPunct="1">
                  <a:spcBef>
                    <a:spcPct val="0"/>
                  </a:spcBef>
                  <a:buClrTx/>
                  <a:buSzTx/>
                  <a:buFontTx/>
                  <a:buNone/>
                </a:pPr>
                <a:endParaRPr lang="en-US" altLang="zh-CN" sz="2000" b="1" dirty="0">
                  <a:latin typeface="Verdana" panose="020B0604030504040204" pitchFamily="34" charset="0"/>
                </a:endParaRPr>
              </a:p>
              <a:p>
                <a:pPr algn="ctr" eaLnBrk="1" hangingPunct="1">
                  <a:spcBef>
                    <a:spcPct val="0"/>
                  </a:spcBef>
                  <a:buClrTx/>
                  <a:buSzTx/>
                  <a:buFontTx/>
                  <a:buNone/>
                </a:pPr>
                <a:r>
                  <a:rPr lang="en-US" altLang="zh-CN" sz="2000" b="1" dirty="0">
                    <a:latin typeface="Verdana" panose="020B0604030504040204" pitchFamily="34" charset="0"/>
                  </a:rPr>
                  <a:t>t</a:t>
                </a:r>
              </a:p>
            </p:txBody>
          </p:sp>
          <p:sp>
            <p:nvSpPr>
              <p:cNvPr id="21531" name="Line 31">
                <a:extLst>
                  <a:ext uri="{FF2B5EF4-FFF2-40B4-BE49-F238E27FC236}">
                    <a16:creationId xmlns:a16="http://schemas.microsoft.com/office/drawing/2014/main" id="{7B76E467-7CA4-6096-D0C4-BE714F48B948}"/>
                  </a:ext>
                </a:extLst>
              </p:cNvPr>
              <p:cNvSpPr>
                <a:spLocks noChangeShapeType="1"/>
              </p:cNvSpPr>
              <p:nvPr/>
            </p:nvSpPr>
            <p:spPr bwMode="auto">
              <a:xfrm>
                <a:off x="1590" y="2275"/>
                <a:ext cx="34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p>
            </p:txBody>
          </p:sp>
        </p:grpSp>
        <p:sp>
          <p:nvSpPr>
            <p:cNvPr id="21524" name="Line 32">
              <a:extLst>
                <a:ext uri="{FF2B5EF4-FFF2-40B4-BE49-F238E27FC236}">
                  <a16:creationId xmlns:a16="http://schemas.microsoft.com/office/drawing/2014/main" id="{AE791608-DE66-5BF5-E2C9-8637FBC9DB0B}"/>
                </a:ext>
              </a:extLst>
            </p:cNvPr>
            <p:cNvSpPr>
              <a:spLocks noChangeShapeType="1"/>
            </p:cNvSpPr>
            <p:nvPr/>
          </p:nvSpPr>
          <p:spPr bwMode="auto">
            <a:xfrm>
              <a:off x="3560" y="2565"/>
              <a:ext cx="12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25" name="AutoShape 33" descr="10%">
              <a:extLst>
                <a:ext uri="{FF2B5EF4-FFF2-40B4-BE49-F238E27FC236}">
                  <a16:creationId xmlns:a16="http://schemas.microsoft.com/office/drawing/2014/main" id="{B939BD4C-D0EF-5982-F346-DDBCF4949D55}"/>
                </a:ext>
              </a:extLst>
            </p:cNvPr>
            <p:cNvSpPr>
              <a:spLocks noChangeArrowheads="1"/>
            </p:cNvSpPr>
            <p:nvPr/>
          </p:nvSpPr>
          <p:spPr bwMode="auto">
            <a:xfrm>
              <a:off x="4795" y="2429"/>
              <a:ext cx="272" cy="272"/>
            </a:xfrm>
            <a:prstGeom prst="roundRect">
              <a:avLst>
                <a:gd name="adj" fmla="val 22083"/>
              </a:avLst>
            </a:prstGeom>
            <a:blipFill dpi="0" rotWithShape="0">
              <a:blip r:embed="rId5"/>
              <a:srcRect/>
              <a:tile tx="0" ty="0" sx="100000" sy="100000" flip="none" algn="tl"/>
            </a:blipFill>
            <a:ln w="2857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C</a:t>
              </a:r>
            </a:p>
          </p:txBody>
        </p:sp>
        <p:sp>
          <p:nvSpPr>
            <p:cNvPr id="21526" name="Line 35">
              <a:extLst>
                <a:ext uri="{FF2B5EF4-FFF2-40B4-BE49-F238E27FC236}">
                  <a16:creationId xmlns:a16="http://schemas.microsoft.com/office/drawing/2014/main" id="{F6266DE0-1344-F43D-373E-A4C2E6DDED6E}"/>
                </a:ext>
              </a:extLst>
            </p:cNvPr>
            <p:cNvSpPr>
              <a:spLocks noChangeShapeType="1"/>
            </p:cNvSpPr>
            <p:nvPr/>
          </p:nvSpPr>
          <p:spPr bwMode="auto">
            <a:xfrm>
              <a:off x="5057" y="2555"/>
              <a:ext cx="2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7" name="Line 36">
              <a:extLst>
                <a:ext uri="{FF2B5EF4-FFF2-40B4-BE49-F238E27FC236}">
                  <a16:creationId xmlns:a16="http://schemas.microsoft.com/office/drawing/2014/main" id="{419ACEFF-51AE-86CB-E994-5510B06BE81B}"/>
                </a:ext>
              </a:extLst>
            </p:cNvPr>
            <p:cNvSpPr>
              <a:spLocks noChangeShapeType="1"/>
            </p:cNvSpPr>
            <p:nvPr/>
          </p:nvSpPr>
          <p:spPr bwMode="auto">
            <a:xfrm>
              <a:off x="5329" y="2565"/>
              <a:ext cx="0" cy="27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28" name="Text Box 38">
              <a:extLst>
                <a:ext uri="{FF2B5EF4-FFF2-40B4-BE49-F238E27FC236}">
                  <a16:creationId xmlns:a16="http://schemas.microsoft.com/office/drawing/2014/main" id="{9A47FCF9-34F1-DDEE-882E-DDC030D66936}"/>
                </a:ext>
              </a:extLst>
            </p:cNvPr>
            <p:cNvSpPr txBox="1">
              <a:spLocks noChangeArrowheads="1"/>
            </p:cNvSpPr>
            <p:nvPr/>
          </p:nvSpPr>
          <p:spPr bwMode="auto">
            <a:xfrm>
              <a:off x="4927" y="2797"/>
              <a:ext cx="54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lang="zh-CN" altLang="en-US" sz="2000" b="1">
                  <a:latin typeface="Verdana" panose="020B0604030504040204" pitchFamily="34" charset="0"/>
                </a:rPr>
                <a:t>比较</a:t>
              </a:r>
            </a:p>
          </p:txBody>
        </p:sp>
        <p:sp>
          <p:nvSpPr>
            <p:cNvPr id="21529" name="Line 41">
              <a:extLst>
                <a:ext uri="{FF2B5EF4-FFF2-40B4-BE49-F238E27FC236}">
                  <a16:creationId xmlns:a16="http://schemas.microsoft.com/office/drawing/2014/main" id="{7E3C2A42-7EB5-F013-81B5-25454EEF33D0}"/>
                </a:ext>
              </a:extLst>
            </p:cNvPr>
            <p:cNvSpPr>
              <a:spLocks noChangeShapeType="1"/>
            </p:cNvSpPr>
            <p:nvPr/>
          </p:nvSpPr>
          <p:spPr bwMode="auto">
            <a:xfrm>
              <a:off x="3515" y="2900"/>
              <a:ext cx="149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Effect transition="in" filter="wipe(left)">
                                      <p:cBhvr>
                                        <p:cTn id="7" dur="500"/>
                                        <p:tgtEl>
                                          <p:spTgt spid="368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36867">
                                            <p:txEl>
                                              <p:pRg st="1" end="1"/>
                                            </p:txEl>
                                          </p:spTgt>
                                        </p:tgtEl>
                                        <p:attrNameLst>
                                          <p:attrName>style.visibility</p:attrName>
                                        </p:attrNameLst>
                                      </p:cBhvr>
                                      <p:to>
                                        <p:strVal val="visible"/>
                                      </p:to>
                                    </p:set>
                                    <p:animEffect transition="in" filter="randombar(horizontal)">
                                      <p:cBhvr>
                                        <p:cTn id="17" dur="500"/>
                                        <p:tgtEl>
                                          <p:spTgt spid="36867">
                                            <p:txEl>
                                              <p:pRg st="1" end="1"/>
                                            </p:txEl>
                                          </p:spTgt>
                                        </p:tgtEl>
                                      </p:cBhvr>
                                    </p:animEffect>
                                  </p:childTnLst>
                                </p:cTn>
                              </p:par>
                            </p:childTnLst>
                          </p:cTn>
                        </p:par>
                        <p:par>
                          <p:cTn id="18" fill="hold" nodeType="afterGroup">
                            <p:stCondLst>
                              <p:cond delay="500"/>
                            </p:stCondLst>
                            <p:childTnLst>
                              <p:par>
                                <p:cTn id="19" presetID="14" presetClass="entr" presetSubtype="10" fill="hold" nodeType="afterEffect">
                                  <p:stCondLst>
                                    <p:cond delay="0"/>
                                  </p:stCondLst>
                                  <p:childTnLst>
                                    <p:set>
                                      <p:cBhvr>
                                        <p:cTn id="20" dur="1" fill="hold">
                                          <p:stCondLst>
                                            <p:cond delay="0"/>
                                          </p:stCondLst>
                                        </p:cTn>
                                        <p:tgtEl>
                                          <p:spTgt spid="36867">
                                            <p:txEl>
                                              <p:pRg st="2" end="2"/>
                                            </p:txEl>
                                          </p:spTgt>
                                        </p:tgtEl>
                                        <p:attrNameLst>
                                          <p:attrName>style.visibility</p:attrName>
                                        </p:attrNameLst>
                                      </p:cBhvr>
                                      <p:to>
                                        <p:strVal val="visible"/>
                                      </p:to>
                                    </p:set>
                                    <p:animEffect transition="in" filter="randombar(horizontal)">
                                      <p:cBhvr>
                                        <p:cTn id="21" dur="500"/>
                                        <p:tgtEl>
                                          <p:spTgt spid="368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 name="Rectangle 6">
            <a:extLst>
              <a:ext uri="{FF2B5EF4-FFF2-40B4-BE49-F238E27FC236}">
                <a16:creationId xmlns:a16="http://schemas.microsoft.com/office/drawing/2014/main" id="{FDEEC6BC-0A3D-8EE1-2212-39A8FF54A054}"/>
              </a:ext>
            </a:extLst>
          </p:cNvPr>
          <p:cNvSpPr>
            <a:spLocks noGrp="1" noChangeArrowheads="1"/>
          </p:cNvSpPr>
          <p:nvPr>
            <p:ph type="sldNum" sz="quarter" idx="11"/>
          </p:nvPr>
        </p:nvSpPr>
        <p:spPr>
          <a:xfrm>
            <a:off x="7967663" y="6434138"/>
            <a:ext cx="1054100" cy="457200"/>
          </a:xfrm>
          <a:ln>
            <a:miter lim="800000"/>
            <a:headEnd/>
            <a:tailEnd/>
          </a:ln>
        </p:spPr>
        <p:txBody>
          <a:bodyPr anchor="t"/>
          <a:lstStyle>
            <a:defPPr>
              <a:defRPr lang="zh-CN"/>
            </a:defPPr>
            <a:lvl1pPr algn="r" rtl="0" fontAlgn="base">
              <a:spcBef>
                <a:spcPct val="0"/>
              </a:spcBef>
              <a:spcAft>
                <a:spcPct val="0"/>
              </a:spcAft>
              <a:defRPr kumimoji="1" sz="1600" b="1" kern="1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defRPr/>
            </a:pPr>
            <a:fld id="{B673FFA4-CA1F-4431-B3C4-87FC70B9CF49}" type="slidenum">
              <a:rPr lang="en-US" altLang="zh-CN" b="0" smtClean="0">
                <a:solidFill>
                  <a:schemeClr val="tx1"/>
                </a:solidFill>
              </a:rPr>
              <a:pPr>
                <a:defRPr/>
              </a:pPr>
              <a:t>5</a:t>
            </a:fld>
            <a:endParaRPr lang="en-US" altLang="zh-CN" b="0" dirty="0">
              <a:solidFill>
                <a:schemeClr val="tx1"/>
              </a:solidFill>
            </a:endParaRPr>
          </a:p>
        </p:txBody>
      </p:sp>
      <p:sp>
        <p:nvSpPr>
          <p:cNvPr id="37890" name="Rectangle 2">
            <a:extLst>
              <a:ext uri="{FF2B5EF4-FFF2-40B4-BE49-F238E27FC236}">
                <a16:creationId xmlns:a16="http://schemas.microsoft.com/office/drawing/2014/main" id="{B4C7A8C8-355D-DB65-0BE4-570010C7E53D}"/>
              </a:ext>
            </a:extLst>
          </p:cNvPr>
          <p:cNvSpPr>
            <a:spLocks noGrp="1" noChangeArrowheads="1"/>
          </p:cNvSpPr>
          <p:nvPr>
            <p:ph type="title" idx="4294967295"/>
          </p:nvPr>
        </p:nvSpPr>
        <p:spPr/>
        <p:txBody>
          <a:bodyPr/>
          <a:lstStyle/>
          <a:p>
            <a:pPr eaLnBrk="1" hangingPunct="1">
              <a:defRPr/>
            </a:pPr>
            <a:r>
              <a:rPr lang="zh-CN" altLang="en-US">
                <a:solidFill>
                  <a:srgbClr val="FF0000"/>
                </a:solidFill>
                <a:effectLst>
                  <a:outerShdw blurRad="38100" dist="38100" dir="2700000" algn="tl">
                    <a:srgbClr val="C0C0C0"/>
                  </a:outerShdw>
                </a:effectLst>
              </a:rPr>
              <a:t>消息认证码</a:t>
            </a:r>
          </a:p>
        </p:txBody>
      </p:sp>
      <p:sp>
        <p:nvSpPr>
          <p:cNvPr id="37891" name="Rectangle 3">
            <a:extLst>
              <a:ext uri="{FF2B5EF4-FFF2-40B4-BE49-F238E27FC236}">
                <a16:creationId xmlns:a16="http://schemas.microsoft.com/office/drawing/2014/main" id="{0250BE90-EEB1-D032-60EA-08767B29541B}"/>
              </a:ext>
            </a:extLst>
          </p:cNvPr>
          <p:cNvSpPr>
            <a:spLocks noGrp="1" noChangeArrowheads="1"/>
          </p:cNvSpPr>
          <p:nvPr>
            <p:ph type="body" idx="4294967295"/>
          </p:nvPr>
        </p:nvSpPr>
        <p:spPr/>
        <p:txBody>
          <a:bodyPr/>
          <a:lstStyle/>
          <a:p>
            <a:pPr marL="0" indent="542925" eaLnBrk="1" hangingPunct="1">
              <a:defRPr/>
            </a:pPr>
            <a:r>
              <a:rPr lang="zh-CN" altLang="en-US">
                <a:effectLst>
                  <a:outerShdw blurRad="38100" dist="38100" dir="2700000" algn="tl">
                    <a:srgbClr val="C0C0C0"/>
                  </a:outerShdw>
                </a:effectLst>
                <a:latin typeface="宋体" panose="02010600030101010101" pitchFamily="2" charset="-122"/>
              </a:rPr>
              <a:t>消息认证和保密：与明文有关的认证</a:t>
            </a:r>
          </a:p>
        </p:txBody>
      </p:sp>
      <p:grpSp>
        <p:nvGrpSpPr>
          <p:cNvPr id="2" name="Group 52">
            <a:extLst>
              <a:ext uri="{FF2B5EF4-FFF2-40B4-BE49-F238E27FC236}">
                <a16:creationId xmlns:a16="http://schemas.microsoft.com/office/drawing/2014/main" id="{1987540E-C02E-D2D2-73C2-CF76EED0981E}"/>
              </a:ext>
            </a:extLst>
          </p:cNvPr>
          <p:cNvGrpSpPr>
            <a:grpSpLocks/>
          </p:cNvGrpSpPr>
          <p:nvPr/>
        </p:nvGrpSpPr>
        <p:grpSpPr bwMode="auto">
          <a:xfrm>
            <a:off x="533400" y="2781300"/>
            <a:ext cx="8075613" cy="3962400"/>
            <a:chOff x="330" y="1343"/>
            <a:chExt cx="5087" cy="2496"/>
          </a:xfrm>
        </p:grpSpPr>
        <p:sp>
          <p:nvSpPr>
            <p:cNvPr id="23558" name="AutoShape 4" descr="浅色横线">
              <a:extLst>
                <a:ext uri="{FF2B5EF4-FFF2-40B4-BE49-F238E27FC236}">
                  <a16:creationId xmlns:a16="http://schemas.microsoft.com/office/drawing/2014/main" id="{3423073E-47C8-C887-B26E-6E0F8AE6351D}"/>
                </a:ext>
              </a:extLst>
            </p:cNvPr>
            <p:cNvSpPr>
              <a:spLocks noChangeArrowheads="1"/>
            </p:cNvSpPr>
            <p:nvPr/>
          </p:nvSpPr>
          <p:spPr bwMode="auto">
            <a:xfrm>
              <a:off x="330" y="2165"/>
              <a:ext cx="317" cy="499"/>
            </a:xfrm>
            <a:prstGeom prst="foldedCorner">
              <a:avLst>
                <a:gd name="adj" fmla="val 39648"/>
              </a:avLst>
            </a:prstGeom>
            <a:blipFill dpi="0" rotWithShape="0">
              <a:blip r:embed="rId3"/>
              <a:srcRect/>
              <a:tile tx="0" ty="0" sx="100000" sy="100000" flip="none" algn="tl"/>
            </a:blipFill>
            <a:ln w="952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M</a:t>
              </a:r>
            </a:p>
          </p:txBody>
        </p:sp>
        <p:sp>
          <p:nvSpPr>
            <p:cNvPr id="23559" name="Line 5">
              <a:extLst>
                <a:ext uri="{FF2B5EF4-FFF2-40B4-BE49-F238E27FC236}">
                  <a16:creationId xmlns:a16="http://schemas.microsoft.com/office/drawing/2014/main" id="{D51043EF-04BD-C319-B818-B2C6A158A119}"/>
                </a:ext>
              </a:extLst>
            </p:cNvPr>
            <p:cNvSpPr>
              <a:spLocks noChangeShapeType="1"/>
            </p:cNvSpPr>
            <p:nvPr/>
          </p:nvSpPr>
          <p:spPr bwMode="auto">
            <a:xfrm>
              <a:off x="653" y="2275"/>
              <a:ext cx="85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23560" name="Picture 6" descr="MCj04315990000[1]">
              <a:extLst>
                <a:ext uri="{FF2B5EF4-FFF2-40B4-BE49-F238E27FC236}">
                  <a16:creationId xmlns:a16="http://schemas.microsoft.com/office/drawing/2014/main" id="{38E1922C-2D58-6F12-6820-DDB430B87C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5" y="2023"/>
              <a:ext cx="483"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1" name="Picture 7" descr="MCj02327690000[1]">
              <a:extLst>
                <a:ext uri="{FF2B5EF4-FFF2-40B4-BE49-F238E27FC236}">
                  <a16:creationId xmlns:a16="http://schemas.microsoft.com/office/drawing/2014/main" id="{21C9121E-F126-EBC1-E80B-F73574B165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8" y="2882"/>
              <a:ext cx="15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2" name="Line 8">
              <a:extLst>
                <a:ext uri="{FF2B5EF4-FFF2-40B4-BE49-F238E27FC236}">
                  <a16:creationId xmlns:a16="http://schemas.microsoft.com/office/drawing/2014/main" id="{6AFCC4C5-E0F9-491C-FCCE-D51ADA65558E}"/>
                </a:ext>
              </a:extLst>
            </p:cNvPr>
            <p:cNvSpPr>
              <a:spLocks noChangeShapeType="1"/>
            </p:cNvSpPr>
            <p:nvPr/>
          </p:nvSpPr>
          <p:spPr bwMode="auto">
            <a:xfrm flipV="1">
              <a:off x="2326" y="2474"/>
              <a:ext cx="0" cy="3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63" name="Line 9">
              <a:extLst>
                <a:ext uri="{FF2B5EF4-FFF2-40B4-BE49-F238E27FC236}">
                  <a16:creationId xmlns:a16="http://schemas.microsoft.com/office/drawing/2014/main" id="{A038FB27-022E-4111-5570-4CD9211001C2}"/>
                </a:ext>
              </a:extLst>
            </p:cNvPr>
            <p:cNvSpPr>
              <a:spLocks noChangeShapeType="1"/>
            </p:cNvSpPr>
            <p:nvPr/>
          </p:nvSpPr>
          <p:spPr bwMode="auto">
            <a:xfrm>
              <a:off x="2507" y="2275"/>
              <a:ext cx="31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64" name="AutoShape 10" descr="之字形">
              <a:extLst>
                <a:ext uri="{FF2B5EF4-FFF2-40B4-BE49-F238E27FC236}">
                  <a16:creationId xmlns:a16="http://schemas.microsoft.com/office/drawing/2014/main" id="{A75D67C9-6CC5-5C02-A337-13005160DC59}"/>
                </a:ext>
              </a:extLst>
            </p:cNvPr>
            <p:cNvSpPr>
              <a:spLocks noChangeArrowheads="1"/>
            </p:cNvSpPr>
            <p:nvPr/>
          </p:nvSpPr>
          <p:spPr bwMode="auto">
            <a:xfrm>
              <a:off x="2835" y="2024"/>
              <a:ext cx="318" cy="740"/>
            </a:xfrm>
            <a:prstGeom prst="foldedCorner">
              <a:avLst>
                <a:gd name="adj" fmla="val 30819"/>
              </a:avLst>
            </a:prstGeom>
            <a:blipFill dpi="0" rotWithShape="0">
              <a:blip r:embed="rId6"/>
              <a:srcRect/>
              <a:tile tx="0" ty="0" sx="100000" sy="100000" flip="none" algn="tl"/>
            </a:blipFill>
            <a:ln w="952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C</a:t>
              </a:r>
            </a:p>
          </p:txBody>
        </p:sp>
        <p:sp>
          <p:nvSpPr>
            <p:cNvPr id="23565" name="Line 11">
              <a:extLst>
                <a:ext uri="{FF2B5EF4-FFF2-40B4-BE49-F238E27FC236}">
                  <a16:creationId xmlns:a16="http://schemas.microsoft.com/office/drawing/2014/main" id="{6C2F13FC-DCB3-7FAC-0E4B-1FF26CE3E0B4}"/>
                </a:ext>
              </a:extLst>
            </p:cNvPr>
            <p:cNvSpPr>
              <a:spLocks noChangeShapeType="1"/>
            </p:cNvSpPr>
            <p:nvPr/>
          </p:nvSpPr>
          <p:spPr bwMode="auto">
            <a:xfrm>
              <a:off x="3173" y="2275"/>
              <a:ext cx="29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23566" name="Picture 12" descr="MCj04315980000[1]">
              <a:extLst>
                <a:ext uri="{FF2B5EF4-FFF2-40B4-BE49-F238E27FC236}">
                  <a16:creationId xmlns:a16="http://schemas.microsoft.com/office/drawing/2014/main" id="{1D0485B1-1CEC-CAAC-4E87-329985E7111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0" y="2038"/>
              <a:ext cx="453"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7" name="Picture 13" descr="MCj02327690000[1]">
              <a:extLst>
                <a:ext uri="{FF2B5EF4-FFF2-40B4-BE49-F238E27FC236}">
                  <a16:creationId xmlns:a16="http://schemas.microsoft.com/office/drawing/2014/main" id="{3AC9097F-489E-168A-BABC-117B1A0DE9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7" y="2882"/>
              <a:ext cx="15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8" name="Line 14">
              <a:extLst>
                <a:ext uri="{FF2B5EF4-FFF2-40B4-BE49-F238E27FC236}">
                  <a16:creationId xmlns:a16="http://schemas.microsoft.com/office/drawing/2014/main" id="{0705035C-5D42-BFFE-6B06-8C24AC60F240}"/>
                </a:ext>
              </a:extLst>
            </p:cNvPr>
            <p:cNvSpPr>
              <a:spLocks noChangeShapeType="1"/>
            </p:cNvSpPr>
            <p:nvPr/>
          </p:nvSpPr>
          <p:spPr bwMode="auto">
            <a:xfrm flipV="1">
              <a:off x="3646" y="2474"/>
              <a:ext cx="0" cy="3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69" name="AutoShape 17" descr="10%">
              <a:extLst>
                <a:ext uri="{FF2B5EF4-FFF2-40B4-BE49-F238E27FC236}">
                  <a16:creationId xmlns:a16="http://schemas.microsoft.com/office/drawing/2014/main" id="{BB6606CD-EC79-8CE9-89ED-E501E4955FF8}"/>
                </a:ext>
              </a:extLst>
            </p:cNvPr>
            <p:cNvSpPr>
              <a:spLocks noChangeArrowheads="1"/>
            </p:cNvSpPr>
            <p:nvPr/>
          </p:nvSpPr>
          <p:spPr bwMode="auto">
            <a:xfrm>
              <a:off x="965" y="2820"/>
              <a:ext cx="272" cy="272"/>
            </a:xfrm>
            <a:prstGeom prst="roundRect">
              <a:avLst>
                <a:gd name="adj" fmla="val 22083"/>
              </a:avLst>
            </a:prstGeom>
            <a:blipFill dpi="0" rotWithShape="0">
              <a:blip r:embed="rId8"/>
              <a:srcRect/>
              <a:tile tx="0" ty="0" sx="100000" sy="100000" flip="none" algn="tl"/>
            </a:blipFill>
            <a:ln w="2857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C</a:t>
              </a:r>
            </a:p>
          </p:txBody>
        </p:sp>
        <p:sp>
          <p:nvSpPr>
            <p:cNvPr id="23570" name="Line 18">
              <a:extLst>
                <a:ext uri="{FF2B5EF4-FFF2-40B4-BE49-F238E27FC236}">
                  <a16:creationId xmlns:a16="http://schemas.microsoft.com/office/drawing/2014/main" id="{CDA6E607-FA73-EEB4-40FA-DF4B55E60D98}"/>
                </a:ext>
              </a:extLst>
            </p:cNvPr>
            <p:cNvSpPr>
              <a:spLocks noChangeShapeType="1"/>
            </p:cNvSpPr>
            <p:nvPr/>
          </p:nvSpPr>
          <p:spPr bwMode="auto">
            <a:xfrm>
              <a:off x="648" y="2411"/>
              <a:ext cx="1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1" name="Line 19">
              <a:extLst>
                <a:ext uri="{FF2B5EF4-FFF2-40B4-BE49-F238E27FC236}">
                  <a16:creationId xmlns:a16="http://schemas.microsoft.com/office/drawing/2014/main" id="{CC805391-A73D-E4C9-2B94-518B4B7EAEAA}"/>
                </a:ext>
              </a:extLst>
            </p:cNvPr>
            <p:cNvSpPr>
              <a:spLocks noChangeShapeType="1"/>
            </p:cNvSpPr>
            <p:nvPr/>
          </p:nvSpPr>
          <p:spPr bwMode="auto">
            <a:xfrm>
              <a:off x="784" y="2411"/>
              <a:ext cx="0" cy="54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2" name="Line 20">
              <a:extLst>
                <a:ext uri="{FF2B5EF4-FFF2-40B4-BE49-F238E27FC236}">
                  <a16:creationId xmlns:a16="http://schemas.microsoft.com/office/drawing/2014/main" id="{D32A576A-9AD3-4CAC-96C6-A6BE62CC6CEB}"/>
                </a:ext>
              </a:extLst>
            </p:cNvPr>
            <p:cNvSpPr>
              <a:spLocks noChangeShapeType="1"/>
            </p:cNvSpPr>
            <p:nvPr/>
          </p:nvSpPr>
          <p:spPr bwMode="auto">
            <a:xfrm>
              <a:off x="784" y="2956"/>
              <a:ext cx="18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73" name="Line 21">
              <a:extLst>
                <a:ext uri="{FF2B5EF4-FFF2-40B4-BE49-F238E27FC236}">
                  <a16:creationId xmlns:a16="http://schemas.microsoft.com/office/drawing/2014/main" id="{C8C821DA-3F70-198F-B88A-FC2741BA9673}"/>
                </a:ext>
              </a:extLst>
            </p:cNvPr>
            <p:cNvSpPr>
              <a:spLocks noChangeShapeType="1"/>
            </p:cNvSpPr>
            <p:nvPr/>
          </p:nvSpPr>
          <p:spPr bwMode="auto">
            <a:xfrm>
              <a:off x="1237" y="2956"/>
              <a:ext cx="9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4" name="Line 22">
              <a:extLst>
                <a:ext uri="{FF2B5EF4-FFF2-40B4-BE49-F238E27FC236}">
                  <a16:creationId xmlns:a16="http://schemas.microsoft.com/office/drawing/2014/main" id="{FC3FFFF7-BABD-0B33-2538-953F7F343C47}"/>
                </a:ext>
              </a:extLst>
            </p:cNvPr>
            <p:cNvSpPr>
              <a:spLocks noChangeShapeType="1"/>
            </p:cNvSpPr>
            <p:nvPr/>
          </p:nvSpPr>
          <p:spPr bwMode="auto">
            <a:xfrm flipV="1">
              <a:off x="1328" y="2638"/>
              <a:ext cx="0" cy="31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5" name="Line 23">
              <a:extLst>
                <a:ext uri="{FF2B5EF4-FFF2-40B4-BE49-F238E27FC236}">
                  <a16:creationId xmlns:a16="http://schemas.microsoft.com/office/drawing/2014/main" id="{092C5D54-AE88-36BB-ADFA-0EFF0993B70F}"/>
                </a:ext>
              </a:extLst>
            </p:cNvPr>
            <p:cNvSpPr>
              <a:spLocks noChangeShapeType="1"/>
            </p:cNvSpPr>
            <p:nvPr/>
          </p:nvSpPr>
          <p:spPr bwMode="auto">
            <a:xfrm>
              <a:off x="1328" y="2638"/>
              <a:ext cx="1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3576" name="Group 24">
              <a:extLst>
                <a:ext uri="{FF2B5EF4-FFF2-40B4-BE49-F238E27FC236}">
                  <a16:creationId xmlns:a16="http://schemas.microsoft.com/office/drawing/2014/main" id="{D16A4D10-46F8-265B-E6AB-396A3F0BBA7E}"/>
                </a:ext>
              </a:extLst>
            </p:cNvPr>
            <p:cNvGrpSpPr>
              <a:grpSpLocks/>
            </p:cNvGrpSpPr>
            <p:nvPr/>
          </p:nvGrpSpPr>
          <p:grpSpPr bwMode="auto">
            <a:xfrm>
              <a:off x="1510" y="2073"/>
              <a:ext cx="408" cy="681"/>
              <a:chOff x="1565" y="1867"/>
              <a:chExt cx="408" cy="681"/>
            </a:xfrm>
          </p:grpSpPr>
          <p:sp>
            <p:nvSpPr>
              <p:cNvPr id="23597" name="AutoShape 25">
                <a:extLst>
                  <a:ext uri="{FF2B5EF4-FFF2-40B4-BE49-F238E27FC236}">
                    <a16:creationId xmlns:a16="http://schemas.microsoft.com/office/drawing/2014/main" id="{B4D526AB-9852-28EB-2956-2FD99046CC1F}"/>
                  </a:ext>
                </a:extLst>
              </p:cNvPr>
              <p:cNvSpPr>
                <a:spLocks noChangeArrowheads="1"/>
              </p:cNvSpPr>
              <p:nvPr/>
            </p:nvSpPr>
            <p:spPr bwMode="auto">
              <a:xfrm>
                <a:off x="1565" y="1867"/>
                <a:ext cx="408" cy="681"/>
              </a:xfrm>
              <a:prstGeom prst="bevel">
                <a:avLst>
                  <a:gd name="adj" fmla="val 5394"/>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dirty="0">
                    <a:latin typeface="Verdana" panose="020B0604030504040204" pitchFamily="34" charset="0"/>
                  </a:rPr>
                  <a:t>M</a:t>
                </a:r>
              </a:p>
              <a:p>
                <a:pPr algn="ctr" eaLnBrk="1" hangingPunct="1">
                  <a:spcBef>
                    <a:spcPct val="0"/>
                  </a:spcBef>
                  <a:buClrTx/>
                  <a:buSzTx/>
                  <a:buFontTx/>
                  <a:buNone/>
                </a:pPr>
                <a:endParaRPr lang="en-US" altLang="zh-CN" sz="2000" b="1" dirty="0">
                  <a:latin typeface="Verdana" panose="020B0604030504040204" pitchFamily="34" charset="0"/>
                </a:endParaRPr>
              </a:p>
              <a:p>
                <a:pPr algn="ctr" eaLnBrk="1" hangingPunct="1">
                  <a:spcBef>
                    <a:spcPct val="0"/>
                  </a:spcBef>
                  <a:buClrTx/>
                  <a:buSzTx/>
                  <a:buFontTx/>
                  <a:buNone/>
                </a:pPr>
                <a:r>
                  <a:rPr lang="en-US" altLang="zh-CN" sz="2000" b="1" dirty="0">
                    <a:latin typeface="Verdana" panose="020B0604030504040204" pitchFamily="34" charset="0"/>
                  </a:rPr>
                  <a:t>t</a:t>
                </a:r>
              </a:p>
            </p:txBody>
          </p:sp>
          <p:sp>
            <p:nvSpPr>
              <p:cNvPr id="23598" name="Line 26">
                <a:extLst>
                  <a:ext uri="{FF2B5EF4-FFF2-40B4-BE49-F238E27FC236}">
                    <a16:creationId xmlns:a16="http://schemas.microsoft.com/office/drawing/2014/main" id="{2517088F-60E2-3F67-DF57-4A1CE735B8F4}"/>
                  </a:ext>
                </a:extLst>
              </p:cNvPr>
              <p:cNvSpPr>
                <a:spLocks noChangeShapeType="1"/>
              </p:cNvSpPr>
              <p:nvPr/>
            </p:nvSpPr>
            <p:spPr bwMode="auto">
              <a:xfrm>
                <a:off x="1590" y="2275"/>
                <a:ext cx="34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3577" name="Line 27">
              <a:extLst>
                <a:ext uri="{FF2B5EF4-FFF2-40B4-BE49-F238E27FC236}">
                  <a16:creationId xmlns:a16="http://schemas.microsoft.com/office/drawing/2014/main" id="{0F2EF778-031F-B5E7-36EB-AB6D7EE025EA}"/>
                </a:ext>
              </a:extLst>
            </p:cNvPr>
            <p:cNvSpPr>
              <a:spLocks noChangeShapeType="1"/>
            </p:cNvSpPr>
            <p:nvPr/>
          </p:nvSpPr>
          <p:spPr bwMode="auto">
            <a:xfrm>
              <a:off x="1918" y="2275"/>
              <a:ext cx="22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78" name="Line 28">
              <a:extLst>
                <a:ext uri="{FF2B5EF4-FFF2-40B4-BE49-F238E27FC236}">
                  <a16:creationId xmlns:a16="http://schemas.microsoft.com/office/drawing/2014/main" id="{F2AE2789-5C81-4B48-D646-F621418D91E9}"/>
                </a:ext>
              </a:extLst>
            </p:cNvPr>
            <p:cNvSpPr>
              <a:spLocks noChangeShapeType="1"/>
            </p:cNvSpPr>
            <p:nvPr/>
          </p:nvSpPr>
          <p:spPr bwMode="auto">
            <a:xfrm>
              <a:off x="3823" y="2275"/>
              <a:ext cx="22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3579" name="Group 29">
              <a:extLst>
                <a:ext uri="{FF2B5EF4-FFF2-40B4-BE49-F238E27FC236}">
                  <a16:creationId xmlns:a16="http://schemas.microsoft.com/office/drawing/2014/main" id="{3C1DE425-E7B2-28C5-A49D-4AB5BC2DF450}"/>
                </a:ext>
              </a:extLst>
            </p:cNvPr>
            <p:cNvGrpSpPr>
              <a:grpSpLocks/>
            </p:cNvGrpSpPr>
            <p:nvPr/>
          </p:nvGrpSpPr>
          <p:grpSpPr bwMode="auto">
            <a:xfrm>
              <a:off x="4050" y="2048"/>
              <a:ext cx="408" cy="681"/>
              <a:chOff x="1565" y="1867"/>
              <a:chExt cx="408" cy="681"/>
            </a:xfrm>
          </p:grpSpPr>
          <p:sp>
            <p:nvSpPr>
              <p:cNvPr id="23595" name="AutoShape 30">
                <a:extLst>
                  <a:ext uri="{FF2B5EF4-FFF2-40B4-BE49-F238E27FC236}">
                    <a16:creationId xmlns:a16="http://schemas.microsoft.com/office/drawing/2014/main" id="{FE40B963-E96D-3DB0-F6F7-321100C4282C}"/>
                  </a:ext>
                </a:extLst>
              </p:cNvPr>
              <p:cNvSpPr>
                <a:spLocks noChangeArrowheads="1"/>
              </p:cNvSpPr>
              <p:nvPr/>
            </p:nvSpPr>
            <p:spPr bwMode="auto">
              <a:xfrm>
                <a:off x="1565" y="1867"/>
                <a:ext cx="408" cy="681"/>
              </a:xfrm>
              <a:prstGeom prst="bevel">
                <a:avLst>
                  <a:gd name="adj" fmla="val 5394"/>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dirty="0">
                    <a:latin typeface="Verdana" panose="020B0604030504040204" pitchFamily="34" charset="0"/>
                  </a:rPr>
                  <a:t>M</a:t>
                </a:r>
              </a:p>
              <a:p>
                <a:pPr algn="ctr" eaLnBrk="1" hangingPunct="1">
                  <a:spcBef>
                    <a:spcPct val="0"/>
                  </a:spcBef>
                  <a:buClrTx/>
                  <a:buSzTx/>
                  <a:buFontTx/>
                  <a:buNone/>
                </a:pPr>
                <a:endParaRPr lang="en-US" altLang="zh-CN" sz="2000" b="1" dirty="0">
                  <a:latin typeface="Verdana" panose="020B0604030504040204" pitchFamily="34" charset="0"/>
                </a:endParaRPr>
              </a:p>
              <a:p>
                <a:pPr algn="ctr" eaLnBrk="1" hangingPunct="1">
                  <a:spcBef>
                    <a:spcPct val="0"/>
                  </a:spcBef>
                  <a:buClrTx/>
                  <a:buSzTx/>
                  <a:buFontTx/>
                  <a:buNone/>
                </a:pPr>
                <a:r>
                  <a:rPr lang="en-US" altLang="zh-CN" sz="2000" b="1" dirty="0">
                    <a:latin typeface="Verdana" panose="020B0604030504040204" pitchFamily="34" charset="0"/>
                  </a:rPr>
                  <a:t>t</a:t>
                </a:r>
              </a:p>
            </p:txBody>
          </p:sp>
          <p:sp>
            <p:nvSpPr>
              <p:cNvPr id="23596" name="Line 31">
                <a:extLst>
                  <a:ext uri="{FF2B5EF4-FFF2-40B4-BE49-F238E27FC236}">
                    <a16:creationId xmlns:a16="http://schemas.microsoft.com/office/drawing/2014/main" id="{509ABD56-0A78-1BD8-0154-34E3D80112AB}"/>
                  </a:ext>
                </a:extLst>
              </p:cNvPr>
              <p:cNvSpPr>
                <a:spLocks noChangeShapeType="1"/>
              </p:cNvSpPr>
              <p:nvPr/>
            </p:nvSpPr>
            <p:spPr bwMode="auto">
              <a:xfrm>
                <a:off x="1590" y="2275"/>
                <a:ext cx="34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3580" name="Line 32">
              <a:extLst>
                <a:ext uri="{FF2B5EF4-FFF2-40B4-BE49-F238E27FC236}">
                  <a16:creationId xmlns:a16="http://schemas.microsoft.com/office/drawing/2014/main" id="{B74823E3-868B-CE5A-7DD8-33180E579512}"/>
                </a:ext>
              </a:extLst>
            </p:cNvPr>
            <p:cNvSpPr>
              <a:spLocks noChangeShapeType="1"/>
            </p:cNvSpPr>
            <p:nvPr/>
          </p:nvSpPr>
          <p:spPr bwMode="auto">
            <a:xfrm>
              <a:off x="4458" y="2275"/>
              <a:ext cx="27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81" name="AutoShape 33" descr="10%">
              <a:extLst>
                <a:ext uri="{FF2B5EF4-FFF2-40B4-BE49-F238E27FC236}">
                  <a16:creationId xmlns:a16="http://schemas.microsoft.com/office/drawing/2014/main" id="{51C19B10-FEB6-DF94-EAA2-A292BBABE056}"/>
                </a:ext>
              </a:extLst>
            </p:cNvPr>
            <p:cNvSpPr>
              <a:spLocks noChangeArrowheads="1"/>
            </p:cNvSpPr>
            <p:nvPr/>
          </p:nvSpPr>
          <p:spPr bwMode="auto">
            <a:xfrm>
              <a:off x="4740" y="2139"/>
              <a:ext cx="272" cy="272"/>
            </a:xfrm>
            <a:prstGeom prst="roundRect">
              <a:avLst>
                <a:gd name="adj" fmla="val 22083"/>
              </a:avLst>
            </a:prstGeom>
            <a:blipFill dpi="0" rotWithShape="0">
              <a:blip r:embed="rId8"/>
              <a:srcRect/>
              <a:tile tx="0" ty="0" sx="100000" sy="100000" flip="none" algn="tl"/>
            </a:blipFill>
            <a:ln w="2857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C</a:t>
              </a:r>
            </a:p>
          </p:txBody>
        </p:sp>
        <p:sp>
          <p:nvSpPr>
            <p:cNvPr id="23582" name="Line 35">
              <a:extLst>
                <a:ext uri="{FF2B5EF4-FFF2-40B4-BE49-F238E27FC236}">
                  <a16:creationId xmlns:a16="http://schemas.microsoft.com/office/drawing/2014/main" id="{062F2838-A557-AD4C-E1DC-C6B466E9D0F2}"/>
                </a:ext>
              </a:extLst>
            </p:cNvPr>
            <p:cNvSpPr>
              <a:spLocks noChangeShapeType="1"/>
            </p:cNvSpPr>
            <p:nvPr/>
          </p:nvSpPr>
          <p:spPr bwMode="auto">
            <a:xfrm>
              <a:off x="5002" y="2265"/>
              <a:ext cx="2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3" name="Line 36">
              <a:extLst>
                <a:ext uri="{FF2B5EF4-FFF2-40B4-BE49-F238E27FC236}">
                  <a16:creationId xmlns:a16="http://schemas.microsoft.com/office/drawing/2014/main" id="{97B57714-637A-79F1-BCF5-CBAD06D4CEDF}"/>
                </a:ext>
              </a:extLst>
            </p:cNvPr>
            <p:cNvSpPr>
              <a:spLocks noChangeShapeType="1"/>
            </p:cNvSpPr>
            <p:nvPr/>
          </p:nvSpPr>
          <p:spPr bwMode="auto">
            <a:xfrm>
              <a:off x="5274" y="2275"/>
              <a:ext cx="0" cy="27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84" name="Line 37">
              <a:extLst>
                <a:ext uri="{FF2B5EF4-FFF2-40B4-BE49-F238E27FC236}">
                  <a16:creationId xmlns:a16="http://schemas.microsoft.com/office/drawing/2014/main" id="{25290621-BA2E-DB48-0A50-A33B6CCB6F8F}"/>
                </a:ext>
              </a:extLst>
            </p:cNvPr>
            <p:cNvSpPr>
              <a:spLocks noChangeShapeType="1"/>
            </p:cNvSpPr>
            <p:nvPr/>
          </p:nvSpPr>
          <p:spPr bwMode="auto">
            <a:xfrm>
              <a:off x="4453" y="2593"/>
              <a:ext cx="499"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85" name="Text Box 38">
              <a:extLst>
                <a:ext uri="{FF2B5EF4-FFF2-40B4-BE49-F238E27FC236}">
                  <a16:creationId xmlns:a16="http://schemas.microsoft.com/office/drawing/2014/main" id="{CD06D743-4328-DCD9-D463-D8F130139063}"/>
                </a:ext>
              </a:extLst>
            </p:cNvPr>
            <p:cNvSpPr txBox="1">
              <a:spLocks noChangeArrowheads="1"/>
            </p:cNvSpPr>
            <p:nvPr/>
          </p:nvSpPr>
          <p:spPr bwMode="auto">
            <a:xfrm>
              <a:off x="4872" y="2507"/>
              <a:ext cx="54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lang="zh-CN" altLang="en-US" sz="2000" b="1">
                  <a:latin typeface="Verdana" panose="020B0604030504040204" pitchFamily="34" charset="0"/>
                </a:rPr>
                <a:t>比较</a:t>
              </a:r>
            </a:p>
          </p:txBody>
        </p:sp>
        <p:pic>
          <p:nvPicPr>
            <p:cNvPr id="23586" name="Picture 40" descr="MCj02327690000[1]">
              <a:extLst>
                <a:ext uri="{FF2B5EF4-FFF2-40B4-BE49-F238E27FC236}">
                  <a16:creationId xmlns:a16="http://schemas.microsoft.com/office/drawing/2014/main" id="{E2240DB7-9BC1-24AA-895E-636CD43A810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6" y="3521"/>
              <a:ext cx="15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87" name="Line 41">
              <a:extLst>
                <a:ext uri="{FF2B5EF4-FFF2-40B4-BE49-F238E27FC236}">
                  <a16:creationId xmlns:a16="http://schemas.microsoft.com/office/drawing/2014/main" id="{0819BF43-CCFF-BB6A-3E09-59B54D28ED63}"/>
                </a:ext>
              </a:extLst>
            </p:cNvPr>
            <p:cNvSpPr>
              <a:spLocks noChangeShapeType="1"/>
            </p:cNvSpPr>
            <p:nvPr/>
          </p:nvSpPr>
          <p:spPr bwMode="auto">
            <a:xfrm flipV="1">
              <a:off x="1114" y="3113"/>
              <a:ext cx="0" cy="3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88" name="Line 43">
              <a:extLst>
                <a:ext uri="{FF2B5EF4-FFF2-40B4-BE49-F238E27FC236}">
                  <a16:creationId xmlns:a16="http://schemas.microsoft.com/office/drawing/2014/main" id="{ABB97B6E-7077-4DC5-E662-5E1BB9B7C7B7}"/>
                </a:ext>
              </a:extLst>
            </p:cNvPr>
            <p:cNvSpPr>
              <a:spLocks noChangeShapeType="1"/>
            </p:cNvSpPr>
            <p:nvPr/>
          </p:nvSpPr>
          <p:spPr bwMode="auto">
            <a:xfrm>
              <a:off x="4876" y="1706"/>
              <a:ext cx="0" cy="40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23589" name="Picture 44" descr="MCj02327690000[1]">
              <a:extLst>
                <a:ext uri="{FF2B5EF4-FFF2-40B4-BE49-F238E27FC236}">
                  <a16:creationId xmlns:a16="http://schemas.microsoft.com/office/drawing/2014/main" id="{934EF58E-224F-C9ED-99E2-2044F371D7B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85" y="1343"/>
              <a:ext cx="15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90" name="Text Box 45">
              <a:extLst>
                <a:ext uri="{FF2B5EF4-FFF2-40B4-BE49-F238E27FC236}">
                  <a16:creationId xmlns:a16="http://schemas.microsoft.com/office/drawing/2014/main" id="{495ADB78-C4C1-087E-D888-C26BB0426252}"/>
                </a:ext>
              </a:extLst>
            </p:cNvPr>
            <p:cNvSpPr txBox="1">
              <a:spLocks noChangeArrowheads="1"/>
            </p:cNvSpPr>
            <p:nvPr/>
          </p:nvSpPr>
          <p:spPr bwMode="auto">
            <a:xfrm>
              <a:off x="1156" y="3607"/>
              <a:ext cx="3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lang="en-US" altLang="zh-CN" sz="1800" b="1">
                  <a:latin typeface="Verdana" panose="020B0604030504040204" pitchFamily="34" charset="0"/>
                </a:rPr>
                <a:t>K</a:t>
              </a:r>
              <a:r>
                <a:rPr lang="en-US" altLang="zh-CN" sz="1800" b="1" baseline="-25000">
                  <a:latin typeface="Verdana" panose="020B0604030504040204" pitchFamily="34" charset="0"/>
                </a:rPr>
                <a:t>1</a:t>
              </a:r>
            </a:p>
          </p:txBody>
        </p:sp>
        <p:sp>
          <p:nvSpPr>
            <p:cNvPr id="23591" name="Text Box 46">
              <a:extLst>
                <a:ext uri="{FF2B5EF4-FFF2-40B4-BE49-F238E27FC236}">
                  <a16:creationId xmlns:a16="http://schemas.microsoft.com/office/drawing/2014/main" id="{80CCE769-6AB8-69C5-8766-2E88CD1B1BFD}"/>
                </a:ext>
              </a:extLst>
            </p:cNvPr>
            <p:cNvSpPr txBox="1">
              <a:spLocks noChangeArrowheads="1"/>
            </p:cNvSpPr>
            <p:nvPr/>
          </p:nvSpPr>
          <p:spPr bwMode="auto">
            <a:xfrm>
              <a:off x="4876" y="1404"/>
              <a:ext cx="3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lang="en-US" altLang="zh-CN" sz="1800" b="1">
                  <a:latin typeface="Verdana" panose="020B0604030504040204" pitchFamily="34" charset="0"/>
                </a:rPr>
                <a:t>K</a:t>
              </a:r>
              <a:r>
                <a:rPr lang="en-US" altLang="zh-CN" sz="1800" b="1" baseline="-25000">
                  <a:latin typeface="Verdana" panose="020B0604030504040204" pitchFamily="34" charset="0"/>
                </a:rPr>
                <a:t>1</a:t>
              </a:r>
            </a:p>
          </p:txBody>
        </p:sp>
        <p:sp>
          <p:nvSpPr>
            <p:cNvPr id="23592" name="Text Box 48">
              <a:extLst>
                <a:ext uri="{FF2B5EF4-FFF2-40B4-BE49-F238E27FC236}">
                  <a16:creationId xmlns:a16="http://schemas.microsoft.com/office/drawing/2014/main" id="{6A61D580-537A-207E-216A-5F951E42320D}"/>
                </a:ext>
              </a:extLst>
            </p:cNvPr>
            <p:cNvSpPr txBox="1">
              <a:spLocks noChangeArrowheads="1"/>
            </p:cNvSpPr>
            <p:nvPr/>
          </p:nvSpPr>
          <p:spPr bwMode="auto">
            <a:xfrm>
              <a:off x="1963" y="2976"/>
              <a:ext cx="3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lang="en-US" altLang="zh-CN" sz="1800" b="1">
                  <a:latin typeface="Verdana" panose="020B0604030504040204" pitchFamily="34" charset="0"/>
                </a:rPr>
                <a:t>K</a:t>
              </a:r>
              <a:r>
                <a:rPr lang="en-US" altLang="zh-CN" sz="1800" b="1" baseline="-25000">
                  <a:latin typeface="Verdana" panose="020B0604030504040204" pitchFamily="34" charset="0"/>
                </a:rPr>
                <a:t>2</a:t>
              </a:r>
            </a:p>
          </p:txBody>
        </p:sp>
        <p:sp>
          <p:nvSpPr>
            <p:cNvPr id="23593" name="Text Box 49">
              <a:extLst>
                <a:ext uri="{FF2B5EF4-FFF2-40B4-BE49-F238E27FC236}">
                  <a16:creationId xmlns:a16="http://schemas.microsoft.com/office/drawing/2014/main" id="{88E5AAF7-231A-7F89-5DF2-CAC03495983E}"/>
                </a:ext>
              </a:extLst>
            </p:cNvPr>
            <p:cNvSpPr txBox="1">
              <a:spLocks noChangeArrowheads="1"/>
            </p:cNvSpPr>
            <p:nvPr/>
          </p:nvSpPr>
          <p:spPr bwMode="auto">
            <a:xfrm>
              <a:off x="3666" y="2971"/>
              <a:ext cx="3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lang="en-US" altLang="zh-CN" sz="1800" b="1">
                  <a:latin typeface="Verdana" panose="020B0604030504040204" pitchFamily="34" charset="0"/>
                </a:rPr>
                <a:t>K</a:t>
              </a:r>
              <a:r>
                <a:rPr lang="en-US" altLang="zh-CN" sz="1800" b="1" baseline="-25000">
                  <a:latin typeface="Verdana" panose="020B0604030504040204" pitchFamily="34" charset="0"/>
                </a:rPr>
                <a:t>2</a:t>
              </a:r>
            </a:p>
          </p:txBody>
        </p:sp>
        <p:graphicFrame>
          <p:nvGraphicFramePr>
            <p:cNvPr id="23594" name="Object 50">
              <a:extLst>
                <a:ext uri="{FF2B5EF4-FFF2-40B4-BE49-F238E27FC236}">
                  <a16:creationId xmlns:a16="http://schemas.microsoft.com/office/drawing/2014/main" id="{1345F946-C9AB-759F-CEF6-CDEB044D9C2A}"/>
                </a:ext>
              </a:extLst>
            </p:cNvPr>
            <p:cNvGraphicFramePr>
              <a:graphicFrameLocks noChangeAspect="1"/>
            </p:cNvGraphicFramePr>
            <p:nvPr/>
          </p:nvGraphicFramePr>
          <p:xfrm>
            <a:off x="2270" y="1525"/>
            <a:ext cx="1452" cy="317"/>
          </p:xfrm>
          <a:graphic>
            <a:graphicData uri="http://schemas.openxmlformats.org/presentationml/2006/ole">
              <mc:AlternateContent xmlns:mc="http://schemas.openxmlformats.org/markup-compatibility/2006">
                <mc:Choice xmlns:v="urn:schemas-microsoft-com:vml" Requires="v">
                  <p:oleObj name="公式" r:id="rId11" imgW="1104900" imgH="241300" progId="Equation.3">
                    <p:embed/>
                  </p:oleObj>
                </mc:Choice>
                <mc:Fallback>
                  <p:oleObj name="公式" r:id="rId11" imgW="1104900" imgH="241300" progId="Equation.3">
                    <p:embed/>
                    <p:pic>
                      <p:nvPicPr>
                        <p:cNvPr id="0" name="Object 5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70" y="1525"/>
                          <a:ext cx="1452"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Effect transition="in" filter="wipe(left)">
                                      <p:cBhvr>
                                        <p:cTn id="7" dur="500"/>
                                        <p:tgtEl>
                                          <p:spTgt spid="378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 name="Rectangle 6">
            <a:extLst>
              <a:ext uri="{FF2B5EF4-FFF2-40B4-BE49-F238E27FC236}">
                <a16:creationId xmlns:a16="http://schemas.microsoft.com/office/drawing/2014/main" id="{69AC678A-F9FF-FF70-D412-AB0336BDEAFE}"/>
              </a:ext>
            </a:extLst>
          </p:cNvPr>
          <p:cNvSpPr>
            <a:spLocks noGrp="1" noChangeArrowheads="1"/>
          </p:cNvSpPr>
          <p:nvPr>
            <p:ph type="sldNum" sz="quarter" idx="11"/>
          </p:nvPr>
        </p:nvSpPr>
        <p:spPr>
          <a:xfrm>
            <a:off x="7983538" y="6361113"/>
            <a:ext cx="1054100" cy="457200"/>
          </a:xfrm>
          <a:ln>
            <a:miter lim="800000"/>
            <a:headEnd/>
            <a:tailEnd/>
          </a:ln>
        </p:spPr>
        <p:txBody>
          <a:bodyPr anchor="t"/>
          <a:lstStyle>
            <a:defPPr>
              <a:defRPr lang="zh-CN"/>
            </a:defPPr>
            <a:lvl1pPr algn="r" rtl="0" fontAlgn="base">
              <a:spcBef>
                <a:spcPct val="0"/>
              </a:spcBef>
              <a:spcAft>
                <a:spcPct val="0"/>
              </a:spcAft>
              <a:defRPr kumimoji="1" sz="1600" b="1" kern="1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defRPr/>
            </a:pPr>
            <a:fld id="{6E0F053C-AA5B-4AF0-AF6E-3C4CD0CAFBF8}" type="slidenum">
              <a:rPr lang="en-US" altLang="zh-CN" b="0" smtClean="0">
                <a:solidFill>
                  <a:schemeClr val="tx1"/>
                </a:solidFill>
              </a:rPr>
              <a:pPr>
                <a:defRPr/>
              </a:pPr>
              <a:t>6</a:t>
            </a:fld>
            <a:endParaRPr lang="en-US" altLang="zh-CN" b="0" dirty="0">
              <a:solidFill>
                <a:schemeClr val="tx1"/>
              </a:solidFill>
            </a:endParaRPr>
          </a:p>
        </p:txBody>
      </p:sp>
      <p:sp>
        <p:nvSpPr>
          <p:cNvPr id="40962" name="Rectangle 2">
            <a:extLst>
              <a:ext uri="{FF2B5EF4-FFF2-40B4-BE49-F238E27FC236}">
                <a16:creationId xmlns:a16="http://schemas.microsoft.com/office/drawing/2014/main" id="{5410D233-4208-1294-157A-539B06132A55}"/>
              </a:ext>
            </a:extLst>
          </p:cNvPr>
          <p:cNvSpPr>
            <a:spLocks noGrp="1" noChangeArrowheads="1"/>
          </p:cNvSpPr>
          <p:nvPr>
            <p:ph type="title" idx="4294967295"/>
          </p:nvPr>
        </p:nvSpPr>
        <p:spPr>
          <a:xfrm>
            <a:off x="1150938" y="214313"/>
            <a:ext cx="7793037" cy="973137"/>
          </a:xfrm>
        </p:spPr>
        <p:txBody>
          <a:bodyPr/>
          <a:lstStyle/>
          <a:p>
            <a:pPr eaLnBrk="1" hangingPunct="1">
              <a:defRPr/>
            </a:pPr>
            <a:r>
              <a:rPr lang="zh-CN" altLang="en-US" dirty="0">
                <a:solidFill>
                  <a:srgbClr val="FF0000"/>
                </a:solidFill>
                <a:effectLst>
                  <a:outerShdw blurRad="38100" dist="38100" dir="2700000" algn="tl">
                    <a:srgbClr val="C0C0C0"/>
                  </a:outerShdw>
                </a:effectLst>
              </a:rPr>
              <a:t>消息认证码</a:t>
            </a:r>
          </a:p>
        </p:txBody>
      </p:sp>
      <p:sp>
        <p:nvSpPr>
          <p:cNvPr id="40963" name="Rectangle 3">
            <a:extLst>
              <a:ext uri="{FF2B5EF4-FFF2-40B4-BE49-F238E27FC236}">
                <a16:creationId xmlns:a16="http://schemas.microsoft.com/office/drawing/2014/main" id="{04CCBD53-2A39-C389-3117-76AE287711F8}"/>
              </a:ext>
            </a:extLst>
          </p:cNvPr>
          <p:cNvSpPr>
            <a:spLocks noGrp="1" noChangeArrowheads="1"/>
          </p:cNvSpPr>
          <p:nvPr>
            <p:ph type="body" idx="4294967295"/>
          </p:nvPr>
        </p:nvSpPr>
        <p:spPr>
          <a:xfrm>
            <a:off x="793750" y="1662113"/>
            <a:ext cx="7772400" cy="4368800"/>
          </a:xfrm>
        </p:spPr>
        <p:txBody>
          <a:bodyPr/>
          <a:lstStyle/>
          <a:p>
            <a:pPr marL="0" indent="542925" eaLnBrk="1" hangingPunct="1">
              <a:defRPr/>
            </a:pPr>
            <a:r>
              <a:rPr lang="zh-CN" altLang="en-US" dirty="0">
                <a:effectLst>
                  <a:outerShdw blurRad="38100" dist="38100" dir="2700000" algn="tl">
                    <a:srgbClr val="C0C0C0"/>
                  </a:outerShdw>
                </a:effectLst>
                <a:latin typeface="宋体" panose="02010600030101010101" pitchFamily="2" charset="-122"/>
              </a:rPr>
              <a:t>消息认证和保密：与密文有关的认证</a:t>
            </a:r>
          </a:p>
        </p:txBody>
      </p:sp>
      <p:grpSp>
        <p:nvGrpSpPr>
          <p:cNvPr id="2" name="Group 47">
            <a:extLst>
              <a:ext uri="{FF2B5EF4-FFF2-40B4-BE49-F238E27FC236}">
                <a16:creationId xmlns:a16="http://schemas.microsoft.com/office/drawing/2014/main" id="{13DB9330-371F-4411-3E76-BBA0F67796AB}"/>
              </a:ext>
            </a:extLst>
          </p:cNvPr>
          <p:cNvGrpSpPr>
            <a:grpSpLocks/>
          </p:cNvGrpSpPr>
          <p:nvPr/>
        </p:nvGrpSpPr>
        <p:grpSpPr bwMode="auto">
          <a:xfrm>
            <a:off x="468313" y="2994025"/>
            <a:ext cx="8207375" cy="3392488"/>
            <a:chOff x="295" y="1389"/>
            <a:chExt cx="5170" cy="2137"/>
          </a:xfrm>
        </p:grpSpPr>
        <p:sp>
          <p:nvSpPr>
            <p:cNvPr id="25606" name="AutoShape 4" descr="浅色横线">
              <a:extLst>
                <a:ext uri="{FF2B5EF4-FFF2-40B4-BE49-F238E27FC236}">
                  <a16:creationId xmlns:a16="http://schemas.microsoft.com/office/drawing/2014/main" id="{D3B9B372-1597-7D2C-648E-990A9A90C5E5}"/>
                </a:ext>
              </a:extLst>
            </p:cNvPr>
            <p:cNvSpPr>
              <a:spLocks noChangeArrowheads="1"/>
            </p:cNvSpPr>
            <p:nvPr/>
          </p:nvSpPr>
          <p:spPr bwMode="auto">
            <a:xfrm>
              <a:off x="295" y="1828"/>
              <a:ext cx="317" cy="499"/>
            </a:xfrm>
            <a:prstGeom prst="foldedCorner">
              <a:avLst>
                <a:gd name="adj" fmla="val 39648"/>
              </a:avLst>
            </a:prstGeom>
            <a:blipFill dpi="0" rotWithShape="0">
              <a:blip r:embed="rId3"/>
              <a:srcRect/>
              <a:tile tx="0" ty="0" sx="100000" sy="100000" flip="none" algn="tl"/>
            </a:blipFill>
            <a:ln w="952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M</a:t>
              </a:r>
            </a:p>
          </p:txBody>
        </p:sp>
        <p:pic>
          <p:nvPicPr>
            <p:cNvPr id="25607" name="Picture 5" descr="MCj04315990000[1]">
              <a:extLst>
                <a:ext uri="{FF2B5EF4-FFF2-40B4-BE49-F238E27FC236}">
                  <a16:creationId xmlns:a16="http://schemas.microsoft.com/office/drawing/2014/main" id="{8EA0DD17-5957-0E25-F9BA-217E6A6673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 y="1711"/>
              <a:ext cx="483"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8" name="Picture 6" descr="MCj02327690000[1]">
              <a:extLst>
                <a:ext uri="{FF2B5EF4-FFF2-40B4-BE49-F238E27FC236}">
                  <a16:creationId xmlns:a16="http://schemas.microsoft.com/office/drawing/2014/main" id="{36645D13-489A-4332-6A89-914704C608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7" y="2570"/>
              <a:ext cx="15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9" name="Line 7">
              <a:extLst>
                <a:ext uri="{FF2B5EF4-FFF2-40B4-BE49-F238E27FC236}">
                  <a16:creationId xmlns:a16="http://schemas.microsoft.com/office/drawing/2014/main" id="{94D7FC61-2F90-90C2-1368-582225A2CA05}"/>
                </a:ext>
              </a:extLst>
            </p:cNvPr>
            <p:cNvSpPr>
              <a:spLocks noChangeShapeType="1"/>
            </p:cNvSpPr>
            <p:nvPr/>
          </p:nvSpPr>
          <p:spPr bwMode="auto">
            <a:xfrm flipV="1">
              <a:off x="1035" y="2162"/>
              <a:ext cx="0" cy="3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0" name="Line 8">
              <a:extLst>
                <a:ext uri="{FF2B5EF4-FFF2-40B4-BE49-F238E27FC236}">
                  <a16:creationId xmlns:a16="http://schemas.microsoft.com/office/drawing/2014/main" id="{96D5D60C-A579-0EB3-DEBE-A192245174C9}"/>
                </a:ext>
              </a:extLst>
            </p:cNvPr>
            <p:cNvSpPr>
              <a:spLocks noChangeShapeType="1"/>
            </p:cNvSpPr>
            <p:nvPr/>
          </p:nvSpPr>
          <p:spPr bwMode="auto">
            <a:xfrm>
              <a:off x="1217" y="1958"/>
              <a:ext cx="31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1" name="AutoShape 9" descr="之字形">
              <a:extLst>
                <a:ext uri="{FF2B5EF4-FFF2-40B4-BE49-F238E27FC236}">
                  <a16:creationId xmlns:a16="http://schemas.microsoft.com/office/drawing/2014/main" id="{23FF01F4-7340-9D34-1F15-BDB0FF9FCD59}"/>
                </a:ext>
              </a:extLst>
            </p:cNvPr>
            <p:cNvSpPr>
              <a:spLocks noChangeArrowheads="1"/>
            </p:cNvSpPr>
            <p:nvPr/>
          </p:nvSpPr>
          <p:spPr bwMode="auto">
            <a:xfrm>
              <a:off x="1545" y="1808"/>
              <a:ext cx="318" cy="493"/>
            </a:xfrm>
            <a:prstGeom prst="foldedCorner">
              <a:avLst>
                <a:gd name="adj" fmla="val 30819"/>
              </a:avLst>
            </a:prstGeom>
            <a:blipFill dpi="0" rotWithShape="0">
              <a:blip r:embed="rId6"/>
              <a:srcRect/>
              <a:tile tx="0" ty="0" sx="100000" sy="100000" flip="none" algn="tl"/>
            </a:blipFill>
            <a:ln w="952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E</a:t>
              </a:r>
            </a:p>
          </p:txBody>
        </p:sp>
        <p:sp>
          <p:nvSpPr>
            <p:cNvPr id="25612" name="Line 10">
              <a:extLst>
                <a:ext uri="{FF2B5EF4-FFF2-40B4-BE49-F238E27FC236}">
                  <a16:creationId xmlns:a16="http://schemas.microsoft.com/office/drawing/2014/main" id="{5DB9E45B-F550-3EF9-0598-17FE477ABF0E}"/>
                </a:ext>
              </a:extLst>
            </p:cNvPr>
            <p:cNvSpPr>
              <a:spLocks noChangeShapeType="1"/>
            </p:cNvSpPr>
            <p:nvPr/>
          </p:nvSpPr>
          <p:spPr bwMode="auto">
            <a:xfrm>
              <a:off x="3138" y="1938"/>
              <a:ext cx="142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25613" name="Picture 11" descr="MCj04315980000[1]">
              <a:extLst>
                <a:ext uri="{FF2B5EF4-FFF2-40B4-BE49-F238E27FC236}">
                  <a16:creationId xmlns:a16="http://schemas.microsoft.com/office/drawing/2014/main" id="{91D11A36-526D-A237-5052-BAA98491CE1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13" y="1711"/>
              <a:ext cx="453"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4" name="Picture 12" descr="MCj02327690000[1]">
              <a:extLst>
                <a:ext uri="{FF2B5EF4-FFF2-40B4-BE49-F238E27FC236}">
                  <a16:creationId xmlns:a16="http://schemas.microsoft.com/office/drawing/2014/main" id="{E49A2C18-0E03-7D3A-3B19-4CA6B2C75B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60" y="2555"/>
              <a:ext cx="15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5" name="Line 13">
              <a:extLst>
                <a:ext uri="{FF2B5EF4-FFF2-40B4-BE49-F238E27FC236}">
                  <a16:creationId xmlns:a16="http://schemas.microsoft.com/office/drawing/2014/main" id="{8ECC4661-6F94-6AA6-8BB0-77E83E80B3A7}"/>
                </a:ext>
              </a:extLst>
            </p:cNvPr>
            <p:cNvSpPr>
              <a:spLocks noChangeShapeType="1"/>
            </p:cNvSpPr>
            <p:nvPr/>
          </p:nvSpPr>
          <p:spPr bwMode="auto">
            <a:xfrm flipV="1">
              <a:off x="4739" y="2147"/>
              <a:ext cx="0" cy="3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6" name="AutoShape 14" descr="浅色横线">
              <a:extLst>
                <a:ext uri="{FF2B5EF4-FFF2-40B4-BE49-F238E27FC236}">
                  <a16:creationId xmlns:a16="http://schemas.microsoft.com/office/drawing/2014/main" id="{EFC218EB-D799-57EB-15BE-827633D8FBF4}"/>
                </a:ext>
              </a:extLst>
            </p:cNvPr>
            <p:cNvSpPr>
              <a:spLocks noChangeArrowheads="1"/>
            </p:cNvSpPr>
            <p:nvPr/>
          </p:nvSpPr>
          <p:spPr bwMode="auto">
            <a:xfrm>
              <a:off x="5148" y="1757"/>
              <a:ext cx="317" cy="499"/>
            </a:xfrm>
            <a:prstGeom prst="foldedCorner">
              <a:avLst>
                <a:gd name="adj" fmla="val 39648"/>
              </a:avLst>
            </a:prstGeom>
            <a:blipFill dpi="0" rotWithShape="0">
              <a:blip r:embed="rId3"/>
              <a:srcRect/>
              <a:tile tx="0" ty="0" sx="100000" sy="100000" flip="none" algn="tl"/>
            </a:blipFill>
            <a:ln w="952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M</a:t>
              </a:r>
            </a:p>
          </p:txBody>
        </p:sp>
        <p:sp>
          <p:nvSpPr>
            <p:cNvPr id="25617" name="Line 15">
              <a:extLst>
                <a:ext uri="{FF2B5EF4-FFF2-40B4-BE49-F238E27FC236}">
                  <a16:creationId xmlns:a16="http://schemas.microsoft.com/office/drawing/2014/main" id="{F5ED26B3-5B0A-A7EE-CC0B-2092074A873D}"/>
                </a:ext>
              </a:extLst>
            </p:cNvPr>
            <p:cNvSpPr>
              <a:spLocks noChangeShapeType="1"/>
            </p:cNvSpPr>
            <p:nvPr/>
          </p:nvSpPr>
          <p:spPr bwMode="auto">
            <a:xfrm>
              <a:off x="3183" y="2347"/>
              <a:ext cx="1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8" name="Line 16">
              <a:extLst>
                <a:ext uri="{FF2B5EF4-FFF2-40B4-BE49-F238E27FC236}">
                  <a16:creationId xmlns:a16="http://schemas.microsoft.com/office/drawing/2014/main" id="{62F9AF78-2E54-443C-E6E6-B395B8441F03}"/>
                </a:ext>
              </a:extLst>
            </p:cNvPr>
            <p:cNvSpPr>
              <a:spLocks noChangeShapeType="1"/>
            </p:cNvSpPr>
            <p:nvPr/>
          </p:nvSpPr>
          <p:spPr bwMode="auto">
            <a:xfrm>
              <a:off x="3319" y="2347"/>
              <a:ext cx="0" cy="90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9" name="Line 17">
              <a:extLst>
                <a:ext uri="{FF2B5EF4-FFF2-40B4-BE49-F238E27FC236}">
                  <a16:creationId xmlns:a16="http://schemas.microsoft.com/office/drawing/2014/main" id="{E4A74386-08DA-4C3E-48B8-D26B645CDDE7}"/>
                </a:ext>
              </a:extLst>
            </p:cNvPr>
            <p:cNvSpPr>
              <a:spLocks noChangeShapeType="1"/>
            </p:cNvSpPr>
            <p:nvPr/>
          </p:nvSpPr>
          <p:spPr bwMode="auto">
            <a:xfrm>
              <a:off x="3319" y="3243"/>
              <a:ext cx="69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0" name="Line 18">
              <a:extLst>
                <a:ext uri="{FF2B5EF4-FFF2-40B4-BE49-F238E27FC236}">
                  <a16:creationId xmlns:a16="http://schemas.microsoft.com/office/drawing/2014/main" id="{672E28AB-6142-8AF6-E289-D76E02BD9BC3}"/>
                </a:ext>
              </a:extLst>
            </p:cNvPr>
            <p:cNvSpPr>
              <a:spLocks noChangeShapeType="1"/>
            </p:cNvSpPr>
            <p:nvPr/>
          </p:nvSpPr>
          <p:spPr bwMode="auto">
            <a:xfrm>
              <a:off x="627" y="1963"/>
              <a:ext cx="22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1" name="Line 19">
              <a:extLst>
                <a:ext uri="{FF2B5EF4-FFF2-40B4-BE49-F238E27FC236}">
                  <a16:creationId xmlns:a16="http://schemas.microsoft.com/office/drawing/2014/main" id="{752E4EAC-6CA2-15B1-00E6-77BB8BC797EA}"/>
                </a:ext>
              </a:extLst>
            </p:cNvPr>
            <p:cNvSpPr>
              <a:spLocks noChangeShapeType="1"/>
            </p:cNvSpPr>
            <p:nvPr/>
          </p:nvSpPr>
          <p:spPr bwMode="auto">
            <a:xfrm>
              <a:off x="4916" y="1948"/>
              <a:ext cx="22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2" name="Line 20">
              <a:extLst>
                <a:ext uri="{FF2B5EF4-FFF2-40B4-BE49-F238E27FC236}">
                  <a16:creationId xmlns:a16="http://schemas.microsoft.com/office/drawing/2014/main" id="{09B12A68-A2A4-A62F-229D-1FB6E6C0AEA2}"/>
                </a:ext>
              </a:extLst>
            </p:cNvPr>
            <p:cNvSpPr>
              <a:spLocks noChangeShapeType="1"/>
            </p:cNvSpPr>
            <p:nvPr/>
          </p:nvSpPr>
          <p:spPr bwMode="auto">
            <a:xfrm>
              <a:off x="3153" y="2129"/>
              <a:ext cx="45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3" name="AutoShape 21" descr="10%">
              <a:extLst>
                <a:ext uri="{FF2B5EF4-FFF2-40B4-BE49-F238E27FC236}">
                  <a16:creationId xmlns:a16="http://schemas.microsoft.com/office/drawing/2014/main" id="{F384DEF7-0C36-1BBD-EB0A-87F369A5BFD9}"/>
                </a:ext>
              </a:extLst>
            </p:cNvPr>
            <p:cNvSpPr>
              <a:spLocks noChangeArrowheads="1"/>
            </p:cNvSpPr>
            <p:nvPr/>
          </p:nvSpPr>
          <p:spPr bwMode="auto">
            <a:xfrm>
              <a:off x="3606" y="1979"/>
              <a:ext cx="272" cy="272"/>
            </a:xfrm>
            <a:prstGeom prst="roundRect">
              <a:avLst>
                <a:gd name="adj" fmla="val 22083"/>
              </a:avLst>
            </a:prstGeom>
            <a:blipFill dpi="0" rotWithShape="0">
              <a:blip r:embed="rId8"/>
              <a:srcRect/>
              <a:tile tx="0" ty="0" sx="100000" sy="100000" flip="none" algn="tl"/>
            </a:blipFill>
            <a:ln w="2857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C</a:t>
              </a:r>
            </a:p>
          </p:txBody>
        </p:sp>
        <p:sp>
          <p:nvSpPr>
            <p:cNvPr id="25624" name="Line 22">
              <a:extLst>
                <a:ext uri="{FF2B5EF4-FFF2-40B4-BE49-F238E27FC236}">
                  <a16:creationId xmlns:a16="http://schemas.microsoft.com/office/drawing/2014/main" id="{D6BE9A8C-42F5-C206-1AED-9B813DF6EA92}"/>
                </a:ext>
              </a:extLst>
            </p:cNvPr>
            <p:cNvSpPr>
              <a:spLocks noChangeShapeType="1"/>
            </p:cNvSpPr>
            <p:nvPr/>
          </p:nvSpPr>
          <p:spPr bwMode="auto">
            <a:xfrm>
              <a:off x="3878" y="2119"/>
              <a:ext cx="44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25" name="Line 23">
              <a:extLst>
                <a:ext uri="{FF2B5EF4-FFF2-40B4-BE49-F238E27FC236}">
                  <a16:creationId xmlns:a16="http://schemas.microsoft.com/office/drawing/2014/main" id="{D967618C-C74B-B7B9-A5A2-DABC45CEE716}"/>
                </a:ext>
              </a:extLst>
            </p:cNvPr>
            <p:cNvSpPr>
              <a:spLocks noChangeShapeType="1"/>
            </p:cNvSpPr>
            <p:nvPr/>
          </p:nvSpPr>
          <p:spPr bwMode="auto">
            <a:xfrm>
              <a:off x="4325" y="2129"/>
              <a:ext cx="0" cy="93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6" name="Text Box 24">
              <a:extLst>
                <a:ext uri="{FF2B5EF4-FFF2-40B4-BE49-F238E27FC236}">
                  <a16:creationId xmlns:a16="http://schemas.microsoft.com/office/drawing/2014/main" id="{C4EEBFFB-8200-2D7F-CEE4-61DF6449C8D0}"/>
                </a:ext>
              </a:extLst>
            </p:cNvPr>
            <p:cNvSpPr txBox="1">
              <a:spLocks noChangeArrowheads="1"/>
            </p:cNvSpPr>
            <p:nvPr/>
          </p:nvSpPr>
          <p:spPr bwMode="auto">
            <a:xfrm>
              <a:off x="3923" y="3089"/>
              <a:ext cx="54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lang="zh-CN" altLang="en-US" sz="2000" b="1">
                  <a:latin typeface="Verdana" panose="020B0604030504040204" pitchFamily="34" charset="0"/>
                </a:rPr>
                <a:t>比较</a:t>
              </a:r>
            </a:p>
          </p:txBody>
        </p:sp>
        <p:sp>
          <p:nvSpPr>
            <p:cNvPr id="25627" name="Line 25">
              <a:extLst>
                <a:ext uri="{FF2B5EF4-FFF2-40B4-BE49-F238E27FC236}">
                  <a16:creationId xmlns:a16="http://schemas.microsoft.com/office/drawing/2014/main" id="{FE071D46-541E-F283-D51B-83731C0E590E}"/>
                </a:ext>
              </a:extLst>
            </p:cNvPr>
            <p:cNvSpPr>
              <a:spLocks noChangeShapeType="1"/>
            </p:cNvSpPr>
            <p:nvPr/>
          </p:nvSpPr>
          <p:spPr bwMode="auto">
            <a:xfrm>
              <a:off x="1887" y="1959"/>
              <a:ext cx="85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8" name="AutoShape 26" descr="10%">
              <a:extLst>
                <a:ext uri="{FF2B5EF4-FFF2-40B4-BE49-F238E27FC236}">
                  <a16:creationId xmlns:a16="http://schemas.microsoft.com/office/drawing/2014/main" id="{FD9BB0C2-B968-504B-52E4-B82F876B9757}"/>
                </a:ext>
              </a:extLst>
            </p:cNvPr>
            <p:cNvSpPr>
              <a:spLocks noChangeArrowheads="1"/>
            </p:cNvSpPr>
            <p:nvPr/>
          </p:nvSpPr>
          <p:spPr bwMode="auto">
            <a:xfrm>
              <a:off x="2199" y="2504"/>
              <a:ext cx="272" cy="272"/>
            </a:xfrm>
            <a:prstGeom prst="roundRect">
              <a:avLst>
                <a:gd name="adj" fmla="val 22083"/>
              </a:avLst>
            </a:prstGeom>
            <a:blipFill dpi="0" rotWithShape="0">
              <a:blip r:embed="rId8"/>
              <a:srcRect/>
              <a:tile tx="0" ty="0" sx="100000" sy="100000" flip="none" algn="tl"/>
            </a:blipFill>
            <a:ln w="2857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C</a:t>
              </a:r>
            </a:p>
          </p:txBody>
        </p:sp>
        <p:sp>
          <p:nvSpPr>
            <p:cNvPr id="25629" name="Line 27">
              <a:extLst>
                <a:ext uri="{FF2B5EF4-FFF2-40B4-BE49-F238E27FC236}">
                  <a16:creationId xmlns:a16="http://schemas.microsoft.com/office/drawing/2014/main" id="{7904DD6B-F5E5-1EBC-81BB-7773626D3341}"/>
                </a:ext>
              </a:extLst>
            </p:cNvPr>
            <p:cNvSpPr>
              <a:spLocks noChangeShapeType="1"/>
            </p:cNvSpPr>
            <p:nvPr/>
          </p:nvSpPr>
          <p:spPr bwMode="auto">
            <a:xfrm>
              <a:off x="1882" y="2095"/>
              <a:ext cx="1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0" name="Line 28">
              <a:extLst>
                <a:ext uri="{FF2B5EF4-FFF2-40B4-BE49-F238E27FC236}">
                  <a16:creationId xmlns:a16="http://schemas.microsoft.com/office/drawing/2014/main" id="{F1F12974-3CD1-F52A-A161-4FDADFBED3FB}"/>
                </a:ext>
              </a:extLst>
            </p:cNvPr>
            <p:cNvSpPr>
              <a:spLocks noChangeShapeType="1"/>
            </p:cNvSpPr>
            <p:nvPr/>
          </p:nvSpPr>
          <p:spPr bwMode="auto">
            <a:xfrm>
              <a:off x="2018" y="2095"/>
              <a:ext cx="0" cy="54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1" name="Line 29">
              <a:extLst>
                <a:ext uri="{FF2B5EF4-FFF2-40B4-BE49-F238E27FC236}">
                  <a16:creationId xmlns:a16="http://schemas.microsoft.com/office/drawing/2014/main" id="{3A777BAD-B970-1058-B9BB-F70A6F1DDBB3}"/>
                </a:ext>
              </a:extLst>
            </p:cNvPr>
            <p:cNvSpPr>
              <a:spLocks noChangeShapeType="1"/>
            </p:cNvSpPr>
            <p:nvPr/>
          </p:nvSpPr>
          <p:spPr bwMode="auto">
            <a:xfrm>
              <a:off x="2018" y="2640"/>
              <a:ext cx="18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32" name="Line 30">
              <a:extLst>
                <a:ext uri="{FF2B5EF4-FFF2-40B4-BE49-F238E27FC236}">
                  <a16:creationId xmlns:a16="http://schemas.microsoft.com/office/drawing/2014/main" id="{94268F69-2B88-0F39-6656-C66C82E4E337}"/>
                </a:ext>
              </a:extLst>
            </p:cNvPr>
            <p:cNvSpPr>
              <a:spLocks noChangeShapeType="1"/>
            </p:cNvSpPr>
            <p:nvPr/>
          </p:nvSpPr>
          <p:spPr bwMode="auto">
            <a:xfrm>
              <a:off x="2471" y="2640"/>
              <a:ext cx="9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3" name="Line 31">
              <a:extLst>
                <a:ext uri="{FF2B5EF4-FFF2-40B4-BE49-F238E27FC236}">
                  <a16:creationId xmlns:a16="http://schemas.microsoft.com/office/drawing/2014/main" id="{B45F18C5-9A07-757F-E187-DD41D17B6C7C}"/>
                </a:ext>
              </a:extLst>
            </p:cNvPr>
            <p:cNvSpPr>
              <a:spLocks noChangeShapeType="1"/>
            </p:cNvSpPr>
            <p:nvPr/>
          </p:nvSpPr>
          <p:spPr bwMode="auto">
            <a:xfrm flipV="1">
              <a:off x="2562" y="2322"/>
              <a:ext cx="0" cy="31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4" name="Line 32">
              <a:extLst>
                <a:ext uri="{FF2B5EF4-FFF2-40B4-BE49-F238E27FC236}">
                  <a16:creationId xmlns:a16="http://schemas.microsoft.com/office/drawing/2014/main" id="{D9C3EDE8-4278-E441-FE37-7DDE83150FCC}"/>
                </a:ext>
              </a:extLst>
            </p:cNvPr>
            <p:cNvSpPr>
              <a:spLocks noChangeShapeType="1"/>
            </p:cNvSpPr>
            <p:nvPr/>
          </p:nvSpPr>
          <p:spPr bwMode="auto">
            <a:xfrm>
              <a:off x="2562" y="2322"/>
              <a:ext cx="1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5635" name="Group 33">
              <a:extLst>
                <a:ext uri="{FF2B5EF4-FFF2-40B4-BE49-F238E27FC236}">
                  <a16:creationId xmlns:a16="http://schemas.microsoft.com/office/drawing/2014/main" id="{5EBE9081-4BFE-B3E4-4B30-CDF06BF98FD6}"/>
                </a:ext>
              </a:extLst>
            </p:cNvPr>
            <p:cNvGrpSpPr>
              <a:grpSpLocks/>
            </p:cNvGrpSpPr>
            <p:nvPr/>
          </p:nvGrpSpPr>
          <p:grpSpPr bwMode="auto">
            <a:xfrm>
              <a:off x="2744" y="1797"/>
              <a:ext cx="408" cy="681"/>
              <a:chOff x="1565" y="1867"/>
              <a:chExt cx="408" cy="681"/>
            </a:xfrm>
          </p:grpSpPr>
          <p:sp>
            <p:nvSpPr>
              <p:cNvPr id="25645" name="AutoShape 34" descr="波浪线">
                <a:extLst>
                  <a:ext uri="{FF2B5EF4-FFF2-40B4-BE49-F238E27FC236}">
                    <a16:creationId xmlns:a16="http://schemas.microsoft.com/office/drawing/2014/main" id="{7D33DE84-B6E2-7A58-2A3B-796F13974259}"/>
                  </a:ext>
                </a:extLst>
              </p:cNvPr>
              <p:cNvSpPr>
                <a:spLocks noChangeArrowheads="1"/>
              </p:cNvSpPr>
              <p:nvPr/>
            </p:nvSpPr>
            <p:spPr bwMode="auto">
              <a:xfrm>
                <a:off x="1565" y="1867"/>
                <a:ext cx="408" cy="681"/>
              </a:xfrm>
              <a:prstGeom prst="bevel">
                <a:avLst>
                  <a:gd name="adj" fmla="val 5394"/>
                </a:avLst>
              </a:prstGeom>
              <a:blipFill dpi="0" rotWithShape="0">
                <a:blip r:embed="rId9"/>
                <a:srcRect/>
                <a:tile tx="0" ty="0" sx="100000" sy="100000" flip="none" algn="tl"/>
              </a:blip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dirty="0">
                    <a:latin typeface="Verdana" panose="020B0604030504040204" pitchFamily="34" charset="0"/>
                  </a:rPr>
                  <a:t>E</a:t>
                </a:r>
              </a:p>
              <a:p>
                <a:pPr algn="ctr" eaLnBrk="1" hangingPunct="1">
                  <a:spcBef>
                    <a:spcPct val="0"/>
                  </a:spcBef>
                  <a:buClrTx/>
                  <a:buSzTx/>
                  <a:buFontTx/>
                  <a:buNone/>
                </a:pPr>
                <a:endParaRPr lang="en-US" altLang="zh-CN" sz="2000" b="1" dirty="0">
                  <a:latin typeface="Verdana" panose="020B0604030504040204" pitchFamily="34" charset="0"/>
                </a:endParaRPr>
              </a:p>
              <a:p>
                <a:pPr algn="ctr" eaLnBrk="1" hangingPunct="1">
                  <a:spcBef>
                    <a:spcPct val="0"/>
                  </a:spcBef>
                  <a:buClrTx/>
                  <a:buSzTx/>
                  <a:buFontTx/>
                  <a:buNone/>
                </a:pPr>
                <a:r>
                  <a:rPr lang="en-US" altLang="zh-CN" sz="2000" b="1" dirty="0">
                    <a:latin typeface="Verdana" panose="020B0604030504040204" pitchFamily="34" charset="0"/>
                  </a:rPr>
                  <a:t>t</a:t>
                </a:r>
              </a:p>
            </p:txBody>
          </p:sp>
          <p:sp>
            <p:nvSpPr>
              <p:cNvPr id="25646" name="Line 35">
                <a:extLst>
                  <a:ext uri="{FF2B5EF4-FFF2-40B4-BE49-F238E27FC236}">
                    <a16:creationId xmlns:a16="http://schemas.microsoft.com/office/drawing/2014/main" id="{0B71DEF0-E238-58C5-65B1-1E3011D0F755}"/>
                  </a:ext>
                </a:extLst>
              </p:cNvPr>
              <p:cNvSpPr>
                <a:spLocks noChangeShapeType="1"/>
              </p:cNvSpPr>
              <p:nvPr/>
            </p:nvSpPr>
            <p:spPr bwMode="auto">
              <a:xfrm>
                <a:off x="1590" y="2275"/>
                <a:ext cx="34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5636" name="Text Box 36">
              <a:extLst>
                <a:ext uri="{FF2B5EF4-FFF2-40B4-BE49-F238E27FC236}">
                  <a16:creationId xmlns:a16="http://schemas.microsoft.com/office/drawing/2014/main" id="{4213607E-FE9E-BDAE-C173-EF712895434E}"/>
                </a:ext>
              </a:extLst>
            </p:cNvPr>
            <p:cNvSpPr txBox="1">
              <a:spLocks noChangeArrowheads="1"/>
            </p:cNvSpPr>
            <p:nvPr/>
          </p:nvSpPr>
          <p:spPr bwMode="auto">
            <a:xfrm>
              <a:off x="658" y="2664"/>
              <a:ext cx="3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lang="en-US" altLang="zh-CN" sz="1800" b="1">
                  <a:latin typeface="Verdana" panose="020B0604030504040204" pitchFamily="34" charset="0"/>
                </a:rPr>
                <a:t>K</a:t>
              </a:r>
              <a:r>
                <a:rPr lang="en-US" altLang="zh-CN" sz="1800" b="1" baseline="-25000">
                  <a:latin typeface="Verdana" panose="020B0604030504040204" pitchFamily="34" charset="0"/>
                </a:rPr>
                <a:t>2</a:t>
              </a:r>
            </a:p>
          </p:txBody>
        </p:sp>
        <p:sp>
          <p:nvSpPr>
            <p:cNvPr id="25637" name="Text Box 37">
              <a:extLst>
                <a:ext uri="{FF2B5EF4-FFF2-40B4-BE49-F238E27FC236}">
                  <a16:creationId xmlns:a16="http://schemas.microsoft.com/office/drawing/2014/main" id="{ABF82399-02F2-ED3D-7899-3AD45334B764}"/>
                </a:ext>
              </a:extLst>
            </p:cNvPr>
            <p:cNvSpPr txBox="1">
              <a:spLocks noChangeArrowheads="1"/>
            </p:cNvSpPr>
            <p:nvPr/>
          </p:nvSpPr>
          <p:spPr bwMode="auto">
            <a:xfrm>
              <a:off x="4765" y="2619"/>
              <a:ext cx="3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lang="en-US" altLang="zh-CN" sz="1800" b="1">
                  <a:latin typeface="Verdana" panose="020B0604030504040204" pitchFamily="34" charset="0"/>
                </a:rPr>
                <a:t>K</a:t>
              </a:r>
              <a:r>
                <a:rPr lang="en-US" altLang="zh-CN" sz="1800" b="1" baseline="-25000">
                  <a:latin typeface="Verdana" panose="020B0604030504040204" pitchFamily="34" charset="0"/>
                </a:rPr>
                <a:t>2</a:t>
              </a:r>
            </a:p>
          </p:txBody>
        </p:sp>
        <p:pic>
          <p:nvPicPr>
            <p:cNvPr id="25638" name="Picture 38" descr="MCj02327690000[1]">
              <a:extLst>
                <a:ext uri="{FF2B5EF4-FFF2-40B4-BE49-F238E27FC236}">
                  <a16:creationId xmlns:a16="http://schemas.microsoft.com/office/drawing/2014/main" id="{375EAC1D-2A68-AD28-5535-D91AE17D5E2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61" y="3208"/>
              <a:ext cx="15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39" name="Line 39">
              <a:extLst>
                <a:ext uri="{FF2B5EF4-FFF2-40B4-BE49-F238E27FC236}">
                  <a16:creationId xmlns:a16="http://schemas.microsoft.com/office/drawing/2014/main" id="{D22DD440-3661-D7EE-9A0F-654901046B3A}"/>
                </a:ext>
              </a:extLst>
            </p:cNvPr>
            <p:cNvSpPr>
              <a:spLocks noChangeShapeType="1"/>
            </p:cNvSpPr>
            <p:nvPr/>
          </p:nvSpPr>
          <p:spPr bwMode="auto">
            <a:xfrm flipV="1">
              <a:off x="2339" y="2800"/>
              <a:ext cx="0" cy="3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40" name="Text Box 40">
              <a:extLst>
                <a:ext uri="{FF2B5EF4-FFF2-40B4-BE49-F238E27FC236}">
                  <a16:creationId xmlns:a16="http://schemas.microsoft.com/office/drawing/2014/main" id="{08F20102-DFCB-9CF4-FCB2-BB48E5199B70}"/>
                </a:ext>
              </a:extLst>
            </p:cNvPr>
            <p:cNvSpPr txBox="1">
              <a:spLocks noChangeArrowheads="1"/>
            </p:cNvSpPr>
            <p:nvPr/>
          </p:nvSpPr>
          <p:spPr bwMode="auto">
            <a:xfrm>
              <a:off x="2381" y="3294"/>
              <a:ext cx="3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lang="en-US" altLang="zh-CN" sz="1800" b="1">
                  <a:latin typeface="Verdana" panose="020B0604030504040204" pitchFamily="34" charset="0"/>
                </a:rPr>
                <a:t>K</a:t>
              </a:r>
              <a:r>
                <a:rPr lang="en-US" altLang="zh-CN" sz="1800" b="1" baseline="-25000">
                  <a:latin typeface="Verdana" panose="020B0604030504040204" pitchFamily="34" charset="0"/>
                </a:rPr>
                <a:t>1</a:t>
              </a:r>
            </a:p>
          </p:txBody>
        </p:sp>
        <p:pic>
          <p:nvPicPr>
            <p:cNvPr id="25641" name="Picture 41" descr="MCj02327690000[1]">
              <a:extLst>
                <a:ext uri="{FF2B5EF4-FFF2-40B4-BE49-F238E27FC236}">
                  <a16:creationId xmlns:a16="http://schemas.microsoft.com/office/drawing/2014/main" id="{694CA6E9-6214-89E7-7F43-CA22AD7E10D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72" y="2689"/>
              <a:ext cx="15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42" name="Line 42">
              <a:extLst>
                <a:ext uri="{FF2B5EF4-FFF2-40B4-BE49-F238E27FC236}">
                  <a16:creationId xmlns:a16="http://schemas.microsoft.com/office/drawing/2014/main" id="{31E76745-7011-FBFD-646F-EAA98051B095}"/>
                </a:ext>
              </a:extLst>
            </p:cNvPr>
            <p:cNvSpPr>
              <a:spLocks noChangeShapeType="1"/>
            </p:cNvSpPr>
            <p:nvPr/>
          </p:nvSpPr>
          <p:spPr bwMode="auto">
            <a:xfrm flipV="1">
              <a:off x="3750" y="2281"/>
              <a:ext cx="0" cy="3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43" name="Text Box 43">
              <a:extLst>
                <a:ext uri="{FF2B5EF4-FFF2-40B4-BE49-F238E27FC236}">
                  <a16:creationId xmlns:a16="http://schemas.microsoft.com/office/drawing/2014/main" id="{EB36C969-5498-E039-42F1-6B472A0AFF94}"/>
                </a:ext>
              </a:extLst>
            </p:cNvPr>
            <p:cNvSpPr txBox="1">
              <a:spLocks noChangeArrowheads="1"/>
            </p:cNvSpPr>
            <p:nvPr/>
          </p:nvSpPr>
          <p:spPr bwMode="auto">
            <a:xfrm>
              <a:off x="3792" y="2775"/>
              <a:ext cx="3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lang="en-US" altLang="zh-CN" sz="1800" b="1">
                  <a:latin typeface="Verdana" panose="020B0604030504040204" pitchFamily="34" charset="0"/>
                </a:rPr>
                <a:t>K</a:t>
              </a:r>
              <a:r>
                <a:rPr lang="en-US" altLang="zh-CN" sz="1800" b="1" baseline="-25000">
                  <a:latin typeface="Verdana" panose="020B0604030504040204" pitchFamily="34" charset="0"/>
                </a:rPr>
                <a:t>1</a:t>
              </a:r>
            </a:p>
          </p:txBody>
        </p:sp>
        <p:graphicFrame>
          <p:nvGraphicFramePr>
            <p:cNvPr id="25644" name="Object 46">
              <a:extLst>
                <a:ext uri="{FF2B5EF4-FFF2-40B4-BE49-F238E27FC236}">
                  <a16:creationId xmlns:a16="http://schemas.microsoft.com/office/drawing/2014/main" id="{445D856A-8872-AE5A-FBE6-9BE1EAECB9D4}"/>
                </a:ext>
              </a:extLst>
            </p:cNvPr>
            <p:cNvGraphicFramePr>
              <a:graphicFrameLocks noChangeAspect="1"/>
            </p:cNvGraphicFramePr>
            <p:nvPr/>
          </p:nvGraphicFramePr>
          <p:xfrm>
            <a:off x="2064" y="1389"/>
            <a:ext cx="1902" cy="317"/>
          </p:xfrm>
          <a:graphic>
            <a:graphicData uri="http://schemas.openxmlformats.org/presentationml/2006/ole">
              <mc:AlternateContent xmlns:mc="http://schemas.openxmlformats.org/markup-compatibility/2006">
                <mc:Choice xmlns:v="urn:schemas-microsoft-com:vml" Requires="v">
                  <p:oleObj name="公式" r:id="rId12" imgW="1447800" imgH="241300" progId="Equation.3">
                    <p:embed/>
                  </p:oleObj>
                </mc:Choice>
                <mc:Fallback>
                  <p:oleObj name="公式" r:id="rId12" imgW="1447800" imgH="241300" progId="Equation.3">
                    <p:embed/>
                    <p:pic>
                      <p:nvPicPr>
                        <p:cNvPr id="0" name="Object 4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64" y="1389"/>
                          <a:ext cx="1902"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Effect transition="in" filter="wipe(left)">
                                      <p:cBhvr>
                                        <p:cTn id="7" dur="500"/>
                                        <p:tgtEl>
                                          <p:spTgt spid="409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A4899BBE-2DE9-68E7-0023-AE65887853E8}"/>
              </a:ext>
            </a:extLst>
          </p:cNvPr>
          <p:cNvSpPr>
            <a:spLocks noGrp="1" noChangeArrowheads="1"/>
          </p:cNvSpPr>
          <p:nvPr>
            <p:ph type="sldNum" sz="quarter" idx="11"/>
          </p:nvPr>
        </p:nvSpPr>
        <p:spPr>
          <a:xfrm>
            <a:off x="8089900" y="6400800"/>
            <a:ext cx="1054100" cy="457200"/>
          </a:xfrm>
          <a:ln>
            <a:miter lim="800000"/>
            <a:headEnd/>
            <a:tailEnd/>
          </a:ln>
        </p:spPr>
        <p:txBody>
          <a:bodyPr anchor="t"/>
          <a:lstStyle>
            <a:defPPr>
              <a:defRPr lang="zh-CN"/>
            </a:defPPr>
            <a:lvl1pPr algn="r" rtl="0" fontAlgn="base">
              <a:spcBef>
                <a:spcPct val="0"/>
              </a:spcBef>
              <a:spcAft>
                <a:spcPct val="0"/>
              </a:spcAft>
              <a:defRPr kumimoji="1" sz="1600" b="1" kern="1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defRPr/>
            </a:pPr>
            <a:fld id="{141FB9F4-AB34-4E2B-8CC4-CFAAB20EC2ED}" type="slidenum">
              <a:rPr lang="en-US" altLang="zh-CN" b="0" smtClean="0">
                <a:solidFill>
                  <a:schemeClr val="tx1"/>
                </a:solidFill>
              </a:rPr>
              <a:pPr>
                <a:defRPr/>
              </a:pPr>
              <a:t>7</a:t>
            </a:fld>
            <a:endParaRPr lang="en-US" altLang="zh-CN" b="0" dirty="0">
              <a:solidFill>
                <a:schemeClr val="tx1"/>
              </a:solidFill>
            </a:endParaRPr>
          </a:p>
        </p:txBody>
      </p:sp>
      <p:sp>
        <p:nvSpPr>
          <p:cNvPr id="43010" name="Rectangle 2">
            <a:extLst>
              <a:ext uri="{FF2B5EF4-FFF2-40B4-BE49-F238E27FC236}">
                <a16:creationId xmlns:a16="http://schemas.microsoft.com/office/drawing/2014/main" id="{F3B06722-F502-931C-CAA7-F00753755F83}"/>
              </a:ext>
            </a:extLst>
          </p:cNvPr>
          <p:cNvSpPr>
            <a:spLocks noGrp="1" noChangeArrowheads="1"/>
          </p:cNvSpPr>
          <p:nvPr>
            <p:ph type="title" idx="4294967295"/>
          </p:nvPr>
        </p:nvSpPr>
        <p:spPr/>
        <p:txBody>
          <a:bodyPr/>
          <a:lstStyle/>
          <a:p>
            <a:pPr eaLnBrk="1" hangingPunct="1">
              <a:defRPr/>
            </a:pPr>
            <a:r>
              <a:rPr lang="zh-CN" altLang="en-US">
                <a:solidFill>
                  <a:srgbClr val="FF0000"/>
                </a:solidFill>
                <a:effectLst>
                  <a:outerShdw blurRad="38100" dist="38100" dir="2700000" algn="tl">
                    <a:srgbClr val="C0C0C0"/>
                  </a:outerShdw>
                </a:effectLst>
              </a:rPr>
              <a:t>消息认证码</a:t>
            </a:r>
          </a:p>
        </p:txBody>
      </p:sp>
      <p:sp>
        <p:nvSpPr>
          <p:cNvPr id="43011" name="Rectangle 3">
            <a:extLst>
              <a:ext uri="{FF2B5EF4-FFF2-40B4-BE49-F238E27FC236}">
                <a16:creationId xmlns:a16="http://schemas.microsoft.com/office/drawing/2014/main" id="{80E2479E-454B-4EC8-2411-ADA1880D365C}"/>
              </a:ext>
            </a:extLst>
          </p:cNvPr>
          <p:cNvSpPr>
            <a:spLocks noGrp="1" noChangeArrowheads="1"/>
          </p:cNvSpPr>
          <p:nvPr>
            <p:ph type="body" idx="4294967295"/>
          </p:nvPr>
        </p:nvSpPr>
        <p:spPr>
          <a:xfrm>
            <a:off x="395288" y="2017713"/>
            <a:ext cx="8559800" cy="4114800"/>
          </a:xfrm>
        </p:spPr>
        <p:txBody>
          <a:bodyPr/>
          <a:lstStyle/>
          <a:p>
            <a:pPr marL="0" indent="542925" eaLnBrk="1" hangingPunct="1">
              <a:defRPr/>
            </a:pPr>
            <a:r>
              <a:rPr lang="en-US" altLang="zh-CN" dirty="0">
                <a:effectLst>
                  <a:outerShdw blurRad="38100" dist="38100" dir="2700000" algn="tl">
                    <a:srgbClr val="C0C0C0"/>
                  </a:outerShdw>
                </a:effectLst>
                <a:ea typeface="楷体_GB2312" pitchFamily="49" charset="-122"/>
              </a:rPr>
              <a:t>MAC</a:t>
            </a:r>
            <a:r>
              <a:rPr lang="zh-CN" altLang="en-US" dirty="0">
                <a:effectLst>
                  <a:outerShdw blurRad="38100" dist="38100" dir="2700000" algn="tl">
                    <a:srgbClr val="C0C0C0"/>
                  </a:outerShdw>
                </a:effectLst>
                <a:ea typeface="楷体_GB2312" pitchFamily="49" charset="-122"/>
              </a:rPr>
              <a:t>的特点</a:t>
            </a:r>
          </a:p>
          <a:p>
            <a:pPr lvl="1" eaLnBrk="1" hangingPunct="1">
              <a:defRPr/>
            </a:pPr>
            <a:r>
              <a:rPr lang="zh-CN" altLang="en-US" dirty="0">
                <a:effectLst>
                  <a:outerShdw blurRad="38100" dist="38100" dir="2700000" algn="tl">
                    <a:srgbClr val="C0C0C0"/>
                  </a:outerShdw>
                </a:effectLst>
                <a:ea typeface="楷体_GB2312" pitchFamily="49" charset="-122"/>
              </a:rPr>
              <a:t>接收方可以相信消息未被修改</a:t>
            </a:r>
          </a:p>
          <a:p>
            <a:pPr lvl="1" eaLnBrk="1" hangingPunct="1">
              <a:defRPr/>
            </a:pPr>
            <a:r>
              <a:rPr lang="zh-CN" altLang="en-US" dirty="0">
                <a:effectLst>
                  <a:outerShdw blurRad="38100" dist="38100" dir="2700000" algn="tl">
                    <a:srgbClr val="C0C0C0"/>
                  </a:outerShdw>
                </a:effectLst>
                <a:ea typeface="楷体_GB2312" pitchFamily="49" charset="-122"/>
              </a:rPr>
              <a:t>接收方可以相信消息来自真正的发送方</a:t>
            </a:r>
          </a:p>
          <a:p>
            <a:pPr lvl="1" eaLnBrk="1" hangingPunct="1">
              <a:defRPr/>
            </a:pPr>
            <a:r>
              <a:rPr lang="zh-CN" altLang="en-US" dirty="0">
                <a:effectLst>
                  <a:outerShdw blurRad="38100" dist="38100" dir="2700000" algn="tl">
                    <a:srgbClr val="C0C0C0"/>
                  </a:outerShdw>
                </a:effectLst>
                <a:ea typeface="楷体_GB2312" pitchFamily="49" charset="-122"/>
              </a:rPr>
              <a:t>如果消息中含有序列号，那么接收方可以相信消息顺序是正确的</a:t>
            </a:r>
          </a:p>
          <a:p>
            <a:pPr lvl="1" eaLnBrk="1" hangingPunct="1">
              <a:defRPr/>
            </a:pPr>
            <a:r>
              <a:rPr lang="en-US" altLang="zh-CN" dirty="0">
                <a:effectLst>
                  <a:outerShdw blurRad="38100" dist="38100" dir="2700000" algn="tl">
                    <a:srgbClr val="C0C0C0"/>
                  </a:outerShdw>
                </a:effectLst>
                <a:ea typeface="楷体_GB2312" pitchFamily="49" charset="-122"/>
              </a:rPr>
              <a:t>MAC</a:t>
            </a:r>
            <a:r>
              <a:rPr lang="zh-CN" altLang="en-US" dirty="0">
                <a:effectLst>
                  <a:outerShdw blurRad="38100" dist="38100" dir="2700000" algn="tl">
                    <a:srgbClr val="C0C0C0"/>
                  </a:outerShdw>
                </a:effectLst>
                <a:ea typeface="楷体_GB2312" pitchFamily="49" charset="-122"/>
              </a:rPr>
              <a:t>函数与加密的区别之一是，</a:t>
            </a:r>
            <a:r>
              <a:rPr lang="en-US" altLang="zh-CN" dirty="0">
                <a:effectLst>
                  <a:outerShdw blurRad="38100" dist="38100" dir="2700000" algn="tl">
                    <a:srgbClr val="C0C0C0"/>
                  </a:outerShdw>
                </a:effectLst>
                <a:ea typeface="楷体_GB2312" pitchFamily="49" charset="-122"/>
              </a:rPr>
              <a:t>MAC</a:t>
            </a:r>
            <a:r>
              <a:rPr lang="zh-CN" altLang="en-US" dirty="0">
                <a:effectLst>
                  <a:outerShdw blurRad="38100" dist="38100" dir="2700000" algn="tl">
                    <a:srgbClr val="C0C0C0"/>
                  </a:outerShdw>
                </a:effectLst>
                <a:ea typeface="楷体_GB2312" pitchFamily="49" charset="-122"/>
              </a:rPr>
              <a:t>算法不要求可逆性</a:t>
            </a:r>
          </a:p>
          <a:p>
            <a:pPr lvl="1" eaLnBrk="1" hangingPunct="1">
              <a:defRPr/>
            </a:pPr>
            <a:r>
              <a:rPr lang="en-US" altLang="zh-CN" dirty="0">
                <a:effectLst>
                  <a:outerShdw blurRad="38100" dist="38100" dir="2700000" algn="tl">
                    <a:srgbClr val="C0C0C0"/>
                  </a:outerShdw>
                </a:effectLst>
                <a:ea typeface="楷体_GB2312" pitchFamily="49" charset="-122"/>
              </a:rPr>
              <a:t>MAC</a:t>
            </a:r>
            <a:r>
              <a:rPr lang="zh-CN" altLang="en-US" dirty="0">
                <a:effectLst>
                  <a:outerShdw blurRad="38100" dist="38100" dir="2700000" algn="tl">
                    <a:srgbClr val="C0C0C0"/>
                  </a:outerShdw>
                </a:effectLst>
                <a:ea typeface="楷体_GB2312" pitchFamily="49" charset="-122"/>
              </a:rPr>
              <a:t>不能提供数字签名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wipe(left)">
                                      <p:cBhvr>
                                        <p:cTn id="7" dur="500"/>
                                        <p:tgtEl>
                                          <p:spTgt spid="430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strips(downRight)">
                                      <p:cBhvr>
                                        <p:cTn id="12" dur="500"/>
                                        <p:tgtEl>
                                          <p:spTgt spid="43011">
                                            <p:txEl>
                                              <p:pRg st="1" end="1"/>
                                            </p:txEl>
                                          </p:spTgt>
                                        </p:tgtEl>
                                      </p:cBhvr>
                                    </p:animEffect>
                                  </p:childTnLst>
                                </p:cTn>
                              </p:par>
                            </p:childTnLst>
                          </p:cTn>
                        </p:par>
                        <p:par>
                          <p:cTn id="13" fill="hold" nodeType="afterGroup">
                            <p:stCondLst>
                              <p:cond delay="500"/>
                            </p:stCondLst>
                            <p:childTnLst>
                              <p:par>
                                <p:cTn id="14" presetID="18" presetClass="entr" presetSubtype="6" fill="hold" grpId="0" nodeType="afterEffect">
                                  <p:stCondLst>
                                    <p:cond delay="0"/>
                                  </p:stCondLst>
                                  <p:childTnLst>
                                    <p:set>
                                      <p:cBhvr>
                                        <p:cTn id="15" dur="1" fill="hold">
                                          <p:stCondLst>
                                            <p:cond delay="0"/>
                                          </p:stCondLst>
                                        </p:cTn>
                                        <p:tgtEl>
                                          <p:spTgt spid="43011">
                                            <p:txEl>
                                              <p:pRg st="2" end="2"/>
                                            </p:txEl>
                                          </p:spTgt>
                                        </p:tgtEl>
                                        <p:attrNameLst>
                                          <p:attrName>style.visibility</p:attrName>
                                        </p:attrNameLst>
                                      </p:cBhvr>
                                      <p:to>
                                        <p:strVal val="visible"/>
                                      </p:to>
                                    </p:set>
                                    <p:animEffect transition="in" filter="strips(downRight)">
                                      <p:cBhvr>
                                        <p:cTn id="16" dur="500"/>
                                        <p:tgtEl>
                                          <p:spTgt spid="43011">
                                            <p:txEl>
                                              <p:pRg st="2" end="2"/>
                                            </p:txEl>
                                          </p:spTgt>
                                        </p:tgtEl>
                                      </p:cBhvr>
                                    </p:animEffect>
                                  </p:childTnLst>
                                </p:cTn>
                              </p:par>
                            </p:childTnLst>
                          </p:cTn>
                        </p:par>
                        <p:par>
                          <p:cTn id="17" fill="hold" nodeType="afterGroup">
                            <p:stCondLst>
                              <p:cond delay="1000"/>
                            </p:stCondLst>
                            <p:childTnLst>
                              <p:par>
                                <p:cTn id="18" presetID="18" presetClass="entr" presetSubtype="6" fill="hold" grpId="0" nodeType="afterEffect">
                                  <p:stCondLst>
                                    <p:cond delay="0"/>
                                  </p:stCondLst>
                                  <p:childTnLst>
                                    <p:set>
                                      <p:cBhvr>
                                        <p:cTn id="19" dur="1" fill="hold">
                                          <p:stCondLst>
                                            <p:cond delay="0"/>
                                          </p:stCondLst>
                                        </p:cTn>
                                        <p:tgtEl>
                                          <p:spTgt spid="43011">
                                            <p:txEl>
                                              <p:pRg st="3" end="3"/>
                                            </p:txEl>
                                          </p:spTgt>
                                        </p:tgtEl>
                                        <p:attrNameLst>
                                          <p:attrName>style.visibility</p:attrName>
                                        </p:attrNameLst>
                                      </p:cBhvr>
                                      <p:to>
                                        <p:strVal val="visible"/>
                                      </p:to>
                                    </p:set>
                                    <p:animEffect transition="in" filter="strips(downRight)">
                                      <p:cBhvr>
                                        <p:cTn id="20" dur="500"/>
                                        <p:tgtEl>
                                          <p:spTgt spid="43011">
                                            <p:txEl>
                                              <p:pRg st="3" end="3"/>
                                            </p:txEl>
                                          </p:spTgt>
                                        </p:tgtEl>
                                      </p:cBhvr>
                                    </p:animEffect>
                                  </p:childTnLst>
                                </p:cTn>
                              </p:par>
                            </p:childTnLst>
                          </p:cTn>
                        </p:par>
                        <p:par>
                          <p:cTn id="21" fill="hold" nodeType="afterGroup">
                            <p:stCondLst>
                              <p:cond delay="1500"/>
                            </p:stCondLst>
                            <p:childTnLst>
                              <p:par>
                                <p:cTn id="22" presetID="18" presetClass="entr" presetSubtype="6" fill="hold" grpId="0" nodeType="afterEffect">
                                  <p:stCondLst>
                                    <p:cond delay="0"/>
                                  </p:stCondLst>
                                  <p:childTnLst>
                                    <p:set>
                                      <p:cBhvr>
                                        <p:cTn id="23" dur="1" fill="hold">
                                          <p:stCondLst>
                                            <p:cond delay="0"/>
                                          </p:stCondLst>
                                        </p:cTn>
                                        <p:tgtEl>
                                          <p:spTgt spid="43011">
                                            <p:txEl>
                                              <p:pRg st="4" end="4"/>
                                            </p:txEl>
                                          </p:spTgt>
                                        </p:tgtEl>
                                        <p:attrNameLst>
                                          <p:attrName>style.visibility</p:attrName>
                                        </p:attrNameLst>
                                      </p:cBhvr>
                                      <p:to>
                                        <p:strVal val="visible"/>
                                      </p:to>
                                    </p:set>
                                    <p:animEffect transition="in" filter="strips(downRight)">
                                      <p:cBhvr>
                                        <p:cTn id="24" dur="500"/>
                                        <p:tgtEl>
                                          <p:spTgt spid="43011">
                                            <p:txEl>
                                              <p:pRg st="4" end="4"/>
                                            </p:txEl>
                                          </p:spTgt>
                                        </p:tgtEl>
                                      </p:cBhvr>
                                    </p:animEffect>
                                  </p:childTnLst>
                                </p:cTn>
                              </p:par>
                            </p:childTnLst>
                          </p:cTn>
                        </p:par>
                        <p:par>
                          <p:cTn id="25" fill="hold" nodeType="afterGroup">
                            <p:stCondLst>
                              <p:cond delay="2000"/>
                            </p:stCondLst>
                            <p:childTnLst>
                              <p:par>
                                <p:cTn id="26" presetID="18" presetClass="entr" presetSubtype="6" fill="hold" grpId="0" nodeType="afterEffect">
                                  <p:stCondLst>
                                    <p:cond delay="0"/>
                                  </p:stCondLst>
                                  <p:childTnLst>
                                    <p:set>
                                      <p:cBhvr>
                                        <p:cTn id="27" dur="1" fill="hold">
                                          <p:stCondLst>
                                            <p:cond delay="0"/>
                                          </p:stCondLst>
                                        </p:cTn>
                                        <p:tgtEl>
                                          <p:spTgt spid="43011">
                                            <p:txEl>
                                              <p:pRg st="5" end="5"/>
                                            </p:txEl>
                                          </p:spTgt>
                                        </p:tgtEl>
                                        <p:attrNameLst>
                                          <p:attrName>style.visibility</p:attrName>
                                        </p:attrNameLst>
                                      </p:cBhvr>
                                      <p:to>
                                        <p:strVal val="visible"/>
                                      </p:to>
                                    </p:set>
                                    <p:animEffect transition="in" filter="strips(downRight)">
                                      <p:cBhvr>
                                        <p:cTn id="28" dur="500"/>
                                        <p:tgtEl>
                                          <p:spTgt spid="430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 name="Rectangle 6">
            <a:extLst>
              <a:ext uri="{FF2B5EF4-FFF2-40B4-BE49-F238E27FC236}">
                <a16:creationId xmlns:a16="http://schemas.microsoft.com/office/drawing/2014/main" id="{314964BB-7FD7-FC12-A88C-E4AF9FD5A362}"/>
              </a:ext>
            </a:extLst>
          </p:cNvPr>
          <p:cNvSpPr>
            <a:spLocks noGrp="1" noChangeArrowheads="1"/>
          </p:cNvSpPr>
          <p:nvPr>
            <p:ph type="sldNum" sz="quarter" idx="11"/>
          </p:nvPr>
        </p:nvSpPr>
        <p:spPr>
          <a:xfrm>
            <a:off x="8089900" y="6429375"/>
            <a:ext cx="1054100" cy="457200"/>
          </a:xfrm>
          <a:ln>
            <a:miter lim="800000"/>
            <a:headEnd/>
            <a:tailEnd/>
          </a:ln>
        </p:spPr>
        <p:txBody>
          <a:bodyPr anchor="t"/>
          <a:lstStyle>
            <a:defPPr>
              <a:defRPr lang="zh-CN"/>
            </a:defPPr>
            <a:lvl1pPr algn="r" rtl="0" fontAlgn="base">
              <a:spcBef>
                <a:spcPct val="0"/>
              </a:spcBef>
              <a:spcAft>
                <a:spcPct val="0"/>
              </a:spcAft>
              <a:defRPr kumimoji="1" sz="1600" b="1" kern="1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defRPr/>
            </a:pPr>
            <a:fld id="{8A952127-9C0D-4ADD-85ED-C45C786D926C}" type="slidenum">
              <a:rPr lang="en-US" altLang="zh-CN" b="0" smtClean="0">
                <a:solidFill>
                  <a:schemeClr val="tx1"/>
                </a:solidFill>
              </a:rPr>
              <a:pPr>
                <a:defRPr/>
              </a:pPr>
              <a:t>8</a:t>
            </a:fld>
            <a:endParaRPr lang="en-US" altLang="zh-CN" b="0" dirty="0">
              <a:solidFill>
                <a:schemeClr val="tx1"/>
              </a:solidFill>
            </a:endParaRPr>
          </a:p>
        </p:txBody>
      </p:sp>
      <p:sp>
        <p:nvSpPr>
          <p:cNvPr id="125954" name="Rectangle 2">
            <a:extLst>
              <a:ext uri="{FF2B5EF4-FFF2-40B4-BE49-F238E27FC236}">
                <a16:creationId xmlns:a16="http://schemas.microsoft.com/office/drawing/2014/main" id="{F1AB1B2F-4676-19FF-1E98-010D46543D48}"/>
              </a:ext>
            </a:extLst>
          </p:cNvPr>
          <p:cNvSpPr>
            <a:spLocks noGrp="1" noChangeArrowheads="1"/>
          </p:cNvSpPr>
          <p:nvPr>
            <p:ph type="title" idx="4294967295"/>
          </p:nvPr>
        </p:nvSpPr>
        <p:spPr>
          <a:xfrm>
            <a:off x="971550" y="679450"/>
            <a:ext cx="8458200" cy="1000125"/>
          </a:xfrm>
        </p:spPr>
        <p:txBody>
          <a:bodyPr/>
          <a:lstStyle/>
          <a:p>
            <a:pPr eaLnBrk="1" hangingPunct="1">
              <a:defRPr/>
            </a:pPr>
            <a:r>
              <a:rPr lang="zh-CN" altLang="en-US" sz="4000">
                <a:solidFill>
                  <a:srgbClr val="FF0000"/>
                </a:solidFill>
                <a:effectLst>
                  <a:outerShdw blurRad="38100" dist="38100" dir="2700000" algn="tl">
                    <a:srgbClr val="C0C0C0"/>
                  </a:outerShdw>
                </a:effectLst>
              </a:rPr>
              <a:t>哈希函数</a:t>
            </a:r>
            <a:r>
              <a:rPr lang="en-US" altLang="zh-CN" sz="4000">
                <a:solidFill>
                  <a:srgbClr val="FF0000"/>
                </a:solidFill>
                <a:effectLst>
                  <a:outerShdw blurRad="38100" dist="38100" dir="2700000" algn="tl">
                    <a:srgbClr val="C0C0C0"/>
                  </a:outerShdw>
                </a:effectLst>
              </a:rPr>
              <a:t>+</a:t>
            </a:r>
            <a:r>
              <a:rPr lang="zh-CN" altLang="en-US" sz="4000">
                <a:solidFill>
                  <a:srgbClr val="FF0000"/>
                </a:solidFill>
                <a:effectLst>
                  <a:outerShdw blurRad="38100" dist="38100" dir="2700000" algn="tl">
                    <a:srgbClr val="C0C0C0"/>
                  </a:outerShdw>
                </a:effectLst>
              </a:rPr>
              <a:t>对称密码算法的消息认证</a:t>
            </a:r>
          </a:p>
        </p:txBody>
      </p:sp>
      <p:sp>
        <p:nvSpPr>
          <p:cNvPr id="125955" name="Rectangle 3">
            <a:extLst>
              <a:ext uri="{FF2B5EF4-FFF2-40B4-BE49-F238E27FC236}">
                <a16:creationId xmlns:a16="http://schemas.microsoft.com/office/drawing/2014/main" id="{B9D76552-E351-73F0-D48B-E5F30F6AEEAC}"/>
              </a:ext>
            </a:extLst>
          </p:cNvPr>
          <p:cNvSpPr>
            <a:spLocks noGrp="1" noChangeArrowheads="1"/>
          </p:cNvSpPr>
          <p:nvPr>
            <p:ph type="body" idx="4294967295"/>
          </p:nvPr>
        </p:nvSpPr>
        <p:spPr>
          <a:xfrm>
            <a:off x="1065213" y="1809750"/>
            <a:ext cx="7772400" cy="4114800"/>
          </a:xfrm>
        </p:spPr>
        <p:txBody>
          <a:bodyPr/>
          <a:lstStyle/>
          <a:p>
            <a:pPr marL="0" indent="542925" eaLnBrk="1" hangingPunct="1">
              <a:defRPr/>
            </a:pPr>
            <a:r>
              <a:rPr lang="zh-CN" altLang="en-US">
                <a:effectLst>
                  <a:outerShdw blurRad="38100" dist="38100" dir="2700000" algn="tl">
                    <a:srgbClr val="C0C0C0"/>
                  </a:outerShdw>
                </a:effectLst>
                <a:ea typeface="楷体_GB2312" pitchFamily="49" charset="-122"/>
              </a:rPr>
              <a:t>消息认证</a:t>
            </a:r>
          </a:p>
        </p:txBody>
      </p:sp>
      <p:grpSp>
        <p:nvGrpSpPr>
          <p:cNvPr id="2" name="Group 4">
            <a:extLst>
              <a:ext uri="{FF2B5EF4-FFF2-40B4-BE49-F238E27FC236}">
                <a16:creationId xmlns:a16="http://schemas.microsoft.com/office/drawing/2014/main" id="{77C7E75B-2D3B-57A9-F29C-886739C9BB2F}"/>
              </a:ext>
            </a:extLst>
          </p:cNvPr>
          <p:cNvGrpSpPr>
            <a:grpSpLocks/>
          </p:cNvGrpSpPr>
          <p:nvPr/>
        </p:nvGrpSpPr>
        <p:grpSpPr bwMode="auto">
          <a:xfrm>
            <a:off x="598488" y="2555875"/>
            <a:ext cx="8088312" cy="2528888"/>
            <a:chOff x="385" y="1202"/>
            <a:chExt cx="5087" cy="1593"/>
          </a:xfrm>
        </p:grpSpPr>
        <p:sp>
          <p:nvSpPr>
            <p:cNvPr id="29703" name="AutoShape 5" descr="浅色横线">
              <a:extLst>
                <a:ext uri="{FF2B5EF4-FFF2-40B4-BE49-F238E27FC236}">
                  <a16:creationId xmlns:a16="http://schemas.microsoft.com/office/drawing/2014/main" id="{8B1BB6BD-419D-1794-B319-2818669BFDF5}"/>
                </a:ext>
              </a:extLst>
            </p:cNvPr>
            <p:cNvSpPr>
              <a:spLocks noChangeArrowheads="1"/>
            </p:cNvSpPr>
            <p:nvPr/>
          </p:nvSpPr>
          <p:spPr bwMode="auto">
            <a:xfrm>
              <a:off x="385" y="1760"/>
              <a:ext cx="317" cy="499"/>
            </a:xfrm>
            <a:prstGeom prst="foldedCorner">
              <a:avLst>
                <a:gd name="adj" fmla="val 39648"/>
              </a:avLst>
            </a:prstGeom>
            <a:blipFill dpi="0" rotWithShape="0">
              <a:blip r:embed="rId3"/>
              <a:srcRect/>
              <a:tile tx="0" ty="0" sx="100000" sy="100000" flip="none" algn="tl"/>
            </a:blipFill>
            <a:ln w="952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M</a:t>
              </a:r>
            </a:p>
          </p:txBody>
        </p:sp>
        <p:sp>
          <p:nvSpPr>
            <p:cNvPr id="29704" name="Line 6">
              <a:extLst>
                <a:ext uri="{FF2B5EF4-FFF2-40B4-BE49-F238E27FC236}">
                  <a16:creationId xmlns:a16="http://schemas.microsoft.com/office/drawing/2014/main" id="{35E6250F-91EF-7EC4-CFF8-588446957499}"/>
                </a:ext>
              </a:extLst>
            </p:cNvPr>
            <p:cNvSpPr>
              <a:spLocks noChangeShapeType="1"/>
            </p:cNvSpPr>
            <p:nvPr/>
          </p:nvSpPr>
          <p:spPr bwMode="auto">
            <a:xfrm>
              <a:off x="708" y="1870"/>
              <a:ext cx="85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29705" name="Picture 7" descr="MCj04315990000[1]">
              <a:extLst>
                <a:ext uri="{FF2B5EF4-FFF2-40B4-BE49-F238E27FC236}">
                  <a16:creationId xmlns:a16="http://schemas.microsoft.com/office/drawing/2014/main" id="{8692F330-0211-15FE-C7AA-F36CEB9B5B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0" y="1618"/>
              <a:ext cx="483"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6" name="Picture 8" descr="MCj02327690000[1]">
              <a:extLst>
                <a:ext uri="{FF2B5EF4-FFF2-40B4-BE49-F238E27FC236}">
                  <a16:creationId xmlns:a16="http://schemas.microsoft.com/office/drawing/2014/main" id="{C1A55D13-1106-22C6-7516-2B0C6F22EE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03" y="2477"/>
              <a:ext cx="15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7" name="Line 9">
              <a:extLst>
                <a:ext uri="{FF2B5EF4-FFF2-40B4-BE49-F238E27FC236}">
                  <a16:creationId xmlns:a16="http://schemas.microsoft.com/office/drawing/2014/main" id="{E5CA574D-36E2-F849-C532-EF5EC5EA8B2B}"/>
                </a:ext>
              </a:extLst>
            </p:cNvPr>
            <p:cNvSpPr>
              <a:spLocks noChangeShapeType="1"/>
            </p:cNvSpPr>
            <p:nvPr/>
          </p:nvSpPr>
          <p:spPr bwMode="auto">
            <a:xfrm flipV="1">
              <a:off x="2381" y="2069"/>
              <a:ext cx="0" cy="3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08" name="Line 10">
              <a:extLst>
                <a:ext uri="{FF2B5EF4-FFF2-40B4-BE49-F238E27FC236}">
                  <a16:creationId xmlns:a16="http://schemas.microsoft.com/office/drawing/2014/main" id="{0807CDDD-BD08-BC15-C2F5-6AE697491104}"/>
                </a:ext>
              </a:extLst>
            </p:cNvPr>
            <p:cNvSpPr>
              <a:spLocks noChangeShapeType="1"/>
            </p:cNvSpPr>
            <p:nvPr/>
          </p:nvSpPr>
          <p:spPr bwMode="auto">
            <a:xfrm>
              <a:off x="2562" y="1870"/>
              <a:ext cx="31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09" name="AutoShape 11" descr="之字形">
              <a:extLst>
                <a:ext uri="{FF2B5EF4-FFF2-40B4-BE49-F238E27FC236}">
                  <a16:creationId xmlns:a16="http://schemas.microsoft.com/office/drawing/2014/main" id="{34B879DA-43F4-C8E0-08D8-14CC28351CE6}"/>
                </a:ext>
              </a:extLst>
            </p:cNvPr>
            <p:cNvSpPr>
              <a:spLocks noChangeArrowheads="1"/>
            </p:cNvSpPr>
            <p:nvPr/>
          </p:nvSpPr>
          <p:spPr bwMode="auto">
            <a:xfrm>
              <a:off x="2890" y="1619"/>
              <a:ext cx="318" cy="740"/>
            </a:xfrm>
            <a:prstGeom prst="foldedCorner">
              <a:avLst>
                <a:gd name="adj" fmla="val 30819"/>
              </a:avLst>
            </a:prstGeom>
            <a:blipFill dpi="0" rotWithShape="0">
              <a:blip r:embed="rId6"/>
              <a:srcRect/>
              <a:tile tx="0" ty="0" sx="100000" sy="100000" flip="none" algn="tl"/>
            </a:blipFill>
            <a:ln w="952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C</a:t>
              </a:r>
            </a:p>
          </p:txBody>
        </p:sp>
        <p:sp>
          <p:nvSpPr>
            <p:cNvPr id="29710" name="Line 12">
              <a:extLst>
                <a:ext uri="{FF2B5EF4-FFF2-40B4-BE49-F238E27FC236}">
                  <a16:creationId xmlns:a16="http://schemas.microsoft.com/office/drawing/2014/main" id="{964ADE0D-DAD0-FC22-6514-F39137192F60}"/>
                </a:ext>
              </a:extLst>
            </p:cNvPr>
            <p:cNvSpPr>
              <a:spLocks noChangeShapeType="1"/>
            </p:cNvSpPr>
            <p:nvPr/>
          </p:nvSpPr>
          <p:spPr bwMode="auto">
            <a:xfrm>
              <a:off x="3228" y="1870"/>
              <a:ext cx="29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29711" name="Picture 13" descr="MCj04315980000[1]">
              <a:extLst>
                <a:ext uri="{FF2B5EF4-FFF2-40B4-BE49-F238E27FC236}">
                  <a16:creationId xmlns:a16="http://schemas.microsoft.com/office/drawing/2014/main" id="{E947EFCD-28AA-0D12-6D93-1664BB6A9D9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75" y="1633"/>
              <a:ext cx="453"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12" name="Picture 14" descr="MCj02327690000[1]">
              <a:extLst>
                <a:ext uri="{FF2B5EF4-FFF2-40B4-BE49-F238E27FC236}">
                  <a16:creationId xmlns:a16="http://schemas.microsoft.com/office/drawing/2014/main" id="{14974916-6E39-9A6B-45DB-25A12183EB9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22" y="2477"/>
              <a:ext cx="15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13" name="Line 15">
              <a:extLst>
                <a:ext uri="{FF2B5EF4-FFF2-40B4-BE49-F238E27FC236}">
                  <a16:creationId xmlns:a16="http://schemas.microsoft.com/office/drawing/2014/main" id="{A3F704B4-E158-9C2A-DE5F-DE799EF2A262}"/>
                </a:ext>
              </a:extLst>
            </p:cNvPr>
            <p:cNvSpPr>
              <a:spLocks noChangeShapeType="1"/>
            </p:cNvSpPr>
            <p:nvPr/>
          </p:nvSpPr>
          <p:spPr bwMode="auto">
            <a:xfrm flipV="1">
              <a:off x="3701" y="2069"/>
              <a:ext cx="0" cy="3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14" name="AutoShape 16" descr="10%">
              <a:extLst>
                <a:ext uri="{FF2B5EF4-FFF2-40B4-BE49-F238E27FC236}">
                  <a16:creationId xmlns:a16="http://schemas.microsoft.com/office/drawing/2014/main" id="{40171D8C-7C36-0AB0-7425-7CF2579673F0}"/>
                </a:ext>
              </a:extLst>
            </p:cNvPr>
            <p:cNvSpPr>
              <a:spLocks noChangeArrowheads="1"/>
            </p:cNvSpPr>
            <p:nvPr/>
          </p:nvSpPr>
          <p:spPr bwMode="auto">
            <a:xfrm>
              <a:off x="1020" y="2415"/>
              <a:ext cx="272" cy="272"/>
            </a:xfrm>
            <a:prstGeom prst="roundRect">
              <a:avLst>
                <a:gd name="adj" fmla="val 22083"/>
              </a:avLst>
            </a:prstGeom>
            <a:blipFill dpi="0" rotWithShape="0">
              <a:blip r:embed="rId8"/>
              <a:srcRect/>
              <a:tile tx="0" ty="0" sx="100000" sy="100000" flip="none" algn="tl"/>
            </a:blipFill>
            <a:ln w="2857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H</a:t>
              </a:r>
            </a:p>
          </p:txBody>
        </p:sp>
        <p:sp>
          <p:nvSpPr>
            <p:cNvPr id="29715" name="Line 17">
              <a:extLst>
                <a:ext uri="{FF2B5EF4-FFF2-40B4-BE49-F238E27FC236}">
                  <a16:creationId xmlns:a16="http://schemas.microsoft.com/office/drawing/2014/main" id="{3AE7F009-DDF9-A014-FBC5-8DEF6E39E5A3}"/>
                </a:ext>
              </a:extLst>
            </p:cNvPr>
            <p:cNvSpPr>
              <a:spLocks noChangeShapeType="1"/>
            </p:cNvSpPr>
            <p:nvPr/>
          </p:nvSpPr>
          <p:spPr bwMode="auto">
            <a:xfrm>
              <a:off x="703" y="2006"/>
              <a:ext cx="1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6" name="Line 18">
              <a:extLst>
                <a:ext uri="{FF2B5EF4-FFF2-40B4-BE49-F238E27FC236}">
                  <a16:creationId xmlns:a16="http://schemas.microsoft.com/office/drawing/2014/main" id="{1728A82A-8530-E415-B40F-C3CBED8F6180}"/>
                </a:ext>
              </a:extLst>
            </p:cNvPr>
            <p:cNvSpPr>
              <a:spLocks noChangeShapeType="1"/>
            </p:cNvSpPr>
            <p:nvPr/>
          </p:nvSpPr>
          <p:spPr bwMode="auto">
            <a:xfrm>
              <a:off x="839" y="2006"/>
              <a:ext cx="0" cy="54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7" name="Line 19">
              <a:extLst>
                <a:ext uri="{FF2B5EF4-FFF2-40B4-BE49-F238E27FC236}">
                  <a16:creationId xmlns:a16="http://schemas.microsoft.com/office/drawing/2014/main" id="{57A0D2DE-D647-B0E1-CF80-699D9AE4EED9}"/>
                </a:ext>
              </a:extLst>
            </p:cNvPr>
            <p:cNvSpPr>
              <a:spLocks noChangeShapeType="1"/>
            </p:cNvSpPr>
            <p:nvPr/>
          </p:nvSpPr>
          <p:spPr bwMode="auto">
            <a:xfrm>
              <a:off x="839" y="2551"/>
              <a:ext cx="18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18" name="Line 20">
              <a:extLst>
                <a:ext uri="{FF2B5EF4-FFF2-40B4-BE49-F238E27FC236}">
                  <a16:creationId xmlns:a16="http://schemas.microsoft.com/office/drawing/2014/main" id="{3A59C2FA-A8C0-EEA7-B7C8-90BD858A3218}"/>
                </a:ext>
              </a:extLst>
            </p:cNvPr>
            <p:cNvSpPr>
              <a:spLocks noChangeShapeType="1"/>
            </p:cNvSpPr>
            <p:nvPr/>
          </p:nvSpPr>
          <p:spPr bwMode="auto">
            <a:xfrm>
              <a:off x="1292" y="2551"/>
              <a:ext cx="9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9" name="Line 21">
              <a:extLst>
                <a:ext uri="{FF2B5EF4-FFF2-40B4-BE49-F238E27FC236}">
                  <a16:creationId xmlns:a16="http://schemas.microsoft.com/office/drawing/2014/main" id="{E4DF6562-7344-4321-266C-197DDD056D86}"/>
                </a:ext>
              </a:extLst>
            </p:cNvPr>
            <p:cNvSpPr>
              <a:spLocks noChangeShapeType="1"/>
            </p:cNvSpPr>
            <p:nvPr/>
          </p:nvSpPr>
          <p:spPr bwMode="auto">
            <a:xfrm flipV="1">
              <a:off x="1383" y="2233"/>
              <a:ext cx="0" cy="31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20" name="Line 22">
              <a:extLst>
                <a:ext uri="{FF2B5EF4-FFF2-40B4-BE49-F238E27FC236}">
                  <a16:creationId xmlns:a16="http://schemas.microsoft.com/office/drawing/2014/main" id="{CECC98D5-5002-64D7-27A3-83167C752DA6}"/>
                </a:ext>
              </a:extLst>
            </p:cNvPr>
            <p:cNvSpPr>
              <a:spLocks noChangeShapeType="1"/>
            </p:cNvSpPr>
            <p:nvPr/>
          </p:nvSpPr>
          <p:spPr bwMode="auto">
            <a:xfrm>
              <a:off x="1383" y="2233"/>
              <a:ext cx="1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9721" name="Group 23">
              <a:extLst>
                <a:ext uri="{FF2B5EF4-FFF2-40B4-BE49-F238E27FC236}">
                  <a16:creationId xmlns:a16="http://schemas.microsoft.com/office/drawing/2014/main" id="{B54088E9-CC9E-DF29-7C6C-0DDA4053B4FD}"/>
                </a:ext>
              </a:extLst>
            </p:cNvPr>
            <p:cNvGrpSpPr>
              <a:grpSpLocks/>
            </p:cNvGrpSpPr>
            <p:nvPr/>
          </p:nvGrpSpPr>
          <p:grpSpPr bwMode="auto">
            <a:xfrm>
              <a:off x="1565" y="1668"/>
              <a:ext cx="408" cy="681"/>
              <a:chOff x="1565" y="1867"/>
              <a:chExt cx="408" cy="681"/>
            </a:xfrm>
          </p:grpSpPr>
          <p:sp>
            <p:nvSpPr>
              <p:cNvPr id="29734" name="AutoShape 24">
                <a:extLst>
                  <a:ext uri="{FF2B5EF4-FFF2-40B4-BE49-F238E27FC236}">
                    <a16:creationId xmlns:a16="http://schemas.microsoft.com/office/drawing/2014/main" id="{45B1E04F-C107-4ABE-C227-61877D997CE1}"/>
                  </a:ext>
                </a:extLst>
              </p:cNvPr>
              <p:cNvSpPr>
                <a:spLocks noChangeArrowheads="1"/>
              </p:cNvSpPr>
              <p:nvPr/>
            </p:nvSpPr>
            <p:spPr bwMode="auto">
              <a:xfrm>
                <a:off x="1565" y="1867"/>
                <a:ext cx="408" cy="681"/>
              </a:xfrm>
              <a:prstGeom prst="bevel">
                <a:avLst>
                  <a:gd name="adj" fmla="val 5394"/>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M</a:t>
                </a:r>
              </a:p>
              <a:p>
                <a:pPr algn="ctr" eaLnBrk="1" hangingPunct="1">
                  <a:spcBef>
                    <a:spcPct val="0"/>
                  </a:spcBef>
                  <a:buClrTx/>
                  <a:buSzTx/>
                  <a:buFontTx/>
                  <a:buNone/>
                </a:pPr>
                <a:endParaRPr lang="en-US" altLang="zh-CN" sz="2000" b="1">
                  <a:latin typeface="Verdana" panose="020B0604030504040204" pitchFamily="34" charset="0"/>
                </a:endParaRPr>
              </a:p>
              <a:p>
                <a:pPr algn="ctr" eaLnBrk="1" hangingPunct="1">
                  <a:spcBef>
                    <a:spcPct val="0"/>
                  </a:spcBef>
                  <a:buClrTx/>
                  <a:buSzTx/>
                  <a:buFontTx/>
                  <a:buNone/>
                </a:pPr>
                <a:r>
                  <a:rPr lang="en-US" altLang="zh-CN" sz="2000" b="1">
                    <a:latin typeface="Verdana" panose="020B0604030504040204" pitchFamily="34" charset="0"/>
                  </a:rPr>
                  <a:t>H</a:t>
                </a:r>
              </a:p>
            </p:txBody>
          </p:sp>
          <p:sp>
            <p:nvSpPr>
              <p:cNvPr id="29735" name="Line 25">
                <a:extLst>
                  <a:ext uri="{FF2B5EF4-FFF2-40B4-BE49-F238E27FC236}">
                    <a16:creationId xmlns:a16="http://schemas.microsoft.com/office/drawing/2014/main" id="{7CD689AB-D8F6-DE62-00E5-1B57101E4871}"/>
                  </a:ext>
                </a:extLst>
              </p:cNvPr>
              <p:cNvSpPr>
                <a:spLocks noChangeShapeType="1"/>
              </p:cNvSpPr>
              <p:nvPr/>
            </p:nvSpPr>
            <p:spPr bwMode="auto">
              <a:xfrm>
                <a:off x="1590" y="2275"/>
                <a:ext cx="34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9722" name="Line 26">
              <a:extLst>
                <a:ext uri="{FF2B5EF4-FFF2-40B4-BE49-F238E27FC236}">
                  <a16:creationId xmlns:a16="http://schemas.microsoft.com/office/drawing/2014/main" id="{AFCC158B-9961-EB8E-CBE9-E0E4506F2A89}"/>
                </a:ext>
              </a:extLst>
            </p:cNvPr>
            <p:cNvSpPr>
              <a:spLocks noChangeShapeType="1"/>
            </p:cNvSpPr>
            <p:nvPr/>
          </p:nvSpPr>
          <p:spPr bwMode="auto">
            <a:xfrm>
              <a:off x="1973" y="1870"/>
              <a:ext cx="22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3" name="Line 27">
              <a:extLst>
                <a:ext uri="{FF2B5EF4-FFF2-40B4-BE49-F238E27FC236}">
                  <a16:creationId xmlns:a16="http://schemas.microsoft.com/office/drawing/2014/main" id="{6A2D69A2-68DF-4460-B860-E3C152609141}"/>
                </a:ext>
              </a:extLst>
            </p:cNvPr>
            <p:cNvSpPr>
              <a:spLocks noChangeShapeType="1"/>
            </p:cNvSpPr>
            <p:nvPr/>
          </p:nvSpPr>
          <p:spPr bwMode="auto">
            <a:xfrm>
              <a:off x="3878" y="1870"/>
              <a:ext cx="22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9724" name="Group 28">
              <a:extLst>
                <a:ext uri="{FF2B5EF4-FFF2-40B4-BE49-F238E27FC236}">
                  <a16:creationId xmlns:a16="http://schemas.microsoft.com/office/drawing/2014/main" id="{5089C68A-9AC2-3DA6-16B5-221E33904C29}"/>
                </a:ext>
              </a:extLst>
            </p:cNvPr>
            <p:cNvGrpSpPr>
              <a:grpSpLocks/>
            </p:cNvGrpSpPr>
            <p:nvPr/>
          </p:nvGrpSpPr>
          <p:grpSpPr bwMode="auto">
            <a:xfrm>
              <a:off x="4105" y="1643"/>
              <a:ext cx="408" cy="681"/>
              <a:chOff x="1565" y="1867"/>
              <a:chExt cx="408" cy="681"/>
            </a:xfrm>
          </p:grpSpPr>
          <p:sp>
            <p:nvSpPr>
              <p:cNvPr id="29732" name="AutoShape 29">
                <a:extLst>
                  <a:ext uri="{FF2B5EF4-FFF2-40B4-BE49-F238E27FC236}">
                    <a16:creationId xmlns:a16="http://schemas.microsoft.com/office/drawing/2014/main" id="{027CA1C3-E980-D084-15BA-39721A1E8BA0}"/>
                  </a:ext>
                </a:extLst>
              </p:cNvPr>
              <p:cNvSpPr>
                <a:spLocks noChangeArrowheads="1"/>
              </p:cNvSpPr>
              <p:nvPr/>
            </p:nvSpPr>
            <p:spPr bwMode="auto">
              <a:xfrm>
                <a:off x="1565" y="1867"/>
                <a:ext cx="408" cy="681"/>
              </a:xfrm>
              <a:prstGeom prst="bevel">
                <a:avLst>
                  <a:gd name="adj" fmla="val 5394"/>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M</a:t>
                </a:r>
              </a:p>
              <a:p>
                <a:pPr algn="ctr" eaLnBrk="1" hangingPunct="1">
                  <a:spcBef>
                    <a:spcPct val="0"/>
                  </a:spcBef>
                  <a:buClrTx/>
                  <a:buSzTx/>
                  <a:buFontTx/>
                  <a:buNone/>
                </a:pPr>
                <a:endParaRPr lang="en-US" altLang="zh-CN" sz="2000" b="1">
                  <a:latin typeface="Verdana" panose="020B0604030504040204" pitchFamily="34" charset="0"/>
                </a:endParaRPr>
              </a:p>
              <a:p>
                <a:pPr algn="ctr" eaLnBrk="1" hangingPunct="1">
                  <a:spcBef>
                    <a:spcPct val="0"/>
                  </a:spcBef>
                  <a:buClrTx/>
                  <a:buSzTx/>
                  <a:buFontTx/>
                  <a:buNone/>
                </a:pPr>
                <a:r>
                  <a:rPr lang="en-US" altLang="zh-CN" sz="2000" b="1">
                    <a:latin typeface="Verdana" panose="020B0604030504040204" pitchFamily="34" charset="0"/>
                  </a:rPr>
                  <a:t>H</a:t>
                </a:r>
              </a:p>
            </p:txBody>
          </p:sp>
          <p:sp>
            <p:nvSpPr>
              <p:cNvPr id="29733" name="Line 30">
                <a:extLst>
                  <a:ext uri="{FF2B5EF4-FFF2-40B4-BE49-F238E27FC236}">
                    <a16:creationId xmlns:a16="http://schemas.microsoft.com/office/drawing/2014/main" id="{24C2AFCB-B0D4-55AF-A141-5972D90DEEF0}"/>
                  </a:ext>
                </a:extLst>
              </p:cNvPr>
              <p:cNvSpPr>
                <a:spLocks noChangeShapeType="1"/>
              </p:cNvSpPr>
              <p:nvPr/>
            </p:nvSpPr>
            <p:spPr bwMode="auto">
              <a:xfrm>
                <a:off x="1590" y="2275"/>
                <a:ext cx="34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9725" name="Line 31">
              <a:extLst>
                <a:ext uri="{FF2B5EF4-FFF2-40B4-BE49-F238E27FC236}">
                  <a16:creationId xmlns:a16="http://schemas.microsoft.com/office/drawing/2014/main" id="{24C2FB56-9D38-0C01-5CB7-283242C934D1}"/>
                </a:ext>
              </a:extLst>
            </p:cNvPr>
            <p:cNvSpPr>
              <a:spLocks noChangeShapeType="1"/>
            </p:cNvSpPr>
            <p:nvPr/>
          </p:nvSpPr>
          <p:spPr bwMode="auto">
            <a:xfrm>
              <a:off x="4513" y="1870"/>
              <a:ext cx="27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6" name="AutoShape 32" descr="10%">
              <a:extLst>
                <a:ext uri="{FF2B5EF4-FFF2-40B4-BE49-F238E27FC236}">
                  <a16:creationId xmlns:a16="http://schemas.microsoft.com/office/drawing/2014/main" id="{526116B3-1F2C-FF30-EBD5-0EF2BE2B08F0}"/>
                </a:ext>
              </a:extLst>
            </p:cNvPr>
            <p:cNvSpPr>
              <a:spLocks noChangeArrowheads="1"/>
            </p:cNvSpPr>
            <p:nvPr/>
          </p:nvSpPr>
          <p:spPr bwMode="auto">
            <a:xfrm>
              <a:off x="4795" y="1734"/>
              <a:ext cx="272" cy="272"/>
            </a:xfrm>
            <a:prstGeom prst="roundRect">
              <a:avLst>
                <a:gd name="adj" fmla="val 22083"/>
              </a:avLst>
            </a:prstGeom>
            <a:blipFill dpi="0" rotWithShape="0">
              <a:blip r:embed="rId8"/>
              <a:srcRect/>
              <a:tile tx="0" ty="0" sx="100000" sy="100000" flip="none" algn="tl"/>
            </a:blipFill>
            <a:ln w="2857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H</a:t>
              </a:r>
            </a:p>
          </p:txBody>
        </p:sp>
        <p:sp>
          <p:nvSpPr>
            <p:cNvPr id="29727" name="Line 33">
              <a:extLst>
                <a:ext uri="{FF2B5EF4-FFF2-40B4-BE49-F238E27FC236}">
                  <a16:creationId xmlns:a16="http://schemas.microsoft.com/office/drawing/2014/main" id="{076B0617-86F9-876A-AB08-63028AABF4AF}"/>
                </a:ext>
              </a:extLst>
            </p:cNvPr>
            <p:cNvSpPr>
              <a:spLocks noChangeShapeType="1"/>
            </p:cNvSpPr>
            <p:nvPr/>
          </p:nvSpPr>
          <p:spPr bwMode="auto">
            <a:xfrm>
              <a:off x="5057" y="1860"/>
              <a:ext cx="2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28" name="Line 34">
              <a:extLst>
                <a:ext uri="{FF2B5EF4-FFF2-40B4-BE49-F238E27FC236}">
                  <a16:creationId xmlns:a16="http://schemas.microsoft.com/office/drawing/2014/main" id="{C07607B4-94B5-D478-43AD-6743017E7F2C}"/>
                </a:ext>
              </a:extLst>
            </p:cNvPr>
            <p:cNvSpPr>
              <a:spLocks noChangeShapeType="1"/>
            </p:cNvSpPr>
            <p:nvPr/>
          </p:nvSpPr>
          <p:spPr bwMode="auto">
            <a:xfrm>
              <a:off x="5329" y="1870"/>
              <a:ext cx="0" cy="27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9" name="Line 35">
              <a:extLst>
                <a:ext uri="{FF2B5EF4-FFF2-40B4-BE49-F238E27FC236}">
                  <a16:creationId xmlns:a16="http://schemas.microsoft.com/office/drawing/2014/main" id="{B048B7C7-20AF-2C7F-8DC6-8BE82B5CF37E}"/>
                </a:ext>
              </a:extLst>
            </p:cNvPr>
            <p:cNvSpPr>
              <a:spLocks noChangeShapeType="1"/>
            </p:cNvSpPr>
            <p:nvPr/>
          </p:nvSpPr>
          <p:spPr bwMode="auto">
            <a:xfrm>
              <a:off x="4508" y="2188"/>
              <a:ext cx="499"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30" name="Text Box 36">
              <a:extLst>
                <a:ext uri="{FF2B5EF4-FFF2-40B4-BE49-F238E27FC236}">
                  <a16:creationId xmlns:a16="http://schemas.microsoft.com/office/drawing/2014/main" id="{4C8F4B52-E49F-46D8-EF1D-2234E483C32D}"/>
                </a:ext>
              </a:extLst>
            </p:cNvPr>
            <p:cNvSpPr txBox="1">
              <a:spLocks noChangeArrowheads="1"/>
            </p:cNvSpPr>
            <p:nvPr/>
          </p:nvSpPr>
          <p:spPr bwMode="auto">
            <a:xfrm>
              <a:off x="4927" y="2102"/>
              <a:ext cx="54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lang="zh-CN" altLang="en-US" sz="2000" b="1">
                  <a:latin typeface="Verdana" panose="020B0604030504040204" pitchFamily="34" charset="0"/>
                </a:rPr>
                <a:t>比较</a:t>
              </a:r>
            </a:p>
          </p:txBody>
        </p:sp>
        <p:graphicFrame>
          <p:nvGraphicFramePr>
            <p:cNvPr id="29731" name="Object 37">
              <a:extLst>
                <a:ext uri="{FF2B5EF4-FFF2-40B4-BE49-F238E27FC236}">
                  <a16:creationId xmlns:a16="http://schemas.microsoft.com/office/drawing/2014/main" id="{21F4D0DF-6D68-684F-7998-25359E4F0347}"/>
                </a:ext>
              </a:extLst>
            </p:cNvPr>
            <p:cNvGraphicFramePr>
              <a:graphicFrameLocks noChangeAspect="1"/>
            </p:cNvGraphicFramePr>
            <p:nvPr/>
          </p:nvGraphicFramePr>
          <p:xfrm>
            <a:off x="2245" y="1202"/>
            <a:ext cx="1497" cy="355"/>
          </p:xfrm>
          <a:graphic>
            <a:graphicData uri="http://schemas.openxmlformats.org/presentationml/2006/ole">
              <mc:AlternateContent xmlns:mc="http://schemas.openxmlformats.org/markup-compatibility/2006">
                <mc:Choice xmlns:v="urn:schemas-microsoft-com:vml" Requires="v">
                  <p:oleObj name="公式" r:id="rId9" imgW="965200" imgH="228600" progId="Equation.3">
                    <p:embed/>
                  </p:oleObj>
                </mc:Choice>
                <mc:Fallback>
                  <p:oleObj name="公式" r:id="rId9" imgW="965200" imgH="228600" progId="Equation.3">
                    <p:embed/>
                    <p:pic>
                      <p:nvPicPr>
                        <p:cNvPr id="0" name="Object 3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45" y="1202"/>
                          <a:ext cx="1497" cy="3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25990" name="Text Box 38">
            <a:extLst>
              <a:ext uri="{FF2B5EF4-FFF2-40B4-BE49-F238E27FC236}">
                <a16:creationId xmlns:a16="http://schemas.microsoft.com/office/drawing/2014/main" id="{68A85322-5A66-0E41-51E4-C1383E36B84D}"/>
              </a:ext>
            </a:extLst>
          </p:cNvPr>
          <p:cNvSpPr txBox="1">
            <a:spLocks noChangeArrowheads="1"/>
          </p:cNvSpPr>
          <p:nvPr/>
        </p:nvSpPr>
        <p:spPr bwMode="auto">
          <a:xfrm>
            <a:off x="6300788" y="5084763"/>
            <a:ext cx="2089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lang="zh-CN" altLang="en-US" sz="2800" b="1">
                <a:solidFill>
                  <a:srgbClr val="FF0066"/>
                </a:solidFill>
                <a:latin typeface="楷体_GB2312" pitchFamily="49" charset="-122"/>
                <a:ea typeface="楷体_GB2312" pitchFamily="49" charset="-122"/>
              </a:rPr>
              <a:t>认证</a:t>
            </a:r>
            <a:r>
              <a:rPr lang="en-US" altLang="zh-CN" sz="2800" b="1">
                <a:solidFill>
                  <a:srgbClr val="FF0066"/>
                </a:solidFill>
                <a:latin typeface="楷体_GB2312" pitchFamily="49" charset="-122"/>
                <a:ea typeface="楷体_GB2312" pitchFamily="49" charset="-122"/>
              </a:rPr>
              <a:t>+</a:t>
            </a:r>
            <a:r>
              <a:rPr lang="zh-CN" altLang="en-US" sz="2800" b="1">
                <a:solidFill>
                  <a:srgbClr val="FF0066"/>
                </a:solidFill>
                <a:latin typeface="楷体_GB2312" pitchFamily="49" charset="-122"/>
                <a:ea typeface="楷体_GB2312" pitchFamily="49" charset="-122"/>
              </a:rPr>
              <a:t>保密</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25955">
                                            <p:txEl>
                                              <p:pRg st="0" end="0"/>
                                            </p:txEl>
                                          </p:spTgt>
                                        </p:tgtEl>
                                        <p:attrNameLst>
                                          <p:attrName>style.visibility</p:attrName>
                                        </p:attrNameLst>
                                      </p:cBhvr>
                                      <p:to>
                                        <p:strVal val="visible"/>
                                      </p:to>
                                    </p:set>
                                    <p:animEffect transition="in" filter="wipe(left)">
                                      <p:cBhvr>
                                        <p:cTn id="7" dur="500"/>
                                        <p:tgtEl>
                                          <p:spTgt spid="1259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25990"/>
                                        </p:tgtEl>
                                        <p:attrNameLst>
                                          <p:attrName>style.visibility</p:attrName>
                                        </p:attrNameLst>
                                      </p:cBhvr>
                                      <p:to>
                                        <p:strVal val="visible"/>
                                      </p:to>
                                    </p:set>
                                    <p:animEffect transition="in" filter="slide(fromBottom)">
                                      <p:cBhvr>
                                        <p:cTn id="17" dur="500"/>
                                        <p:tgtEl>
                                          <p:spTgt spid="1259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90"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 name="Rectangle 6">
            <a:extLst>
              <a:ext uri="{FF2B5EF4-FFF2-40B4-BE49-F238E27FC236}">
                <a16:creationId xmlns:a16="http://schemas.microsoft.com/office/drawing/2014/main" id="{61B95766-56DE-363E-1A2C-4A4177FF7C6C}"/>
              </a:ext>
            </a:extLst>
          </p:cNvPr>
          <p:cNvSpPr>
            <a:spLocks noGrp="1" noChangeArrowheads="1"/>
          </p:cNvSpPr>
          <p:nvPr>
            <p:ph type="sldNum" sz="quarter" idx="11"/>
          </p:nvPr>
        </p:nvSpPr>
        <p:spPr>
          <a:xfrm>
            <a:off x="7999413" y="6538913"/>
            <a:ext cx="1054100" cy="457200"/>
          </a:xfrm>
          <a:ln>
            <a:miter lim="800000"/>
            <a:headEnd/>
            <a:tailEnd/>
          </a:ln>
        </p:spPr>
        <p:txBody>
          <a:bodyPr anchor="t"/>
          <a:lstStyle>
            <a:defPPr>
              <a:defRPr lang="zh-CN"/>
            </a:defPPr>
            <a:lvl1pPr algn="r" rtl="0" fontAlgn="base">
              <a:spcBef>
                <a:spcPct val="0"/>
              </a:spcBef>
              <a:spcAft>
                <a:spcPct val="0"/>
              </a:spcAft>
              <a:defRPr kumimoji="1" sz="1600" b="1" kern="1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defRPr/>
            </a:pPr>
            <a:fld id="{AAA5EE66-E31C-4CB2-8FA3-E770671F85E7}" type="slidenum">
              <a:rPr lang="en-US" altLang="zh-CN" b="0" smtClean="0">
                <a:solidFill>
                  <a:schemeClr val="tx1"/>
                </a:solidFill>
              </a:rPr>
              <a:pPr>
                <a:defRPr/>
              </a:pPr>
              <a:t>9</a:t>
            </a:fld>
            <a:endParaRPr lang="en-US" altLang="zh-CN" b="0" dirty="0">
              <a:solidFill>
                <a:schemeClr val="tx1"/>
              </a:solidFill>
            </a:endParaRPr>
          </a:p>
        </p:txBody>
      </p:sp>
      <p:sp>
        <p:nvSpPr>
          <p:cNvPr id="123907" name="Rectangle 3">
            <a:extLst>
              <a:ext uri="{FF2B5EF4-FFF2-40B4-BE49-F238E27FC236}">
                <a16:creationId xmlns:a16="http://schemas.microsoft.com/office/drawing/2014/main" id="{2CDA541E-8FA3-8FBA-4FAC-B4267E91160D}"/>
              </a:ext>
            </a:extLst>
          </p:cNvPr>
          <p:cNvSpPr>
            <a:spLocks noGrp="1" noChangeArrowheads="1"/>
          </p:cNvSpPr>
          <p:nvPr>
            <p:ph type="body" idx="4294967295"/>
          </p:nvPr>
        </p:nvSpPr>
        <p:spPr/>
        <p:txBody>
          <a:bodyPr/>
          <a:lstStyle/>
          <a:p>
            <a:pPr marL="0" indent="542925" eaLnBrk="1" hangingPunct="1">
              <a:defRPr/>
            </a:pPr>
            <a:r>
              <a:rPr lang="zh-CN" altLang="en-US">
                <a:effectLst>
                  <a:outerShdw blurRad="38100" dist="38100" dir="2700000" algn="tl">
                    <a:srgbClr val="C0C0C0"/>
                  </a:outerShdw>
                </a:effectLst>
                <a:ea typeface="楷体_GB2312" pitchFamily="49" charset="-122"/>
              </a:rPr>
              <a:t>消息认证</a:t>
            </a:r>
          </a:p>
        </p:txBody>
      </p:sp>
      <p:grpSp>
        <p:nvGrpSpPr>
          <p:cNvPr id="2" name="Group 42">
            <a:extLst>
              <a:ext uri="{FF2B5EF4-FFF2-40B4-BE49-F238E27FC236}">
                <a16:creationId xmlns:a16="http://schemas.microsoft.com/office/drawing/2014/main" id="{60C91526-75AF-C6F9-A089-53D9C55E9AA5}"/>
              </a:ext>
            </a:extLst>
          </p:cNvPr>
          <p:cNvGrpSpPr>
            <a:grpSpLocks/>
          </p:cNvGrpSpPr>
          <p:nvPr/>
        </p:nvGrpSpPr>
        <p:grpSpPr bwMode="auto">
          <a:xfrm>
            <a:off x="1331913" y="2060575"/>
            <a:ext cx="6569075" cy="3551238"/>
            <a:chOff x="385" y="1344"/>
            <a:chExt cx="4138" cy="2237"/>
          </a:xfrm>
        </p:grpSpPr>
        <p:sp>
          <p:nvSpPr>
            <p:cNvPr id="31751" name="AutoShape 5" descr="浅色横线">
              <a:extLst>
                <a:ext uri="{FF2B5EF4-FFF2-40B4-BE49-F238E27FC236}">
                  <a16:creationId xmlns:a16="http://schemas.microsoft.com/office/drawing/2014/main" id="{0E4E6A9F-F0DD-22F8-C088-2C135FB776F7}"/>
                </a:ext>
              </a:extLst>
            </p:cNvPr>
            <p:cNvSpPr>
              <a:spLocks noChangeArrowheads="1"/>
            </p:cNvSpPr>
            <p:nvPr/>
          </p:nvSpPr>
          <p:spPr bwMode="auto">
            <a:xfrm>
              <a:off x="385" y="1902"/>
              <a:ext cx="317" cy="499"/>
            </a:xfrm>
            <a:prstGeom prst="foldedCorner">
              <a:avLst>
                <a:gd name="adj" fmla="val 39648"/>
              </a:avLst>
            </a:prstGeom>
            <a:blipFill dpi="0" rotWithShape="0">
              <a:blip r:embed="rId3"/>
              <a:srcRect/>
              <a:tile tx="0" ty="0" sx="100000" sy="100000" flip="none" algn="tl"/>
            </a:blipFill>
            <a:ln w="952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M</a:t>
              </a:r>
            </a:p>
          </p:txBody>
        </p:sp>
        <p:sp>
          <p:nvSpPr>
            <p:cNvPr id="31752" name="Line 6">
              <a:extLst>
                <a:ext uri="{FF2B5EF4-FFF2-40B4-BE49-F238E27FC236}">
                  <a16:creationId xmlns:a16="http://schemas.microsoft.com/office/drawing/2014/main" id="{DABDCC20-727C-F45F-3B43-A1A70FD14005}"/>
                </a:ext>
              </a:extLst>
            </p:cNvPr>
            <p:cNvSpPr>
              <a:spLocks noChangeShapeType="1"/>
            </p:cNvSpPr>
            <p:nvPr/>
          </p:nvSpPr>
          <p:spPr bwMode="auto">
            <a:xfrm>
              <a:off x="708" y="2012"/>
              <a:ext cx="162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31753" name="Picture 7" descr="MCj04315990000[1]">
              <a:extLst>
                <a:ext uri="{FF2B5EF4-FFF2-40B4-BE49-F238E27FC236}">
                  <a16:creationId xmlns:a16="http://schemas.microsoft.com/office/drawing/2014/main" id="{5D076234-AF1F-AB4B-F2A1-022B330432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6" y="2396"/>
              <a:ext cx="483"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4" name="Picture 8" descr="MCj02327690000[1]">
              <a:extLst>
                <a:ext uri="{FF2B5EF4-FFF2-40B4-BE49-F238E27FC236}">
                  <a16:creationId xmlns:a16="http://schemas.microsoft.com/office/drawing/2014/main" id="{A439CA6B-F5B9-B6CA-FFA1-BC6E515E1C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 y="3263"/>
              <a:ext cx="15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5" name="Line 9">
              <a:extLst>
                <a:ext uri="{FF2B5EF4-FFF2-40B4-BE49-F238E27FC236}">
                  <a16:creationId xmlns:a16="http://schemas.microsoft.com/office/drawing/2014/main" id="{79329336-913F-8E32-0827-58476B5AFF9D}"/>
                </a:ext>
              </a:extLst>
            </p:cNvPr>
            <p:cNvSpPr>
              <a:spLocks noChangeShapeType="1"/>
            </p:cNvSpPr>
            <p:nvPr/>
          </p:nvSpPr>
          <p:spPr bwMode="auto">
            <a:xfrm flipV="1">
              <a:off x="1697" y="2855"/>
              <a:ext cx="0" cy="3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56" name="Line 10">
              <a:extLst>
                <a:ext uri="{FF2B5EF4-FFF2-40B4-BE49-F238E27FC236}">
                  <a16:creationId xmlns:a16="http://schemas.microsoft.com/office/drawing/2014/main" id="{E3DB95F6-791E-364C-7C7A-FF440AE275B9}"/>
                </a:ext>
              </a:extLst>
            </p:cNvPr>
            <p:cNvSpPr>
              <a:spLocks noChangeShapeType="1"/>
            </p:cNvSpPr>
            <p:nvPr/>
          </p:nvSpPr>
          <p:spPr bwMode="auto">
            <a:xfrm>
              <a:off x="2789" y="1948"/>
              <a:ext cx="499"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57" name="Line 12">
              <a:extLst>
                <a:ext uri="{FF2B5EF4-FFF2-40B4-BE49-F238E27FC236}">
                  <a16:creationId xmlns:a16="http://schemas.microsoft.com/office/drawing/2014/main" id="{61532294-C66F-DE80-D229-5F41C424E2D2}"/>
                </a:ext>
              </a:extLst>
            </p:cNvPr>
            <p:cNvSpPr>
              <a:spLocks noChangeShapeType="1"/>
            </p:cNvSpPr>
            <p:nvPr/>
          </p:nvSpPr>
          <p:spPr bwMode="auto">
            <a:xfrm>
              <a:off x="3696" y="2387"/>
              <a:ext cx="29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31758" name="Picture 13" descr="MCj04315980000[1]">
              <a:extLst>
                <a:ext uri="{FF2B5EF4-FFF2-40B4-BE49-F238E27FC236}">
                  <a16:creationId xmlns:a16="http://schemas.microsoft.com/office/drawing/2014/main" id="{87C58222-FA7E-CCFB-2EC0-F09B216EA3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1" y="2169"/>
              <a:ext cx="453"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9" name="Picture 14" descr="MCj02327690000[1]">
              <a:extLst>
                <a:ext uri="{FF2B5EF4-FFF2-40B4-BE49-F238E27FC236}">
                  <a16:creationId xmlns:a16="http://schemas.microsoft.com/office/drawing/2014/main" id="{948C8485-2AEC-E564-FA95-C898D7BF57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6" y="3185"/>
              <a:ext cx="158"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60" name="Line 15">
              <a:extLst>
                <a:ext uri="{FF2B5EF4-FFF2-40B4-BE49-F238E27FC236}">
                  <a16:creationId xmlns:a16="http://schemas.microsoft.com/office/drawing/2014/main" id="{8FD15EBE-0526-1ADE-B08F-5EB00563BA5D}"/>
                </a:ext>
              </a:extLst>
            </p:cNvPr>
            <p:cNvSpPr>
              <a:spLocks noChangeShapeType="1"/>
            </p:cNvSpPr>
            <p:nvPr/>
          </p:nvSpPr>
          <p:spPr bwMode="auto">
            <a:xfrm flipV="1">
              <a:off x="3488" y="2614"/>
              <a:ext cx="0" cy="499"/>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1" name="AutoShape 16" descr="10%">
              <a:extLst>
                <a:ext uri="{FF2B5EF4-FFF2-40B4-BE49-F238E27FC236}">
                  <a16:creationId xmlns:a16="http://schemas.microsoft.com/office/drawing/2014/main" id="{73E63880-2C3F-2115-E5E1-560BC5CCA54A}"/>
                </a:ext>
              </a:extLst>
            </p:cNvPr>
            <p:cNvSpPr>
              <a:spLocks noChangeArrowheads="1"/>
            </p:cNvSpPr>
            <p:nvPr/>
          </p:nvSpPr>
          <p:spPr bwMode="auto">
            <a:xfrm>
              <a:off x="1020" y="2557"/>
              <a:ext cx="272" cy="272"/>
            </a:xfrm>
            <a:prstGeom prst="roundRect">
              <a:avLst>
                <a:gd name="adj" fmla="val 22083"/>
              </a:avLst>
            </a:prstGeom>
            <a:blipFill dpi="0" rotWithShape="0">
              <a:blip r:embed="rId7"/>
              <a:srcRect/>
              <a:tile tx="0" ty="0" sx="100000" sy="100000" flip="none" algn="tl"/>
            </a:blipFill>
            <a:ln w="2857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H</a:t>
              </a:r>
            </a:p>
          </p:txBody>
        </p:sp>
        <p:sp>
          <p:nvSpPr>
            <p:cNvPr id="31762" name="Line 17">
              <a:extLst>
                <a:ext uri="{FF2B5EF4-FFF2-40B4-BE49-F238E27FC236}">
                  <a16:creationId xmlns:a16="http://schemas.microsoft.com/office/drawing/2014/main" id="{5C002A4C-6C07-81DA-E880-FFD61C77625A}"/>
                </a:ext>
              </a:extLst>
            </p:cNvPr>
            <p:cNvSpPr>
              <a:spLocks noChangeShapeType="1"/>
            </p:cNvSpPr>
            <p:nvPr/>
          </p:nvSpPr>
          <p:spPr bwMode="auto">
            <a:xfrm>
              <a:off x="703" y="2148"/>
              <a:ext cx="1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3" name="Line 18">
              <a:extLst>
                <a:ext uri="{FF2B5EF4-FFF2-40B4-BE49-F238E27FC236}">
                  <a16:creationId xmlns:a16="http://schemas.microsoft.com/office/drawing/2014/main" id="{72D48620-C277-D523-21A7-5EBEDF39378D}"/>
                </a:ext>
              </a:extLst>
            </p:cNvPr>
            <p:cNvSpPr>
              <a:spLocks noChangeShapeType="1"/>
            </p:cNvSpPr>
            <p:nvPr/>
          </p:nvSpPr>
          <p:spPr bwMode="auto">
            <a:xfrm>
              <a:off x="839" y="2148"/>
              <a:ext cx="0" cy="54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4" name="Line 19">
              <a:extLst>
                <a:ext uri="{FF2B5EF4-FFF2-40B4-BE49-F238E27FC236}">
                  <a16:creationId xmlns:a16="http://schemas.microsoft.com/office/drawing/2014/main" id="{C75A7FDA-31AB-3BC0-BCF2-8AAA3C3BD971}"/>
                </a:ext>
              </a:extLst>
            </p:cNvPr>
            <p:cNvSpPr>
              <a:spLocks noChangeShapeType="1"/>
            </p:cNvSpPr>
            <p:nvPr/>
          </p:nvSpPr>
          <p:spPr bwMode="auto">
            <a:xfrm>
              <a:off x="839" y="2693"/>
              <a:ext cx="18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5" name="Line 20">
              <a:extLst>
                <a:ext uri="{FF2B5EF4-FFF2-40B4-BE49-F238E27FC236}">
                  <a16:creationId xmlns:a16="http://schemas.microsoft.com/office/drawing/2014/main" id="{E3066F9C-633D-0AC7-CC68-DFAD533CD848}"/>
                </a:ext>
              </a:extLst>
            </p:cNvPr>
            <p:cNvSpPr>
              <a:spLocks noChangeShapeType="1"/>
            </p:cNvSpPr>
            <p:nvPr/>
          </p:nvSpPr>
          <p:spPr bwMode="auto">
            <a:xfrm>
              <a:off x="1873" y="2659"/>
              <a:ext cx="9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6" name="Line 21">
              <a:extLst>
                <a:ext uri="{FF2B5EF4-FFF2-40B4-BE49-F238E27FC236}">
                  <a16:creationId xmlns:a16="http://schemas.microsoft.com/office/drawing/2014/main" id="{41910420-6A8E-FD83-21E4-E88F496F2CD0}"/>
                </a:ext>
              </a:extLst>
            </p:cNvPr>
            <p:cNvSpPr>
              <a:spLocks noChangeShapeType="1"/>
            </p:cNvSpPr>
            <p:nvPr/>
          </p:nvSpPr>
          <p:spPr bwMode="auto">
            <a:xfrm flipV="1">
              <a:off x="1964" y="2341"/>
              <a:ext cx="0" cy="31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7" name="Line 22">
              <a:extLst>
                <a:ext uri="{FF2B5EF4-FFF2-40B4-BE49-F238E27FC236}">
                  <a16:creationId xmlns:a16="http://schemas.microsoft.com/office/drawing/2014/main" id="{7E0E735E-2E13-FB27-7770-44A110D6F989}"/>
                </a:ext>
              </a:extLst>
            </p:cNvPr>
            <p:cNvSpPr>
              <a:spLocks noChangeShapeType="1"/>
            </p:cNvSpPr>
            <p:nvPr/>
          </p:nvSpPr>
          <p:spPr bwMode="auto">
            <a:xfrm>
              <a:off x="1964" y="2341"/>
              <a:ext cx="41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8" name="Line 26">
              <a:extLst>
                <a:ext uri="{FF2B5EF4-FFF2-40B4-BE49-F238E27FC236}">
                  <a16:creationId xmlns:a16="http://schemas.microsoft.com/office/drawing/2014/main" id="{564F6AFA-6E97-A478-AF89-CF2F2E607196}"/>
                </a:ext>
              </a:extLst>
            </p:cNvPr>
            <p:cNvSpPr>
              <a:spLocks noChangeShapeType="1"/>
            </p:cNvSpPr>
            <p:nvPr/>
          </p:nvSpPr>
          <p:spPr bwMode="auto">
            <a:xfrm>
              <a:off x="1293" y="2683"/>
              <a:ext cx="22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9" name="AutoShape 32" descr="10%">
              <a:extLst>
                <a:ext uri="{FF2B5EF4-FFF2-40B4-BE49-F238E27FC236}">
                  <a16:creationId xmlns:a16="http://schemas.microsoft.com/office/drawing/2014/main" id="{39048558-9ECA-0CBB-2586-49210694CDBF}"/>
                </a:ext>
              </a:extLst>
            </p:cNvPr>
            <p:cNvSpPr>
              <a:spLocks noChangeArrowheads="1"/>
            </p:cNvSpPr>
            <p:nvPr/>
          </p:nvSpPr>
          <p:spPr bwMode="auto">
            <a:xfrm>
              <a:off x="3315" y="1815"/>
              <a:ext cx="272" cy="272"/>
            </a:xfrm>
            <a:prstGeom prst="roundRect">
              <a:avLst>
                <a:gd name="adj" fmla="val 22083"/>
              </a:avLst>
            </a:prstGeom>
            <a:blipFill dpi="0" rotWithShape="0">
              <a:blip r:embed="rId7"/>
              <a:srcRect/>
              <a:tile tx="0" ty="0" sx="100000" sy="100000" flip="none" algn="tl"/>
            </a:blipFill>
            <a:ln w="2857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H</a:t>
              </a:r>
            </a:p>
          </p:txBody>
        </p:sp>
        <p:sp>
          <p:nvSpPr>
            <p:cNvPr id="31770" name="Line 33">
              <a:extLst>
                <a:ext uri="{FF2B5EF4-FFF2-40B4-BE49-F238E27FC236}">
                  <a16:creationId xmlns:a16="http://schemas.microsoft.com/office/drawing/2014/main" id="{62283EDE-FFF1-DCB4-EE03-CA00A7619686}"/>
                </a:ext>
              </a:extLst>
            </p:cNvPr>
            <p:cNvSpPr>
              <a:spLocks noChangeShapeType="1"/>
            </p:cNvSpPr>
            <p:nvPr/>
          </p:nvSpPr>
          <p:spPr bwMode="auto">
            <a:xfrm>
              <a:off x="3606" y="1933"/>
              <a:ext cx="77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71" name="Line 34">
              <a:extLst>
                <a:ext uri="{FF2B5EF4-FFF2-40B4-BE49-F238E27FC236}">
                  <a16:creationId xmlns:a16="http://schemas.microsoft.com/office/drawing/2014/main" id="{FFA6B2CA-3387-B35F-1106-FBD9E22A9782}"/>
                </a:ext>
              </a:extLst>
            </p:cNvPr>
            <p:cNvSpPr>
              <a:spLocks noChangeShapeType="1"/>
            </p:cNvSpPr>
            <p:nvPr/>
          </p:nvSpPr>
          <p:spPr bwMode="auto">
            <a:xfrm>
              <a:off x="4377" y="1943"/>
              <a:ext cx="0" cy="27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2" name="Line 35">
              <a:extLst>
                <a:ext uri="{FF2B5EF4-FFF2-40B4-BE49-F238E27FC236}">
                  <a16:creationId xmlns:a16="http://schemas.microsoft.com/office/drawing/2014/main" id="{2B737391-634A-9256-8BD5-140DB7AF6B9C}"/>
                </a:ext>
              </a:extLst>
            </p:cNvPr>
            <p:cNvSpPr>
              <a:spLocks noChangeShapeType="1"/>
            </p:cNvSpPr>
            <p:nvPr/>
          </p:nvSpPr>
          <p:spPr bwMode="auto">
            <a:xfrm>
              <a:off x="2808" y="2387"/>
              <a:ext cx="499"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3" name="Text Box 36">
              <a:extLst>
                <a:ext uri="{FF2B5EF4-FFF2-40B4-BE49-F238E27FC236}">
                  <a16:creationId xmlns:a16="http://schemas.microsoft.com/office/drawing/2014/main" id="{9FF6C337-B366-4740-888B-E4F494266254}"/>
                </a:ext>
              </a:extLst>
            </p:cNvPr>
            <p:cNvSpPr txBox="1">
              <a:spLocks noChangeArrowheads="1"/>
            </p:cNvSpPr>
            <p:nvPr/>
          </p:nvSpPr>
          <p:spPr bwMode="auto">
            <a:xfrm>
              <a:off x="3978" y="2233"/>
              <a:ext cx="54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lang="zh-CN" altLang="en-US" sz="2000" b="1">
                  <a:latin typeface="Verdana" panose="020B0604030504040204" pitchFamily="34" charset="0"/>
                </a:rPr>
                <a:t>比较</a:t>
              </a:r>
            </a:p>
          </p:txBody>
        </p:sp>
        <p:graphicFrame>
          <p:nvGraphicFramePr>
            <p:cNvPr id="31774" name="Object 37">
              <a:extLst>
                <a:ext uri="{FF2B5EF4-FFF2-40B4-BE49-F238E27FC236}">
                  <a16:creationId xmlns:a16="http://schemas.microsoft.com/office/drawing/2014/main" id="{5045F69C-F7B4-9ABF-5E9D-9C780607C3F7}"/>
                </a:ext>
              </a:extLst>
            </p:cNvPr>
            <p:cNvGraphicFramePr>
              <a:graphicFrameLocks noChangeAspect="1"/>
            </p:cNvGraphicFramePr>
            <p:nvPr/>
          </p:nvGraphicFramePr>
          <p:xfrm>
            <a:off x="1927" y="1344"/>
            <a:ext cx="1497" cy="355"/>
          </p:xfrm>
          <a:graphic>
            <a:graphicData uri="http://schemas.openxmlformats.org/presentationml/2006/ole">
              <mc:AlternateContent xmlns:mc="http://schemas.openxmlformats.org/markup-compatibility/2006">
                <mc:Choice xmlns:v="urn:schemas-microsoft-com:vml" Requires="v">
                  <p:oleObj name="公式" r:id="rId8" imgW="965200" imgH="228600" progId="Equation.3">
                    <p:embed/>
                  </p:oleObj>
                </mc:Choice>
                <mc:Fallback>
                  <p:oleObj name="公式" r:id="rId8" imgW="965200" imgH="228600" progId="Equation.3">
                    <p:embed/>
                    <p:pic>
                      <p:nvPicPr>
                        <p:cNvPr id="0" name="Object 3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27" y="1344"/>
                          <a:ext cx="1497" cy="3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1775" name="Group 40">
              <a:extLst>
                <a:ext uri="{FF2B5EF4-FFF2-40B4-BE49-F238E27FC236}">
                  <a16:creationId xmlns:a16="http://schemas.microsoft.com/office/drawing/2014/main" id="{66F2EFBB-CE8A-9948-A945-6A1B13054BE8}"/>
                </a:ext>
              </a:extLst>
            </p:cNvPr>
            <p:cNvGrpSpPr>
              <a:grpSpLocks/>
            </p:cNvGrpSpPr>
            <p:nvPr/>
          </p:nvGrpSpPr>
          <p:grpSpPr bwMode="auto">
            <a:xfrm>
              <a:off x="2381" y="1797"/>
              <a:ext cx="408" cy="681"/>
              <a:chOff x="2381" y="1797"/>
              <a:chExt cx="408" cy="681"/>
            </a:xfrm>
          </p:grpSpPr>
          <p:sp>
            <p:nvSpPr>
              <p:cNvPr id="31776" name="AutoShape 24">
                <a:extLst>
                  <a:ext uri="{FF2B5EF4-FFF2-40B4-BE49-F238E27FC236}">
                    <a16:creationId xmlns:a16="http://schemas.microsoft.com/office/drawing/2014/main" id="{98716303-AD9B-CE91-0BEC-D6A8857E7CC6}"/>
                  </a:ext>
                </a:extLst>
              </p:cNvPr>
              <p:cNvSpPr>
                <a:spLocks noChangeArrowheads="1"/>
              </p:cNvSpPr>
              <p:nvPr/>
            </p:nvSpPr>
            <p:spPr bwMode="auto">
              <a:xfrm>
                <a:off x="2381" y="1797"/>
                <a:ext cx="408" cy="681"/>
              </a:xfrm>
              <a:prstGeom prst="bevel">
                <a:avLst>
                  <a:gd name="adj" fmla="val 5394"/>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M</a:t>
                </a:r>
              </a:p>
              <a:p>
                <a:pPr algn="ctr" eaLnBrk="1" hangingPunct="1">
                  <a:spcBef>
                    <a:spcPct val="0"/>
                  </a:spcBef>
                  <a:buClrTx/>
                  <a:buSzTx/>
                  <a:buFontTx/>
                  <a:buNone/>
                </a:pPr>
                <a:endParaRPr lang="en-US" altLang="zh-CN" sz="2000" b="1">
                  <a:latin typeface="Verdana" panose="020B0604030504040204" pitchFamily="34" charset="0"/>
                </a:endParaRPr>
              </a:p>
              <a:p>
                <a:pPr algn="ctr" eaLnBrk="1" hangingPunct="1">
                  <a:spcBef>
                    <a:spcPct val="0"/>
                  </a:spcBef>
                  <a:buClrTx/>
                  <a:buSzTx/>
                  <a:buFontTx/>
                  <a:buNone/>
                </a:pPr>
                <a:endParaRPr lang="zh-CN" altLang="en-US" sz="2000" b="1">
                  <a:latin typeface="Verdana" panose="020B0604030504040204" pitchFamily="34" charset="0"/>
                </a:endParaRPr>
              </a:p>
            </p:txBody>
          </p:sp>
          <p:sp>
            <p:nvSpPr>
              <p:cNvPr id="31777" name="Rectangle 39" descr="波浪线">
                <a:extLst>
                  <a:ext uri="{FF2B5EF4-FFF2-40B4-BE49-F238E27FC236}">
                    <a16:creationId xmlns:a16="http://schemas.microsoft.com/office/drawing/2014/main" id="{C721C3EC-255E-AFAC-A2C5-E4DD7E4987F4}"/>
                  </a:ext>
                </a:extLst>
              </p:cNvPr>
              <p:cNvSpPr>
                <a:spLocks noChangeArrowheads="1"/>
              </p:cNvSpPr>
              <p:nvPr/>
            </p:nvSpPr>
            <p:spPr bwMode="auto">
              <a:xfrm>
                <a:off x="2399" y="2205"/>
                <a:ext cx="363" cy="254"/>
              </a:xfrm>
              <a:prstGeom prst="rect">
                <a:avLst/>
              </a:prstGeom>
              <a:blipFill dpi="0" rotWithShape="0">
                <a:blip r:embed="rId10"/>
                <a:srcRect/>
                <a:tile tx="0" ty="0" sx="100000" sy="100000" flip="none" algn="tl"/>
              </a:blip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000" b="1">
                    <a:latin typeface="Verdana" panose="020B0604030504040204" pitchFamily="34" charset="0"/>
                  </a:rPr>
                  <a:t>C</a:t>
                </a:r>
              </a:p>
            </p:txBody>
          </p:sp>
        </p:grpSp>
      </p:grpSp>
      <p:sp>
        <p:nvSpPr>
          <p:cNvPr id="123947" name="Text Box 43">
            <a:extLst>
              <a:ext uri="{FF2B5EF4-FFF2-40B4-BE49-F238E27FC236}">
                <a16:creationId xmlns:a16="http://schemas.microsoft.com/office/drawing/2014/main" id="{EAC08399-2750-0806-63CC-A5B510A5B0E2}"/>
              </a:ext>
            </a:extLst>
          </p:cNvPr>
          <p:cNvSpPr txBox="1">
            <a:spLocks noChangeArrowheads="1"/>
          </p:cNvSpPr>
          <p:nvPr/>
        </p:nvSpPr>
        <p:spPr bwMode="auto">
          <a:xfrm>
            <a:off x="6300788" y="5516563"/>
            <a:ext cx="2089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lang="zh-CN" altLang="en-US" sz="2800" b="1">
                <a:solidFill>
                  <a:srgbClr val="FF0066"/>
                </a:solidFill>
                <a:latin typeface="楷体_GB2312" pitchFamily="49" charset="-122"/>
                <a:ea typeface="楷体_GB2312" pitchFamily="49" charset="-122"/>
              </a:rPr>
              <a:t>相当于</a:t>
            </a:r>
            <a:r>
              <a:rPr lang="en-US" altLang="zh-CN" sz="2800" b="1">
                <a:solidFill>
                  <a:srgbClr val="FF0066"/>
                </a:solidFill>
                <a:latin typeface="楷体_GB2312" pitchFamily="49" charset="-122"/>
                <a:ea typeface="楷体_GB2312" pitchFamily="49" charset="-122"/>
              </a:rPr>
              <a:t>MAC</a:t>
            </a:r>
          </a:p>
        </p:txBody>
      </p:sp>
      <p:sp>
        <p:nvSpPr>
          <p:cNvPr id="125954" name="Rectangle 2">
            <a:extLst>
              <a:ext uri="{FF2B5EF4-FFF2-40B4-BE49-F238E27FC236}">
                <a16:creationId xmlns:a16="http://schemas.microsoft.com/office/drawing/2014/main" id="{D839DAAF-73C8-37AB-678B-64B8B747184B}"/>
              </a:ext>
            </a:extLst>
          </p:cNvPr>
          <p:cNvSpPr>
            <a:spLocks noChangeArrowheads="1"/>
          </p:cNvSpPr>
          <p:nvPr/>
        </p:nvSpPr>
        <p:spPr bwMode="auto">
          <a:xfrm>
            <a:off x="595313" y="611188"/>
            <a:ext cx="8458200" cy="1000125"/>
          </a:xfrm>
          <a:prstGeom prst="rect">
            <a:avLst/>
          </a:prstGeom>
          <a:noFill/>
          <a:ln>
            <a:noFill/>
          </a:ln>
        </p:spPr>
        <p:txBody>
          <a:bodyPr anchor="b"/>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defRPr/>
            </a:pPr>
            <a:r>
              <a:rPr kumimoji="1" lang="zh-CN" altLang="en-US" sz="4000" b="1">
                <a:solidFill>
                  <a:srgbClr val="FF0000"/>
                </a:solidFill>
                <a:effectLst>
                  <a:outerShdw blurRad="38100" dist="38100" dir="2700000" algn="tl">
                    <a:srgbClr val="C0C0C0"/>
                  </a:outerShdw>
                </a:effectLst>
                <a:latin typeface="Times New Roman" panose="02020603050405020304" pitchFamily="18" charset="0"/>
              </a:rPr>
              <a:t>哈希函数</a:t>
            </a:r>
            <a:r>
              <a:rPr kumimoji="1" lang="en-US" altLang="zh-CN" sz="4000" b="1">
                <a:solidFill>
                  <a:srgbClr val="FF0000"/>
                </a:solidFill>
                <a:effectLst>
                  <a:outerShdw blurRad="38100" dist="38100" dir="2700000" algn="tl">
                    <a:srgbClr val="C0C0C0"/>
                  </a:outerShdw>
                </a:effectLst>
                <a:latin typeface="Times New Roman" panose="02020603050405020304" pitchFamily="18" charset="0"/>
              </a:rPr>
              <a:t>+</a:t>
            </a:r>
            <a:r>
              <a:rPr kumimoji="1" lang="zh-CN" altLang="en-US" sz="4000" b="1">
                <a:solidFill>
                  <a:srgbClr val="FF0000"/>
                </a:solidFill>
                <a:effectLst>
                  <a:outerShdw blurRad="38100" dist="38100" dir="2700000" algn="tl">
                    <a:srgbClr val="C0C0C0"/>
                  </a:outerShdw>
                </a:effectLst>
                <a:latin typeface="Times New Roman" panose="02020603050405020304" pitchFamily="18" charset="0"/>
              </a:rPr>
              <a:t>对称密码算法的消息认证</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23947"/>
                                        </p:tgtEl>
                                        <p:attrNameLst>
                                          <p:attrName>style.visibility</p:attrName>
                                        </p:attrNameLst>
                                      </p:cBhvr>
                                      <p:to>
                                        <p:strVal val="visible"/>
                                      </p:to>
                                    </p:set>
                                    <p:animEffect transition="in" filter="slide(fromBottom)">
                                      <p:cBhvr>
                                        <p:cTn id="12" dur="500"/>
                                        <p:tgtEl>
                                          <p:spTgt spid="123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47"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灯片编号占位符 1">
            <a:extLst>
              <a:ext uri="{FF2B5EF4-FFF2-40B4-BE49-F238E27FC236}">
                <a16:creationId xmlns:a16="http://schemas.microsoft.com/office/drawing/2014/main" id="{5A569216-FDA9-22AB-EAC1-1D57626ECE56}"/>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19575C00-3B4F-48C9-87BF-9E4B36E62DD1}" type="slidenum">
              <a:rPr lang="zh-CN" altLang="en-US" sz="1400" smtClean="0"/>
              <a:pPr>
                <a:spcBef>
                  <a:spcPct val="0"/>
                </a:spcBef>
                <a:buClrTx/>
                <a:buSzTx/>
                <a:buFontTx/>
                <a:buNone/>
              </a:pPr>
              <a:t>10</a:t>
            </a:fld>
            <a:endParaRPr lang="en-US" altLang="zh-CN" sz="1400"/>
          </a:p>
        </p:txBody>
      </p:sp>
      <p:sp>
        <p:nvSpPr>
          <p:cNvPr id="4" name="Rectangle 2">
            <a:extLst>
              <a:ext uri="{FF2B5EF4-FFF2-40B4-BE49-F238E27FC236}">
                <a16:creationId xmlns:a16="http://schemas.microsoft.com/office/drawing/2014/main" id="{82115461-C250-C5AD-E0F2-A4ECAEFD768F}"/>
              </a:ext>
            </a:extLst>
          </p:cNvPr>
          <p:cNvSpPr>
            <a:spLocks noChangeArrowheads="1"/>
          </p:cNvSpPr>
          <p:nvPr/>
        </p:nvSpPr>
        <p:spPr bwMode="auto">
          <a:xfrm>
            <a:off x="1258888" y="781050"/>
            <a:ext cx="8458200" cy="1000125"/>
          </a:xfrm>
          <a:prstGeom prst="rect">
            <a:avLst/>
          </a:prstGeom>
          <a:noFill/>
          <a:ln>
            <a:noFill/>
          </a:ln>
        </p:spPr>
        <p:txBody>
          <a:bodyPr anchor="b"/>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defRPr/>
            </a:pPr>
            <a:r>
              <a:rPr kumimoji="1" lang="zh-CN" altLang="en-US" sz="4000" b="1">
                <a:solidFill>
                  <a:srgbClr val="FF0000"/>
                </a:solidFill>
                <a:effectLst>
                  <a:outerShdw blurRad="38100" dist="38100" dir="2700000" algn="tl">
                    <a:srgbClr val="C0C0C0"/>
                  </a:outerShdw>
                </a:effectLst>
                <a:latin typeface="Times New Roman" panose="02020603050405020304" pitchFamily="18" charset="0"/>
              </a:rPr>
              <a:t>消息认证码的缺陷</a:t>
            </a:r>
          </a:p>
        </p:txBody>
      </p:sp>
      <p:sp>
        <p:nvSpPr>
          <p:cNvPr id="5" name="矩形 4">
            <a:extLst>
              <a:ext uri="{FF2B5EF4-FFF2-40B4-BE49-F238E27FC236}">
                <a16:creationId xmlns:a16="http://schemas.microsoft.com/office/drawing/2014/main" id="{E22009CF-8977-AC82-1EE1-F7EC9BD29626}"/>
              </a:ext>
            </a:extLst>
          </p:cNvPr>
          <p:cNvSpPr>
            <a:spLocks noChangeArrowheads="1"/>
          </p:cNvSpPr>
          <p:nvPr/>
        </p:nvSpPr>
        <p:spPr bwMode="auto">
          <a:xfrm>
            <a:off x="827088" y="2205038"/>
            <a:ext cx="7056437" cy="611187"/>
          </a:xfrm>
          <a:prstGeom prst="rect">
            <a:avLst/>
          </a:prstGeom>
          <a:solidFill>
            <a:schemeClr val="accent1"/>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3600">
                <a:solidFill>
                  <a:srgbClr val="FF0000"/>
                </a:solidFill>
                <a:latin typeface="Times New Roman" panose="02020603050405020304" pitchFamily="18" charset="0"/>
              </a:rPr>
              <a:t>消息认证码容易遭受什么攻击</a:t>
            </a:r>
          </a:p>
        </p:txBody>
      </p:sp>
      <p:sp>
        <p:nvSpPr>
          <p:cNvPr id="6" name="Rectangle 2">
            <a:extLst>
              <a:ext uri="{FF2B5EF4-FFF2-40B4-BE49-F238E27FC236}">
                <a16:creationId xmlns:a16="http://schemas.microsoft.com/office/drawing/2014/main" id="{7F37ADEE-832A-B2BE-E16E-D8682A1998D3}"/>
              </a:ext>
            </a:extLst>
          </p:cNvPr>
          <p:cNvSpPr txBox="1">
            <a:spLocks noChangeArrowheads="1"/>
          </p:cNvSpPr>
          <p:nvPr/>
        </p:nvSpPr>
        <p:spPr bwMode="auto">
          <a:xfrm>
            <a:off x="468313" y="3240088"/>
            <a:ext cx="8382000" cy="298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87338" indent="-63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r>
              <a:rPr lang="zh-CN" altLang="en-US">
                <a:ea typeface="楷体_GB2312" pitchFamily="49" charset="-122"/>
              </a:rPr>
              <a:t>消息认证其作用是保护通信双方以防第三方的攻击，然而却</a:t>
            </a:r>
            <a:r>
              <a:rPr lang="zh-CN" altLang="en-US">
                <a:solidFill>
                  <a:srgbClr val="0000CC"/>
                </a:solidFill>
                <a:ea typeface="楷体_GB2312" pitchFamily="49" charset="-122"/>
              </a:rPr>
              <a:t>不能保护通信双方中的一方防止另一方的欺骗或伪造</a:t>
            </a:r>
            <a:r>
              <a:rPr lang="zh-CN" altLang="en-US">
                <a:ea typeface="楷体_GB2312" pitchFamily="49" charset="-122"/>
              </a:rPr>
              <a:t>。通信双方之间也可能有多种形式的欺骗，例如通信双方</a:t>
            </a:r>
            <a:r>
              <a:rPr lang="en-US" altLang="zh-CN">
                <a:ea typeface="楷体_GB2312" pitchFamily="49" charset="-122"/>
              </a:rPr>
              <a:t>A</a:t>
            </a:r>
            <a:r>
              <a:rPr lang="zh-CN" altLang="en-US">
                <a:ea typeface="楷体_GB2312" pitchFamily="49" charset="-122"/>
              </a:rPr>
              <a:t>和</a:t>
            </a:r>
            <a:r>
              <a:rPr lang="en-US" altLang="zh-CN">
                <a:ea typeface="楷体_GB2312" pitchFamily="49" charset="-122"/>
              </a:rPr>
              <a:t>B</a:t>
            </a:r>
            <a:r>
              <a:rPr lang="zh-CN" altLang="en-US">
                <a:ea typeface="楷体_GB2312" pitchFamily="49" charset="-122"/>
              </a:rPr>
              <a:t>（设</a:t>
            </a:r>
            <a:r>
              <a:rPr lang="en-US" altLang="zh-CN">
                <a:ea typeface="楷体_GB2312" pitchFamily="49" charset="-122"/>
              </a:rPr>
              <a:t>A</a:t>
            </a:r>
            <a:r>
              <a:rPr lang="zh-CN" altLang="en-US">
                <a:ea typeface="楷体_GB2312" pitchFamily="49" charset="-122"/>
              </a:rPr>
              <a:t>为发方，</a:t>
            </a:r>
            <a:r>
              <a:rPr lang="en-US" altLang="zh-CN">
                <a:ea typeface="楷体_GB2312" pitchFamily="49" charset="-122"/>
              </a:rPr>
              <a:t>B</a:t>
            </a:r>
            <a:r>
              <a:rPr lang="zh-CN" altLang="en-US">
                <a:ea typeface="楷体_GB2312" pitchFamily="49" charset="-122"/>
              </a:rPr>
              <a:t>为收方）使用消息认证码的基本方式通信，则可能发生以下欺骗：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灯片编号占位符 1">
            <a:extLst>
              <a:ext uri="{FF2B5EF4-FFF2-40B4-BE49-F238E27FC236}">
                <a16:creationId xmlns:a16="http://schemas.microsoft.com/office/drawing/2014/main" id="{F0339E96-2750-A360-D65B-B17B9B24A8F4}"/>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9CA6D93A-DB2E-4F5C-B053-2197E2DFE424}" type="slidenum">
              <a:rPr lang="zh-CN" altLang="en-US" sz="1400" smtClean="0"/>
              <a:pPr>
                <a:spcBef>
                  <a:spcPct val="0"/>
                </a:spcBef>
                <a:buClrTx/>
                <a:buSzTx/>
                <a:buFontTx/>
                <a:buNone/>
              </a:pPr>
              <a:t>11</a:t>
            </a:fld>
            <a:endParaRPr lang="en-US" altLang="zh-CN" sz="1400"/>
          </a:p>
        </p:txBody>
      </p:sp>
      <p:sp>
        <p:nvSpPr>
          <p:cNvPr id="4" name="Rectangle 2">
            <a:extLst>
              <a:ext uri="{FF2B5EF4-FFF2-40B4-BE49-F238E27FC236}">
                <a16:creationId xmlns:a16="http://schemas.microsoft.com/office/drawing/2014/main" id="{FF99E6BB-8BC4-9ED2-EF42-56D0D3316561}"/>
              </a:ext>
            </a:extLst>
          </p:cNvPr>
          <p:cNvSpPr>
            <a:spLocks noChangeArrowheads="1"/>
          </p:cNvSpPr>
          <p:nvPr/>
        </p:nvSpPr>
        <p:spPr bwMode="auto">
          <a:xfrm>
            <a:off x="304800" y="93663"/>
            <a:ext cx="8458200" cy="1000125"/>
          </a:xfrm>
          <a:prstGeom prst="rect">
            <a:avLst/>
          </a:prstGeom>
          <a:noFill/>
          <a:ln>
            <a:noFill/>
          </a:ln>
        </p:spPr>
        <p:txBody>
          <a:bodyPr anchor="b"/>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defRPr/>
            </a:pPr>
            <a:r>
              <a:rPr kumimoji="1" lang="zh-CN" altLang="en-US" sz="4000" b="1">
                <a:solidFill>
                  <a:srgbClr val="FF0000"/>
                </a:solidFill>
                <a:effectLst>
                  <a:outerShdw blurRad="38100" dist="38100" dir="2700000" algn="tl">
                    <a:srgbClr val="C0C0C0"/>
                  </a:outerShdw>
                </a:effectLst>
                <a:latin typeface="Times New Roman" panose="02020603050405020304" pitchFamily="18" charset="0"/>
              </a:rPr>
              <a:t>消息认证码的缺陷实例</a:t>
            </a:r>
          </a:p>
        </p:txBody>
      </p:sp>
      <p:sp>
        <p:nvSpPr>
          <p:cNvPr id="5" name="Rectangle 2">
            <a:extLst>
              <a:ext uri="{FF2B5EF4-FFF2-40B4-BE49-F238E27FC236}">
                <a16:creationId xmlns:a16="http://schemas.microsoft.com/office/drawing/2014/main" id="{0BF5F380-F63F-8AD7-2F54-E3E539316F19}"/>
              </a:ext>
            </a:extLst>
          </p:cNvPr>
          <p:cNvSpPr txBox="1">
            <a:spLocks noChangeArrowheads="1"/>
          </p:cNvSpPr>
          <p:nvPr/>
        </p:nvSpPr>
        <p:spPr bwMode="auto">
          <a:xfrm>
            <a:off x="304800" y="1700213"/>
            <a:ext cx="8642350"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0988">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nSpc>
                <a:spcPct val="90000"/>
              </a:lnSpc>
              <a:buFont typeface="Wingdings" panose="05000000000000000000" pitchFamily="2" charset="2"/>
              <a:buNone/>
            </a:pPr>
            <a:r>
              <a:rPr lang="zh-CN" altLang="en-US" sz="2800">
                <a:ea typeface="楷体_GB2312" pitchFamily="49" charset="-122"/>
              </a:rPr>
              <a:t>① </a:t>
            </a:r>
            <a:r>
              <a:rPr lang="en-US" altLang="zh-CN" sz="2800">
                <a:ea typeface="楷体_GB2312" pitchFamily="49" charset="-122"/>
              </a:rPr>
              <a:t>B</a:t>
            </a:r>
            <a:r>
              <a:rPr lang="zh-CN" altLang="en-US" sz="2800">
                <a:ea typeface="楷体_GB2312" pitchFamily="49" charset="-122"/>
              </a:rPr>
              <a:t>伪造一个消息并使用与</a:t>
            </a:r>
            <a:r>
              <a:rPr lang="en-US" altLang="zh-CN" sz="2800">
                <a:ea typeface="楷体_GB2312" pitchFamily="49" charset="-122"/>
              </a:rPr>
              <a:t>A</a:t>
            </a:r>
            <a:r>
              <a:rPr lang="zh-CN" altLang="en-US" sz="2800">
                <a:ea typeface="楷体_GB2312" pitchFamily="49" charset="-122"/>
              </a:rPr>
              <a:t>共享的密钥产生该消息的认证码，然后声称该消息来自于</a:t>
            </a:r>
            <a:r>
              <a:rPr lang="en-US" altLang="zh-CN" sz="2800">
                <a:ea typeface="楷体_GB2312" pitchFamily="49" charset="-122"/>
              </a:rPr>
              <a:t>A</a:t>
            </a:r>
            <a:r>
              <a:rPr lang="zh-CN" altLang="en-US" sz="2800">
                <a:ea typeface="楷体_GB2312" pitchFamily="49" charset="-122"/>
              </a:rPr>
              <a:t>。</a:t>
            </a:r>
            <a:endParaRPr lang="en-CA" altLang="zh-CN" sz="2800">
              <a:ea typeface="楷体_GB2312" pitchFamily="49" charset="-122"/>
            </a:endParaRPr>
          </a:p>
          <a:p>
            <a:pPr>
              <a:lnSpc>
                <a:spcPct val="90000"/>
              </a:lnSpc>
              <a:buFont typeface="Wingdings" panose="05000000000000000000" pitchFamily="2" charset="2"/>
              <a:buNone/>
            </a:pPr>
            <a:r>
              <a:rPr lang="zh-CN" altLang="en-US" sz="2800">
                <a:ea typeface="楷体_GB2312" pitchFamily="49" charset="-122"/>
              </a:rPr>
              <a:t>② 由于</a:t>
            </a:r>
            <a:r>
              <a:rPr lang="en-US" altLang="zh-CN" sz="2800">
                <a:ea typeface="楷体_GB2312" pitchFamily="49" charset="-122"/>
              </a:rPr>
              <a:t>B</a:t>
            </a:r>
            <a:r>
              <a:rPr lang="zh-CN" altLang="en-US" sz="2800">
                <a:ea typeface="楷体_GB2312" pitchFamily="49" charset="-122"/>
              </a:rPr>
              <a:t>有可能伪造</a:t>
            </a:r>
            <a:r>
              <a:rPr lang="en-US" altLang="zh-CN" sz="2800">
                <a:ea typeface="楷体_GB2312" pitchFamily="49" charset="-122"/>
              </a:rPr>
              <a:t>A</a:t>
            </a:r>
            <a:r>
              <a:rPr lang="zh-CN" altLang="en-US" sz="2800">
                <a:ea typeface="楷体_GB2312" pitchFamily="49" charset="-122"/>
              </a:rPr>
              <a:t>发来的消息，所以</a:t>
            </a:r>
            <a:r>
              <a:rPr lang="en-US" altLang="zh-CN" sz="2800">
                <a:ea typeface="楷体_GB2312" pitchFamily="49" charset="-122"/>
              </a:rPr>
              <a:t>A</a:t>
            </a:r>
            <a:r>
              <a:rPr lang="zh-CN" altLang="en-US" sz="2800">
                <a:ea typeface="楷体_GB2312" pitchFamily="49" charset="-122"/>
              </a:rPr>
              <a:t>就可以对自己发过的消息予以否认。</a:t>
            </a:r>
          </a:p>
          <a:p>
            <a:pPr>
              <a:lnSpc>
                <a:spcPct val="90000"/>
              </a:lnSpc>
              <a:buFont typeface="Wingdings" panose="05000000000000000000" pitchFamily="2" charset="2"/>
              <a:buNone/>
            </a:pPr>
            <a:r>
              <a:rPr lang="zh-CN" altLang="en-US" sz="2800">
                <a:ea typeface="楷体_GB2312" pitchFamily="49" charset="-122"/>
              </a:rPr>
              <a:t>   这两种欺骗在实际的网络安全应用中都有可能发生，例如在电子资金传输中，收方增加收到的资金数，并声称这一数目来自发方。又如用户通过电子邮件向其证券经纪人发送对某笔业务的指令，以后这笔业务赔钱了，用户就可否认曾发送过相应的指令。</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灯片编号占位符 4">
            <a:extLst>
              <a:ext uri="{FF2B5EF4-FFF2-40B4-BE49-F238E27FC236}">
                <a16:creationId xmlns:a16="http://schemas.microsoft.com/office/drawing/2014/main" id="{B7386954-B258-86DC-DC4F-3FA1BFDBB2FC}"/>
              </a:ext>
            </a:extLst>
          </p:cNvPr>
          <p:cNvSpPr>
            <a:spLocks noGrp="1"/>
          </p:cNvSpPr>
          <p:nvPr>
            <p:ph type="sldNum" sz="quarter" idx="10"/>
          </p:nvPr>
        </p:nvSpPr>
        <p:spPr>
          <a:xfrm>
            <a:off x="7038975" y="6245225"/>
            <a:ext cx="1905000" cy="4572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0EF74F9F-464B-4CBA-8117-68EA8372E9EE}" type="slidenum">
              <a:rPr lang="zh-CN" altLang="en-US" sz="1400" smtClean="0"/>
              <a:pPr eaLnBrk="0" hangingPunct="0">
                <a:spcBef>
                  <a:spcPct val="0"/>
                </a:spcBef>
                <a:buClrTx/>
                <a:buSzTx/>
                <a:buFontTx/>
                <a:buNone/>
              </a:pPr>
              <a:t>12</a:t>
            </a:fld>
            <a:endParaRPr lang="en-US" altLang="zh-CN" sz="1400"/>
          </a:p>
        </p:txBody>
      </p:sp>
      <p:sp>
        <p:nvSpPr>
          <p:cNvPr id="35843" name="Rectangle 2">
            <a:extLst>
              <a:ext uri="{FF2B5EF4-FFF2-40B4-BE49-F238E27FC236}">
                <a16:creationId xmlns:a16="http://schemas.microsoft.com/office/drawing/2014/main" id="{AF0EBB01-3CE1-EF65-3AF4-EEBA7AD0C391}"/>
              </a:ext>
            </a:extLst>
          </p:cNvPr>
          <p:cNvSpPr>
            <a:spLocks noGrp="1" noChangeArrowheads="1"/>
          </p:cNvSpPr>
          <p:nvPr>
            <p:ph type="title"/>
          </p:nvPr>
        </p:nvSpPr>
        <p:spPr>
          <a:xfrm>
            <a:off x="251520" y="125654"/>
            <a:ext cx="7793037" cy="767680"/>
          </a:xfrm>
        </p:spPr>
        <p:txBody>
          <a:bodyPr/>
          <a:lstStyle/>
          <a:p>
            <a:r>
              <a:rPr lang="zh-CN" altLang="en-US" b="1" dirty="0"/>
              <a:t>二、数字签名的基本概念</a:t>
            </a:r>
          </a:p>
        </p:txBody>
      </p:sp>
      <p:sp>
        <p:nvSpPr>
          <p:cNvPr id="3" name="文本框 2">
            <a:extLst>
              <a:ext uri="{FF2B5EF4-FFF2-40B4-BE49-F238E27FC236}">
                <a16:creationId xmlns:a16="http://schemas.microsoft.com/office/drawing/2014/main" id="{2C2E79A6-2819-D8AA-441F-5F22161A245D}"/>
              </a:ext>
            </a:extLst>
          </p:cNvPr>
          <p:cNvSpPr txBox="1"/>
          <p:nvPr/>
        </p:nvSpPr>
        <p:spPr>
          <a:xfrm>
            <a:off x="251520" y="1340768"/>
            <a:ext cx="8836471" cy="5206554"/>
          </a:xfrm>
          <a:prstGeom prst="rect">
            <a:avLst/>
          </a:prstGeom>
          <a:noFill/>
        </p:spPr>
        <p:txBody>
          <a:bodyPr wrap="square" rtlCol="0">
            <a:spAutoFit/>
          </a:bodyPr>
          <a:lstStyle/>
          <a:p>
            <a:pPr>
              <a:lnSpc>
                <a:spcPct val="150000"/>
              </a:lnSpc>
            </a:pPr>
            <a:r>
              <a:rPr lang="zh-CN" altLang="en-US" sz="2400" b="1" dirty="0">
                <a:ea typeface="黑体" panose="02010609060101010101" pitchFamily="49" charset="-122"/>
              </a:rPr>
              <a:t>数字签名的背景</a:t>
            </a:r>
            <a:endParaRPr lang="en-US" altLang="zh-CN" sz="2400" dirty="0"/>
          </a:p>
          <a:p>
            <a:pPr>
              <a:lnSpc>
                <a:spcPct val="150000"/>
              </a:lnSpc>
            </a:pPr>
            <a:r>
              <a:rPr lang="zh-CN" altLang="en-US" dirty="0"/>
              <a:t>      </a:t>
            </a:r>
            <a:r>
              <a:rPr lang="zh-CN" altLang="en-US" sz="2000" dirty="0"/>
              <a:t>政治、军事、外交、商业以及日常事务中经常遇到需要签名的场合。传统的方式是采用手写签名或印章，以便在法律上能认证、核准、生效。在电子世界里，人们希望通过某种方法来代替手写签名，以实现对数字信息的签名。</a:t>
            </a:r>
            <a:endParaRPr lang="en-US" altLang="zh-CN" sz="2000" dirty="0"/>
          </a:p>
          <a:p>
            <a:pPr>
              <a:lnSpc>
                <a:spcPct val="150000"/>
              </a:lnSpc>
            </a:pPr>
            <a:endParaRPr lang="en-US" altLang="zh-CN" dirty="0"/>
          </a:p>
          <a:p>
            <a:pPr>
              <a:lnSpc>
                <a:spcPct val="150000"/>
              </a:lnSpc>
            </a:pPr>
            <a:r>
              <a:rPr lang="zh-CN" altLang="en-US" sz="2400" b="1" dirty="0">
                <a:ea typeface="黑体" panose="02010609060101010101" pitchFamily="49" charset="-122"/>
              </a:rPr>
              <a:t>数字签名的特性</a:t>
            </a:r>
            <a:endParaRPr lang="en-US" altLang="zh-CN" sz="2400" b="1" dirty="0">
              <a:ea typeface="黑体" panose="02010609060101010101" pitchFamily="49" charset="-122"/>
            </a:endParaRPr>
          </a:p>
          <a:p>
            <a:pPr>
              <a:lnSpc>
                <a:spcPct val="150000"/>
              </a:lnSpc>
            </a:pPr>
            <a:r>
              <a:rPr lang="en-US" altLang="zh-CN" sz="2000" dirty="0"/>
              <a:t>  (1) </a:t>
            </a:r>
            <a:r>
              <a:rPr lang="zh-CN" altLang="en-US" sz="2000" b="1" dirty="0"/>
              <a:t>不可伪造性</a:t>
            </a:r>
            <a:r>
              <a:rPr lang="en-US" altLang="zh-CN" sz="2000" dirty="0"/>
              <a:t>:</a:t>
            </a:r>
            <a:r>
              <a:rPr lang="zh-CN" altLang="en-US" sz="2000" dirty="0"/>
              <a:t>除了签名者外，任何人都不能伪造签名者的合法签名。</a:t>
            </a:r>
          </a:p>
          <a:p>
            <a:pPr>
              <a:lnSpc>
                <a:spcPct val="150000"/>
              </a:lnSpc>
            </a:pPr>
            <a:r>
              <a:rPr lang="en-US" altLang="zh-CN" sz="2000" dirty="0"/>
              <a:t>  (2) </a:t>
            </a:r>
            <a:r>
              <a:rPr lang="zh-CN" altLang="en-US" sz="2000" b="1" dirty="0"/>
              <a:t>认证性</a:t>
            </a:r>
            <a:r>
              <a:rPr lang="en-US" altLang="zh-CN" sz="2000" dirty="0"/>
              <a:t>:</a:t>
            </a:r>
            <a:r>
              <a:rPr lang="zh-CN" altLang="en-US" sz="2000" dirty="0"/>
              <a:t>接收者相信这份签名来自签名者。</a:t>
            </a:r>
          </a:p>
          <a:p>
            <a:pPr>
              <a:lnSpc>
                <a:spcPct val="150000"/>
              </a:lnSpc>
            </a:pPr>
            <a:r>
              <a:rPr lang="en-US" altLang="zh-CN" sz="2000" dirty="0"/>
              <a:t>  (3) </a:t>
            </a:r>
            <a:r>
              <a:rPr lang="zh-CN" altLang="en-US" sz="2000" b="1" dirty="0"/>
              <a:t>消息完整性</a:t>
            </a:r>
            <a:r>
              <a:rPr lang="en-US" altLang="zh-CN" sz="2000" dirty="0"/>
              <a:t>:</a:t>
            </a:r>
            <a:r>
              <a:rPr lang="zh-CN" altLang="en-US" sz="2000" dirty="0"/>
              <a:t>一个消息在签名后不能被修改。</a:t>
            </a:r>
          </a:p>
          <a:p>
            <a:pPr>
              <a:lnSpc>
                <a:spcPct val="150000"/>
              </a:lnSpc>
            </a:pPr>
            <a:r>
              <a:rPr lang="en-US" altLang="zh-CN" sz="2000" dirty="0"/>
              <a:t>  (5) </a:t>
            </a:r>
            <a:r>
              <a:rPr lang="zh-CN" altLang="en-US" sz="2000" b="1" dirty="0"/>
              <a:t>不可否认性</a:t>
            </a:r>
            <a:r>
              <a:rPr lang="en-US" altLang="zh-CN" sz="2000" dirty="0"/>
              <a:t>:</a:t>
            </a:r>
            <a:r>
              <a:rPr lang="zh-CN" altLang="en-US" sz="2000" dirty="0"/>
              <a:t>签名者事后不能否认自己的签名。</a:t>
            </a:r>
            <a:endParaRPr lang="en-US" altLang="zh-CN" sz="2000" dirty="0"/>
          </a:p>
          <a:p>
            <a:pPr>
              <a:lnSpc>
                <a:spcPct val="150000"/>
              </a:lnSpc>
            </a:pPr>
            <a:r>
              <a:rPr lang="zh-CN" altLang="en-US"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灯片编号占位符 4">
            <a:extLst>
              <a:ext uri="{FF2B5EF4-FFF2-40B4-BE49-F238E27FC236}">
                <a16:creationId xmlns:a16="http://schemas.microsoft.com/office/drawing/2014/main" id="{D0F092AC-B566-CC34-4FD1-615231FCC7A7}"/>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CEFFF7E9-2D42-4D34-9515-D194908DB228}" type="slidenum">
              <a:rPr lang="zh-CN" altLang="en-US" sz="1400" smtClean="0"/>
              <a:pPr eaLnBrk="0" hangingPunct="0">
                <a:spcBef>
                  <a:spcPct val="0"/>
                </a:spcBef>
                <a:buClrTx/>
                <a:buSzTx/>
                <a:buFontTx/>
                <a:buNone/>
              </a:pPr>
              <a:t>13</a:t>
            </a:fld>
            <a:endParaRPr lang="en-US" altLang="zh-CN" sz="1400"/>
          </a:p>
        </p:txBody>
      </p:sp>
      <p:sp>
        <p:nvSpPr>
          <p:cNvPr id="39939" name="Rectangle 2">
            <a:extLst>
              <a:ext uri="{FF2B5EF4-FFF2-40B4-BE49-F238E27FC236}">
                <a16:creationId xmlns:a16="http://schemas.microsoft.com/office/drawing/2014/main" id="{801DFAFA-85A3-06A6-679D-DE1C8FF336A8}"/>
              </a:ext>
            </a:extLst>
          </p:cNvPr>
          <p:cNvSpPr>
            <a:spLocks noGrp="1" noChangeArrowheads="1"/>
          </p:cNvSpPr>
          <p:nvPr>
            <p:ph type="title"/>
          </p:nvPr>
        </p:nvSpPr>
        <p:spPr/>
        <p:txBody>
          <a:bodyPr/>
          <a:lstStyle/>
          <a:p>
            <a:r>
              <a:rPr lang="zh-CN" altLang="en-US" b="1"/>
              <a:t>二、数字签名的基本概念</a:t>
            </a:r>
          </a:p>
        </p:txBody>
      </p:sp>
      <p:sp>
        <p:nvSpPr>
          <p:cNvPr id="39940" name="Rectangle 3">
            <a:extLst>
              <a:ext uri="{FF2B5EF4-FFF2-40B4-BE49-F238E27FC236}">
                <a16:creationId xmlns:a16="http://schemas.microsoft.com/office/drawing/2014/main" id="{EE688723-49A7-0D85-2EE3-A8616826E850}"/>
              </a:ext>
            </a:extLst>
          </p:cNvPr>
          <p:cNvSpPr>
            <a:spLocks noGrp="1" noChangeArrowheads="1"/>
          </p:cNvSpPr>
          <p:nvPr>
            <p:ph type="body" idx="1"/>
          </p:nvPr>
        </p:nvSpPr>
        <p:spPr>
          <a:xfrm>
            <a:off x="539750" y="2017713"/>
            <a:ext cx="8415338" cy="4291012"/>
          </a:xfrm>
        </p:spPr>
        <p:txBody>
          <a:bodyPr/>
          <a:lstStyle/>
          <a:p>
            <a:pPr algn="ctr">
              <a:lnSpc>
                <a:spcPct val="80000"/>
              </a:lnSpc>
              <a:buFont typeface="Wingdings" panose="05000000000000000000" pitchFamily="2" charset="2"/>
              <a:buNone/>
            </a:pPr>
            <a:r>
              <a:rPr lang="zh-CN" altLang="en-US" sz="3600" b="1">
                <a:ea typeface="黑体" panose="02010609060101010101" pitchFamily="49" charset="-122"/>
              </a:rPr>
              <a:t>公钥密码的签名思想</a:t>
            </a:r>
            <a:endParaRPr lang="zh-CN" altLang="en-US" sz="2800" b="1">
              <a:ea typeface="黑体" panose="02010609060101010101" pitchFamily="49" charset="-122"/>
            </a:endParaRPr>
          </a:p>
          <a:p>
            <a:pPr>
              <a:lnSpc>
                <a:spcPct val="80000"/>
              </a:lnSpc>
              <a:buFont typeface="Wingdings" panose="05000000000000000000" pitchFamily="2" charset="2"/>
              <a:buNone/>
            </a:pPr>
            <a:r>
              <a:rPr lang="zh-CN" altLang="en-US" sz="2800"/>
              <a:t>既然要求数字签名具有这么多的性质，怎样来构造数字签名？</a:t>
            </a:r>
          </a:p>
          <a:p>
            <a:pPr>
              <a:lnSpc>
                <a:spcPct val="80000"/>
              </a:lnSpc>
              <a:buFont typeface="Wingdings" panose="05000000000000000000" pitchFamily="2" charset="2"/>
              <a:buNone/>
            </a:pPr>
            <a:r>
              <a:rPr lang="zh-CN" altLang="en-US" sz="2800"/>
              <a:t>答案是：以公钥密码为基础的数字签名算法才能具有如此强大的信息安全功能。</a:t>
            </a:r>
          </a:p>
          <a:p>
            <a:pPr>
              <a:lnSpc>
                <a:spcPct val="80000"/>
              </a:lnSpc>
              <a:buFont typeface="Wingdings" panose="05000000000000000000" pitchFamily="2" charset="2"/>
              <a:buNone/>
            </a:pPr>
            <a:r>
              <a:rPr lang="zh-CN" altLang="en-US" sz="2800"/>
              <a:t>回忆公钥密码：</a:t>
            </a:r>
          </a:p>
          <a:p>
            <a:pPr>
              <a:lnSpc>
                <a:spcPct val="80000"/>
              </a:lnSpc>
              <a:buClr>
                <a:schemeClr val="tx1"/>
              </a:buClr>
            </a:pPr>
            <a:r>
              <a:rPr lang="zh-CN" altLang="en-US" sz="2800"/>
              <a:t>明文</a:t>
            </a:r>
            <a:r>
              <a:rPr lang="en-US" altLang="zh-CN" sz="2800" i="1"/>
              <a:t>m</a:t>
            </a:r>
            <a:r>
              <a:rPr lang="zh-CN" altLang="en-US" sz="2800"/>
              <a:t>，密文</a:t>
            </a:r>
            <a:r>
              <a:rPr lang="en-US" altLang="zh-CN" sz="2800" i="1"/>
              <a:t>c</a:t>
            </a:r>
            <a:r>
              <a:rPr lang="zh-CN" altLang="en-US" sz="2800" i="1"/>
              <a:t>。</a:t>
            </a:r>
            <a:endParaRPr lang="zh-CN" altLang="en-US" sz="2800"/>
          </a:p>
          <a:p>
            <a:pPr>
              <a:lnSpc>
                <a:spcPct val="80000"/>
              </a:lnSpc>
              <a:buClr>
                <a:schemeClr val="tx1"/>
              </a:buClr>
            </a:pPr>
            <a:r>
              <a:rPr lang="en-US" altLang="zh-CN" sz="2800"/>
              <a:t>Alice</a:t>
            </a:r>
            <a:r>
              <a:rPr lang="zh-CN" altLang="en-US" sz="2800"/>
              <a:t>的加密密钥（公钥）是</a:t>
            </a:r>
            <a:r>
              <a:rPr lang="en-US" altLang="zh-CN" sz="2800" i="1"/>
              <a:t>z</a:t>
            </a:r>
            <a:r>
              <a:rPr lang="zh-CN" altLang="en-US" sz="2800"/>
              <a:t>，解密密钥（私钥）是</a:t>
            </a:r>
            <a:r>
              <a:rPr lang="en-US" altLang="zh-CN" sz="2800" i="1"/>
              <a:t>k</a:t>
            </a:r>
            <a:r>
              <a:rPr lang="zh-CN" altLang="en-US" sz="2800"/>
              <a:t>。</a:t>
            </a:r>
          </a:p>
          <a:p>
            <a:pPr>
              <a:lnSpc>
                <a:spcPct val="80000"/>
              </a:lnSpc>
              <a:buClr>
                <a:schemeClr val="tx1"/>
              </a:buClr>
            </a:pPr>
            <a:r>
              <a:rPr lang="zh-CN" altLang="en-US" sz="2800"/>
              <a:t>加密方程</a:t>
            </a:r>
            <a:r>
              <a:rPr lang="en-US" altLang="zh-CN" sz="2800" i="1"/>
              <a:t>c</a:t>
            </a:r>
            <a:r>
              <a:rPr lang="en-US" altLang="zh-CN" sz="2800"/>
              <a:t>=</a:t>
            </a:r>
            <a:r>
              <a:rPr lang="en-US" altLang="zh-CN" sz="2800" i="1"/>
              <a:t>E</a:t>
            </a:r>
            <a:r>
              <a:rPr lang="en-US" altLang="zh-CN" sz="2800"/>
              <a:t>(</a:t>
            </a:r>
            <a:r>
              <a:rPr lang="en-US" altLang="zh-CN" sz="2800" i="1"/>
              <a:t>m</a:t>
            </a:r>
            <a:r>
              <a:rPr lang="en-US" altLang="zh-CN" sz="2800"/>
              <a:t>, </a:t>
            </a:r>
            <a:r>
              <a:rPr lang="en-US" altLang="zh-CN" sz="2800" i="1"/>
              <a:t>z</a:t>
            </a:r>
            <a:r>
              <a:rPr lang="en-US" altLang="zh-CN" sz="2800"/>
              <a:t>)</a:t>
            </a:r>
            <a:r>
              <a:rPr lang="zh-CN" altLang="en-US" sz="2800"/>
              <a:t>，解密方程</a:t>
            </a:r>
            <a:r>
              <a:rPr lang="en-US" altLang="zh-CN" sz="2800" i="1"/>
              <a:t>m</a:t>
            </a:r>
            <a:r>
              <a:rPr lang="en-US" altLang="zh-CN" sz="2800"/>
              <a:t>=</a:t>
            </a:r>
            <a:r>
              <a:rPr lang="en-US" altLang="zh-CN" sz="2800" i="1"/>
              <a:t>D</a:t>
            </a:r>
            <a:r>
              <a:rPr lang="en-US" altLang="zh-CN" sz="2800"/>
              <a:t>(</a:t>
            </a:r>
            <a:r>
              <a:rPr lang="en-US" altLang="zh-CN" sz="2800" i="1"/>
              <a:t>c</a:t>
            </a:r>
            <a:r>
              <a:rPr lang="en-US" altLang="zh-CN" sz="2800"/>
              <a:t>, </a:t>
            </a:r>
            <a:r>
              <a:rPr lang="en-US" altLang="zh-CN" sz="2800" i="1"/>
              <a:t>k</a:t>
            </a:r>
            <a:r>
              <a:rPr lang="en-US" altLang="zh-CN" sz="2800"/>
              <a:t>)</a:t>
            </a:r>
            <a:r>
              <a:rPr lang="zh-CN" altLang="en-US" sz="28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940">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9940">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9940">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9940">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994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4">
            <a:extLst>
              <a:ext uri="{FF2B5EF4-FFF2-40B4-BE49-F238E27FC236}">
                <a16:creationId xmlns:a16="http://schemas.microsoft.com/office/drawing/2014/main" id="{D0F092AC-B566-CC34-4FD1-615231FCC7A7}"/>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CEFFF7E9-2D42-4D34-9515-D194908DB228}" type="slidenum">
              <a:rPr lang="zh-CN" altLang="en-US" sz="1400" smtClean="0"/>
              <a:pPr eaLnBrk="0" hangingPunct="0">
                <a:spcBef>
                  <a:spcPct val="0"/>
                </a:spcBef>
                <a:buClrTx/>
                <a:buSzTx/>
                <a:buFontTx/>
                <a:buNone/>
              </a:pPr>
              <a:t>14</a:t>
            </a:fld>
            <a:endParaRPr lang="en-US" altLang="zh-CN" sz="1400"/>
          </a:p>
        </p:txBody>
      </p:sp>
      <p:sp>
        <p:nvSpPr>
          <p:cNvPr id="39939" name="Rectangle 2">
            <a:extLst>
              <a:ext uri="{FF2B5EF4-FFF2-40B4-BE49-F238E27FC236}">
                <a16:creationId xmlns:a16="http://schemas.microsoft.com/office/drawing/2014/main" id="{801DFAFA-85A3-06A6-679D-DE1C8FF336A8}"/>
              </a:ext>
            </a:extLst>
          </p:cNvPr>
          <p:cNvSpPr>
            <a:spLocks noGrp="1" noChangeArrowheads="1"/>
          </p:cNvSpPr>
          <p:nvPr>
            <p:ph type="title"/>
          </p:nvPr>
        </p:nvSpPr>
        <p:spPr>
          <a:xfrm>
            <a:off x="611560" y="130063"/>
            <a:ext cx="7793037" cy="838423"/>
          </a:xfrm>
        </p:spPr>
        <p:txBody>
          <a:bodyPr/>
          <a:lstStyle/>
          <a:p>
            <a:r>
              <a:rPr lang="zh-CN" altLang="en-US" b="1" dirty="0"/>
              <a:t>二、数字签名的基本概念</a:t>
            </a:r>
          </a:p>
        </p:txBody>
      </p:sp>
      <mc:AlternateContent xmlns:mc="http://schemas.openxmlformats.org/markup-compatibility/2006">
        <mc:Choice xmlns:a14="http://schemas.microsoft.com/office/drawing/2010/main" Requires="a14">
          <p:sp>
            <p:nvSpPr>
              <p:cNvPr id="39940" name="Rectangle 3">
                <a:extLst>
                  <a:ext uri="{FF2B5EF4-FFF2-40B4-BE49-F238E27FC236}">
                    <a16:creationId xmlns:a16="http://schemas.microsoft.com/office/drawing/2014/main" id="{EE688723-49A7-0D85-2EE3-A8616826E850}"/>
                  </a:ext>
                </a:extLst>
              </p:cNvPr>
              <p:cNvSpPr>
                <a:spLocks noGrp="1" noChangeArrowheads="1"/>
              </p:cNvSpPr>
              <p:nvPr>
                <p:ph type="body" idx="1"/>
              </p:nvPr>
            </p:nvSpPr>
            <p:spPr>
              <a:xfrm>
                <a:off x="539750" y="1196752"/>
                <a:ext cx="8415338" cy="5111973"/>
              </a:xfrm>
            </p:spPr>
            <p:txBody>
              <a:bodyPr/>
              <a:lstStyle/>
              <a:p>
                <a:pPr algn="ctr">
                  <a:lnSpc>
                    <a:spcPct val="80000"/>
                  </a:lnSpc>
                  <a:buFont typeface="Wingdings" panose="05000000000000000000" pitchFamily="2" charset="2"/>
                  <a:buNone/>
                </a:pPr>
                <a:r>
                  <a:rPr lang="zh-CN" altLang="en-US" sz="3600" b="1" dirty="0">
                    <a:ea typeface="黑体" panose="02010609060101010101" pitchFamily="49" charset="-122"/>
                  </a:rPr>
                  <a:t>数字签名方案的组成</a:t>
                </a:r>
                <a:endParaRPr lang="zh-CN" altLang="en-US" sz="2800" b="1" dirty="0">
                  <a:ea typeface="黑体" panose="02010609060101010101" pitchFamily="49" charset="-122"/>
                </a:endParaRPr>
              </a:p>
              <a:p>
                <a:pPr>
                  <a:lnSpc>
                    <a:spcPct val="150000"/>
                  </a:lnSpc>
                </a:pPr>
                <a:r>
                  <a:rPr lang="zh-CN" altLang="en-US" sz="2800" dirty="0"/>
                  <a:t>一个数字签名方案包含：签名算法和验证算法。</a:t>
                </a:r>
                <a:endParaRPr lang="en-US" altLang="zh-CN" sz="2800" dirty="0"/>
              </a:p>
              <a:p>
                <a:pPr lvl="1">
                  <a:lnSpc>
                    <a:spcPct val="150000"/>
                  </a:lnSpc>
                </a:pPr>
                <a:r>
                  <a:rPr lang="zh-CN" altLang="en-US" sz="2400" dirty="0"/>
                  <a:t>签名算法的输入是签名者的私钥</a:t>
                </a:r>
                <a14:m>
                  <m:oMath xmlns:m="http://schemas.openxmlformats.org/officeDocument/2006/math">
                    <m:r>
                      <a:rPr lang="en-US" altLang="zh-CN" sz="2400" i="1" dirty="0" smtClean="0">
                        <a:latin typeface="Cambria Math" panose="02040503050406030204" pitchFamily="18" charset="0"/>
                      </a:rPr>
                      <m:t>𝑠𝑘</m:t>
                    </m:r>
                  </m:oMath>
                </a14:m>
                <a:r>
                  <a:rPr lang="zh-CN" altLang="en-US" sz="2400" dirty="0"/>
                  <a:t>和消息</a:t>
                </a:r>
                <a14:m>
                  <m:oMath xmlns:m="http://schemas.openxmlformats.org/officeDocument/2006/math">
                    <m:r>
                      <a:rPr lang="en-US" altLang="zh-CN" sz="2400" i="1" dirty="0" smtClean="0">
                        <a:latin typeface="Cambria Math" panose="02040503050406030204" pitchFamily="18" charset="0"/>
                      </a:rPr>
                      <m:t>𝑚</m:t>
                    </m:r>
                  </m:oMath>
                </a14:m>
                <a:r>
                  <a:rPr lang="zh-CN" altLang="en-US" sz="2400" dirty="0"/>
                  <a:t>，输出是对</a:t>
                </a:r>
                <a14:m>
                  <m:oMath xmlns:m="http://schemas.openxmlformats.org/officeDocument/2006/math">
                    <m:r>
                      <a:rPr lang="en-US" altLang="zh-CN" sz="2400" i="1" dirty="0" smtClean="0">
                        <a:latin typeface="Cambria Math" panose="02040503050406030204" pitchFamily="18" charset="0"/>
                      </a:rPr>
                      <m:t>𝑚</m:t>
                    </m:r>
                  </m:oMath>
                </a14:m>
                <a:r>
                  <a:rPr lang="zh-CN" altLang="en-US" sz="2400" dirty="0"/>
                  <a:t>的数字签名，记为</a:t>
                </a:r>
                <a14:m>
                  <m:oMath xmlns:m="http://schemas.openxmlformats.org/officeDocument/2006/math">
                    <m:r>
                      <a:rPr lang="en-US" altLang="zh-CN" sz="2400" b="0" i="1" smtClean="0">
                        <a:latin typeface="Cambria Math" panose="02040503050406030204" pitchFamily="18" charset="0"/>
                      </a:rPr>
                      <m:t>𝜎</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𝑆𝑖𝑔</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𝑠𝑘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𝑚</m:t>
                    </m:r>
                    <m:r>
                      <a:rPr lang="en-US" altLang="zh-CN" sz="2400" b="0" i="1" smtClean="0">
                        <a:latin typeface="Cambria Math" panose="02040503050406030204" pitchFamily="18" charset="0"/>
                      </a:rPr>
                      <m:t>)</m:t>
                    </m:r>
                    <m:r>
                      <a:rPr lang="zh-CN" altLang="en-US" sz="2400" i="1">
                        <a:latin typeface="Cambria Math" panose="02040503050406030204" pitchFamily="18" charset="0"/>
                      </a:rPr>
                      <m:t>。</m:t>
                    </m:r>
                  </m:oMath>
                </a14:m>
                <a:endParaRPr lang="en-US" altLang="zh-CN" sz="2400" dirty="0"/>
              </a:p>
              <a:p>
                <a:pPr lvl="1">
                  <a:lnSpc>
                    <a:spcPct val="150000"/>
                  </a:lnSpc>
                </a:pPr>
                <a:r>
                  <a:rPr lang="zh-CN" altLang="en-US" sz="2400" dirty="0"/>
                  <a:t>验证算法输入的是签名者的公钥</a:t>
                </a:r>
                <a14:m>
                  <m:oMath xmlns:m="http://schemas.openxmlformats.org/officeDocument/2006/math">
                    <m:r>
                      <a:rPr lang="en-US" altLang="zh-CN" sz="2400" b="0" i="1" smtClean="0">
                        <a:latin typeface="Cambria Math" panose="02040503050406030204" pitchFamily="18" charset="0"/>
                      </a:rPr>
                      <m:t>𝑝𝑘</m:t>
                    </m:r>
                  </m:oMath>
                </a14:m>
                <a:r>
                  <a:rPr lang="zh-CN" altLang="en-US" sz="2400" dirty="0"/>
                  <a:t>，消息</a:t>
                </a:r>
                <a14:m>
                  <m:oMath xmlns:m="http://schemas.openxmlformats.org/officeDocument/2006/math">
                    <m:r>
                      <a:rPr lang="en-US" altLang="zh-CN" sz="2400" b="0" i="1" smtClean="0">
                        <a:latin typeface="Cambria Math" panose="02040503050406030204" pitchFamily="18" charset="0"/>
                      </a:rPr>
                      <m:t>𝑚</m:t>
                    </m:r>
                  </m:oMath>
                </a14:m>
                <a:r>
                  <a:rPr lang="zh-CN" altLang="en-US" sz="2400" dirty="0"/>
                  <a:t>和签名</a:t>
                </a:r>
                <a14:m>
                  <m:oMath xmlns:m="http://schemas.openxmlformats.org/officeDocument/2006/math">
                    <m:r>
                      <a:rPr lang="en-US" altLang="zh-CN" sz="2400" b="0" i="1" smtClean="0">
                        <a:latin typeface="Cambria Math" panose="02040503050406030204" pitchFamily="18" charset="0"/>
                      </a:rPr>
                      <m:t>𝜎</m:t>
                    </m:r>
                  </m:oMath>
                </a14:m>
                <a:r>
                  <a:rPr lang="zh-CN" altLang="en-US" sz="2400" dirty="0"/>
                  <a:t>，输出是真或者伪，记为：</a:t>
                </a:r>
                <a:endParaRPr lang="en-US" altLang="zh-CN" sz="2400" dirty="0"/>
              </a:p>
              <a:p>
                <a:pPr marL="457200" lvl="1" indent="0">
                  <a:lnSpc>
                    <a:spcPct val="150000"/>
                  </a:lnSpc>
                  <a:buNone/>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𝑉𝑒𝑟</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𝑝𝑘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𝑚</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𝜎</m:t>
                          </m:r>
                        </m:e>
                      </m:d>
                      <m:r>
                        <a:rPr lang="en-US" altLang="zh-CN" sz="2400" b="0" i="1" smtClean="0">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eqArr>
                            <m:eqArrPr>
                              <m:ctrlPr>
                                <a:rPr lang="en-US" altLang="zh-CN" sz="2400" b="0" i="1" smtClean="0">
                                  <a:latin typeface="Cambria Math" panose="02040503050406030204" pitchFamily="18" charset="0"/>
                                </a:rPr>
                              </m:ctrlPr>
                            </m:eqArrPr>
                            <m:e>
                              <m:r>
                                <a:rPr lang="zh-CN" altLang="en-US" sz="2400" i="1">
                                  <a:latin typeface="Cambria Math" panose="02040503050406030204" pitchFamily="18" charset="0"/>
                                </a:rPr>
                                <m:t>真</m:t>
                              </m:r>
                              <m:r>
                                <a:rPr lang="en-US" altLang="zh-CN" sz="2400" b="0" i="1" smtClean="0">
                                  <a:latin typeface="Cambria Math" panose="02040503050406030204" pitchFamily="18" charset="0"/>
                                </a:rPr>
                                <m:t>  </m:t>
                              </m:r>
                              <m:r>
                                <a:rPr lang="zh-CN" altLang="en-US" sz="2400" i="1">
                                  <a:latin typeface="Cambria Math" panose="02040503050406030204" pitchFamily="18" charset="0"/>
                                </a:rPr>
                                <m:t>当</m:t>
                              </m:r>
                              <m:r>
                                <a:rPr lang="en-US" altLang="zh-CN" sz="2400" b="0" i="1" smtClean="0">
                                  <a:latin typeface="Cambria Math" panose="02040503050406030204" pitchFamily="18" charset="0"/>
                                </a:rPr>
                                <m:t>𝜎</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𝑆𝑖𝑔</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𝑠𝑘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𝑚</m:t>
                              </m:r>
                              <m:r>
                                <a:rPr lang="en-US" altLang="zh-CN" sz="2400" b="0" i="1" smtClean="0">
                                  <a:latin typeface="Cambria Math" panose="02040503050406030204" pitchFamily="18" charset="0"/>
                                </a:rPr>
                                <m:t>)</m:t>
                              </m:r>
                            </m:e>
                            <m:e>
                              <m:r>
                                <a:rPr lang="zh-CN" altLang="en-US" sz="2400" i="1">
                                  <a:latin typeface="Cambria Math" panose="02040503050406030204" pitchFamily="18" charset="0"/>
                                </a:rPr>
                                <m:t>伪</m:t>
                              </m:r>
                              <m:r>
                                <a:rPr lang="en-US" altLang="zh-CN" sz="2400" i="1">
                                  <a:latin typeface="Cambria Math" panose="02040503050406030204" pitchFamily="18" charset="0"/>
                                </a:rPr>
                                <m:t>  </m:t>
                              </m:r>
                              <m:r>
                                <a:rPr lang="zh-CN" altLang="en-US" sz="2400" i="1">
                                  <a:latin typeface="Cambria Math" panose="02040503050406030204" pitchFamily="18" charset="0"/>
                                </a:rPr>
                                <m:t>当</m:t>
                              </m:r>
                              <m:r>
                                <a:rPr lang="en-US" altLang="zh-CN" sz="2400" i="1">
                                  <a:latin typeface="Cambria Math" panose="02040503050406030204" pitchFamily="18" charset="0"/>
                                </a:rPr>
                                <m:t>𝜎</m:t>
                              </m:r>
                              <m:r>
                                <a:rPr lang="en-US" altLang="zh-CN" sz="2400" b="0" i="1" smtClean="0">
                                  <a:latin typeface="Cambria Math" panose="02040503050406030204" pitchFamily="18" charset="0"/>
                                </a:rPr>
                                <m:t>≠</m:t>
                              </m:r>
                              <m:r>
                                <a:rPr lang="en-US" altLang="zh-CN" sz="2400" i="1">
                                  <a:latin typeface="Cambria Math" panose="02040503050406030204" pitchFamily="18" charset="0"/>
                                </a:rPr>
                                <m:t>𝑆𝑖𝑔</m:t>
                              </m:r>
                              <m:r>
                                <a:rPr lang="en-US" altLang="zh-CN" sz="2400" i="1">
                                  <a:latin typeface="Cambria Math" panose="02040503050406030204" pitchFamily="18" charset="0"/>
                                </a:rPr>
                                <m:t>(</m:t>
                              </m:r>
                              <m:r>
                                <a:rPr lang="en-US" altLang="zh-CN" sz="2400" i="1">
                                  <a:latin typeface="Cambria Math" panose="02040503050406030204" pitchFamily="18" charset="0"/>
                                </a:rPr>
                                <m:t>𝑠𝑘</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m:t>
                              </m:r>
                            </m:e>
                          </m:eqArr>
                        </m:e>
                      </m:d>
                    </m:oMath>
                  </m:oMathPara>
                </a14:m>
                <a:endParaRPr lang="zh-CN" altLang="en-US" sz="2400" dirty="0"/>
              </a:p>
              <a:p>
                <a:pPr>
                  <a:lnSpc>
                    <a:spcPct val="80000"/>
                  </a:lnSpc>
                  <a:buFont typeface="Wingdings" panose="05000000000000000000" pitchFamily="2" charset="2"/>
                  <a:buNone/>
                </a:pPr>
                <a:endParaRPr lang="zh-CN" altLang="en-US" sz="2800" dirty="0"/>
              </a:p>
            </p:txBody>
          </p:sp>
        </mc:Choice>
        <mc:Fallback>
          <p:sp>
            <p:nvSpPr>
              <p:cNvPr id="39940" name="Rectangle 3">
                <a:extLst>
                  <a:ext uri="{FF2B5EF4-FFF2-40B4-BE49-F238E27FC236}">
                    <a16:creationId xmlns:a16="http://schemas.microsoft.com/office/drawing/2014/main" id="{EE688723-49A7-0D85-2EE3-A8616826E850}"/>
                  </a:ext>
                </a:extLst>
              </p:cNvPr>
              <p:cNvSpPr>
                <a:spLocks noGrp="1" noRot="1" noChangeAspect="1" noMove="1" noResize="1" noEditPoints="1" noAdjustHandles="1" noChangeArrowheads="1" noChangeShapeType="1" noTextEdit="1"/>
              </p:cNvSpPr>
              <p:nvPr>
                <p:ph type="body" idx="1"/>
              </p:nvPr>
            </p:nvSpPr>
            <p:spPr>
              <a:xfrm>
                <a:off x="539750" y="1196752"/>
                <a:ext cx="8415338" cy="5111973"/>
              </a:xfrm>
              <a:blipFill>
                <a:blip r:embed="rId2"/>
                <a:stretch>
                  <a:fillRect l="-362" t="-417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86010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灯片编号占位符 4">
            <a:extLst>
              <a:ext uri="{FF2B5EF4-FFF2-40B4-BE49-F238E27FC236}">
                <a16:creationId xmlns:a16="http://schemas.microsoft.com/office/drawing/2014/main" id="{D10E51F8-1FF5-DB8A-AD87-0EEAB0527CC6}"/>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1F30C7C2-0835-4B97-833F-88D1CCA6AE03}" type="slidenum">
              <a:rPr lang="zh-CN" altLang="en-US" sz="1400" smtClean="0"/>
              <a:pPr eaLnBrk="0" hangingPunct="0">
                <a:spcBef>
                  <a:spcPct val="0"/>
                </a:spcBef>
                <a:buClrTx/>
                <a:buSzTx/>
                <a:buFontTx/>
                <a:buNone/>
              </a:pPr>
              <a:t>15</a:t>
            </a:fld>
            <a:endParaRPr lang="en-US" altLang="zh-CN" sz="1400"/>
          </a:p>
        </p:txBody>
      </p:sp>
      <p:sp>
        <p:nvSpPr>
          <p:cNvPr id="40963" name="Rectangle 2">
            <a:extLst>
              <a:ext uri="{FF2B5EF4-FFF2-40B4-BE49-F238E27FC236}">
                <a16:creationId xmlns:a16="http://schemas.microsoft.com/office/drawing/2014/main" id="{DA7370CC-8137-A893-DB25-595C417913BA}"/>
              </a:ext>
            </a:extLst>
          </p:cNvPr>
          <p:cNvSpPr>
            <a:spLocks noGrp="1" noChangeArrowheads="1"/>
          </p:cNvSpPr>
          <p:nvPr>
            <p:ph type="title"/>
          </p:nvPr>
        </p:nvSpPr>
        <p:spPr/>
        <p:txBody>
          <a:bodyPr/>
          <a:lstStyle/>
          <a:p>
            <a:r>
              <a:rPr lang="zh-CN" altLang="en-US" b="1"/>
              <a:t>二、数字签名的基本概念</a:t>
            </a:r>
          </a:p>
        </p:txBody>
      </p:sp>
      <p:sp>
        <p:nvSpPr>
          <p:cNvPr id="40964" name="Rectangle 3">
            <a:extLst>
              <a:ext uri="{FF2B5EF4-FFF2-40B4-BE49-F238E27FC236}">
                <a16:creationId xmlns:a16="http://schemas.microsoft.com/office/drawing/2014/main" id="{07C1A6BA-5616-F640-10E5-78B5E40E9AAD}"/>
              </a:ext>
            </a:extLst>
          </p:cNvPr>
          <p:cNvSpPr>
            <a:spLocks noGrp="1" noChangeArrowheads="1"/>
          </p:cNvSpPr>
          <p:nvPr>
            <p:ph type="body" idx="1"/>
          </p:nvPr>
        </p:nvSpPr>
        <p:spPr>
          <a:xfrm>
            <a:off x="611188" y="2017713"/>
            <a:ext cx="8208962" cy="4114800"/>
          </a:xfrm>
        </p:spPr>
        <p:txBody>
          <a:bodyPr/>
          <a:lstStyle/>
          <a:p>
            <a:pPr algn="ctr">
              <a:lnSpc>
                <a:spcPct val="90000"/>
              </a:lnSpc>
              <a:buFont typeface="Wingdings" panose="05000000000000000000" pitchFamily="2" charset="2"/>
              <a:buNone/>
            </a:pPr>
            <a:r>
              <a:rPr lang="zh-CN" altLang="en-US" b="1">
                <a:latin typeface="Times New Roman" panose="02020603050405020304" pitchFamily="18" charset="0"/>
                <a:ea typeface="黑体" panose="02010609060101010101" pitchFamily="49" charset="-122"/>
              </a:rPr>
              <a:t>公钥密码的签名方案（一）</a:t>
            </a:r>
          </a:p>
          <a:p>
            <a:pPr>
              <a:lnSpc>
                <a:spcPct val="90000"/>
              </a:lnSpc>
              <a:buFont typeface="Wingdings" panose="05000000000000000000" pitchFamily="2" charset="2"/>
              <a:buNone/>
            </a:pPr>
            <a:r>
              <a:rPr lang="en-US" altLang="zh-CN" sz="2800">
                <a:latin typeface="Times New Roman" panose="02020603050405020304" pitchFamily="18" charset="0"/>
              </a:rPr>
              <a:t>Alice</a:t>
            </a:r>
            <a:r>
              <a:rPr lang="zh-CN" altLang="en-US" sz="2800">
                <a:latin typeface="Times New Roman" panose="02020603050405020304" pitchFamily="18" charset="0"/>
              </a:rPr>
              <a:t>欲发消息</a:t>
            </a:r>
            <a:r>
              <a:rPr lang="en-US" altLang="zh-CN" sz="2800" i="1">
                <a:latin typeface="Times New Roman" panose="02020603050405020304" pitchFamily="18" charset="0"/>
              </a:rPr>
              <a:t>m</a:t>
            </a:r>
            <a:r>
              <a:rPr lang="zh-CN" altLang="en-US" sz="2800">
                <a:latin typeface="Times New Roman" panose="02020603050405020304" pitchFamily="18" charset="0"/>
              </a:rPr>
              <a:t>给</a:t>
            </a:r>
            <a:r>
              <a:rPr lang="en-US" altLang="zh-CN" sz="2800">
                <a:latin typeface="Times New Roman" panose="02020603050405020304" pitchFamily="18" charset="0"/>
              </a:rPr>
              <a:t>Bob</a:t>
            </a:r>
            <a:r>
              <a:rPr lang="zh-CN" altLang="en-US" sz="2800">
                <a:latin typeface="Times New Roman" panose="02020603050405020304" pitchFamily="18" charset="0"/>
              </a:rPr>
              <a:t>。</a:t>
            </a:r>
          </a:p>
          <a:p>
            <a:pPr>
              <a:lnSpc>
                <a:spcPct val="90000"/>
              </a:lnSpc>
              <a:buFont typeface="Wingdings" panose="05000000000000000000" pitchFamily="2" charset="2"/>
              <a:buNone/>
            </a:pPr>
            <a:r>
              <a:rPr lang="zh-CN" altLang="en-US" sz="2800">
                <a:latin typeface="Times New Roman" panose="02020603050405020304" pitchFamily="18" charset="0"/>
              </a:rPr>
              <a:t>（</a:t>
            </a:r>
            <a:r>
              <a:rPr lang="en-US" altLang="zh-CN" sz="2800">
                <a:latin typeface="Times New Roman" panose="02020603050405020304" pitchFamily="18" charset="0"/>
              </a:rPr>
              <a:t>1</a:t>
            </a:r>
            <a:r>
              <a:rPr lang="zh-CN" altLang="en-US" sz="2800">
                <a:latin typeface="Times New Roman" panose="02020603050405020304" pitchFamily="18" charset="0"/>
              </a:rPr>
              <a:t>） </a:t>
            </a:r>
            <a:r>
              <a:rPr lang="en-US" altLang="zh-CN" sz="2800">
                <a:latin typeface="Times New Roman" panose="02020603050405020304" pitchFamily="18" charset="0"/>
              </a:rPr>
              <a:t>Alice</a:t>
            </a:r>
            <a:r>
              <a:rPr lang="zh-CN" altLang="en-US" sz="2800">
                <a:latin typeface="Times New Roman" panose="02020603050405020304" pitchFamily="18" charset="0"/>
              </a:rPr>
              <a:t>用自己的私钥</a:t>
            </a:r>
            <a:r>
              <a:rPr lang="en-US" altLang="zh-CN" sz="2800" i="1">
                <a:latin typeface="Times New Roman" panose="02020603050405020304" pitchFamily="18" charset="0"/>
              </a:rPr>
              <a:t>k</a:t>
            </a:r>
            <a:r>
              <a:rPr lang="zh-CN" altLang="en-US" sz="2800">
                <a:latin typeface="Times New Roman" panose="02020603050405020304" pitchFamily="18" charset="0"/>
              </a:rPr>
              <a:t>对消息</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zh-CN" altLang="en-US" sz="2800">
                <a:latin typeface="Times New Roman" panose="02020603050405020304" pitchFamily="18" charset="0"/>
              </a:rPr>
              <a:t>解密”</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en-US" altLang="zh-CN" sz="2800" i="1">
                <a:latin typeface="Times New Roman" panose="02020603050405020304" pitchFamily="18" charset="0"/>
              </a:rPr>
              <a:t>D</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en-US" altLang="zh-CN" sz="2800">
                <a:latin typeface="Times New Roman" panose="02020603050405020304" pitchFamily="18" charset="0"/>
              </a:rPr>
              <a:t>, </a:t>
            </a:r>
            <a:r>
              <a:rPr lang="en-US" altLang="zh-CN" sz="2800" i="1">
                <a:latin typeface="Times New Roman" panose="02020603050405020304" pitchFamily="18" charset="0"/>
              </a:rPr>
              <a:t>k</a:t>
            </a:r>
            <a:r>
              <a:rPr lang="en-US" altLang="zh-CN" sz="2800">
                <a:latin typeface="Times New Roman" panose="02020603050405020304" pitchFamily="18" charset="0"/>
              </a:rPr>
              <a:t>)</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zh-CN" altLang="en-US" sz="2800">
                <a:latin typeface="Times New Roman" panose="02020603050405020304" pitchFamily="18" charset="0"/>
              </a:rPr>
              <a:t>就是对消息</a:t>
            </a:r>
            <a:r>
              <a:rPr lang="en-US" altLang="zh-CN" sz="2800" i="1">
                <a:latin typeface="Times New Roman" panose="02020603050405020304" pitchFamily="18" charset="0"/>
              </a:rPr>
              <a:t>m</a:t>
            </a:r>
            <a:r>
              <a:rPr lang="zh-CN" altLang="en-US" sz="2800">
                <a:latin typeface="Times New Roman" panose="02020603050405020304" pitchFamily="18" charset="0"/>
              </a:rPr>
              <a:t>的签名值，</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就是一个签名消息。</a:t>
            </a:r>
          </a:p>
          <a:p>
            <a:pPr>
              <a:lnSpc>
                <a:spcPct val="90000"/>
              </a:lnSpc>
              <a:buFont typeface="Wingdings" panose="05000000000000000000" pitchFamily="2" charset="2"/>
              <a:buNone/>
            </a:pPr>
            <a:r>
              <a:rPr lang="zh-CN" altLang="en-US" sz="2800">
                <a:latin typeface="Times New Roman" panose="02020603050405020304" pitchFamily="18" charset="0"/>
              </a:rPr>
              <a:t>（</a:t>
            </a:r>
            <a:r>
              <a:rPr lang="en-US" altLang="zh-CN" sz="2800">
                <a:latin typeface="Times New Roman" panose="02020603050405020304" pitchFamily="18" charset="0"/>
              </a:rPr>
              <a:t>2</a:t>
            </a:r>
            <a:r>
              <a:rPr lang="zh-CN" altLang="en-US" sz="2800">
                <a:latin typeface="Times New Roman" panose="02020603050405020304" pitchFamily="18" charset="0"/>
              </a:rPr>
              <a:t>） </a:t>
            </a:r>
            <a:r>
              <a:rPr lang="en-US" altLang="zh-CN" sz="2800">
                <a:latin typeface="Times New Roman" panose="02020603050405020304" pitchFamily="18" charset="0"/>
              </a:rPr>
              <a:t>Alice</a:t>
            </a:r>
            <a:r>
              <a:rPr lang="zh-CN" altLang="en-US" sz="2800">
                <a:latin typeface="Times New Roman" panose="02020603050405020304" pitchFamily="18" charset="0"/>
              </a:rPr>
              <a:t>将</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发送给</a:t>
            </a:r>
            <a:r>
              <a:rPr lang="en-US" altLang="zh-CN" sz="2800">
                <a:latin typeface="Times New Roman" panose="02020603050405020304" pitchFamily="18" charset="0"/>
              </a:rPr>
              <a:t>Bob</a:t>
            </a:r>
            <a:r>
              <a:rPr lang="zh-CN" altLang="en-US" sz="2800">
                <a:latin typeface="Times New Roman" panose="02020603050405020304" pitchFamily="18" charset="0"/>
              </a:rPr>
              <a:t>。</a:t>
            </a:r>
          </a:p>
          <a:p>
            <a:pPr>
              <a:lnSpc>
                <a:spcPct val="90000"/>
              </a:lnSpc>
              <a:buFont typeface="Wingdings" panose="05000000000000000000" pitchFamily="2" charset="2"/>
              <a:buNone/>
            </a:pPr>
            <a:r>
              <a:rPr lang="zh-CN" altLang="en-US" sz="2800">
                <a:latin typeface="Times New Roman" panose="02020603050405020304" pitchFamily="18" charset="0"/>
              </a:rPr>
              <a:t>（</a:t>
            </a:r>
            <a:r>
              <a:rPr lang="en-US" altLang="zh-CN" sz="2800">
                <a:latin typeface="Times New Roman" panose="02020603050405020304" pitchFamily="18" charset="0"/>
              </a:rPr>
              <a:t>3</a:t>
            </a:r>
            <a:r>
              <a:rPr lang="zh-CN" altLang="en-US" sz="2800">
                <a:latin typeface="Times New Roman" panose="02020603050405020304" pitchFamily="18" charset="0"/>
              </a:rPr>
              <a:t>） </a:t>
            </a:r>
            <a:r>
              <a:rPr lang="en-US" altLang="zh-CN" sz="2800">
                <a:latin typeface="Times New Roman" panose="02020603050405020304" pitchFamily="18" charset="0"/>
              </a:rPr>
              <a:t>Bob</a:t>
            </a:r>
            <a:r>
              <a:rPr lang="zh-CN" altLang="en-US" sz="2800">
                <a:latin typeface="Times New Roman" panose="02020603050405020304" pitchFamily="18" charset="0"/>
              </a:rPr>
              <a:t>收到</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后，用</a:t>
            </a:r>
            <a:r>
              <a:rPr lang="en-US" altLang="zh-CN" sz="2800">
                <a:latin typeface="Times New Roman" panose="02020603050405020304" pitchFamily="18" charset="0"/>
              </a:rPr>
              <a:t>Alice</a:t>
            </a:r>
            <a:r>
              <a:rPr lang="zh-CN" altLang="en-US" sz="2800">
                <a:latin typeface="Times New Roman" panose="02020603050405020304" pitchFamily="18" charset="0"/>
              </a:rPr>
              <a:t>的公钥</a:t>
            </a:r>
            <a:r>
              <a:rPr lang="en-US" altLang="zh-CN" sz="2800" i="1">
                <a:latin typeface="Times New Roman" panose="02020603050405020304" pitchFamily="18" charset="0"/>
              </a:rPr>
              <a:t>z</a:t>
            </a:r>
            <a:r>
              <a:rPr lang="zh-CN" altLang="en-US" sz="2800">
                <a:latin typeface="Times New Roman" panose="02020603050405020304" pitchFamily="18" charset="0"/>
              </a:rPr>
              <a:t>，将消息</a:t>
            </a:r>
            <a:r>
              <a:rPr lang="en-US" altLang="zh-CN" sz="2800" i="1">
                <a:latin typeface="Times New Roman" panose="02020603050405020304" pitchFamily="18" charset="0"/>
              </a:rPr>
              <a:t>m</a:t>
            </a:r>
            <a:r>
              <a:rPr lang="zh-CN" altLang="en-US" sz="2800">
                <a:latin typeface="Times New Roman" panose="02020603050405020304" pitchFamily="18" charset="0"/>
              </a:rPr>
              <a:t>与签名</a:t>
            </a:r>
            <a:r>
              <a:rPr lang="en-US" altLang="zh-CN" sz="2800" i="1">
                <a:latin typeface="Times New Roman" panose="02020603050405020304" pitchFamily="18" charset="0"/>
              </a:rPr>
              <a:t>s</a:t>
            </a:r>
            <a:r>
              <a:rPr lang="zh-CN" altLang="en-US" sz="2800">
                <a:latin typeface="Times New Roman" panose="02020603050405020304" pitchFamily="18" charset="0"/>
              </a:rPr>
              <a:t>做如下的检验：是否</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en-US" altLang="zh-CN" sz="2800" i="1">
                <a:latin typeface="Times New Roman" panose="02020603050405020304" pitchFamily="18" charset="0"/>
              </a:rPr>
              <a:t>E</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 </a:t>
            </a:r>
            <a:r>
              <a:rPr lang="en-US" altLang="zh-CN" sz="2800" i="1">
                <a:latin typeface="Times New Roman" panose="02020603050405020304" pitchFamily="18" charset="0"/>
              </a:rPr>
              <a:t>z</a:t>
            </a:r>
            <a:r>
              <a:rPr lang="en-US" altLang="zh-CN" sz="2800">
                <a:latin typeface="Times New Roman" panose="02020603050405020304" pitchFamily="18" charset="0"/>
              </a:rPr>
              <a:t>)</a:t>
            </a:r>
            <a:r>
              <a:rPr lang="zh-CN" altLang="en-US" sz="2800">
                <a:latin typeface="Times New Roman" panose="02020603050405020304" pitchFamily="18" charset="0"/>
              </a:rPr>
              <a:t>。若是则</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是</a:t>
            </a:r>
            <a:r>
              <a:rPr lang="en-US" altLang="zh-CN" sz="2800">
                <a:latin typeface="Times New Roman" panose="02020603050405020304" pitchFamily="18" charset="0"/>
              </a:rPr>
              <a:t>Alice</a:t>
            </a:r>
            <a:r>
              <a:rPr lang="zh-CN" altLang="en-US" sz="2800">
                <a:latin typeface="Times New Roman" panose="02020603050405020304" pitchFamily="18" charset="0"/>
              </a:rPr>
              <a:t>发送的签名消息。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964">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0964">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096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灯片编号占位符 4">
            <a:extLst>
              <a:ext uri="{FF2B5EF4-FFF2-40B4-BE49-F238E27FC236}">
                <a16:creationId xmlns:a16="http://schemas.microsoft.com/office/drawing/2014/main" id="{6E19B01B-0BF9-6523-0FC7-9E795A869D4C}"/>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8D56CD00-F602-4370-BC2C-5B1C02EC4D8E}" type="slidenum">
              <a:rPr lang="zh-CN" altLang="en-US" sz="1400" smtClean="0"/>
              <a:pPr eaLnBrk="0" hangingPunct="0">
                <a:spcBef>
                  <a:spcPct val="0"/>
                </a:spcBef>
                <a:buClrTx/>
                <a:buSzTx/>
                <a:buFontTx/>
                <a:buNone/>
              </a:pPr>
              <a:t>16</a:t>
            </a:fld>
            <a:endParaRPr lang="en-US" altLang="zh-CN" sz="1400"/>
          </a:p>
        </p:txBody>
      </p:sp>
      <p:sp>
        <p:nvSpPr>
          <p:cNvPr id="41987" name="Rectangle 2">
            <a:extLst>
              <a:ext uri="{FF2B5EF4-FFF2-40B4-BE49-F238E27FC236}">
                <a16:creationId xmlns:a16="http://schemas.microsoft.com/office/drawing/2014/main" id="{8525CECC-C21D-24E5-B523-1390F152AB45}"/>
              </a:ext>
            </a:extLst>
          </p:cNvPr>
          <p:cNvSpPr>
            <a:spLocks noGrp="1" noChangeArrowheads="1"/>
          </p:cNvSpPr>
          <p:nvPr>
            <p:ph type="title"/>
          </p:nvPr>
        </p:nvSpPr>
        <p:spPr/>
        <p:txBody>
          <a:bodyPr/>
          <a:lstStyle/>
          <a:p>
            <a:r>
              <a:rPr lang="zh-CN" altLang="en-US" b="1"/>
              <a:t>二、数字签名的基本概念</a:t>
            </a:r>
          </a:p>
        </p:txBody>
      </p:sp>
      <p:sp>
        <p:nvSpPr>
          <p:cNvPr id="41988" name="Rectangle 3">
            <a:extLst>
              <a:ext uri="{FF2B5EF4-FFF2-40B4-BE49-F238E27FC236}">
                <a16:creationId xmlns:a16="http://schemas.microsoft.com/office/drawing/2014/main" id="{9DE12CC2-FF68-F437-C178-CF5C8988F4FB}"/>
              </a:ext>
            </a:extLst>
          </p:cNvPr>
          <p:cNvSpPr>
            <a:spLocks noGrp="1" noChangeArrowheads="1"/>
          </p:cNvSpPr>
          <p:nvPr>
            <p:ph type="body" idx="1"/>
          </p:nvPr>
        </p:nvSpPr>
        <p:spPr>
          <a:xfrm>
            <a:off x="900113" y="1989138"/>
            <a:ext cx="7559675" cy="4114800"/>
          </a:xfrm>
        </p:spPr>
        <p:txBody>
          <a:bodyPr/>
          <a:lstStyle/>
          <a:p>
            <a:pPr>
              <a:lnSpc>
                <a:spcPct val="90000"/>
              </a:lnSpc>
              <a:buFont typeface="Wingdings" panose="05000000000000000000" pitchFamily="2" charset="2"/>
              <a:buNone/>
            </a:pPr>
            <a:r>
              <a:rPr lang="zh-CN" altLang="en-US" sz="2800"/>
              <a:t>在上述方案中，</a:t>
            </a:r>
          </a:p>
          <a:p>
            <a:pPr>
              <a:lnSpc>
                <a:spcPct val="90000"/>
              </a:lnSpc>
            </a:pPr>
            <a:r>
              <a:rPr lang="zh-CN" altLang="en-US" sz="2800">
                <a:latin typeface="Arial" panose="020B0604020202020204" pitchFamily="34" charset="0"/>
              </a:rPr>
              <a:t>“</a:t>
            </a:r>
            <a:r>
              <a:rPr lang="zh-CN" altLang="en-US" sz="2800"/>
              <a:t>密文</a:t>
            </a:r>
            <a:r>
              <a:rPr lang="zh-CN" altLang="en-US" sz="2800">
                <a:latin typeface="Arial" panose="020B0604020202020204" pitchFamily="34" charset="0"/>
              </a:rPr>
              <a:t>”</a:t>
            </a:r>
            <a:r>
              <a:rPr lang="zh-CN" altLang="en-US" sz="2800"/>
              <a:t>变成了消息</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zh-CN" altLang="en-US" sz="2800"/>
              <a:t>解密方程</a:t>
            </a:r>
            <a:r>
              <a:rPr lang="zh-CN" altLang="en-US" sz="2800">
                <a:latin typeface="Arial" panose="020B0604020202020204" pitchFamily="34" charset="0"/>
              </a:rPr>
              <a:t>”</a:t>
            </a:r>
            <a:r>
              <a:rPr lang="zh-CN" altLang="en-US" sz="2800"/>
              <a:t>变成了签名方程</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en-US" altLang="zh-CN" sz="2800" i="1">
                <a:latin typeface="Times New Roman" panose="02020603050405020304" pitchFamily="18" charset="0"/>
              </a:rPr>
              <a:t>D</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en-US" altLang="zh-CN" sz="2800">
                <a:latin typeface="Times New Roman" panose="02020603050405020304" pitchFamily="18" charset="0"/>
              </a:rPr>
              <a:t>, </a:t>
            </a:r>
            <a:r>
              <a:rPr lang="en-US" altLang="zh-CN" sz="2800" i="1">
                <a:latin typeface="Times New Roman" panose="02020603050405020304" pitchFamily="18" charset="0"/>
              </a:rPr>
              <a:t>k</a:t>
            </a:r>
            <a:r>
              <a:rPr lang="en-US" altLang="zh-CN" sz="2800">
                <a:latin typeface="Times New Roman" panose="02020603050405020304" pitchFamily="18" charset="0"/>
              </a:rPr>
              <a:t>)</a:t>
            </a:r>
            <a:r>
              <a:rPr lang="zh-CN" altLang="en-US" sz="2800">
                <a:latin typeface="Times New Roman" panose="02020603050405020304" pitchFamily="18" charset="0"/>
              </a:rPr>
              <a:t>。</a:t>
            </a:r>
          </a:p>
          <a:p>
            <a:pPr>
              <a:lnSpc>
                <a:spcPct val="90000"/>
              </a:lnSpc>
            </a:pPr>
            <a:r>
              <a:rPr lang="zh-CN" altLang="en-US" sz="2800">
                <a:latin typeface="Arial" panose="020B0604020202020204" pitchFamily="34" charset="0"/>
              </a:rPr>
              <a:t>“</a:t>
            </a:r>
            <a:r>
              <a:rPr lang="zh-CN" altLang="en-US" sz="2800"/>
              <a:t>明文</a:t>
            </a:r>
            <a:r>
              <a:rPr lang="zh-CN" altLang="en-US" sz="2800">
                <a:latin typeface="Arial" panose="020B0604020202020204" pitchFamily="34" charset="0"/>
              </a:rPr>
              <a:t>”</a:t>
            </a:r>
            <a:r>
              <a:rPr lang="zh-CN" altLang="en-US" sz="2800"/>
              <a:t>变成了签名值</a:t>
            </a:r>
            <a:r>
              <a:rPr lang="en-US" altLang="zh-CN" sz="2800" i="1">
                <a:latin typeface="Times New Roman" panose="02020603050405020304" pitchFamily="18" charset="0"/>
              </a:rPr>
              <a:t>s</a:t>
            </a:r>
            <a:r>
              <a:rPr lang="zh-CN" altLang="en-US" sz="2800">
                <a:latin typeface="Times New Roman" panose="02020603050405020304" pitchFamily="18" charset="0"/>
              </a:rPr>
              <a:t>，“加密方程”变成了验证方程</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en-US" altLang="zh-CN" sz="2800" i="1">
                <a:latin typeface="Times New Roman" panose="02020603050405020304" pitchFamily="18" charset="0"/>
              </a:rPr>
              <a:t>E</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 </a:t>
            </a:r>
            <a:r>
              <a:rPr lang="en-US" altLang="zh-CN" sz="2800" i="1">
                <a:latin typeface="Times New Roman" panose="02020603050405020304" pitchFamily="18" charset="0"/>
              </a:rPr>
              <a:t>z</a:t>
            </a:r>
            <a:r>
              <a:rPr lang="en-US" altLang="zh-CN" sz="2800">
                <a:latin typeface="Times New Roman" panose="02020603050405020304" pitchFamily="18" charset="0"/>
              </a:rPr>
              <a:t>)</a:t>
            </a:r>
            <a:r>
              <a:rPr lang="zh-CN" altLang="en-US" sz="2800">
                <a:latin typeface="Times New Roman" panose="02020603050405020304" pitchFamily="18" charset="0"/>
              </a:rPr>
              <a:t>。</a:t>
            </a:r>
          </a:p>
          <a:p>
            <a:pPr>
              <a:lnSpc>
                <a:spcPct val="90000"/>
              </a:lnSpc>
            </a:pPr>
            <a:r>
              <a:rPr lang="zh-CN" altLang="en-US" sz="2800">
                <a:latin typeface="Times New Roman" panose="02020603050405020304" pitchFamily="18" charset="0"/>
              </a:rPr>
              <a:t>任何人只要拥有</a:t>
            </a:r>
            <a:r>
              <a:rPr lang="en-US" altLang="zh-CN" sz="2800">
                <a:latin typeface="Times New Roman" panose="02020603050405020304" pitchFamily="18" charset="0"/>
              </a:rPr>
              <a:t>Alice</a:t>
            </a:r>
            <a:r>
              <a:rPr lang="zh-CN" altLang="en-US" sz="2800">
                <a:latin typeface="Times New Roman" panose="02020603050405020304" pitchFamily="18" charset="0"/>
              </a:rPr>
              <a:t>的公钥</a:t>
            </a:r>
            <a:r>
              <a:rPr lang="en-US" altLang="zh-CN" sz="2800" i="1">
                <a:latin typeface="Times New Roman" panose="02020603050405020304" pitchFamily="18" charset="0"/>
              </a:rPr>
              <a:t>z</a:t>
            </a:r>
            <a:r>
              <a:rPr lang="zh-CN" altLang="en-US" sz="2800">
                <a:latin typeface="Times New Roman" panose="02020603050405020304" pitchFamily="18" charset="0"/>
              </a:rPr>
              <a:t>，都可以对签名消息</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进行验证。</a:t>
            </a:r>
          </a:p>
          <a:p>
            <a:pPr>
              <a:lnSpc>
                <a:spcPct val="90000"/>
              </a:lnSpc>
            </a:pPr>
            <a:r>
              <a:rPr lang="zh-CN" altLang="en-US" sz="2800">
                <a:latin typeface="Times New Roman" panose="02020603050405020304" pitchFamily="18" charset="0"/>
              </a:rPr>
              <a:t>是否只有</a:t>
            </a:r>
            <a:r>
              <a:rPr lang="en-US" altLang="zh-CN" sz="2800">
                <a:latin typeface="Times New Roman" panose="02020603050405020304" pitchFamily="18" charset="0"/>
              </a:rPr>
              <a:t>Alice</a:t>
            </a:r>
            <a:r>
              <a:rPr lang="zh-CN" altLang="en-US" sz="2800">
                <a:latin typeface="Times New Roman" panose="02020603050405020304" pitchFamily="18" charset="0"/>
              </a:rPr>
              <a:t>自己才能生成自己的签名消息呢？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98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灯片编号占位符 4">
            <a:extLst>
              <a:ext uri="{FF2B5EF4-FFF2-40B4-BE49-F238E27FC236}">
                <a16:creationId xmlns:a16="http://schemas.microsoft.com/office/drawing/2014/main" id="{A73DFE8E-C6EC-B953-F943-22966DBB26DB}"/>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5DA046C7-7D33-47BA-978C-55787ABD6B8C}" type="slidenum">
              <a:rPr lang="zh-CN" altLang="en-US" sz="1400" smtClean="0"/>
              <a:pPr eaLnBrk="0" hangingPunct="0">
                <a:spcBef>
                  <a:spcPct val="0"/>
                </a:spcBef>
                <a:buClrTx/>
                <a:buSzTx/>
                <a:buFontTx/>
                <a:buNone/>
              </a:pPr>
              <a:t>17</a:t>
            </a:fld>
            <a:endParaRPr lang="en-US" altLang="zh-CN" sz="1400"/>
          </a:p>
        </p:txBody>
      </p:sp>
      <p:sp>
        <p:nvSpPr>
          <p:cNvPr id="43011" name="Rectangle 2">
            <a:extLst>
              <a:ext uri="{FF2B5EF4-FFF2-40B4-BE49-F238E27FC236}">
                <a16:creationId xmlns:a16="http://schemas.microsoft.com/office/drawing/2014/main" id="{94BFBD42-17D1-178F-6887-59B93965AFF4}"/>
              </a:ext>
            </a:extLst>
          </p:cNvPr>
          <p:cNvSpPr>
            <a:spLocks noGrp="1" noChangeArrowheads="1"/>
          </p:cNvSpPr>
          <p:nvPr>
            <p:ph type="title"/>
          </p:nvPr>
        </p:nvSpPr>
        <p:spPr/>
        <p:txBody>
          <a:bodyPr/>
          <a:lstStyle/>
          <a:p>
            <a:r>
              <a:rPr lang="zh-CN" altLang="en-US" b="1"/>
              <a:t>二、数字签名的基本概念</a:t>
            </a:r>
          </a:p>
        </p:txBody>
      </p:sp>
      <p:sp>
        <p:nvSpPr>
          <p:cNvPr id="43012" name="Rectangle 3">
            <a:extLst>
              <a:ext uri="{FF2B5EF4-FFF2-40B4-BE49-F238E27FC236}">
                <a16:creationId xmlns:a16="http://schemas.microsoft.com/office/drawing/2014/main" id="{E0BA5C22-D0C3-2789-3B38-81EFCAB17D3B}"/>
              </a:ext>
            </a:extLst>
          </p:cNvPr>
          <p:cNvSpPr>
            <a:spLocks noGrp="1" noChangeArrowheads="1"/>
          </p:cNvSpPr>
          <p:nvPr>
            <p:ph type="body" idx="1"/>
          </p:nvPr>
        </p:nvSpPr>
        <p:spPr>
          <a:xfrm>
            <a:off x="323850" y="2017713"/>
            <a:ext cx="8631238" cy="4114800"/>
          </a:xfrm>
        </p:spPr>
        <p:txBody>
          <a:bodyPr/>
          <a:lstStyle/>
          <a:p>
            <a:pPr>
              <a:lnSpc>
                <a:spcPct val="90000"/>
              </a:lnSpc>
              <a:buFont typeface="Wingdings" panose="05000000000000000000" pitchFamily="2" charset="2"/>
              <a:buNone/>
            </a:pPr>
            <a:r>
              <a:rPr lang="zh-CN" altLang="en-US" sz="2800" b="1">
                <a:latin typeface="Times New Roman" panose="02020603050405020304" pitchFamily="18" charset="0"/>
                <a:ea typeface="黑体" panose="02010609060101010101" pitchFamily="49" charset="-122"/>
              </a:rPr>
              <a:t>签名方案（一）的安全性分析：</a:t>
            </a:r>
          </a:p>
          <a:p>
            <a:pPr>
              <a:lnSpc>
                <a:spcPct val="90000"/>
              </a:lnSpc>
              <a:buClr>
                <a:schemeClr val="tx1"/>
              </a:buClr>
              <a:buFont typeface="Wingdings" panose="05000000000000000000" pitchFamily="2" charset="2"/>
              <a:buNone/>
            </a:pPr>
            <a:r>
              <a:rPr lang="zh-CN" altLang="en-US" sz="2800">
                <a:latin typeface="Times New Roman" panose="02020603050405020304" pitchFamily="18" charset="0"/>
              </a:rPr>
              <a:t>（</a:t>
            </a:r>
            <a:r>
              <a:rPr lang="en-US" altLang="zh-CN" sz="2800">
                <a:latin typeface="Times New Roman" panose="02020603050405020304" pitchFamily="18" charset="0"/>
              </a:rPr>
              <a:t>1</a:t>
            </a:r>
            <a:r>
              <a:rPr lang="zh-CN" altLang="en-US" sz="2800">
                <a:latin typeface="Times New Roman" panose="02020603050405020304" pitchFamily="18" charset="0"/>
              </a:rPr>
              <a:t>）</a:t>
            </a:r>
            <a:r>
              <a:rPr lang="zh-CN" altLang="en-US" sz="2800" u="sng">
                <a:latin typeface="Times New Roman" panose="02020603050405020304" pitchFamily="18" charset="0"/>
              </a:rPr>
              <a:t>设</a:t>
            </a:r>
            <a:r>
              <a:rPr lang="en-US" altLang="zh-CN" sz="2800" u="sng">
                <a:latin typeface="Times New Roman" panose="02020603050405020304" pitchFamily="18" charset="0"/>
              </a:rPr>
              <a:t>Eve</a:t>
            </a:r>
            <a:r>
              <a:rPr lang="zh-CN" altLang="en-US" sz="2800" u="sng">
                <a:latin typeface="Times New Roman" panose="02020603050405020304" pitchFamily="18" charset="0"/>
              </a:rPr>
              <a:t>知道</a:t>
            </a:r>
            <a:r>
              <a:rPr lang="en-US" altLang="zh-CN" sz="2800" u="sng">
                <a:latin typeface="Times New Roman" panose="02020603050405020304" pitchFamily="18" charset="0"/>
              </a:rPr>
              <a:t>Alice</a:t>
            </a:r>
            <a:r>
              <a:rPr lang="zh-CN" altLang="en-US" sz="2800" u="sng">
                <a:latin typeface="Times New Roman" panose="02020603050405020304" pitchFamily="18" charset="0"/>
              </a:rPr>
              <a:t>的公钥</a:t>
            </a:r>
            <a:r>
              <a:rPr lang="en-US" altLang="zh-CN" sz="2800" i="1" u="sng">
                <a:latin typeface="Times New Roman" panose="02020603050405020304" pitchFamily="18" charset="0"/>
              </a:rPr>
              <a:t>z</a:t>
            </a:r>
            <a:r>
              <a:rPr lang="zh-CN" altLang="en-US" sz="2800" u="sng">
                <a:latin typeface="Times New Roman" panose="02020603050405020304" pitchFamily="18" charset="0"/>
              </a:rPr>
              <a:t>，选定消息</a:t>
            </a:r>
            <a:r>
              <a:rPr lang="en-US" altLang="zh-CN" sz="2800" i="1" u="sng">
                <a:latin typeface="Times New Roman" panose="02020603050405020304" pitchFamily="18" charset="0"/>
              </a:rPr>
              <a:t>m</a:t>
            </a:r>
            <a:r>
              <a:rPr lang="zh-CN" altLang="en-US" sz="2800" u="sng">
                <a:latin typeface="Times New Roman" panose="02020603050405020304" pitchFamily="18" charset="0"/>
              </a:rPr>
              <a:t>，对签名</a:t>
            </a:r>
            <a:r>
              <a:rPr lang="zh-CN" altLang="en-US" sz="2800">
                <a:latin typeface="Times New Roman" panose="02020603050405020304" pitchFamily="18" charset="0"/>
              </a:rPr>
              <a:t>值</a:t>
            </a:r>
            <a:r>
              <a:rPr lang="en-US" altLang="zh-CN" sz="2800" i="1" u="sng">
                <a:latin typeface="Times New Roman" panose="02020603050405020304" pitchFamily="18" charset="0"/>
              </a:rPr>
              <a:t>s</a:t>
            </a:r>
            <a:r>
              <a:rPr lang="zh-CN" altLang="en-US" sz="2800" u="sng">
                <a:latin typeface="Times New Roman" panose="02020603050405020304" pitchFamily="18" charset="0"/>
              </a:rPr>
              <a:t>进行伪造</a:t>
            </a:r>
            <a:r>
              <a:rPr lang="zh-CN" altLang="en-US" sz="2800">
                <a:latin typeface="Times New Roman" panose="02020603050405020304" pitchFamily="18" charset="0"/>
              </a:rPr>
              <a:t>。</a:t>
            </a:r>
          </a:p>
          <a:p>
            <a:pPr>
              <a:lnSpc>
                <a:spcPct val="90000"/>
              </a:lnSpc>
              <a:buClr>
                <a:schemeClr val="tx1"/>
              </a:buClr>
            </a:pPr>
            <a:r>
              <a:rPr lang="zh-CN" altLang="en-US" sz="2800">
                <a:latin typeface="Times New Roman" panose="02020603050405020304" pitchFamily="18" charset="0"/>
              </a:rPr>
              <a:t>要想让伪造的签名值</a:t>
            </a:r>
            <a:r>
              <a:rPr lang="en-US" altLang="zh-CN" sz="2800" i="1">
                <a:latin typeface="Times New Roman" panose="02020603050405020304" pitchFamily="18" charset="0"/>
              </a:rPr>
              <a:t>s</a:t>
            </a:r>
            <a:r>
              <a:rPr lang="zh-CN" altLang="en-US" sz="2800">
                <a:latin typeface="Times New Roman" panose="02020603050405020304" pitchFamily="18" charset="0"/>
              </a:rPr>
              <a:t>通过检验， </a:t>
            </a:r>
            <a:r>
              <a:rPr lang="en-US" altLang="zh-CN" sz="2800">
                <a:latin typeface="Times New Roman" panose="02020603050405020304" pitchFamily="18" charset="0"/>
              </a:rPr>
              <a:t>Eve</a:t>
            </a:r>
            <a:r>
              <a:rPr lang="zh-CN" altLang="en-US" sz="2800">
                <a:latin typeface="Times New Roman" panose="02020603050405020304" pitchFamily="18" charset="0"/>
              </a:rPr>
              <a:t>必须选择</a:t>
            </a:r>
            <a:r>
              <a:rPr lang="en-US" altLang="zh-CN" sz="2800" i="1">
                <a:latin typeface="Times New Roman" panose="02020603050405020304" pitchFamily="18" charset="0"/>
              </a:rPr>
              <a:t>s</a:t>
            </a:r>
            <a:r>
              <a:rPr lang="zh-CN" altLang="en-US" sz="2800">
                <a:latin typeface="Times New Roman" panose="02020603050405020304" pitchFamily="18" charset="0"/>
              </a:rPr>
              <a:t>满足验证方程</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en-US" altLang="zh-CN" sz="2800" i="1">
                <a:latin typeface="Times New Roman" panose="02020603050405020304" pitchFamily="18" charset="0"/>
              </a:rPr>
              <a:t>E</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 </a:t>
            </a:r>
            <a:r>
              <a:rPr lang="en-US" altLang="zh-CN" sz="2800" i="1">
                <a:latin typeface="Times New Roman" panose="02020603050405020304" pitchFamily="18" charset="0"/>
              </a:rPr>
              <a:t>z</a:t>
            </a:r>
            <a:r>
              <a:rPr lang="en-US" altLang="zh-CN" sz="2800">
                <a:latin typeface="Times New Roman" panose="02020603050405020304" pitchFamily="18" charset="0"/>
              </a:rPr>
              <a:t>)</a:t>
            </a:r>
            <a:r>
              <a:rPr lang="zh-CN" altLang="en-US" sz="2800">
                <a:latin typeface="Times New Roman" panose="02020603050405020304" pitchFamily="18" charset="0"/>
              </a:rPr>
              <a:t>。然而在验证方程中是解不出</a:t>
            </a:r>
            <a:r>
              <a:rPr lang="en-US" altLang="zh-CN" sz="2800" i="1">
                <a:latin typeface="Times New Roman" panose="02020603050405020304" pitchFamily="18" charset="0"/>
              </a:rPr>
              <a:t>s</a:t>
            </a:r>
            <a:r>
              <a:rPr lang="zh-CN" altLang="en-US" sz="2800">
                <a:latin typeface="Times New Roman" panose="02020603050405020304" pitchFamily="18" charset="0"/>
              </a:rPr>
              <a:t>的，必须得到</a:t>
            </a:r>
            <a:r>
              <a:rPr lang="en-US" altLang="zh-CN" sz="2800">
                <a:latin typeface="Times New Roman" panose="02020603050405020304" pitchFamily="18" charset="0"/>
              </a:rPr>
              <a:t>Alice</a:t>
            </a:r>
            <a:r>
              <a:rPr lang="zh-CN" altLang="en-US" sz="2800">
                <a:latin typeface="Times New Roman" panose="02020603050405020304" pitchFamily="18" charset="0"/>
              </a:rPr>
              <a:t>的私钥</a:t>
            </a:r>
            <a:r>
              <a:rPr lang="en-US" altLang="zh-CN" sz="2800" i="1">
                <a:latin typeface="Times New Roman" panose="02020603050405020304" pitchFamily="18" charset="0"/>
              </a:rPr>
              <a:t>k</a:t>
            </a:r>
            <a:r>
              <a:rPr lang="zh-CN" altLang="en-US" sz="2800">
                <a:latin typeface="Times New Roman" panose="02020603050405020304" pitchFamily="18" charset="0"/>
              </a:rPr>
              <a:t>，用签名方程得到</a:t>
            </a:r>
            <a:r>
              <a:rPr lang="en-US" altLang="zh-CN" sz="2800" i="1">
                <a:latin typeface="Times New Roman" panose="02020603050405020304" pitchFamily="18" charset="0"/>
              </a:rPr>
              <a:t>s</a:t>
            </a:r>
            <a:r>
              <a:rPr lang="zh-CN" altLang="en-US" sz="2800">
                <a:latin typeface="Times New Roman" panose="02020603050405020304" pitchFamily="18" charset="0"/>
              </a:rPr>
              <a:t> ：</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en-US" altLang="zh-CN" sz="2800" i="1">
                <a:latin typeface="Times New Roman" panose="02020603050405020304" pitchFamily="18" charset="0"/>
              </a:rPr>
              <a:t>D</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en-US" altLang="zh-CN" sz="2800">
                <a:latin typeface="Times New Roman" panose="02020603050405020304" pitchFamily="18" charset="0"/>
              </a:rPr>
              <a:t>, </a:t>
            </a:r>
            <a:r>
              <a:rPr lang="en-US" altLang="zh-CN" sz="2800" i="1">
                <a:latin typeface="Times New Roman" panose="02020603050405020304" pitchFamily="18" charset="0"/>
              </a:rPr>
              <a:t>k</a:t>
            </a:r>
            <a:r>
              <a:rPr lang="en-US" altLang="zh-CN" sz="2800">
                <a:latin typeface="Times New Roman" panose="02020603050405020304" pitchFamily="18" charset="0"/>
              </a:rPr>
              <a:t>)</a:t>
            </a:r>
            <a:r>
              <a:rPr lang="zh-CN" altLang="en-US" sz="2800">
                <a:latin typeface="Times New Roman" panose="02020603050405020304" pitchFamily="18" charset="0"/>
              </a:rPr>
              <a:t>。</a:t>
            </a:r>
          </a:p>
          <a:p>
            <a:pPr>
              <a:lnSpc>
                <a:spcPct val="90000"/>
              </a:lnSpc>
              <a:buClr>
                <a:schemeClr val="tx1"/>
              </a:buClr>
            </a:pPr>
            <a:r>
              <a:rPr lang="zh-CN" altLang="en-US" sz="2800">
                <a:latin typeface="Times New Roman" panose="02020603050405020304" pitchFamily="18" charset="0"/>
              </a:rPr>
              <a:t>这就是说，对事先设定的消息</a:t>
            </a:r>
            <a:r>
              <a:rPr lang="en-US" altLang="zh-CN" sz="2800" i="1">
                <a:latin typeface="Times New Roman" panose="02020603050405020304" pitchFamily="18" charset="0"/>
              </a:rPr>
              <a:t>m</a:t>
            </a:r>
            <a:r>
              <a:rPr lang="zh-CN" altLang="en-US" sz="2800">
                <a:latin typeface="Times New Roman" panose="02020603050405020304" pitchFamily="18" charset="0"/>
              </a:rPr>
              <a:t>来说，签名消息</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具有</a:t>
            </a:r>
            <a:r>
              <a:rPr lang="zh-CN" altLang="en-US" sz="2800" u="sng">
                <a:latin typeface="Times New Roman" panose="02020603050405020304" pitchFamily="18" charset="0"/>
              </a:rPr>
              <a:t>身份唯一性</a:t>
            </a:r>
            <a:r>
              <a:rPr lang="zh-CN" altLang="en-US" sz="2800">
                <a:latin typeface="Times New Roman" panose="02020603050405020304" pitchFamily="18" charset="0"/>
              </a:rPr>
              <a:t>和</a:t>
            </a:r>
            <a:r>
              <a:rPr lang="zh-CN" altLang="en-US" sz="2800" u="sng">
                <a:latin typeface="Times New Roman" panose="02020603050405020304" pitchFamily="18" charset="0"/>
              </a:rPr>
              <a:t>不可伪造性</a:t>
            </a:r>
            <a:r>
              <a:rPr lang="zh-CN" altLang="en-US" sz="2800">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3012">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30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灯片编号占位符 4">
            <a:extLst>
              <a:ext uri="{FF2B5EF4-FFF2-40B4-BE49-F238E27FC236}">
                <a16:creationId xmlns:a16="http://schemas.microsoft.com/office/drawing/2014/main" id="{F18B2145-3741-C200-6072-4FBF41D997F2}"/>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62D6DA43-C9A6-40FD-A03D-D6DAB4567F1E}" type="slidenum">
              <a:rPr lang="zh-CN" altLang="en-US" sz="1400" smtClean="0"/>
              <a:pPr eaLnBrk="0" hangingPunct="0">
                <a:spcBef>
                  <a:spcPct val="0"/>
                </a:spcBef>
                <a:buClrTx/>
                <a:buSzTx/>
                <a:buFontTx/>
                <a:buNone/>
              </a:pPr>
              <a:t>18</a:t>
            </a:fld>
            <a:endParaRPr lang="en-US" altLang="zh-CN" sz="1400"/>
          </a:p>
        </p:txBody>
      </p:sp>
      <p:sp>
        <p:nvSpPr>
          <p:cNvPr id="44035" name="Rectangle 2">
            <a:extLst>
              <a:ext uri="{FF2B5EF4-FFF2-40B4-BE49-F238E27FC236}">
                <a16:creationId xmlns:a16="http://schemas.microsoft.com/office/drawing/2014/main" id="{0FA0771B-76DE-6DC8-B955-61DEAFB66323}"/>
              </a:ext>
            </a:extLst>
          </p:cNvPr>
          <p:cNvSpPr>
            <a:spLocks noGrp="1" noChangeArrowheads="1"/>
          </p:cNvSpPr>
          <p:nvPr>
            <p:ph type="title"/>
          </p:nvPr>
        </p:nvSpPr>
        <p:spPr/>
        <p:txBody>
          <a:bodyPr/>
          <a:lstStyle/>
          <a:p>
            <a:r>
              <a:rPr lang="zh-CN" altLang="en-US" b="1"/>
              <a:t>二、数字签名的基本概念</a:t>
            </a:r>
          </a:p>
        </p:txBody>
      </p:sp>
      <p:sp>
        <p:nvSpPr>
          <p:cNvPr id="44036" name="Rectangle 3">
            <a:extLst>
              <a:ext uri="{FF2B5EF4-FFF2-40B4-BE49-F238E27FC236}">
                <a16:creationId xmlns:a16="http://schemas.microsoft.com/office/drawing/2014/main" id="{D21DFAFE-EA24-404A-7BF3-7DD6B207971B}"/>
              </a:ext>
            </a:extLst>
          </p:cNvPr>
          <p:cNvSpPr>
            <a:spLocks noGrp="1" noChangeArrowheads="1"/>
          </p:cNvSpPr>
          <p:nvPr>
            <p:ph type="body" idx="1"/>
          </p:nvPr>
        </p:nvSpPr>
        <p:spPr>
          <a:xfrm>
            <a:off x="179388" y="2017713"/>
            <a:ext cx="8775700" cy="4364037"/>
          </a:xfrm>
        </p:spPr>
        <p:txBody>
          <a:bodyPr/>
          <a:lstStyle/>
          <a:p>
            <a:pPr>
              <a:lnSpc>
                <a:spcPct val="90000"/>
              </a:lnSpc>
              <a:buClr>
                <a:schemeClr val="tx1"/>
              </a:buClr>
              <a:buFont typeface="Wingdings" panose="05000000000000000000" pitchFamily="2" charset="2"/>
              <a:buNone/>
            </a:pPr>
            <a:r>
              <a:rPr lang="zh-CN" altLang="en-US" sz="2800">
                <a:latin typeface="Times New Roman" panose="02020603050405020304" pitchFamily="18" charset="0"/>
              </a:rPr>
              <a:t>（</a:t>
            </a:r>
            <a:r>
              <a:rPr lang="en-US" altLang="zh-CN" sz="2800">
                <a:latin typeface="Times New Roman" panose="02020603050405020304" pitchFamily="18" charset="0"/>
              </a:rPr>
              <a:t>2</a:t>
            </a:r>
            <a:r>
              <a:rPr lang="zh-CN" altLang="en-US" sz="2800">
                <a:latin typeface="Times New Roman" panose="02020603050405020304" pitchFamily="18" charset="0"/>
              </a:rPr>
              <a:t>）</a:t>
            </a:r>
            <a:r>
              <a:rPr lang="zh-CN" altLang="en-US" sz="2800" u="sng">
                <a:latin typeface="Times New Roman" panose="02020603050405020304" pitchFamily="18" charset="0"/>
              </a:rPr>
              <a:t>设</a:t>
            </a:r>
            <a:r>
              <a:rPr lang="en-US" altLang="zh-CN" sz="2800" u="sng">
                <a:latin typeface="Times New Roman" panose="02020603050405020304" pitchFamily="18" charset="0"/>
              </a:rPr>
              <a:t>Eve</a:t>
            </a:r>
            <a:r>
              <a:rPr lang="zh-CN" altLang="en-US" sz="2800" u="sng">
                <a:latin typeface="Times New Roman" panose="02020603050405020304" pitchFamily="18" charset="0"/>
              </a:rPr>
              <a:t>知道</a:t>
            </a:r>
            <a:r>
              <a:rPr lang="en-US" altLang="zh-CN" sz="2800" u="sng">
                <a:latin typeface="Times New Roman" panose="02020603050405020304" pitchFamily="18" charset="0"/>
              </a:rPr>
              <a:t>Alice</a:t>
            </a:r>
            <a:r>
              <a:rPr lang="zh-CN" altLang="en-US" sz="2800" u="sng">
                <a:latin typeface="Times New Roman" panose="02020603050405020304" pitchFamily="18" charset="0"/>
              </a:rPr>
              <a:t>的公钥</a:t>
            </a:r>
            <a:r>
              <a:rPr lang="en-US" altLang="zh-CN" sz="2800" i="1" u="sng">
                <a:latin typeface="Times New Roman" panose="02020603050405020304" pitchFamily="18" charset="0"/>
              </a:rPr>
              <a:t>z</a:t>
            </a:r>
            <a:r>
              <a:rPr lang="zh-CN" altLang="en-US" sz="2800" u="sng">
                <a:latin typeface="Times New Roman" panose="02020603050405020304" pitchFamily="18" charset="0"/>
              </a:rPr>
              <a:t>，设定签名值</a:t>
            </a:r>
            <a:r>
              <a:rPr lang="en-US" altLang="zh-CN" sz="2800" i="1" u="sng">
                <a:latin typeface="Times New Roman" panose="02020603050405020304" pitchFamily="18" charset="0"/>
              </a:rPr>
              <a:t>s</a:t>
            </a:r>
            <a:r>
              <a:rPr lang="zh-CN" altLang="en-US" sz="2800" u="sng">
                <a:latin typeface="Times New Roman" panose="02020603050405020304" pitchFamily="18" charset="0"/>
              </a:rPr>
              <a:t>，反过来对消息</a:t>
            </a:r>
            <a:r>
              <a:rPr lang="en-US" altLang="zh-CN" sz="2800" i="1" u="sng">
                <a:latin typeface="Times New Roman" panose="02020603050405020304" pitchFamily="18" charset="0"/>
              </a:rPr>
              <a:t>m</a:t>
            </a:r>
            <a:r>
              <a:rPr lang="zh-CN" altLang="en-US" sz="2800" u="sng">
                <a:latin typeface="Times New Roman" panose="02020603050405020304" pitchFamily="18" charset="0"/>
              </a:rPr>
              <a:t>进行伪造</a:t>
            </a:r>
            <a:r>
              <a:rPr lang="zh-CN" altLang="en-US" sz="2800">
                <a:latin typeface="Times New Roman" panose="02020603050405020304" pitchFamily="18" charset="0"/>
              </a:rPr>
              <a:t>。此时</a:t>
            </a:r>
            <a:r>
              <a:rPr lang="zh-CN" altLang="en-US" sz="2800" u="sng">
                <a:latin typeface="Times New Roman" panose="02020603050405020304" pitchFamily="18" charset="0"/>
              </a:rPr>
              <a:t>消息</a:t>
            </a:r>
            <a:r>
              <a:rPr lang="en-US" altLang="zh-CN" sz="2800" i="1" u="sng">
                <a:latin typeface="Times New Roman" panose="02020603050405020304" pitchFamily="18" charset="0"/>
              </a:rPr>
              <a:t>m</a:t>
            </a:r>
            <a:r>
              <a:rPr lang="zh-CN" altLang="en-US" sz="2800" u="sng">
                <a:latin typeface="Times New Roman" panose="02020603050405020304" pitchFamily="18" charset="0"/>
              </a:rPr>
              <a:t>的内容就不能是选定的</a:t>
            </a:r>
            <a:r>
              <a:rPr lang="zh-CN" altLang="en-US" sz="2800">
                <a:latin typeface="Times New Roman" panose="02020603050405020304" pitchFamily="18" charset="0"/>
              </a:rPr>
              <a:t>。</a:t>
            </a:r>
          </a:p>
          <a:p>
            <a:pPr>
              <a:lnSpc>
                <a:spcPct val="90000"/>
              </a:lnSpc>
              <a:buClr>
                <a:schemeClr val="tx1"/>
              </a:buClr>
            </a:pPr>
            <a:r>
              <a:rPr lang="en-US" altLang="zh-CN" sz="2800">
                <a:latin typeface="Times New Roman" panose="02020603050405020304" pitchFamily="18" charset="0"/>
              </a:rPr>
              <a:t>Eve</a:t>
            </a:r>
            <a:r>
              <a:rPr lang="zh-CN" altLang="en-US" sz="2800">
                <a:latin typeface="Times New Roman" panose="02020603050405020304" pitchFamily="18" charset="0"/>
              </a:rPr>
              <a:t>选择一个“签名值”</a:t>
            </a:r>
            <a:r>
              <a:rPr lang="en-US" altLang="zh-CN" sz="2800" i="1">
                <a:latin typeface="Times New Roman" panose="02020603050405020304" pitchFamily="18" charset="0"/>
              </a:rPr>
              <a:t>s</a:t>
            </a:r>
            <a:r>
              <a:rPr lang="zh-CN" altLang="en-US" sz="2800">
                <a:latin typeface="Times New Roman" panose="02020603050405020304" pitchFamily="18" charset="0"/>
              </a:rPr>
              <a:t>，用验证方程计算“消息”</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en-US" altLang="zh-CN" sz="2800" i="1">
                <a:latin typeface="Times New Roman" panose="02020603050405020304" pitchFamily="18" charset="0"/>
              </a:rPr>
              <a:t>E</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 </a:t>
            </a:r>
            <a:r>
              <a:rPr lang="en-US" altLang="zh-CN" sz="2800" i="1">
                <a:latin typeface="Times New Roman" panose="02020603050405020304" pitchFamily="18" charset="0"/>
              </a:rPr>
              <a:t>z</a:t>
            </a:r>
            <a:r>
              <a:rPr lang="en-US" altLang="zh-CN" sz="2800">
                <a:latin typeface="Times New Roman" panose="02020603050405020304" pitchFamily="18" charset="0"/>
              </a:rPr>
              <a:t>)</a:t>
            </a:r>
            <a:r>
              <a:rPr lang="zh-CN" altLang="en-US" sz="2800">
                <a:latin typeface="Times New Roman" panose="02020603050405020304" pitchFamily="18" charset="0"/>
              </a:rPr>
              <a:t>。</a:t>
            </a:r>
          </a:p>
          <a:p>
            <a:pPr>
              <a:lnSpc>
                <a:spcPct val="90000"/>
              </a:lnSpc>
              <a:buClr>
                <a:schemeClr val="tx1"/>
              </a:buClr>
            </a:pPr>
            <a:r>
              <a:rPr lang="en-US" altLang="zh-CN" sz="2800">
                <a:latin typeface="Times New Roman" panose="02020603050405020304" pitchFamily="18" charset="0"/>
              </a:rPr>
              <a:t>Eve</a:t>
            </a:r>
            <a:r>
              <a:rPr lang="zh-CN" altLang="en-US" sz="2800">
                <a:latin typeface="Times New Roman" panose="02020603050405020304" pitchFamily="18" charset="0"/>
              </a:rPr>
              <a:t>冒充</a:t>
            </a:r>
            <a:r>
              <a:rPr lang="en-US" altLang="zh-CN" sz="2800">
                <a:latin typeface="Times New Roman" panose="02020603050405020304" pitchFamily="18" charset="0"/>
              </a:rPr>
              <a:t>Alice</a:t>
            </a:r>
            <a:r>
              <a:rPr lang="zh-CN" altLang="en-US" sz="2800">
                <a:latin typeface="Times New Roman" panose="02020603050405020304" pitchFamily="18" charset="0"/>
              </a:rPr>
              <a:t>将</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发送给</a:t>
            </a:r>
            <a:r>
              <a:rPr lang="en-US" altLang="zh-CN" sz="2800">
                <a:latin typeface="Times New Roman" panose="02020603050405020304" pitchFamily="18" charset="0"/>
              </a:rPr>
              <a:t>Bob</a:t>
            </a:r>
            <a:r>
              <a:rPr lang="zh-CN" altLang="en-US" sz="2800">
                <a:latin typeface="Times New Roman" panose="02020603050405020304" pitchFamily="18" charset="0"/>
              </a:rPr>
              <a:t>。</a:t>
            </a:r>
          </a:p>
          <a:p>
            <a:pPr>
              <a:lnSpc>
                <a:spcPct val="90000"/>
              </a:lnSpc>
              <a:buClr>
                <a:schemeClr val="tx1"/>
              </a:buClr>
            </a:pPr>
            <a:r>
              <a:rPr lang="en-US" altLang="zh-CN" sz="2800">
                <a:latin typeface="Times New Roman" panose="02020603050405020304" pitchFamily="18" charset="0"/>
              </a:rPr>
              <a:t>Bob</a:t>
            </a:r>
            <a:r>
              <a:rPr lang="zh-CN" altLang="en-US" sz="2800">
                <a:latin typeface="Times New Roman" panose="02020603050405020304" pitchFamily="18" charset="0"/>
              </a:rPr>
              <a:t>用验证方程检验得</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en-US" altLang="zh-CN" sz="2800" i="1">
                <a:latin typeface="Times New Roman" panose="02020603050405020304" pitchFamily="18" charset="0"/>
              </a:rPr>
              <a:t>E</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 </a:t>
            </a:r>
            <a:r>
              <a:rPr lang="en-US" altLang="zh-CN" sz="2800" i="1">
                <a:latin typeface="Times New Roman" panose="02020603050405020304" pitchFamily="18" charset="0"/>
              </a:rPr>
              <a:t>z</a:t>
            </a:r>
            <a:r>
              <a:rPr lang="en-US" altLang="zh-CN" sz="2800">
                <a:latin typeface="Times New Roman" panose="02020603050405020304" pitchFamily="18" charset="0"/>
              </a:rPr>
              <a:t>)</a:t>
            </a:r>
            <a:r>
              <a:rPr lang="zh-CN" altLang="en-US" sz="2800">
                <a:latin typeface="Times New Roman" panose="02020603050405020304" pitchFamily="18" charset="0"/>
              </a:rPr>
              <a:t>。于是</a:t>
            </a:r>
            <a:r>
              <a:rPr lang="en-US" altLang="zh-CN" sz="2800">
                <a:latin typeface="Times New Roman" panose="02020603050405020304" pitchFamily="18" charset="0"/>
              </a:rPr>
              <a:t>Bob</a:t>
            </a:r>
            <a:r>
              <a:rPr lang="zh-CN" altLang="en-US" sz="2800">
                <a:latin typeface="Times New Roman" panose="02020603050405020304" pitchFamily="18" charset="0"/>
              </a:rPr>
              <a:t>认为</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就是</a:t>
            </a:r>
            <a:r>
              <a:rPr lang="en-US" altLang="zh-CN" sz="2800">
                <a:latin typeface="Times New Roman" panose="02020603050405020304" pitchFamily="18" charset="0"/>
              </a:rPr>
              <a:t>Alice</a:t>
            </a:r>
            <a:r>
              <a:rPr lang="zh-CN" altLang="en-US" sz="2800">
                <a:latin typeface="Times New Roman" panose="02020603050405020304" pitchFamily="18" charset="0"/>
              </a:rPr>
              <a:t>发送的签名消息。攻击成功。</a:t>
            </a:r>
          </a:p>
          <a:p>
            <a:pPr>
              <a:lnSpc>
                <a:spcPct val="90000"/>
              </a:lnSpc>
              <a:buFont typeface="Wingdings" panose="05000000000000000000" pitchFamily="2" charset="2"/>
              <a:buNone/>
            </a:pPr>
            <a:r>
              <a:rPr lang="zh-CN" altLang="en-US" sz="2800">
                <a:latin typeface="Times New Roman" panose="02020603050405020304" pitchFamily="18" charset="0"/>
              </a:rPr>
              <a:t>为了抵抗这种攻击，合法签名消息</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中的消息</a:t>
            </a:r>
            <a:r>
              <a:rPr lang="en-US" altLang="zh-CN" sz="2800" i="1">
                <a:latin typeface="Times New Roman" panose="02020603050405020304" pitchFamily="18" charset="0"/>
              </a:rPr>
              <a:t>m</a:t>
            </a:r>
            <a:r>
              <a:rPr lang="zh-CN" altLang="en-US" sz="2800">
                <a:latin typeface="Times New Roman" panose="02020603050405020304" pitchFamily="18" charset="0"/>
              </a:rPr>
              <a:t>必须是有意义的消息，而不是乱码。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03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403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4036">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403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灯片编号占位符 4">
            <a:extLst>
              <a:ext uri="{FF2B5EF4-FFF2-40B4-BE49-F238E27FC236}">
                <a16:creationId xmlns:a16="http://schemas.microsoft.com/office/drawing/2014/main" id="{C1CB9AEC-EF5F-8B6F-B1F6-C209404CB62A}"/>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2161666B-7E28-4F54-82F8-86DA214EF507}" type="slidenum">
              <a:rPr lang="zh-CN" altLang="en-US" sz="1400" smtClean="0"/>
              <a:pPr eaLnBrk="0" hangingPunct="0">
                <a:spcBef>
                  <a:spcPct val="0"/>
                </a:spcBef>
                <a:buClrTx/>
                <a:buSzTx/>
                <a:buFontTx/>
                <a:buNone/>
              </a:pPr>
              <a:t>19</a:t>
            </a:fld>
            <a:endParaRPr lang="en-US" altLang="zh-CN" sz="1400"/>
          </a:p>
        </p:txBody>
      </p:sp>
      <p:sp>
        <p:nvSpPr>
          <p:cNvPr id="45059" name="Rectangle 2">
            <a:extLst>
              <a:ext uri="{FF2B5EF4-FFF2-40B4-BE49-F238E27FC236}">
                <a16:creationId xmlns:a16="http://schemas.microsoft.com/office/drawing/2014/main" id="{188D8062-56D2-3262-F1E4-33D56AFA1DE6}"/>
              </a:ext>
            </a:extLst>
          </p:cNvPr>
          <p:cNvSpPr>
            <a:spLocks noGrp="1" noChangeArrowheads="1"/>
          </p:cNvSpPr>
          <p:nvPr>
            <p:ph type="title"/>
          </p:nvPr>
        </p:nvSpPr>
        <p:spPr/>
        <p:txBody>
          <a:bodyPr/>
          <a:lstStyle/>
          <a:p>
            <a:r>
              <a:rPr lang="zh-CN" altLang="en-US" b="1"/>
              <a:t>二、数字签名的基本概念</a:t>
            </a:r>
          </a:p>
        </p:txBody>
      </p:sp>
      <p:sp>
        <p:nvSpPr>
          <p:cNvPr id="45060" name="Rectangle 3">
            <a:extLst>
              <a:ext uri="{FF2B5EF4-FFF2-40B4-BE49-F238E27FC236}">
                <a16:creationId xmlns:a16="http://schemas.microsoft.com/office/drawing/2014/main" id="{271E3333-9D90-C9FE-4F2B-FA4B0106644D}"/>
              </a:ext>
            </a:extLst>
          </p:cNvPr>
          <p:cNvSpPr>
            <a:spLocks noGrp="1" noChangeArrowheads="1"/>
          </p:cNvSpPr>
          <p:nvPr>
            <p:ph type="body" idx="1"/>
          </p:nvPr>
        </p:nvSpPr>
        <p:spPr>
          <a:xfrm>
            <a:off x="179388" y="2017713"/>
            <a:ext cx="8775700" cy="4291012"/>
          </a:xfrm>
        </p:spPr>
        <p:txBody>
          <a:bodyPr/>
          <a:lstStyle/>
          <a:p>
            <a:pPr algn="ctr">
              <a:lnSpc>
                <a:spcPct val="85000"/>
              </a:lnSpc>
              <a:buFont typeface="Wingdings" panose="05000000000000000000" pitchFamily="2" charset="2"/>
              <a:buNone/>
            </a:pPr>
            <a:r>
              <a:rPr lang="zh-CN" altLang="en-US" b="1">
                <a:latin typeface="Times New Roman" panose="02020603050405020304" pitchFamily="18" charset="0"/>
                <a:ea typeface="黑体" panose="02010609060101010101" pitchFamily="49" charset="-122"/>
              </a:rPr>
              <a:t>公钥密码的签名方案（二）</a:t>
            </a:r>
          </a:p>
          <a:p>
            <a:pPr>
              <a:lnSpc>
                <a:spcPct val="85000"/>
              </a:lnSpc>
              <a:buFont typeface="Wingdings" panose="05000000000000000000" pitchFamily="2" charset="2"/>
              <a:buNone/>
            </a:pPr>
            <a:r>
              <a:rPr lang="zh-CN" altLang="en-US" sz="2800">
                <a:latin typeface="Times New Roman" panose="02020603050405020304" pitchFamily="18" charset="0"/>
              </a:rPr>
              <a:t>额外使用一个公开的杂凑函数</a:t>
            </a:r>
            <a:r>
              <a:rPr lang="en-US" altLang="zh-CN" sz="2800" i="1">
                <a:latin typeface="Times New Roman" panose="02020603050405020304" pitchFamily="18" charset="0"/>
              </a:rPr>
              <a:t>H</a:t>
            </a:r>
            <a:r>
              <a:rPr lang="zh-CN" altLang="en-US" sz="2800">
                <a:latin typeface="Times New Roman" panose="02020603050405020304" pitchFamily="18" charset="0"/>
              </a:rPr>
              <a:t>。</a:t>
            </a:r>
            <a:r>
              <a:rPr lang="en-US" altLang="zh-CN" sz="2800">
                <a:latin typeface="Times New Roman" panose="02020603050405020304" pitchFamily="18" charset="0"/>
              </a:rPr>
              <a:t> </a:t>
            </a:r>
            <a:r>
              <a:rPr lang="zh-CN" altLang="en-US" sz="2800">
                <a:latin typeface="Times New Roman" panose="02020603050405020304" pitchFamily="18" charset="0"/>
              </a:rPr>
              <a:t>设</a:t>
            </a:r>
            <a:r>
              <a:rPr lang="en-US" altLang="zh-CN" sz="2800">
                <a:latin typeface="Times New Roman" panose="02020603050405020304" pitchFamily="18" charset="0"/>
              </a:rPr>
              <a:t>Alice</a:t>
            </a:r>
            <a:r>
              <a:rPr lang="zh-CN" altLang="en-US" sz="2800">
                <a:latin typeface="Times New Roman" panose="02020603050405020304" pitchFamily="18" charset="0"/>
              </a:rPr>
              <a:t>欲发消息</a:t>
            </a:r>
            <a:r>
              <a:rPr lang="en-US" altLang="zh-CN" sz="2800" i="1">
                <a:latin typeface="Times New Roman" panose="02020603050405020304" pitchFamily="18" charset="0"/>
              </a:rPr>
              <a:t>m</a:t>
            </a:r>
            <a:r>
              <a:rPr lang="zh-CN" altLang="en-US" sz="2800">
                <a:latin typeface="Times New Roman" panose="02020603050405020304" pitchFamily="18" charset="0"/>
              </a:rPr>
              <a:t>给</a:t>
            </a:r>
            <a:r>
              <a:rPr lang="en-US" altLang="zh-CN" sz="2800">
                <a:latin typeface="Times New Roman" panose="02020603050405020304" pitchFamily="18" charset="0"/>
              </a:rPr>
              <a:t>Bob</a:t>
            </a:r>
            <a:r>
              <a:rPr lang="zh-CN" altLang="en-US" sz="2800">
                <a:latin typeface="Times New Roman" panose="02020603050405020304" pitchFamily="18" charset="0"/>
              </a:rPr>
              <a:t>。</a:t>
            </a:r>
          </a:p>
          <a:p>
            <a:pPr>
              <a:lnSpc>
                <a:spcPct val="85000"/>
              </a:lnSpc>
              <a:buFont typeface="Wingdings" panose="05000000000000000000" pitchFamily="2" charset="2"/>
              <a:buNone/>
            </a:pPr>
            <a:r>
              <a:rPr lang="zh-CN" altLang="en-US" sz="2800">
                <a:latin typeface="Times New Roman" panose="02020603050405020304" pitchFamily="18" charset="0"/>
              </a:rPr>
              <a:t>（</a:t>
            </a:r>
            <a:r>
              <a:rPr lang="en-US" altLang="zh-CN" sz="2800">
                <a:latin typeface="Times New Roman" panose="02020603050405020304" pitchFamily="18" charset="0"/>
              </a:rPr>
              <a:t>1</a:t>
            </a:r>
            <a:r>
              <a:rPr lang="zh-CN" altLang="en-US" sz="2800">
                <a:latin typeface="Times New Roman" panose="02020603050405020304" pitchFamily="18" charset="0"/>
              </a:rPr>
              <a:t>）</a:t>
            </a:r>
            <a:r>
              <a:rPr lang="en-US" altLang="zh-CN" sz="2800">
                <a:latin typeface="Times New Roman" panose="02020603050405020304" pitchFamily="18" charset="0"/>
              </a:rPr>
              <a:t>Alice</a:t>
            </a:r>
            <a:r>
              <a:rPr lang="zh-CN" altLang="en-US" sz="2800">
                <a:latin typeface="Times New Roman" panose="02020603050405020304" pitchFamily="18" charset="0"/>
              </a:rPr>
              <a:t>用</a:t>
            </a:r>
            <a:r>
              <a:rPr lang="en-US" altLang="zh-CN" sz="2800" i="1">
                <a:latin typeface="Times New Roman" panose="02020603050405020304" pitchFamily="18" charset="0"/>
              </a:rPr>
              <a:t>H</a:t>
            </a:r>
            <a:r>
              <a:rPr lang="zh-CN" altLang="en-US" sz="2800">
                <a:latin typeface="Times New Roman" panose="02020603050405020304" pitchFamily="18" charset="0"/>
              </a:rPr>
              <a:t>将消息</a:t>
            </a:r>
            <a:r>
              <a:rPr lang="en-US" altLang="zh-CN" sz="2800" i="1">
                <a:latin typeface="Times New Roman" panose="02020603050405020304" pitchFamily="18" charset="0"/>
              </a:rPr>
              <a:t>m</a:t>
            </a:r>
            <a:r>
              <a:rPr lang="zh-CN" altLang="en-US" sz="2800">
                <a:latin typeface="Times New Roman" panose="02020603050405020304" pitchFamily="18" charset="0"/>
              </a:rPr>
              <a:t>进行处理，得</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zh-CN" altLang="en-US" sz="2800">
                <a:latin typeface="Times New Roman" panose="02020603050405020304" pitchFamily="18" charset="0"/>
              </a:rPr>
              <a:t>。</a:t>
            </a:r>
          </a:p>
          <a:p>
            <a:pPr>
              <a:lnSpc>
                <a:spcPct val="85000"/>
              </a:lnSpc>
              <a:buFont typeface="Wingdings" panose="05000000000000000000" pitchFamily="2" charset="2"/>
              <a:buNone/>
            </a:pPr>
            <a:r>
              <a:rPr lang="zh-CN" altLang="en-US" sz="2800">
                <a:latin typeface="Times New Roman" panose="02020603050405020304" pitchFamily="18" charset="0"/>
              </a:rPr>
              <a:t>（</a:t>
            </a:r>
            <a:r>
              <a:rPr lang="en-US" altLang="zh-CN" sz="2800">
                <a:latin typeface="Times New Roman" panose="02020603050405020304" pitchFamily="18" charset="0"/>
              </a:rPr>
              <a:t>2</a:t>
            </a:r>
            <a:r>
              <a:rPr lang="zh-CN" altLang="en-US" sz="2800">
                <a:latin typeface="Times New Roman" panose="02020603050405020304" pitchFamily="18" charset="0"/>
              </a:rPr>
              <a:t>）</a:t>
            </a:r>
            <a:r>
              <a:rPr lang="en-US" altLang="zh-CN" sz="2800">
                <a:latin typeface="Times New Roman" panose="02020603050405020304" pitchFamily="18" charset="0"/>
              </a:rPr>
              <a:t>Alice</a:t>
            </a:r>
            <a:r>
              <a:rPr lang="zh-CN" altLang="en-US" sz="2800">
                <a:latin typeface="Times New Roman" panose="02020603050405020304" pitchFamily="18" charset="0"/>
              </a:rPr>
              <a:t>用自己的私钥</a:t>
            </a:r>
            <a:r>
              <a:rPr lang="en-US" altLang="zh-CN" sz="2800" i="1">
                <a:latin typeface="Times New Roman" panose="02020603050405020304" pitchFamily="18" charset="0"/>
              </a:rPr>
              <a:t>k</a:t>
            </a:r>
            <a:r>
              <a:rPr lang="zh-CN" altLang="en-US" sz="2800">
                <a:latin typeface="Times New Roman" panose="02020603050405020304" pitchFamily="18" charset="0"/>
              </a:rPr>
              <a:t>对</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zh-CN" altLang="en-US" sz="2800">
                <a:latin typeface="Times New Roman" panose="02020603050405020304" pitchFamily="18" charset="0"/>
              </a:rPr>
              <a:t>解密”</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en-US" altLang="zh-CN" sz="2800" i="1">
                <a:latin typeface="Times New Roman" panose="02020603050405020304" pitchFamily="18" charset="0"/>
              </a:rPr>
              <a:t>D</a:t>
            </a:r>
            <a:r>
              <a:rPr lang="en-US" altLang="zh-CN" sz="2800">
                <a:latin typeface="Times New Roman" panose="02020603050405020304" pitchFamily="18" charset="0"/>
              </a:rPr>
              <a:t>(</a:t>
            </a:r>
            <a:r>
              <a:rPr lang="en-US" altLang="zh-CN" sz="2800" i="1">
                <a:latin typeface="Times New Roman" panose="02020603050405020304" pitchFamily="18" charset="0"/>
              </a:rPr>
              <a:t>h</a:t>
            </a:r>
            <a:r>
              <a:rPr lang="en-US" altLang="zh-CN" sz="2800">
                <a:latin typeface="Times New Roman" panose="02020603050405020304" pitchFamily="18" charset="0"/>
              </a:rPr>
              <a:t>, </a:t>
            </a:r>
            <a:r>
              <a:rPr lang="en-US" altLang="zh-CN" sz="2800" i="1">
                <a:latin typeface="Times New Roman" panose="02020603050405020304" pitchFamily="18" charset="0"/>
              </a:rPr>
              <a:t>k</a:t>
            </a:r>
            <a:r>
              <a:rPr lang="en-US" altLang="zh-CN" sz="2800">
                <a:latin typeface="Times New Roman" panose="02020603050405020304" pitchFamily="18" charset="0"/>
              </a:rPr>
              <a:t>)</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zh-CN" altLang="en-US" sz="2800">
                <a:latin typeface="Times New Roman" panose="02020603050405020304" pitchFamily="18" charset="0"/>
              </a:rPr>
              <a:t>就是对消息</a:t>
            </a:r>
            <a:r>
              <a:rPr lang="en-US" altLang="zh-CN" sz="2800" i="1">
                <a:latin typeface="Times New Roman" panose="02020603050405020304" pitchFamily="18" charset="0"/>
              </a:rPr>
              <a:t>m</a:t>
            </a:r>
            <a:r>
              <a:rPr lang="zh-CN" altLang="en-US" sz="2800">
                <a:latin typeface="Times New Roman" panose="02020603050405020304" pitchFamily="18" charset="0"/>
              </a:rPr>
              <a:t>的签名值，</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就是一个签名消息。</a:t>
            </a:r>
          </a:p>
          <a:p>
            <a:pPr>
              <a:lnSpc>
                <a:spcPct val="85000"/>
              </a:lnSpc>
              <a:buFont typeface="Wingdings" panose="05000000000000000000" pitchFamily="2" charset="2"/>
              <a:buNone/>
            </a:pPr>
            <a:r>
              <a:rPr lang="zh-CN" altLang="en-US" sz="2800">
                <a:latin typeface="Times New Roman" panose="02020603050405020304" pitchFamily="18" charset="0"/>
              </a:rPr>
              <a:t>（</a:t>
            </a:r>
            <a:r>
              <a:rPr lang="en-US" altLang="zh-CN" sz="2800">
                <a:latin typeface="Times New Roman" panose="02020603050405020304" pitchFamily="18" charset="0"/>
              </a:rPr>
              <a:t>3</a:t>
            </a:r>
            <a:r>
              <a:rPr lang="zh-CN" altLang="en-US" sz="2800">
                <a:latin typeface="Times New Roman" panose="02020603050405020304" pitchFamily="18" charset="0"/>
              </a:rPr>
              <a:t>） </a:t>
            </a:r>
            <a:r>
              <a:rPr lang="en-US" altLang="zh-CN" sz="2800">
                <a:latin typeface="Times New Roman" panose="02020603050405020304" pitchFamily="18" charset="0"/>
              </a:rPr>
              <a:t>Alice</a:t>
            </a:r>
            <a:r>
              <a:rPr lang="zh-CN" altLang="en-US" sz="2800">
                <a:latin typeface="Times New Roman" panose="02020603050405020304" pitchFamily="18" charset="0"/>
              </a:rPr>
              <a:t>将</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发送给</a:t>
            </a:r>
            <a:r>
              <a:rPr lang="en-US" altLang="zh-CN" sz="2800">
                <a:latin typeface="Times New Roman" panose="02020603050405020304" pitchFamily="18" charset="0"/>
              </a:rPr>
              <a:t>Bob</a:t>
            </a:r>
            <a:r>
              <a:rPr lang="zh-CN" altLang="en-US" sz="2800">
                <a:latin typeface="Times New Roman" panose="02020603050405020304" pitchFamily="18" charset="0"/>
              </a:rPr>
              <a:t>。</a:t>
            </a:r>
          </a:p>
          <a:p>
            <a:pPr>
              <a:lnSpc>
                <a:spcPct val="85000"/>
              </a:lnSpc>
              <a:buFont typeface="Wingdings" panose="05000000000000000000" pitchFamily="2" charset="2"/>
              <a:buNone/>
            </a:pPr>
            <a:r>
              <a:rPr lang="zh-CN" altLang="en-US" sz="2800">
                <a:latin typeface="Times New Roman" panose="02020603050405020304" pitchFamily="18" charset="0"/>
              </a:rPr>
              <a:t>（</a:t>
            </a:r>
            <a:r>
              <a:rPr lang="en-US" altLang="zh-CN" sz="2800">
                <a:latin typeface="Times New Roman" panose="02020603050405020304" pitchFamily="18" charset="0"/>
              </a:rPr>
              <a:t>4</a:t>
            </a:r>
            <a:r>
              <a:rPr lang="zh-CN" altLang="en-US" sz="2800">
                <a:latin typeface="Times New Roman" panose="02020603050405020304" pitchFamily="18" charset="0"/>
              </a:rPr>
              <a:t>） </a:t>
            </a:r>
            <a:r>
              <a:rPr lang="en-US" altLang="zh-CN" sz="2800">
                <a:latin typeface="Times New Roman" panose="02020603050405020304" pitchFamily="18" charset="0"/>
              </a:rPr>
              <a:t>Bob</a:t>
            </a:r>
            <a:r>
              <a:rPr lang="zh-CN" altLang="en-US" sz="2800">
                <a:latin typeface="Times New Roman" panose="02020603050405020304" pitchFamily="18" charset="0"/>
              </a:rPr>
              <a:t>收到</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后，用</a:t>
            </a:r>
            <a:r>
              <a:rPr lang="en-US" altLang="zh-CN" sz="2800">
                <a:latin typeface="Times New Roman" panose="02020603050405020304" pitchFamily="18" charset="0"/>
              </a:rPr>
              <a:t>Alice</a:t>
            </a:r>
            <a:r>
              <a:rPr lang="zh-CN" altLang="en-US" sz="2800">
                <a:latin typeface="Times New Roman" panose="02020603050405020304" pitchFamily="18" charset="0"/>
              </a:rPr>
              <a:t>的公钥</a:t>
            </a:r>
            <a:r>
              <a:rPr lang="en-US" altLang="zh-CN" sz="2800" i="1">
                <a:latin typeface="Times New Roman" panose="02020603050405020304" pitchFamily="18" charset="0"/>
              </a:rPr>
              <a:t>z</a:t>
            </a:r>
            <a:r>
              <a:rPr lang="zh-CN" altLang="en-US" sz="2800">
                <a:latin typeface="Times New Roman" panose="02020603050405020304" pitchFamily="18" charset="0"/>
              </a:rPr>
              <a:t>，将消息</a:t>
            </a:r>
            <a:r>
              <a:rPr lang="en-US" altLang="zh-CN" sz="2800" i="1">
                <a:latin typeface="Times New Roman" panose="02020603050405020304" pitchFamily="18" charset="0"/>
              </a:rPr>
              <a:t>m</a:t>
            </a:r>
            <a:r>
              <a:rPr lang="zh-CN" altLang="en-US" sz="2800">
                <a:latin typeface="Times New Roman" panose="02020603050405020304" pitchFamily="18" charset="0"/>
              </a:rPr>
              <a:t>与签名</a:t>
            </a:r>
            <a:r>
              <a:rPr lang="en-US" altLang="zh-CN" sz="2800" i="1">
                <a:latin typeface="Times New Roman" panose="02020603050405020304" pitchFamily="18" charset="0"/>
              </a:rPr>
              <a:t>s</a:t>
            </a:r>
            <a:r>
              <a:rPr lang="zh-CN" altLang="en-US" sz="2800">
                <a:latin typeface="Times New Roman" panose="02020603050405020304" pitchFamily="18" charset="0"/>
              </a:rPr>
              <a:t>做如下的检验：是否</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en-US" altLang="zh-CN" sz="2800" i="1">
                <a:latin typeface="Times New Roman" panose="02020603050405020304" pitchFamily="18" charset="0"/>
              </a:rPr>
              <a:t>E</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 </a:t>
            </a:r>
            <a:r>
              <a:rPr lang="en-US" altLang="zh-CN" sz="2800" i="1">
                <a:latin typeface="Times New Roman" panose="02020603050405020304" pitchFamily="18" charset="0"/>
              </a:rPr>
              <a:t>z</a:t>
            </a:r>
            <a:r>
              <a:rPr lang="en-US" altLang="zh-CN" sz="2800">
                <a:latin typeface="Times New Roman" panose="02020603050405020304" pitchFamily="18" charset="0"/>
              </a:rPr>
              <a:t>)</a:t>
            </a:r>
            <a:r>
              <a:rPr lang="zh-CN" altLang="en-US" sz="2800">
                <a:latin typeface="Times New Roman" panose="02020603050405020304" pitchFamily="18" charset="0"/>
              </a:rPr>
              <a:t>。若是则</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是</a:t>
            </a:r>
            <a:r>
              <a:rPr lang="en-US" altLang="zh-CN" sz="2800">
                <a:latin typeface="Times New Roman" panose="02020603050405020304" pitchFamily="18" charset="0"/>
              </a:rPr>
              <a:t>Alice</a:t>
            </a:r>
            <a:r>
              <a:rPr lang="zh-CN" altLang="en-US" sz="2800">
                <a:latin typeface="Times New Roman" panose="02020603050405020304" pitchFamily="18" charset="0"/>
              </a:rPr>
              <a:t>发送的签名消息。</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灯片编号占位符 4">
            <a:extLst>
              <a:ext uri="{FF2B5EF4-FFF2-40B4-BE49-F238E27FC236}">
                <a16:creationId xmlns:a16="http://schemas.microsoft.com/office/drawing/2014/main" id="{6AF1935A-A78E-83E3-0716-60024AA321A2}"/>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5B93649A-A4DA-4223-845C-18C3B57AA44F}" type="slidenum">
              <a:rPr lang="zh-CN" altLang="en-US" sz="1400" smtClean="0"/>
              <a:pPr eaLnBrk="0" hangingPunct="0">
                <a:spcBef>
                  <a:spcPct val="0"/>
                </a:spcBef>
                <a:buClrTx/>
                <a:buSzTx/>
                <a:buFontTx/>
                <a:buNone/>
              </a:pPr>
              <a:t>20</a:t>
            </a:fld>
            <a:endParaRPr lang="en-US" altLang="zh-CN" sz="1400"/>
          </a:p>
        </p:txBody>
      </p:sp>
      <p:sp>
        <p:nvSpPr>
          <p:cNvPr id="46083" name="Rectangle 2">
            <a:extLst>
              <a:ext uri="{FF2B5EF4-FFF2-40B4-BE49-F238E27FC236}">
                <a16:creationId xmlns:a16="http://schemas.microsoft.com/office/drawing/2014/main" id="{E589C220-F90F-A97A-128C-2C512F8E211F}"/>
              </a:ext>
            </a:extLst>
          </p:cNvPr>
          <p:cNvSpPr>
            <a:spLocks noGrp="1" noChangeArrowheads="1"/>
          </p:cNvSpPr>
          <p:nvPr>
            <p:ph type="title"/>
          </p:nvPr>
        </p:nvSpPr>
        <p:spPr/>
        <p:txBody>
          <a:bodyPr/>
          <a:lstStyle/>
          <a:p>
            <a:r>
              <a:rPr lang="zh-CN" altLang="en-US" b="1"/>
              <a:t>二、数字签名的基本概念</a:t>
            </a:r>
          </a:p>
        </p:txBody>
      </p:sp>
      <p:sp>
        <p:nvSpPr>
          <p:cNvPr id="46084" name="Rectangle 3">
            <a:extLst>
              <a:ext uri="{FF2B5EF4-FFF2-40B4-BE49-F238E27FC236}">
                <a16:creationId xmlns:a16="http://schemas.microsoft.com/office/drawing/2014/main" id="{F4780843-792D-BE25-6AB1-FA9F40A9A256}"/>
              </a:ext>
            </a:extLst>
          </p:cNvPr>
          <p:cNvSpPr>
            <a:spLocks noGrp="1" noChangeArrowheads="1"/>
          </p:cNvSpPr>
          <p:nvPr>
            <p:ph type="body" idx="1"/>
          </p:nvPr>
        </p:nvSpPr>
        <p:spPr>
          <a:xfrm>
            <a:off x="539750" y="2017713"/>
            <a:ext cx="8415338" cy="4114800"/>
          </a:xfrm>
        </p:spPr>
        <p:txBody>
          <a:bodyPr/>
          <a:lstStyle/>
          <a:p>
            <a:pPr>
              <a:buFont typeface="Wingdings" panose="05000000000000000000" pitchFamily="2" charset="2"/>
              <a:buNone/>
            </a:pPr>
            <a:r>
              <a:rPr lang="zh-CN" altLang="en-US" sz="2800"/>
              <a:t>在上述方案中，</a:t>
            </a:r>
          </a:p>
          <a:p>
            <a:r>
              <a:rPr lang="zh-CN" altLang="en-US" sz="2800"/>
              <a:t>签名方程是</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en-US" altLang="zh-CN" sz="2800" i="1">
                <a:latin typeface="Times New Roman" panose="02020603050405020304" pitchFamily="18" charset="0"/>
              </a:rPr>
              <a:t>D</a:t>
            </a:r>
            <a:r>
              <a:rPr lang="en-US" altLang="zh-CN" sz="2800">
                <a:latin typeface="Times New Roman" panose="02020603050405020304" pitchFamily="18" charset="0"/>
              </a:rPr>
              <a:t>(</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en-US" altLang="zh-CN" sz="2800">
                <a:latin typeface="Times New Roman" panose="02020603050405020304" pitchFamily="18" charset="0"/>
              </a:rPr>
              <a:t>), </a:t>
            </a:r>
            <a:r>
              <a:rPr lang="en-US" altLang="zh-CN" sz="2800" i="1">
                <a:latin typeface="Times New Roman" panose="02020603050405020304" pitchFamily="18" charset="0"/>
              </a:rPr>
              <a:t>k</a:t>
            </a:r>
            <a:r>
              <a:rPr lang="en-US" altLang="zh-CN" sz="2800">
                <a:latin typeface="Times New Roman" panose="02020603050405020304" pitchFamily="18" charset="0"/>
              </a:rPr>
              <a:t>)</a:t>
            </a:r>
            <a:r>
              <a:rPr lang="zh-CN" altLang="en-US" sz="2800">
                <a:latin typeface="Times New Roman" panose="02020603050405020304" pitchFamily="18" charset="0"/>
              </a:rPr>
              <a:t>。</a:t>
            </a:r>
          </a:p>
          <a:p>
            <a:r>
              <a:rPr lang="zh-CN" altLang="en-US" sz="2800">
                <a:latin typeface="Times New Roman" panose="02020603050405020304" pitchFamily="18" charset="0"/>
              </a:rPr>
              <a:t>验证方程是</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en-US" altLang="zh-CN" sz="2800" i="1">
                <a:latin typeface="Times New Roman" panose="02020603050405020304" pitchFamily="18" charset="0"/>
              </a:rPr>
              <a:t>E</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 </a:t>
            </a:r>
            <a:r>
              <a:rPr lang="en-US" altLang="zh-CN" sz="2800" i="1">
                <a:latin typeface="Times New Roman" panose="02020603050405020304" pitchFamily="18" charset="0"/>
              </a:rPr>
              <a:t>z</a:t>
            </a:r>
            <a:r>
              <a:rPr lang="en-US" altLang="zh-CN" sz="2800">
                <a:latin typeface="Times New Roman" panose="02020603050405020304" pitchFamily="18" charset="0"/>
              </a:rPr>
              <a:t>)</a:t>
            </a:r>
            <a:r>
              <a:rPr lang="zh-CN" altLang="en-US" sz="2800">
                <a:latin typeface="Times New Roman" panose="02020603050405020304" pitchFamily="18" charset="0"/>
              </a:rPr>
              <a:t>。</a:t>
            </a:r>
          </a:p>
          <a:p>
            <a:r>
              <a:rPr lang="zh-CN" altLang="en-US" sz="2800">
                <a:latin typeface="Times New Roman" panose="02020603050405020304" pitchFamily="18" charset="0"/>
              </a:rPr>
              <a:t>任何人只要拥有</a:t>
            </a:r>
            <a:r>
              <a:rPr lang="en-US" altLang="zh-CN" sz="2800">
                <a:latin typeface="Times New Roman" panose="02020603050405020304" pitchFamily="18" charset="0"/>
              </a:rPr>
              <a:t>Alice</a:t>
            </a:r>
            <a:r>
              <a:rPr lang="zh-CN" altLang="en-US" sz="2800">
                <a:latin typeface="Times New Roman" panose="02020603050405020304" pitchFamily="18" charset="0"/>
              </a:rPr>
              <a:t>的公钥</a:t>
            </a:r>
            <a:r>
              <a:rPr lang="en-US" altLang="zh-CN" sz="2800" i="1">
                <a:latin typeface="Times New Roman" panose="02020603050405020304" pitchFamily="18" charset="0"/>
              </a:rPr>
              <a:t>z</a:t>
            </a:r>
            <a:r>
              <a:rPr lang="zh-CN" altLang="en-US" sz="2800">
                <a:latin typeface="Times New Roman" panose="02020603050405020304" pitchFamily="18" charset="0"/>
              </a:rPr>
              <a:t>，都可以对签名消息</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进行验证。</a:t>
            </a:r>
          </a:p>
          <a:p>
            <a:r>
              <a:rPr lang="zh-CN" altLang="en-US" sz="2800">
                <a:latin typeface="Times New Roman" panose="02020603050405020304" pitchFamily="18" charset="0"/>
              </a:rPr>
              <a:t>设攻击者</a:t>
            </a:r>
            <a:r>
              <a:rPr lang="en-US" altLang="zh-CN" sz="2800">
                <a:latin typeface="Times New Roman" panose="02020603050405020304" pitchFamily="18" charset="0"/>
              </a:rPr>
              <a:t>Eve</a:t>
            </a:r>
            <a:r>
              <a:rPr lang="zh-CN" altLang="en-US" sz="2800">
                <a:latin typeface="Times New Roman" panose="02020603050405020304" pitchFamily="18" charset="0"/>
              </a:rPr>
              <a:t>知道</a:t>
            </a:r>
            <a:r>
              <a:rPr lang="en-US" altLang="zh-CN" sz="2800">
                <a:latin typeface="Times New Roman" panose="02020603050405020304" pitchFamily="18" charset="0"/>
              </a:rPr>
              <a:t>Alice</a:t>
            </a:r>
            <a:r>
              <a:rPr lang="zh-CN" altLang="en-US" sz="2800">
                <a:latin typeface="Times New Roman" panose="02020603050405020304" pitchFamily="18" charset="0"/>
              </a:rPr>
              <a:t>的公钥</a:t>
            </a:r>
            <a:r>
              <a:rPr lang="en-US" altLang="zh-CN" sz="2800" i="1">
                <a:latin typeface="Times New Roman" panose="02020603050405020304" pitchFamily="18" charset="0"/>
              </a:rPr>
              <a:t>z</a:t>
            </a:r>
            <a:r>
              <a:rPr lang="zh-CN" altLang="en-US" sz="2800">
                <a:latin typeface="Times New Roman" panose="02020603050405020304" pitchFamily="18" charset="0"/>
              </a:rPr>
              <a:t> ，他试图伪造一个</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，让</a:t>
            </a:r>
            <a:r>
              <a:rPr lang="en-US" altLang="zh-CN" sz="2800">
                <a:latin typeface="Times New Roman" panose="02020603050405020304" pitchFamily="18" charset="0"/>
              </a:rPr>
              <a:t>Bob</a:t>
            </a:r>
            <a:r>
              <a:rPr lang="zh-CN" altLang="en-US" sz="2800">
                <a:latin typeface="Times New Roman" panose="02020603050405020304" pitchFamily="18" charset="0"/>
              </a:rPr>
              <a:t>相信</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是</a:t>
            </a:r>
            <a:r>
              <a:rPr lang="en-US" altLang="zh-CN" sz="2800">
                <a:latin typeface="Times New Roman" panose="02020603050405020304" pitchFamily="18" charset="0"/>
              </a:rPr>
              <a:t>Alice</a:t>
            </a:r>
            <a:r>
              <a:rPr lang="zh-CN" altLang="en-US" sz="2800">
                <a:latin typeface="Times New Roman" panose="02020603050405020304" pitchFamily="18" charset="0"/>
              </a:rPr>
              <a:t>的签名消息。伪造的</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必须满足验证方程</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en-US" altLang="zh-CN" sz="2800" i="1">
                <a:latin typeface="Times New Roman" panose="02020603050405020304" pitchFamily="18" charset="0"/>
              </a:rPr>
              <a:t>E</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 </a:t>
            </a:r>
            <a:r>
              <a:rPr lang="en-US" altLang="zh-CN" sz="2800" i="1">
                <a:latin typeface="Times New Roman" panose="02020603050405020304" pitchFamily="18" charset="0"/>
              </a:rPr>
              <a:t>z</a:t>
            </a:r>
            <a:r>
              <a:rPr lang="en-US" altLang="zh-CN" sz="2800">
                <a:latin typeface="Times New Roman" panose="02020603050405020304" pitchFamily="18" charset="0"/>
              </a:rPr>
              <a:t>)</a:t>
            </a:r>
            <a:r>
              <a:rPr lang="zh-CN" altLang="en-US" sz="2800">
                <a:latin typeface="Times New Roman" panose="02020603050405020304" pitchFamily="18" charset="0"/>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灯片编号占位符 4">
            <a:extLst>
              <a:ext uri="{FF2B5EF4-FFF2-40B4-BE49-F238E27FC236}">
                <a16:creationId xmlns:a16="http://schemas.microsoft.com/office/drawing/2014/main" id="{939A1104-CEC1-7C84-B582-7AAEC6C4B0C0}"/>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55A22753-D7CD-46CD-BD9E-C9E93AE29AB5}" type="slidenum">
              <a:rPr lang="zh-CN" altLang="en-US" sz="1400" smtClean="0"/>
              <a:pPr eaLnBrk="0" hangingPunct="0">
                <a:spcBef>
                  <a:spcPct val="0"/>
                </a:spcBef>
                <a:buClrTx/>
                <a:buSzTx/>
                <a:buFontTx/>
                <a:buNone/>
              </a:pPr>
              <a:t>21</a:t>
            </a:fld>
            <a:endParaRPr lang="en-US" altLang="zh-CN" sz="1400"/>
          </a:p>
        </p:txBody>
      </p:sp>
      <p:sp>
        <p:nvSpPr>
          <p:cNvPr id="47107" name="Rectangle 2">
            <a:extLst>
              <a:ext uri="{FF2B5EF4-FFF2-40B4-BE49-F238E27FC236}">
                <a16:creationId xmlns:a16="http://schemas.microsoft.com/office/drawing/2014/main" id="{9F8700B5-8F12-471F-074C-C4533113B0D2}"/>
              </a:ext>
            </a:extLst>
          </p:cNvPr>
          <p:cNvSpPr>
            <a:spLocks noGrp="1" noChangeArrowheads="1"/>
          </p:cNvSpPr>
          <p:nvPr>
            <p:ph type="title"/>
          </p:nvPr>
        </p:nvSpPr>
        <p:spPr/>
        <p:txBody>
          <a:bodyPr/>
          <a:lstStyle/>
          <a:p>
            <a:r>
              <a:rPr lang="zh-CN" altLang="en-US" b="1"/>
              <a:t>二、数字签名的基本概念</a:t>
            </a:r>
          </a:p>
        </p:txBody>
      </p:sp>
      <p:sp>
        <p:nvSpPr>
          <p:cNvPr id="47108" name="Rectangle 3">
            <a:extLst>
              <a:ext uri="{FF2B5EF4-FFF2-40B4-BE49-F238E27FC236}">
                <a16:creationId xmlns:a16="http://schemas.microsoft.com/office/drawing/2014/main" id="{711503E8-BB32-7B21-FA64-781C2CFD2051}"/>
              </a:ext>
            </a:extLst>
          </p:cNvPr>
          <p:cNvSpPr>
            <a:spLocks noGrp="1" noChangeArrowheads="1"/>
          </p:cNvSpPr>
          <p:nvPr>
            <p:ph type="body" idx="1"/>
          </p:nvPr>
        </p:nvSpPr>
        <p:spPr>
          <a:xfrm>
            <a:off x="539750" y="1989138"/>
            <a:ext cx="8135938" cy="4032250"/>
          </a:xfrm>
        </p:spPr>
        <p:txBody>
          <a:bodyPr/>
          <a:lstStyle/>
          <a:p>
            <a:pPr>
              <a:lnSpc>
                <a:spcPct val="90000"/>
              </a:lnSpc>
              <a:buFont typeface="Wingdings" panose="05000000000000000000" pitchFamily="2" charset="2"/>
              <a:buNone/>
            </a:pPr>
            <a:r>
              <a:rPr lang="en-US" altLang="zh-CN" sz="2800">
                <a:latin typeface="Times New Roman" panose="02020603050405020304" pitchFamily="18" charset="0"/>
              </a:rPr>
              <a:t>Eve</a:t>
            </a:r>
            <a:r>
              <a:rPr lang="zh-CN" altLang="en-US" sz="2800">
                <a:latin typeface="Times New Roman" panose="02020603050405020304" pitchFamily="18" charset="0"/>
              </a:rPr>
              <a:t>面临着两难问题：</a:t>
            </a:r>
          </a:p>
          <a:p>
            <a:pPr>
              <a:lnSpc>
                <a:spcPct val="90000"/>
              </a:lnSpc>
            </a:pPr>
            <a:r>
              <a:rPr lang="zh-CN" altLang="en-US" sz="2800">
                <a:latin typeface="Times New Roman" panose="02020603050405020304" pitchFamily="18" charset="0"/>
              </a:rPr>
              <a:t>如果选定消息</a:t>
            </a:r>
            <a:r>
              <a:rPr lang="en-US" altLang="zh-CN" sz="2800" i="1">
                <a:latin typeface="Times New Roman" panose="02020603050405020304" pitchFamily="18" charset="0"/>
              </a:rPr>
              <a:t>m</a:t>
            </a:r>
            <a:r>
              <a:rPr lang="zh-CN" altLang="en-US" sz="2800">
                <a:latin typeface="Times New Roman" panose="02020603050405020304" pitchFamily="18" charset="0"/>
              </a:rPr>
              <a:t>，再匹配签名值</a:t>
            </a:r>
            <a:r>
              <a:rPr lang="en-US" altLang="zh-CN" sz="2800" i="1">
                <a:latin typeface="Times New Roman" panose="02020603050405020304" pitchFamily="18" charset="0"/>
              </a:rPr>
              <a:t>s</a:t>
            </a:r>
            <a:r>
              <a:rPr lang="zh-CN" altLang="en-US" sz="2800">
                <a:latin typeface="Times New Roman" panose="02020603050405020304" pitchFamily="18" charset="0"/>
              </a:rPr>
              <a:t>，则在验证方程</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en-US" altLang="zh-CN" sz="2800" i="1">
                <a:latin typeface="Times New Roman" panose="02020603050405020304" pitchFamily="18" charset="0"/>
              </a:rPr>
              <a:t>E</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 </a:t>
            </a:r>
            <a:r>
              <a:rPr lang="en-US" altLang="zh-CN" sz="2800" i="1">
                <a:latin typeface="Times New Roman" panose="02020603050405020304" pitchFamily="18" charset="0"/>
              </a:rPr>
              <a:t>z</a:t>
            </a:r>
            <a:r>
              <a:rPr lang="en-US" altLang="zh-CN" sz="2800">
                <a:latin typeface="Times New Roman" panose="02020603050405020304" pitchFamily="18" charset="0"/>
              </a:rPr>
              <a:t>)</a:t>
            </a:r>
            <a:r>
              <a:rPr lang="zh-CN" altLang="en-US" sz="2800">
                <a:latin typeface="Times New Roman" panose="02020603050405020304" pitchFamily="18" charset="0"/>
              </a:rPr>
              <a:t>中无法解出</a:t>
            </a:r>
            <a:r>
              <a:rPr lang="en-US" altLang="zh-CN" sz="2800" i="1">
                <a:latin typeface="Times New Roman" panose="02020603050405020304" pitchFamily="18" charset="0"/>
              </a:rPr>
              <a:t>s</a:t>
            </a:r>
            <a:r>
              <a:rPr lang="zh-CN" altLang="en-US" sz="2800">
                <a:latin typeface="Times New Roman" panose="02020603050405020304" pitchFamily="18" charset="0"/>
              </a:rPr>
              <a:t> 。（这是公钥密码的基本安全性）</a:t>
            </a:r>
          </a:p>
          <a:p>
            <a:pPr>
              <a:lnSpc>
                <a:spcPct val="90000"/>
              </a:lnSpc>
            </a:pPr>
            <a:r>
              <a:rPr lang="zh-CN" altLang="en-US" sz="2800">
                <a:latin typeface="Times New Roman" panose="02020603050405020304" pitchFamily="18" charset="0"/>
              </a:rPr>
              <a:t>如果选定签名值</a:t>
            </a:r>
            <a:r>
              <a:rPr lang="en-US" altLang="zh-CN" sz="2800" i="1">
                <a:latin typeface="Times New Roman" panose="02020603050405020304" pitchFamily="18" charset="0"/>
              </a:rPr>
              <a:t>s</a:t>
            </a:r>
            <a:r>
              <a:rPr lang="zh-CN" altLang="en-US" sz="2800">
                <a:latin typeface="Times New Roman" panose="02020603050405020304" pitchFamily="18" charset="0"/>
              </a:rPr>
              <a:t>，再匹配消息</a:t>
            </a:r>
            <a:r>
              <a:rPr lang="en-US" altLang="zh-CN" sz="2800" i="1">
                <a:latin typeface="Times New Roman" panose="02020603050405020304" pitchFamily="18" charset="0"/>
              </a:rPr>
              <a:t>m</a:t>
            </a:r>
            <a:r>
              <a:rPr lang="zh-CN" altLang="en-US" sz="2800">
                <a:latin typeface="Times New Roman" panose="02020603050405020304" pitchFamily="18" charset="0"/>
              </a:rPr>
              <a:t>，则在验证方程</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en-US" altLang="zh-CN" sz="2800" i="1">
                <a:latin typeface="Times New Roman" panose="02020603050405020304" pitchFamily="18" charset="0"/>
              </a:rPr>
              <a:t>E</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 </a:t>
            </a:r>
            <a:r>
              <a:rPr lang="en-US" altLang="zh-CN" sz="2800" i="1">
                <a:latin typeface="Times New Roman" panose="02020603050405020304" pitchFamily="18" charset="0"/>
              </a:rPr>
              <a:t>z</a:t>
            </a:r>
            <a:r>
              <a:rPr lang="en-US" altLang="zh-CN" sz="2800">
                <a:latin typeface="Times New Roman" panose="02020603050405020304" pitchFamily="18" charset="0"/>
              </a:rPr>
              <a:t>)</a:t>
            </a:r>
            <a:r>
              <a:rPr lang="zh-CN" altLang="en-US" sz="2800">
                <a:latin typeface="Times New Roman" panose="02020603050405020304" pitchFamily="18" charset="0"/>
              </a:rPr>
              <a:t>中能够解出</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zh-CN" altLang="en-US" sz="2800">
                <a:latin typeface="Times New Roman" panose="02020603050405020304" pitchFamily="18" charset="0"/>
              </a:rPr>
              <a:t>，却无法得到</a:t>
            </a:r>
            <a:r>
              <a:rPr lang="en-US" altLang="zh-CN" sz="2800" i="1">
                <a:latin typeface="Times New Roman" panose="02020603050405020304" pitchFamily="18" charset="0"/>
              </a:rPr>
              <a:t>m</a:t>
            </a:r>
            <a:r>
              <a:rPr lang="zh-CN" altLang="en-US" sz="2800">
                <a:latin typeface="Times New Roman" panose="02020603050405020304" pitchFamily="18" charset="0"/>
              </a:rPr>
              <a:t>。（这是杂凑函数的性质）</a:t>
            </a:r>
          </a:p>
          <a:p>
            <a:pPr>
              <a:lnSpc>
                <a:spcPct val="90000"/>
              </a:lnSpc>
              <a:buFont typeface="Wingdings" panose="05000000000000000000" pitchFamily="2" charset="2"/>
              <a:buNone/>
            </a:pPr>
            <a:r>
              <a:rPr lang="zh-CN" altLang="en-US" sz="2800">
                <a:latin typeface="Times New Roman" panose="02020603050405020304" pitchFamily="18" charset="0"/>
              </a:rPr>
              <a:t>如此看来，签名方案（二）具有</a:t>
            </a:r>
            <a:r>
              <a:rPr lang="zh-CN" altLang="en-US" sz="2800" u="sng">
                <a:latin typeface="Times New Roman" panose="02020603050405020304" pitchFamily="18" charset="0"/>
              </a:rPr>
              <a:t>身份唯一性</a:t>
            </a:r>
            <a:r>
              <a:rPr lang="zh-CN" altLang="en-US" sz="2800">
                <a:latin typeface="Times New Roman" panose="02020603050405020304" pitchFamily="18" charset="0"/>
              </a:rPr>
              <a:t>和</a:t>
            </a:r>
            <a:r>
              <a:rPr lang="zh-CN" altLang="en-US" sz="2800" u="sng">
                <a:latin typeface="Times New Roman" panose="02020603050405020304" pitchFamily="18" charset="0"/>
              </a:rPr>
              <a:t>不可伪造性</a:t>
            </a:r>
            <a:r>
              <a:rPr lang="zh-CN" altLang="en-US" sz="2800">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7108">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7108">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710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灯片编号占位符 4">
            <a:extLst>
              <a:ext uri="{FF2B5EF4-FFF2-40B4-BE49-F238E27FC236}">
                <a16:creationId xmlns:a16="http://schemas.microsoft.com/office/drawing/2014/main" id="{CA5A6C97-3272-ABC7-45BA-E258423A8A7C}"/>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E9DD046D-2EEF-410E-9439-CFF33BBA3A92}" type="slidenum">
              <a:rPr lang="zh-CN" altLang="en-US" sz="1400" smtClean="0"/>
              <a:pPr eaLnBrk="0" hangingPunct="0">
                <a:spcBef>
                  <a:spcPct val="0"/>
                </a:spcBef>
                <a:buClrTx/>
                <a:buSzTx/>
                <a:buFontTx/>
                <a:buNone/>
              </a:pPr>
              <a:t>22</a:t>
            </a:fld>
            <a:endParaRPr lang="en-US" altLang="zh-CN" sz="1400"/>
          </a:p>
        </p:txBody>
      </p:sp>
      <p:sp>
        <p:nvSpPr>
          <p:cNvPr id="48131" name="Rectangle 2">
            <a:extLst>
              <a:ext uri="{FF2B5EF4-FFF2-40B4-BE49-F238E27FC236}">
                <a16:creationId xmlns:a16="http://schemas.microsoft.com/office/drawing/2014/main" id="{E54D265A-0180-D85F-57F8-7DD4FF428822}"/>
              </a:ext>
            </a:extLst>
          </p:cNvPr>
          <p:cNvSpPr>
            <a:spLocks noGrp="1" noChangeArrowheads="1"/>
          </p:cNvSpPr>
          <p:nvPr>
            <p:ph type="title"/>
          </p:nvPr>
        </p:nvSpPr>
        <p:spPr/>
        <p:txBody>
          <a:bodyPr/>
          <a:lstStyle/>
          <a:p>
            <a:r>
              <a:rPr lang="zh-CN" altLang="en-US" b="1"/>
              <a:t>三、几种常用的数字签名</a:t>
            </a:r>
          </a:p>
        </p:txBody>
      </p:sp>
      <mc:AlternateContent xmlns:mc="http://schemas.openxmlformats.org/markup-compatibility/2006" xmlns:a14="http://schemas.microsoft.com/office/drawing/2010/main">
        <mc:Choice Requires="a14">
          <p:sp>
            <p:nvSpPr>
              <p:cNvPr id="48132" name="Rectangle 3">
                <a:extLst>
                  <a:ext uri="{FF2B5EF4-FFF2-40B4-BE49-F238E27FC236}">
                    <a16:creationId xmlns:a16="http://schemas.microsoft.com/office/drawing/2014/main" id="{B507CA05-5AB4-8774-6380-87931CE7F029}"/>
                  </a:ext>
                </a:extLst>
              </p:cNvPr>
              <p:cNvSpPr>
                <a:spLocks noGrp="1" noChangeArrowheads="1"/>
              </p:cNvSpPr>
              <p:nvPr>
                <p:ph type="body" idx="1"/>
              </p:nvPr>
            </p:nvSpPr>
            <p:spPr>
              <a:xfrm>
                <a:off x="611188" y="2017713"/>
                <a:ext cx="8208962" cy="4114800"/>
              </a:xfrm>
            </p:spPr>
            <p:txBody>
              <a:bodyPr/>
              <a:lstStyle/>
              <a:p>
                <a:pPr algn="ctr">
                  <a:buFont typeface="Wingdings" panose="05000000000000000000" pitchFamily="2" charset="2"/>
                  <a:buNone/>
                </a:pPr>
                <a:r>
                  <a:rPr lang="en-US" altLang="zh-CN" sz="3600" b="1" dirty="0">
                    <a:latin typeface="Times New Roman" panose="02020603050405020304" pitchFamily="18" charset="0"/>
                    <a:ea typeface="黑体" panose="02010609060101010101" pitchFamily="49" charset="-122"/>
                  </a:rPr>
                  <a:t>RSA</a:t>
                </a:r>
                <a:r>
                  <a:rPr lang="zh-CN" altLang="en-US" sz="3600" b="1" dirty="0">
                    <a:latin typeface="Times New Roman" panose="02020603050405020304" pitchFamily="18" charset="0"/>
                    <a:ea typeface="黑体" panose="02010609060101010101" pitchFamily="49" charset="-122"/>
                  </a:rPr>
                  <a:t>数字签名</a:t>
                </a:r>
              </a:p>
              <a:p>
                <a:pPr algn="ctr">
                  <a:buFont typeface="Wingdings" panose="05000000000000000000" pitchFamily="2" charset="2"/>
                  <a:buNone/>
                </a:pPr>
                <a:endParaRPr lang="zh-CN" altLang="en-US" sz="2800" b="1" dirty="0">
                  <a:latin typeface="Times New Roman" panose="02020603050405020304" pitchFamily="18" charset="0"/>
                  <a:ea typeface="黑体" panose="02010609060101010101" pitchFamily="49" charset="-122"/>
                </a:endParaRPr>
              </a:p>
              <a:p>
                <a:pPr>
                  <a:buFont typeface="Wingdings" panose="05000000000000000000" pitchFamily="2" charset="2"/>
                  <a:buNone/>
                </a:pPr>
                <a:r>
                  <a:rPr lang="en-US" altLang="zh-CN" sz="2800" dirty="0">
                    <a:latin typeface="Times New Roman" panose="02020603050405020304" pitchFamily="18" charset="0"/>
                  </a:rPr>
                  <a:t>RSA</a:t>
                </a:r>
                <a:r>
                  <a:rPr lang="zh-CN" altLang="en-US" sz="2800" dirty="0">
                    <a:latin typeface="Times New Roman" panose="02020603050405020304" pitchFamily="18" charset="0"/>
                  </a:rPr>
                  <a:t>的密钥生成：选择两个大的素数</a:t>
                </a:r>
                <a:r>
                  <a:rPr lang="en-US" altLang="zh-CN" sz="2800" i="1" dirty="0">
                    <a:latin typeface="Times New Roman" panose="02020603050405020304" pitchFamily="18" charset="0"/>
                  </a:rPr>
                  <a:t>p</a:t>
                </a:r>
                <a:r>
                  <a:rPr lang="zh-CN" altLang="en-US" sz="2800" dirty="0">
                    <a:latin typeface="Times New Roman" panose="02020603050405020304" pitchFamily="18" charset="0"/>
                  </a:rPr>
                  <a:t>和</a:t>
                </a:r>
                <a:r>
                  <a:rPr lang="en-US" altLang="zh-CN" sz="2800" i="1" dirty="0">
                    <a:latin typeface="Times New Roman" panose="02020603050405020304" pitchFamily="18" charset="0"/>
                  </a:rPr>
                  <a:t>q</a:t>
                </a:r>
                <a:r>
                  <a:rPr lang="zh-CN" altLang="en-US" sz="2800" dirty="0">
                    <a:latin typeface="Times New Roman" panose="02020603050405020304" pitchFamily="18" charset="0"/>
                  </a:rPr>
                  <a:t>。选择两个正整数</a:t>
                </a:r>
                <a:r>
                  <a:rPr lang="en-US" altLang="zh-CN" sz="2800" i="1" dirty="0">
                    <a:latin typeface="Times New Roman" panose="02020603050405020304" pitchFamily="18" charset="0"/>
                  </a:rPr>
                  <a:t>e</a:t>
                </a:r>
                <a:r>
                  <a:rPr lang="zh-CN" altLang="en-US" sz="2800" dirty="0">
                    <a:latin typeface="Times New Roman" panose="02020603050405020304" pitchFamily="18" charset="0"/>
                  </a:rPr>
                  <a:t>和</a:t>
                </a:r>
                <a:r>
                  <a:rPr lang="en-US" altLang="zh-CN" sz="2800" i="1" dirty="0">
                    <a:latin typeface="Times New Roman" panose="02020603050405020304" pitchFamily="18" charset="0"/>
                  </a:rPr>
                  <a:t>d</a:t>
                </a:r>
                <a:r>
                  <a:rPr lang="zh-CN" altLang="en-US" sz="2800" dirty="0">
                    <a:latin typeface="Times New Roman" panose="02020603050405020304" pitchFamily="18" charset="0"/>
                  </a:rPr>
                  <a:t>，满足：</a:t>
                </a:r>
                <a:r>
                  <a:rPr lang="en-US" altLang="zh-CN" sz="2800" i="1" dirty="0">
                    <a:latin typeface="Times New Roman" panose="02020603050405020304" pitchFamily="18" charset="0"/>
                  </a:rPr>
                  <a:t>ed</a:t>
                </a:r>
                <a:r>
                  <a:rPr lang="zh-CN" altLang="en-US" sz="2800" dirty="0">
                    <a:latin typeface="Times New Roman" panose="02020603050405020304" pitchFamily="18" charset="0"/>
                  </a:rPr>
                  <a:t>是</a:t>
                </a:r>
                <a:r>
                  <a:rPr lang="en-US" altLang="zh-CN" sz="2800" dirty="0">
                    <a:latin typeface="Times New Roman" panose="02020603050405020304" pitchFamily="18" charset="0"/>
                  </a:rPr>
                  <a:t>(</a:t>
                </a:r>
                <a:r>
                  <a:rPr lang="en-US" altLang="zh-CN" sz="2800" i="1" dirty="0">
                    <a:latin typeface="Times New Roman" panose="02020603050405020304" pitchFamily="18" charset="0"/>
                  </a:rPr>
                  <a:t>p</a:t>
                </a:r>
                <a:r>
                  <a:rPr lang="en-US" altLang="zh-CN" sz="2800" dirty="0">
                    <a:latin typeface="Times New Roman" panose="02020603050405020304" pitchFamily="18" charset="0"/>
                  </a:rPr>
                  <a:t>-1)(</a:t>
                </a:r>
                <a:r>
                  <a:rPr lang="en-US" altLang="zh-CN" sz="2800" i="1" dirty="0">
                    <a:latin typeface="Times New Roman" panose="02020603050405020304" pitchFamily="18" charset="0"/>
                  </a:rPr>
                  <a:t>q</a:t>
                </a:r>
                <a:r>
                  <a:rPr lang="en-US" altLang="zh-CN" sz="2800" dirty="0">
                    <a:latin typeface="Times New Roman" panose="02020603050405020304" pitchFamily="18" charset="0"/>
                  </a:rPr>
                  <a:t>-1)</a:t>
                </a:r>
                <a:r>
                  <a:rPr lang="zh-CN" altLang="en-US" sz="2800" dirty="0">
                    <a:latin typeface="Times New Roman" panose="02020603050405020304" pitchFamily="18" charset="0"/>
                  </a:rPr>
                  <a:t>的倍数加</a:t>
                </a:r>
                <a:r>
                  <a:rPr lang="en-US" altLang="zh-CN" sz="2800" dirty="0">
                    <a:latin typeface="Times New Roman" panose="02020603050405020304" pitchFamily="18" charset="0"/>
                  </a:rPr>
                  <a:t>1</a:t>
                </a:r>
                <a:r>
                  <a:rPr lang="zh-CN" altLang="en-US" sz="2800" dirty="0">
                    <a:latin typeface="Times New Roman" panose="02020603050405020304" pitchFamily="18" charset="0"/>
                  </a:rPr>
                  <a:t>（即</a:t>
                </a:r>
                <a14:m>
                  <m:oMath xmlns:m="http://schemas.openxmlformats.org/officeDocument/2006/math">
                    <m:r>
                      <a:rPr lang="en-US" altLang="zh-CN" sz="2800" i="1" dirty="0" smtClean="0">
                        <a:latin typeface="Cambria Math" panose="02040503050406030204" pitchFamily="18" charset="0"/>
                      </a:rPr>
                      <m:t>𝑒𝑑</m:t>
                    </m:r>
                    <m:r>
                      <a:rPr lang="en-US" altLang="zh-CN" sz="2800" i="1" dirty="0" smtClean="0">
                        <a:latin typeface="Cambria Math" panose="02040503050406030204" pitchFamily="18" charset="0"/>
                      </a:rPr>
                      <m:t>=1 </m:t>
                    </m:r>
                    <m:r>
                      <m:rPr>
                        <m:sty m:val="p"/>
                      </m:rPr>
                      <a:rPr lang="en-US" altLang="zh-CN" sz="2800" i="0" dirty="0" smtClean="0">
                        <a:latin typeface="Cambria Math" panose="02040503050406030204" pitchFamily="18" charset="0"/>
                      </a:rPr>
                      <m:t>mod</m:t>
                    </m:r>
                    <m:r>
                      <a:rPr lang="en-US" altLang="zh-CN" sz="2800" i="1" dirty="0" smtClean="0">
                        <a:latin typeface="Cambria Math" panose="02040503050406030204" pitchFamily="18" charset="0"/>
                      </a:rPr>
                      <m:t> (</m:t>
                    </m:r>
                    <m:r>
                      <a:rPr lang="en-US" altLang="zh-CN" sz="2800" i="1" dirty="0" smtClean="0">
                        <a:latin typeface="Cambria Math" panose="02040503050406030204" pitchFamily="18" charset="0"/>
                      </a:rPr>
                      <m:t>𝑝</m:t>
                    </m:r>
                    <m:r>
                      <a:rPr lang="en-US" altLang="zh-CN" sz="2800" i="1" dirty="0" smtClean="0">
                        <a:latin typeface="Cambria Math" panose="02040503050406030204" pitchFamily="18" charset="0"/>
                      </a:rPr>
                      <m:t>−1)(</m:t>
                    </m:r>
                    <m:r>
                      <a:rPr lang="en-US" altLang="zh-CN" sz="2800" i="1" dirty="0" smtClean="0">
                        <a:latin typeface="Cambria Math" panose="02040503050406030204" pitchFamily="18" charset="0"/>
                      </a:rPr>
                      <m:t>𝑞</m:t>
                    </m:r>
                    <m:r>
                      <a:rPr lang="en-US" altLang="zh-CN" sz="2800" i="1" dirty="0" smtClean="0">
                        <a:latin typeface="Cambria Math" panose="02040503050406030204" pitchFamily="18" charset="0"/>
                      </a:rPr>
                      <m:t>−1)</m:t>
                    </m:r>
                  </m:oMath>
                </a14:m>
                <a:r>
                  <a:rPr lang="zh-CN" altLang="en-US" sz="2800" dirty="0">
                    <a:latin typeface="Times New Roman" panose="02020603050405020304" pitchFamily="18" charset="0"/>
                  </a:rPr>
                  <a:t>。计算</a:t>
                </a:r>
                <a:r>
                  <a:rPr lang="en-US" altLang="zh-CN" sz="2800" i="1" dirty="0">
                    <a:latin typeface="Times New Roman" panose="02020603050405020304" pitchFamily="18" charset="0"/>
                  </a:rPr>
                  <a:t>n=</a:t>
                </a:r>
                <a:r>
                  <a:rPr lang="en-US" altLang="zh-CN" sz="2800" i="1" dirty="0" err="1">
                    <a:latin typeface="Times New Roman" panose="02020603050405020304" pitchFamily="18" charset="0"/>
                  </a:rPr>
                  <a:t>pq</a:t>
                </a:r>
                <a:r>
                  <a:rPr lang="zh-CN" altLang="en-US" sz="2800" dirty="0">
                    <a:latin typeface="Times New Roman" panose="02020603050405020304" pitchFamily="18" charset="0"/>
                  </a:rPr>
                  <a:t>。</a:t>
                </a:r>
              </a:p>
              <a:p>
                <a:pPr>
                  <a:buFont typeface="Wingdings" panose="05000000000000000000" pitchFamily="2" charset="2"/>
                  <a:buNone/>
                </a:pPr>
                <a:r>
                  <a:rPr lang="en-US" altLang="zh-CN" sz="2800" dirty="0">
                    <a:latin typeface="Times New Roman" panose="02020603050405020304" pitchFamily="18" charset="0"/>
                  </a:rPr>
                  <a:t>Alice</a:t>
                </a:r>
                <a:r>
                  <a:rPr lang="zh-CN" altLang="en-US" sz="2800" dirty="0">
                    <a:latin typeface="Times New Roman" panose="02020603050405020304" pitchFamily="18" charset="0"/>
                  </a:rPr>
                  <a:t>的公钥是（</a:t>
                </a:r>
                <a:r>
                  <a:rPr lang="en-US" altLang="zh-CN" sz="2800" i="1" dirty="0">
                    <a:latin typeface="Times New Roman" panose="02020603050405020304" pitchFamily="18" charset="0"/>
                  </a:rPr>
                  <a:t>n</a:t>
                </a:r>
                <a:r>
                  <a:rPr lang="zh-CN" altLang="en-US" sz="2800" dirty="0">
                    <a:latin typeface="Times New Roman" panose="02020603050405020304" pitchFamily="18" charset="0"/>
                  </a:rPr>
                  <a:t>，</a:t>
                </a:r>
                <a:r>
                  <a:rPr lang="en-US" altLang="zh-CN" sz="2800" i="1" dirty="0">
                    <a:latin typeface="Times New Roman" panose="02020603050405020304" pitchFamily="18" charset="0"/>
                  </a:rPr>
                  <a:t>e</a:t>
                </a:r>
                <a:r>
                  <a:rPr lang="zh-CN" altLang="en-US" sz="2800" dirty="0">
                    <a:latin typeface="Times New Roman" panose="02020603050405020304" pitchFamily="18" charset="0"/>
                  </a:rPr>
                  <a:t>），私钥是</a:t>
                </a:r>
                <a:r>
                  <a:rPr lang="en-US" altLang="zh-CN" sz="2800" i="1" dirty="0">
                    <a:latin typeface="Times New Roman" panose="02020603050405020304" pitchFamily="18" charset="0"/>
                  </a:rPr>
                  <a:t>d</a:t>
                </a:r>
                <a:r>
                  <a:rPr lang="zh-CN" altLang="en-US" sz="2800" dirty="0">
                    <a:latin typeface="Times New Roman" panose="02020603050405020304" pitchFamily="18" charset="0"/>
                  </a:rPr>
                  <a:t>。</a:t>
                </a:r>
              </a:p>
              <a:p>
                <a:pPr>
                  <a:buFont typeface="Wingdings" panose="05000000000000000000" pitchFamily="2" charset="2"/>
                  <a:buNone/>
                </a:pPr>
                <a:r>
                  <a:rPr lang="zh-CN" altLang="en-US" sz="2800" dirty="0">
                    <a:latin typeface="Times New Roman" panose="02020603050405020304" pitchFamily="18" charset="0"/>
                  </a:rPr>
                  <a:t>签名方案是上述的签名方案</a:t>
                </a:r>
                <a:r>
                  <a:rPr lang="en-US" altLang="zh-CN" sz="2800" dirty="0">
                    <a:latin typeface="Times New Roman" panose="02020603050405020304" pitchFamily="18" charset="0"/>
                  </a:rPr>
                  <a:t>(</a:t>
                </a:r>
                <a:r>
                  <a:rPr lang="zh-CN" altLang="en-US" sz="2800" dirty="0">
                    <a:latin typeface="Times New Roman" panose="02020603050405020304" pitchFamily="18" charset="0"/>
                  </a:rPr>
                  <a:t>二</a:t>
                </a:r>
                <a:r>
                  <a:rPr lang="en-US" altLang="zh-CN" sz="2800" dirty="0">
                    <a:latin typeface="Times New Roman" panose="02020603050405020304" pitchFamily="18" charset="0"/>
                  </a:rPr>
                  <a:t>)</a:t>
                </a:r>
                <a:r>
                  <a:rPr lang="zh-CN" altLang="en-US" sz="2800" dirty="0">
                    <a:latin typeface="Times New Roman" panose="02020603050405020304" pitchFamily="18" charset="0"/>
                  </a:rPr>
                  <a:t>，额外使用一个公开的杂凑函数</a:t>
                </a:r>
                <a:r>
                  <a:rPr lang="en-US" altLang="zh-CN" sz="2800" i="1" dirty="0">
                    <a:latin typeface="Times New Roman" panose="02020603050405020304" pitchFamily="18" charset="0"/>
                  </a:rPr>
                  <a:t>H</a:t>
                </a:r>
                <a:r>
                  <a:rPr lang="zh-CN" altLang="en-US" sz="2800" dirty="0">
                    <a:latin typeface="Times New Roman" panose="02020603050405020304" pitchFamily="18" charset="0"/>
                  </a:rPr>
                  <a:t>。设</a:t>
                </a:r>
                <a:r>
                  <a:rPr lang="en-US" altLang="zh-CN" sz="2800" dirty="0">
                    <a:latin typeface="Times New Roman" panose="02020603050405020304" pitchFamily="18" charset="0"/>
                  </a:rPr>
                  <a:t>Alice</a:t>
                </a:r>
                <a:r>
                  <a:rPr lang="zh-CN" altLang="en-US" sz="2800" dirty="0">
                    <a:latin typeface="Times New Roman" panose="02020603050405020304" pitchFamily="18" charset="0"/>
                  </a:rPr>
                  <a:t>欲发消息</a:t>
                </a:r>
                <a:r>
                  <a:rPr lang="en-US" altLang="zh-CN" sz="2800" i="1" dirty="0">
                    <a:latin typeface="Times New Roman" panose="02020603050405020304" pitchFamily="18" charset="0"/>
                  </a:rPr>
                  <a:t>m</a:t>
                </a:r>
                <a:r>
                  <a:rPr lang="zh-CN" altLang="en-US" sz="2800" dirty="0">
                    <a:latin typeface="Times New Roman" panose="02020603050405020304" pitchFamily="18" charset="0"/>
                  </a:rPr>
                  <a:t>给</a:t>
                </a:r>
                <a:r>
                  <a:rPr lang="en-US" altLang="zh-CN" sz="2800" dirty="0">
                    <a:latin typeface="Times New Roman" panose="02020603050405020304" pitchFamily="18" charset="0"/>
                  </a:rPr>
                  <a:t>Bob</a:t>
                </a:r>
                <a:r>
                  <a:rPr lang="zh-CN" altLang="en-US" sz="2800" dirty="0">
                    <a:latin typeface="Times New Roman" panose="02020603050405020304" pitchFamily="18" charset="0"/>
                  </a:rPr>
                  <a:t>。</a:t>
                </a:r>
              </a:p>
            </p:txBody>
          </p:sp>
        </mc:Choice>
        <mc:Fallback xmlns="">
          <p:sp>
            <p:nvSpPr>
              <p:cNvPr id="48132" name="Rectangle 3">
                <a:extLst>
                  <a:ext uri="{FF2B5EF4-FFF2-40B4-BE49-F238E27FC236}">
                    <a16:creationId xmlns:a16="http://schemas.microsoft.com/office/drawing/2014/main" id="{B507CA05-5AB4-8774-6380-87931CE7F029}"/>
                  </a:ext>
                </a:extLst>
              </p:cNvPr>
              <p:cNvSpPr>
                <a:spLocks noGrp="1" noRot="1" noChangeAspect="1" noMove="1" noResize="1" noEditPoints="1" noAdjustHandles="1" noChangeArrowheads="1" noChangeShapeType="1" noTextEdit="1"/>
              </p:cNvSpPr>
              <p:nvPr>
                <p:ph type="body" idx="1"/>
              </p:nvPr>
            </p:nvSpPr>
            <p:spPr>
              <a:xfrm>
                <a:off x="611188" y="2017713"/>
                <a:ext cx="8208962" cy="4114800"/>
              </a:xfrm>
              <a:blipFill>
                <a:blip r:embed="rId2"/>
                <a:stretch>
                  <a:fillRect l="-1485" t="-2963" r="-223" b="-741"/>
                </a:stretch>
              </a:blipFill>
            </p:spPr>
            <p:txBody>
              <a:bodyPr/>
              <a:lstStyle/>
              <a:p>
                <a:r>
                  <a:rPr lang="zh-CN"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灯片编号占位符 4">
            <a:extLst>
              <a:ext uri="{FF2B5EF4-FFF2-40B4-BE49-F238E27FC236}">
                <a16:creationId xmlns:a16="http://schemas.microsoft.com/office/drawing/2014/main" id="{34247644-C134-391D-CBE3-9B2F9778F8CD}"/>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8023264E-37C3-4FE4-A3F3-97C4173E7C3B}" type="slidenum">
              <a:rPr lang="zh-CN" altLang="en-US" sz="1400" smtClean="0"/>
              <a:pPr eaLnBrk="0" hangingPunct="0">
                <a:spcBef>
                  <a:spcPct val="0"/>
                </a:spcBef>
                <a:buClrTx/>
                <a:buSzTx/>
                <a:buFontTx/>
                <a:buNone/>
              </a:pPr>
              <a:t>23</a:t>
            </a:fld>
            <a:endParaRPr lang="en-US" altLang="zh-CN" sz="1400"/>
          </a:p>
        </p:txBody>
      </p:sp>
      <p:sp>
        <p:nvSpPr>
          <p:cNvPr id="49155" name="Rectangle 2">
            <a:extLst>
              <a:ext uri="{FF2B5EF4-FFF2-40B4-BE49-F238E27FC236}">
                <a16:creationId xmlns:a16="http://schemas.microsoft.com/office/drawing/2014/main" id="{C95EFE0A-D1FB-7B9F-1A5F-3404BD5BC5AE}"/>
              </a:ext>
            </a:extLst>
          </p:cNvPr>
          <p:cNvSpPr>
            <a:spLocks noGrp="1" noChangeArrowheads="1"/>
          </p:cNvSpPr>
          <p:nvPr>
            <p:ph type="title"/>
          </p:nvPr>
        </p:nvSpPr>
        <p:spPr/>
        <p:txBody>
          <a:bodyPr/>
          <a:lstStyle/>
          <a:p>
            <a:r>
              <a:rPr lang="zh-CN" altLang="en-US" b="1"/>
              <a:t>三、几种常用的数字签名</a:t>
            </a:r>
          </a:p>
        </p:txBody>
      </p:sp>
      <p:sp>
        <p:nvSpPr>
          <p:cNvPr id="49156" name="Rectangle 3">
            <a:extLst>
              <a:ext uri="{FF2B5EF4-FFF2-40B4-BE49-F238E27FC236}">
                <a16:creationId xmlns:a16="http://schemas.microsoft.com/office/drawing/2014/main" id="{9936E72E-8D22-50F9-846A-863438567731}"/>
              </a:ext>
            </a:extLst>
          </p:cNvPr>
          <p:cNvSpPr>
            <a:spLocks noGrp="1" noChangeArrowheads="1"/>
          </p:cNvSpPr>
          <p:nvPr>
            <p:ph type="body" idx="1"/>
          </p:nvPr>
        </p:nvSpPr>
        <p:spPr>
          <a:xfrm>
            <a:off x="1182688" y="2017713"/>
            <a:ext cx="7566025" cy="4114800"/>
          </a:xfrm>
        </p:spPr>
        <p:txBody>
          <a:bodyPr/>
          <a:lstStyle/>
          <a:p>
            <a:pPr>
              <a:buFont typeface="Wingdings" panose="05000000000000000000" pitchFamily="2" charset="2"/>
              <a:buNone/>
            </a:pPr>
            <a:r>
              <a:rPr lang="zh-CN" altLang="en-US" sz="2800">
                <a:latin typeface="Times New Roman" panose="02020603050405020304" pitchFamily="18" charset="0"/>
              </a:rPr>
              <a:t>（</a:t>
            </a:r>
            <a:r>
              <a:rPr lang="en-US" altLang="zh-CN" sz="2800">
                <a:latin typeface="Times New Roman" panose="02020603050405020304" pitchFamily="18" charset="0"/>
              </a:rPr>
              <a:t>1</a:t>
            </a:r>
            <a:r>
              <a:rPr lang="zh-CN" altLang="en-US" sz="2800">
                <a:latin typeface="Times New Roman" panose="02020603050405020304" pitchFamily="18" charset="0"/>
              </a:rPr>
              <a:t>） </a:t>
            </a:r>
            <a:r>
              <a:rPr lang="en-US" altLang="zh-CN" sz="2800">
                <a:latin typeface="Times New Roman" panose="02020603050405020304" pitchFamily="18" charset="0"/>
              </a:rPr>
              <a:t>Alice</a:t>
            </a:r>
            <a:r>
              <a:rPr lang="zh-CN" altLang="en-US" sz="2800">
                <a:latin typeface="Times New Roman" panose="02020603050405020304" pitchFamily="18" charset="0"/>
              </a:rPr>
              <a:t>用</a:t>
            </a:r>
            <a:r>
              <a:rPr lang="en-US" altLang="zh-CN" sz="2800" i="1">
                <a:latin typeface="Times New Roman" panose="02020603050405020304" pitchFamily="18" charset="0"/>
              </a:rPr>
              <a:t>H</a:t>
            </a:r>
            <a:r>
              <a:rPr lang="zh-CN" altLang="en-US" sz="2800">
                <a:latin typeface="Times New Roman" panose="02020603050405020304" pitchFamily="18" charset="0"/>
              </a:rPr>
              <a:t>将消息</a:t>
            </a:r>
            <a:r>
              <a:rPr lang="en-US" altLang="zh-CN" sz="2800" i="1">
                <a:latin typeface="Times New Roman" panose="02020603050405020304" pitchFamily="18" charset="0"/>
              </a:rPr>
              <a:t>m</a:t>
            </a:r>
            <a:r>
              <a:rPr lang="zh-CN" altLang="en-US" sz="2800">
                <a:latin typeface="Times New Roman" panose="02020603050405020304" pitchFamily="18" charset="0"/>
              </a:rPr>
              <a:t>进行处理，得散列值</a:t>
            </a:r>
          </a:p>
          <a:p>
            <a:pPr algn="ctr">
              <a:buFont typeface="Wingdings" panose="05000000000000000000" pitchFamily="2" charset="2"/>
              <a:buNone/>
            </a:pP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zh-CN" altLang="en-US" sz="2800">
                <a:latin typeface="Times New Roman" panose="02020603050405020304" pitchFamily="18" charset="0"/>
              </a:rPr>
              <a:t>。</a:t>
            </a:r>
          </a:p>
          <a:p>
            <a:pPr>
              <a:buFont typeface="Wingdings" panose="05000000000000000000" pitchFamily="2" charset="2"/>
              <a:buNone/>
            </a:pPr>
            <a:r>
              <a:rPr lang="zh-CN" altLang="en-US" sz="2800">
                <a:latin typeface="Times New Roman" panose="02020603050405020304" pitchFamily="18" charset="0"/>
              </a:rPr>
              <a:t>（</a:t>
            </a:r>
            <a:r>
              <a:rPr lang="en-US" altLang="zh-CN" sz="2800">
                <a:latin typeface="Times New Roman" panose="02020603050405020304" pitchFamily="18" charset="0"/>
              </a:rPr>
              <a:t>2</a:t>
            </a:r>
            <a:r>
              <a:rPr lang="zh-CN" altLang="en-US" sz="2800">
                <a:latin typeface="Times New Roman" panose="02020603050405020304" pitchFamily="18" charset="0"/>
              </a:rPr>
              <a:t>） </a:t>
            </a:r>
            <a:r>
              <a:rPr lang="en-US" altLang="zh-CN" sz="2800">
                <a:latin typeface="Times New Roman" panose="02020603050405020304" pitchFamily="18" charset="0"/>
              </a:rPr>
              <a:t>Alice</a:t>
            </a:r>
            <a:r>
              <a:rPr lang="zh-CN" altLang="en-US" sz="2800">
                <a:latin typeface="Times New Roman" panose="02020603050405020304" pitchFamily="18" charset="0"/>
              </a:rPr>
              <a:t>用自己的私钥</a:t>
            </a:r>
            <a:r>
              <a:rPr lang="en-US" altLang="zh-CN" sz="2800" i="1">
                <a:latin typeface="Times New Roman" panose="02020603050405020304" pitchFamily="18" charset="0"/>
              </a:rPr>
              <a:t>d</a:t>
            </a:r>
            <a:r>
              <a:rPr lang="zh-CN" altLang="en-US" sz="2800">
                <a:latin typeface="Times New Roman" panose="02020603050405020304" pitchFamily="18" charset="0"/>
              </a:rPr>
              <a:t>对</a:t>
            </a:r>
            <a:r>
              <a:rPr lang="en-US" altLang="zh-CN" sz="2800" i="1">
                <a:latin typeface="Times New Roman" panose="02020603050405020304" pitchFamily="18" charset="0"/>
              </a:rPr>
              <a:t>h </a:t>
            </a:r>
            <a:r>
              <a:rPr lang="en-US" altLang="zh-CN" sz="2800">
                <a:latin typeface="Times New Roman" panose="02020603050405020304" pitchFamily="18" charset="0"/>
              </a:rPr>
              <a:t>“</a:t>
            </a:r>
            <a:r>
              <a:rPr lang="zh-CN" altLang="en-US" sz="2800">
                <a:latin typeface="Times New Roman" panose="02020603050405020304" pitchFamily="18" charset="0"/>
              </a:rPr>
              <a:t>解密”得</a:t>
            </a:r>
          </a:p>
          <a:p>
            <a:pPr algn="ctr">
              <a:buFont typeface="Wingdings" panose="05000000000000000000" pitchFamily="2" charset="2"/>
              <a:buNone/>
            </a:pPr>
            <a:r>
              <a:rPr lang="en-US" altLang="zh-CN" sz="2800" i="1">
                <a:latin typeface="Times New Roman" panose="02020603050405020304" pitchFamily="18" charset="0"/>
              </a:rPr>
              <a:t>s</a:t>
            </a:r>
            <a:r>
              <a:rPr lang="en-US" altLang="zh-CN" sz="2800">
                <a:latin typeface="Times New Roman" panose="02020603050405020304" pitchFamily="18" charset="0"/>
              </a:rPr>
              <a:t>=</a:t>
            </a:r>
            <a:r>
              <a:rPr lang="en-US" altLang="zh-CN" sz="2800" i="1">
                <a:latin typeface="Times New Roman" panose="02020603050405020304" pitchFamily="18" charset="0"/>
              </a:rPr>
              <a:t>h</a:t>
            </a:r>
            <a:r>
              <a:rPr lang="en-US" altLang="zh-CN" sz="2800" i="1" baseline="30000">
                <a:latin typeface="Times New Roman" panose="02020603050405020304" pitchFamily="18" charset="0"/>
              </a:rPr>
              <a:t>d</a:t>
            </a:r>
            <a:r>
              <a:rPr lang="en-US" altLang="zh-CN" sz="2800">
                <a:latin typeface="Times New Roman" panose="02020603050405020304" pitchFamily="18" charset="0"/>
              </a:rPr>
              <a:t>(mod</a:t>
            </a:r>
            <a:r>
              <a:rPr lang="en-US" altLang="zh-CN" sz="2800" i="1">
                <a:latin typeface="Times New Roman" panose="02020603050405020304" pitchFamily="18" charset="0"/>
              </a:rPr>
              <a:t>n</a:t>
            </a:r>
            <a:r>
              <a:rPr lang="en-US" altLang="zh-CN" sz="2800">
                <a:latin typeface="Times New Roman" panose="02020603050405020304" pitchFamily="18" charset="0"/>
              </a:rPr>
              <a:t>)</a:t>
            </a:r>
            <a:r>
              <a:rPr lang="zh-CN" altLang="en-US" sz="2800">
                <a:latin typeface="Times New Roman" panose="02020603050405020304" pitchFamily="18" charset="0"/>
              </a:rPr>
              <a:t> 。</a:t>
            </a:r>
          </a:p>
          <a:p>
            <a:pPr>
              <a:buFont typeface="Wingdings" panose="05000000000000000000" pitchFamily="2" charset="2"/>
              <a:buNone/>
            </a:pPr>
            <a:r>
              <a:rPr lang="zh-CN" altLang="en-US" sz="2800">
                <a:latin typeface="Times New Roman" panose="02020603050405020304" pitchFamily="18" charset="0"/>
              </a:rPr>
              <a:t>（</a:t>
            </a:r>
            <a:r>
              <a:rPr lang="en-US" altLang="zh-CN" sz="2800">
                <a:latin typeface="Times New Roman" panose="02020603050405020304" pitchFamily="18" charset="0"/>
              </a:rPr>
              <a:t>3</a:t>
            </a:r>
            <a:r>
              <a:rPr lang="zh-CN" altLang="en-US" sz="2800">
                <a:latin typeface="Times New Roman" panose="02020603050405020304" pitchFamily="18" charset="0"/>
              </a:rPr>
              <a:t>） </a:t>
            </a:r>
            <a:r>
              <a:rPr lang="en-US" altLang="zh-CN" sz="2800">
                <a:latin typeface="Times New Roman" panose="02020603050405020304" pitchFamily="18" charset="0"/>
              </a:rPr>
              <a:t>Alice</a:t>
            </a:r>
            <a:r>
              <a:rPr lang="zh-CN" altLang="en-US" sz="2800">
                <a:latin typeface="Times New Roman" panose="02020603050405020304" pitchFamily="18" charset="0"/>
              </a:rPr>
              <a:t>将</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发送给</a:t>
            </a:r>
            <a:r>
              <a:rPr lang="en-US" altLang="zh-CN" sz="2800">
                <a:latin typeface="Times New Roman" panose="02020603050405020304" pitchFamily="18" charset="0"/>
              </a:rPr>
              <a:t>Bob</a:t>
            </a:r>
            <a:r>
              <a:rPr lang="zh-CN" altLang="en-US" sz="2800">
                <a:latin typeface="Times New Roman" panose="02020603050405020304" pitchFamily="18" charset="0"/>
              </a:rPr>
              <a:t>。</a:t>
            </a:r>
          </a:p>
          <a:p>
            <a:pPr>
              <a:buFont typeface="Wingdings" panose="05000000000000000000" pitchFamily="2" charset="2"/>
              <a:buNone/>
            </a:pPr>
            <a:r>
              <a:rPr lang="zh-CN" altLang="en-US" sz="2800">
                <a:latin typeface="Times New Roman" panose="02020603050405020304" pitchFamily="18" charset="0"/>
              </a:rPr>
              <a:t>（</a:t>
            </a:r>
            <a:r>
              <a:rPr lang="en-US" altLang="zh-CN" sz="2800">
                <a:latin typeface="Times New Roman" panose="02020603050405020304" pitchFamily="18" charset="0"/>
              </a:rPr>
              <a:t>4</a:t>
            </a:r>
            <a:r>
              <a:rPr lang="zh-CN" altLang="en-US" sz="2800">
                <a:latin typeface="Times New Roman" panose="02020603050405020304" pitchFamily="18" charset="0"/>
              </a:rPr>
              <a:t>） </a:t>
            </a:r>
            <a:r>
              <a:rPr lang="en-US" altLang="zh-CN" sz="2800">
                <a:latin typeface="Times New Roman" panose="02020603050405020304" pitchFamily="18" charset="0"/>
              </a:rPr>
              <a:t>Bob</a:t>
            </a:r>
            <a:r>
              <a:rPr lang="zh-CN" altLang="en-US" sz="2800">
                <a:latin typeface="Times New Roman" panose="02020603050405020304" pitchFamily="18" charset="0"/>
              </a:rPr>
              <a:t>用</a:t>
            </a:r>
            <a:r>
              <a:rPr lang="en-US" altLang="zh-CN" sz="2800">
                <a:latin typeface="Times New Roman" panose="02020603050405020304" pitchFamily="18" charset="0"/>
              </a:rPr>
              <a:t>Alice</a:t>
            </a:r>
            <a:r>
              <a:rPr lang="zh-CN" altLang="en-US" sz="2800">
                <a:latin typeface="Times New Roman" panose="02020603050405020304" pitchFamily="18" charset="0"/>
              </a:rPr>
              <a:t>的公钥</a:t>
            </a:r>
            <a:r>
              <a:rPr lang="en-US" altLang="zh-CN" sz="2800" i="1">
                <a:latin typeface="Times New Roman" panose="02020603050405020304" pitchFamily="18" charset="0"/>
              </a:rPr>
              <a:t>e</a:t>
            </a:r>
            <a:r>
              <a:rPr lang="zh-CN" altLang="en-US" sz="2800">
                <a:latin typeface="Times New Roman" panose="02020603050405020304" pitchFamily="18" charset="0"/>
              </a:rPr>
              <a:t>，检验是否</a:t>
            </a:r>
          </a:p>
          <a:p>
            <a:pPr algn="ctr">
              <a:buFont typeface="Wingdings" panose="05000000000000000000" pitchFamily="2" charset="2"/>
              <a:buNone/>
            </a:pP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en-US" altLang="zh-CN" sz="2800">
                <a:latin typeface="Times New Roman" panose="02020603050405020304" pitchFamily="18" charset="0"/>
              </a:rPr>
              <a:t>)= </a:t>
            </a:r>
            <a:r>
              <a:rPr lang="en-US" altLang="zh-CN" sz="2800" i="1">
                <a:latin typeface="Times New Roman" panose="02020603050405020304" pitchFamily="18" charset="0"/>
              </a:rPr>
              <a:t>s</a:t>
            </a:r>
            <a:r>
              <a:rPr lang="en-US" altLang="zh-CN" sz="2800" i="1" baseline="30000">
                <a:latin typeface="Times New Roman" panose="02020603050405020304" pitchFamily="18" charset="0"/>
              </a:rPr>
              <a:t>e</a:t>
            </a:r>
            <a:r>
              <a:rPr lang="en-US" altLang="zh-CN" sz="2800">
                <a:latin typeface="Times New Roman" panose="02020603050405020304" pitchFamily="18" charset="0"/>
              </a:rPr>
              <a:t>(mod</a:t>
            </a:r>
            <a:r>
              <a:rPr lang="en-US" altLang="zh-CN" sz="2800" i="1">
                <a:latin typeface="Times New Roman" panose="02020603050405020304" pitchFamily="18" charset="0"/>
              </a:rPr>
              <a:t>n</a:t>
            </a:r>
            <a:r>
              <a:rPr lang="en-US" altLang="zh-CN" sz="2800">
                <a:latin typeface="Times New Roman" panose="02020603050405020304" pitchFamily="18" charset="0"/>
              </a:rPr>
              <a:t>)</a:t>
            </a:r>
            <a:r>
              <a:rPr lang="zh-CN" altLang="en-US" sz="2800">
                <a:latin typeface="Times New Roman" panose="02020603050405020304" pitchFamily="18" charset="0"/>
              </a:rPr>
              <a:t>。</a:t>
            </a:r>
          </a:p>
          <a:p>
            <a:pPr>
              <a:buFont typeface="Wingdings" panose="05000000000000000000" pitchFamily="2" charset="2"/>
              <a:buNone/>
            </a:pPr>
            <a:r>
              <a:rPr lang="zh-CN" altLang="en-US" sz="2800">
                <a:latin typeface="Times New Roman" panose="02020603050405020304" pitchFamily="18" charset="0"/>
              </a:rPr>
              <a:t>若是则</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是</a:t>
            </a:r>
            <a:r>
              <a:rPr lang="en-US" altLang="zh-CN" sz="2800">
                <a:latin typeface="Times New Roman" panose="02020603050405020304" pitchFamily="18" charset="0"/>
              </a:rPr>
              <a:t>Alice</a:t>
            </a:r>
            <a:r>
              <a:rPr lang="zh-CN" altLang="en-US" sz="2800">
                <a:latin typeface="Times New Roman" panose="02020603050405020304" pitchFamily="18" charset="0"/>
              </a:rPr>
              <a:t>发送的签名消息。</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灯片编号占位符 4">
            <a:extLst>
              <a:ext uri="{FF2B5EF4-FFF2-40B4-BE49-F238E27FC236}">
                <a16:creationId xmlns:a16="http://schemas.microsoft.com/office/drawing/2014/main" id="{2BF5762A-FF56-ED39-C603-DBCFBCBCC3A0}"/>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72EF4246-CBC6-46D9-9B01-468B710FEDA2}" type="slidenum">
              <a:rPr lang="zh-CN" altLang="en-US" sz="1400" smtClean="0"/>
              <a:pPr eaLnBrk="0" hangingPunct="0">
                <a:spcBef>
                  <a:spcPct val="0"/>
                </a:spcBef>
                <a:buClrTx/>
                <a:buSzTx/>
                <a:buFontTx/>
                <a:buNone/>
              </a:pPr>
              <a:t>24</a:t>
            </a:fld>
            <a:endParaRPr lang="en-US" altLang="zh-CN" sz="1400"/>
          </a:p>
        </p:txBody>
      </p:sp>
      <p:sp>
        <p:nvSpPr>
          <p:cNvPr id="50179" name="Rectangle 2">
            <a:extLst>
              <a:ext uri="{FF2B5EF4-FFF2-40B4-BE49-F238E27FC236}">
                <a16:creationId xmlns:a16="http://schemas.microsoft.com/office/drawing/2014/main" id="{E3225E01-1D6D-9ED0-7CD3-FE645C1134C3}"/>
              </a:ext>
            </a:extLst>
          </p:cNvPr>
          <p:cNvSpPr>
            <a:spLocks noGrp="1" noChangeArrowheads="1"/>
          </p:cNvSpPr>
          <p:nvPr>
            <p:ph type="title"/>
          </p:nvPr>
        </p:nvSpPr>
        <p:spPr/>
        <p:txBody>
          <a:bodyPr/>
          <a:lstStyle/>
          <a:p>
            <a:r>
              <a:rPr lang="zh-CN" altLang="en-US" b="1"/>
              <a:t>三、几种常用的数字签名</a:t>
            </a:r>
          </a:p>
        </p:txBody>
      </p:sp>
      <mc:AlternateContent xmlns:mc="http://schemas.openxmlformats.org/markup-compatibility/2006">
        <mc:Choice xmlns:a14="http://schemas.microsoft.com/office/drawing/2010/main" Requires="a14">
          <p:sp>
            <p:nvSpPr>
              <p:cNvPr id="50180" name="Rectangle 3">
                <a:extLst>
                  <a:ext uri="{FF2B5EF4-FFF2-40B4-BE49-F238E27FC236}">
                    <a16:creationId xmlns:a16="http://schemas.microsoft.com/office/drawing/2014/main" id="{17420BE6-AFBF-3828-DA7D-92A64DACCE25}"/>
                  </a:ext>
                </a:extLst>
              </p:cNvPr>
              <p:cNvSpPr>
                <a:spLocks noGrp="1" noChangeArrowheads="1"/>
              </p:cNvSpPr>
              <p:nvPr>
                <p:ph type="body" idx="1"/>
              </p:nvPr>
            </p:nvSpPr>
            <p:spPr>
              <a:xfrm>
                <a:off x="755650" y="2017713"/>
                <a:ext cx="8064500" cy="4114800"/>
              </a:xfrm>
            </p:spPr>
            <p:txBody>
              <a:bodyPr/>
              <a:lstStyle/>
              <a:p>
                <a:pPr algn="ctr">
                  <a:buFont typeface="Wingdings" panose="05000000000000000000" pitchFamily="2" charset="2"/>
                  <a:buNone/>
                </a:pPr>
                <a:r>
                  <a:rPr lang="en-US" altLang="zh-CN" sz="3600" b="1" dirty="0">
                    <a:latin typeface="Times New Roman" panose="02020603050405020304" pitchFamily="18" charset="0"/>
                    <a:ea typeface="黑体" panose="02010609060101010101" pitchFamily="49" charset="-122"/>
                  </a:rPr>
                  <a:t>ElGamal</a:t>
                </a:r>
                <a:r>
                  <a:rPr lang="zh-CN" altLang="en-US" sz="3600" b="1" dirty="0">
                    <a:latin typeface="Times New Roman" panose="02020603050405020304" pitchFamily="18" charset="0"/>
                    <a:ea typeface="黑体" panose="02010609060101010101" pitchFamily="49" charset="-122"/>
                  </a:rPr>
                  <a:t>数字签名</a:t>
                </a:r>
              </a:p>
              <a:p>
                <a:pPr algn="ctr">
                  <a:buFont typeface="Wingdings" panose="05000000000000000000" pitchFamily="2" charset="2"/>
                  <a:buNone/>
                </a:pPr>
                <a:endParaRPr lang="zh-CN" altLang="en-US" sz="2800" b="1" dirty="0">
                  <a:latin typeface="Times New Roman" panose="02020603050405020304" pitchFamily="18" charset="0"/>
                  <a:ea typeface="黑体" panose="02010609060101010101" pitchFamily="49" charset="-122"/>
                </a:endParaRPr>
              </a:p>
              <a:p>
                <a:pPr>
                  <a:buFont typeface="Wingdings" panose="05000000000000000000" pitchFamily="2" charset="2"/>
                  <a:buNone/>
                </a:pPr>
                <a:r>
                  <a:rPr lang="en-US" altLang="zh-CN" sz="2800" dirty="0" err="1">
                    <a:latin typeface="Times New Roman" panose="02020603050405020304" pitchFamily="18" charset="0"/>
                  </a:rPr>
                  <a:t>ElGamal</a:t>
                </a:r>
                <a:r>
                  <a:rPr lang="zh-CN" altLang="en-US" sz="2800" dirty="0">
                    <a:latin typeface="Times New Roman" panose="02020603050405020304" pitchFamily="18" charset="0"/>
                  </a:rPr>
                  <a:t>的密钥生成：选择一个大的素数</a:t>
                </a:r>
                <a:r>
                  <a:rPr lang="en-US" altLang="zh-CN" sz="2800" i="1" dirty="0">
                    <a:latin typeface="Times New Roman" panose="02020603050405020304" pitchFamily="18" charset="0"/>
                  </a:rPr>
                  <a:t>p</a:t>
                </a:r>
                <a:r>
                  <a:rPr lang="zh-CN" altLang="en-US" sz="2800" dirty="0">
                    <a:latin typeface="Times New Roman" panose="02020603050405020304" pitchFamily="18" charset="0"/>
                  </a:rPr>
                  <a:t>。选择</a:t>
                </a:r>
                <a:r>
                  <a:rPr lang="en-US" altLang="zh-CN" sz="2800" i="1" dirty="0">
                    <a:latin typeface="Times New Roman" panose="02020603050405020304" pitchFamily="18" charset="0"/>
                  </a:rPr>
                  <a:t>g</a:t>
                </a:r>
                <a:r>
                  <a:rPr lang="zh-CN" altLang="en-US" sz="2800" dirty="0">
                    <a:latin typeface="Times New Roman" panose="02020603050405020304" pitchFamily="18" charset="0"/>
                  </a:rPr>
                  <a:t>为域</a:t>
                </a:r>
                <a:r>
                  <a:rPr lang="en-US" altLang="zh-CN" sz="2800" i="1" dirty="0">
                    <a:latin typeface="Times New Roman" panose="02020603050405020304" pitchFamily="18" charset="0"/>
                  </a:rPr>
                  <a:t>GF</a:t>
                </a:r>
                <a:r>
                  <a:rPr lang="en-US" altLang="zh-CN" sz="2800" dirty="0">
                    <a:latin typeface="Times New Roman" panose="02020603050405020304" pitchFamily="18" charset="0"/>
                  </a:rPr>
                  <a:t>(</a:t>
                </a:r>
                <a:r>
                  <a:rPr lang="en-US" altLang="zh-CN" sz="2800" i="1" dirty="0">
                    <a:latin typeface="Times New Roman" panose="02020603050405020304" pitchFamily="18" charset="0"/>
                  </a:rPr>
                  <a:t>p</a:t>
                </a:r>
                <a:r>
                  <a:rPr lang="en-US" altLang="zh-CN" sz="2800" dirty="0">
                    <a:latin typeface="Times New Roman" panose="02020603050405020304" pitchFamily="18" charset="0"/>
                  </a:rPr>
                  <a:t>)</a:t>
                </a:r>
                <a:r>
                  <a:rPr lang="zh-CN" altLang="en-US" sz="2800" dirty="0">
                    <a:latin typeface="Times New Roman" panose="02020603050405020304" pitchFamily="18" charset="0"/>
                  </a:rPr>
                  <a:t>的本原根。选择正整数</a:t>
                </a:r>
                <a14:m>
                  <m:oMath xmlns:m="http://schemas.openxmlformats.org/officeDocument/2006/math">
                    <m:r>
                      <a:rPr lang="en-US" altLang="zh-CN" sz="2800" b="0" i="1" smtClean="0">
                        <a:latin typeface="Cambria Math" panose="02040503050406030204" pitchFamily="18" charset="0"/>
                      </a:rPr>
                      <m:t>𝑥</m:t>
                    </m:r>
                    <m:r>
                      <a:rPr lang="en-US" altLang="zh-CN" sz="2800" b="0" i="1" smtClean="0">
                        <a:latin typeface="Cambria Math" panose="02040503050406030204" pitchFamily="18" charset="0"/>
                      </a:rPr>
                      <m:t>∈[1,</m:t>
                    </m:r>
                    <m:r>
                      <a:rPr lang="en-US" altLang="zh-CN" sz="2800" b="0" i="1" smtClean="0">
                        <a:latin typeface="Cambria Math" panose="02040503050406030204" pitchFamily="18" charset="0"/>
                      </a:rPr>
                      <m:t>𝑝</m:t>
                    </m:r>
                    <m:r>
                      <a:rPr lang="en-US" altLang="zh-CN" sz="2800" b="0" i="1" smtClean="0">
                        <a:latin typeface="Cambria Math" panose="02040503050406030204" pitchFamily="18" charset="0"/>
                      </a:rPr>
                      <m:t>−2]</m:t>
                    </m:r>
                  </m:oMath>
                </a14:m>
                <a:r>
                  <a:rPr lang="zh-CN" altLang="en-US" sz="2800" dirty="0">
                    <a:latin typeface="Times New Roman" panose="02020603050405020304" pitchFamily="18" charset="0"/>
                  </a:rPr>
                  <a:t>。计算</a:t>
                </a:r>
                <a:r>
                  <a:rPr lang="en-US" altLang="zh-CN" sz="2800" i="1" dirty="0">
                    <a:latin typeface="Times New Roman" panose="02020603050405020304" pitchFamily="18" charset="0"/>
                  </a:rPr>
                  <a:t>y=</a:t>
                </a:r>
                <a:r>
                  <a:rPr lang="en-US" altLang="zh-CN" sz="2800" i="1" dirty="0" err="1">
                    <a:latin typeface="Times New Roman" panose="02020603050405020304" pitchFamily="18" charset="0"/>
                  </a:rPr>
                  <a:t>g</a:t>
                </a:r>
                <a:r>
                  <a:rPr lang="en-US" altLang="zh-CN" sz="2800" i="1" baseline="30000" dirty="0" err="1">
                    <a:latin typeface="Times New Roman" panose="02020603050405020304" pitchFamily="18" charset="0"/>
                  </a:rPr>
                  <a:t>x</a:t>
                </a:r>
                <a:r>
                  <a:rPr lang="en-US" altLang="zh-CN" sz="2800" dirty="0">
                    <a:latin typeface="Times New Roman" panose="02020603050405020304" pitchFamily="18" charset="0"/>
                  </a:rPr>
                  <a:t>(mod </a:t>
                </a:r>
                <a:r>
                  <a:rPr lang="en-US" altLang="zh-CN" sz="2800" i="1" dirty="0">
                    <a:latin typeface="Times New Roman" panose="02020603050405020304" pitchFamily="18" charset="0"/>
                  </a:rPr>
                  <a:t>p</a:t>
                </a:r>
                <a:r>
                  <a:rPr lang="en-US" altLang="zh-CN" sz="2800" dirty="0">
                    <a:latin typeface="Times New Roman" panose="02020603050405020304" pitchFamily="18" charset="0"/>
                  </a:rPr>
                  <a:t>)</a:t>
                </a:r>
                <a:r>
                  <a:rPr lang="zh-CN" altLang="en-US" sz="2800" dirty="0">
                    <a:latin typeface="Times New Roman" panose="02020603050405020304" pitchFamily="18" charset="0"/>
                  </a:rPr>
                  <a:t>。</a:t>
                </a:r>
              </a:p>
              <a:p>
                <a:pPr>
                  <a:buFont typeface="Wingdings" panose="05000000000000000000" pitchFamily="2" charset="2"/>
                  <a:buNone/>
                </a:pPr>
                <a:r>
                  <a:rPr lang="en-US" altLang="zh-CN" sz="2800" dirty="0">
                    <a:latin typeface="Times New Roman" panose="02020603050405020304" pitchFamily="18" charset="0"/>
                  </a:rPr>
                  <a:t>Alice</a:t>
                </a:r>
                <a:r>
                  <a:rPr lang="zh-CN" altLang="en-US" sz="2800" dirty="0">
                    <a:latin typeface="Times New Roman" panose="02020603050405020304" pitchFamily="18" charset="0"/>
                  </a:rPr>
                  <a:t>的公钥是（</a:t>
                </a:r>
                <a:r>
                  <a:rPr lang="en-US" altLang="zh-CN" sz="2800" i="1" dirty="0">
                    <a:latin typeface="Times New Roman" panose="02020603050405020304" pitchFamily="18" charset="0"/>
                  </a:rPr>
                  <a:t>p</a:t>
                </a:r>
                <a:r>
                  <a:rPr lang="zh-CN" altLang="en-US" sz="2800" dirty="0">
                    <a:latin typeface="Times New Roman" panose="02020603050405020304" pitchFamily="18" charset="0"/>
                  </a:rPr>
                  <a:t>，</a:t>
                </a:r>
                <a:r>
                  <a:rPr lang="en-US" altLang="zh-CN" sz="2800" i="1" dirty="0">
                    <a:latin typeface="Times New Roman" panose="02020603050405020304" pitchFamily="18" charset="0"/>
                  </a:rPr>
                  <a:t>g</a:t>
                </a:r>
                <a:r>
                  <a:rPr lang="zh-CN" altLang="en-US" sz="2800" dirty="0">
                    <a:latin typeface="Times New Roman" panose="02020603050405020304" pitchFamily="18" charset="0"/>
                  </a:rPr>
                  <a:t>，</a:t>
                </a:r>
                <a:r>
                  <a:rPr lang="en-US" altLang="zh-CN" sz="2800" i="1" dirty="0">
                    <a:latin typeface="Times New Roman" panose="02020603050405020304" pitchFamily="18" charset="0"/>
                  </a:rPr>
                  <a:t>y</a:t>
                </a:r>
                <a:r>
                  <a:rPr lang="zh-CN" altLang="en-US" sz="2800" dirty="0">
                    <a:latin typeface="Times New Roman" panose="02020603050405020304" pitchFamily="18" charset="0"/>
                  </a:rPr>
                  <a:t>），私钥是</a:t>
                </a:r>
                <a:r>
                  <a:rPr lang="en-US" altLang="zh-CN" sz="2800" i="1" dirty="0">
                    <a:latin typeface="Times New Roman" panose="02020603050405020304" pitchFamily="18" charset="0"/>
                  </a:rPr>
                  <a:t>x</a:t>
                </a:r>
                <a:r>
                  <a:rPr lang="zh-CN" altLang="en-US" sz="2800" dirty="0">
                    <a:latin typeface="Times New Roman" panose="02020603050405020304" pitchFamily="18" charset="0"/>
                  </a:rPr>
                  <a:t>。</a:t>
                </a:r>
              </a:p>
              <a:p>
                <a:pPr>
                  <a:buFont typeface="Wingdings" panose="05000000000000000000" pitchFamily="2" charset="2"/>
                  <a:buNone/>
                </a:pPr>
                <a:r>
                  <a:rPr lang="zh-CN" altLang="en-US" sz="2800" dirty="0">
                    <a:latin typeface="Times New Roman" panose="02020603050405020304" pitchFamily="18" charset="0"/>
                  </a:rPr>
                  <a:t>签名方案是上述的签名方案</a:t>
                </a:r>
                <a:r>
                  <a:rPr lang="en-US" altLang="zh-CN" sz="2800" dirty="0">
                    <a:latin typeface="Times New Roman" panose="02020603050405020304" pitchFamily="18" charset="0"/>
                  </a:rPr>
                  <a:t>(</a:t>
                </a:r>
                <a:r>
                  <a:rPr lang="zh-CN" altLang="en-US" sz="2800" dirty="0">
                    <a:latin typeface="Times New Roman" panose="02020603050405020304" pitchFamily="18" charset="0"/>
                  </a:rPr>
                  <a:t>二</a:t>
                </a:r>
                <a:r>
                  <a:rPr lang="en-US" altLang="zh-CN" sz="2800" dirty="0">
                    <a:latin typeface="Times New Roman" panose="02020603050405020304" pitchFamily="18" charset="0"/>
                  </a:rPr>
                  <a:t>)</a:t>
                </a:r>
                <a:r>
                  <a:rPr lang="zh-CN" altLang="en-US" sz="2800" dirty="0">
                    <a:latin typeface="Times New Roman" panose="02020603050405020304" pitchFamily="18" charset="0"/>
                  </a:rPr>
                  <a:t>，额外使用一个公开的杂凑函数</a:t>
                </a:r>
                <a:r>
                  <a:rPr lang="en-US" altLang="zh-CN" sz="2800" i="1" dirty="0">
                    <a:latin typeface="Times New Roman" panose="02020603050405020304" pitchFamily="18" charset="0"/>
                  </a:rPr>
                  <a:t>H</a:t>
                </a:r>
                <a:r>
                  <a:rPr lang="zh-CN" altLang="en-US" sz="2800" dirty="0">
                    <a:latin typeface="Times New Roman" panose="02020603050405020304" pitchFamily="18" charset="0"/>
                  </a:rPr>
                  <a:t>。设</a:t>
                </a:r>
                <a:r>
                  <a:rPr lang="en-US" altLang="zh-CN" sz="2800" dirty="0">
                    <a:latin typeface="Times New Roman" panose="02020603050405020304" pitchFamily="18" charset="0"/>
                  </a:rPr>
                  <a:t>Alice</a:t>
                </a:r>
                <a:r>
                  <a:rPr lang="zh-CN" altLang="en-US" sz="2800" dirty="0">
                    <a:latin typeface="Times New Roman" panose="02020603050405020304" pitchFamily="18" charset="0"/>
                  </a:rPr>
                  <a:t>欲发消息</a:t>
                </a:r>
                <a:r>
                  <a:rPr lang="en-US" altLang="zh-CN" sz="2800" i="1" dirty="0">
                    <a:latin typeface="Times New Roman" panose="02020603050405020304" pitchFamily="18" charset="0"/>
                  </a:rPr>
                  <a:t>m</a:t>
                </a:r>
                <a:r>
                  <a:rPr lang="zh-CN" altLang="en-US" sz="2800" dirty="0">
                    <a:latin typeface="Times New Roman" panose="02020603050405020304" pitchFamily="18" charset="0"/>
                  </a:rPr>
                  <a:t>给</a:t>
                </a:r>
                <a:r>
                  <a:rPr lang="en-US" altLang="zh-CN" sz="2800" dirty="0">
                    <a:latin typeface="Times New Roman" panose="02020603050405020304" pitchFamily="18" charset="0"/>
                  </a:rPr>
                  <a:t>Bob</a:t>
                </a:r>
                <a:r>
                  <a:rPr lang="zh-CN" altLang="en-US" sz="2800" dirty="0">
                    <a:latin typeface="Times New Roman" panose="02020603050405020304" pitchFamily="18" charset="0"/>
                  </a:rPr>
                  <a:t>。</a:t>
                </a:r>
              </a:p>
            </p:txBody>
          </p:sp>
        </mc:Choice>
        <mc:Fallback>
          <p:sp>
            <p:nvSpPr>
              <p:cNvPr id="50180" name="Rectangle 3">
                <a:extLst>
                  <a:ext uri="{FF2B5EF4-FFF2-40B4-BE49-F238E27FC236}">
                    <a16:creationId xmlns:a16="http://schemas.microsoft.com/office/drawing/2014/main" id="{17420BE6-AFBF-3828-DA7D-92A64DACCE25}"/>
                  </a:ext>
                </a:extLst>
              </p:cNvPr>
              <p:cNvSpPr>
                <a:spLocks noGrp="1" noRot="1" noChangeAspect="1" noMove="1" noResize="1" noEditPoints="1" noAdjustHandles="1" noChangeArrowheads="1" noChangeShapeType="1" noTextEdit="1"/>
              </p:cNvSpPr>
              <p:nvPr>
                <p:ph type="body" idx="1"/>
              </p:nvPr>
            </p:nvSpPr>
            <p:spPr>
              <a:xfrm>
                <a:off x="755650" y="2017713"/>
                <a:ext cx="8064500" cy="4114800"/>
              </a:xfrm>
              <a:blipFill>
                <a:blip r:embed="rId2"/>
                <a:stretch>
                  <a:fillRect l="-1587" t="-2963" r="-983" b="-741"/>
                </a:stretch>
              </a:blipFill>
            </p:spPr>
            <p:txBody>
              <a:bodyPr/>
              <a:lstStyle/>
              <a:p>
                <a:r>
                  <a:rPr lang="zh-CN"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灯片编号占位符 4">
            <a:extLst>
              <a:ext uri="{FF2B5EF4-FFF2-40B4-BE49-F238E27FC236}">
                <a16:creationId xmlns:a16="http://schemas.microsoft.com/office/drawing/2014/main" id="{C55652F4-53DF-EE00-A0EE-9E10BC7AC166}"/>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2F532E4C-E472-4825-94A2-90EA35581408}" type="slidenum">
              <a:rPr lang="zh-CN" altLang="en-US" sz="1400" smtClean="0"/>
              <a:pPr eaLnBrk="0" hangingPunct="0">
                <a:spcBef>
                  <a:spcPct val="0"/>
                </a:spcBef>
                <a:buClrTx/>
                <a:buSzTx/>
                <a:buFontTx/>
                <a:buNone/>
              </a:pPr>
              <a:t>25</a:t>
            </a:fld>
            <a:endParaRPr lang="en-US" altLang="zh-CN" sz="1400"/>
          </a:p>
        </p:txBody>
      </p:sp>
      <p:sp>
        <p:nvSpPr>
          <p:cNvPr id="51203" name="Rectangle 2">
            <a:extLst>
              <a:ext uri="{FF2B5EF4-FFF2-40B4-BE49-F238E27FC236}">
                <a16:creationId xmlns:a16="http://schemas.microsoft.com/office/drawing/2014/main" id="{F3EBCEF2-8F6F-8342-75D1-82B9E3F4C09C}"/>
              </a:ext>
            </a:extLst>
          </p:cNvPr>
          <p:cNvSpPr>
            <a:spLocks noGrp="1" noChangeArrowheads="1"/>
          </p:cNvSpPr>
          <p:nvPr>
            <p:ph type="title"/>
          </p:nvPr>
        </p:nvSpPr>
        <p:spPr/>
        <p:txBody>
          <a:bodyPr/>
          <a:lstStyle/>
          <a:p>
            <a:r>
              <a:rPr lang="zh-CN" altLang="en-US" b="1"/>
              <a:t>三、几种常用的数字签名</a:t>
            </a:r>
          </a:p>
        </p:txBody>
      </p:sp>
      <p:sp>
        <p:nvSpPr>
          <p:cNvPr id="51204" name="Rectangle 3">
            <a:extLst>
              <a:ext uri="{FF2B5EF4-FFF2-40B4-BE49-F238E27FC236}">
                <a16:creationId xmlns:a16="http://schemas.microsoft.com/office/drawing/2014/main" id="{1D773AF7-214C-8B29-0586-FCC852DC8DE0}"/>
              </a:ext>
            </a:extLst>
          </p:cNvPr>
          <p:cNvSpPr>
            <a:spLocks noGrp="1" noChangeArrowheads="1"/>
          </p:cNvSpPr>
          <p:nvPr>
            <p:ph type="body" idx="1"/>
          </p:nvPr>
        </p:nvSpPr>
        <p:spPr>
          <a:xfrm>
            <a:off x="395288" y="2017713"/>
            <a:ext cx="8569325" cy="4364037"/>
          </a:xfrm>
        </p:spPr>
        <p:txBody>
          <a:bodyPr/>
          <a:lstStyle/>
          <a:p>
            <a:pPr>
              <a:lnSpc>
                <a:spcPct val="80000"/>
              </a:lnSpc>
              <a:buFont typeface="Wingdings" panose="05000000000000000000" pitchFamily="2" charset="2"/>
              <a:buNone/>
            </a:pPr>
            <a:r>
              <a:rPr lang="zh-CN" altLang="en-US" sz="2800">
                <a:latin typeface="Times New Roman" panose="02020603050405020304" pitchFamily="18" charset="0"/>
              </a:rPr>
              <a:t>（</a:t>
            </a:r>
            <a:r>
              <a:rPr lang="en-US" altLang="zh-CN" sz="2800">
                <a:latin typeface="Times New Roman" panose="02020603050405020304" pitchFamily="18" charset="0"/>
              </a:rPr>
              <a:t>1</a:t>
            </a:r>
            <a:r>
              <a:rPr lang="zh-CN" altLang="en-US" sz="2800">
                <a:latin typeface="Times New Roman" panose="02020603050405020304" pitchFamily="18" charset="0"/>
              </a:rPr>
              <a:t>） </a:t>
            </a:r>
            <a:r>
              <a:rPr lang="en-US" altLang="zh-CN" sz="2800">
                <a:latin typeface="Times New Roman" panose="02020603050405020304" pitchFamily="18" charset="0"/>
              </a:rPr>
              <a:t>Alice</a:t>
            </a:r>
            <a:r>
              <a:rPr lang="zh-CN" altLang="en-US" sz="2800">
                <a:latin typeface="Times New Roman" panose="02020603050405020304" pitchFamily="18" charset="0"/>
              </a:rPr>
              <a:t>用</a:t>
            </a:r>
            <a:r>
              <a:rPr lang="en-US" altLang="zh-CN" sz="2800" i="1">
                <a:latin typeface="Times New Roman" panose="02020603050405020304" pitchFamily="18" charset="0"/>
              </a:rPr>
              <a:t>H</a:t>
            </a:r>
            <a:r>
              <a:rPr lang="zh-CN" altLang="en-US" sz="2800">
                <a:latin typeface="Times New Roman" panose="02020603050405020304" pitchFamily="18" charset="0"/>
              </a:rPr>
              <a:t>将消息</a:t>
            </a:r>
            <a:r>
              <a:rPr lang="en-US" altLang="zh-CN" sz="2800" i="1">
                <a:latin typeface="Times New Roman" panose="02020603050405020304" pitchFamily="18" charset="0"/>
              </a:rPr>
              <a:t>m</a:t>
            </a:r>
            <a:r>
              <a:rPr lang="zh-CN" altLang="en-US" sz="2800">
                <a:latin typeface="Times New Roman" panose="02020603050405020304" pitchFamily="18" charset="0"/>
              </a:rPr>
              <a:t>进行处理，得</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zh-CN" altLang="en-US" sz="2800">
                <a:latin typeface="Times New Roman" panose="02020603050405020304" pitchFamily="18" charset="0"/>
              </a:rPr>
              <a:t>。</a:t>
            </a:r>
          </a:p>
          <a:p>
            <a:pPr>
              <a:lnSpc>
                <a:spcPct val="80000"/>
              </a:lnSpc>
              <a:buFont typeface="Wingdings" panose="05000000000000000000" pitchFamily="2" charset="2"/>
              <a:buNone/>
            </a:pPr>
            <a:r>
              <a:rPr lang="zh-CN" altLang="en-US" sz="2800">
                <a:latin typeface="Times New Roman" panose="02020603050405020304" pitchFamily="18" charset="0"/>
              </a:rPr>
              <a:t>（</a:t>
            </a:r>
            <a:r>
              <a:rPr lang="en-US" altLang="zh-CN" sz="2800">
                <a:latin typeface="Times New Roman" panose="02020603050405020304" pitchFamily="18" charset="0"/>
              </a:rPr>
              <a:t>2</a:t>
            </a:r>
            <a:r>
              <a:rPr lang="zh-CN" altLang="en-US" sz="2800">
                <a:latin typeface="Times New Roman" panose="02020603050405020304" pitchFamily="18" charset="0"/>
              </a:rPr>
              <a:t>） </a:t>
            </a:r>
            <a:r>
              <a:rPr lang="en-US" altLang="zh-CN" sz="2800">
                <a:latin typeface="Times New Roman" panose="02020603050405020304" pitchFamily="18" charset="0"/>
              </a:rPr>
              <a:t>Alice</a:t>
            </a:r>
            <a:r>
              <a:rPr lang="zh-CN" altLang="en-US" sz="2800">
                <a:latin typeface="Times New Roman" panose="02020603050405020304" pitchFamily="18" charset="0"/>
              </a:rPr>
              <a:t>选择秘密随机数</a:t>
            </a:r>
            <a:r>
              <a:rPr lang="en-US" altLang="zh-CN" sz="2800" i="1">
                <a:latin typeface="Times New Roman" panose="02020603050405020304" pitchFamily="18" charset="0"/>
              </a:rPr>
              <a:t>k</a:t>
            </a:r>
            <a:r>
              <a:rPr lang="zh-CN" altLang="en-US" sz="2800">
                <a:latin typeface="Times New Roman" panose="02020603050405020304" pitchFamily="18" charset="0"/>
              </a:rPr>
              <a:t>，满足</a:t>
            </a:r>
          </a:p>
          <a:p>
            <a:pPr algn="ctr">
              <a:lnSpc>
                <a:spcPct val="80000"/>
              </a:lnSpc>
              <a:buFont typeface="Wingdings" panose="05000000000000000000" pitchFamily="2" charset="2"/>
              <a:buNone/>
            </a:pPr>
            <a:r>
              <a:rPr lang="en-US" altLang="zh-CN" sz="2800">
                <a:latin typeface="Times New Roman" panose="02020603050405020304" pitchFamily="18" charset="0"/>
              </a:rPr>
              <a:t>0&lt;</a:t>
            </a:r>
            <a:r>
              <a:rPr lang="en-US" altLang="zh-CN" sz="2800" i="1">
                <a:latin typeface="Times New Roman" panose="02020603050405020304" pitchFamily="18" charset="0"/>
              </a:rPr>
              <a:t>k</a:t>
            </a:r>
            <a:r>
              <a:rPr lang="en-US" altLang="zh-CN" sz="2800">
                <a:latin typeface="Times New Roman" panose="02020603050405020304" pitchFamily="18" charset="0"/>
              </a:rPr>
              <a:t>&lt;</a:t>
            </a:r>
            <a:r>
              <a:rPr lang="en-US" altLang="zh-CN" sz="2800" i="1">
                <a:latin typeface="Times New Roman" panose="02020603050405020304" pitchFamily="18" charset="0"/>
              </a:rPr>
              <a:t>p</a:t>
            </a:r>
            <a:r>
              <a:rPr lang="en-US" altLang="zh-CN" sz="2800">
                <a:latin typeface="Times New Roman" panose="02020603050405020304" pitchFamily="18" charset="0"/>
              </a:rPr>
              <a:t>-1</a:t>
            </a:r>
            <a:r>
              <a:rPr lang="zh-CN" altLang="en-US" sz="2800">
                <a:latin typeface="Times New Roman" panose="02020603050405020304" pitchFamily="18" charset="0"/>
              </a:rPr>
              <a:t>，且</a:t>
            </a:r>
            <a:r>
              <a:rPr lang="en-US" altLang="zh-CN" sz="2800">
                <a:latin typeface="Times New Roman" panose="02020603050405020304" pitchFamily="18" charset="0"/>
              </a:rPr>
              <a:t>(</a:t>
            </a:r>
            <a:r>
              <a:rPr lang="en-US" altLang="zh-CN" sz="2800" i="1">
                <a:latin typeface="Times New Roman" panose="02020603050405020304" pitchFamily="18" charset="0"/>
              </a:rPr>
              <a:t>k</a:t>
            </a:r>
            <a:r>
              <a:rPr lang="en-US" altLang="zh-CN" sz="2800">
                <a:latin typeface="Times New Roman" panose="02020603050405020304" pitchFamily="18" charset="0"/>
              </a:rPr>
              <a:t>, </a:t>
            </a:r>
            <a:r>
              <a:rPr lang="en-US" altLang="zh-CN" sz="2800" i="1">
                <a:latin typeface="Times New Roman" panose="02020603050405020304" pitchFamily="18" charset="0"/>
              </a:rPr>
              <a:t>p</a:t>
            </a:r>
            <a:r>
              <a:rPr lang="en-US" altLang="zh-CN" sz="2800">
                <a:latin typeface="Times New Roman" panose="02020603050405020304" pitchFamily="18" charset="0"/>
              </a:rPr>
              <a:t>-1)=1</a:t>
            </a:r>
            <a:r>
              <a:rPr lang="zh-CN" altLang="en-US" sz="2800">
                <a:latin typeface="Times New Roman" panose="02020603050405020304" pitchFamily="18" charset="0"/>
              </a:rPr>
              <a:t>，</a:t>
            </a:r>
          </a:p>
          <a:p>
            <a:pPr>
              <a:lnSpc>
                <a:spcPct val="80000"/>
              </a:lnSpc>
              <a:buFont typeface="Wingdings" panose="05000000000000000000" pitchFamily="2" charset="2"/>
              <a:buNone/>
            </a:pPr>
            <a:r>
              <a:rPr lang="zh-CN" altLang="en-US" sz="2800">
                <a:latin typeface="Times New Roman" panose="02020603050405020304" pitchFamily="18" charset="0"/>
              </a:rPr>
              <a:t>计算</a:t>
            </a:r>
          </a:p>
          <a:p>
            <a:pPr algn="ctr">
              <a:lnSpc>
                <a:spcPct val="80000"/>
              </a:lnSpc>
              <a:buFont typeface="Wingdings" panose="05000000000000000000" pitchFamily="2" charset="2"/>
              <a:buNone/>
            </a:pPr>
            <a:r>
              <a:rPr lang="en-US" altLang="zh-CN" sz="2800" i="1">
                <a:latin typeface="Times New Roman" panose="02020603050405020304" pitchFamily="18" charset="0"/>
              </a:rPr>
              <a:t>r=g</a:t>
            </a:r>
            <a:r>
              <a:rPr lang="en-US" altLang="zh-CN" sz="2800" i="1" baseline="30000">
                <a:latin typeface="Times New Roman" panose="02020603050405020304" pitchFamily="18" charset="0"/>
              </a:rPr>
              <a:t>k</a:t>
            </a:r>
            <a:r>
              <a:rPr lang="en-US" altLang="zh-CN" sz="2800">
                <a:latin typeface="Times New Roman" panose="02020603050405020304" pitchFamily="18" charset="0"/>
              </a:rPr>
              <a:t>(mod</a:t>
            </a:r>
            <a:r>
              <a:rPr lang="en-US" altLang="zh-CN" sz="2800" i="1">
                <a:latin typeface="Times New Roman" panose="02020603050405020304" pitchFamily="18" charset="0"/>
              </a:rPr>
              <a:t>p</a:t>
            </a:r>
            <a:r>
              <a:rPr lang="en-US" altLang="zh-CN" sz="2800">
                <a:latin typeface="Times New Roman" panose="02020603050405020304" pitchFamily="18" charset="0"/>
              </a:rPr>
              <a:t>)</a:t>
            </a:r>
            <a:r>
              <a:rPr lang="zh-CN" altLang="en-US" sz="2800">
                <a:latin typeface="Times New Roman" panose="02020603050405020304" pitchFamily="18" charset="0"/>
              </a:rPr>
              <a:t>；</a:t>
            </a:r>
          </a:p>
          <a:p>
            <a:pPr algn="ctr">
              <a:lnSpc>
                <a:spcPct val="80000"/>
              </a:lnSpc>
              <a:buFont typeface="Wingdings" panose="05000000000000000000" pitchFamily="2" charset="2"/>
              <a:buNone/>
            </a:pPr>
            <a:r>
              <a:rPr lang="en-US" altLang="zh-CN" sz="2800">
                <a:latin typeface="Times New Roman" panose="02020603050405020304" pitchFamily="18" charset="0"/>
              </a:rPr>
              <a:t> </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xr</a:t>
            </a:r>
            <a:r>
              <a:rPr lang="en-US" altLang="zh-CN" sz="2800">
                <a:latin typeface="Times New Roman" panose="02020603050405020304" pitchFamily="18" charset="0"/>
              </a:rPr>
              <a:t>)</a:t>
            </a:r>
            <a:r>
              <a:rPr lang="en-US" altLang="zh-CN" sz="2800" i="1">
                <a:latin typeface="Times New Roman" panose="02020603050405020304" pitchFamily="18" charset="0"/>
              </a:rPr>
              <a:t>k</a:t>
            </a:r>
            <a:r>
              <a:rPr lang="en-US" altLang="zh-CN" sz="2800" baseline="30000">
                <a:latin typeface="Times New Roman" panose="02020603050405020304" pitchFamily="18" charset="0"/>
              </a:rPr>
              <a:t>-1</a:t>
            </a:r>
            <a:r>
              <a:rPr lang="en-US" altLang="zh-CN" sz="2800">
                <a:latin typeface="Times New Roman" panose="02020603050405020304" pitchFamily="18" charset="0"/>
              </a:rPr>
              <a:t>(mod (</a:t>
            </a:r>
            <a:r>
              <a:rPr lang="en-US" altLang="zh-CN" sz="2800" i="1">
                <a:latin typeface="Times New Roman" panose="02020603050405020304" pitchFamily="18" charset="0"/>
              </a:rPr>
              <a:t>p－</a:t>
            </a:r>
            <a:r>
              <a:rPr lang="en-US" altLang="zh-CN" sz="2800">
                <a:latin typeface="Times New Roman" panose="02020603050405020304" pitchFamily="18" charset="0"/>
              </a:rPr>
              <a:t>1))</a:t>
            </a:r>
            <a:r>
              <a:rPr lang="zh-CN" altLang="en-US" sz="2800" i="1">
                <a:latin typeface="Times New Roman" panose="02020603050405020304" pitchFamily="18" charset="0"/>
              </a:rPr>
              <a:t>。</a:t>
            </a:r>
          </a:p>
          <a:p>
            <a:pPr>
              <a:lnSpc>
                <a:spcPct val="80000"/>
              </a:lnSpc>
              <a:buFont typeface="Wingdings" panose="05000000000000000000" pitchFamily="2" charset="2"/>
              <a:buNone/>
            </a:pPr>
            <a:r>
              <a:rPr lang="zh-CN" altLang="en-US" sz="2800">
                <a:latin typeface="Times New Roman" panose="02020603050405020304" pitchFamily="18" charset="0"/>
              </a:rPr>
              <a:t>（</a:t>
            </a:r>
            <a:r>
              <a:rPr lang="en-US" altLang="zh-CN" sz="2800">
                <a:latin typeface="Times New Roman" panose="02020603050405020304" pitchFamily="18" charset="0"/>
              </a:rPr>
              <a:t>3</a:t>
            </a:r>
            <a:r>
              <a:rPr lang="zh-CN" altLang="en-US" sz="2800">
                <a:latin typeface="Times New Roman" panose="02020603050405020304" pitchFamily="18" charset="0"/>
              </a:rPr>
              <a:t>） </a:t>
            </a:r>
            <a:r>
              <a:rPr lang="en-US" altLang="zh-CN" sz="2800">
                <a:latin typeface="Times New Roman" panose="02020603050405020304" pitchFamily="18" charset="0"/>
              </a:rPr>
              <a:t>Alice</a:t>
            </a:r>
            <a:r>
              <a:rPr lang="zh-CN" altLang="en-US" sz="2800">
                <a:latin typeface="Times New Roman" panose="02020603050405020304" pitchFamily="18" charset="0"/>
              </a:rPr>
              <a:t>将</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r</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发送给</a:t>
            </a:r>
            <a:r>
              <a:rPr lang="en-US" altLang="zh-CN" sz="2800">
                <a:latin typeface="Times New Roman" panose="02020603050405020304" pitchFamily="18" charset="0"/>
              </a:rPr>
              <a:t>Bob</a:t>
            </a:r>
            <a:r>
              <a:rPr lang="zh-CN" altLang="en-US" sz="2800">
                <a:latin typeface="Times New Roman" panose="02020603050405020304" pitchFamily="18" charset="0"/>
              </a:rPr>
              <a:t>。</a:t>
            </a:r>
          </a:p>
          <a:p>
            <a:pPr>
              <a:lnSpc>
                <a:spcPct val="80000"/>
              </a:lnSpc>
              <a:buFont typeface="Wingdings" panose="05000000000000000000" pitchFamily="2" charset="2"/>
              <a:buNone/>
            </a:pPr>
            <a:r>
              <a:rPr lang="zh-CN" altLang="en-US" sz="2800">
                <a:latin typeface="Times New Roman" panose="02020603050405020304" pitchFamily="18" charset="0"/>
              </a:rPr>
              <a:t>（</a:t>
            </a:r>
            <a:r>
              <a:rPr lang="en-US" altLang="zh-CN" sz="2800">
                <a:latin typeface="Times New Roman" panose="02020603050405020304" pitchFamily="18" charset="0"/>
              </a:rPr>
              <a:t>4</a:t>
            </a:r>
            <a:r>
              <a:rPr lang="zh-CN" altLang="en-US" sz="2800">
                <a:latin typeface="Times New Roman" panose="02020603050405020304" pitchFamily="18" charset="0"/>
              </a:rPr>
              <a:t>） </a:t>
            </a:r>
            <a:r>
              <a:rPr lang="en-US" altLang="zh-CN" sz="2800">
                <a:latin typeface="Times New Roman" panose="02020603050405020304" pitchFamily="18" charset="0"/>
              </a:rPr>
              <a:t>Bob</a:t>
            </a:r>
            <a:r>
              <a:rPr lang="zh-CN" altLang="en-US" sz="2800">
                <a:latin typeface="Times New Roman" panose="02020603050405020304" pitchFamily="18" charset="0"/>
              </a:rPr>
              <a:t>用</a:t>
            </a:r>
            <a:r>
              <a:rPr lang="en-US" altLang="zh-CN" sz="2800">
                <a:latin typeface="Times New Roman" panose="02020603050405020304" pitchFamily="18" charset="0"/>
              </a:rPr>
              <a:t>Alice</a:t>
            </a:r>
            <a:r>
              <a:rPr lang="zh-CN" altLang="en-US" sz="2800">
                <a:latin typeface="Times New Roman" panose="02020603050405020304" pitchFamily="18" charset="0"/>
              </a:rPr>
              <a:t>的公钥，检验是否</a:t>
            </a:r>
          </a:p>
          <a:p>
            <a:pPr algn="ctr">
              <a:lnSpc>
                <a:spcPct val="80000"/>
              </a:lnSpc>
              <a:buFont typeface="Wingdings" panose="05000000000000000000" pitchFamily="2" charset="2"/>
              <a:buNone/>
            </a:pPr>
            <a:r>
              <a:rPr lang="en-US" altLang="zh-CN" sz="2800" i="1">
                <a:latin typeface="Times New Roman" panose="02020603050405020304" pitchFamily="18" charset="0"/>
              </a:rPr>
              <a:t>y</a:t>
            </a:r>
            <a:r>
              <a:rPr lang="en-US" altLang="zh-CN" sz="2800" i="1" baseline="30000">
                <a:latin typeface="Times New Roman" panose="02020603050405020304" pitchFamily="18" charset="0"/>
              </a:rPr>
              <a:t>r</a:t>
            </a:r>
            <a:r>
              <a:rPr lang="en-US" altLang="zh-CN" sz="2800" i="1">
                <a:latin typeface="Times New Roman" panose="02020603050405020304" pitchFamily="18" charset="0"/>
              </a:rPr>
              <a:t>r</a:t>
            </a:r>
            <a:r>
              <a:rPr lang="en-US" altLang="zh-CN" sz="2800" i="1" baseline="30000">
                <a:latin typeface="Times New Roman" panose="02020603050405020304" pitchFamily="18" charset="0"/>
              </a:rPr>
              <a:t>s</a:t>
            </a:r>
            <a:r>
              <a:rPr lang="en-US" altLang="zh-CN" sz="2800">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g</a:t>
            </a:r>
            <a:r>
              <a:rPr lang="en-US" altLang="zh-CN" sz="2800" i="1" baseline="30000">
                <a:latin typeface="Times New Roman" panose="02020603050405020304" pitchFamily="18" charset="0"/>
              </a:rPr>
              <a:t>H</a:t>
            </a:r>
            <a:r>
              <a:rPr lang="en-US" altLang="zh-CN" sz="2800" baseline="30000">
                <a:latin typeface="Times New Roman" panose="02020603050405020304" pitchFamily="18" charset="0"/>
              </a:rPr>
              <a:t>(</a:t>
            </a:r>
            <a:r>
              <a:rPr lang="en-US" altLang="zh-CN" sz="2800" i="1" baseline="30000">
                <a:latin typeface="Times New Roman" panose="02020603050405020304" pitchFamily="18" charset="0"/>
              </a:rPr>
              <a:t>m</a:t>
            </a:r>
            <a:r>
              <a:rPr lang="en-US" altLang="zh-CN" sz="2800" baseline="30000">
                <a:latin typeface="Times New Roman" panose="02020603050405020304" pitchFamily="18" charset="0"/>
              </a:rPr>
              <a:t>) </a:t>
            </a:r>
            <a:r>
              <a:rPr lang="en-US" altLang="zh-CN" sz="2800">
                <a:latin typeface="Times New Roman" panose="02020603050405020304" pitchFamily="18" charset="0"/>
              </a:rPr>
              <a:t>(</a:t>
            </a:r>
            <a:r>
              <a:rPr lang="en-US" altLang="zh-CN" sz="2800" baseline="30000">
                <a:latin typeface="Times New Roman" panose="02020603050405020304" pitchFamily="18" charset="0"/>
              </a:rPr>
              <a:t> </a:t>
            </a:r>
            <a:r>
              <a:rPr lang="en-US" altLang="zh-CN" sz="2800">
                <a:latin typeface="Times New Roman" panose="02020603050405020304" pitchFamily="18" charset="0"/>
              </a:rPr>
              <a:t>mod</a:t>
            </a:r>
            <a:r>
              <a:rPr lang="en-US" altLang="zh-CN" sz="2800" i="1">
                <a:latin typeface="Times New Roman" panose="02020603050405020304" pitchFamily="18" charset="0"/>
              </a:rPr>
              <a:t> p</a:t>
            </a:r>
            <a:r>
              <a:rPr lang="en-US" altLang="zh-CN" sz="2800">
                <a:latin typeface="Times New Roman" panose="02020603050405020304" pitchFamily="18" charset="0"/>
              </a:rPr>
              <a:t>)</a:t>
            </a:r>
            <a:r>
              <a:rPr lang="zh-CN" altLang="en-US" sz="2800">
                <a:latin typeface="Times New Roman" panose="02020603050405020304" pitchFamily="18" charset="0"/>
              </a:rPr>
              <a:t>。</a:t>
            </a:r>
          </a:p>
          <a:p>
            <a:pPr>
              <a:lnSpc>
                <a:spcPct val="80000"/>
              </a:lnSpc>
              <a:buFont typeface="Wingdings" panose="05000000000000000000" pitchFamily="2" charset="2"/>
              <a:buNone/>
            </a:pPr>
            <a:r>
              <a:rPr lang="zh-CN" altLang="en-US" sz="2800">
                <a:latin typeface="Times New Roman" panose="02020603050405020304" pitchFamily="18" charset="0"/>
              </a:rPr>
              <a:t>若是则</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r</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是</a:t>
            </a:r>
            <a:r>
              <a:rPr lang="en-US" altLang="zh-CN" sz="2800">
                <a:latin typeface="Times New Roman" panose="02020603050405020304" pitchFamily="18" charset="0"/>
              </a:rPr>
              <a:t>Alice</a:t>
            </a:r>
            <a:r>
              <a:rPr lang="zh-CN" altLang="en-US" sz="2800">
                <a:latin typeface="Times New Roman" panose="02020603050405020304" pitchFamily="18" charset="0"/>
              </a:rPr>
              <a:t>发送的签名消息。</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灯片编号占位符 4">
            <a:extLst>
              <a:ext uri="{FF2B5EF4-FFF2-40B4-BE49-F238E27FC236}">
                <a16:creationId xmlns:a16="http://schemas.microsoft.com/office/drawing/2014/main" id="{07EB6F38-4830-931D-A2B2-420FD60960A1}"/>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14612BE6-08F8-4E0D-B145-93BD76739676}" type="slidenum">
              <a:rPr lang="zh-CN" altLang="en-US" sz="1400" smtClean="0"/>
              <a:pPr eaLnBrk="0" hangingPunct="0">
                <a:spcBef>
                  <a:spcPct val="0"/>
                </a:spcBef>
                <a:buClrTx/>
                <a:buSzTx/>
                <a:buFontTx/>
                <a:buNone/>
              </a:pPr>
              <a:t>26</a:t>
            </a:fld>
            <a:endParaRPr lang="en-US" altLang="zh-CN" sz="1400"/>
          </a:p>
        </p:txBody>
      </p:sp>
      <p:sp>
        <p:nvSpPr>
          <p:cNvPr id="52227" name="Rectangle 2">
            <a:extLst>
              <a:ext uri="{FF2B5EF4-FFF2-40B4-BE49-F238E27FC236}">
                <a16:creationId xmlns:a16="http://schemas.microsoft.com/office/drawing/2014/main" id="{9A3A0896-9FBD-74B4-5BEE-5A639D6B89F0}"/>
              </a:ext>
            </a:extLst>
          </p:cNvPr>
          <p:cNvSpPr>
            <a:spLocks noGrp="1" noChangeArrowheads="1"/>
          </p:cNvSpPr>
          <p:nvPr>
            <p:ph type="title"/>
          </p:nvPr>
        </p:nvSpPr>
        <p:spPr/>
        <p:txBody>
          <a:bodyPr/>
          <a:lstStyle/>
          <a:p>
            <a:r>
              <a:rPr lang="zh-CN" altLang="en-US" b="1"/>
              <a:t>三、几种常用的数字签名</a:t>
            </a:r>
          </a:p>
        </p:txBody>
      </p:sp>
      <p:sp>
        <p:nvSpPr>
          <p:cNvPr id="52228" name="Rectangle 3">
            <a:extLst>
              <a:ext uri="{FF2B5EF4-FFF2-40B4-BE49-F238E27FC236}">
                <a16:creationId xmlns:a16="http://schemas.microsoft.com/office/drawing/2014/main" id="{C5866403-B44F-E709-96A3-8F52A1DE5EBB}"/>
              </a:ext>
            </a:extLst>
          </p:cNvPr>
          <p:cNvSpPr>
            <a:spLocks noGrp="1" noChangeArrowheads="1"/>
          </p:cNvSpPr>
          <p:nvPr>
            <p:ph type="body" idx="1"/>
          </p:nvPr>
        </p:nvSpPr>
        <p:spPr>
          <a:xfrm>
            <a:off x="539750" y="2017713"/>
            <a:ext cx="8415338" cy="4114800"/>
          </a:xfrm>
        </p:spPr>
        <p:txBody>
          <a:bodyPr/>
          <a:lstStyle/>
          <a:p>
            <a:pPr algn="ctr">
              <a:lnSpc>
                <a:spcPct val="80000"/>
              </a:lnSpc>
              <a:buFont typeface="Wingdings" panose="05000000000000000000" pitchFamily="2" charset="2"/>
              <a:buNone/>
            </a:pPr>
            <a:r>
              <a:rPr lang="en-US" altLang="zh-CN" sz="3600" b="1">
                <a:latin typeface="Times New Roman" panose="02020603050405020304" pitchFamily="18" charset="0"/>
                <a:ea typeface="黑体" panose="02010609060101010101" pitchFamily="49" charset="-122"/>
              </a:rPr>
              <a:t>Schnorr</a:t>
            </a:r>
            <a:r>
              <a:rPr lang="zh-CN" altLang="en-US" sz="3600" b="1">
                <a:latin typeface="Times New Roman" panose="02020603050405020304" pitchFamily="18" charset="0"/>
                <a:ea typeface="黑体" panose="02010609060101010101" pitchFamily="49" charset="-122"/>
              </a:rPr>
              <a:t>数字签名</a:t>
            </a:r>
            <a:endParaRPr lang="zh-CN" altLang="en-US" sz="2800" b="1">
              <a:latin typeface="Times New Roman" panose="02020603050405020304" pitchFamily="18" charset="0"/>
              <a:ea typeface="黑体" panose="02010609060101010101" pitchFamily="49" charset="-122"/>
            </a:endParaRPr>
          </a:p>
          <a:p>
            <a:pPr>
              <a:lnSpc>
                <a:spcPct val="80000"/>
              </a:lnSpc>
              <a:buFont typeface="Wingdings" panose="05000000000000000000" pitchFamily="2" charset="2"/>
              <a:buNone/>
            </a:pPr>
            <a:r>
              <a:rPr lang="en-US" altLang="zh-CN" sz="2800">
                <a:latin typeface="Times New Roman" panose="02020603050405020304" pitchFamily="18" charset="0"/>
              </a:rPr>
              <a:t>Alice</a:t>
            </a:r>
            <a:r>
              <a:rPr lang="zh-CN" altLang="en-US" sz="2800">
                <a:latin typeface="Times New Roman" panose="02020603050405020304" pitchFamily="18" charset="0"/>
              </a:rPr>
              <a:t>拥有</a:t>
            </a:r>
            <a:r>
              <a:rPr lang="en-US" altLang="zh-CN" sz="2800">
                <a:latin typeface="Times New Roman" panose="02020603050405020304" pitchFamily="18" charset="0"/>
              </a:rPr>
              <a:t>3</a:t>
            </a:r>
            <a:r>
              <a:rPr lang="zh-CN" altLang="en-US" sz="2800">
                <a:latin typeface="Times New Roman" panose="02020603050405020304" pitchFamily="18" charset="0"/>
              </a:rPr>
              <a:t>个正整数</a:t>
            </a:r>
            <a:r>
              <a:rPr lang="en-US" altLang="zh-CN" sz="2800">
                <a:latin typeface="Times New Roman" panose="02020603050405020304" pitchFamily="18" charset="0"/>
              </a:rPr>
              <a:t>(</a:t>
            </a:r>
            <a:r>
              <a:rPr lang="en-US" altLang="zh-CN" sz="2800" i="1">
                <a:latin typeface="Times New Roman" panose="02020603050405020304" pitchFamily="18" charset="0"/>
              </a:rPr>
              <a:t>p</a:t>
            </a:r>
            <a:r>
              <a:rPr lang="zh-CN" altLang="en-US" sz="2800">
                <a:latin typeface="Times New Roman" panose="02020603050405020304" pitchFamily="18" charset="0"/>
              </a:rPr>
              <a:t>，</a:t>
            </a:r>
            <a:r>
              <a:rPr lang="en-US" altLang="zh-CN" sz="2800" i="1">
                <a:latin typeface="Times New Roman" panose="02020603050405020304" pitchFamily="18" charset="0"/>
              </a:rPr>
              <a:t>q</a:t>
            </a:r>
            <a:r>
              <a:rPr lang="zh-CN" altLang="en-US" sz="2800">
                <a:latin typeface="Times New Roman" panose="02020603050405020304" pitchFamily="18" charset="0"/>
              </a:rPr>
              <a:t>，</a:t>
            </a:r>
            <a:r>
              <a:rPr lang="en-US" altLang="zh-CN" sz="2800" i="1">
                <a:latin typeface="Times New Roman" panose="02020603050405020304" pitchFamily="18" charset="0"/>
              </a:rPr>
              <a:t>g</a:t>
            </a:r>
            <a:r>
              <a:rPr lang="en-US" altLang="zh-CN" sz="2800">
                <a:latin typeface="Times New Roman" panose="02020603050405020304" pitchFamily="18" charset="0"/>
              </a:rPr>
              <a:t>)</a:t>
            </a:r>
            <a:r>
              <a:rPr lang="zh-CN" altLang="en-US" sz="2800">
                <a:latin typeface="Times New Roman" panose="02020603050405020304" pitchFamily="18" charset="0"/>
              </a:rPr>
              <a:t>，向自己的通信伙伴公开。其中：</a:t>
            </a:r>
          </a:p>
          <a:p>
            <a:pPr>
              <a:lnSpc>
                <a:spcPct val="80000"/>
              </a:lnSpc>
              <a:buClr>
                <a:schemeClr val="tx1"/>
              </a:buClr>
            </a:pPr>
            <a:r>
              <a:rPr lang="en-US" altLang="zh-CN" sz="2800" i="1">
                <a:latin typeface="Times New Roman" panose="02020603050405020304" pitchFamily="18" charset="0"/>
              </a:rPr>
              <a:t>p</a:t>
            </a:r>
            <a:r>
              <a:rPr lang="zh-CN" altLang="en-US" sz="2800">
                <a:latin typeface="Times New Roman" panose="02020603050405020304" pitchFamily="18" charset="0"/>
              </a:rPr>
              <a:t>是模数（即将要进行</a:t>
            </a:r>
            <a:r>
              <a:rPr lang="en-US" altLang="zh-CN" sz="2800">
                <a:latin typeface="Times New Roman" panose="02020603050405020304" pitchFamily="18" charset="0"/>
              </a:rPr>
              <a:t>(mod</a:t>
            </a:r>
            <a:r>
              <a:rPr lang="en-US" altLang="zh-CN" sz="2800" i="1">
                <a:latin typeface="Times New Roman" panose="02020603050405020304" pitchFamily="18" charset="0"/>
              </a:rPr>
              <a:t>p</a:t>
            </a:r>
            <a:r>
              <a:rPr lang="en-US" altLang="zh-CN" sz="2800">
                <a:latin typeface="Times New Roman" panose="02020603050405020304" pitchFamily="18" charset="0"/>
              </a:rPr>
              <a:t>)</a:t>
            </a:r>
            <a:r>
              <a:rPr lang="zh-CN" altLang="en-US" sz="2800">
                <a:latin typeface="Times New Roman" panose="02020603050405020304" pitchFamily="18" charset="0"/>
              </a:rPr>
              <a:t>模数运算），它是一个素数，值的范围在</a:t>
            </a:r>
            <a:r>
              <a:rPr lang="en-US" altLang="zh-CN" sz="2800">
                <a:latin typeface="Times New Roman" panose="02020603050405020304" pitchFamily="18" charset="0"/>
              </a:rPr>
              <a:t>2</a:t>
            </a:r>
            <a:r>
              <a:rPr lang="en-US" altLang="zh-CN" sz="2800" baseline="30000">
                <a:latin typeface="Times New Roman" panose="02020603050405020304" pitchFamily="18" charset="0"/>
              </a:rPr>
              <a:t>511</a:t>
            </a:r>
            <a:r>
              <a:rPr lang="zh-CN" altLang="en-US" sz="2800">
                <a:latin typeface="Times New Roman" panose="02020603050405020304" pitchFamily="18" charset="0"/>
              </a:rPr>
              <a:t>到</a:t>
            </a:r>
            <a:r>
              <a:rPr lang="en-US" altLang="zh-CN" sz="2800">
                <a:latin typeface="Times New Roman" panose="02020603050405020304" pitchFamily="18" charset="0"/>
              </a:rPr>
              <a:t>2</a:t>
            </a:r>
            <a:r>
              <a:rPr lang="en-US" altLang="zh-CN" sz="2800" baseline="30000">
                <a:latin typeface="Times New Roman" panose="02020603050405020304" pitchFamily="18" charset="0"/>
              </a:rPr>
              <a:t>512</a:t>
            </a:r>
            <a:r>
              <a:rPr lang="zh-CN" altLang="en-US" sz="2800">
                <a:latin typeface="Times New Roman" panose="02020603050405020304" pitchFamily="18" charset="0"/>
              </a:rPr>
              <a:t>之间（即</a:t>
            </a:r>
            <a:r>
              <a:rPr lang="en-US" altLang="zh-CN" sz="2800" i="1">
                <a:latin typeface="Times New Roman" panose="02020603050405020304" pitchFamily="18" charset="0"/>
              </a:rPr>
              <a:t>p</a:t>
            </a:r>
            <a:r>
              <a:rPr lang="zh-CN" altLang="en-US" sz="2800">
                <a:latin typeface="Times New Roman" panose="02020603050405020304" pitchFamily="18" charset="0"/>
              </a:rPr>
              <a:t>是一个长度为</a:t>
            </a:r>
            <a:r>
              <a:rPr lang="en-US" altLang="zh-CN" sz="2800">
                <a:latin typeface="Times New Roman" panose="02020603050405020304" pitchFamily="18" charset="0"/>
              </a:rPr>
              <a:t>512</a:t>
            </a:r>
            <a:r>
              <a:rPr lang="zh-CN" altLang="en-US" sz="2800">
                <a:latin typeface="Times New Roman" panose="02020603050405020304" pitchFamily="18" charset="0"/>
              </a:rPr>
              <a:t>的比特串）。</a:t>
            </a:r>
          </a:p>
          <a:p>
            <a:pPr>
              <a:lnSpc>
                <a:spcPct val="80000"/>
              </a:lnSpc>
              <a:buClr>
                <a:schemeClr val="tx1"/>
              </a:buClr>
            </a:pPr>
            <a:r>
              <a:rPr lang="en-US" altLang="zh-CN" sz="2800" i="1">
                <a:latin typeface="Times New Roman" panose="02020603050405020304" pitchFamily="18" charset="0"/>
              </a:rPr>
              <a:t>q</a:t>
            </a:r>
            <a:r>
              <a:rPr lang="zh-CN" altLang="en-US" sz="2800">
                <a:latin typeface="Times New Roman" panose="02020603050405020304" pitchFamily="18" charset="0"/>
              </a:rPr>
              <a:t>也是模数（即将要进行</a:t>
            </a:r>
            <a:r>
              <a:rPr lang="en-US" altLang="zh-CN" sz="2800">
                <a:latin typeface="Times New Roman" panose="02020603050405020304" pitchFamily="18" charset="0"/>
              </a:rPr>
              <a:t>(mod</a:t>
            </a:r>
            <a:r>
              <a:rPr lang="en-US" altLang="zh-CN" sz="2800" i="1">
                <a:latin typeface="Times New Roman" panose="02020603050405020304" pitchFamily="18" charset="0"/>
              </a:rPr>
              <a:t>q</a:t>
            </a:r>
            <a:r>
              <a:rPr lang="en-US" altLang="zh-CN" sz="2800">
                <a:latin typeface="Times New Roman" panose="02020603050405020304" pitchFamily="18" charset="0"/>
              </a:rPr>
              <a:t>)</a:t>
            </a:r>
            <a:r>
              <a:rPr lang="zh-CN" altLang="en-US" sz="2800">
                <a:latin typeface="Times New Roman" panose="02020603050405020304" pitchFamily="18" charset="0"/>
              </a:rPr>
              <a:t>模数运算），它是一个素数， 2</a:t>
            </a:r>
            <a:r>
              <a:rPr lang="zh-CN" altLang="en-US" sz="2800" baseline="30000">
                <a:latin typeface="Times New Roman" panose="02020603050405020304" pitchFamily="18" charset="0"/>
              </a:rPr>
              <a:t>159</a:t>
            </a:r>
            <a:r>
              <a:rPr lang="zh-CN" altLang="en-US" sz="2800">
                <a:latin typeface="Times New Roman" panose="02020603050405020304" pitchFamily="18" charset="0"/>
              </a:rPr>
              <a:t> &lt; </a:t>
            </a:r>
            <a:r>
              <a:rPr lang="en-US" altLang="zh-CN" sz="2800" i="1">
                <a:latin typeface="Times New Roman" panose="02020603050405020304" pitchFamily="18" charset="0"/>
              </a:rPr>
              <a:t>q</a:t>
            </a:r>
            <a:r>
              <a:rPr lang="en-US" altLang="zh-CN" sz="2800">
                <a:latin typeface="Times New Roman" panose="02020603050405020304" pitchFamily="18" charset="0"/>
              </a:rPr>
              <a:t> </a:t>
            </a:r>
            <a:r>
              <a:rPr lang="zh-CN" altLang="en-US" sz="2800">
                <a:latin typeface="Times New Roman" panose="02020603050405020304" pitchFamily="18" charset="0"/>
              </a:rPr>
              <a:t>（即</a:t>
            </a:r>
            <a:r>
              <a:rPr lang="en-US" altLang="zh-CN" sz="2800" i="1">
                <a:latin typeface="Times New Roman" panose="02020603050405020304" pitchFamily="18" charset="0"/>
              </a:rPr>
              <a:t>q</a:t>
            </a:r>
            <a:r>
              <a:rPr lang="zh-CN" altLang="en-US" sz="2800">
                <a:latin typeface="Times New Roman" panose="02020603050405020304" pitchFamily="18" charset="0"/>
              </a:rPr>
              <a:t>是一个长度不小于</a:t>
            </a:r>
            <a:r>
              <a:rPr lang="en-US" altLang="zh-CN" sz="2800">
                <a:latin typeface="Times New Roman" panose="02020603050405020304" pitchFamily="18" charset="0"/>
              </a:rPr>
              <a:t>160</a:t>
            </a:r>
            <a:r>
              <a:rPr lang="zh-CN" altLang="en-US" sz="2800">
                <a:latin typeface="Times New Roman" panose="02020603050405020304" pitchFamily="18" charset="0"/>
              </a:rPr>
              <a:t>的比特串），并且</a:t>
            </a:r>
            <a:r>
              <a:rPr lang="en-US" altLang="zh-CN" sz="2800" i="1">
                <a:latin typeface="Times New Roman" panose="02020603050405020304" pitchFamily="18" charset="0"/>
              </a:rPr>
              <a:t>q</a:t>
            </a:r>
            <a:r>
              <a:rPr lang="zh-CN" altLang="en-US" sz="2800">
                <a:latin typeface="Times New Roman" panose="02020603050405020304" pitchFamily="18" charset="0"/>
              </a:rPr>
              <a:t>是</a:t>
            </a:r>
            <a:r>
              <a:rPr lang="en-US" altLang="zh-CN" sz="2800" i="1">
                <a:latin typeface="Times New Roman" panose="02020603050405020304" pitchFamily="18" charset="0"/>
              </a:rPr>
              <a:t>p</a:t>
            </a:r>
            <a:r>
              <a:rPr lang="en-US" altLang="zh-CN" sz="2800">
                <a:latin typeface="Times New Roman" panose="02020603050405020304" pitchFamily="18" charset="0"/>
              </a:rPr>
              <a:t>-1</a:t>
            </a:r>
            <a:r>
              <a:rPr lang="zh-CN" altLang="en-US" sz="2800">
                <a:latin typeface="Times New Roman" panose="02020603050405020304" pitchFamily="18" charset="0"/>
              </a:rPr>
              <a:t>的一个因子。</a:t>
            </a:r>
          </a:p>
          <a:p>
            <a:pPr>
              <a:lnSpc>
                <a:spcPct val="80000"/>
              </a:lnSpc>
              <a:buClr>
                <a:schemeClr val="tx1"/>
              </a:buClr>
            </a:pPr>
            <a:r>
              <a:rPr lang="en-US" altLang="zh-CN" sz="2800" i="1">
                <a:latin typeface="Times New Roman" panose="02020603050405020304" pitchFamily="18" charset="0"/>
              </a:rPr>
              <a:t>g</a:t>
            </a:r>
            <a:r>
              <a:rPr lang="zh-CN" altLang="en-US" sz="2800">
                <a:latin typeface="Times New Roman" panose="02020603050405020304" pitchFamily="18" charset="0"/>
              </a:rPr>
              <a:t>是域</a:t>
            </a:r>
            <a:r>
              <a:rPr lang="en-US" altLang="zh-CN" sz="2800" i="1">
                <a:latin typeface="Times New Roman" panose="02020603050405020304" pitchFamily="18" charset="0"/>
              </a:rPr>
              <a:t>GF</a:t>
            </a:r>
            <a:r>
              <a:rPr lang="en-US" altLang="zh-CN" sz="2800">
                <a:latin typeface="Times New Roman" panose="02020603050405020304" pitchFamily="18" charset="0"/>
              </a:rPr>
              <a:t>(</a:t>
            </a:r>
            <a:r>
              <a:rPr lang="en-US" altLang="zh-CN" sz="2800" i="1">
                <a:latin typeface="Times New Roman" panose="02020603050405020304" pitchFamily="18" charset="0"/>
              </a:rPr>
              <a:t>p</a:t>
            </a:r>
            <a:r>
              <a:rPr lang="en-US" altLang="zh-CN" sz="2800">
                <a:latin typeface="Times New Roman" panose="02020603050405020304" pitchFamily="18" charset="0"/>
              </a:rPr>
              <a:t>)</a:t>
            </a:r>
            <a:r>
              <a:rPr lang="zh-CN" altLang="en-US" sz="2800">
                <a:latin typeface="Times New Roman" panose="02020603050405020304" pitchFamily="18" charset="0"/>
              </a:rPr>
              <a:t>的元素，且</a:t>
            </a:r>
            <a:r>
              <a:rPr lang="en-US" altLang="zh-CN" sz="2800" i="1">
                <a:latin typeface="Times New Roman" panose="02020603050405020304" pitchFamily="18" charset="0"/>
              </a:rPr>
              <a:t>g</a:t>
            </a:r>
            <a:r>
              <a:rPr lang="en-US" altLang="zh-CN" sz="2800" i="1" baseline="30000">
                <a:latin typeface="Times New Roman" panose="02020603050405020304" pitchFamily="18" charset="0"/>
              </a:rPr>
              <a:t>q</a:t>
            </a: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1(mod</a:t>
            </a:r>
            <a:r>
              <a:rPr lang="en-US" altLang="zh-CN" sz="2800" i="1">
                <a:latin typeface="Times New Roman" panose="02020603050405020304" pitchFamily="18" charset="0"/>
              </a:rPr>
              <a:t>p</a:t>
            </a:r>
            <a:r>
              <a:rPr lang="en-US" altLang="zh-CN" sz="2800">
                <a:latin typeface="Times New Roman" panose="02020603050405020304" pitchFamily="18" charset="0"/>
              </a:rPr>
              <a:t>)</a:t>
            </a:r>
            <a:r>
              <a:rPr lang="zh-CN" altLang="en-US" sz="2800">
                <a:latin typeface="Times New Roman" panose="02020603050405020304" pitchFamily="18" charset="0"/>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灯片编号占位符 4">
            <a:extLst>
              <a:ext uri="{FF2B5EF4-FFF2-40B4-BE49-F238E27FC236}">
                <a16:creationId xmlns:a16="http://schemas.microsoft.com/office/drawing/2014/main" id="{3C46DA7E-0625-DE7A-2961-6605916F5EB0}"/>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7FFF87E1-9BD0-4309-B875-54241640C6A9}" type="slidenum">
              <a:rPr lang="zh-CN" altLang="en-US" sz="1400" smtClean="0"/>
              <a:pPr eaLnBrk="0" hangingPunct="0">
                <a:spcBef>
                  <a:spcPct val="0"/>
                </a:spcBef>
                <a:buClrTx/>
                <a:buSzTx/>
                <a:buFontTx/>
                <a:buNone/>
              </a:pPr>
              <a:t>27</a:t>
            </a:fld>
            <a:endParaRPr lang="en-US" altLang="zh-CN" sz="1400"/>
          </a:p>
        </p:txBody>
      </p:sp>
      <p:sp>
        <p:nvSpPr>
          <p:cNvPr id="53251" name="Rectangle 2">
            <a:extLst>
              <a:ext uri="{FF2B5EF4-FFF2-40B4-BE49-F238E27FC236}">
                <a16:creationId xmlns:a16="http://schemas.microsoft.com/office/drawing/2014/main" id="{D1748E01-E5FF-72F8-B3AF-9726BAE4CC72}"/>
              </a:ext>
            </a:extLst>
          </p:cNvPr>
          <p:cNvSpPr>
            <a:spLocks noGrp="1" noChangeArrowheads="1"/>
          </p:cNvSpPr>
          <p:nvPr>
            <p:ph type="title"/>
          </p:nvPr>
        </p:nvSpPr>
        <p:spPr/>
        <p:txBody>
          <a:bodyPr/>
          <a:lstStyle/>
          <a:p>
            <a:r>
              <a:rPr lang="zh-CN" altLang="en-US" b="1"/>
              <a:t>三、几种常用的数字签名</a:t>
            </a:r>
          </a:p>
        </p:txBody>
      </p:sp>
      <p:sp>
        <p:nvSpPr>
          <p:cNvPr id="53252" name="Rectangle 3">
            <a:extLst>
              <a:ext uri="{FF2B5EF4-FFF2-40B4-BE49-F238E27FC236}">
                <a16:creationId xmlns:a16="http://schemas.microsoft.com/office/drawing/2014/main" id="{F8AFDC7A-0C26-B62D-2B2C-8858FF4805CC}"/>
              </a:ext>
            </a:extLst>
          </p:cNvPr>
          <p:cNvSpPr>
            <a:spLocks noGrp="1" noChangeArrowheads="1"/>
          </p:cNvSpPr>
          <p:nvPr>
            <p:ph type="body" idx="1"/>
          </p:nvPr>
        </p:nvSpPr>
        <p:spPr>
          <a:xfrm>
            <a:off x="611188" y="2017713"/>
            <a:ext cx="8064500" cy="4114800"/>
          </a:xfrm>
        </p:spPr>
        <p:txBody>
          <a:bodyPr/>
          <a:lstStyle/>
          <a:p>
            <a:pPr>
              <a:lnSpc>
                <a:spcPct val="90000"/>
              </a:lnSpc>
              <a:buFont typeface="Wingdings" panose="05000000000000000000" pitchFamily="2" charset="2"/>
              <a:buNone/>
            </a:pPr>
            <a:r>
              <a:rPr lang="en-US" altLang="zh-CN">
                <a:latin typeface="Times New Roman" panose="02020603050405020304" pitchFamily="18" charset="0"/>
              </a:rPr>
              <a:t>Alice</a:t>
            </a:r>
            <a:r>
              <a:rPr lang="zh-CN" altLang="en-US">
                <a:latin typeface="Times New Roman" panose="02020603050405020304" pitchFamily="18" charset="0"/>
              </a:rPr>
              <a:t>选择</a:t>
            </a:r>
            <a:r>
              <a:rPr lang="en-US" altLang="zh-CN" i="1">
                <a:latin typeface="Times New Roman" panose="02020603050405020304" pitchFamily="18" charset="0"/>
              </a:rPr>
              <a:t>x</a:t>
            </a:r>
            <a:r>
              <a:rPr lang="zh-CN" altLang="en-US">
                <a:latin typeface="Times New Roman" panose="02020603050405020304" pitchFamily="18" charset="0"/>
              </a:rPr>
              <a:t>，其中</a:t>
            </a:r>
            <a:r>
              <a:rPr lang="en-US" altLang="zh-CN">
                <a:latin typeface="Times New Roman" panose="02020603050405020304" pitchFamily="18" charset="0"/>
              </a:rPr>
              <a:t>1&lt;</a:t>
            </a:r>
            <a:r>
              <a:rPr lang="en-US" altLang="zh-CN" i="1">
                <a:latin typeface="Times New Roman" panose="02020603050405020304" pitchFamily="18" charset="0"/>
              </a:rPr>
              <a:t>x</a:t>
            </a:r>
            <a:r>
              <a:rPr lang="en-US" altLang="zh-CN">
                <a:latin typeface="Times New Roman" panose="02020603050405020304" pitchFamily="18" charset="0"/>
              </a:rPr>
              <a:t>&lt;</a:t>
            </a:r>
            <a:r>
              <a:rPr lang="en-US" altLang="zh-CN" i="1">
                <a:latin typeface="Times New Roman" panose="02020603050405020304" pitchFamily="18" charset="0"/>
              </a:rPr>
              <a:t>q</a:t>
            </a:r>
            <a:r>
              <a:rPr lang="zh-CN" altLang="en-US">
                <a:latin typeface="Times New Roman" panose="02020603050405020304" pitchFamily="18" charset="0"/>
              </a:rPr>
              <a:t>。</a:t>
            </a:r>
          </a:p>
          <a:p>
            <a:pPr>
              <a:lnSpc>
                <a:spcPct val="90000"/>
              </a:lnSpc>
              <a:buFont typeface="Wingdings" panose="05000000000000000000" pitchFamily="2" charset="2"/>
              <a:buNone/>
            </a:pPr>
            <a:r>
              <a:rPr lang="en-US" altLang="zh-CN">
                <a:latin typeface="Times New Roman" panose="02020603050405020304" pitchFamily="18" charset="0"/>
              </a:rPr>
              <a:t>Alice</a:t>
            </a:r>
            <a:r>
              <a:rPr lang="zh-CN" altLang="en-US">
                <a:latin typeface="Times New Roman" panose="02020603050405020304" pitchFamily="18" charset="0"/>
              </a:rPr>
              <a:t>计算</a:t>
            </a:r>
            <a:r>
              <a:rPr lang="en-US" altLang="zh-CN" i="1">
                <a:latin typeface="Times New Roman" panose="02020603050405020304" pitchFamily="18" charset="0"/>
              </a:rPr>
              <a:t>y</a:t>
            </a:r>
            <a:r>
              <a:rPr lang="en-US" altLang="zh-CN">
                <a:latin typeface="Times New Roman" panose="02020603050405020304" pitchFamily="18" charset="0"/>
              </a:rPr>
              <a:t>=</a:t>
            </a:r>
            <a:r>
              <a:rPr lang="en-US" altLang="zh-CN" i="1">
                <a:latin typeface="Times New Roman" panose="02020603050405020304" pitchFamily="18" charset="0"/>
              </a:rPr>
              <a:t>g</a:t>
            </a:r>
            <a:r>
              <a:rPr lang="en-US" altLang="zh-CN" i="1" baseline="30000">
                <a:latin typeface="Times New Roman" panose="02020603050405020304" pitchFamily="18" charset="0"/>
              </a:rPr>
              <a:t>x</a:t>
            </a:r>
            <a:r>
              <a:rPr lang="en-US" altLang="zh-CN">
                <a:latin typeface="Times New Roman" panose="02020603050405020304" pitchFamily="18" charset="0"/>
              </a:rPr>
              <a:t>(mod</a:t>
            </a:r>
            <a:r>
              <a:rPr lang="en-US" altLang="zh-CN" i="1">
                <a:latin typeface="Times New Roman" panose="02020603050405020304" pitchFamily="18" charset="0"/>
              </a:rPr>
              <a:t>p</a:t>
            </a:r>
            <a:r>
              <a:rPr lang="en-US" altLang="zh-CN">
                <a:latin typeface="Times New Roman" panose="02020603050405020304" pitchFamily="18" charset="0"/>
              </a:rPr>
              <a:t>)</a:t>
            </a:r>
            <a:r>
              <a:rPr lang="zh-CN" altLang="en-US">
                <a:latin typeface="Times New Roman" panose="02020603050405020304" pitchFamily="18" charset="0"/>
              </a:rPr>
              <a:t>。</a:t>
            </a:r>
          </a:p>
          <a:p>
            <a:pPr>
              <a:lnSpc>
                <a:spcPct val="90000"/>
              </a:lnSpc>
              <a:buFont typeface="Wingdings" panose="05000000000000000000" pitchFamily="2" charset="2"/>
              <a:buNone/>
            </a:pPr>
            <a:r>
              <a:rPr lang="en-US" altLang="zh-CN">
                <a:latin typeface="Times New Roman" panose="02020603050405020304" pitchFamily="18" charset="0"/>
              </a:rPr>
              <a:t>Alice</a:t>
            </a:r>
            <a:r>
              <a:rPr lang="zh-CN" altLang="en-US">
                <a:latin typeface="Times New Roman" panose="02020603050405020304" pitchFamily="18" charset="0"/>
              </a:rPr>
              <a:t>的公钥是</a:t>
            </a:r>
            <a:r>
              <a:rPr lang="en-US" altLang="zh-CN">
                <a:latin typeface="Times New Roman" panose="02020603050405020304" pitchFamily="18" charset="0"/>
              </a:rPr>
              <a:t>(</a:t>
            </a:r>
            <a:r>
              <a:rPr lang="en-US" altLang="zh-CN" i="1">
                <a:latin typeface="Times New Roman" panose="02020603050405020304" pitchFamily="18" charset="0"/>
              </a:rPr>
              <a:t>p</a:t>
            </a:r>
            <a:r>
              <a:rPr lang="zh-CN" altLang="en-US">
                <a:latin typeface="Times New Roman" panose="02020603050405020304" pitchFamily="18" charset="0"/>
              </a:rPr>
              <a:t>，</a:t>
            </a:r>
            <a:r>
              <a:rPr lang="en-US" altLang="zh-CN" i="1">
                <a:latin typeface="Times New Roman" panose="02020603050405020304" pitchFamily="18" charset="0"/>
              </a:rPr>
              <a:t>q</a:t>
            </a:r>
            <a:r>
              <a:rPr lang="zh-CN" altLang="en-US">
                <a:latin typeface="Times New Roman" panose="02020603050405020304" pitchFamily="18" charset="0"/>
              </a:rPr>
              <a:t>，</a:t>
            </a:r>
            <a:r>
              <a:rPr lang="en-US" altLang="zh-CN" i="1">
                <a:latin typeface="Times New Roman" panose="02020603050405020304" pitchFamily="18" charset="0"/>
              </a:rPr>
              <a:t>g</a:t>
            </a:r>
            <a:r>
              <a:rPr lang="zh-CN" altLang="en-US">
                <a:latin typeface="Times New Roman" panose="02020603050405020304" pitchFamily="18" charset="0"/>
              </a:rPr>
              <a:t>，</a:t>
            </a:r>
            <a:r>
              <a:rPr lang="en-US" altLang="zh-CN" i="1">
                <a:latin typeface="Times New Roman" panose="02020603050405020304" pitchFamily="18" charset="0"/>
              </a:rPr>
              <a:t>y</a:t>
            </a:r>
            <a:r>
              <a:rPr lang="en-US" altLang="zh-CN">
                <a:latin typeface="Times New Roman" panose="02020603050405020304" pitchFamily="18" charset="0"/>
              </a:rPr>
              <a:t>)</a:t>
            </a:r>
            <a:r>
              <a:rPr lang="zh-CN" altLang="en-US">
                <a:latin typeface="Times New Roman" panose="02020603050405020304" pitchFamily="18" charset="0"/>
              </a:rPr>
              <a:t>， </a:t>
            </a:r>
            <a:r>
              <a:rPr lang="en-US" altLang="zh-CN">
                <a:latin typeface="Times New Roman" panose="02020603050405020304" pitchFamily="18" charset="0"/>
              </a:rPr>
              <a:t>Alice</a:t>
            </a:r>
            <a:r>
              <a:rPr lang="zh-CN" altLang="en-US">
                <a:latin typeface="Times New Roman" panose="02020603050405020304" pitchFamily="18" charset="0"/>
              </a:rPr>
              <a:t>的私钥是</a:t>
            </a:r>
            <a:r>
              <a:rPr lang="en-US" altLang="zh-CN" i="1">
                <a:latin typeface="Times New Roman" panose="02020603050405020304" pitchFamily="18" charset="0"/>
              </a:rPr>
              <a:t>x</a:t>
            </a:r>
            <a:r>
              <a:rPr lang="zh-CN" altLang="en-US">
                <a:latin typeface="Times New Roman" panose="02020603050405020304" pitchFamily="18" charset="0"/>
              </a:rPr>
              <a:t>。</a:t>
            </a:r>
          </a:p>
          <a:p>
            <a:pPr>
              <a:lnSpc>
                <a:spcPct val="90000"/>
              </a:lnSpc>
              <a:buFont typeface="Wingdings" panose="05000000000000000000" pitchFamily="2" charset="2"/>
              <a:buNone/>
            </a:pPr>
            <a:endParaRPr lang="zh-CN" altLang="en-US">
              <a:latin typeface="Times New Roman" panose="02020603050405020304" pitchFamily="18" charset="0"/>
            </a:endParaRPr>
          </a:p>
          <a:p>
            <a:pPr>
              <a:lnSpc>
                <a:spcPct val="90000"/>
              </a:lnSpc>
              <a:buFont typeface="Wingdings" panose="05000000000000000000" pitchFamily="2" charset="2"/>
              <a:buNone/>
            </a:pPr>
            <a:r>
              <a:rPr lang="zh-CN" altLang="en-US">
                <a:latin typeface="Times New Roman" panose="02020603050405020304" pitchFamily="18" charset="0"/>
              </a:rPr>
              <a:t>签名方案是上述的签名方案</a:t>
            </a:r>
            <a:r>
              <a:rPr lang="en-US" altLang="zh-CN">
                <a:latin typeface="Times New Roman" panose="02020603050405020304" pitchFamily="18" charset="0"/>
              </a:rPr>
              <a:t>(</a:t>
            </a:r>
            <a:r>
              <a:rPr lang="zh-CN" altLang="en-US">
                <a:latin typeface="Times New Roman" panose="02020603050405020304" pitchFamily="18" charset="0"/>
              </a:rPr>
              <a:t>二</a:t>
            </a:r>
            <a:r>
              <a:rPr lang="en-US" altLang="zh-CN">
                <a:latin typeface="Times New Roman" panose="02020603050405020304" pitchFamily="18" charset="0"/>
              </a:rPr>
              <a:t>)</a:t>
            </a:r>
            <a:r>
              <a:rPr lang="zh-CN" altLang="en-US">
                <a:latin typeface="Times New Roman" panose="02020603050405020304" pitchFamily="18" charset="0"/>
              </a:rPr>
              <a:t>，额外使用一个公开的杂凑函数</a:t>
            </a:r>
            <a:r>
              <a:rPr lang="en-US" altLang="zh-CN" i="1">
                <a:latin typeface="Times New Roman" panose="02020603050405020304" pitchFamily="18" charset="0"/>
              </a:rPr>
              <a:t>H</a:t>
            </a:r>
            <a:r>
              <a:rPr lang="zh-CN" altLang="en-US">
                <a:latin typeface="Times New Roman" panose="02020603050405020304" pitchFamily="18" charset="0"/>
              </a:rPr>
              <a:t>。设</a:t>
            </a:r>
            <a:r>
              <a:rPr lang="en-US" altLang="zh-CN">
                <a:latin typeface="Times New Roman" panose="02020603050405020304" pitchFamily="18" charset="0"/>
              </a:rPr>
              <a:t>Alice</a:t>
            </a:r>
            <a:r>
              <a:rPr lang="zh-CN" altLang="en-US">
                <a:latin typeface="Times New Roman" panose="02020603050405020304" pitchFamily="18" charset="0"/>
              </a:rPr>
              <a:t>欲发消息</a:t>
            </a:r>
            <a:r>
              <a:rPr lang="en-US" altLang="zh-CN" i="1">
                <a:latin typeface="Times New Roman" panose="02020603050405020304" pitchFamily="18" charset="0"/>
              </a:rPr>
              <a:t>m</a:t>
            </a:r>
            <a:r>
              <a:rPr lang="zh-CN" altLang="en-US">
                <a:latin typeface="Times New Roman" panose="02020603050405020304" pitchFamily="18" charset="0"/>
              </a:rPr>
              <a:t>给</a:t>
            </a:r>
            <a:r>
              <a:rPr lang="en-US" altLang="zh-CN">
                <a:latin typeface="Times New Roman" panose="02020603050405020304" pitchFamily="18" charset="0"/>
              </a:rPr>
              <a:t>Bob</a:t>
            </a:r>
            <a:r>
              <a:rPr lang="zh-CN" altLang="en-US">
                <a:latin typeface="Times New Roman" panose="02020603050405020304" pitchFamily="18" charset="0"/>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灯片编号占位符 4">
            <a:extLst>
              <a:ext uri="{FF2B5EF4-FFF2-40B4-BE49-F238E27FC236}">
                <a16:creationId xmlns:a16="http://schemas.microsoft.com/office/drawing/2014/main" id="{AF85FA46-3DA6-C182-4785-76FF9C20B4AE}"/>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FD5A5DE2-DB7A-42F9-B012-A5BC2615298A}" type="slidenum">
              <a:rPr lang="zh-CN" altLang="en-US" sz="1400" smtClean="0"/>
              <a:pPr eaLnBrk="0" hangingPunct="0">
                <a:spcBef>
                  <a:spcPct val="0"/>
                </a:spcBef>
                <a:buClrTx/>
                <a:buSzTx/>
                <a:buFontTx/>
                <a:buNone/>
              </a:pPr>
              <a:t>28</a:t>
            </a:fld>
            <a:endParaRPr lang="en-US" altLang="zh-CN" sz="1400"/>
          </a:p>
        </p:txBody>
      </p:sp>
      <p:sp>
        <p:nvSpPr>
          <p:cNvPr id="54275" name="Rectangle 2">
            <a:extLst>
              <a:ext uri="{FF2B5EF4-FFF2-40B4-BE49-F238E27FC236}">
                <a16:creationId xmlns:a16="http://schemas.microsoft.com/office/drawing/2014/main" id="{D159D11F-8827-03D6-6C05-48F731C84EC4}"/>
              </a:ext>
            </a:extLst>
          </p:cNvPr>
          <p:cNvSpPr>
            <a:spLocks noGrp="1" noChangeArrowheads="1"/>
          </p:cNvSpPr>
          <p:nvPr>
            <p:ph type="title"/>
          </p:nvPr>
        </p:nvSpPr>
        <p:spPr/>
        <p:txBody>
          <a:bodyPr/>
          <a:lstStyle/>
          <a:p>
            <a:r>
              <a:rPr lang="zh-CN" altLang="en-US" b="1"/>
              <a:t>三、几种常用的数字签名</a:t>
            </a:r>
          </a:p>
        </p:txBody>
      </p:sp>
      <p:sp>
        <p:nvSpPr>
          <p:cNvPr id="54276" name="Rectangle 3">
            <a:extLst>
              <a:ext uri="{FF2B5EF4-FFF2-40B4-BE49-F238E27FC236}">
                <a16:creationId xmlns:a16="http://schemas.microsoft.com/office/drawing/2014/main" id="{323D6F86-7789-51CE-EC68-EE872A4EB578}"/>
              </a:ext>
            </a:extLst>
          </p:cNvPr>
          <p:cNvSpPr>
            <a:spLocks noGrp="1" noChangeArrowheads="1"/>
          </p:cNvSpPr>
          <p:nvPr>
            <p:ph type="body" idx="1"/>
          </p:nvPr>
        </p:nvSpPr>
        <p:spPr>
          <a:xfrm>
            <a:off x="37578" y="2017713"/>
            <a:ext cx="9034414" cy="4114800"/>
          </a:xfrm>
        </p:spPr>
        <p:txBody>
          <a:bodyPr/>
          <a:lstStyle/>
          <a:p>
            <a:pPr>
              <a:lnSpc>
                <a:spcPct val="80000"/>
              </a:lnSpc>
              <a:buFont typeface="Wingdings" panose="05000000000000000000" pitchFamily="2" charset="2"/>
              <a:buNone/>
            </a:pP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a:t>
            </a:r>
            <a:r>
              <a:rPr lang="en-US" altLang="zh-CN" sz="2800" dirty="0">
                <a:latin typeface="Times New Roman" panose="02020603050405020304" pitchFamily="18" charset="0"/>
              </a:rPr>
              <a:t>Alice</a:t>
            </a:r>
            <a:r>
              <a:rPr lang="zh-CN" altLang="en-US" sz="2800" dirty="0">
                <a:latin typeface="Times New Roman" panose="02020603050405020304" pitchFamily="18" charset="0"/>
              </a:rPr>
              <a:t>选择秘密随机数</a:t>
            </a:r>
            <a:r>
              <a:rPr lang="en-US" altLang="zh-CN" sz="2800" i="1" dirty="0">
                <a:latin typeface="Times New Roman" panose="02020603050405020304" pitchFamily="18" charset="0"/>
              </a:rPr>
              <a:t>k</a:t>
            </a:r>
            <a:r>
              <a:rPr lang="zh-CN" altLang="en-US" sz="2800" dirty="0">
                <a:latin typeface="Times New Roman" panose="02020603050405020304" pitchFamily="18" charset="0"/>
              </a:rPr>
              <a:t>，满足</a:t>
            </a:r>
            <a:r>
              <a:rPr lang="en-US" altLang="zh-CN" sz="2800" dirty="0">
                <a:latin typeface="Times New Roman" panose="02020603050405020304" pitchFamily="18" charset="0"/>
              </a:rPr>
              <a:t>0&lt;</a:t>
            </a:r>
            <a:r>
              <a:rPr lang="en-US" altLang="zh-CN" sz="2800" i="1" dirty="0">
                <a:latin typeface="Times New Roman" panose="02020603050405020304" pitchFamily="18" charset="0"/>
              </a:rPr>
              <a:t>k</a:t>
            </a:r>
            <a:r>
              <a:rPr lang="en-US" altLang="zh-CN" sz="2800" dirty="0">
                <a:latin typeface="Times New Roman" panose="02020603050405020304" pitchFamily="18" charset="0"/>
              </a:rPr>
              <a:t>&lt;</a:t>
            </a:r>
            <a:r>
              <a:rPr lang="en-US" altLang="zh-CN" sz="2800" i="1" dirty="0">
                <a:latin typeface="Times New Roman" panose="02020603050405020304" pitchFamily="18" charset="0"/>
              </a:rPr>
              <a:t>q</a:t>
            </a:r>
            <a:r>
              <a:rPr lang="zh-CN" altLang="en-US" sz="2800" dirty="0">
                <a:latin typeface="Times New Roman" panose="02020603050405020304" pitchFamily="18" charset="0"/>
              </a:rPr>
              <a:t>，计算</a:t>
            </a:r>
          </a:p>
          <a:p>
            <a:pPr algn="ctr">
              <a:lnSpc>
                <a:spcPct val="80000"/>
              </a:lnSpc>
              <a:buFont typeface="Wingdings" panose="05000000000000000000" pitchFamily="2" charset="2"/>
              <a:buNone/>
            </a:pPr>
            <a:r>
              <a:rPr lang="en-US" altLang="zh-CN" sz="2800" i="1" dirty="0">
                <a:latin typeface="Times New Roman" panose="02020603050405020304" pitchFamily="18" charset="0"/>
              </a:rPr>
              <a:t>r=</a:t>
            </a:r>
            <a:r>
              <a:rPr lang="en-US" altLang="zh-CN" sz="2800" i="1" dirty="0" err="1">
                <a:latin typeface="Times New Roman" panose="02020603050405020304" pitchFamily="18" charset="0"/>
              </a:rPr>
              <a:t>g</a:t>
            </a:r>
            <a:r>
              <a:rPr lang="en-US" altLang="zh-CN" sz="2800" i="1" baseline="30000" dirty="0" err="1">
                <a:latin typeface="Times New Roman" panose="02020603050405020304" pitchFamily="18" charset="0"/>
              </a:rPr>
              <a:t>k</a:t>
            </a:r>
            <a:r>
              <a:rPr lang="en-US" altLang="zh-CN" sz="2800" dirty="0">
                <a:latin typeface="Times New Roman" panose="02020603050405020304" pitchFamily="18" charset="0"/>
              </a:rPr>
              <a:t>(</a:t>
            </a:r>
            <a:r>
              <a:rPr lang="en-US" altLang="zh-CN" sz="2800" dirty="0" err="1">
                <a:latin typeface="Times New Roman" panose="02020603050405020304" pitchFamily="18" charset="0"/>
              </a:rPr>
              <a:t>mod</a:t>
            </a:r>
            <a:r>
              <a:rPr lang="en-US" altLang="zh-CN" sz="2800" i="1" dirty="0" err="1">
                <a:latin typeface="Times New Roman" panose="02020603050405020304" pitchFamily="18" charset="0"/>
              </a:rPr>
              <a:t>p</a:t>
            </a:r>
            <a:r>
              <a:rPr lang="en-US" altLang="zh-CN" sz="2800" dirty="0">
                <a:latin typeface="Times New Roman" panose="02020603050405020304" pitchFamily="18" charset="0"/>
              </a:rPr>
              <a:t>)</a:t>
            </a:r>
            <a:r>
              <a:rPr lang="zh-CN" altLang="en-US" sz="2800" dirty="0">
                <a:latin typeface="Times New Roman" panose="02020603050405020304" pitchFamily="18" charset="0"/>
              </a:rPr>
              <a:t>；</a:t>
            </a:r>
          </a:p>
          <a:p>
            <a:pPr algn="ctr">
              <a:lnSpc>
                <a:spcPct val="80000"/>
              </a:lnSpc>
              <a:buFont typeface="Wingdings" panose="05000000000000000000" pitchFamily="2" charset="2"/>
              <a:buNone/>
            </a:pPr>
            <a:r>
              <a:rPr lang="en-US" altLang="zh-CN" sz="2800" i="1" dirty="0">
                <a:latin typeface="Times New Roman" panose="02020603050405020304" pitchFamily="18" charset="0"/>
              </a:rPr>
              <a:t>e=H</a:t>
            </a:r>
            <a:r>
              <a:rPr lang="en-US" altLang="zh-CN" sz="2800" dirty="0">
                <a:latin typeface="Times New Roman" panose="02020603050405020304" pitchFamily="18" charset="0"/>
              </a:rPr>
              <a:t>(</a:t>
            </a:r>
            <a:r>
              <a:rPr lang="en-US" altLang="zh-CN" sz="2800" i="1" dirty="0">
                <a:latin typeface="Times New Roman" panose="02020603050405020304" pitchFamily="18" charset="0"/>
              </a:rPr>
              <a:t>r, m</a:t>
            </a:r>
            <a:r>
              <a:rPr lang="en-US" altLang="zh-CN" sz="2800" dirty="0">
                <a:latin typeface="Times New Roman" panose="02020603050405020304" pitchFamily="18" charset="0"/>
              </a:rPr>
              <a:t>)</a:t>
            </a:r>
            <a:r>
              <a:rPr lang="zh-CN" altLang="en-US" sz="2800" dirty="0">
                <a:latin typeface="Times New Roman" panose="02020603050405020304" pitchFamily="18" charset="0"/>
              </a:rPr>
              <a:t>；</a:t>
            </a:r>
          </a:p>
          <a:p>
            <a:pPr algn="ctr">
              <a:lnSpc>
                <a:spcPct val="80000"/>
              </a:lnSpc>
              <a:buFont typeface="Wingdings" panose="05000000000000000000" pitchFamily="2" charset="2"/>
              <a:buNone/>
            </a:pPr>
            <a:r>
              <a:rPr lang="en-US" altLang="zh-CN" sz="2800" dirty="0">
                <a:latin typeface="Times New Roman" panose="02020603050405020304" pitchFamily="18" charset="0"/>
              </a:rPr>
              <a:t> </a:t>
            </a:r>
            <a:r>
              <a:rPr lang="en-US" altLang="zh-CN" sz="2800" i="1" dirty="0">
                <a:latin typeface="Times New Roman" panose="02020603050405020304" pitchFamily="18" charset="0"/>
              </a:rPr>
              <a:t>s</a:t>
            </a:r>
            <a:r>
              <a:rPr lang="en-US" altLang="zh-CN" sz="2800" dirty="0">
                <a:latin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rPr>
              <a:t>k</a:t>
            </a:r>
            <a:r>
              <a:rPr lang="en-US" altLang="zh-CN" sz="2800" dirty="0" err="1">
                <a:latin typeface="Times New Roman" panose="02020603050405020304" pitchFamily="18" charset="0"/>
              </a:rPr>
              <a:t>＋</a:t>
            </a:r>
            <a:r>
              <a:rPr lang="en-US" altLang="zh-CN" sz="2800" i="1" dirty="0" err="1">
                <a:latin typeface="Times New Roman" panose="02020603050405020304" pitchFamily="18" charset="0"/>
              </a:rPr>
              <a:t>xe</a:t>
            </a:r>
            <a:r>
              <a:rPr lang="en-US" altLang="zh-CN" sz="2800" dirty="0">
                <a:latin typeface="Times New Roman" panose="02020603050405020304" pitchFamily="18" charset="0"/>
              </a:rPr>
              <a:t>(</a:t>
            </a:r>
            <a:r>
              <a:rPr lang="en-US" altLang="zh-CN" sz="2800" dirty="0" err="1">
                <a:latin typeface="Times New Roman" panose="02020603050405020304" pitchFamily="18" charset="0"/>
              </a:rPr>
              <a:t>mod</a:t>
            </a:r>
            <a:r>
              <a:rPr lang="en-US" altLang="zh-CN" sz="2800" i="1" dirty="0" err="1">
                <a:latin typeface="Times New Roman" panose="02020603050405020304" pitchFamily="18" charset="0"/>
              </a:rPr>
              <a:t>q</a:t>
            </a:r>
            <a:r>
              <a:rPr lang="en-US" altLang="zh-CN" sz="2800" dirty="0">
                <a:latin typeface="Times New Roman" panose="02020603050405020304" pitchFamily="18" charset="0"/>
              </a:rPr>
              <a:t>)</a:t>
            </a:r>
            <a:r>
              <a:rPr lang="zh-CN" altLang="en-US" sz="2800" i="1" dirty="0">
                <a:latin typeface="Times New Roman" panose="02020603050405020304" pitchFamily="18" charset="0"/>
              </a:rPr>
              <a:t>。</a:t>
            </a:r>
          </a:p>
          <a:p>
            <a:pPr>
              <a:lnSpc>
                <a:spcPct val="80000"/>
              </a:lnSpc>
              <a:buFont typeface="Wingdings" panose="05000000000000000000" pitchFamily="2" charset="2"/>
              <a:buNone/>
            </a:pPr>
            <a:r>
              <a:rPr lang="zh-CN" altLang="en-US" sz="2800" dirty="0">
                <a:latin typeface="Times New Roman" panose="02020603050405020304" pitchFamily="18" charset="0"/>
              </a:rPr>
              <a:t>（</a:t>
            </a:r>
            <a:r>
              <a:rPr lang="en-US" altLang="zh-CN" sz="2800" dirty="0">
                <a:latin typeface="Times New Roman" panose="02020603050405020304" pitchFamily="18" charset="0"/>
              </a:rPr>
              <a:t>3</a:t>
            </a:r>
            <a:r>
              <a:rPr lang="zh-CN" altLang="en-US" sz="2800" dirty="0">
                <a:latin typeface="Times New Roman" panose="02020603050405020304" pitchFamily="18" charset="0"/>
              </a:rPr>
              <a:t>） </a:t>
            </a:r>
            <a:r>
              <a:rPr lang="en-US" altLang="zh-CN" sz="2800" dirty="0">
                <a:latin typeface="Times New Roman" panose="02020603050405020304" pitchFamily="18" charset="0"/>
              </a:rPr>
              <a:t>Alice</a:t>
            </a:r>
            <a:r>
              <a:rPr lang="zh-CN" altLang="en-US" sz="2800" dirty="0">
                <a:latin typeface="Times New Roman" panose="02020603050405020304" pitchFamily="18" charset="0"/>
              </a:rPr>
              <a:t>将</a:t>
            </a:r>
            <a:r>
              <a:rPr lang="en-US" altLang="zh-CN" sz="2800" dirty="0">
                <a:latin typeface="Times New Roman" panose="02020603050405020304" pitchFamily="18" charset="0"/>
              </a:rPr>
              <a:t>(</a:t>
            </a:r>
            <a:r>
              <a:rPr lang="en-US" altLang="zh-CN" sz="2800" i="1" dirty="0">
                <a:latin typeface="Times New Roman" panose="02020603050405020304" pitchFamily="18" charset="0"/>
              </a:rPr>
              <a:t>m</a:t>
            </a:r>
            <a:r>
              <a:rPr lang="zh-CN" altLang="en-US" sz="2800" dirty="0">
                <a:latin typeface="Times New Roman" panose="02020603050405020304" pitchFamily="18" charset="0"/>
              </a:rPr>
              <a:t>，</a:t>
            </a:r>
            <a:r>
              <a:rPr lang="en-US" altLang="zh-CN" sz="2800" i="1" dirty="0">
                <a:latin typeface="Times New Roman" panose="02020603050405020304" pitchFamily="18" charset="0"/>
              </a:rPr>
              <a:t>e</a:t>
            </a:r>
            <a:r>
              <a:rPr lang="zh-CN" altLang="en-US" sz="2800" dirty="0">
                <a:latin typeface="Times New Roman" panose="02020603050405020304" pitchFamily="18" charset="0"/>
              </a:rPr>
              <a:t>，</a:t>
            </a:r>
            <a:r>
              <a:rPr lang="en-US" altLang="zh-CN" sz="2800" i="1" dirty="0">
                <a:latin typeface="Times New Roman" panose="02020603050405020304" pitchFamily="18" charset="0"/>
              </a:rPr>
              <a:t>s</a:t>
            </a:r>
            <a:r>
              <a:rPr lang="en-US" altLang="zh-CN" sz="2800" dirty="0">
                <a:latin typeface="Times New Roman" panose="02020603050405020304" pitchFamily="18" charset="0"/>
              </a:rPr>
              <a:t>)</a:t>
            </a:r>
            <a:r>
              <a:rPr lang="zh-CN" altLang="en-US" sz="2800" dirty="0">
                <a:latin typeface="Times New Roman" panose="02020603050405020304" pitchFamily="18" charset="0"/>
              </a:rPr>
              <a:t>发送给</a:t>
            </a:r>
            <a:r>
              <a:rPr lang="en-US" altLang="zh-CN" sz="2800" dirty="0">
                <a:latin typeface="Times New Roman" panose="02020603050405020304" pitchFamily="18" charset="0"/>
              </a:rPr>
              <a:t>Bob</a:t>
            </a:r>
            <a:r>
              <a:rPr lang="zh-CN" altLang="en-US" sz="2800" dirty="0">
                <a:latin typeface="Times New Roman" panose="02020603050405020304" pitchFamily="18" charset="0"/>
              </a:rPr>
              <a:t>。</a:t>
            </a:r>
          </a:p>
          <a:p>
            <a:pPr>
              <a:lnSpc>
                <a:spcPct val="80000"/>
              </a:lnSpc>
              <a:buFont typeface="Wingdings" panose="05000000000000000000" pitchFamily="2" charset="2"/>
              <a:buNone/>
            </a:pPr>
            <a:r>
              <a:rPr lang="zh-CN" altLang="en-US" sz="2800" dirty="0">
                <a:latin typeface="Times New Roman" panose="02020603050405020304" pitchFamily="18" charset="0"/>
              </a:rPr>
              <a:t>（</a:t>
            </a:r>
            <a:r>
              <a:rPr lang="en-US" altLang="zh-CN" sz="2800" dirty="0">
                <a:latin typeface="Times New Roman" panose="02020603050405020304" pitchFamily="18" charset="0"/>
              </a:rPr>
              <a:t>4</a:t>
            </a:r>
            <a:r>
              <a:rPr lang="zh-CN" altLang="en-US" sz="2800" dirty="0">
                <a:latin typeface="Times New Roman" panose="02020603050405020304" pitchFamily="18" charset="0"/>
              </a:rPr>
              <a:t>） </a:t>
            </a:r>
            <a:r>
              <a:rPr lang="en-US" altLang="zh-CN" sz="2800" dirty="0">
                <a:latin typeface="Times New Roman" panose="02020603050405020304" pitchFamily="18" charset="0"/>
              </a:rPr>
              <a:t>Bob</a:t>
            </a:r>
            <a:r>
              <a:rPr lang="zh-CN" altLang="en-US" sz="2800" dirty="0">
                <a:latin typeface="Times New Roman" panose="02020603050405020304" pitchFamily="18" charset="0"/>
              </a:rPr>
              <a:t>用</a:t>
            </a:r>
            <a:r>
              <a:rPr lang="en-US" altLang="zh-CN" sz="2800" dirty="0">
                <a:latin typeface="Times New Roman" panose="02020603050405020304" pitchFamily="18" charset="0"/>
              </a:rPr>
              <a:t>Alice</a:t>
            </a:r>
            <a:r>
              <a:rPr lang="zh-CN" altLang="en-US" sz="2800" dirty="0">
                <a:latin typeface="Times New Roman" panose="02020603050405020304" pitchFamily="18" charset="0"/>
              </a:rPr>
              <a:t>的公钥，计算</a:t>
            </a:r>
            <a:r>
              <a:rPr lang="en-US" altLang="zh-CN" sz="2800" i="1" dirty="0">
                <a:latin typeface="Times New Roman" panose="02020603050405020304" pitchFamily="18" charset="0"/>
              </a:rPr>
              <a:t>r</a:t>
            </a:r>
            <a:r>
              <a:rPr lang="en-US" altLang="zh-CN" sz="2800" dirty="0">
                <a:latin typeface="Times New Roman" panose="02020603050405020304" pitchFamily="18" charset="0"/>
                <a:sym typeface="Courier New" panose="02070309020205020404" pitchFamily="49" charset="0"/>
              </a:rPr>
              <a:t>’</a:t>
            </a:r>
            <a:r>
              <a:rPr lang="en-US" altLang="zh-CN" sz="2800" dirty="0">
                <a:latin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rPr>
              <a:t>g</a:t>
            </a:r>
            <a:r>
              <a:rPr lang="en-US" altLang="zh-CN" sz="2800" i="1" baseline="30000" dirty="0" err="1">
                <a:latin typeface="Times New Roman" panose="02020603050405020304" pitchFamily="18" charset="0"/>
              </a:rPr>
              <a:t>s</a:t>
            </a:r>
            <a:r>
              <a:rPr lang="en-US" altLang="zh-CN" sz="2800" i="1" dirty="0" err="1">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e</a:t>
            </a:r>
            <a:r>
              <a:rPr lang="en-US" altLang="zh-CN" sz="2800" dirty="0">
                <a:latin typeface="Times New Roman" panose="02020603050405020304" pitchFamily="18" charset="0"/>
              </a:rPr>
              <a:t>(mod</a:t>
            </a:r>
            <a:r>
              <a:rPr lang="en-US" altLang="zh-CN" sz="2800" i="1" dirty="0">
                <a:latin typeface="Times New Roman" panose="02020603050405020304" pitchFamily="18" charset="0"/>
              </a:rPr>
              <a:t> p</a:t>
            </a:r>
            <a:r>
              <a:rPr lang="en-US" altLang="zh-CN" sz="2800" dirty="0">
                <a:latin typeface="Times New Roman" panose="02020603050405020304" pitchFamily="18" charset="0"/>
              </a:rPr>
              <a:t>)</a:t>
            </a:r>
            <a:r>
              <a:rPr lang="zh-CN" altLang="en-US" sz="2800" dirty="0">
                <a:latin typeface="Times New Roman" panose="02020603050405020304" pitchFamily="18" charset="0"/>
              </a:rPr>
              <a:t>。检验是否</a:t>
            </a:r>
          </a:p>
          <a:p>
            <a:pPr algn="ctr">
              <a:lnSpc>
                <a:spcPct val="80000"/>
              </a:lnSpc>
              <a:buFont typeface="Wingdings" panose="05000000000000000000" pitchFamily="2" charset="2"/>
              <a:buNone/>
            </a:pPr>
            <a:r>
              <a:rPr lang="en-US" altLang="zh-CN" sz="2800" i="1" dirty="0">
                <a:latin typeface="Times New Roman" panose="02020603050405020304" pitchFamily="18" charset="0"/>
              </a:rPr>
              <a:t>e=H</a:t>
            </a:r>
            <a:r>
              <a:rPr lang="en-US" altLang="zh-CN" sz="2800" dirty="0">
                <a:latin typeface="Times New Roman" panose="02020603050405020304" pitchFamily="18" charset="0"/>
              </a:rPr>
              <a:t>(</a:t>
            </a:r>
            <a:r>
              <a:rPr lang="en-US" altLang="zh-CN" sz="2800" i="1" dirty="0">
                <a:latin typeface="Times New Roman" panose="02020603050405020304" pitchFamily="18" charset="0"/>
              </a:rPr>
              <a:t>r</a:t>
            </a:r>
            <a:r>
              <a:rPr lang="en-US" altLang="zh-CN" sz="2800" dirty="0">
                <a:latin typeface="Times New Roman" panose="02020603050405020304" pitchFamily="18" charset="0"/>
                <a:sym typeface="Courier New" panose="02070309020205020404" pitchFamily="49" charset="0"/>
              </a:rPr>
              <a:t>’</a:t>
            </a:r>
            <a:r>
              <a:rPr lang="en-US" altLang="zh-CN" sz="2800" i="1" dirty="0">
                <a:latin typeface="Times New Roman" panose="02020603050405020304" pitchFamily="18" charset="0"/>
              </a:rPr>
              <a:t>, m</a:t>
            </a:r>
            <a:r>
              <a:rPr lang="en-US" altLang="zh-CN" sz="2800" dirty="0">
                <a:latin typeface="Times New Roman" panose="02020603050405020304" pitchFamily="18" charset="0"/>
              </a:rPr>
              <a:t>)</a:t>
            </a:r>
            <a:r>
              <a:rPr lang="zh-CN" altLang="en-US" sz="2800" dirty="0">
                <a:latin typeface="Times New Roman" panose="02020603050405020304" pitchFamily="18" charset="0"/>
              </a:rPr>
              <a:t>。</a:t>
            </a:r>
          </a:p>
          <a:p>
            <a:pPr>
              <a:lnSpc>
                <a:spcPct val="80000"/>
              </a:lnSpc>
              <a:buFont typeface="Wingdings" panose="05000000000000000000" pitchFamily="2" charset="2"/>
              <a:buNone/>
            </a:pPr>
            <a:r>
              <a:rPr lang="zh-CN" altLang="en-US" sz="2800" dirty="0">
                <a:latin typeface="Times New Roman" panose="02020603050405020304" pitchFamily="18" charset="0"/>
              </a:rPr>
              <a:t>若是则</a:t>
            </a:r>
            <a:r>
              <a:rPr lang="en-US" altLang="zh-CN" sz="2800" dirty="0">
                <a:latin typeface="Times New Roman" panose="02020603050405020304" pitchFamily="18" charset="0"/>
              </a:rPr>
              <a:t>(</a:t>
            </a:r>
            <a:r>
              <a:rPr lang="en-US" altLang="zh-CN" sz="2800" i="1" dirty="0">
                <a:latin typeface="Times New Roman" panose="02020603050405020304" pitchFamily="18" charset="0"/>
              </a:rPr>
              <a:t>m</a:t>
            </a:r>
            <a:r>
              <a:rPr lang="zh-CN" altLang="en-US" sz="2800" dirty="0">
                <a:latin typeface="Times New Roman" panose="02020603050405020304" pitchFamily="18" charset="0"/>
              </a:rPr>
              <a:t>，</a:t>
            </a:r>
            <a:r>
              <a:rPr lang="en-US" altLang="zh-CN" sz="2800" i="1" dirty="0">
                <a:latin typeface="Times New Roman" panose="02020603050405020304" pitchFamily="18" charset="0"/>
              </a:rPr>
              <a:t>e</a:t>
            </a:r>
            <a:r>
              <a:rPr lang="zh-CN" altLang="en-US" sz="2800" dirty="0">
                <a:latin typeface="Times New Roman" panose="02020603050405020304" pitchFamily="18" charset="0"/>
              </a:rPr>
              <a:t>，</a:t>
            </a:r>
            <a:r>
              <a:rPr lang="en-US" altLang="zh-CN" sz="2800" i="1" dirty="0">
                <a:latin typeface="Times New Roman" panose="02020603050405020304" pitchFamily="18" charset="0"/>
              </a:rPr>
              <a:t>s</a:t>
            </a:r>
            <a:r>
              <a:rPr lang="en-US" altLang="zh-CN" sz="2800" dirty="0">
                <a:latin typeface="Times New Roman" panose="02020603050405020304" pitchFamily="18" charset="0"/>
              </a:rPr>
              <a:t>)</a:t>
            </a:r>
            <a:r>
              <a:rPr lang="zh-CN" altLang="en-US" sz="2800" dirty="0">
                <a:latin typeface="Times New Roman" panose="02020603050405020304" pitchFamily="18" charset="0"/>
              </a:rPr>
              <a:t>是</a:t>
            </a:r>
            <a:r>
              <a:rPr lang="en-US" altLang="zh-CN" sz="2800" dirty="0">
                <a:latin typeface="Times New Roman" panose="02020603050405020304" pitchFamily="18" charset="0"/>
              </a:rPr>
              <a:t>Alice</a:t>
            </a:r>
            <a:r>
              <a:rPr lang="zh-CN" altLang="en-US" sz="2800" dirty="0">
                <a:latin typeface="Times New Roman" panose="02020603050405020304" pitchFamily="18" charset="0"/>
              </a:rPr>
              <a:t>发送的签名消息。</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灯片编号占位符 4">
            <a:extLst>
              <a:ext uri="{FF2B5EF4-FFF2-40B4-BE49-F238E27FC236}">
                <a16:creationId xmlns:a16="http://schemas.microsoft.com/office/drawing/2014/main" id="{B9FF7747-661C-BB5C-2B6D-5C0A95B0C4F3}"/>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35B6B9B2-E6CB-499D-B184-62636B50576D}" type="slidenum">
              <a:rPr lang="zh-CN" altLang="en-US" sz="1400" smtClean="0"/>
              <a:pPr eaLnBrk="0" hangingPunct="0">
                <a:spcBef>
                  <a:spcPct val="0"/>
                </a:spcBef>
                <a:buClrTx/>
                <a:buSzTx/>
                <a:buFontTx/>
                <a:buNone/>
              </a:pPr>
              <a:t>29</a:t>
            </a:fld>
            <a:endParaRPr lang="en-US" altLang="zh-CN" sz="1400"/>
          </a:p>
        </p:txBody>
      </p:sp>
      <p:sp>
        <p:nvSpPr>
          <p:cNvPr id="55299" name="Rectangle 2">
            <a:extLst>
              <a:ext uri="{FF2B5EF4-FFF2-40B4-BE49-F238E27FC236}">
                <a16:creationId xmlns:a16="http://schemas.microsoft.com/office/drawing/2014/main" id="{5EDE6026-CAF3-7541-DD69-C226BC38980A}"/>
              </a:ext>
            </a:extLst>
          </p:cNvPr>
          <p:cNvSpPr>
            <a:spLocks noGrp="1" noChangeArrowheads="1"/>
          </p:cNvSpPr>
          <p:nvPr>
            <p:ph type="title"/>
          </p:nvPr>
        </p:nvSpPr>
        <p:spPr/>
        <p:txBody>
          <a:bodyPr/>
          <a:lstStyle/>
          <a:p>
            <a:r>
              <a:rPr lang="zh-CN" altLang="en-US" b="1"/>
              <a:t>三、几种常用的数字签名</a:t>
            </a:r>
          </a:p>
        </p:txBody>
      </p:sp>
      <p:sp>
        <p:nvSpPr>
          <p:cNvPr id="55300" name="Rectangle 3">
            <a:extLst>
              <a:ext uri="{FF2B5EF4-FFF2-40B4-BE49-F238E27FC236}">
                <a16:creationId xmlns:a16="http://schemas.microsoft.com/office/drawing/2014/main" id="{ECB434D5-A1D6-1A3A-70C4-CF7CD7E699B8}"/>
              </a:ext>
            </a:extLst>
          </p:cNvPr>
          <p:cNvSpPr>
            <a:spLocks noGrp="1" noChangeArrowheads="1"/>
          </p:cNvSpPr>
          <p:nvPr>
            <p:ph type="body" idx="1"/>
          </p:nvPr>
        </p:nvSpPr>
        <p:spPr>
          <a:xfrm>
            <a:off x="611188" y="2017713"/>
            <a:ext cx="8137525" cy="4114800"/>
          </a:xfrm>
        </p:spPr>
        <p:txBody>
          <a:bodyPr/>
          <a:lstStyle/>
          <a:p>
            <a:pPr algn="ctr">
              <a:spcAft>
                <a:spcPts val="600"/>
              </a:spcAft>
              <a:buFont typeface="Wingdings" panose="05000000000000000000" pitchFamily="2" charset="2"/>
              <a:buNone/>
            </a:pPr>
            <a:r>
              <a:rPr lang="en-US" altLang="zh-CN" b="1">
                <a:latin typeface="Times New Roman" panose="02020603050405020304" pitchFamily="18" charset="0"/>
              </a:rPr>
              <a:t>Schnorr</a:t>
            </a:r>
            <a:r>
              <a:rPr lang="zh-CN" altLang="en-US" b="1">
                <a:latin typeface="Times New Roman" panose="02020603050405020304" pitchFamily="18" charset="0"/>
              </a:rPr>
              <a:t>签名与</a:t>
            </a:r>
            <a:r>
              <a:rPr lang="en-US" altLang="zh-CN" b="1">
                <a:latin typeface="Times New Roman" panose="02020603050405020304" pitchFamily="18" charset="0"/>
              </a:rPr>
              <a:t>ElGamal</a:t>
            </a:r>
            <a:r>
              <a:rPr lang="zh-CN" altLang="en-US" b="1">
                <a:latin typeface="Times New Roman" panose="02020603050405020304" pitchFamily="18" charset="0"/>
              </a:rPr>
              <a:t>签名的不同点：</a:t>
            </a:r>
          </a:p>
          <a:p>
            <a:pPr algn="ctr">
              <a:spcAft>
                <a:spcPts val="600"/>
              </a:spcAft>
              <a:buFont typeface="Wingdings" panose="05000000000000000000" pitchFamily="2" charset="2"/>
              <a:buNone/>
            </a:pPr>
            <a:endParaRPr lang="zh-CN" altLang="en-US" sz="2800">
              <a:latin typeface="Times New Roman" panose="02020603050405020304" pitchFamily="18" charset="0"/>
            </a:endParaRPr>
          </a:p>
          <a:p>
            <a:pPr>
              <a:spcAft>
                <a:spcPts val="600"/>
              </a:spcAft>
              <a:buFont typeface="Wingdings" panose="05000000000000000000" pitchFamily="2" charset="2"/>
              <a:buNone/>
            </a:pPr>
            <a:r>
              <a:rPr lang="zh-CN" altLang="en-US" sz="2800">
                <a:latin typeface="Times New Roman" panose="02020603050405020304" pitchFamily="18" charset="0"/>
              </a:rPr>
              <a:t>   </a:t>
            </a:r>
            <a:r>
              <a:rPr lang="zh-CN" altLang="en-US" sz="2800">
                <a:latin typeface="Times New Roman" panose="02020603050405020304" pitchFamily="18" charset="0"/>
                <a:sym typeface="Monotype Sorts" pitchFamily="2" charset="2"/>
              </a:rPr>
              <a:t></a:t>
            </a:r>
            <a:r>
              <a:rPr lang="zh-CN" altLang="en-US" sz="2800">
                <a:latin typeface="Times New Roman" panose="02020603050405020304" pitchFamily="18" charset="0"/>
              </a:rPr>
              <a:t>  在</a:t>
            </a:r>
            <a:r>
              <a:rPr lang="en-US" altLang="zh-CN" sz="2800">
                <a:latin typeface="Times New Roman" panose="02020603050405020304" pitchFamily="18" charset="0"/>
              </a:rPr>
              <a:t>ElGamal</a:t>
            </a:r>
            <a:r>
              <a:rPr lang="zh-CN" altLang="en-US" sz="2800">
                <a:latin typeface="Times New Roman" panose="02020603050405020304" pitchFamily="18" charset="0"/>
              </a:rPr>
              <a:t>体制中， </a:t>
            </a:r>
            <a:r>
              <a:rPr lang="en-US" altLang="zh-CN" sz="2800" i="1">
                <a:latin typeface="Times New Roman" panose="02020603050405020304" pitchFamily="18" charset="0"/>
              </a:rPr>
              <a:t>g</a:t>
            </a:r>
            <a:r>
              <a:rPr lang="zh-CN" altLang="en-US" sz="2800">
                <a:latin typeface="Times New Roman" panose="02020603050405020304" pitchFamily="18" charset="0"/>
              </a:rPr>
              <a:t>为域</a:t>
            </a:r>
            <a:r>
              <a:rPr lang="en-US" altLang="zh-CN" sz="2800" i="1">
                <a:latin typeface="Times New Roman" panose="02020603050405020304" pitchFamily="18" charset="0"/>
              </a:rPr>
              <a:t>GF</a:t>
            </a:r>
            <a:r>
              <a:rPr lang="en-US" altLang="zh-CN" sz="2800">
                <a:latin typeface="Times New Roman" panose="02020603050405020304" pitchFamily="18" charset="0"/>
              </a:rPr>
              <a:t>(</a:t>
            </a:r>
            <a:r>
              <a:rPr lang="en-US" altLang="zh-CN" sz="2800" i="1">
                <a:latin typeface="Times New Roman" panose="02020603050405020304" pitchFamily="18" charset="0"/>
              </a:rPr>
              <a:t>p</a:t>
            </a:r>
            <a:r>
              <a:rPr lang="en-US" altLang="zh-CN" sz="2800">
                <a:latin typeface="Times New Roman" panose="02020603050405020304" pitchFamily="18" charset="0"/>
              </a:rPr>
              <a:t>)</a:t>
            </a:r>
            <a:r>
              <a:rPr lang="zh-CN" altLang="en-US" sz="2800">
                <a:latin typeface="Times New Roman" panose="02020603050405020304" pitchFamily="18" charset="0"/>
              </a:rPr>
              <a:t>的本原元素；而在</a:t>
            </a:r>
            <a:r>
              <a:rPr lang="en-US" altLang="zh-CN" sz="2800">
                <a:latin typeface="Times New Roman" panose="02020603050405020304" pitchFamily="18" charset="0"/>
              </a:rPr>
              <a:t>Schnorr</a:t>
            </a:r>
            <a:r>
              <a:rPr lang="zh-CN" altLang="en-US" sz="2800">
                <a:latin typeface="Times New Roman" panose="02020603050405020304" pitchFamily="18" charset="0"/>
              </a:rPr>
              <a:t>体制中， </a:t>
            </a:r>
            <a:r>
              <a:rPr lang="en-US" altLang="zh-CN" sz="2800" i="1">
                <a:latin typeface="Times New Roman" panose="02020603050405020304" pitchFamily="18" charset="0"/>
              </a:rPr>
              <a:t>g</a:t>
            </a:r>
            <a:r>
              <a:rPr lang="zh-CN" altLang="en-US" sz="2800">
                <a:latin typeface="Times New Roman" panose="02020603050405020304" pitchFamily="18" charset="0"/>
              </a:rPr>
              <a:t>只是域</a:t>
            </a:r>
            <a:r>
              <a:rPr lang="en-US" altLang="zh-CN" sz="2800" i="1">
                <a:latin typeface="Times New Roman" panose="02020603050405020304" pitchFamily="18" charset="0"/>
              </a:rPr>
              <a:t>GF</a:t>
            </a:r>
            <a:r>
              <a:rPr lang="en-US" altLang="zh-CN" sz="2800">
                <a:latin typeface="Times New Roman" panose="02020603050405020304" pitchFamily="18" charset="0"/>
              </a:rPr>
              <a:t>(</a:t>
            </a:r>
            <a:r>
              <a:rPr lang="en-US" altLang="zh-CN" sz="2800" i="1">
                <a:latin typeface="Times New Roman" panose="02020603050405020304" pitchFamily="18" charset="0"/>
              </a:rPr>
              <a:t>p</a:t>
            </a:r>
            <a:r>
              <a:rPr lang="en-US" altLang="zh-CN" sz="2800">
                <a:latin typeface="Times New Roman" panose="02020603050405020304" pitchFamily="18" charset="0"/>
              </a:rPr>
              <a:t>)</a:t>
            </a:r>
            <a:r>
              <a:rPr lang="zh-CN" altLang="en-US" sz="2800">
                <a:latin typeface="Times New Roman" panose="02020603050405020304" pitchFamily="18" charset="0"/>
              </a:rPr>
              <a:t>的阶为</a:t>
            </a:r>
            <a:r>
              <a:rPr lang="en-US" altLang="zh-CN" sz="2800" i="1">
                <a:latin typeface="Times New Roman" panose="02020603050405020304" pitchFamily="18" charset="0"/>
              </a:rPr>
              <a:t>q</a:t>
            </a:r>
            <a:r>
              <a:rPr lang="zh-CN" altLang="en-US" sz="2800">
                <a:latin typeface="Times New Roman" panose="02020603050405020304" pitchFamily="18" charset="0"/>
              </a:rPr>
              <a:t>的元素，而非本原元素。因此，虽然两者都是基于离散对数的困难性，然而</a:t>
            </a:r>
            <a:r>
              <a:rPr lang="en-US" altLang="zh-CN" sz="2800">
                <a:latin typeface="Times New Roman" panose="02020603050405020304" pitchFamily="18" charset="0"/>
              </a:rPr>
              <a:t>ElGamal</a:t>
            </a:r>
            <a:r>
              <a:rPr lang="zh-CN" altLang="en-US" sz="2800">
                <a:latin typeface="Times New Roman" panose="02020603050405020304" pitchFamily="18" charset="0"/>
              </a:rPr>
              <a:t>的离散对数阶为</a:t>
            </a:r>
            <a:r>
              <a:rPr lang="en-US" altLang="zh-CN" sz="2800" i="1">
                <a:latin typeface="Times New Roman" panose="02020603050405020304" pitchFamily="18" charset="0"/>
              </a:rPr>
              <a:t>p</a:t>
            </a:r>
            <a:r>
              <a:rPr lang="en-US" altLang="zh-CN" sz="2800">
                <a:latin typeface="Times New Roman" panose="02020603050405020304" pitchFamily="18" charset="0"/>
              </a:rPr>
              <a:t>-1</a:t>
            </a:r>
            <a:r>
              <a:rPr lang="zh-CN" altLang="en-US" sz="2800">
                <a:latin typeface="Times New Roman" panose="02020603050405020304" pitchFamily="18" charset="0"/>
              </a:rPr>
              <a:t>， </a:t>
            </a:r>
            <a:r>
              <a:rPr lang="en-US" altLang="zh-CN" sz="2800">
                <a:latin typeface="Times New Roman" panose="02020603050405020304" pitchFamily="18" charset="0"/>
              </a:rPr>
              <a:t>Schnorr</a:t>
            </a:r>
            <a:r>
              <a:rPr lang="zh-CN" altLang="en-US" sz="2800">
                <a:latin typeface="Times New Roman" panose="02020603050405020304" pitchFamily="18" charset="0"/>
              </a:rPr>
              <a:t>的离散对数阶为</a:t>
            </a:r>
            <a:r>
              <a:rPr lang="en-US" altLang="zh-CN" sz="2800" i="1">
                <a:latin typeface="Times New Roman" panose="02020603050405020304" pitchFamily="18" charset="0"/>
              </a:rPr>
              <a:t>q</a:t>
            </a:r>
            <a:r>
              <a:rPr lang="en-US" altLang="zh-CN" sz="2800">
                <a:latin typeface="Times New Roman" panose="02020603050405020304" pitchFamily="18" charset="0"/>
              </a:rPr>
              <a:t>&lt;</a:t>
            </a:r>
            <a:r>
              <a:rPr lang="en-US" altLang="zh-CN" sz="2800" i="1">
                <a:latin typeface="Times New Roman" panose="02020603050405020304" pitchFamily="18" charset="0"/>
              </a:rPr>
              <a:t>p</a:t>
            </a:r>
            <a:r>
              <a:rPr lang="en-US" altLang="zh-CN" sz="2800">
                <a:latin typeface="Times New Roman" panose="02020603050405020304" pitchFamily="18" charset="0"/>
              </a:rPr>
              <a:t>-1</a:t>
            </a:r>
            <a:r>
              <a:rPr lang="zh-CN" altLang="en-US" sz="2800">
                <a:latin typeface="Times New Roman" panose="02020603050405020304" pitchFamily="18" charset="0"/>
              </a:rPr>
              <a:t>。 从这个角度上说， </a:t>
            </a:r>
            <a:r>
              <a:rPr lang="en-US" altLang="zh-CN" sz="2800">
                <a:latin typeface="Times New Roman" panose="02020603050405020304" pitchFamily="18" charset="0"/>
              </a:rPr>
              <a:t>ElGamal</a:t>
            </a:r>
            <a:r>
              <a:rPr lang="zh-CN" altLang="en-US" sz="2800">
                <a:latin typeface="Times New Roman" panose="02020603050405020304" pitchFamily="18" charset="0"/>
              </a:rPr>
              <a:t>的安全性似乎高于</a:t>
            </a:r>
            <a:r>
              <a:rPr lang="en-US" altLang="zh-CN" sz="2800">
                <a:latin typeface="Times New Roman" panose="02020603050405020304" pitchFamily="18" charset="0"/>
              </a:rPr>
              <a:t>Schnorr</a:t>
            </a:r>
            <a:r>
              <a:rPr lang="zh-CN" altLang="en-US" sz="2800">
                <a:latin typeface="Times New Roman" panose="02020603050405020304" pitchFamily="18" charset="0"/>
              </a:rPr>
              <a:t> </a:t>
            </a:r>
            <a:r>
              <a:rPr lang="en-US" altLang="zh-CN" sz="2800">
                <a:latin typeface="Times New Roman" panose="02020603050405020304" pitchFamily="18" charset="0"/>
              </a:rPr>
              <a:t>。   </a:t>
            </a:r>
            <a:endParaRPr lang="zh-CN" altLang="en-US" sz="2800">
              <a:latin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灯片编号占位符 4">
            <a:extLst>
              <a:ext uri="{FF2B5EF4-FFF2-40B4-BE49-F238E27FC236}">
                <a16:creationId xmlns:a16="http://schemas.microsoft.com/office/drawing/2014/main" id="{C10DD830-A4CB-40CD-9CF6-550D00B28905}"/>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49FF9C37-72AA-4251-8E8D-353F1D896E67}" type="slidenum">
              <a:rPr lang="zh-CN" altLang="en-US" sz="1400" smtClean="0"/>
              <a:pPr eaLnBrk="0" hangingPunct="0">
                <a:spcBef>
                  <a:spcPct val="0"/>
                </a:spcBef>
                <a:buClrTx/>
                <a:buSzTx/>
                <a:buFontTx/>
                <a:buNone/>
              </a:pPr>
              <a:t>30</a:t>
            </a:fld>
            <a:endParaRPr lang="en-US" altLang="zh-CN" sz="1400"/>
          </a:p>
        </p:txBody>
      </p:sp>
      <p:sp>
        <p:nvSpPr>
          <p:cNvPr id="56323" name="Rectangle 2">
            <a:extLst>
              <a:ext uri="{FF2B5EF4-FFF2-40B4-BE49-F238E27FC236}">
                <a16:creationId xmlns:a16="http://schemas.microsoft.com/office/drawing/2014/main" id="{97FE0963-4313-C684-ED2C-4AF325326BFF}"/>
              </a:ext>
            </a:extLst>
          </p:cNvPr>
          <p:cNvSpPr>
            <a:spLocks noGrp="1" noChangeArrowheads="1"/>
          </p:cNvSpPr>
          <p:nvPr>
            <p:ph type="title"/>
          </p:nvPr>
        </p:nvSpPr>
        <p:spPr/>
        <p:txBody>
          <a:bodyPr/>
          <a:lstStyle/>
          <a:p>
            <a:r>
              <a:rPr lang="zh-CN" altLang="en-US" b="1"/>
              <a:t>三、几种常用的数字签名</a:t>
            </a:r>
          </a:p>
        </p:txBody>
      </p:sp>
      <p:sp>
        <p:nvSpPr>
          <p:cNvPr id="56324" name="Rectangle 3">
            <a:extLst>
              <a:ext uri="{FF2B5EF4-FFF2-40B4-BE49-F238E27FC236}">
                <a16:creationId xmlns:a16="http://schemas.microsoft.com/office/drawing/2014/main" id="{489BC061-FFCD-B6C0-D29A-3A9B8DB74B37}"/>
              </a:ext>
            </a:extLst>
          </p:cNvPr>
          <p:cNvSpPr>
            <a:spLocks noGrp="1" noChangeArrowheads="1"/>
          </p:cNvSpPr>
          <p:nvPr>
            <p:ph type="body" idx="1"/>
          </p:nvPr>
        </p:nvSpPr>
        <p:spPr>
          <a:xfrm>
            <a:off x="539750" y="2017713"/>
            <a:ext cx="8415338" cy="4114800"/>
          </a:xfrm>
        </p:spPr>
        <p:txBody>
          <a:bodyPr/>
          <a:lstStyle/>
          <a:p>
            <a:pPr>
              <a:spcAft>
                <a:spcPts val="600"/>
              </a:spcAft>
              <a:buFont typeface="Monotype Sorts" pitchFamily="2" charset="2"/>
              <a:buChar char="l"/>
            </a:pPr>
            <a:r>
              <a:rPr lang="zh-CN" altLang="en-US" sz="2800">
                <a:latin typeface="Times New Roman" panose="02020603050405020304" pitchFamily="18" charset="0"/>
              </a:rPr>
              <a:t>签名长度比较： </a:t>
            </a:r>
            <a:r>
              <a:rPr lang="en-US" altLang="zh-CN" sz="2800">
                <a:latin typeface="Times New Roman" panose="02020603050405020304" pitchFamily="18" charset="0"/>
              </a:rPr>
              <a:t>Schnorr</a:t>
            </a:r>
            <a:r>
              <a:rPr lang="zh-CN" altLang="en-US" sz="2800">
                <a:latin typeface="Times New Roman" panose="02020603050405020304" pitchFamily="18" charset="0"/>
              </a:rPr>
              <a:t>比</a:t>
            </a:r>
            <a:r>
              <a:rPr lang="en-US" altLang="zh-CN" sz="2800">
                <a:latin typeface="Times New Roman" panose="02020603050405020304" pitchFamily="18" charset="0"/>
              </a:rPr>
              <a:t>ElGamal</a:t>
            </a:r>
            <a:r>
              <a:rPr lang="zh-CN" altLang="en-US" sz="2800">
                <a:latin typeface="Times New Roman" panose="02020603050405020304" pitchFamily="18" charset="0"/>
              </a:rPr>
              <a:t>签名长度短。</a:t>
            </a:r>
          </a:p>
          <a:p>
            <a:pPr>
              <a:spcAft>
                <a:spcPts val="600"/>
              </a:spcAft>
              <a:buFont typeface="Monotype Sorts" pitchFamily="2" charset="2"/>
              <a:buNone/>
            </a:pPr>
            <a:r>
              <a:rPr lang="en-US" altLang="zh-CN" sz="2800">
                <a:latin typeface="Times New Roman" panose="02020603050405020304" pitchFamily="18" charset="0"/>
              </a:rPr>
              <a:t>ElGamal</a:t>
            </a:r>
            <a:r>
              <a:rPr lang="zh-CN" altLang="en-US" sz="2800">
                <a:latin typeface="Times New Roman" panose="02020603050405020304" pitchFamily="18" charset="0"/>
              </a:rPr>
              <a:t>：</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r</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，其中</a:t>
            </a:r>
            <a:r>
              <a:rPr lang="en-US" altLang="zh-CN" sz="2800" i="1">
                <a:latin typeface="Times New Roman" panose="02020603050405020304" pitchFamily="18" charset="0"/>
              </a:rPr>
              <a:t>r</a:t>
            </a:r>
            <a:r>
              <a:rPr lang="zh-CN" altLang="en-US" sz="2800">
                <a:latin typeface="Times New Roman" panose="02020603050405020304" pitchFamily="18" charset="0"/>
              </a:rPr>
              <a:t>的长度为</a:t>
            </a:r>
            <a:r>
              <a:rPr lang="en-US" altLang="zh-CN" sz="2800">
                <a:latin typeface="Times New Roman" panose="02020603050405020304" pitchFamily="18" charset="0"/>
              </a:rPr>
              <a:t>|</a:t>
            </a:r>
            <a:r>
              <a:rPr lang="en-US" altLang="zh-CN" sz="2800" i="1">
                <a:latin typeface="Times New Roman" panose="02020603050405020304" pitchFamily="18" charset="0"/>
              </a:rPr>
              <a:t>p</a:t>
            </a:r>
            <a:r>
              <a:rPr lang="en-US" altLang="zh-CN" sz="2800">
                <a:latin typeface="Times New Roman" panose="02020603050405020304" pitchFamily="18" charset="0"/>
              </a:rPr>
              <a:t>|</a:t>
            </a:r>
            <a:r>
              <a:rPr lang="zh-CN" altLang="en-US" sz="2800">
                <a:latin typeface="Times New Roman" panose="02020603050405020304" pitchFamily="18" charset="0"/>
              </a:rPr>
              <a:t>， </a:t>
            </a:r>
            <a:r>
              <a:rPr lang="en-US" altLang="zh-CN" sz="2800" i="1">
                <a:latin typeface="Times New Roman" panose="02020603050405020304" pitchFamily="18" charset="0"/>
              </a:rPr>
              <a:t>s</a:t>
            </a:r>
            <a:r>
              <a:rPr lang="zh-CN" altLang="en-US" sz="2800">
                <a:latin typeface="Times New Roman" panose="02020603050405020304" pitchFamily="18" charset="0"/>
              </a:rPr>
              <a:t>的长度为</a:t>
            </a:r>
            <a:r>
              <a:rPr lang="en-US" altLang="zh-CN" sz="2800">
                <a:latin typeface="Times New Roman" panose="02020603050405020304" pitchFamily="18" charset="0"/>
              </a:rPr>
              <a:t>|</a:t>
            </a:r>
            <a:r>
              <a:rPr lang="en-US" altLang="zh-CN" sz="2800" i="1">
                <a:latin typeface="Times New Roman" panose="02020603050405020304" pitchFamily="18" charset="0"/>
              </a:rPr>
              <a:t>p</a:t>
            </a:r>
            <a:r>
              <a:rPr lang="en-US" altLang="zh-CN" sz="2800">
                <a:latin typeface="Times New Roman" panose="02020603050405020304" pitchFamily="18" charset="0"/>
              </a:rPr>
              <a:t>-1|</a:t>
            </a:r>
            <a:r>
              <a:rPr lang="zh-CN" altLang="en-US" sz="2800">
                <a:latin typeface="Times New Roman" panose="02020603050405020304" pitchFamily="18" charset="0"/>
              </a:rPr>
              <a:t>。</a:t>
            </a:r>
          </a:p>
          <a:p>
            <a:pPr>
              <a:spcAft>
                <a:spcPts val="600"/>
              </a:spcAft>
              <a:buFont typeface="Monotype Sorts" pitchFamily="2" charset="2"/>
              <a:buNone/>
            </a:pPr>
            <a:r>
              <a:rPr lang="en-US" altLang="zh-CN" sz="2800">
                <a:latin typeface="Times New Roman" panose="02020603050405020304" pitchFamily="18" charset="0"/>
              </a:rPr>
              <a:t>Schnorr</a:t>
            </a:r>
            <a:r>
              <a:rPr lang="zh-CN" altLang="en-US" sz="2800">
                <a:latin typeface="Times New Roman" panose="02020603050405020304" pitchFamily="18" charset="0"/>
              </a:rPr>
              <a:t>： </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zh-CN" altLang="en-US" sz="2800">
                <a:latin typeface="Times New Roman" panose="02020603050405020304" pitchFamily="18" charset="0"/>
              </a:rPr>
              <a:t>，</a:t>
            </a:r>
            <a:r>
              <a:rPr lang="en-US" altLang="zh-CN" sz="2800" i="1">
                <a:latin typeface="Times New Roman" panose="02020603050405020304" pitchFamily="18" charset="0"/>
              </a:rPr>
              <a:t>e</a:t>
            </a:r>
            <a:r>
              <a:rPr lang="zh-CN" altLang="en-US"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，其中</a:t>
            </a:r>
            <a:r>
              <a:rPr lang="en-US" altLang="zh-CN" sz="2800" i="1">
                <a:latin typeface="Times New Roman" panose="02020603050405020304" pitchFamily="18" charset="0"/>
              </a:rPr>
              <a:t>e</a:t>
            </a:r>
            <a:r>
              <a:rPr lang="zh-CN" altLang="en-US" sz="2800">
                <a:latin typeface="Times New Roman" panose="02020603050405020304" pitchFamily="18" charset="0"/>
              </a:rPr>
              <a:t>的长度为</a:t>
            </a:r>
            <a:r>
              <a:rPr lang="en-US" altLang="zh-CN" sz="2800">
                <a:latin typeface="Times New Roman" panose="02020603050405020304" pitchFamily="18" charset="0"/>
              </a:rPr>
              <a:t>|</a:t>
            </a:r>
            <a:r>
              <a:rPr lang="en-US" altLang="zh-CN" sz="2800" i="1">
                <a:latin typeface="Times New Roman" panose="02020603050405020304" pitchFamily="18" charset="0"/>
              </a:rPr>
              <a:t>q</a:t>
            </a:r>
            <a:r>
              <a:rPr lang="en-US" altLang="zh-CN" sz="2800">
                <a:latin typeface="Times New Roman" panose="02020603050405020304" pitchFamily="18" charset="0"/>
              </a:rPr>
              <a:t>|</a:t>
            </a:r>
            <a:r>
              <a:rPr lang="zh-CN" altLang="en-US" sz="2800">
                <a:latin typeface="Times New Roman" panose="02020603050405020304" pitchFamily="18" charset="0"/>
              </a:rPr>
              <a:t>， </a:t>
            </a:r>
            <a:r>
              <a:rPr lang="en-US" altLang="zh-CN" sz="2800" i="1">
                <a:latin typeface="Times New Roman" panose="02020603050405020304" pitchFamily="18" charset="0"/>
              </a:rPr>
              <a:t>s</a:t>
            </a:r>
            <a:r>
              <a:rPr lang="zh-CN" altLang="en-US" sz="2800">
                <a:latin typeface="Times New Roman" panose="02020603050405020304" pitchFamily="18" charset="0"/>
              </a:rPr>
              <a:t>的长度为|</a:t>
            </a:r>
            <a:r>
              <a:rPr lang="en-US" altLang="zh-CN" sz="2800" i="1">
                <a:latin typeface="Times New Roman" panose="02020603050405020304" pitchFamily="18" charset="0"/>
              </a:rPr>
              <a:t>q</a:t>
            </a:r>
            <a:r>
              <a:rPr lang="en-US" altLang="zh-CN" sz="2800">
                <a:latin typeface="Times New Roman" panose="02020603050405020304" pitchFamily="18" charset="0"/>
              </a:rPr>
              <a:t>|</a:t>
            </a:r>
            <a:r>
              <a:rPr lang="zh-CN" altLang="en-US" sz="2800">
                <a:latin typeface="Times New Roman" panose="02020603050405020304" pitchFamily="18" charset="0"/>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灯片编号占位符 4">
            <a:extLst>
              <a:ext uri="{FF2B5EF4-FFF2-40B4-BE49-F238E27FC236}">
                <a16:creationId xmlns:a16="http://schemas.microsoft.com/office/drawing/2014/main" id="{F0F3FEDF-FA7C-FB4C-654D-B8724B0833F8}"/>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6644E8F8-F666-4FC5-8EB2-A40CF13807DD}" type="slidenum">
              <a:rPr lang="zh-CN" altLang="en-US" sz="1400" smtClean="0"/>
              <a:pPr eaLnBrk="0" hangingPunct="0">
                <a:spcBef>
                  <a:spcPct val="0"/>
                </a:spcBef>
                <a:buClrTx/>
                <a:buSzTx/>
                <a:buFontTx/>
                <a:buNone/>
              </a:pPr>
              <a:t>31</a:t>
            </a:fld>
            <a:endParaRPr lang="en-US" altLang="zh-CN" sz="1400"/>
          </a:p>
        </p:txBody>
      </p:sp>
      <p:sp>
        <p:nvSpPr>
          <p:cNvPr id="57347" name="Rectangle 2">
            <a:extLst>
              <a:ext uri="{FF2B5EF4-FFF2-40B4-BE49-F238E27FC236}">
                <a16:creationId xmlns:a16="http://schemas.microsoft.com/office/drawing/2014/main" id="{34E22D26-71B8-B365-2CDA-8B7A5E31C9F1}"/>
              </a:ext>
            </a:extLst>
          </p:cNvPr>
          <p:cNvSpPr>
            <a:spLocks noGrp="1" noChangeArrowheads="1"/>
          </p:cNvSpPr>
          <p:nvPr>
            <p:ph type="title"/>
          </p:nvPr>
        </p:nvSpPr>
        <p:spPr/>
        <p:txBody>
          <a:bodyPr/>
          <a:lstStyle/>
          <a:p>
            <a:r>
              <a:rPr lang="zh-CN" altLang="en-US" b="1"/>
              <a:t>三、几种常用的数字签名</a:t>
            </a:r>
          </a:p>
        </p:txBody>
      </p:sp>
      <p:sp>
        <p:nvSpPr>
          <p:cNvPr id="57348" name="Rectangle 3">
            <a:extLst>
              <a:ext uri="{FF2B5EF4-FFF2-40B4-BE49-F238E27FC236}">
                <a16:creationId xmlns:a16="http://schemas.microsoft.com/office/drawing/2014/main" id="{30A916C0-2610-D073-0F19-858C611A8A7C}"/>
              </a:ext>
            </a:extLst>
          </p:cNvPr>
          <p:cNvSpPr>
            <a:spLocks noGrp="1" noChangeArrowheads="1"/>
          </p:cNvSpPr>
          <p:nvPr>
            <p:ph type="body" idx="1"/>
          </p:nvPr>
        </p:nvSpPr>
        <p:spPr>
          <a:xfrm>
            <a:off x="827088" y="2017713"/>
            <a:ext cx="7848600" cy="4114800"/>
          </a:xfrm>
        </p:spPr>
        <p:txBody>
          <a:bodyPr/>
          <a:lstStyle/>
          <a:p>
            <a:pPr algn="ctr">
              <a:buFont typeface="Wingdings" panose="05000000000000000000" pitchFamily="2" charset="2"/>
              <a:buNone/>
            </a:pPr>
            <a:r>
              <a:rPr lang="zh-CN" altLang="en-US" sz="3600" b="1">
                <a:solidFill>
                  <a:srgbClr val="009900"/>
                </a:solidFill>
                <a:latin typeface="Times New Roman" panose="02020603050405020304" pitchFamily="18" charset="0"/>
                <a:ea typeface="黑体" panose="02010609060101010101" pitchFamily="49" charset="-122"/>
              </a:rPr>
              <a:t>数字签名算法</a:t>
            </a:r>
            <a:r>
              <a:rPr lang="en-US" altLang="zh-CN" sz="3600" b="1">
                <a:solidFill>
                  <a:srgbClr val="009900"/>
                </a:solidFill>
                <a:latin typeface="Times New Roman" panose="02020603050405020304" pitchFamily="18" charset="0"/>
                <a:ea typeface="黑体" panose="02010609060101010101" pitchFamily="49" charset="-122"/>
              </a:rPr>
              <a:t>DSA</a:t>
            </a:r>
          </a:p>
          <a:p>
            <a:pPr algn="ctr">
              <a:buFont typeface="Wingdings" panose="05000000000000000000" pitchFamily="2" charset="2"/>
              <a:buNone/>
            </a:pPr>
            <a:r>
              <a:rPr lang="zh-CN" altLang="en-US" sz="3600" b="1">
                <a:solidFill>
                  <a:srgbClr val="009900"/>
                </a:solidFill>
                <a:latin typeface="Times New Roman" panose="02020603050405020304" pitchFamily="18" charset="0"/>
                <a:ea typeface="黑体" panose="02010609060101010101" pitchFamily="49" charset="-122"/>
              </a:rPr>
              <a:t>（</a:t>
            </a:r>
            <a:r>
              <a:rPr lang="en-US" altLang="zh-CN" sz="3600" b="1">
                <a:solidFill>
                  <a:srgbClr val="009900"/>
                </a:solidFill>
                <a:latin typeface="Times New Roman" panose="02020603050405020304" pitchFamily="18" charset="0"/>
                <a:ea typeface="黑体" panose="02010609060101010101" pitchFamily="49" charset="-122"/>
              </a:rPr>
              <a:t>Digital Signature Algorithm</a:t>
            </a:r>
            <a:r>
              <a:rPr lang="zh-CN" altLang="en-US" sz="3600" b="1">
                <a:solidFill>
                  <a:srgbClr val="009900"/>
                </a:solidFill>
                <a:latin typeface="Times New Roman" panose="02020603050405020304" pitchFamily="18" charset="0"/>
                <a:ea typeface="黑体" panose="02010609060101010101" pitchFamily="49" charset="-122"/>
              </a:rPr>
              <a:t>）</a:t>
            </a:r>
          </a:p>
          <a:p>
            <a:pPr>
              <a:buFont typeface="Wingdings" panose="05000000000000000000" pitchFamily="2" charset="2"/>
              <a:buNone/>
            </a:pPr>
            <a:r>
              <a:rPr lang="en-US" altLang="zh-CN" sz="2800">
                <a:latin typeface="Times New Roman" panose="02020603050405020304" pitchFamily="18" charset="0"/>
              </a:rPr>
              <a:t>1991</a:t>
            </a:r>
            <a:r>
              <a:rPr lang="zh-CN" altLang="en-US" sz="2800">
                <a:latin typeface="Times New Roman" panose="02020603050405020304" pitchFamily="18" charset="0"/>
              </a:rPr>
              <a:t>年</a:t>
            </a:r>
            <a:r>
              <a:rPr lang="en-US" altLang="zh-CN" sz="2800">
                <a:latin typeface="Times New Roman" panose="02020603050405020304" pitchFamily="18" charset="0"/>
              </a:rPr>
              <a:t>8</a:t>
            </a:r>
            <a:r>
              <a:rPr lang="zh-CN" altLang="en-US" sz="2800">
                <a:latin typeface="Times New Roman" panose="02020603050405020304" pitchFamily="18" charset="0"/>
              </a:rPr>
              <a:t>月，美国国家标准研究所</a:t>
            </a:r>
            <a:r>
              <a:rPr lang="en-US" altLang="zh-CN" sz="2800">
                <a:latin typeface="Times New Roman" panose="02020603050405020304" pitchFamily="18" charset="0"/>
              </a:rPr>
              <a:t>(NIST)</a:t>
            </a:r>
            <a:r>
              <a:rPr lang="zh-CN" altLang="en-US" sz="2800">
                <a:latin typeface="Times New Roman" panose="02020603050405020304" pitchFamily="18" charset="0"/>
              </a:rPr>
              <a:t>发布了其所提议的数字签名标准</a:t>
            </a:r>
            <a:r>
              <a:rPr lang="en-US" altLang="zh-CN" sz="2800">
                <a:latin typeface="Times New Roman" panose="02020603050405020304" pitchFamily="18" charset="0"/>
              </a:rPr>
              <a:t>(DSS)</a:t>
            </a:r>
            <a:r>
              <a:rPr lang="zh-CN" altLang="en-US" sz="2800">
                <a:latin typeface="Times New Roman" panose="02020603050405020304" pitchFamily="18" charset="0"/>
              </a:rPr>
              <a:t>，向社会征求意见，该标准定义了数字签名算法</a:t>
            </a:r>
            <a:r>
              <a:rPr lang="en-US" altLang="zh-CN" sz="2800">
                <a:latin typeface="Times New Roman" panose="02020603050405020304" pitchFamily="18" charset="0"/>
              </a:rPr>
              <a:t>DSA</a:t>
            </a:r>
            <a:r>
              <a:rPr lang="zh-CN" altLang="en-US" sz="2800">
                <a:latin typeface="Times New Roman" panose="02020603050405020304" pitchFamily="18" charset="0"/>
              </a:rPr>
              <a:t>。</a:t>
            </a:r>
          </a:p>
          <a:p>
            <a:pPr>
              <a:buFont typeface="Wingdings" panose="05000000000000000000" pitchFamily="2" charset="2"/>
              <a:buNone/>
            </a:pPr>
            <a:r>
              <a:rPr lang="zh-CN" altLang="en-US" sz="2800">
                <a:latin typeface="Times New Roman" panose="02020603050405020304" pitchFamily="18" charset="0"/>
              </a:rPr>
              <a:t>经过公众的评议并做了少许改进后，</a:t>
            </a:r>
            <a:r>
              <a:rPr lang="en-US" altLang="zh-CN" sz="2800">
                <a:latin typeface="Times New Roman" panose="02020603050405020304" pitchFamily="18" charset="0"/>
              </a:rPr>
              <a:t>1994</a:t>
            </a:r>
            <a:r>
              <a:rPr lang="zh-CN" altLang="en-US" sz="2800">
                <a:latin typeface="Times New Roman" panose="02020603050405020304" pitchFamily="18" charset="0"/>
              </a:rPr>
              <a:t>年，</a:t>
            </a:r>
            <a:r>
              <a:rPr lang="en-US" altLang="zh-CN" sz="2800">
                <a:latin typeface="Times New Roman" panose="02020603050405020304" pitchFamily="18" charset="0"/>
              </a:rPr>
              <a:t>DSS</a:t>
            </a:r>
            <a:r>
              <a:rPr lang="zh-CN" altLang="en-US" sz="2800">
                <a:latin typeface="Times New Roman" panose="02020603050405020304" pitchFamily="18" charset="0"/>
              </a:rPr>
              <a:t>首次作为联邦信息处理标准</a:t>
            </a:r>
            <a:r>
              <a:rPr lang="en-US" altLang="zh-CN" sz="2800">
                <a:latin typeface="Times New Roman" panose="02020603050405020304" pitchFamily="18" charset="0"/>
              </a:rPr>
              <a:t>(FIPS)</a:t>
            </a:r>
            <a:r>
              <a:rPr lang="zh-CN" altLang="en-US" sz="2800">
                <a:latin typeface="Times New Roman" panose="02020603050405020304" pitchFamily="18" charset="0"/>
              </a:rPr>
              <a:t>对外公布。</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灯片编号占位符 4">
            <a:extLst>
              <a:ext uri="{FF2B5EF4-FFF2-40B4-BE49-F238E27FC236}">
                <a16:creationId xmlns:a16="http://schemas.microsoft.com/office/drawing/2014/main" id="{143CAED9-D1B7-C740-EC34-22BAC68B1F64}"/>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3C34653C-A449-455E-B906-A82B855C3F19}" type="slidenum">
              <a:rPr lang="zh-CN" altLang="en-US" sz="1400" smtClean="0"/>
              <a:pPr eaLnBrk="0" hangingPunct="0">
                <a:spcBef>
                  <a:spcPct val="0"/>
                </a:spcBef>
                <a:buClrTx/>
                <a:buSzTx/>
                <a:buFontTx/>
                <a:buNone/>
              </a:pPr>
              <a:t>32</a:t>
            </a:fld>
            <a:endParaRPr lang="en-US" altLang="zh-CN" sz="1400"/>
          </a:p>
        </p:txBody>
      </p:sp>
      <p:sp>
        <p:nvSpPr>
          <p:cNvPr id="58371" name="Rectangle 2">
            <a:extLst>
              <a:ext uri="{FF2B5EF4-FFF2-40B4-BE49-F238E27FC236}">
                <a16:creationId xmlns:a16="http://schemas.microsoft.com/office/drawing/2014/main" id="{D4C1AA51-11E7-D12A-D47E-E712C75CC7BE}"/>
              </a:ext>
            </a:extLst>
          </p:cNvPr>
          <p:cNvSpPr>
            <a:spLocks noGrp="1" noChangeArrowheads="1"/>
          </p:cNvSpPr>
          <p:nvPr>
            <p:ph type="title"/>
          </p:nvPr>
        </p:nvSpPr>
        <p:spPr/>
        <p:txBody>
          <a:bodyPr/>
          <a:lstStyle/>
          <a:p>
            <a:r>
              <a:rPr lang="zh-CN" altLang="en-US" b="1"/>
              <a:t>三、几种常用的数字签名</a:t>
            </a:r>
          </a:p>
        </p:txBody>
      </p:sp>
      <mc:AlternateContent xmlns:mc="http://schemas.openxmlformats.org/markup-compatibility/2006">
        <mc:Choice xmlns:a14="http://schemas.microsoft.com/office/drawing/2010/main" Requires="a14">
          <p:sp>
            <p:nvSpPr>
              <p:cNvPr id="58372" name="Rectangle 3">
                <a:extLst>
                  <a:ext uri="{FF2B5EF4-FFF2-40B4-BE49-F238E27FC236}">
                    <a16:creationId xmlns:a16="http://schemas.microsoft.com/office/drawing/2014/main" id="{A1E84E76-2E96-E2C4-AE3A-BDC5F2AA0119}"/>
                  </a:ext>
                </a:extLst>
              </p:cNvPr>
              <p:cNvSpPr>
                <a:spLocks noGrp="1" noChangeArrowheads="1"/>
              </p:cNvSpPr>
              <p:nvPr>
                <p:ph type="body" idx="1"/>
              </p:nvPr>
            </p:nvSpPr>
            <p:spPr>
              <a:xfrm>
                <a:off x="468313" y="1844675"/>
                <a:ext cx="8280400" cy="4464050"/>
              </a:xfrm>
            </p:spPr>
            <p:txBody>
              <a:bodyPr/>
              <a:lstStyle/>
              <a:p>
                <a:pPr algn="ctr">
                  <a:buFont typeface="Wingdings" panose="05000000000000000000" pitchFamily="2" charset="2"/>
                  <a:buNone/>
                </a:pPr>
                <a:r>
                  <a:rPr lang="en-US" altLang="zh-CN" b="1" dirty="0">
                    <a:latin typeface="Times New Roman" panose="02020603050405020304" pitchFamily="18" charset="0"/>
                    <a:ea typeface="黑体" panose="02010609060101010101" pitchFamily="49" charset="-122"/>
                  </a:rPr>
                  <a:t>DSA</a:t>
                </a:r>
                <a:r>
                  <a:rPr lang="zh-CN" altLang="en-US" b="1" dirty="0">
                    <a:latin typeface="Times New Roman" panose="02020603050405020304" pitchFamily="18" charset="0"/>
                    <a:ea typeface="黑体" panose="02010609060101010101" pitchFamily="49" charset="-122"/>
                  </a:rPr>
                  <a:t>的参数</a:t>
                </a:r>
              </a:p>
              <a:p>
                <a:pPr>
                  <a:buFont typeface="Wingdings" panose="05000000000000000000" pitchFamily="2" charset="2"/>
                  <a:buNone/>
                </a:pPr>
                <a:r>
                  <a:rPr lang="en-US" altLang="zh-CN" sz="2800" dirty="0">
                    <a:latin typeface="Times New Roman" panose="02020603050405020304" pitchFamily="18" charset="0"/>
                  </a:rPr>
                  <a:t>Alice</a:t>
                </a:r>
                <a:r>
                  <a:rPr lang="zh-CN" altLang="en-US" sz="2800" dirty="0">
                    <a:latin typeface="Times New Roman" panose="02020603050405020304" pitchFamily="18" charset="0"/>
                  </a:rPr>
                  <a:t>拥有</a:t>
                </a:r>
                <a:r>
                  <a:rPr lang="en-US" altLang="zh-CN" sz="2800" dirty="0">
                    <a:latin typeface="Times New Roman" panose="02020603050405020304" pitchFamily="18" charset="0"/>
                  </a:rPr>
                  <a:t>3</a:t>
                </a:r>
                <a:r>
                  <a:rPr lang="zh-CN" altLang="en-US" sz="2800" dirty="0">
                    <a:latin typeface="Times New Roman" panose="02020603050405020304" pitchFamily="18" charset="0"/>
                  </a:rPr>
                  <a:t>个正整数</a:t>
                </a:r>
                <a:r>
                  <a:rPr lang="en-US" altLang="zh-CN" sz="2800" dirty="0">
                    <a:latin typeface="Times New Roman" panose="02020603050405020304" pitchFamily="18" charset="0"/>
                  </a:rPr>
                  <a:t>(</a:t>
                </a:r>
                <a:r>
                  <a:rPr lang="en-US" altLang="zh-CN" sz="2800" i="1" dirty="0">
                    <a:latin typeface="Times New Roman" panose="02020603050405020304" pitchFamily="18" charset="0"/>
                  </a:rPr>
                  <a:t>p</a:t>
                </a:r>
                <a:r>
                  <a:rPr lang="zh-CN" altLang="en-US" sz="2800" dirty="0">
                    <a:latin typeface="Times New Roman" panose="02020603050405020304" pitchFamily="18" charset="0"/>
                  </a:rPr>
                  <a:t>，</a:t>
                </a:r>
                <a:r>
                  <a:rPr lang="en-US" altLang="zh-CN" sz="2800" i="1" dirty="0">
                    <a:latin typeface="Times New Roman" panose="02020603050405020304" pitchFamily="18" charset="0"/>
                  </a:rPr>
                  <a:t>q</a:t>
                </a:r>
                <a:r>
                  <a:rPr lang="zh-CN" altLang="en-US" sz="2800" dirty="0">
                    <a:latin typeface="Times New Roman" panose="02020603050405020304" pitchFamily="18" charset="0"/>
                  </a:rPr>
                  <a:t>，</a:t>
                </a:r>
                <a:r>
                  <a:rPr lang="en-US" altLang="zh-CN" sz="2800" i="1" dirty="0">
                    <a:latin typeface="Times New Roman" panose="02020603050405020304" pitchFamily="18" charset="0"/>
                  </a:rPr>
                  <a:t>g</a:t>
                </a:r>
                <a:r>
                  <a:rPr lang="en-US" altLang="zh-CN" sz="2800" dirty="0">
                    <a:latin typeface="Times New Roman" panose="02020603050405020304" pitchFamily="18" charset="0"/>
                  </a:rPr>
                  <a:t>)</a:t>
                </a:r>
                <a:r>
                  <a:rPr lang="zh-CN" altLang="en-US" sz="2800" dirty="0">
                    <a:latin typeface="Times New Roman" panose="02020603050405020304" pitchFamily="18" charset="0"/>
                  </a:rPr>
                  <a:t>，向自己的通信伙伴公开。其中：</a:t>
                </a:r>
              </a:p>
              <a:p>
                <a:pPr>
                  <a:buClr>
                    <a:schemeClr val="tx1"/>
                  </a:buClr>
                </a:pPr>
                <a:r>
                  <a:rPr lang="en-US" altLang="zh-CN" sz="2800" i="1" dirty="0">
                    <a:latin typeface="Times New Roman" panose="02020603050405020304" pitchFamily="18" charset="0"/>
                  </a:rPr>
                  <a:t>p</a:t>
                </a:r>
                <a:r>
                  <a:rPr lang="zh-CN" altLang="en-US" sz="2800" dirty="0">
                    <a:latin typeface="Times New Roman" panose="02020603050405020304" pitchFamily="18" charset="0"/>
                  </a:rPr>
                  <a:t>是一个大素数，满足</a:t>
                </a:r>
                <a14:m>
                  <m:oMath xmlns:m="http://schemas.openxmlformats.org/officeDocument/2006/math">
                    <m:sSup>
                      <m:sSupPr>
                        <m:ctrlPr>
                          <a:rPr lang="en-US" altLang="zh-CN" sz="2800" b="0" i="1" smtClean="0">
                            <a:latin typeface="Cambria Math" panose="02040503050406030204" pitchFamily="18" charset="0"/>
                          </a:rPr>
                        </m:ctrlPr>
                      </m:sSupPr>
                      <m:e>
                        <m:r>
                          <a:rPr lang="en-US" altLang="zh-CN" sz="2800" b="0" i="1" smtClean="0">
                            <a:latin typeface="Cambria Math" panose="02040503050406030204" pitchFamily="18" charset="0"/>
                          </a:rPr>
                          <m:t>2</m:t>
                        </m:r>
                      </m:e>
                      <m:sup>
                        <m:r>
                          <a:rPr lang="en-US" altLang="zh-CN" sz="2800" b="0" i="1" smtClean="0">
                            <a:latin typeface="Cambria Math" panose="02040503050406030204" pitchFamily="18" charset="0"/>
                          </a:rPr>
                          <m:t>511</m:t>
                        </m:r>
                      </m:sup>
                    </m:sSup>
                    <m:r>
                      <a:rPr lang="en-US" altLang="zh-CN" sz="2800" i="1">
                        <a:latin typeface="Cambria Math" panose="02040503050406030204" pitchFamily="18" charset="0"/>
                        <a:ea typeface="Cambria Math" panose="02040503050406030204" pitchFamily="18" charset="0"/>
                      </a:rPr>
                      <m:t>&lt;</m:t>
                    </m:r>
                    <m:r>
                      <a:rPr lang="en-US" altLang="zh-CN" sz="2800" b="0" i="1" smtClean="0">
                        <a:latin typeface="Cambria Math" panose="02040503050406030204" pitchFamily="18" charset="0"/>
                        <a:ea typeface="Cambria Math" panose="02040503050406030204" pitchFamily="18" charset="0"/>
                      </a:rPr>
                      <m:t>𝑝</m:t>
                    </m:r>
                    <m:r>
                      <a:rPr lang="en-US" altLang="zh-CN" sz="2800" b="0" i="1" smtClean="0">
                        <a:latin typeface="Cambria Math" panose="02040503050406030204" pitchFamily="18" charset="0"/>
                        <a:ea typeface="Cambria Math" panose="02040503050406030204" pitchFamily="18" charset="0"/>
                      </a:rPr>
                      <m:t>&lt;</m:t>
                    </m:r>
                    <m:sSup>
                      <m:sSupPr>
                        <m:ctrlPr>
                          <a:rPr lang="en-US" altLang="zh-CN" sz="2800" b="0" i="1" smtClean="0">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2</m:t>
                        </m:r>
                      </m:e>
                      <m:sup>
                        <m:r>
                          <a:rPr lang="en-US" altLang="zh-CN" sz="2800" b="0" i="1" smtClean="0">
                            <a:latin typeface="Cambria Math" panose="02040503050406030204" pitchFamily="18" charset="0"/>
                            <a:ea typeface="Cambria Math" panose="02040503050406030204" pitchFamily="18" charset="0"/>
                          </a:rPr>
                          <m:t>512</m:t>
                        </m:r>
                      </m:sup>
                    </m:sSup>
                  </m:oMath>
                </a14:m>
                <a:r>
                  <a:rPr lang="zh-CN" altLang="en-US" sz="2800" dirty="0">
                    <a:latin typeface="Times New Roman" panose="02020603050405020304" pitchFamily="18" charset="0"/>
                  </a:rPr>
                  <a:t>，即</a:t>
                </a:r>
                <a:r>
                  <a:rPr lang="en-US" altLang="zh-CN" sz="2800" dirty="0">
                    <a:latin typeface="Times New Roman" panose="02020603050405020304" pitchFamily="18" charset="0"/>
                  </a:rPr>
                  <a:t>p</a:t>
                </a:r>
                <a:r>
                  <a:rPr lang="zh-CN" altLang="en-US" sz="2800" dirty="0">
                    <a:latin typeface="Times New Roman" panose="02020603050405020304" pitchFamily="18" charset="0"/>
                  </a:rPr>
                  <a:t>是一个长度为</a:t>
                </a:r>
                <a:r>
                  <a:rPr lang="en-US" altLang="zh-CN" sz="2800" dirty="0">
                    <a:latin typeface="Times New Roman" panose="02020603050405020304" pitchFamily="18" charset="0"/>
                  </a:rPr>
                  <a:t>512</a:t>
                </a:r>
                <a:r>
                  <a:rPr lang="zh-CN" altLang="en-US" sz="2800" dirty="0">
                    <a:latin typeface="Times New Roman" panose="02020603050405020304" pitchFamily="18" charset="0"/>
                  </a:rPr>
                  <a:t>的比特串。</a:t>
                </a:r>
              </a:p>
              <a:p>
                <a:pPr>
                  <a:buClr>
                    <a:schemeClr val="tx1"/>
                  </a:buClr>
                </a:pPr>
                <a:r>
                  <a:rPr lang="en-US" altLang="zh-CN" sz="2800" i="1" dirty="0">
                    <a:latin typeface="Times New Roman" panose="02020603050405020304" pitchFamily="18" charset="0"/>
                  </a:rPr>
                  <a:t>q</a:t>
                </a:r>
                <a:r>
                  <a:rPr lang="zh-CN" altLang="en-US" sz="2800" dirty="0">
                    <a:latin typeface="Times New Roman" panose="02020603050405020304" pitchFamily="18" charset="0"/>
                  </a:rPr>
                  <a:t>也是一个大素数， 2</a:t>
                </a:r>
                <a:r>
                  <a:rPr lang="zh-CN" altLang="en-US" sz="2800" baseline="30000" dirty="0">
                    <a:latin typeface="Times New Roman" panose="02020603050405020304" pitchFamily="18" charset="0"/>
                  </a:rPr>
                  <a:t>159</a:t>
                </a:r>
                <a:r>
                  <a:rPr lang="zh-CN" altLang="en-US" sz="2800" dirty="0">
                    <a:latin typeface="Times New Roman" panose="02020603050405020304" pitchFamily="18" charset="0"/>
                  </a:rPr>
                  <a:t> &lt; </a:t>
                </a:r>
                <a:r>
                  <a:rPr lang="en-US" altLang="zh-CN" sz="2800" i="1" dirty="0">
                    <a:latin typeface="Times New Roman" panose="02020603050405020304" pitchFamily="18" charset="0"/>
                  </a:rPr>
                  <a:t>q</a:t>
                </a:r>
                <a:r>
                  <a:rPr lang="en-US" altLang="zh-CN" sz="2800" dirty="0">
                    <a:latin typeface="Times New Roman" panose="02020603050405020304" pitchFamily="18" charset="0"/>
                  </a:rPr>
                  <a:t> &lt; 2</a:t>
                </a:r>
                <a:r>
                  <a:rPr lang="en-US" altLang="zh-CN" sz="2800" baseline="30000" dirty="0">
                    <a:latin typeface="Times New Roman" panose="02020603050405020304" pitchFamily="18" charset="0"/>
                  </a:rPr>
                  <a:t>160 </a:t>
                </a:r>
                <a:r>
                  <a:rPr lang="zh-CN" altLang="en-US" sz="2800" dirty="0">
                    <a:latin typeface="Times New Roman" panose="02020603050405020304" pitchFamily="18" charset="0"/>
                  </a:rPr>
                  <a:t>（即</a:t>
                </a:r>
                <a:r>
                  <a:rPr lang="en-US" altLang="zh-CN" sz="2800" i="1" dirty="0">
                    <a:latin typeface="Times New Roman" panose="02020603050405020304" pitchFamily="18" charset="0"/>
                  </a:rPr>
                  <a:t>q</a:t>
                </a:r>
                <a:r>
                  <a:rPr lang="zh-CN" altLang="en-US" sz="2800" dirty="0">
                    <a:latin typeface="Times New Roman" panose="02020603050405020304" pitchFamily="18" charset="0"/>
                  </a:rPr>
                  <a:t>是一个长度为</a:t>
                </a:r>
                <a:r>
                  <a:rPr lang="en-US" altLang="zh-CN" sz="2800" dirty="0">
                    <a:latin typeface="Times New Roman" panose="02020603050405020304" pitchFamily="18" charset="0"/>
                  </a:rPr>
                  <a:t>160</a:t>
                </a:r>
                <a:r>
                  <a:rPr lang="zh-CN" altLang="en-US" sz="2800" dirty="0">
                    <a:latin typeface="Times New Roman" panose="02020603050405020304" pitchFamily="18" charset="0"/>
                  </a:rPr>
                  <a:t>的比特串），并且</a:t>
                </a:r>
                <a:r>
                  <a:rPr lang="en-US" altLang="zh-CN" sz="2800" i="1" dirty="0">
                    <a:latin typeface="Times New Roman" panose="02020603050405020304" pitchFamily="18" charset="0"/>
                  </a:rPr>
                  <a:t>q</a:t>
                </a:r>
                <a:r>
                  <a:rPr lang="zh-CN" altLang="en-US" sz="2800" dirty="0">
                    <a:latin typeface="Times New Roman" panose="02020603050405020304" pitchFamily="18" charset="0"/>
                  </a:rPr>
                  <a:t>是</a:t>
                </a:r>
                <a:r>
                  <a:rPr lang="en-US" altLang="zh-CN" sz="2800" i="1" dirty="0">
                    <a:latin typeface="Times New Roman" panose="02020603050405020304" pitchFamily="18" charset="0"/>
                  </a:rPr>
                  <a:t>p</a:t>
                </a:r>
                <a:r>
                  <a:rPr lang="en-US" altLang="zh-CN" sz="2800" dirty="0">
                    <a:latin typeface="Times New Roman" panose="02020603050405020304" pitchFamily="18" charset="0"/>
                  </a:rPr>
                  <a:t>-1</a:t>
                </a:r>
                <a:r>
                  <a:rPr lang="zh-CN" altLang="en-US" sz="2800" dirty="0">
                    <a:latin typeface="Times New Roman" panose="02020603050405020304" pitchFamily="18" charset="0"/>
                  </a:rPr>
                  <a:t>的一个因子。</a:t>
                </a:r>
                <a:endParaRPr lang="en-US" altLang="zh-CN" sz="2800" dirty="0">
                  <a:latin typeface="Times New Roman" panose="02020603050405020304" pitchFamily="18" charset="0"/>
                </a:endParaRPr>
              </a:p>
              <a:p>
                <a:pPr>
                  <a:buClr>
                    <a:schemeClr val="tx1"/>
                  </a:buClr>
                </a:pPr>
                <a14:m>
                  <m:oMath xmlns:m="http://schemas.openxmlformats.org/officeDocument/2006/math">
                    <m:r>
                      <a:rPr lang="en-US" altLang="zh-CN" sz="2800" b="0" i="1" smtClean="0">
                        <a:latin typeface="Cambria Math" panose="02040503050406030204" pitchFamily="18" charset="0"/>
                      </a:rPr>
                      <m:t>𝑔</m:t>
                    </m:r>
                  </m:oMath>
                </a14:m>
                <a:r>
                  <a:rPr lang="zh-CN" altLang="en-US" sz="2800" dirty="0">
                    <a:latin typeface="Times New Roman" panose="02020603050405020304" pitchFamily="18" charset="0"/>
                  </a:rPr>
                  <a:t>是一个生成元，生成一个循环群，为</a:t>
                </a:r>
                <a14:m>
                  <m:oMath xmlns:m="http://schemas.openxmlformats.org/officeDocument/2006/math">
                    <m:sSubSup>
                      <m:sSubSupPr>
                        <m:ctrlPr>
                          <a:rPr lang="en-US" altLang="zh-CN" sz="2800" b="0" i="1" smtClean="0">
                            <a:latin typeface="Cambria Math" panose="02040503050406030204" pitchFamily="18" charset="0"/>
                          </a:rPr>
                        </m:ctrlPr>
                      </m:sSubSupPr>
                      <m:e>
                        <m:r>
                          <a:rPr lang="en-US" altLang="zh-CN" sz="2800" b="0" i="1" smtClean="0">
                            <a:latin typeface="Cambria Math" panose="02040503050406030204" pitchFamily="18" charset="0"/>
                          </a:rPr>
                          <m:t>𝑍</m:t>
                        </m:r>
                      </m:e>
                      <m:sub>
                        <m:r>
                          <a:rPr lang="en-US" altLang="zh-CN" sz="2800" b="0" i="1" smtClean="0">
                            <a:latin typeface="Cambria Math" panose="02040503050406030204" pitchFamily="18" charset="0"/>
                          </a:rPr>
                          <m:t>𝑝</m:t>
                        </m:r>
                      </m:sub>
                      <m:sup>
                        <m:r>
                          <a:rPr lang="en-US" altLang="zh-CN" sz="2800" b="0" i="1" smtClean="0">
                            <a:latin typeface="Cambria Math" panose="02040503050406030204" pitchFamily="18" charset="0"/>
                          </a:rPr>
                          <m:t>∗</m:t>
                        </m:r>
                      </m:sup>
                    </m:sSubSup>
                  </m:oMath>
                </a14:m>
                <a:r>
                  <a:rPr lang="zh-CN" altLang="en-US" sz="2800" dirty="0">
                    <a:latin typeface="Times New Roman" panose="02020603050405020304" pitchFamily="18" charset="0"/>
                  </a:rPr>
                  <a:t>的一个子群。</a:t>
                </a:r>
              </a:p>
              <a:p>
                <a:pPr>
                  <a:buClr>
                    <a:schemeClr val="tx1"/>
                  </a:buClr>
                </a:pPr>
                <a:endParaRPr lang="zh-CN" altLang="en-US" sz="2800" dirty="0">
                  <a:latin typeface="Times New Roman" panose="02020603050405020304" pitchFamily="18" charset="0"/>
                </a:endParaRPr>
              </a:p>
            </p:txBody>
          </p:sp>
        </mc:Choice>
        <mc:Fallback>
          <p:sp>
            <p:nvSpPr>
              <p:cNvPr id="58372" name="Rectangle 3">
                <a:extLst>
                  <a:ext uri="{FF2B5EF4-FFF2-40B4-BE49-F238E27FC236}">
                    <a16:creationId xmlns:a16="http://schemas.microsoft.com/office/drawing/2014/main" id="{A1E84E76-2E96-E2C4-AE3A-BDC5F2AA0119}"/>
                  </a:ext>
                </a:extLst>
              </p:cNvPr>
              <p:cNvSpPr>
                <a:spLocks noGrp="1" noRot="1" noChangeAspect="1" noMove="1" noResize="1" noEditPoints="1" noAdjustHandles="1" noChangeArrowheads="1" noChangeShapeType="1" noTextEdit="1"/>
              </p:cNvSpPr>
              <p:nvPr>
                <p:ph type="body" idx="1"/>
              </p:nvPr>
            </p:nvSpPr>
            <p:spPr>
              <a:xfrm>
                <a:off x="468313" y="1844675"/>
                <a:ext cx="8280400" cy="4464050"/>
              </a:xfrm>
              <a:blipFill>
                <a:blip r:embed="rId2"/>
                <a:stretch>
                  <a:fillRect l="-1546" t="-2322" r="-736" b="-1503"/>
                </a:stretch>
              </a:blipFill>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灯片编号占位符 4">
            <a:extLst>
              <a:ext uri="{FF2B5EF4-FFF2-40B4-BE49-F238E27FC236}">
                <a16:creationId xmlns:a16="http://schemas.microsoft.com/office/drawing/2014/main" id="{C4B04B6C-37D6-16ED-837D-45148D934261}"/>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474266E0-AD13-479B-82B7-6F44779EDD2A}" type="slidenum">
              <a:rPr lang="zh-CN" altLang="en-US" sz="1400" smtClean="0"/>
              <a:pPr eaLnBrk="0" hangingPunct="0">
                <a:spcBef>
                  <a:spcPct val="0"/>
                </a:spcBef>
                <a:buClrTx/>
                <a:buSzTx/>
                <a:buFontTx/>
                <a:buNone/>
              </a:pPr>
              <a:t>33</a:t>
            </a:fld>
            <a:endParaRPr lang="en-US" altLang="zh-CN" sz="1400"/>
          </a:p>
        </p:txBody>
      </p:sp>
      <p:sp>
        <p:nvSpPr>
          <p:cNvPr id="59395" name="Rectangle 2">
            <a:extLst>
              <a:ext uri="{FF2B5EF4-FFF2-40B4-BE49-F238E27FC236}">
                <a16:creationId xmlns:a16="http://schemas.microsoft.com/office/drawing/2014/main" id="{6865B253-BC28-EAD4-3314-6B3BF7B69BF6}"/>
              </a:ext>
            </a:extLst>
          </p:cNvPr>
          <p:cNvSpPr>
            <a:spLocks noGrp="1" noChangeArrowheads="1"/>
          </p:cNvSpPr>
          <p:nvPr>
            <p:ph type="title"/>
          </p:nvPr>
        </p:nvSpPr>
        <p:spPr/>
        <p:txBody>
          <a:bodyPr/>
          <a:lstStyle/>
          <a:p>
            <a:r>
              <a:rPr lang="zh-CN" altLang="en-US" b="1"/>
              <a:t>三、几种常用的数字签名</a:t>
            </a:r>
          </a:p>
        </p:txBody>
      </p:sp>
      <p:sp>
        <p:nvSpPr>
          <p:cNvPr id="59396" name="Rectangle 3">
            <a:extLst>
              <a:ext uri="{FF2B5EF4-FFF2-40B4-BE49-F238E27FC236}">
                <a16:creationId xmlns:a16="http://schemas.microsoft.com/office/drawing/2014/main" id="{20E7BCAF-7601-400E-9F0F-8D229272E20D}"/>
              </a:ext>
            </a:extLst>
          </p:cNvPr>
          <p:cNvSpPr>
            <a:spLocks noGrp="1" noChangeArrowheads="1"/>
          </p:cNvSpPr>
          <p:nvPr>
            <p:ph type="body" idx="1"/>
          </p:nvPr>
        </p:nvSpPr>
        <p:spPr>
          <a:xfrm>
            <a:off x="1182688" y="2017713"/>
            <a:ext cx="7566025" cy="4114800"/>
          </a:xfrm>
        </p:spPr>
        <p:txBody>
          <a:bodyPr/>
          <a:lstStyle/>
          <a:p>
            <a:r>
              <a:rPr lang="en-US" altLang="zh-CN" sz="2800" i="1">
                <a:latin typeface="Times New Roman" panose="02020603050405020304" pitchFamily="18" charset="0"/>
              </a:rPr>
              <a:t>g</a:t>
            </a:r>
            <a:r>
              <a:rPr lang="zh-CN" altLang="en-US" sz="2800">
                <a:latin typeface="Times New Roman" panose="02020603050405020304" pitchFamily="18" charset="0"/>
              </a:rPr>
              <a:t>是这样确定的：</a:t>
            </a:r>
          </a:p>
          <a:p>
            <a:pPr algn="ctr">
              <a:buFont typeface="Wingdings" panose="05000000000000000000" pitchFamily="2" charset="2"/>
              <a:buNone/>
            </a:pPr>
            <a:r>
              <a:rPr lang="en-US" altLang="zh-CN" sz="2800" i="1">
                <a:latin typeface="Times New Roman" panose="02020603050405020304" pitchFamily="18" charset="0"/>
              </a:rPr>
              <a:t>g</a:t>
            </a:r>
            <a:r>
              <a:rPr lang="en-US" altLang="zh-CN" sz="2800">
                <a:latin typeface="Times New Roman" panose="02020603050405020304" pitchFamily="18" charset="0"/>
              </a:rPr>
              <a:t>=</a:t>
            </a:r>
            <a:r>
              <a:rPr lang="en-US" altLang="zh-CN" sz="2800" i="1">
                <a:latin typeface="Times New Roman" panose="02020603050405020304" pitchFamily="18" charset="0"/>
              </a:rPr>
              <a:t>j</a:t>
            </a:r>
            <a:r>
              <a:rPr lang="en-US" altLang="zh-CN" sz="2800" baseline="30000">
                <a:latin typeface="Times New Roman" panose="02020603050405020304" pitchFamily="18" charset="0"/>
              </a:rPr>
              <a:t>(</a:t>
            </a:r>
            <a:r>
              <a:rPr lang="en-US" altLang="zh-CN" sz="2800" i="1" baseline="30000">
                <a:latin typeface="Times New Roman" panose="02020603050405020304" pitchFamily="18" charset="0"/>
              </a:rPr>
              <a:t>p</a:t>
            </a:r>
            <a:r>
              <a:rPr lang="en-US" altLang="zh-CN" sz="2800" baseline="30000">
                <a:latin typeface="Times New Roman" panose="02020603050405020304" pitchFamily="18" charset="0"/>
              </a:rPr>
              <a:t>-1)/</a:t>
            </a:r>
            <a:r>
              <a:rPr lang="en-US" altLang="zh-CN" sz="2800" i="1" baseline="30000">
                <a:latin typeface="Times New Roman" panose="02020603050405020304" pitchFamily="18" charset="0"/>
              </a:rPr>
              <a:t>q</a:t>
            </a:r>
            <a:r>
              <a:rPr lang="en-US" altLang="zh-CN" sz="2800">
                <a:latin typeface="Times New Roman" panose="02020603050405020304" pitchFamily="18" charset="0"/>
              </a:rPr>
              <a:t>(mod</a:t>
            </a:r>
            <a:r>
              <a:rPr lang="en-US" altLang="zh-CN" sz="2800" i="1">
                <a:latin typeface="Times New Roman" panose="02020603050405020304" pitchFamily="18" charset="0"/>
              </a:rPr>
              <a:t>p</a:t>
            </a:r>
            <a:r>
              <a:rPr lang="en-US" altLang="zh-CN" sz="2800">
                <a:latin typeface="Times New Roman" panose="02020603050405020304" pitchFamily="18" charset="0"/>
              </a:rPr>
              <a:t>)</a:t>
            </a:r>
            <a:r>
              <a:rPr lang="zh-CN" altLang="en-US" sz="2800">
                <a:latin typeface="Times New Roman" panose="02020603050405020304" pitchFamily="18" charset="0"/>
              </a:rPr>
              <a:t>；</a:t>
            </a:r>
          </a:p>
          <a:p>
            <a:pPr algn="ctr">
              <a:buFont typeface="Wingdings" panose="05000000000000000000" pitchFamily="2" charset="2"/>
              <a:buNone/>
            </a:pPr>
            <a:r>
              <a:rPr lang="zh-CN" altLang="en-US" sz="2800">
                <a:latin typeface="Times New Roman" panose="02020603050405020304" pitchFamily="18" charset="0"/>
              </a:rPr>
              <a:t>其中</a:t>
            </a:r>
            <a:r>
              <a:rPr lang="en-US" altLang="zh-CN" sz="2800">
                <a:latin typeface="Times New Roman" panose="02020603050405020304" pitchFamily="18" charset="0"/>
              </a:rPr>
              <a:t>1&lt;</a:t>
            </a:r>
            <a:r>
              <a:rPr lang="en-US" altLang="zh-CN" sz="2800" i="1">
                <a:latin typeface="Times New Roman" panose="02020603050405020304" pitchFamily="18" charset="0"/>
              </a:rPr>
              <a:t>j</a:t>
            </a:r>
            <a:r>
              <a:rPr lang="en-US" altLang="zh-CN" sz="2800">
                <a:latin typeface="Times New Roman" panose="02020603050405020304" pitchFamily="18" charset="0"/>
              </a:rPr>
              <a:t>&lt;</a:t>
            </a:r>
            <a:r>
              <a:rPr lang="en-US" altLang="zh-CN" sz="2800" i="1">
                <a:latin typeface="Times New Roman" panose="02020603050405020304" pitchFamily="18" charset="0"/>
              </a:rPr>
              <a:t>p</a:t>
            </a:r>
            <a:r>
              <a:rPr lang="zh-CN" altLang="en-US" sz="2800">
                <a:latin typeface="Times New Roman" panose="02020603050405020304" pitchFamily="18" charset="0"/>
              </a:rPr>
              <a:t>，</a:t>
            </a:r>
            <a:r>
              <a:rPr lang="en-US" altLang="zh-CN" sz="2800" i="1">
                <a:latin typeface="Times New Roman" panose="02020603050405020304" pitchFamily="18" charset="0"/>
              </a:rPr>
              <a:t>j</a:t>
            </a:r>
            <a:r>
              <a:rPr lang="en-US" altLang="zh-CN" sz="2800" baseline="30000">
                <a:latin typeface="Times New Roman" panose="02020603050405020304" pitchFamily="18" charset="0"/>
              </a:rPr>
              <a:t>(</a:t>
            </a:r>
            <a:r>
              <a:rPr lang="en-US" altLang="zh-CN" sz="2800" i="1" baseline="30000">
                <a:latin typeface="Times New Roman" panose="02020603050405020304" pitchFamily="18" charset="0"/>
              </a:rPr>
              <a:t>p</a:t>
            </a:r>
            <a:r>
              <a:rPr lang="en-US" altLang="zh-CN" sz="2800" baseline="30000">
                <a:latin typeface="Times New Roman" panose="02020603050405020304" pitchFamily="18" charset="0"/>
              </a:rPr>
              <a:t>-1)/</a:t>
            </a:r>
            <a:r>
              <a:rPr lang="en-US" altLang="zh-CN" sz="2800" i="1" baseline="30000">
                <a:latin typeface="Times New Roman" panose="02020603050405020304" pitchFamily="18" charset="0"/>
              </a:rPr>
              <a:t>q</a:t>
            </a:r>
            <a:r>
              <a:rPr lang="en-US" altLang="zh-CN" sz="2800">
                <a:latin typeface="Times New Roman" panose="02020603050405020304" pitchFamily="18" charset="0"/>
              </a:rPr>
              <a:t>(mod</a:t>
            </a:r>
            <a:r>
              <a:rPr lang="en-US" altLang="zh-CN" sz="2800" i="1">
                <a:latin typeface="Times New Roman" panose="02020603050405020304" pitchFamily="18" charset="0"/>
              </a:rPr>
              <a:t>p</a:t>
            </a:r>
            <a:r>
              <a:rPr lang="en-US" altLang="zh-CN" sz="2800">
                <a:latin typeface="Times New Roman" panose="02020603050405020304" pitchFamily="18" charset="0"/>
              </a:rPr>
              <a:t>)&gt;1</a:t>
            </a:r>
            <a:r>
              <a:rPr lang="zh-CN" altLang="en-US" sz="2800">
                <a:latin typeface="Times New Roman" panose="02020603050405020304" pitchFamily="18" charset="0"/>
              </a:rPr>
              <a:t>。</a:t>
            </a:r>
          </a:p>
          <a:p>
            <a:pPr algn="ctr">
              <a:buFont typeface="Wingdings" panose="05000000000000000000" pitchFamily="2" charset="2"/>
              <a:buNone/>
            </a:pPr>
            <a:r>
              <a:rPr lang="zh-CN" altLang="en-US" sz="2800">
                <a:latin typeface="Times New Roman" panose="02020603050405020304" pitchFamily="18" charset="0"/>
              </a:rPr>
              <a:t>实际上，就是要求</a:t>
            </a:r>
            <a:r>
              <a:rPr lang="en-US" altLang="zh-CN" sz="2800" i="1">
                <a:latin typeface="Times New Roman" panose="02020603050405020304" pitchFamily="18" charset="0"/>
              </a:rPr>
              <a:t>g</a:t>
            </a:r>
            <a:r>
              <a:rPr lang="en-US" altLang="zh-CN" sz="2800">
                <a:latin typeface="Times New Roman" panose="02020603050405020304" pitchFamily="18" charset="0"/>
              </a:rPr>
              <a:t>&gt;1</a:t>
            </a:r>
            <a:r>
              <a:rPr lang="zh-CN" altLang="en-US" sz="2800">
                <a:latin typeface="Times New Roman" panose="02020603050405020304" pitchFamily="18" charset="0"/>
              </a:rPr>
              <a:t>， </a:t>
            </a:r>
            <a:r>
              <a:rPr lang="en-US" altLang="zh-CN" sz="2800" i="1">
                <a:latin typeface="Times New Roman" panose="02020603050405020304" pitchFamily="18" charset="0"/>
              </a:rPr>
              <a:t>g</a:t>
            </a:r>
            <a:r>
              <a:rPr lang="en-US" altLang="zh-CN" sz="2800" i="1" baseline="30000">
                <a:latin typeface="Times New Roman" panose="02020603050405020304" pitchFamily="18" charset="0"/>
              </a:rPr>
              <a:t>q</a:t>
            </a:r>
            <a:r>
              <a:rPr lang="en-US" altLang="zh-CN" sz="2800">
                <a:latin typeface="Times New Roman" panose="02020603050405020304" pitchFamily="18" charset="0"/>
              </a:rPr>
              <a:t>(mod</a:t>
            </a:r>
            <a:r>
              <a:rPr lang="en-US" altLang="zh-CN" sz="2800" i="1">
                <a:latin typeface="Times New Roman" panose="02020603050405020304" pitchFamily="18" charset="0"/>
              </a:rPr>
              <a:t>p</a:t>
            </a:r>
            <a:r>
              <a:rPr lang="en-US" altLang="zh-CN" sz="2800">
                <a:latin typeface="Times New Roman" panose="02020603050405020304" pitchFamily="18" charset="0"/>
              </a:rPr>
              <a:t>)=1 </a:t>
            </a:r>
            <a:r>
              <a:rPr lang="zh-CN" altLang="en-US" sz="2800">
                <a:latin typeface="Times New Roman" panose="02020603050405020304" pitchFamily="18" charset="0"/>
              </a:rPr>
              <a:t>。</a:t>
            </a:r>
          </a:p>
          <a:p>
            <a:pPr>
              <a:buFont typeface="Wingdings" panose="05000000000000000000" pitchFamily="2" charset="2"/>
              <a:buNone/>
            </a:pPr>
            <a:endParaRPr lang="en-US" altLang="zh-CN" sz="2800">
              <a:latin typeface="Times New Roman" panose="02020603050405020304" pitchFamily="18" charset="0"/>
            </a:endParaRPr>
          </a:p>
          <a:p>
            <a:pPr>
              <a:buFont typeface="Wingdings" panose="05000000000000000000" pitchFamily="2" charset="2"/>
              <a:buNone/>
            </a:pPr>
            <a:r>
              <a:rPr lang="en-US" altLang="zh-CN" sz="2800">
                <a:latin typeface="Times New Roman" panose="02020603050405020304" pitchFamily="18" charset="0"/>
              </a:rPr>
              <a:t>Alice</a:t>
            </a:r>
            <a:r>
              <a:rPr lang="zh-CN" altLang="en-US" sz="2800">
                <a:latin typeface="Times New Roman" panose="02020603050405020304" pitchFamily="18" charset="0"/>
              </a:rPr>
              <a:t>选择</a:t>
            </a:r>
            <a:r>
              <a:rPr lang="en-US" altLang="zh-CN" sz="2800" i="1">
                <a:latin typeface="Times New Roman" panose="02020603050405020304" pitchFamily="18" charset="0"/>
              </a:rPr>
              <a:t>x</a:t>
            </a:r>
            <a:r>
              <a:rPr lang="zh-CN" altLang="en-US" sz="2800">
                <a:latin typeface="Times New Roman" panose="02020603050405020304" pitchFamily="18" charset="0"/>
              </a:rPr>
              <a:t>，其中</a:t>
            </a:r>
            <a:r>
              <a:rPr lang="en-US" altLang="zh-CN" sz="2800">
                <a:latin typeface="Times New Roman" panose="02020603050405020304" pitchFamily="18" charset="0"/>
              </a:rPr>
              <a:t>1&lt;</a:t>
            </a:r>
            <a:r>
              <a:rPr lang="en-US" altLang="zh-CN" sz="2800" i="1">
                <a:latin typeface="Times New Roman" panose="02020603050405020304" pitchFamily="18" charset="0"/>
              </a:rPr>
              <a:t>x</a:t>
            </a:r>
            <a:r>
              <a:rPr lang="en-US" altLang="zh-CN" sz="2800">
                <a:latin typeface="Times New Roman" panose="02020603050405020304" pitchFamily="18" charset="0"/>
              </a:rPr>
              <a:t>&lt;</a:t>
            </a:r>
            <a:r>
              <a:rPr lang="en-US" altLang="zh-CN" sz="2800" i="1">
                <a:latin typeface="Times New Roman" panose="02020603050405020304" pitchFamily="18" charset="0"/>
              </a:rPr>
              <a:t>q</a:t>
            </a:r>
            <a:r>
              <a:rPr lang="zh-CN" altLang="en-US" sz="2800">
                <a:latin typeface="Times New Roman" panose="02020603050405020304" pitchFamily="18" charset="0"/>
              </a:rPr>
              <a:t>。</a:t>
            </a:r>
          </a:p>
          <a:p>
            <a:pPr>
              <a:buFont typeface="Wingdings" panose="05000000000000000000" pitchFamily="2" charset="2"/>
              <a:buNone/>
            </a:pPr>
            <a:r>
              <a:rPr lang="en-US" altLang="zh-CN" sz="2800">
                <a:latin typeface="Times New Roman" panose="02020603050405020304" pitchFamily="18" charset="0"/>
              </a:rPr>
              <a:t>Alice</a:t>
            </a:r>
            <a:r>
              <a:rPr lang="zh-CN" altLang="en-US" sz="2800">
                <a:latin typeface="Times New Roman" panose="02020603050405020304" pitchFamily="18" charset="0"/>
              </a:rPr>
              <a:t>计算</a:t>
            </a:r>
            <a:r>
              <a:rPr lang="en-US" altLang="zh-CN" sz="2800" i="1">
                <a:latin typeface="Times New Roman" panose="02020603050405020304" pitchFamily="18" charset="0"/>
              </a:rPr>
              <a:t>y</a:t>
            </a:r>
            <a:r>
              <a:rPr lang="en-US" altLang="zh-CN" sz="2800">
                <a:latin typeface="Times New Roman" panose="02020603050405020304" pitchFamily="18" charset="0"/>
              </a:rPr>
              <a:t>=</a:t>
            </a:r>
            <a:r>
              <a:rPr lang="en-US" altLang="zh-CN" sz="2800" i="1">
                <a:latin typeface="Times New Roman" panose="02020603050405020304" pitchFamily="18" charset="0"/>
              </a:rPr>
              <a:t>g</a:t>
            </a:r>
            <a:r>
              <a:rPr lang="en-US" altLang="zh-CN" sz="2800" i="1" baseline="30000">
                <a:latin typeface="Times New Roman" panose="02020603050405020304" pitchFamily="18" charset="0"/>
              </a:rPr>
              <a:t>x</a:t>
            </a:r>
            <a:r>
              <a:rPr lang="en-US" altLang="zh-CN" sz="2800">
                <a:latin typeface="Times New Roman" panose="02020603050405020304" pitchFamily="18" charset="0"/>
              </a:rPr>
              <a:t>(mod</a:t>
            </a:r>
            <a:r>
              <a:rPr lang="en-US" altLang="zh-CN" sz="2800" i="1">
                <a:latin typeface="Times New Roman" panose="02020603050405020304" pitchFamily="18" charset="0"/>
              </a:rPr>
              <a:t>p</a:t>
            </a:r>
            <a:r>
              <a:rPr lang="en-US" altLang="zh-CN" sz="2800">
                <a:latin typeface="Times New Roman" panose="02020603050405020304" pitchFamily="18" charset="0"/>
              </a:rPr>
              <a:t>)</a:t>
            </a:r>
            <a:r>
              <a:rPr lang="zh-CN" altLang="en-US" sz="2800">
                <a:latin typeface="Times New Roman" panose="02020603050405020304" pitchFamily="18" charset="0"/>
              </a:rPr>
              <a:t>。</a:t>
            </a:r>
          </a:p>
          <a:p>
            <a:pPr>
              <a:buFont typeface="Wingdings" panose="05000000000000000000" pitchFamily="2" charset="2"/>
              <a:buNone/>
            </a:pPr>
            <a:r>
              <a:rPr lang="en-US" altLang="zh-CN" sz="2800">
                <a:latin typeface="Times New Roman" panose="02020603050405020304" pitchFamily="18" charset="0"/>
              </a:rPr>
              <a:t>Alice</a:t>
            </a:r>
            <a:r>
              <a:rPr lang="zh-CN" altLang="en-US" sz="2800">
                <a:latin typeface="Times New Roman" panose="02020603050405020304" pitchFamily="18" charset="0"/>
              </a:rPr>
              <a:t>的公钥是</a:t>
            </a:r>
            <a:r>
              <a:rPr lang="en-US" altLang="zh-CN" sz="2800">
                <a:latin typeface="Times New Roman" panose="02020603050405020304" pitchFamily="18" charset="0"/>
              </a:rPr>
              <a:t>(</a:t>
            </a:r>
            <a:r>
              <a:rPr lang="en-US" altLang="zh-CN" sz="2800" i="1">
                <a:latin typeface="Times New Roman" panose="02020603050405020304" pitchFamily="18" charset="0"/>
              </a:rPr>
              <a:t>p</a:t>
            </a:r>
            <a:r>
              <a:rPr lang="zh-CN" altLang="en-US" sz="2800">
                <a:latin typeface="Times New Roman" panose="02020603050405020304" pitchFamily="18" charset="0"/>
              </a:rPr>
              <a:t>，</a:t>
            </a:r>
            <a:r>
              <a:rPr lang="en-US" altLang="zh-CN" sz="2800" i="1">
                <a:latin typeface="Times New Roman" panose="02020603050405020304" pitchFamily="18" charset="0"/>
              </a:rPr>
              <a:t>q</a:t>
            </a:r>
            <a:r>
              <a:rPr lang="zh-CN" altLang="en-US" sz="2800">
                <a:latin typeface="Times New Roman" panose="02020603050405020304" pitchFamily="18" charset="0"/>
              </a:rPr>
              <a:t>，</a:t>
            </a:r>
            <a:r>
              <a:rPr lang="en-US" altLang="zh-CN" sz="2800" i="1">
                <a:latin typeface="Times New Roman" panose="02020603050405020304" pitchFamily="18" charset="0"/>
              </a:rPr>
              <a:t>g</a:t>
            </a:r>
            <a:r>
              <a:rPr lang="zh-CN" altLang="en-US" sz="2800">
                <a:latin typeface="Times New Roman" panose="02020603050405020304" pitchFamily="18" charset="0"/>
              </a:rPr>
              <a:t>，</a:t>
            </a:r>
            <a:r>
              <a:rPr lang="en-US" altLang="zh-CN" sz="2800" i="1">
                <a:latin typeface="Times New Roman" panose="02020603050405020304" pitchFamily="18" charset="0"/>
              </a:rPr>
              <a:t>y</a:t>
            </a:r>
            <a:r>
              <a:rPr lang="en-US" altLang="zh-CN" sz="2800">
                <a:latin typeface="Times New Roman" panose="02020603050405020304" pitchFamily="18" charset="0"/>
              </a:rPr>
              <a:t>)</a:t>
            </a:r>
            <a:r>
              <a:rPr lang="zh-CN" altLang="en-US" sz="2800">
                <a:latin typeface="Times New Roman" panose="02020603050405020304" pitchFamily="18" charset="0"/>
              </a:rPr>
              <a:t>， </a:t>
            </a:r>
            <a:r>
              <a:rPr lang="en-US" altLang="zh-CN" sz="2800">
                <a:latin typeface="Times New Roman" panose="02020603050405020304" pitchFamily="18" charset="0"/>
              </a:rPr>
              <a:t>Alice</a:t>
            </a:r>
            <a:r>
              <a:rPr lang="zh-CN" altLang="en-US" sz="2800">
                <a:latin typeface="Times New Roman" panose="02020603050405020304" pitchFamily="18" charset="0"/>
              </a:rPr>
              <a:t>的私钥是</a:t>
            </a:r>
            <a:r>
              <a:rPr lang="en-US" altLang="zh-CN" sz="2800" i="1">
                <a:latin typeface="Times New Roman" panose="02020603050405020304" pitchFamily="18" charset="0"/>
              </a:rPr>
              <a:t>x</a:t>
            </a:r>
            <a:r>
              <a:rPr lang="zh-CN" altLang="en-US" sz="2800">
                <a:latin typeface="Times New Roman" panose="02020603050405020304" pitchFamily="18" charset="0"/>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灯片编号占位符 4">
            <a:extLst>
              <a:ext uri="{FF2B5EF4-FFF2-40B4-BE49-F238E27FC236}">
                <a16:creationId xmlns:a16="http://schemas.microsoft.com/office/drawing/2014/main" id="{89F9F2E2-91A6-ABBD-AC52-9552D1DEAC7A}"/>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E7F6D471-4619-45FC-8B5D-1D9430A84081}" type="slidenum">
              <a:rPr lang="zh-CN" altLang="en-US" sz="1400" smtClean="0"/>
              <a:pPr eaLnBrk="0" hangingPunct="0">
                <a:spcBef>
                  <a:spcPct val="0"/>
                </a:spcBef>
                <a:buClrTx/>
                <a:buSzTx/>
                <a:buFontTx/>
                <a:buNone/>
              </a:pPr>
              <a:t>34</a:t>
            </a:fld>
            <a:endParaRPr lang="en-US" altLang="zh-CN" sz="1400"/>
          </a:p>
        </p:txBody>
      </p:sp>
      <p:sp>
        <p:nvSpPr>
          <p:cNvPr id="60419" name="Rectangle 2">
            <a:extLst>
              <a:ext uri="{FF2B5EF4-FFF2-40B4-BE49-F238E27FC236}">
                <a16:creationId xmlns:a16="http://schemas.microsoft.com/office/drawing/2014/main" id="{8AA63DAF-9653-98B5-140D-1F07E00A3438}"/>
              </a:ext>
            </a:extLst>
          </p:cNvPr>
          <p:cNvSpPr>
            <a:spLocks noGrp="1" noChangeArrowheads="1"/>
          </p:cNvSpPr>
          <p:nvPr>
            <p:ph type="title"/>
          </p:nvPr>
        </p:nvSpPr>
        <p:spPr/>
        <p:txBody>
          <a:bodyPr/>
          <a:lstStyle/>
          <a:p>
            <a:r>
              <a:rPr lang="zh-CN" altLang="en-US" b="1"/>
              <a:t>三、几种常用的数字签名</a:t>
            </a:r>
          </a:p>
        </p:txBody>
      </p:sp>
      <p:sp>
        <p:nvSpPr>
          <p:cNvPr id="60420" name="Rectangle 3">
            <a:extLst>
              <a:ext uri="{FF2B5EF4-FFF2-40B4-BE49-F238E27FC236}">
                <a16:creationId xmlns:a16="http://schemas.microsoft.com/office/drawing/2014/main" id="{BE7D9A0B-6F50-34AC-3077-114360709619}"/>
              </a:ext>
            </a:extLst>
          </p:cNvPr>
          <p:cNvSpPr>
            <a:spLocks noGrp="1" noChangeArrowheads="1"/>
          </p:cNvSpPr>
          <p:nvPr>
            <p:ph type="body" idx="1"/>
          </p:nvPr>
        </p:nvSpPr>
        <p:spPr>
          <a:xfrm>
            <a:off x="539750" y="2017713"/>
            <a:ext cx="8415338" cy="4114800"/>
          </a:xfrm>
        </p:spPr>
        <p:txBody>
          <a:bodyPr/>
          <a:lstStyle/>
          <a:p>
            <a:pPr algn="ctr">
              <a:lnSpc>
                <a:spcPct val="90000"/>
              </a:lnSpc>
              <a:buFont typeface="Wingdings" panose="05000000000000000000" pitchFamily="2" charset="2"/>
              <a:buNone/>
            </a:pPr>
            <a:r>
              <a:rPr lang="en-US" altLang="zh-CN" sz="2800" b="1">
                <a:latin typeface="Times New Roman" panose="02020603050405020304" pitchFamily="18" charset="0"/>
                <a:ea typeface="黑体" panose="02010609060101010101" pitchFamily="49" charset="-122"/>
              </a:rPr>
              <a:t>DSA</a:t>
            </a:r>
            <a:r>
              <a:rPr lang="zh-CN" altLang="en-US" sz="2800" b="1">
                <a:latin typeface="Times New Roman" panose="02020603050405020304" pitchFamily="18" charset="0"/>
                <a:ea typeface="黑体" panose="02010609060101010101" pitchFamily="49" charset="-122"/>
              </a:rPr>
              <a:t>的签名过程</a:t>
            </a:r>
          </a:p>
          <a:p>
            <a:pPr>
              <a:lnSpc>
                <a:spcPct val="90000"/>
              </a:lnSpc>
              <a:buClr>
                <a:schemeClr val="tx1"/>
              </a:buClr>
              <a:buFont typeface="Wingdings" panose="05000000000000000000" pitchFamily="2" charset="2"/>
              <a:buNone/>
            </a:pPr>
            <a:r>
              <a:rPr lang="zh-CN" altLang="en-US" sz="2400">
                <a:latin typeface="Times New Roman" panose="02020603050405020304" pitchFamily="18" charset="0"/>
              </a:rPr>
              <a:t>签名方案是上节的签名方案</a:t>
            </a:r>
            <a:r>
              <a:rPr lang="en-US" altLang="zh-CN" sz="2400">
                <a:latin typeface="Times New Roman" panose="02020603050405020304" pitchFamily="18" charset="0"/>
              </a:rPr>
              <a:t>(</a:t>
            </a:r>
            <a:r>
              <a:rPr lang="zh-CN" altLang="en-US" sz="2400">
                <a:latin typeface="Times New Roman" panose="02020603050405020304" pitchFamily="18" charset="0"/>
              </a:rPr>
              <a:t>二</a:t>
            </a:r>
            <a:r>
              <a:rPr lang="en-US" altLang="zh-CN" sz="2400">
                <a:latin typeface="Times New Roman" panose="02020603050405020304" pitchFamily="18" charset="0"/>
              </a:rPr>
              <a:t>) </a:t>
            </a:r>
            <a:r>
              <a:rPr lang="zh-CN" altLang="en-US" sz="2400">
                <a:latin typeface="Times New Roman" panose="02020603050405020304" pitchFamily="18" charset="0"/>
              </a:rPr>
              <a:t>。设</a:t>
            </a:r>
            <a:r>
              <a:rPr lang="en-US" altLang="zh-CN" sz="2400">
                <a:latin typeface="Times New Roman" panose="02020603050405020304" pitchFamily="18" charset="0"/>
              </a:rPr>
              <a:t>Alice</a:t>
            </a:r>
            <a:r>
              <a:rPr lang="zh-CN" altLang="en-US" sz="2400">
                <a:latin typeface="Times New Roman" panose="02020603050405020304" pitchFamily="18" charset="0"/>
              </a:rPr>
              <a:t>欲发消息</a:t>
            </a:r>
            <a:r>
              <a:rPr lang="en-US" altLang="zh-CN" sz="2400" i="1">
                <a:latin typeface="Times New Roman" panose="02020603050405020304" pitchFamily="18" charset="0"/>
              </a:rPr>
              <a:t>m</a:t>
            </a:r>
            <a:r>
              <a:rPr lang="zh-CN" altLang="en-US" sz="2400">
                <a:latin typeface="Times New Roman" panose="02020603050405020304" pitchFamily="18" charset="0"/>
              </a:rPr>
              <a:t>给</a:t>
            </a:r>
            <a:r>
              <a:rPr lang="en-US" altLang="zh-CN" sz="2400">
                <a:latin typeface="Times New Roman" panose="02020603050405020304" pitchFamily="18" charset="0"/>
              </a:rPr>
              <a:t>Bob</a:t>
            </a:r>
            <a:r>
              <a:rPr lang="zh-CN" altLang="en-US" sz="2400">
                <a:latin typeface="Times New Roman" panose="02020603050405020304" pitchFamily="18" charset="0"/>
              </a:rPr>
              <a:t>。</a:t>
            </a:r>
          </a:p>
          <a:p>
            <a:pPr>
              <a:lnSpc>
                <a:spcPct val="90000"/>
              </a:lnSpc>
              <a:buFont typeface="Wingdings" panose="05000000000000000000" pitchFamily="2" charset="2"/>
              <a:buNone/>
            </a:pPr>
            <a:r>
              <a:rPr lang="zh-CN" altLang="en-US" sz="2400">
                <a:latin typeface="Times New Roman" panose="02020603050405020304" pitchFamily="18" charset="0"/>
              </a:rPr>
              <a:t>（</a:t>
            </a:r>
            <a:r>
              <a:rPr lang="en-US" altLang="zh-CN" sz="2400">
                <a:latin typeface="Times New Roman" panose="02020603050405020304" pitchFamily="18" charset="0"/>
              </a:rPr>
              <a:t>1</a:t>
            </a:r>
            <a:r>
              <a:rPr lang="zh-CN" altLang="en-US" sz="2400">
                <a:latin typeface="Times New Roman" panose="02020603050405020304" pitchFamily="18" charset="0"/>
              </a:rPr>
              <a:t>） </a:t>
            </a:r>
            <a:r>
              <a:rPr lang="en-US" altLang="zh-CN" sz="2400">
                <a:latin typeface="Times New Roman" panose="02020603050405020304" pitchFamily="18" charset="0"/>
              </a:rPr>
              <a:t>Alice</a:t>
            </a:r>
            <a:r>
              <a:rPr lang="zh-CN" altLang="en-US" sz="2400">
                <a:latin typeface="Times New Roman" panose="02020603050405020304" pitchFamily="18" charset="0"/>
              </a:rPr>
              <a:t>用</a:t>
            </a:r>
            <a:r>
              <a:rPr lang="en-US" altLang="zh-CN" sz="2400" i="1">
                <a:latin typeface="Times New Roman" panose="02020603050405020304" pitchFamily="18" charset="0"/>
              </a:rPr>
              <a:t>H</a:t>
            </a:r>
            <a:r>
              <a:rPr lang="zh-CN" altLang="en-US" sz="2400">
                <a:latin typeface="Times New Roman" panose="02020603050405020304" pitchFamily="18" charset="0"/>
              </a:rPr>
              <a:t>将消息</a:t>
            </a:r>
            <a:r>
              <a:rPr lang="en-US" altLang="zh-CN" sz="2400" i="1">
                <a:latin typeface="Times New Roman" panose="02020603050405020304" pitchFamily="18" charset="0"/>
              </a:rPr>
              <a:t>m</a:t>
            </a:r>
            <a:r>
              <a:rPr lang="zh-CN" altLang="en-US" sz="2400">
                <a:latin typeface="Times New Roman" panose="02020603050405020304" pitchFamily="18" charset="0"/>
              </a:rPr>
              <a:t>进行处理，得</a:t>
            </a:r>
            <a:r>
              <a:rPr lang="en-US" altLang="zh-CN" sz="2400" i="1">
                <a:latin typeface="Times New Roman" panose="02020603050405020304" pitchFamily="18" charset="0"/>
              </a:rPr>
              <a:t>h</a:t>
            </a:r>
            <a:r>
              <a:rPr lang="en-US" altLang="zh-CN" sz="2400">
                <a:latin typeface="Times New Roman" panose="02020603050405020304" pitchFamily="18" charset="0"/>
              </a:rPr>
              <a:t>=</a:t>
            </a:r>
            <a:r>
              <a:rPr lang="en-US" altLang="zh-CN" sz="2400" i="1">
                <a:latin typeface="Times New Roman" panose="02020603050405020304" pitchFamily="18" charset="0"/>
              </a:rPr>
              <a:t>H</a:t>
            </a:r>
            <a:r>
              <a:rPr lang="en-US" altLang="zh-CN" sz="2400">
                <a:latin typeface="Times New Roman" panose="02020603050405020304" pitchFamily="18" charset="0"/>
              </a:rPr>
              <a:t>(</a:t>
            </a:r>
            <a:r>
              <a:rPr lang="en-US" altLang="zh-CN" sz="2400" i="1">
                <a:latin typeface="Times New Roman" panose="02020603050405020304" pitchFamily="18" charset="0"/>
              </a:rPr>
              <a:t>m</a:t>
            </a:r>
            <a:r>
              <a:rPr lang="en-US" altLang="zh-CN" sz="2400">
                <a:latin typeface="Times New Roman" panose="02020603050405020304" pitchFamily="18" charset="0"/>
              </a:rPr>
              <a:t>)</a:t>
            </a:r>
            <a:r>
              <a:rPr lang="zh-CN" altLang="en-US" sz="2400">
                <a:latin typeface="Times New Roman" panose="02020603050405020304" pitchFamily="18" charset="0"/>
              </a:rPr>
              <a:t>。</a:t>
            </a:r>
          </a:p>
          <a:p>
            <a:pPr>
              <a:lnSpc>
                <a:spcPct val="90000"/>
              </a:lnSpc>
              <a:buFont typeface="Wingdings" panose="05000000000000000000" pitchFamily="2" charset="2"/>
              <a:buNone/>
            </a:pPr>
            <a:r>
              <a:rPr lang="zh-CN" altLang="en-US" sz="2400">
                <a:latin typeface="Times New Roman" panose="02020603050405020304" pitchFamily="18" charset="0"/>
              </a:rPr>
              <a:t>（</a:t>
            </a:r>
            <a:r>
              <a:rPr lang="en-US" altLang="zh-CN" sz="2400">
                <a:latin typeface="Times New Roman" panose="02020603050405020304" pitchFamily="18" charset="0"/>
              </a:rPr>
              <a:t>2</a:t>
            </a:r>
            <a:r>
              <a:rPr lang="zh-CN" altLang="en-US" sz="2400">
                <a:latin typeface="Times New Roman" panose="02020603050405020304" pitchFamily="18" charset="0"/>
              </a:rPr>
              <a:t>） </a:t>
            </a:r>
            <a:r>
              <a:rPr lang="en-US" altLang="zh-CN" sz="2400">
                <a:latin typeface="Times New Roman" panose="02020603050405020304" pitchFamily="18" charset="0"/>
              </a:rPr>
              <a:t>Alice</a:t>
            </a:r>
            <a:r>
              <a:rPr lang="zh-CN" altLang="en-US" sz="2400">
                <a:latin typeface="Times New Roman" panose="02020603050405020304" pitchFamily="18" charset="0"/>
              </a:rPr>
              <a:t>随机地选择一个整数</a:t>
            </a:r>
            <a:r>
              <a:rPr lang="en-US" altLang="zh-CN" sz="2400" i="1">
                <a:latin typeface="Times New Roman" panose="02020603050405020304" pitchFamily="18" charset="0"/>
              </a:rPr>
              <a:t>k</a:t>
            </a:r>
            <a:r>
              <a:rPr lang="en-US" altLang="zh-CN" sz="2400">
                <a:latin typeface="Times New Roman" panose="02020603050405020304" pitchFamily="18" charset="0"/>
              </a:rPr>
              <a:t>(0&lt;</a:t>
            </a:r>
            <a:r>
              <a:rPr lang="en-US" altLang="zh-CN" sz="2400" i="1">
                <a:latin typeface="Times New Roman" panose="02020603050405020304" pitchFamily="18" charset="0"/>
              </a:rPr>
              <a:t>k</a:t>
            </a:r>
            <a:r>
              <a:rPr lang="en-US" altLang="zh-CN" sz="2400">
                <a:latin typeface="Times New Roman" panose="02020603050405020304" pitchFamily="18" charset="0"/>
              </a:rPr>
              <a:t>&lt;</a:t>
            </a:r>
            <a:r>
              <a:rPr lang="en-US" altLang="zh-CN" sz="2400" i="1">
                <a:latin typeface="Times New Roman" panose="02020603050405020304" pitchFamily="18" charset="0"/>
              </a:rPr>
              <a:t>q</a:t>
            </a:r>
            <a:r>
              <a:rPr lang="en-US" altLang="zh-CN" sz="2400">
                <a:latin typeface="Times New Roman" panose="02020603050405020304" pitchFamily="18" charset="0"/>
              </a:rPr>
              <a:t>)</a:t>
            </a:r>
            <a:r>
              <a:rPr lang="zh-CN" altLang="en-US" sz="2400">
                <a:latin typeface="Times New Roman" panose="02020603050405020304" pitchFamily="18" charset="0"/>
              </a:rPr>
              <a:t>，计算</a:t>
            </a:r>
          </a:p>
          <a:p>
            <a:pPr algn="ctr">
              <a:lnSpc>
                <a:spcPct val="90000"/>
              </a:lnSpc>
              <a:buFont typeface="Wingdings" panose="05000000000000000000" pitchFamily="2" charset="2"/>
              <a:buNone/>
            </a:pPr>
            <a:r>
              <a:rPr lang="en-US" altLang="zh-CN" sz="2400" i="1">
                <a:latin typeface="Times New Roman" panose="02020603050405020304" pitchFamily="18" charset="0"/>
              </a:rPr>
              <a:t>r</a:t>
            </a:r>
            <a:r>
              <a:rPr lang="en-US" altLang="zh-CN" sz="2400">
                <a:latin typeface="Times New Roman" panose="02020603050405020304" pitchFamily="18" charset="0"/>
              </a:rPr>
              <a:t>=(</a:t>
            </a:r>
            <a:r>
              <a:rPr lang="en-US" altLang="zh-CN" sz="2400" i="1">
                <a:latin typeface="Times New Roman" panose="02020603050405020304" pitchFamily="18" charset="0"/>
              </a:rPr>
              <a:t>g</a:t>
            </a:r>
            <a:r>
              <a:rPr lang="en-US" altLang="zh-CN" sz="2400" i="1" baseline="30000">
                <a:latin typeface="Times New Roman" panose="02020603050405020304" pitchFamily="18" charset="0"/>
              </a:rPr>
              <a:t>k</a:t>
            </a:r>
            <a:r>
              <a:rPr lang="en-US" altLang="zh-CN" sz="2400">
                <a:latin typeface="Times New Roman" panose="02020603050405020304" pitchFamily="18" charset="0"/>
              </a:rPr>
              <a:t>(mod</a:t>
            </a:r>
            <a:r>
              <a:rPr lang="en-US" altLang="zh-CN" sz="2400" i="1">
                <a:latin typeface="Times New Roman" panose="02020603050405020304" pitchFamily="18" charset="0"/>
              </a:rPr>
              <a:t>p</a:t>
            </a:r>
            <a:r>
              <a:rPr lang="en-US" altLang="zh-CN" sz="2400">
                <a:latin typeface="Times New Roman" panose="02020603050405020304" pitchFamily="18" charset="0"/>
              </a:rPr>
              <a:t>))(mod</a:t>
            </a:r>
            <a:r>
              <a:rPr lang="en-US" altLang="zh-CN" sz="2400" i="1">
                <a:latin typeface="Times New Roman" panose="02020603050405020304" pitchFamily="18" charset="0"/>
              </a:rPr>
              <a:t>q</a:t>
            </a:r>
            <a:r>
              <a:rPr lang="en-US" altLang="zh-CN" sz="2400">
                <a:latin typeface="Times New Roman" panose="02020603050405020304" pitchFamily="18" charset="0"/>
              </a:rPr>
              <a:t>)</a:t>
            </a:r>
            <a:r>
              <a:rPr lang="zh-CN" altLang="en-US" sz="2400">
                <a:latin typeface="Times New Roman" panose="02020603050405020304" pitchFamily="18" charset="0"/>
              </a:rPr>
              <a:t>；</a:t>
            </a:r>
          </a:p>
          <a:p>
            <a:pPr algn="ctr">
              <a:lnSpc>
                <a:spcPct val="90000"/>
              </a:lnSpc>
              <a:buFont typeface="Wingdings" panose="05000000000000000000" pitchFamily="2" charset="2"/>
              <a:buNone/>
            </a:pPr>
            <a:r>
              <a:rPr lang="en-US" altLang="zh-CN" sz="2400" i="1">
                <a:latin typeface="Times New Roman" panose="02020603050405020304" pitchFamily="18" charset="0"/>
              </a:rPr>
              <a:t>s</a:t>
            </a:r>
            <a:r>
              <a:rPr lang="en-US" altLang="zh-CN" sz="2400">
                <a:latin typeface="Times New Roman" panose="02020603050405020304" pitchFamily="18" charset="0"/>
              </a:rPr>
              <a:t>=(</a:t>
            </a:r>
            <a:r>
              <a:rPr lang="en-US" altLang="zh-CN" sz="2400" i="1">
                <a:latin typeface="Times New Roman" panose="02020603050405020304" pitchFamily="18" charset="0"/>
              </a:rPr>
              <a:t>k</a:t>
            </a:r>
            <a:r>
              <a:rPr lang="en-US" altLang="zh-CN" sz="2400" baseline="30000">
                <a:latin typeface="Times New Roman" panose="02020603050405020304" pitchFamily="18" charset="0"/>
              </a:rPr>
              <a:t>-1</a:t>
            </a:r>
            <a:r>
              <a:rPr lang="en-US" altLang="zh-CN" sz="2400">
                <a:latin typeface="Times New Roman" panose="02020603050405020304" pitchFamily="18" charset="0"/>
              </a:rPr>
              <a:t>(</a:t>
            </a:r>
            <a:r>
              <a:rPr lang="en-US" altLang="zh-CN" sz="2400" i="1">
                <a:latin typeface="Times New Roman" panose="02020603050405020304" pitchFamily="18" charset="0"/>
              </a:rPr>
              <a:t>h</a:t>
            </a:r>
            <a:r>
              <a:rPr lang="en-US" altLang="zh-CN" sz="2400">
                <a:latin typeface="Times New Roman" panose="02020603050405020304" pitchFamily="18" charset="0"/>
              </a:rPr>
              <a:t>+</a:t>
            </a:r>
            <a:r>
              <a:rPr lang="en-US" altLang="zh-CN" sz="2400" i="1">
                <a:latin typeface="Times New Roman" panose="02020603050405020304" pitchFamily="18" charset="0"/>
              </a:rPr>
              <a:t>xr</a:t>
            </a:r>
            <a:r>
              <a:rPr lang="en-US" altLang="zh-CN" sz="2400">
                <a:latin typeface="Times New Roman" panose="02020603050405020304" pitchFamily="18" charset="0"/>
              </a:rPr>
              <a:t>))(mod</a:t>
            </a:r>
            <a:r>
              <a:rPr lang="en-US" altLang="zh-CN" sz="2400" i="1">
                <a:latin typeface="Times New Roman" panose="02020603050405020304" pitchFamily="18" charset="0"/>
              </a:rPr>
              <a:t>q</a:t>
            </a:r>
            <a:r>
              <a:rPr lang="en-US" altLang="zh-CN" sz="2400">
                <a:latin typeface="Times New Roman" panose="02020603050405020304" pitchFamily="18" charset="0"/>
              </a:rPr>
              <a:t>)</a:t>
            </a:r>
            <a:r>
              <a:rPr lang="zh-CN" altLang="en-US" sz="2400">
                <a:latin typeface="Times New Roman" panose="02020603050405020304" pitchFamily="18" charset="0"/>
              </a:rPr>
              <a:t>。</a:t>
            </a:r>
          </a:p>
          <a:p>
            <a:pPr>
              <a:lnSpc>
                <a:spcPct val="90000"/>
              </a:lnSpc>
              <a:buFont typeface="Wingdings" panose="05000000000000000000" pitchFamily="2" charset="2"/>
              <a:buNone/>
            </a:pPr>
            <a:r>
              <a:rPr lang="zh-CN" altLang="en-US" sz="2400">
                <a:latin typeface="Times New Roman" panose="02020603050405020304" pitchFamily="18" charset="0"/>
              </a:rPr>
              <a:t>其中</a:t>
            </a:r>
            <a:r>
              <a:rPr lang="en-US" altLang="zh-CN" sz="2400" i="1">
                <a:latin typeface="Times New Roman" panose="02020603050405020304" pitchFamily="18" charset="0"/>
              </a:rPr>
              <a:t>k</a:t>
            </a:r>
            <a:r>
              <a:rPr lang="en-US" altLang="zh-CN" sz="2400" baseline="30000">
                <a:latin typeface="Times New Roman" panose="02020603050405020304" pitchFamily="18" charset="0"/>
              </a:rPr>
              <a:t>-1</a:t>
            </a:r>
            <a:r>
              <a:rPr lang="zh-CN" altLang="en-US" sz="2400">
                <a:latin typeface="Times New Roman" panose="02020603050405020304" pitchFamily="18" charset="0"/>
              </a:rPr>
              <a:t>是</a:t>
            </a:r>
            <a:r>
              <a:rPr lang="en-US" altLang="zh-CN" sz="2400" i="1">
                <a:latin typeface="Times New Roman" panose="02020603050405020304" pitchFamily="18" charset="0"/>
              </a:rPr>
              <a:t>k</a:t>
            </a:r>
            <a:r>
              <a:rPr lang="zh-CN" altLang="en-US" sz="2400">
                <a:latin typeface="Times New Roman" panose="02020603050405020304" pitchFamily="18" charset="0"/>
              </a:rPr>
              <a:t>的关于</a:t>
            </a:r>
            <a:r>
              <a:rPr lang="en-US" altLang="zh-CN" sz="2400">
                <a:latin typeface="Times New Roman" panose="02020603050405020304" pitchFamily="18" charset="0"/>
              </a:rPr>
              <a:t>(mod</a:t>
            </a:r>
            <a:r>
              <a:rPr lang="en-US" altLang="zh-CN" sz="2400" i="1">
                <a:latin typeface="Times New Roman" panose="02020603050405020304" pitchFamily="18" charset="0"/>
              </a:rPr>
              <a:t>q</a:t>
            </a:r>
            <a:r>
              <a:rPr lang="en-US" altLang="zh-CN" sz="2400">
                <a:latin typeface="Times New Roman" panose="02020603050405020304" pitchFamily="18" charset="0"/>
              </a:rPr>
              <a:t>)</a:t>
            </a:r>
            <a:r>
              <a:rPr lang="zh-CN" altLang="en-US" sz="2400">
                <a:latin typeface="Times New Roman" panose="02020603050405020304" pitchFamily="18" charset="0"/>
              </a:rPr>
              <a:t>的逆元，即</a:t>
            </a:r>
          </a:p>
          <a:p>
            <a:pPr algn="ctr">
              <a:lnSpc>
                <a:spcPct val="90000"/>
              </a:lnSpc>
              <a:buFont typeface="Wingdings" panose="05000000000000000000" pitchFamily="2" charset="2"/>
              <a:buNone/>
            </a:pPr>
            <a:r>
              <a:rPr lang="en-US" altLang="zh-CN" sz="2400" i="1">
                <a:latin typeface="Times New Roman" panose="02020603050405020304" pitchFamily="18" charset="0"/>
              </a:rPr>
              <a:t>k</a:t>
            </a:r>
            <a:r>
              <a:rPr lang="en-US" altLang="zh-CN" sz="2400" baseline="30000">
                <a:latin typeface="Times New Roman" panose="02020603050405020304" pitchFamily="18" charset="0"/>
              </a:rPr>
              <a:t>-1</a:t>
            </a:r>
            <a:r>
              <a:rPr lang="en-US" altLang="zh-CN" sz="2400" i="1">
                <a:latin typeface="Times New Roman" panose="02020603050405020304" pitchFamily="18" charset="0"/>
              </a:rPr>
              <a:t>k</a:t>
            </a:r>
            <a:r>
              <a:rPr lang="en-US" altLang="zh-CN" sz="2400">
                <a:latin typeface="Times New Roman" panose="02020603050405020304" pitchFamily="18" charset="0"/>
              </a:rPr>
              <a:t>(mod</a:t>
            </a:r>
            <a:r>
              <a:rPr lang="en-US" altLang="zh-CN" sz="2400" i="1">
                <a:latin typeface="Times New Roman" panose="02020603050405020304" pitchFamily="18" charset="0"/>
              </a:rPr>
              <a:t>q</a:t>
            </a:r>
            <a:r>
              <a:rPr lang="en-US" altLang="zh-CN" sz="2400">
                <a:latin typeface="Times New Roman" panose="02020603050405020304" pitchFamily="18" charset="0"/>
              </a:rPr>
              <a:t>)=1</a:t>
            </a:r>
            <a:r>
              <a:rPr lang="zh-CN" altLang="en-US" sz="2400">
                <a:latin typeface="Times New Roman" panose="02020603050405020304" pitchFamily="18" charset="0"/>
              </a:rPr>
              <a:t>，</a:t>
            </a:r>
            <a:r>
              <a:rPr lang="en-US" altLang="zh-CN" sz="2400">
                <a:latin typeface="Times New Roman" panose="02020603050405020304" pitchFamily="18" charset="0"/>
              </a:rPr>
              <a:t>0&lt; </a:t>
            </a:r>
            <a:r>
              <a:rPr lang="en-US" altLang="zh-CN" sz="2400" i="1">
                <a:latin typeface="Times New Roman" panose="02020603050405020304" pitchFamily="18" charset="0"/>
              </a:rPr>
              <a:t>k</a:t>
            </a:r>
            <a:r>
              <a:rPr lang="en-US" altLang="zh-CN" sz="2400" baseline="30000">
                <a:latin typeface="Times New Roman" panose="02020603050405020304" pitchFamily="18" charset="0"/>
              </a:rPr>
              <a:t>-1</a:t>
            </a:r>
            <a:r>
              <a:rPr lang="en-US" altLang="zh-CN" sz="2400" i="1">
                <a:latin typeface="Times New Roman" panose="02020603050405020304" pitchFamily="18" charset="0"/>
              </a:rPr>
              <a:t> </a:t>
            </a:r>
            <a:r>
              <a:rPr lang="en-US" altLang="zh-CN" sz="2400">
                <a:latin typeface="Times New Roman" panose="02020603050405020304" pitchFamily="18" charset="0"/>
              </a:rPr>
              <a:t>&lt;</a:t>
            </a:r>
            <a:r>
              <a:rPr lang="en-US" altLang="zh-CN" sz="2400" i="1">
                <a:latin typeface="Times New Roman" panose="02020603050405020304" pitchFamily="18" charset="0"/>
              </a:rPr>
              <a:t>q</a:t>
            </a:r>
            <a:r>
              <a:rPr lang="zh-CN" altLang="en-US" sz="2400">
                <a:latin typeface="Times New Roman" panose="02020603050405020304" pitchFamily="18" charset="0"/>
              </a:rPr>
              <a:t>。</a:t>
            </a:r>
          </a:p>
          <a:p>
            <a:pPr>
              <a:lnSpc>
                <a:spcPct val="90000"/>
              </a:lnSpc>
              <a:buFont typeface="Wingdings" panose="05000000000000000000" pitchFamily="2" charset="2"/>
              <a:buNone/>
            </a:pPr>
            <a:r>
              <a:rPr lang="en-US" altLang="zh-CN" sz="2400">
                <a:latin typeface="Times New Roman" panose="02020603050405020304" pitchFamily="18" charset="0"/>
              </a:rPr>
              <a:t>(</a:t>
            </a:r>
            <a:r>
              <a:rPr lang="en-US" altLang="zh-CN" sz="2400" i="1">
                <a:latin typeface="Times New Roman" panose="02020603050405020304" pitchFamily="18" charset="0"/>
              </a:rPr>
              <a:t>r</a:t>
            </a:r>
            <a:r>
              <a:rPr lang="en-US" altLang="zh-CN" sz="2400">
                <a:latin typeface="Times New Roman" panose="02020603050405020304" pitchFamily="18" charset="0"/>
              </a:rPr>
              <a:t>, </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zh-CN" altLang="en-US" sz="2400">
                <a:latin typeface="Times New Roman" panose="02020603050405020304" pitchFamily="18" charset="0"/>
              </a:rPr>
              <a:t>就是对消息</a:t>
            </a:r>
            <a:r>
              <a:rPr lang="en-US" altLang="zh-CN" sz="2400" i="1">
                <a:latin typeface="Times New Roman" panose="02020603050405020304" pitchFamily="18" charset="0"/>
              </a:rPr>
              <a:t>m</a:t>
            </a:r>
            <a:r>
              <a:rPr lang="zh-CN" altLang="en-US" sz="2400">
                <a:latin typeface="Times New Roman" panose="02020603050405020304" pitchFamily="18" charset="0"/>
              </a:rPr>
              <a:t>的签名， </a:t>
            </a:r>
            <a:r>
              <a:rPr lang="en-US" altLang="zh-CN" sz="2400">
                <a:latin typeface="Times New Roman" panose="02020603050405020304" pitchFamily="18" charset="0"/>
              </a:rPr>
              <a:t>(</a:t>
            </a:r>
            <a:r>
              <a:rPr lang="en-US" altLang="zh-CN" sz="2400" i="1">
                <a:latin typeface="Times New Roman" panose="02020603050405020304" pitchFamily="18" charset="0"/>
              </a:rPr>
              <a:t>m, r</a:t>
            </a:r>
            <a:r>
              <a:rPr lang="en-US" altLang="zh-CN" sz="2400">
                <a:latin typeface="Times New Roman" panose="02020603050405020304" pitchFamily="18" charset="0"/>
              </a:rPr>
              <a:t>, </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zh-CN" altLang="en-US" sz="2400">
                <a:latin typeface="Times New Roman" panose="02020603050405020304" pitchFamily="18" charset="0"/>
              </a:rPr>
              <a:t>就是发送给</a:t>
            </a:r>
            <a:r>
              <a:rPr lang="en-US" altLang="zh-CN" sz="2400">
                <a:latin typeface="Times New Roman" panose="02020603050405020304" pitchFamily="18" charset="0"/>
              </a:rPr>
              <a:t>Bob</a:t>
            </a:r>
            <a:r>
              <a:rPr lang="zh-CN" altLang="en-US" sz="2400">
                <a:latin typeface="Times New Roman" panose="02020603050405020304" pitchFamily="18" charset="0"/>
              </a:rPr>
              <a:t>的签名消息。</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灯片编号占位符 4">
            <a:extLst>
              <a:ext uri="{FF2B5EF4-FFF2-40B4-BE49-F238E27FC236}">
                <a16:creationId xmlns:a16="http://schemas.microsoft.com/office/drawing/2014/main" id="{6E5C4352-00F2-489F-0A18-65226AFD5855}"/>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42361353-7860-4B6E-965D-791EA2DA4F50}" type="slidenum">
              <a:rPr lang="zh-CN" altLang="en-US" sz="1400" smtClean="0"/>
              <a:pPr eaLnBrk="0" hangingPunct="0">
                <a:spcBef>
                  <a:spcPct val="0"/>
                </a:spcBef>
                <a:buClrTx/>
                <a:buSzTx/>
                <a:buFontTx/>
                <a:buNone/>
              </a:pPr>
              <a:t>35</a:t>
            </a:fld>
            <a:endParaRPr lang="en-US" altLang="zh-CN" sz="1400"/>
          </a:p>
        </p:txBody>
      </p:sp>
      <p:sp>
        <p:nvSpPr>
          <p:cNvPr id="61443" name="Rectangle 2">
            <a:extLst>
              <a:ext uri="{FF2B5EF4-FFF2-40B4-BE49-F238E27FC236}">
                <a16:creationId xmlns:a16="http://schemas.microsoft.com/office/drawing/2014/main" id="{0E98BCD9-9D28-D9F0-09B3-4927B280900E}"/>
              </a:ext>
            </a:extLst>
          </p:cNvPr>
          <p:cNvSpPr>
            <a:spLocks noGrp="1" noChangeArrowheads="1"/>
          </p:cNvSpPr>
          <p:nvPr>
            <p:ph type="title"/>
          </p:nvPr>
        </p:nvSpPr>
        <p:spPr/>
        <p:txBody>
          <a:bodyPr/>
          <a:lstStyle/>
          <a:p>
            <a:r>
              <a:rPr lang="zh-CN" altLang="en-US" b="1"/>
              <a:t>三、几种常用的数字签名</a:t>
            </a:r>
          </a:p>
        </p:txBody>
      </p:sp>
      <p:sp>
        <p:nvSpPr>
          <p:cNvPr id="61444" name="Rectangle 3">
            <a:extLst>
              <a:ext uri="{FF2B5EF4-FFF2-40B4-BE49-F238E27FC236}">
                <a16:creationId xmlns:a16="http://schemas.microsoft.com/office/drawing/2014/main" id="{F911C474-1EF4-F130-6F89-AECE826D426C}"/>
              </a:ext>
            </a:extLst>
          </p:cNvPr>
          <p:cNvSpPr>
            <a:spLocks noGrp="1" noChangeArrowheads="1"/>
          </p:cNvSpPr>
          <p:nvPr>
            <p:ph type="body" idx="1"/>
          </p:nvPr>
        </p:nvSpPr>
        <p:spPr>
          <a:xfrm>
            <a:off x="468313" y="2017713"/>
            <a:ext cx="8486775" cy="4364037"/>
          </a:xfrm>
        </p:spPr>
        <p:txBody>
          <a:bodyPr/>
          <a:lstStyle/>
          <a:p>
            <a:pPr algn="ctr">
              <a:lnSpc>
                <a:spcPct val="90000"/>
              </a:lnSpc>
              <a:buFont typeface="Wingdings" panose="05000000000000000000" pitchFamily="2" charset="2"/>
              <a:buNone/>
            </a:pPr>
            <a:r>
              <a:rPr lang="en-US" altLang="zh-CN" sz="2800" b="1">
                <a:latin typeface="黑体" panose="02010609060101010101" pitchFamily="49" charset="-122"/>
                <a:ea typeface="黑体" panose="02010609060101010101" pitchFamily="49" charset="-122"/>
              </a:rPr>
              <a:t>DSA</a:t>
            </a:r>
            <a:r>
              <a:rPr lang="zh-CN" altLang="en-US" sz="2800" b="1">
                <a:latin typeface="黑体" panose="02010609060101010101" pitchFamily="49" charset="-122"/>
                <a:ea typeface="黑体" panose="02010609060101010101" pitchFamily="49" charset="-122"/>
              </a:rPr>
              <a:t>的验证过程</a:t>
            </a:r>
            <a:endParaRPr lang="zh-CN" altLang="en-US" sz="2400"/>
          </a:p>
          <a:p>
            <a:pPr>
              <a:lnSpc>
                <a:spcPct val="90000"/>
              </a:lnSpc>
              <a:buFont typeface="Wingdings" panose="05000000000000000000" pitchFamily="2" charset="2"/>
              <a:buNone/>
            </a:pPr>
            <a:r>
              <a:rPr lang="en-US" altLang="zh-CN" sz="2400">
                <a:latin typeface="Times New Roman" panose="02020603050405020304" pitchFamily="18" charset="0"/>
              </a:rPr>
              <a:t>Bob</a:t>
            </a:r>
            <a:r>
              <a:rPr lang="zh-CN" altLang="en-US" sz="2400">
                <a:latin typeface="Times New Roman" panose="02020603050405020304" pitchFamily="18" charset="0"/>
              </a:rPr>
              <a:t>收到</a:t>
            </a:r>
            <a:r>
              <a:rPr lang="en-US" altLang="zh-CN" sz="2400">
                <a:latin typeface="Times New Roman" panose="02020603050405020304" pitchFamily="18" charset="0"/>
              </a:rPr>
              <a:t>(</a:t>
            </a:r>
            <a:r>
              <a:rPr lang="en-US" altLang="zh-CN" sz="2400" i="1">
                <a:latin typeface="Times New Roman" panose="02020603050405020304" pitchFamily="18" charset="0"/>
              </a:rPr>
              <a:t>m, r</a:t>
            </a:r>
            <a:r>
              <a:rPr lang="en-US" altLang="zh-CN" sz="2400">
                <a:latin typeface="Times New Roman" panose="02020603050405020304" pitchFamily="18" charset="0"/>
              </a:rPr>
              <a:t>, </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zh-CN" altLang="en-US" sz="2400">
                <a:latin typeface="Times New Roman" panose="02020603050405020304" pitchFamily="18" charset="0"/>
              </a:rPr>
              <a:t>后，用</a:t>
            </a:r>
            <a:r>
              <a:rPr lang="en-US" altLang="zh-CN" sz="2400">
                <a:latin typeface="Times New Roman" panose="02020603050405020304" pitchFamily="18" charset="0"/>
              </a:rPr>
              <a:t>Alice</a:t>
            </a:r>
            <a:r>
              <a:rPr lang="zh-CN" altLang="en-US" sz="2400">
                <a:latin typeface="Times New Roman" panose="02020603050405020304" pitchFamily="18" charset="0"/>
              </a:rPr>
              <a:t>的公钥</a:t>
            </a:r>
            <a:r>
              <a:rPr lang="en-US" altLang="zh-CN" sz="2400">
                <a:latin typeface="Times New Roman" panose="02020603050405020304" pitchFamily="18" charset="0"/>
              </a:rPr>
              <a:t>(</a:t>
            </a:r>
            <a:r>
              <a:rPr lang="en-US" altLang="zh-CN" sz="2400" i="1">
                <a:latin typeface="Times New Roman" panose="02020603050405020304" pitchFamily="18" charset="0"/>
              </a:rPr>
              <a:t>p</a:t>
            </a:r>
            <a:r>
              <a:rPr lang="zh-CN" altLang="en-US" sz="2400">
                <a:latin typeface="Times New Roman" panose="02020603050405020304" pitchFamily="18" charset="0"/>
              </a:rPr>
              <a:t>，</a:t>
            </a:r>
            <a:r>
              <a:rPr lang="en-US" altLang="zh-CN" sz="2400" i="1">
                <a:latin typeface="Times New Roman" panose="02020603050405020304" pitchFamily="18" charset="0"/>
              </a:rPr>
              <a:t>q</a:t>
            </a:r>
            <a:r>
              <a:rPr lang="zh-CN" altLang="en-US" sz="2400">
                <a:latin typeface="Times New Roman" panose="02020603050405020304" pitchFamily="18" charset="0"/>
              </a:rPr>
              <a:t>，</a:t>
            </a:r>
            <a:r>
              <a:rPr lang="en-US" altLang="zh-CN" sz="2400" i="1">
                <a:latin typeface="Times New Roman" panose="02020603050405020304" pitchFamily="18" charset="0"/>
              </a:rPr>
              <a:t>g</a:t>
            </a:r>
            <a:r>
              <a:rPr lang="zh-CN" altLang="en-US" sz="2400">
                <a:latin typeface="Times New Roman" panose="02020603050405020304" pitchFamily="18" charset="0"/>
              </a:rPr>
              <a:t>，</a:t>
            </a:r>
            <a:r>
              <a:rPr lang="en-US" altLang="zh-CN" sz="2400" i="1">
                <a:latin typeface="Times New Roman" panose="02020603050405020304" pitchFamily="18" charset="0"/>
              </a:rPr>
              <a:t>y</a:t>
            </a:r>
            <a:r>
              <a:rPr lang="en-US" altLang="zh-CN" sz="2400">
                <a:latin typeface="Times New Roman" panose="02020603050405020304" pitchFamily="18" charset="0"/>
              </a:rPr>
              <a:t>)</a:t>
            </a:r>
            <a:r>
              <a:rPr lang="zh-CN" altLang="en-US" sz="2400">
                <a:latin typeface="Times New Roman" panose="02020603050405020304" pitchFamily="18" charset="0"/>
              </a:rPr>
              <a:t>， 将消息</a:t>
            </a:r>
            <a:r>
              <a:rPr lang="en-US" altLang="zh-CN" sz="2400" i="1">
                <a:latin typeface="Times New Roman" panose="02020603050405020304" pitchFamily="18" charset="0"/>
              </a:rPr>
              <a:t>m</a:t>
            </a:r>
            <a:r>
              <a:rPr lang="zh-CN" altLang="en-US" sz="2400">
                <a:latin typeface="Times New Roman" panose="02020603050405020304" pitchFamily="18" charset="0"/>
              </a:rPr>
              <a:t>与签名</a:t>
            </a:r>
            <a:r>
              <a:rPr lang="en-US" altLang="zh-CN" sz="2400">
                <a:latin typeface="Times New Roman" panose="02020603050405020304" pitchFamily="18" charset="0"/>
              </a:rPr>
              <a:t>(</a:t>
            </a:r>
            <a:r>
              <a:rPr lang="en-US" altLang="zh-CN" sz="2400" i="1">
                <a:latin typeface="Times New Roman" panose="02020603050405020304" pitchFamily="18" charset="0"/>
              </a:rPr>
              <a:t>r</a:t>
            </a:r>
            <a:r>
              <a:rPr lang="en-US" altLang="zh-CN" sz="2400">
                <a:latin typeface="Times New Roman" panose="02020603050405020304" pitchFamily="18" charset="0"/>
              </a:rPr>
              <a:t>, </a:t>
            </a:r>
            <a:r>
              <a:rPr lang="en-US" altLang="zh-CN" sz="2400" i="1">
                <a:latin typeface="Times New Roman" panose="02020603050405020304" pitchFamily="18" charset="0"/>
              </a:rPr>
              <a:t>s</a:t>
            </a:r>
            <a:r>
              <a:rPr lang="en-US" altLang="zh-CN" sz="2400">
                <a:latin typeface="Times New Roman" panose="02020603050405020304" pitchFamily="18" charset="0"/>
              </a:rPr>
              <a:t>)</a:t>
            </a:r>
            <a:r>
              <a:rPr lang="zh-CN" altLang="en-US" sz="2400">
                <a:latin typeface="Times New Roman" panose="02020603050405020304" pitchFamily="18" charset="0"/>
              </a:rPr>
              <a:t>做如下的检验：</a:t>
            </a:r>
          </a:p>
          <a:p>
            <a:pPr>
              <a:lnSpc>
                <a:spcPct val="90000"/>
              </a:lnSpc>
              <a:buFont typeface="Wingdings" panose="05000000000000000000" pitchFamily="2" charset="2"/>
              <a:buNone/>
            </a:pPr>
            <a:r>
              <a:rPr lang="zh-CN" altLang="en-US" sz="2400">
                <a:latin typeface="Times New Roman" panose="02020603050405020304" pitchFamily="18" charset="0"/>
              </a:rPr>
              <a:t>（</a:t>
            </a:r>
            <a:r>
              <a:rPr lang="en-US" altLang="zh-CN" sz="2400">
                <a:latin typeface="Times New Roman" panose="02020603050405020304" pitchFamily="18" charset="0"/>
              </a:rPr>
              <a:t>1</a:t>
            </a:r>
            <a:r>
              <a:rPr lang="zh-CN" altLang="en-US" sz="2400">
                <a:latin typeface="Times New Roman" panose="02020603050405020304" pitchFamily="18" charset="0"/>
              </a:rPr>
              <a:t>）是否</a:t>
            </a:r>
            <a:r>
              <a:rPr lang="en-US" altLang="zh-CN" sz="2400">
                <a:latin typeface="Times New Roman" panose="02020603050405020304" pitchFamily="18" charset="0"/>
              </a:rPr>
              <a:t>0&lt;</a:t>
            </a:r>
            <a:r>
              <a:rPr lang="en-US" altLang="zh-CN" sz="2400" i="1">
                <a:latin typeface="Times New Roman" panose="02020603050405020304" pitchFamily="18" charset="0"/>
              </a:rPr>
              <a:t>r</a:t>
            </a:r>
            <a:r>
              <a:rPr lang="en-US" altLang="zh-CN" sz="2400">
                <a:latin typeface="Times New Roman" panose="02020603050405020304" pitchFamily="18" charset="0"/>
              </a:rPr>
              <a:t>&lt;</a:t>
            </a:r>
            <a:r>
              <a:rPr lang="en-US" altLang="zh-CN" sz="2400" i="1">
                <a:latin typeface="Times New Roman" panose="02020603050405020304" pitchFamily="18" charset="0"/>
              </a:rPr>
              <a:t>q</a:t>
            </a:r>
            <a:r>
              <a:rPr lang="zh-CN" altLang="en-US" sz="2400">
                <a:latin typeface="Times New Roman" panose="02020603050405020304" pitchFamily="18" charset="0"/>
              </a:rPr>
              <a:t>，</a:t>
            </a:r>
            <a:r>
              <a:rPr lang="en-US" altLang="zh-CN" sz="2400">
                <a:latin typeface="Times New Roman" panose="02020603050405020304" pitchFamily="18" charset="0"/>
              </a:rPr>
              <a:t>0&lt;</a:t>
            </a:r>
            <a:r>
              <a:rPr lang="en-US" altLang="zh-CN" sz="2400" i="1">
                <a:latin typeface="Times New Roman" panose="02020603050405020304" pitchFamily="18" charset="0"/>
              </a:rPr>
              <a:t>s</a:t>
            </a:r>
            <a:r>
              <a:rPr lang="en-US" altLang="zh-CN" sz="2400">
                <a:latin typeface="Times New Roman" panose="02020603050405020304" pitchFamily="18" charset="0"/>
              </a:rPr>
              <a:t>&lt;</a:t>
            </a:r>
            <a:r>
              <a:rPr lang="en-US" altLang="zh-CN" sz="2400" i="1">
                <a:latin typeface="Times New Roman" panose="02020603050405020304" pitchFamily="18" charset="0"/>
              </a:rPr>
              <a:t>q</a:t>
            </a:r>
            <a:r>
              <a:rPr lang="zh-CN" altLang="en-US" sz="2400">
                <a:latin typeface="Times New Roman" panose="02020603050405020304" pitchFamily="18" charset="0"/>
              </a:rPr>
              <a:t>。若是则继续检验，否则拒收签名。</a:t>
            </a:r>
          </a:p>
          <a:p>
            <a:pPr>
              <a:lnSpc>
                <a:spcPct val="90000"/>
              </a:lnSpc>
              <a:buFont typeface="Wingdings" panose="05000000000000000000" pitchFamily="2" charset="2"/>
              <a:buNone/>
            </a:pPr>
            <a:r>
              <a:rPr lang="zh-CN" altLang="en-US" sz="2400">
                <a:latin typeface="Times New Roman" panose="02020603050405020304" pitchFamily="18" charset="0"/>
              </a:rPr>
              <a:t>（</a:t>
            </a:r>
            <a:r>
              <a:rPr lang="en-US" altLang="zh-CN" sz="2400">
                <a:latin typeface="Times New Roman" panose="02020603050405020304" pitchFamily="18" charset="0"/>
              </a:rPr>
              <a:t>2</a:t>
            </a:r>
            <a:r>
              <a:rPr lang="zh-CN" altLang="en-US" sz="2400">
                <a:latin typeface="Times New Roman" panose="02020603050405020304" pitchFamily="18" charset="0"/>
              </a:rPr>
              <a:t>）计算</a:t>
            </a:r>
          </a:p>
          <a:p>
            <a:pPr>
              <a:lnSpc>
                <a:spcPct val="90000"/>
              </a:lnSpc>
              <a:buFont typeface="Wingdings" panose="05000000000000000000" pitchFamily="2" charset="2"/>
              <a:buNone/>
            </a:pPr>
            <a:r>
              <a:rPr lang="en-US" altLang="zh-CN" sz="2400" i="1">
                <a:latin typeface="Times New Roman" panose="02020603050405020304" pitchFamily="18" charset="0"/>
              </a:rPr>
              <a:t>h</a:t>
            </a:r>
            <a:r>
              <a:rPr lang="en-US" altLang="zh-CN" sz="2400">
                <a:latin typeface="Times New Roman" panose="02020603050405020304" pitchFamily="18" charset="0"/>
              </a:rPr>
              <a:t>=</a:t>
            </a:r>
            <a:r>
              <a:rPr lang="en-US" altLang="zh-CN" sz="2400" i="1">
                <a:latin typeface="Times New Roman" panose="02020603050405020304" pitchFamily="18" charset="0"/>
              </a:rPr>
              <a:t>H</a:t>
            </a:r>
            <a:r>
              <a:rPr lang="en-US" altLang="zh-CN" sz="2400">
                <a:latin typeface="Times New Roman" panose="02020603050405020304" pitchFamily="18" charset="0"/>
              </a:rPr>
              <a:t>(</a:t>
            </a:r>
            <a:r>
              <a:rPr lang="en-US" altLang="zh-CN" sz="2400" i="1">
                <a:latin typeface="Times New Roman" panose="02020603050405020304" pitchFamily="18" charset="0"/>
              </a:rPr>
              <a:t>m</a:t>
            </a:r>
            <a:r>
              <a:rPr lang="en-US" altLang="zh-CN" sz="2400">
                <a:latin typeface="Times New Roman" panose="02020603050405020304" pitchFamily="18" charset="0"/>
              </a:rPr>
              <a:t>)</a:t>
            </a:r>
            <a:r>
              <a:rPr lang="zh-CN" altLang="en-US" sz="2400">
                <a:latin typeface="Times New Roman" panose="02020603050405020304" pitchFamily="18" charset="0"/>
              </a:rPr>
              <a:t>，</a:t>
            </a:r>
          </a:p>
          <a:p>
            <a:pPr>
              <a:lnSpc>
                <a:spcPct val="90000"/>
              </a:lnSpc>
              <a:buFont typeface="Wingdings" panose="05000000000000000000" pitchFamily="2" charset="2"/>
              <a:buNone/>
            </a:pPr>
            <a:r>
              <a:rPr lang="en-US" altLang="zh-CN" sz="2800" i="1">
                <a:latin typeface="Times New Roman" panose="02020603050405020304" pitchFamily="18" charset="0"/>
              </a:rPr>
              <a:t>w</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baseline="30000">
                <a:latin typeface="Times New Roman" panose="02020603050405020304" pitchFamily="18" charset="0"/>
              </a:rPr>
              <a:t>-1</a:t>
            </a:r>
            <a:r>
              <a:rPr lang="en-US" altLang="zh-CN" sz="2800">
                <a:latin typeface="Times New Roman" panose="02020603050405020304" pitchFamily="18" charset="0"/>
              </a:rPr>
              <a:t>(mod</a:t>
            </a:r>
            <a:r>
              <a:rPr lang="en-US" altLang="zh-CN" sz="2800" i="1">
                <a:latin typeface="Times New Roman" panose="02020603050405020304" pitchFamily="18" charset="0"/>
              </a:rPr>
              <a:t>q</a:t>
            </a:r>
            <a:r>
              <a:rPr lang="en-US" altLang="zh-CN" sz="2800">
                <a:latin typeface="Times New Roman" panose="02020603050405020304" pitchFamily="18" charset="0"/>
              </a:rPr>
              <a:t>)</a:t>
            </a:r>
            <a:r>
              <a:rPr lang="zh-CN" altLang="en-US" sz="2800">
                <a:latin typeface="Times New Roman" panose="02020603050405020304" pitchFamily="18" charset="0"/>
              </a:rPr>
              <a:t>，</a:t>
            </a:r>
          </a:p>
          <a:p>
            <a:pPr>
              <a:lnSpc>
                <a:spcPct val="90000"/>
              </a:lnSpc>
              <a:buFont typeface="Wingdings" panose="05000000000000000000" pitchFamily="2" charset="2"/>
              <a:buNone/>
            </a:pPr>
            <a:r>
              <a:rPr lang="en-US" altLang="zh-CN" sz="2800" i="1">
                <a:latin typeface="Times New Roman" panose="02020603050405020304" pitchFamily="18" charset="0"/>
              </a:rPr>
              <a:t>u</a:t>
            </a:r>
            <a:r>
              <a:rPr lang="en-US" altLang="zh-CN" sz="2800">
                <a:latin typeface="Times New Roman" panose="02020603050405020304" pitchFamily="18" charset="0"/>
              </a:rPr>
              <a:t>1=</a:t>
            </a:r>
            <a:r>
              <a:rPr lang="en-US" altLang="zh-CN" sz="2800" i="1">
                <a:latin typeface="Times New Roman" panose="02020603050405020304" pitchFamily="18" charset="0"/>
              </a:rPr>
              <a:t>hw</a:t>
            </a:r>
            <a:r>
              <a:rPr lang="en-US" altLang="zh-CN" sz="2800">
                <a:latin typeface="Times New Roman" panose="02020603050405020304" pitchFamily="18" charset="0"/>
              </a:rPr>
              <a:t>(mod</a:t>
            </a:r>
            <a:r>
              <a:rPr lang="en-US" altLang="zh-CN" sz="2800" i="1">
                <a:latin typeface="Times New Roman" panose="02020603050405020304" pitchFamily="18" charset="0"/>
              </a:rPr>
              <a:t>q</a:t>
            </a:r>
            <a:r>
              <a:rPr lang="en-US" altLang="zh-CN" sz="2800">
                <a:latin typeface="Times New Roman" panose="02020603050405020304" pitchFamily="18" charset="0"/>
              </a:rPr>
              <a:t>)</a:t>
            </a:r>
            <a:r>
              <a:rPr lang="zh-CN" altLang="en-US" sz="2800">
                <a:latin typeface="Times New Roman" panose="02020603050405020304" pitchFamily="18" charset="0"/>
              </a:rPr>
              <a:t>，</a:t>
            </a:r>
          </a:p>
          <a:p>
            <a:pPr>
              <a:lnSpc>
                <a:spcPct val="90000"/>
              </a:lnSpc>
              <a:buFont typeface="Wingdings" panose="05000000000000000000" pitchFamily="2" charset="2"/>
              <a:buNone/>
            </a:pPr>
            <a:r>
              <a:rPr lang="en-US" altLang="zh-CN" sz="2800" i="1">
                <a:latin typeface="Times New Roman" panose="02020603050405020304" pitchFamily="18" charset="0"/>
              </a:rPr>
              <a:t>u</a:t>
            </a:r>
            <a:r>
              <a:rPr lang="en-US" altLang="zh-CN" sz="2800">
                <a:latin typeface="Times New Roman" panose="02020603050405020304" pitchFamily="18" charset="0"/>
              </a:rPr>
              <a:t>2=</a:t>
            </a:r>
            <a:r>
              <a:rPr lang="en-US" altLang="zh-CN" sz="2800" i="1">
                <a:latin typeface="Times New Roman" panose="02020603050405020304" pitchFamily="18" charset="0"/>
              </a:rPr>
              <a:t>rw</a:t>
            </a:r>
            <a:r>
              <a:rPr lang="en-US" altLang="zh-CN" sz="2800">
                <a:latin typeface="Times New Roman" panose="02020603050405020304" pitchFamily="18" charset="0"/>
              </a:rPr>
              <a:t>(mod</a:t>
            </a:r>
            <a:r>
              <a:rPr lang="en-US" altLang="zh-CN" sz="2800" i="1">
                <a:latin typeface="Times New Roman" panose="02020603050405020304" pitchFamily="18" charset="0"/>
              </a:rPr>
              <a:t>q</a:t>
            </a:r>
            <a:r>
              <a:rPr lang="en-US" altLang="zh-CN" sz="2800">
                <a:latin typeface="Times New Roman" panose="02020603050405020304" pitchFamily="18" charset="0"/>
              </a:rPr>
              <a:t>)</a:t>
            </a:r>
            <a:r>
              <a:rPr lang="zh-CN" altLang="en-US" sz="2800">
                <a:latin typeface="Times New Roman" panose="02020603050405020304" pitchFamily="18" charset="0"/>
              </a:rPr>
              <a:t>，</a:t>
            </a:r>
          </a:p>
          <a:p>
            <a:pPr>
              <a:lnSpc>
                <a:spcPct val="90000"/>
              </a:lnSpc>
              <a:buFont typeface="Wingdings" panose="05000000000000000000" pitchFamily="2" charset="2"/>
              <a:buNone/>
            </a:pPr>
            <a:r>
              <a:rPr lang="en-US" altLang="zh-CN" sz="2800" i="1">
                <a:latin typeface="Times New Roman" panose="02020603050405020304" pitchFamily="18" charset="0"/>
              </a:rPr>
              <a:t>v</a:t>
            </a:r>
            <a:r>
              <a:rPr lang="en-US" altLang="zh-CN" sz="2800">
                <a:latin typeface="Times New Roman" panose="02020603050405020304" pitchFamily="18" charset="0"/>
              </a:rPr>
              <a:t>=(</a:t>
            </a:r>
            <a:r>
              <a:rPr lang="en-US" altLang="zh-CN" sz="2800" i="1">
                <a:latin typeface="Times New Roman" panose="02020603050405020304" pitchFamily="18" charset="0"/>
              </a:rPr>
              <a:t>g</a:t>
            </a:r>
            <a:r>
              <a:rPr lang="en-US" altLang="zh-CN" sz="2800" i="1" baseline="30000">
                <a:latin typeface="Times New Roman" panose="02020603050405020304" pitchFamily="18" charset="0"/>
              </a:rPr>
              <a:t>u</a:t>
            </a:r>
            <a:r>
              <a:rPr lang="en-US" altLang="zh-CN" sz="2800" baseline="30000">
                <a:latin typeface="Times New Roman" panose="02020603050405020304" pitchFamily="18" charset="0"/>
              </a:rPr>
              <a:t>1</a:t>
            </a:r>
            <a:r>
              <a:rPr lang="en-US" altLang="zh-CN" sz="2800" i="1">
                <a:latin typeface="Times New Roman" panose="02020603050405020304" pitchFamily="18" charset="0"/>
              </a:rPr>
              <a:t>y</a:t>
            </a:r>
            <a:r>
              <a:rPr lang="en-US" altLang="zh-CN" sz="2800" i="1" baseline="30000">
                <a:latin typeface="Times New Roman" panose="02020603050405020304" pitchFamily="18" charset="0"/>
              </a:rPr>
              <a:t>u</a:t>
            </a:r>
            <a:r>
              <a:rPr lang="en-US" altLang="zh-CN" sz="2800" baseline="30000">
                <a:latin typeface="Times New Roman" panose="02020603050405020304" pitchFamily="18" charset="0"/>
              </a:rPr>
              <a:t>2</a:t>
            </a:r>
            <a:r>
              <a:rPr lang="en-US" altLang="zh-CN" sz="2800">
                <a:latin typeface="Times New Roman" panose="02020603050405020304" pitchFamily="18" charset="0"/>
              </a:rPr>
              <a:t>(mod</a:t>
            </a:r>
            <a:r>
              <a:rPr lang="en-US" altLang="zh-CN" sz="2800" i="1">
                <a:latin typeface="Times New Roman" panose="02020603050405020304" pitchFamily="18" charset="0"/>
              </a:rPr>
              <a:t>p</a:t>
            </a:r>
            <a:r>
              <a:rPr lang="en-US" altLang="zh-CN" sz="2800">
                <a:latin typeface="Times New Roman" panose="02020603050405020304" pitchFamily="18" charset="0"/>
              </a:rPr>
              <a:t>))(mod</a:t>
            </a:r>
            <a:r>
              <a:rPr lang="en-US" altLang="zh-CN" sz="2800" i="1">
                <a:latin typeface="Times New Roman" panose="02020603050405020304" pitchFamily="18" charset="0"/>
              </a:rPr>
              <a:t>q</a:t>
            </a:r>
            <a:r>
              <a:rPr lang="en-US" altLang="zh-CN" sz="2800">
                <a:latin typeface="Times New Roman" panose="02020603050405020304" pitchFamily="18" charset="0"/>
              </a:rPr>
              <a:t>)</a:t>
            </a:r>
            <a:r>
              <a:rPr lang="zh-CN" altLang="en-US" sz="2800">
                <a:latin typeface="Times New Roman" panose="02020603050405020304" pitchFamily="18" charset="0"/>
              </a:rPr>
              <a:t>。</a:t>
            </a:r>
            <a:endParaRPr lang="zh-CN" altLang="en-US" sz="2400">
              <a:latin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灯片编号占位符 4">
            <a:extLst>
              <a:ext uri="{FF2B5EF4-FFF2-40B4-BE49-F238E27FC236}">
                <a16:creationId xmlns:a16="http://schemas.microsoft.com/office/drawing/2014/main" id="{DD60D8FD-603A-596E-B24B-0A09684D13FB}"/>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4CC6F142-73F5-4798-A6AE-AEEDA0B4EC1D}" type="slidenum">
              <a:rPr lang="zh-CN" altLang="en-US" sz="1400" smtClean="0"/>
              <a:pPr eaLnBrk="0" hangingPunct="0">
                <a:spcBef>
                  <a:spcPct val="0"/>
                </a:spcBef>
                <a:buClrTx/>
                <a:buSzTx/>
                <a:buFontTx/>
                <a:buNone/>
              </a:pPr>
              <a:t>36</a:t>
            </a:fld>
            <a:endParaRPr lang="en-US" altLang="zh-CN" sz="1400"/>
          </a:p>
        </p:txBody>
      </p:sp>
      <p:sp>
        <p:nvSpPr>
          <p:cNvPr id="62467" name="Rectangle 2">
            <a:extLst>
              <a:ext uri="{FF2B5EF4-FFF2-40B4-BE49-F238E27FC236}">
                <a16:creationId xmlns:a16="http://schemas.microsoft.com/office/drawing/2014/main" id="{2016231A-BAF4-5447-E4FC-511CCE9703C1}"/>
              </a:ext>
            </a:extLst>
          </p:cNvPr>
          <p:cNvSpPr>
            <a:spLocks noGrp="1" noChangeArrowheads="1"/>
          </p:cNvSpPr>
          <p:nvPr>
            <p:ph type="title"/>
          </p:nvPr>
        </p:nvSpPr>
        <p:spPr/>
        <p:txBody>
          <a:bodyPr/>
          <a:lstStyle/>
          <a:p>
            <a:r>
              <a:rPr lang="zh-CN" altLang="en-US" b="1"/>
              <a:t>三、几种常用的数字签名</a:t>
            </a:r>
          </a:p>
        </p:txBody>
      </p:sp>
      <p:sp>
        <p:nvSpPr>
          <p:cNvPr id="62468" name="Rectangle 3">
            <a:extLst>
              <a:ext uri="{FF2B5EF4-FFF2-40B4-BE49-F238E27FC236}">
                <a16:creationId xmlns:a16="http://schemas.microsoft.com/office/drawing/2014/main" id="{51C6C6F2-ECDF-D81F-DEAA-ECECC30C546C}"/>
              </a:ext>
            </a:extLst>
          </p:cNvPr>
          <p:cNvSpPr>
            <a:spLocks noGrp="1" noChangeArrowheads="1"/>
          </p:cNvSpPr>
          <p:nvPr>
            <p:ph type="body" idx="1"/>
          </p:nvPr>
        </p:nvSpPr>
        <p:spPr>
          <a:xfrm>
            <a:off x="1619250" y="2420938"/>
            <a:ext cx="6192838" cy="3455987"/>
          </a:xfrm>
        </p:spPr>
        <p:txBody>
          <a:bodyPr/>
          <a:lstStyle/>
          <a:p>
            <a:pPr>
              <a:buFont typeface="Wingdings" panose="05000000000000000000" pitchFamily="2" charset="2"/>
              <a:buNone/>
            </a:pPr>
            <a:r>
              <a:rPr lang="zh-CN" altLang="en-US">
                <a:latin typeface="Times New Roman" panose="02020603050405020304" pitchFamily="18" charset="0"/>
              </a:rPr>
              <a:t>如果</a:t>
            </a:r>
            <a:r>
              <a:rPr lang="en-US" altLang="zh-CN" b="1" i="1">
                <a:latin typeface="Times New Roman" panose="02020603050405020304" pitchFamily="18" charset="0"/>
              </a:rPr>
              <a:t>v</a:t>
            </a:r>
            <a:r>
              <a:rPr lang="en-US" altLang="zh-CN" b="1">
                <a:latin typeface="Times New Roman" panose="02020603050405020304" pitchFamily="18" charset="0"/>
              </a:rPr>
              <a:t>=</a:t>
            </a:r>
            <a:r>
              <a:rPr lang="en-US" altLang="zh-CN" b="1" i="1">
                <a:latin typeface="Times New Roman" panose="02020603050405020304" pitchFamily="18" charset="0"/>
              </a:rPr>
              <a:t>r</a:t>
            </a:r>
            <a:r>
              <a:rPr lang="zh-CN" altLang="en-US" b="1">
                <a:latin typeface="Times New Roman" panose="02020603050405020304" pitchFamily="18" charset="0"/>
              </a:rPr>
              <a:t>，</a:t>
            </a:r>
            <a:r>
              <a:rPr lang="zh-CN" altLang="en-US">
                <a:latin typeface="Times New Roman" panose="02020603050405020304" pitchFamily="18" charset="0"/>
              </a:rPr>
              <a:t>则验证了签名是有效的，否则拒收签名。</a:t>
            </a:r>
          </a:p>
          <a:p>
            <a:pPr>
              <a:buFont typeface="Wingdings" panose="05000000000000000000" pitchFamily="2" charset="2"/>
              <a:buNone/>
            </a:pPr>
            <a:endParaRPr lang="zh-CN" altLang="en-US">
              <a:latin typeface="Times New Roman" panose="02020603050405020304" pitchFamily="18" charset="0"/>
            </a:endParaRPr>
          </a:p>
          <a:p>
            <a:pPr>
              <a:buFont typeface="Wingdings" panose="05000000000000000000" pitchFamily="2" charset="2"/>
              <a:buNone/>
            </a:pPr>
            <a:r>
              <a:rPr lang="zh-CN" altLang="en-US">
                <a:latin typeface="Times New Roman" panose="02020603050405020304" pitchFamily="18" charset="0"/>
              </a:rPr>
              <a:t>（一个有效的签名一定会通过检验，而一个伪造的签名几乎不可能通过检验。）</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灯片编号占位符 4">
            <a:extLst>
              <a:ext uri="{FF2B5EF4-FFF2-40B4-BE49-F238E27FC236}">
                <a16:creationId xmlns:a16="http://schemas.microsoft.com/office/drawing/2014/main" id="{381C720E-EF00-13B1-A759-7AFBEBD169F5}"/>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3EE408A1-F8CA-40B1-9791-EA1BAAD9D5CE}" type="slidenum">
              <a:rPr lang="zh-CN" altLang="en-US" sz="1400" smtClean="0"/>
              <a:pPr eaLnBrk="0" hangingPunct="0">
                <a:spcBef>
                  <a:spcPct val="0"/>
                </a:spcBef>
                <a:buClrTx/>
                <a:buSzTx/>
                <a:buFontTx/>
                <a:buNone/>
              </a:pPr>
              <a:t>37</a:t>
            </a:fld>
            <a:endParaRPr lang="en-US" altLang="zh-CN" sz="1400"/>
          </a:p>
        </p:txBody>
      </p:sp>
      <p:sp>
        <p:nvSpPr>
          <p:cNvPr id="63491" name="Rectangle 2">
            <a:extLst>
              <a:ext uri="{FF2B5EF4-FFF2-40B4-BE49-F238E27FC236}">
                <a16:creationId xmlns:a16="http://schemas.microsoft.com/office/drawing/2014/main" id="{8F6B11E3-DD43-4CDF-B2BF-1D8935E1F8BA}"/>
              </a:ext>
            </a:extLst>
          </p:cNvPr>
          <p:cNvSpPr>
            <a:spLocks noGrp="1" noChangeArrowheads="1"/>
          </p:cNvSpPr>
          <p:nvPr>
            <p:ph type="title"/>
          </p:nvPr>
        </p:nvSpPr>
        <p:spPr/>
        <p:txBody>
          <a:bodyPr/>
          <a:lstStyle/>
          <a:p>
            <a:r>
              <a:rPr lang="zh-CN" altLang="en-US" b="1"/>
              <a:t>三、几种常用的数字签名</a:t>
            </a:r>
          </a:p>
        </p:txBody>
      </p:sp>
      <p:sp>
        <p:nvSpPr>
          <p:cNvPr id="63492" name="Rectangle 3">
            <a:extLst>
              <a:ext uri="{FF2B5EF4-FFF2-40B4-BE49-F238E27FC236}">
                <a16:creationId xmlns:a16="http://schemas.microsoft.com/office/drawing/2014/main" id="{8DEF0575-268A-DE9C-437A-40881B9AE9F7}"/>
              </a:ext>
            </a:extLst>
          </p:cNvPr>
          <p:cNvSpPr>
            <a:spLocks noGrp="1" noChangeArrowheads="1"/>
          </p:cNvSpPr>
          <p:nvPr>
            <p:ph type="body" idx="1"/>
          </p:nvPr>
        </p:nvSpPr>
        <p:spPr>
          <a:xfrm>
            <a:off x="539750" y="2017713"/>
            <a:ext cx="8208963" cy="4114800"/>
          </a:xfrm>
        </p:spPr>
        <p:txBody>
          <a:bodyPr/>
          <a:lstStyle/>
          <a:p>
            <a:pPr algn="ctr">
              <a:lnSpc>
                <a:spcPct val="90000"/>
              </a:lnSpc>
              <a:buFont typeface="Wingdings" panose="05000000000000000000" pitchFamily="2" charset="2"/>
              <a:buNone/>
            </a:pPr>
            <a:r>
              <a:rPr lang="zh-CN" altLang="en-US" b="1">
                <a:latin typeface="Times New Roman" panose="02020603050405020304" pitchFamily="18" charset="0"/>
                <a:ea typeface="黑体" panose="02010609060101010101" pitchFamily="49" charset="-122"/>
              </a:rPr>
              <a:t>若干说明</a:t>
            </a:r>
            <a:endParaRPr lang="zh-CN" altLang="en-US" sz="2800">
              <a:latin typeface="Times New Roman" panose="02020603050405020304" pitchFamily="18" charset="0"/>
            </a:endParaRPr>
          </a:p>
          <a:p>
            <a:pPr>
              <a:lnSpc>
                <a:spcPct val="90000"/>
              </a:lnSpc>
              <a:buFont typeface="Wingdings" panose="05000000000000000000" pitchFamily="2" charset="2"/>
              <a:buNone/>
            </a:pPr>
            <a:r>
              <a:rPr lang="zh-CN" altLang="en-US" sz="2800">
                <a:latin typeface="Times New Roman" panose="02020603050405020304" pitchFamily="18" charset="0"/>
              </a:rPr>
              <a:t>说明一：关于</a:t>
            </a:r>
            <a:r>
              <a:rPr lang="en-US" altLang="zh-CN" sz="2800">
                <a:latin typeface="Times New Roman" panose="02020603050405020304" pitchFamily="18" charset="0"/>
              </a:rPr>
              <a:t>(mod</a:t>
            </a:r>
            <a:r>
              <a:rPr lang="en-US" altLang="zh-CN" sz="2800" i="1">
                <a:latin typeface="Times New Roman" panose="02020603050405020304" pitchFamily="18" charset="0"/>
              </a:rPr>
              <a:t>q</a:t>
            </a:r>
            <a:r>
              <a:rPr lang="en-US" altLang="zh-CN" sz="2800">
                <a:latin typeface="Times New Roman" panose="02020603050405020304" pitchFamily="18" charset="0"/>
              </a:rPr>
              <a:t>)</a:t>
            </a:r>
            <a:r>
              <a:rPr lang="zh-CN" altLang="en-US" sz="2800">
                <a:latin typeface="Times New Roman" panose="02020603050405020304" pitchFamily="18" charset="0"/>
              </a:rPr>
              <a:t>的逆元。</a:t>
            </a:r>
          </a:p>
          <a:p>
            <a:pPr>
              <a:lnSpc>
                <a:spcPct val="90000"/>
              </a:lnSpc>
              <a:buFont typeface="Wingdings" panose="05000000000000000000" pitchFamily="2" charset="2"/>
              <a:buNone/>
            </a:pPr>
            <a:r>
              <a:rPr lang="zh-CN" altLang="en-US" sz="2800">
                <a:latin typeface="Times New Roman" panose="02020603050405020304" pitchFamily="18" charset="0"/>
              </a:rPr>
              <a:t>因为</a:t>
            </a:r>
            <a:r>
              <a:rPr lang="en-US" altLang="zh-CN" sz="2800" i="1">
                <a:latin typeface="Times New Roman" panose="02020603050405020304" pitchFamily="18" charset="0"/>
              </a:rPr>
              <a:t>q</a:t>
            </a:r>
            <a:r>
              <a:rPr lang="zh-CN" altLang="en-US" sz="2800">
                <a:latin typeface="Times New Roman" panose="02020603050405020304" pitchFamily="18" charset="0"/>
              </a:rPr>
              <a:t>是素数，所以当</a:t>
            </a:r>
            <a:r>
              <a:rPr lang="en-US" altLang="zh-CN" sz="2800">
                <a:latin typeface="Times New Roman" panose="02020603050405020304" pitchFamily="18" charset="0"/>
              </a:rPr>
              <a:t>0&lt;</a:t>
            </a:r>
            <a:r>
              <a:rPr lang="en-US" altLang="zh-CN" sz="2800" i="1">
                <a:latin typeface="Times New Roman" panose="02020603050405020304" pitchFamily="18" charset="0"/>
              </a:rPr>
              <a:t>k</a:t>
            </a:r>
            <a:r>
              <a:rPr lang="en-US" altLang="zh-CN" sz="2800">
                <a:latin typeface="Times New Roman" panose="02020603050405020304" pitchFamily="18" charset="0"/>
              </a:rPr>
              <a:t>&lt;</a:t>
            </a:r>
            <a:r>
              <a:rPr lang="en-US" altLang="zh-CN" sz="2800" i="1">
                <a:latin typeface="Times New Roman" panose="02020603050405020304" pitchFamily="18" charset="0"/>
              </a:rPr>
              <a:t>q</a:t>
            </a:r>
            <a:r>
              <a:rPr lang="zh-CN" altLang="en-US" sz="2800">
                <a:latin typeface="Times New Roman" panose="02020603050405020304" pitchFamily="18" charset="0"/>
              </a:rPr>
              <a:t>时，有唯一的</a:t>
            </a:r>
            <a:r>
              <a:rPr lang="en-US" altLang="zh-CN" sz="2800" i="1">
                <a:latin typeface="Times New Roman" panose="02020603050405020304" pitchFamily="18" charset="0"/>
              </a:rPr>
              <a:t>l</a:t>
            </a:r>
            <a:r>
              <a:rPr lang="zh-CN" altLang="en-US" sz="2800">
                <a:latin typeface="Times New Roman" panose="02020603050405020304" pitchFamily="18" charset="0"/>
              </a:rPr>
              <a:t>满足： </a:t>
            </a:r>
            <a:r>
              <a:rPr lang="en-US" altLang="zh-CN" sz="2800">
                <a:latin typeface="Times New Roman" panose="02020603050405020304" pitchFamily="18" charset="0"/>
              </a:rPr>
              <a:t>0&lt;</a:t>
            </a:r>
            <a:r>
              <a:rPr lang="en-US" altLang="zh-CN" sz="2800" i="1">
                <a:latin typeface="Times New Roman" panose="02020603050405020304" pitchFamily="18" charset="0"/>
              </a:rPr>
              <a:t>l</a:t>
            </a:r>
            <a:r>
              <a:rPr lang="en-US" altLang="zh-CN" sz="2800">
                <a:latin typeface="Times New Roman" panose="02020603050405020304" pitchFamily="18" charset="0"/>
              </a:rPr>
              <a:t>&lt;</a:t>
            </a:r>
            <a:r>
              <a:rPr lang="en-US" altLang="zh-CN" sz="2800" i="1">
                <a:latin typeface="Times New Roman" panose="02020603050405020304" pitchFamily="18" charset="0"/>
              </a:rPr>
              <a:t>q</a:t>
            </a:r>
            <a:r>
              <a:rPr lang="zh-CN" altLang="en-US" sz="2800">
                <a:latin typeface="Times New Roman" panose="02020603050405020304" pitchFamily="18" charset="0"/>
              </a:rPr>
              <a:t>，</a:t>
            </a:r>
            <a:r>
              <a:rPr lang="en-US" altLang="zh-CN" sz="2800" i="1">
                <a:latin typeface="Times New Roman" panose="02020603050405020304" pitchFamily="18" charset="0"/>
              </a:rPr>
              <a:t>kl</a:t>
            </a:r>
            <a:r>
              <a:rPr lang="en-US" altLang="zh-CN" sz="2800">
                <a:latin typeface="Times New Roman" panose="02020603050405020304" pitchFamily="18" charset="0"/>
              </a:rPr>
              <a:t>(mod</a:t>
            </a:r>
            <a:r>
              <a:rPr lang="en-US" altLang="zh-CN" sz="2800" i="1">
                <a:latin typeface="Times New Roman" panose="02020603050405020304" pitchFamily="18" charset="0"/>
              </a:rPr>
              <a:t>q</a:t>
            </a:r>
            <a:r>
              <a:rPr lang="en-US" altLang="zh-CN" sz="2800">
                <a:latin typeface="Times New Roman" panose="02020603050405020304" pitchFamily="18" charset="0"/>
              </a:rPr>
              <a:t>)=1</a:t>
            </a:r>
            <a:r>
              <a:rPr lang="zh-CN" altLang="en-US" sz="2800">
                <a:latin typeface="Times New Roman" panose="02020603050405020304" pitchFamily="18" charset="0"/>
              </a:rPr>
              <a:t>。此时称</a:t>
            </a:r>
            <a:r>
              <a:rPr lang="en-US" altLang="zh-CN" sz="2800" i="1">
                <a:latin typeface="Times New Roman" panose="02020603050405020304" pitchFamily="18" charset="0"/>
              </a:rPr>
              <a:t>l</a:t>
            </a:r>
            <a:r>
              <a:rPr lang="zh-CN" altLang="en-US" sz="2800">
                <a:latin typeface="Times New Roman" panose="02020603050405020304" pitchFamily="18" charset="0"/>
              </a:rPr>
              <a:t>为</a:t>
            </a:r>
            <a:r>
              <a:rPr lang="en-US" altLang="zh-CN" sz="2800" i="1">
                <a:latin typeface="Times New Roman" panose="02020603050405020304" pitchFamily="18" charset="0"/>
              </a:rPr>
              <a:t>k</a:t>
            </a:r>
            <a:r>
              <a:rPr lang="zh-CN" altLang="en-US" sz="2800">
                <a:latin typeface="Times New Roman" panose="02020603050405020304" pitchFamily="18" charset="0"/>
              </a:rPr>
              <a:t>的关于</a:t>
            </a:r>
            <a:r>
              <a:rPr lang="en-US" altLang="zh-CN" sz="2800">
                <a:latin typeface="Times New Roman" panose="02020603050405020304" pitchFamily="18" charset="0"/>
              </a:rPr>
              <a:t>(mod</a:t>
            </a:r>
            <a:r>
              <a:rPr lang="en-US" altLang="zh-CN" sz="2800" i="1">
                <a:latin typeface="Times New Roman" panose="02020603050405020304" pitchFamily="18" charset="0"/>
              </a:rPr>
              <a:t>q</a:t>
            </a:r>
            <a:r>
              <a:rPr lang="en-US" altLang="zh-CN" sz="2800">
                <a:latin typeface="Times New Roman" panose="02020603050405020304" pitchFamily="18" charset="0"/>
              </a:rPr>
              <a:t>)</a:t>
            </a:r>
            <a:r>
              <a:rPr lang="zh-CN" altLang="en-US" sz="2800">
                <a:latin typeface="Times New Roman" panose="02020603050405020304" pitchFamily="18" charset="0"/>
              </a:rPr>
              <a:t>的逆元，记</a:t>
            </a:r>
            <a:r>
              <a:rPr lang="en-US" altLang="zh-CN" sz="2800" i="1">
                <a:latin typeface="Times New Roman" panose="02020603050405020304" pitchFamily="18" charset="0"/>
              </a:rPr>
              <a:t>l</a:t>
            </a:r>
            <a:r>
              <a:rPr lang="zh-CN" altLang="en-US" sz="2800">
                <a:latin typeface="Times New Roman" panose="02020603050405020304" pitchFamily="18" charset="0"/>
              </a:rPr>
              <a:t>为 </a:t>
            </a:r>
            <a:r>
              <a:rPr lang="en-US" altLang="zh-CN" sz="2800" i="1">
                <a:latin typeface="Times New Roman" panose="02020603050405020304" pitchFamily="18" charset="0"/>
              </a:rPr>
              <a:t>k</a:t>
            </a:r>
            <a:r>
              <a:rPr lang="en-US" altLang="zh-CN" sz="2800" baseline="30000">
                <a:latin typeface="Times New Roman" panose="02020603050405020304" pitchFamily="18" charset="0"/>
              </a:rPr>
              <a:t>-1</a:t>
            </a:r>
            <a:r>
              <a:rPr lang="zh-CN" altLang="en-US" sz="2800">
                <a:latin typeface="Times New Roman" panose="02020603050405020304" pitchFamily="18" charset="0"/>
              </a:rPr>
              <a:t>。</a:t>
            </a:r>
          </a:p>
          <a:p>
            <a:pPr>
              <a:lnSpc>
                <a:spcPct val="90000"/>
              </a:lnSpc>
              <a:buFont typeface="Wingdings" panose="05000000000000000000" pitchFamily="2" charset="2"/>
              <a:buNone/>
            </a:pPr>
            <a:r>
              <a:rPr lang="zh-CN" altLang="en-US" sz="2800">
                <a:latin typeface="Times New Roman" panose="02020603050405020304" pitchFamily="18" charset="0"/>
              </a:rPr>
              <a:t>当</a:t>
            </a:r>
            <a:r>
              <a:rPr lang="en-US" altLang="zh-CN" sz="2800" i="1">
                <a:latin typeface="Times New Roman" panose="02020603050405020304" pitchFamily="18" charset="0"/>
              </a:rPr>
              <a:t>q</a:t>
            </a:r>
            <a:r>
              <a:rPr lang="zh-CN" altLang="en-US" sz="2800">
                <a:latin typeface="Times New Roman" panose="02020603050405020304" pitchFamily="18" charset="0"/>
              </a:rPr>
              <a:t>很小时，求</a:t>
            </a:r>
            <a:r>
              <a:rPr lang="en-US" altLang="zh-CN" sz="2800" i="1">
                <a:latin typeface="Times New Roman" panose="02020603050405020304" pitchFamily="18" charset="0"/>
              </a:rPr>
              <a:t>k</a:t>
            </a:r>
            <a:r>
              <a:rPr lang="zh-CN" altLang="en-US" sz="2800">
                <a:latin typeface="Times New Roman" panose="02020603050405020304" pitchFamily="18" charset="0"/>
              </a:rPr>
              <a:t>的关于</a:t>
            </a:r>
            <a:r>
              <a:rPr lang="en-US" altLang="zh-CN" sz="2800">
                <a:latin typeface="Times New Roman" panose="02020603050405020304" pitchFamily="18" charset="0"/>
              </a:rPr>
              <a:t>(mod</a:t>
            </a:r>
            <a:r>
              <a:rPr lang="en-US" altLang="zh-CN" sz="2800" i="1">
                <a:latin typeface="Times New Roman" panose="02020603050405020304" pitchFamily="18" charset="0"/>
              </a:rPr>
              <a:t>q</a:t>
            </a:r>
            <a:r>
              <a:rPr lang="en-US" altLang="zh-CN" sz="2800">
                <a:latin typeface="Times New Roman" panose="02020603050405020304" pitchFamily="18" charset="0"/>
              </a:rPr>
              <a:t>)</a:t>
            </a:r>
            <a:r>
              <a:rPr lang="zh-CN" altLang="en-US" sz="2800">
                <a:latin typeface="Times New Roman" panose="02020603050405020304" pitchFamily="18" charset="0"/>
              </a:rPr>
              <a:t>的逆元只需要穷举。</a:t>
            </a:r>
          </a:p>
          <a:p>
            <a:pPr>
              <a:lnSpc>
                <a:spcPct val="90000"/>
              </a:lnSpc>
              <a:buFont typeface="Wingdings" panose="05000000000000000000" pitchFamily="2" charset="2"/>
              <a:buNone/>
            </a:pPr>
            <a:r>
              <a:rPr lang="zh-CN" altLang="en-US" sz="2800">
                <a:latin typeface="Times New Roman" panose="02020603050405020304" pitchFamily="18" charset="0"/>
              </a:rPr>
              <a:t>而当</a:t>
            </a:r>
            <a:r>
              <a:rPr lang="en-US" altLang="zh-CN" sz="2800" i="1">
                <a:latin typeface="Times New Roman" panose="02020603050405020304" pitchFamily="18" charset="0"/>
              </a:rPr>
              <a:t>q</a:t>
            </a:r>
            <a:r>
              <a:rPr lang="zh-CN" altLang="en-US" sz="2800">
                <a:latin typeface="Times New Roman" panose="02020603050405020304" pitchFamily="18" charset="0"/>
              </a:rPr>
              <a:t>是一个大素数时，求</a:t>
            </a:r>
            <a:r>
              <a:rPr lang="en-US" altLang="zh-CN" sz="2800" i="1">
                <a:latin typeface="Times New Roman" panose="02020603050405020304" pitchFamily="18" charset="0"/>
              </a:rPr>
              <a:t>k</a:t>
            </a:r>
            <a:r>
              <a:rPr lang="zh-CN" altLang="en-US" sz="2800">
                <a:latin typeface="Times New Roman" panose="02020603050405020304" pitchFamily="18" charset="0"/>
              </a:rPr>
              <a:t>的关于</a:t>
            </a:r>
            <a:r>
              <a:rPr lang="en-US" altLang="zh-CN" sz="2800">
                <a:latin typeface="Times New Roman" panose="02020603050405020304" pitchFamily="18" charset="0"/>
              </a:rPr>
              <a:t>(mod</a:t>
            </a:r>
            <a:r>
              <a:rPr lang="en-US" altLang="zh-CN" sz="2800" i="1">
                <a:latin typeface="Times New Roman" panose="02020603050405020304" pitchFamily="18" charset="0"/>
              </a:rPr>
              <a:t>q</a:t>
            </a:r>
            <a:r>
              <a:rPr lang="en-US" altLang="zh-CN" sz="2800">
                <a:latin typeface="Times New Roman" panose="02020603050405020304" pitchFamily="18" charset="0"/>
              </a:rPr>
              <a:t>)</a:t>
            </a:r>
            <a:r>
              <a:rPr lang="zh-CN" altLang="en-US" sz="2800">
                <a:latin typeface="Times New Roman" panose="02020603050405020304" pitchFamily="18" charset="0"/>
              </a:rPr>
              <a:t>的逆元也不是一个困难问题。使用欧几里德算法（辗转相除法），简单快速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灯片编号占位符 4">
            <a:extLst>
              <a:ext uri="{FF2B5EF4-FFF2-40B4-BE49-F238E27FC236}">
                <a16:creationId xmlns:a16="http://schemas.microsoft.com/office/drawing/2014/main" id="{22C6560A-AF48-E3E4-58B5-382EDED6AEB1}"/>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74D4AD2A-1425-4B1A-B6F9-71028250B768}" type="slidenum">
              <a:rPr lang="zh-CN" altLang="en-US" sz="1400" smtClean="0"/>
              <a:pPr eaLnBrk="0" hangingPunct="0">
                <a:spcBef>
                  <a:spcPct val="0"/>
                </a:spcBef>
                <a:buClrTx/>
                <a:buSzTx/>
                <a:buFontTx/>
                <a:buNone/>
              </a:pPr>
              <a:t>38</a:t>
            </a:fld>
            <a:endParaRPr lang="en-US" altLang="zh-CN" sz="1400"/>
          </a:p>
        </p:txBody>
      </p:sp>
      <p:sp>
        <p:nvSpPr>
          <p:cNvPr id="64515" name="Rectangle 2">
            <a:extLst>
              <a:ext uri="{FF2B5EF4-FFF2-40B4-BE49-F238E27FC236}">
                <a16:creationId xmlns:a16="http://schemas.microsoft.com/office/drawing/2014/main" id="{9FA8E9E2-3E84-46B7-A637-ECDB125D465B}"/>
              </a:ext>
            </a:extLst>
          </p:cNvPr>
          <p:cNvSpPr>
            <a:spLocks noGrp="1" noChangeArrowheads="1"/>
          </p:cNvSpPr>
          <p:nvPr>
            <p:ph type="title"/>
          </p:nvPr>
        </p:nvSpPr>
        <p:spPr/>
        <p:txBody>
          <a:bodyPr/>
          <a:lstStyle/>
          <a:p>
            <a:r>
              <a:rPr lang="zh-CN" altLang="en-US" b="1"/>
              <a:t>三、几种常用的数字签名</a:t>
            </a:r>
          </a:p>
        </p:txBody>
      </p:sp>
      <p:sp>
        <p:nvSpPr>
          <p:cNvPr id="528387" name="Rectangle 3">
            <a:extLst>
              <a:ext uri="{FF2B5EF4-FFF2-40B4-BE49-F238E27FC236}">
                <a16:creationId xmlns:a16="http://schemas.microsoft.com/office/drawing/2014/main" id="{638086F3-AB74-044A-A8F8-8D33A39F678A}"/>
              </a:ext>
            </a:extLst>
          </p:cNvPr>
          <p:cNvSpPr>
            <a:spLocks noGrp="1" noChangeArrowheads="1"/>
          </p:cNvSpPr>
          <p:nvPr>
            <p:ph type="body" idx="1"/>
          </p:nvPr>
        </p:nvSpPr>
        <p:spPr>
          <a:xfrm>
            <a:off x="250825" y="2017713"/>
            <a:ext cx="8704263" cy="4291012"/>
          </a:xfrm>
        </p:spPr>
        <p:txBody>
          <a:bodyPr/>
          <a:lstStyle/>
          <a:p>
            <a:pPr>
              <a:lnSpc>
                <a:spcPct val="80000"/>
              </a:lnSpc>
              <a:buFont typeface="Wingdings" panose="05000000000000000000" pitchFamily="2" charset="2"/>
              <a:buNone/>
            </a:pPr>
            <a:r>
              <a:rPr lang="zh-CN" altLang="en-US" sz="2800">
                <a:latin typeface="Times New Roman" panose="02020603050405020304" pitchFamily="18" charset="0"/>
              </a:rPr>
              <a:t>说明二：关于随机选择的整数</a:t>
            </a:r>
            <a:r>
              <a:rPr lang="en-US" altLang="zh-CN" sz="2800" i="1">
                <a:latin typeface="Times New Roman" panose="02020603050405020304" pitchFamily="18" charset="0"/>
              </a:rPr>
              <a:t>k</a:t>
            </a:r>
            <a:r>
              <a:rPr lang="zh-CN" altLang="en-US" sz="2800">
                <a:latin typeface="Times New Roman" panose="02020603050405020304" pitchFamily="18" charset="0"/>
              </a:rPr>
              <a:t>。</a:t>
            </a:r>
          </a:p>
          <a:p>
            <a:pPr>
              <a:lnSpc>
                <a:spcPct val="80000"/>
              </a:lnSpc>
              <a:buFont typeface="Wingdings" panose="05000000000000000000" pitchFamily="2" charset="2"/>
              <a:buNone/>
            </a:pPr>
            <a:r>
              <a:rPr lang="en-US" altLang="zh-CN" sz="2800">
                <a:latin typeface="Times New Roman" panose="02020603050405020304" pitchFamily="18" charset="0"/>
              </a:rPr>
              <a:t>Alice</a:t>
            </a:r>
            <a:r>
              <a:rPr lang="zh-CN" altLang="en-US" sz="2800">
                <a:latin typeface="Times New Roman" panose="02020603050405020304" pitchFamily="18" charset="0"/>
              </a:rPr>
              <a:t>在每次生成签名时，都要临时随机地选择一个整数</a:t>
            </a:r>
            <a:r>
              <a:rPr lang="en-US" altLang="zh-CN" sz="2800" i="1">
                <a:latin typeface="Times New Roman" panose="02020603050405020304" pitchFamily="18" charset="0"/>
              </a:rPr>
              <a:t>k</a:t>
            </a:r>
            <a:r>
              <a:rPr lang="en-US" altLang="zh-CN" sz="2800">
                <a:latin typeface="Times New Roman" panose="02020603050405020304" pitchFamily="18" charset="0"/>
              </a:rPr>
              <a:t>(0&lt;</a:t>
            </a:r>
            <a:r>
              <a:rPr lang="en-US" altLang="zh-CN" sz="2800" i="1">
                <a:latin typeface="Times New Roman" panose="02020603050405020304" pitchFamily="18" charset="0"/>
              </a:rPr>
              <a:t>k</a:t>
            </a:r>
            <a:r>
              <a:rPr lang="en-US" altLang="zh-CN" sz="2800">
                <a:latin typeface="Times New Roman" panose="02020603050405020304" pitchFamily="18" charset="0"/>
              </a:rPr>
              <a:t>&lt;</a:t>
            </a:r>
            <a:r>
              <a:rPr lang="en-US" altLang="zh-CN" sz="2800" i="1">
                <a:latin typeface="Times New Roman" panose="02020603050405020304" pitchFamily="18" charset="0"/>
              </a:rPr>
              <a:t>q</a:t>
            </a:r>
            <a:r>
              <a:rPr lang="en-US" altLang="zh-CN" sz="2800">
                <a:latin typeface="Times New Roman" panose="02020603050405020304" pitchFamily="18" charset="0"/>
              </a:rPr>
              <a:t>)</a:t>
            </a:r>
            <a:r>
              <a:rPr lang="zh-CN" altLang="en-US" sz="2800">
                <a:latin typeface="Times New Roman" panose="02020603050405020304" pitchFamily="18" charset="0"/>
              </a:rPr>
              <a:t>。</a:t>
            </a:r>
            <a:r>
              <a:rPr lang="en-US" altLang="zh-CN" sz="2800" i="1">
                <a:latin typeface="Times New Roman" panose="02020603050405020304" pitchFamily="18" charset="0"/>
              </a:rPr>
              <a:t>k</a:t>
            </a:r>
            <a:r>
              <a:rPr lang="zh-CN" altLang="en-US" sz="2800">
                <a:latin typeface="Times New Roman" panose="02020603050405020304" pitchFamily="18" charset="0"/>
              </a:rPr>
              <a:t>并不发送给</a:t>
            </a:r>
            <a:r>
              <a:rPr lang="en-US" altLang="zh-CN" sz="2800">
                <a:latin typeface="Times New Roman" panose="02020603050405020304" pitchFamily="18" charset="0"/>
              </a:rPr>
              <a:t>Bob</a:t>
            </a:r>
            <a:r>
              <a:rPr lang="zh-CN" altLang="en-US" sz="2800">
                <a:latin typeface="Times New Roman" panose="02020603050405020304" pitchFamily="18" charset="0"/>
              </a:rPr>
              <a:t>，只是在签名算法中参加运算，因此可以看作是</a:t>
            </a:r>
            <a:r>
              <a:rPr lang="en-US" altLang="zh-CN" sz="2800">
                <a:latin typeface="Times New Roman" panose="02020603050405020304" pitchFamily="18" charset="0"/>
              </a:rPr>
              <a:t>Alice</a:t>
            </a:r>
            <a:r>
              <a:rPr lang="zh-CN" altLang="en-US" sz="2800">
                <a:latin typeface="Times New Roman" panose="02020603050405020304" pitchFamily="18" charset="0"/>
              </a:rPr>
              <a:t>的另一个私钥，称为</a:t>
            </a:r>
            <a:r>
              <a:rPr lang="zh-CN" altLang="en-US" sz="2800" u="sng">
                <a:latin typeface="Times New Roman" panose="02020603050405020304" pitchFamily="18" charset="0"/>
              </a:rPr>
              <a:t>临时密钥</a:t>
            </a:r>
            <a:r>
              <a:rPr lang="zh-CN" altLang="en-US" sz="2800">
                <a:latin typeface="Times New Roman" panose="02020603050405020304" pitchFamily="18" charset="0"/>
              </a:rPr>
              <a:t>。</a:t>
            </a:r>
          </a:p>
          <a:p>
            <a:pPr>
              <a:lnSpc>
                <a:spcPct val="80000"/>
              </a:lnSpc>
              <a:buFont typeface="Wingdings" panose="05000000000000000000" pitchFamily="2" charset="2"/>
              <a:buNone/>
            </a:pPr>
            <a:r>
              <a:rPr lang="zh-CN" altLang="en-US" sz="2800">
                <a:latin typeface="Times New Roman" panose="02020603050405020304" pitchFamily="18" charset="0"/>
              </a:rPr>
              <a:t>临时密钥</a:t>
            </a:r>
            <a:r>
              <a:rPr lang="en-US" altLang="zh-CN" sz="2800" i="1">
                <a:latin typeface="Times New Roman" panose="02020603050405020304" pitchFamily="18" charset="0"/>
              </a:rPr>
              <a:t>k</a:t>
            </a:r>
            <a:r>
              <a:rPr lang="zh-CN" altLang="en-US" sz="2800">
                <a:latin typeface="Times New Roman" panose="02020603050405020304" pitchFamily="18" charset="0"/>
              </a:rPr>
              <a:t>为什么要保密？</a:t>
            </a:r>
          </a:p>
          <a:p>
            <a:pPr>
              <a:lnSpc>
                <a:spcPct val="80000"/>
              </a:lnSpc>
              <a:buFont typeface="Wingdings" panose="05000000000000000000" pitchFamily="2" charset="2"/>
              <a:buNone/>
            </a:pPr>
            <a:r>
              <a:rPr lang="zh-CN" altLang="en-US" sz="2800">
                <a:latin typeface="Times New Roman" panose="02020603050405020304" pitchFamily="18" charset="0"/>
              </a:rPr>
              <a:t>如果临时密钥</a:t>
            </a:r>
            <a:r>
              <a:rPr lang="en-US" altLang="zh-CN" sz="2800" i="1">
                <a:latin typeface="Times New Roman" panose="02020603050405020304" pitchFamily="18" charset="0"/>
              </a:rPr>
              <a:t>k</a:t>
            </a:r>
            <a:r>
              <a:rPr lang="zh-CN" altLang="en-US" sz="2800">
                <a:latin typeface="Times New Roman" panose="02020603050405020304" pitchFamily="18" charset="0"/>
              </a:rPr>
              <a:t>被公开，则当攻击者</a:t>
            </a:r>
            <a:r>
              <a:rPr lang="en-US" altLang="zh-CN" sz="2800">
                <a:latin typeface="Times New Roman" panose="02020603050405020304" pitchFamily="18" charset="0"/>
              </a:rPr>
              <a:t>Eve</a:t>
            </a:r>
            <a:r>
              <a:rPr lang="zh-CN" altLang="en-US" sz="2800">
                <a:latin typeface="Times New Roman" panose="02020603050405020304" pitchFamily="18" charset="0"/>
              </a:rPr>
              <a:t>截获了签名消息</a:t>
            </a:r>
            <a:r>
              <a:rPr lang="en-US" altLang="zh-CN" sz="2800">
                <a:latin typeface="Times New Roman" panose="02020603050405020304" pitchFamily="18" charset="0"/>
              </a:rPr>
              <a:t>(</a:t>
            </a:r>
            <a:r>
              <a:rPr lang="en-US" altLang="zh-CN" sz="2800" i="1">
                <a:latin typeface="Times New Roman" panose="02020603050405020304" pitchFamily="18" charset="0"/>
              </a:rPr>
              <a:t>m, r</a:t>
            </a:r>
            <a:r>
              <a:rPr lang="en-US" altLang="zh-CN" sz="2800">
                <a:latin typeface="Times New Roman" panose="02020603050405020304" pitchFamily="18" charset="0"/>
              </a:rPr>
              <a:t>, </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后，他计算</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zh-CN" altLang="en-US" sz="2800">
                <a:latin typeface="Times New Roman" panose="02020603050405020304" pitchFamily="18" charset="0"/>
              </a:rPr>
              <a:t>；再从等式</a:t>
            </a:r>
          </a:p>
          <a:p>
            <a:pPr algn="ctr">
              <a:lnSpc>
                <a:spcPct val="80000"/>
              </a:lnSpc>
              <a:buFont typeface="Wingdings" panose="05000000000000000000" pitchFamily="2" charset="2"/>
              <a:buNone/>
            </a:pPr>
            <a:r>
              <a:rPr lang="en-US" altLang="zh-CN" sz="2800" i="1">
                <a:latin typeface="Times New Roman" panose="02020603050405020304" pitchFamily="18" charset="0"/>
              </a:rPr>
              <a:t>s</a:t>
            </a:r>
            <a:r>
              <a:rPr lang="en-US" altLang="zh-CN" sz="2800">
                <a:latin typeface="Times New Roman" panose="02020603050405020304" pitchFamily="18" charset="0"/>
              </a:rPr>
              <a:t>=(</a:t>
            </a:r>
            <a:r>
              <a:rPr lang="en-US" altLang="zh-CN" sz="2800" i="1">
                <a:latin typeface="Times New Roman" panose="02020603050405020304" pitchFamily="18" charset="0"/>
              </a:rPr>
              <a:t>k</a:t>
            </a:r>
            <a:r>
              <a:rPr lang="en-US" altLang="zh-CN" sz="2800" baseline="30000">
                <a:latin typeface="Times New Roman" panose="02020603050405020304" pitchFamily="18" charset="0"/>
              </a:rPr>
              <a:t>-1</a:t>
            </a:r>
            <a:r>
              <a:rPr lang="en-US" altLang="zh-CN" sz="2800">
                <a:latin typeface="Times New Roman" panose="02020603050405020304" pitchFamily="18" charset="0"/>
              </a:rPr>
              <a:t>(</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xr</a:t>
            </a:r>
            <a:r>
              <a:rPr lang="en-US" altLang="zh-CN" sz="2800">
                <a:latin typeface="Times New Roman" panose="02020603050405020304" pitchFamily="18" charset="0"/>
              </a:rPr>
              <a:t>))(mod</a:t>
            </a:r>
            <a:r>
              <a:rPr lang="en-US" altLang="zh-CN" sz="2800" i="1">
                <a:latin typeface="Times New Roman" panose="02020603050405020304" pitchFamily="18" charset="0"/>
              </a:rPr>
              <a:t>q</a:t>
            </a:r>
            <a:r>
              <a:rPr lang="en-US" altLang="zh-CN" sz="2800">
                <a:latin typeface="Times New Roman" panose="02020603050405020304" pitchFamily="18" charset="0"/>
              </a:rPr>
              <a:t>)</a:t>
            </a:r>
          </a:p>
          <a:p>
            <a:pPr>
              <a:lnSpc>
                <a:spcPct val="80000"/>
              </a:lnSpc>
              <a:buFont typeface="Wingdings" panose="05000000000000000000" pitchFamily="2" charset="2"/>
              <a:buNone/>
            </a:pPr>
            <a:r>
              <a:rPr lang="zh-CN" altLang="en-US" sz="2800">
                <a:latin typeface="Times New Roman" panose="02020603050405020304" pitchFamily="18" charset="0"/>
              </a:rPr>
              <a:t>中计算出</a:t>
            </a:r>
            <a:r>
              <a:rPr lang="en-US" altLang="zh-CN" sz="2800">
                <a:latin typeface="Times New Roman" panose="02020603050405020304" pitchFamily="18" charset="0"/>
              </a:rPr>
              <a:t>Alice</a:t>
            </a:r>
            <a:r>
              <a:rPr lang="zh-CN" altLang="en-US" sz="2800">
                <a:latin typeface="Times New Roman" panose="02020603050405020304" pitchFamily="18" charset="0"/>
              </a:rPr>
              <a:t>的私钥</a:t>
            </a:r>
            <a:r>
              <a:rPr lang="en-US" altLang="zh-CN" sz="2800" i="1">
                <a:latin typeface="Times New Roman" panose="02020603050405020304" pitchFamily="18" charset="0"/>
              </a:rPr>
              <a:t>x</a:t>
            </a:r>
            <a:r>
              <a:rPr lang="zh-CN" altLang="en-US" sz="2800">
                <a:latin typeface="Times New Roman" panose="02020603050405020304" pitchFamily="18" charset="0"/>
              </a:rPr>
              <a:t>： </a:t>
            </a:r>
            <a:r>
              <a:rPr lang="en-US" altLang="zh-CN" sz="2800" i="1">
                <a:latin typeface="Times New Roman" panose="02020603050405020304" pitchFamily="18" charset="0"/>
              </a:rPr>
              <a:t>x</a:t>
            </a:r>
            <a:r>
              <a:rPr lang="en-US" altLang="zh-CN" sz="2800">
                <a:latin typeface="Times New Roman" panose="02020603050405020304" pitchFamily="18" charset="0"/>
              </a:rPr>
              <a:t>=(</a:t>
            </a:r>
            <a:r>
              <a:rPr lang="en-US" altLang="zh-CN" sz="2800" i="1">
                <a:latin typeface="Times New Roman" panose="02020603050405020304" pitchFamily="18" charset="0"/>
              </a:rPr>
              <a:t>sk-h</a:t>
            </a:r>
            <a:r>
              <a:rPr lang="en-US" altLang="zh-CN" sz="2800">
                <a:latin typeface="Times New Roman" panose="02020603050405020304" pitchFamily="18" charset="0"/>
              </a:rPr>
              <a:t>)</a:t>
            </a:r>
            <a:r>
              <a:rPr lang="en-US" altLang="zh-CN" sz="2800" i="1">
                <a:latin typeface="Times New Roman" panose="02020603050405020304" pitchFamily="18" charset="0"/>
              </a:rPr>
              <a:t>r</a:t>
            </a:r>
            <a:r>
              <a:rPr lang="en-US" altLang="zh-CN" sz="2800" baseline="30000">
                <a:latin typeface="Times New Roman" panose="02020603050405020304" pitchFamily="18" charset="0"/>
              </a:rPr>
              <a:t>-1</a:t>
            </a:r>
            <a:r>
              <a:rPr lang="en-US" altLang="zh-CN" sz="2800">
                <a:latin typeface="Times New Roman" panose="02020603050405020304" pitchFamily="18" charset="0"/>
              </a:rPr>
              <a:t>(mod</a:t>
            </a:r>
            <a:r>
              <a:rPr lang="en-US" altLang="zh-CN" sz="2800" i="1">
                <a:latin typeface="Times New Roman" panose="02020603050405020304" pitchFamily="18" charset="0"/>
              </a:rPr>
              <a:t>q</a:t>
            </a:r>
            <a:r>
              <a:rPr lang="en-US" altLang="zh-CN" sz="2800">
                <a:latin typeface="Times New Roman" panose="02020603050405020304" pitchFamily="18" charset="0"/>
              </a:rPr>
              <a:t>)</a:t>
            </a:r>
            <a:r>
              <a:rPr lang="en-US" altLang="zh-CN" sz="2800" i="1">
                <a:latin typeface="Times New Roman" panose="02020603050405020304" pitchFamily="18" charset="0"/>
              </a:rPr>
              <a:t> </a:t>
            </a:r>
            <a:r>
              <a:rPr lang="zh-CN" altLang="en-US" sz="2800">
                <a:latin typeface="Times New Roman" panose="02020603050405020304" pitchFamily="18" charset="0"/>
              </a:rPr>
              <a:t>。 </a:t>
            </a:r>
            <a:r>
              <a:rPr lang="en-US" altLang="zh-CN" sz="2800">
                <a:latin typeface="Times New Roman" panose="02020603050405020304" pitchFamily="18" charset="0"/>
              </a:rPr>
              <a:t>DSA</a:t>
            </a:r>
            <a:r>
              <a:rPr lang="zh-CN" altLang="en-US" sz="2800">
                <a:latin typeface="Times New Roman" panose="02020603050405020304" pitchFamily="18" charset="0"/>
              </a:rPr>
              <a:t>被攻破。</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838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8387">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83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灯片编号占位符 4">
            <a:extLst>
              <a:ext uri="{FF2B5EF4-FFF2-40B4-BE49-F238E27FC236}">
                <a16:creationId xmlns:a16="http://schemas.microsoft.com/office/drawing/2014/main" id="{103728D7-EF0E-F5CC-4A5A-9E856534717E}"/>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EF7B61D7-88AA-40C7-823C-8FEF23628507}" type="slidenum">
              <a:rPr lang="zh-CN" altLang="en-US" sz="1400" smtClean="0"/>
              <a:pPr eaLnBrk="0" hangingPunct="0">
                <a:spcBef>
                  <a:spcPct val="0"/>
                </a:spcBef>
                <a:buClrTx/>
                <a:buSzTx/>
                <a:buFontTx/>
                <a:buNone/>
              </a:pPr>
              <a:t>39</a:t>
            </a:fld>
            <a:endParaRPr lang="en-US" altLang="zh-CN" sz="1400"/>
          </a:p>
        </p:txBody>
      </p:sp>
      <p:sp>
        <p:nvSpPr>
          <p:cNvPr id="65539" name="Rectangle 2">
            <a:extLst>
              <a:ext uri="{FF2B5EF4-FFF2-40B4-BE49-F238E27FC236}">
                <a16:creationId xmlns:a16="http://schemas.microsoft.com/office/drawing/2014/main" id="{8F30FE69-E11F-373A-8369-9C60071990B9}"/>
              </a:ext>
            </a:extLst>
          </p:cNvPr>
          <p:cNvSpPr>
            <a:spLocks noGrp="1" noChangeArrowheads="1"/>
          </p:cNvSpPr>
          <p:nvPr>
            <p:ph type="title"/>
          </p:nvPr>
        </p:nvSpPr>
        <p:spPr/>
        <p:txBody>
          <a:bodyPr/>
          <a:lstStyle/>
          <a:p>
            <a:r>
              <a:rPr lang="zh-CN" altLang="en-US" b="1"/>
              <a:t>三、几种常用的数字签名</a:t>
            </a:r>
          </a:p>
        </p:txBody>
      </p:sp>
      <p:sp>
        <p:nvSpPr>
          <p:cNvPr id="529411" name="Rectangle 3">
            <a:extLst>
              <a:ext uri="{FF2B5EF4-FFF2-40B4-BE49-F238E27FC236}">
                <a16:creationId xmlns:a16="http://schemas.microsoft.com/office/drawing/2014/main" id="{F4C76D97-101E-E09A-6E25-BB57A4D11AC7}"/>
              </a:ext>
            </a:extLst>
          </p:cNvPr>
          <p:cNvSpPr>
            <a:spLocks noGrp="1" noChangeArrowheads="1"/>
          </p:cNvSpPr>
          <p:nvPr>
            <p:ph type="body" idx="1"/>
          </p:nvPr>
        </p:nvSpPr>
        <p:spPr>
          <a:xfrm>
            <a:off x="250825" y="2017713"/>
            <a:ext cx="8704263" cy="4114800"/>
          </a:xfrm>
        </p:spPr>
        <p:txBody>
          <a:bodyPr/>
          <a:lstStyle/>
          <a:p>
            <a:pPr>
              <a:lnSpc>
                <a:spcPct val="90000"/>
              </a:lnSpc>
              <a:buFont typeface="Wingdings" panose="05000000000000000000" pitchFamily="2" charset="2"/>
              <a:buNone/>
            </a:pPr>
            <a:r>
              <a:rPr lang="zh-CN" altLang="en-US" sz="2800">
                <a:latin typeface="Times New Roman" panose="02020603050405020304" pitchFamily="18" charset="0"/>
              </a:rPr>
              <a:t>临时密钥</a:t>
            </a:r>
            <a:r>
              <a:rPr lang="en-US" altLang="zh-CN" sz="2800" i="1">
                <a:latin typeface="Times New Roman" panose="02020603050405020304" pitchFamily="18" charset="0"/>
              </a:rPr>
              <a:t>k</a:t>
            </a:r>
            <a:r>
              <a:rPr lang="zh-CN" altLang="en-US" sz="2800">
                <a:latin typeface="Times New Roman" panose="02020603050405020304" pitchFamily="18" charset="0"/>
              </a:rPr>
              <a:t>为什么要临时随机地选择？</a:t>
            </a:r>
          </a:p>
          <a:p>
            <a:pPr>
              <a:lnSpc>
                <a:spcPct val="90000"/>
              </a:lnSpc>
              <a:buFont typeface="Wingdings" panose="05000000000000000000" pitchFamily="2" charset="2"/>
              <a:buNone/>
            </a:pPr>
            <a:r>
              <a:rPr lang="zh-CN" altLang="en-US" sz="2800">
                <a:latin typeface="Times New Roman" panose="02020603050405020304" pitchFamily="18" charset="0"/>
              </a:rPr>
              <a:t>设临时密钥</a:t>
            </a:r>
            <a:r>
              <a:rPr lang="en-US" altLang="zh-CN" sz="2800" i="1">
                <a:latin typeface="Times New Roman" panose="02020603050405020304" pitchFamily="18" charset="0"/>
              </a:rPr>
              <a:t>k</a:t>
            </a:r>
            <a:r>
              <a:rPr lang="zh-CN" altLang="en-US" sz="2800">
                <a:latin typeface="Times New Roman" panose="02020603050405020304" pitchFamily="18" charset="0"/>
              </a:rPr>
              <a:t>是保密的，但是是固定的。</a:t>
            </a:r>
          </a:p>
          <a:p>
            <a:pPr>
              <a:lnSpc>
                <a:spcPct val="90000"/>
              </a:lnSpc>
              <a:buFont typeface="Wingdings" panose="05000000000000000000" pitchFamily="2" charset="2"/>
              <a:buNone/>
            </a:pPr>
            <a:r>
              <a:rPr lang="zh-CN" altLang="en-US" sz="2800">
                <a:latin typeface="Times New Roman" panose="02020603050405020304" pitchFamily="18" charset="0"/>
              </a:rPr>
              <a:t>设攻击者</a:t>
            </a:r>
            <a:r>
              <a:rPr lang="en-US" altLang="zh-CN" sz="2800">
                <a:latin typeface="Times New Roman" panose="02020603050405020304" pitchFamily="18" charset="0"/>
              </a:rPr>
              <a:t>Eve</a:t>
            </a:r>
            <a:r>
              <a:rPr lang="zh-CN" altLang="en-US" sz="2800">
                <a:latin typeface="Times New Roman" panose="02020603050405020304" pitchFamily="18" charset="0"/>
              </a:rPr>
              <a:t>截获了两个签名消息</a:t>
            </a:r>
            <a:r>
              <a:rPr lang="en-US" altLang="zh-CN" sz="2800">
                <a:latin typeface="Times New Roman" panose="02020603050405020304" pitchFamily="18" charset="0"/>
              </a:rPr>
              <a:t>(</a:t>
            </a:r>
            <a:r>
              <a:rPr lang="en-US" altLang="zh-CN" sz="2800" i="1">
                <a:latin typeface="Times New Roman" panose="02020603050405020304" pitchFamily="18" charset="0"/>
              </a:rPr>
              <a:t>m, r</a:t>
            </a:r>
            <a:r>
              <a:rPr lang="en-US" altLang="zh-CN" sz="2800">
                <a:latin typeface="Times New Roman" panose="02020603050405020304" pitchFamily="18" charset="0"/>
              </a:rPr>
              <a:t>, </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和</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en-US" altLang="zh-CN" sz="2800" i="1">
                <a:latin typeface="Times New Roman" panose="02020603050405020304" pitchFamily="18" charset="0"/>
              </a:rPr>
              <a:t>, r</a:t>
            </a:r>
            <a:r>
              <a:rPr lang="en-US" altLang="zh-CN" sz="2800">
                <a:latin typeface="Times New Roman" panose="02020603050405020304" pitchFamily="18" charset="0"/>
              </a:rPr>
              <a:t>’, </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a:t>
            </a:r>
          </a:p>
          <a:p>
            <a:pPr>
              <a:lnSpc>
                <a:spcPct val="90000"/>
              </a:lnSpc>
              <a:buFont typeface="Wingdings" panose="05000000000000000000" pitchFamily="2" charset="2"/>
              <a:buNone/>
            </a:pPr>
            <a:r>
              <a:rPr lang="en-US" altLang="zh-CN" sz="2800">
                <a:latin typeface="Times New Roman" panose="02020603050405020304" pitchFamily="18" charset="0"/>
              </a:rPr>
              <a:t>Eve</a:t>
            </a:r>
            <a:r>
              <a:rPr lang="zh-CN" altLang="en-US" sz="2800">
                <a:latin typeface="Times New Roman" panose="02020603050405020304" pitchFamily="18" charset="0"/>
              </a:rPr>
              <a:t>能够计算出</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zh-CN" altLang="en-US" sz="2800">
                <a:latin typeface="Times New Roman" panose="02020603050405020304" pitchFamily="18" charset="0"/>
              </a:rPr>
              <a:t>，</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m</a:t>
            </a:r>
            <a:r>
              <a:rPr lang="en-US" altLang="zh-CN" sz="2800">
                <a:latin typeface="Times New Roman" panose="02020603050405020304" pitchFamily="18" charset="0"/>
              </a:rPr>
              <a:t>’)</a:t>
            </a:r>
            <a:r>
              <a:rPr lang="zh-CN" altLang="en-US" sz="2800">
                <a:latin typeface="Times New Roman" panose="02020603050405020304" pitchFamily="18" charset="0"/>
              </a:rPr>
              <a:t>。</a:t>
            </a:r>
            <a:r>
              <a:rPr lang="en-US" altLang="zh-CN" sz="2800">
                <a:latin typeface="Times New Roman" panose="02020603050405020304" pitchFamily="18" charset="0"/>
              </a:rPr>
              <a:t>Eve</a:t>
            </a:r>
            <a:r>
              <a:rPr lang="zh-CN" altLang="en-US" sz="2800">
                <a:latin typeface="Times New Roman" panose="02020603050405020304" pitchFamily="18" charset="0"/>
              </a:rPr>
              <a:t>还知道：</a:t>
            </a:r>
          </a:p>
          <a:p>
            <a:pPr algn="ctr">
              <a:lnSpc>
                <a:spcPct val="90000"/>
              </a:lnSpc>
              <a:buFont typeface="Wingdings" panose="05000000000000000000" pitchFamily="2" charset="2"/>
              <a:buNone/>
            </a:pPr>
            <a:r>
              <a:rPr lang="en-US" altLang="zh-CN" sz="2800" i="1">
                <a:latin typeface="Times New Roman" panose="02020603050405020304" pitchFamily="18" charset="0"/>
              </a:rPr>
              <a:t>s</a:t>
            </a:r>
            <a:r>
              <a:rPr lang="en-US" altLang="zh-CN" sz="2800">
                <a:latin typeface="Times New Roman" panose="02020603050405020304" pitchFamily="18" charset="0"/>
              </a:rPr>
              <a:t>=(</a:t>
            </a:r>
            <a:r>
              <a:rPr lang="en-US" altLang="zh-CN" sz="2800" i="1">
                <a:latin typeface="Times New Roman" panose="02020603050405020304" pitchFamily="18" charset="0"/>
              </a:rPr>
              <a:t>k</a:t>
            </a:r>
            <a:r>
              <a:rPr lang="en-US" altLang="zh-CN" sz="2800" baseline="30000">
                <a:latin typeface="Times New Roman" panose="02020603050405020304" pitchFamily="18" charset="0"/>
              </a:rPr>
              <a:t>-1</a:t>
            </a:r>
            <a:r>
              <a:rPr lang="en-US" altLang="zh-CN" sz="2800">
                <a:latin typeface="Times New Roman" panose="02020603050405020304" pitchFamily="18" charset="0"/>
              </a:rPr>
              <a:t>(</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xr</a:t>
            </a:r>
            <a:r>
              <a:rPr lang="en-US" altLang="zh-CN" sz="2800">
                <a:latin typeface="Times New Roman" panose="02020603050405020304" pitchFamily="18" charset="0"/>
              </a:rPr>
              <a:t>))(mod</a:t>
            </a:r>
            <a:r>
              <a:rPr lang="en-US" altLang="zh-CN" sz="2800" i="1">
                <a:latin typeface="Times New Roman" panose="02020603050405020304" pitchFamily="18" charset="0"/>
              </a:rPr>
              <a:t>q</a:t>
            </a:r>
            <a:r>
              <a:rPr lang="en-US" altLang="zh-CN" sz="2800">
                <a:latin typeface="Times New Roman" panose="02020603050405020304" pitchFamily="18" charset="0"/>
              </a:rPr>
              <a:t>)</a:t>
            </a:r>
            <a:r>
              <a:rPr lang="zh-CN" altLang="en-US" sz="2800">
                <a:latin typeface="Times New Roman" panose="02020603050405020304" pitchFamily="18" charset="0"/>
              </a:rPr>
              <a:t>，</a:t>
            </a:r>
          </a:p>
          <a:p>
            <a:pPr algn="ctr">
              <a:lnSpc>
                <a:spcPct val="90000"/>
              </a:lnSpc>
              <a:buFont typeface="Wingdings" panose="05000000000000000000" pitchFamily="2" charset="2"/>
              <a:buNone/>
            </a:pPr>
            <a:r>
              <a:rPr lang="en-US" altLang="zh-CN" sz="2800" i="1">
                <a:latin typeface="Times New Roman" panose="02020603050405020304" pitchFamily="18" charset="0"/>
              </a:rPr>
              <a:t>s</a:t>
            </a:r>
            <a:r>
              <a:rPr lang="en-US" altLang="zh-CN" sz="2800">
                <a:latin typeface="Times New Roman" panose="02020603050405020304" pitchFamily="18" charset="0"/>
              </a:rPr>
              <a:t>’=(</a:t>
            </a:r>
            <a:r>
              <a:rPr lang="en-US" altLang="zh-CN" sz="2800" i="1">
                <a:latin typeface="Times New Roman" panose="02020603050405020304" pitchFamily="18" charset="0"/>
              </a:rPr>
              <a:t>k</a:t>
            </a:r>
            <a:r>
              <a:rPr lang="en-US" altLang="zh-CN" sz="2800" baseline="30000">
                <a:latin typeface="Times New Roman" panose="02020603050405020304" pitchFamily="18" charset="0"/>
              </a:rPr>
              <a:t>-1</a:t>
            </a:r>
            <a:r>
              <a:rPr lang="en-US" altLang="zh-CN" sz="2800">
                <a:latin typeface="Times New Roman" panose="02020603050405020304" pitchFamily="18" charset="0"/>
              </a:rPr>
              <a:t>(</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xr</a:t>
            </a:r>
            <a:r>
              <a:rPr lang="en-US" altLang="zh-CN" sz="2800">
                <a:latin typeface="Times New Roman" panose="02020603050405020304" pitchFamily="18" charset="0"/>
              </a:rPr>
              <a:t>’))(mod</a:t>
            </a:r>
            <a:r>
              <a:rPr lang="en-US" altLang="zh-CN" sz="2800" i="1">
                <a:latin typeface="Times New Roman" panose="02020603050405020304" pitchFamily="18" charset="0"/>
              </a:rPr>
              <a:t>q</a:t>
            </a:r>
            <a:r>
              <a:rPr lang="en-US" altLang="zh-CN" sz="2800">
                <a:latin typeface="Times New Roman" panose="02020603050405020304" pitchFamily="18" charset="0"/>
              </a:rPr>
              <a:t>)</a:t>
            </a:r>
            <a:r>
              <a:rPr lang="zh-CN" altLang="en-US" sz="2800">
                <a:latin typeface="Times New Roman" panose="02020603050405020304" pitchFamily="18" charset="0"/>
              </a:rPr>
              <a:t>。</a:t>
            </a:r>
          </a:p>
          <a:p>
            <a:pPr>
              <a:lnSpc>
                <a:spcPct val="90000"/>
              </a:lnSpc>
              <a:buFont typeface="Wingdings" panose="05000000000000000000" pitchFamily="2" charset="2"/>
              <a:buNone/>
            </a:pPr>
            <a:r>
              <a:rPr lang="zh-CN" altLang="en-US" sz="2800">
                <a:latin typeface="Times New Roman" panose="02020603050405020304" pitchFamily="18" charset="0"/>
              </a:rPr>
              <a:t>这是关于未知量（</a:t>
            </a:r>
            <a:r>
              <a:rPr lang="en-US" altLang="zh-CN" sz="2800" i="1">
                <a:latin typeface="Times New Roman" panose="02020603050405020304" pitchFamily="18" charset="0"/>
              </a:rPr>
              <a:t>k</a:t>
            </a:r>
            <a:r>
              <a:rPr lang="en-US" altLang="zh-CN" sz="2800" baseline="30000">
                <a:latin typeface="Times New Roman" panose="02020603050405020304" pitchFamily="18" charset="0"/>
              </a:rPr>
              <a:t>-1</a:t>
            </a:r>
            <a:r>
              <a:rPr lang="zh-CN" altLang="en-US" sz="2800">
                <a:latin typeface="Times New Roman" panose="02020603050405020304" pitchFamily="18" charset="0"/>
              </a:rPr>
              <a:t>，</a:t>
            </a:r>
            <a:r>
              <a:rPr lang="en-US" altLang="zh-CN" sz="2800" i="1">
                <a:latin typeface="Times New Roman" panose="02020603050405020304" pitchFamily="18" charset="0"/>
              </a:rPr>
              <a:t>k</a:t>
            </a:r>
            <a:r>
              <a:rPr lang="en-US" altLang="zh-CN" sz="2800" baseline="30000">
                <a:latin typeface="Times New Roman" panose="02020603050405020304" pitchFamily="18" charset="0"/>
              </a:rPr>
              <a:t>-1</a:t>
            </a:r>
            <a:r>
              <a:rPr lang="en-US" altLang="zh-CN" sz="2800" i="1">
                <a:latin typeface="Times New Roman" panose="02020603050405020304" pitchFamily="18" charset="0"/>
              </a:rPr>
              <a:t>x</a:t>
            </a:r>
            <a:r>
              <a:rPr lang="zh-CN" altLang="en-US" sz="2800">
                <a:latin typeface="Times New Roman" panose="02020603050405020304" pitchFamily="18" charset="0"/>
              </a:rPr>
              <a:t>）的二元一次方程组（只不过是模方程组），可以很简单地解出（</a:t>
            </a:r>
            <a:r>
              <a:rPr lang="en-US" altLang="zh-CN" sz="2800" i="1">
                <a:latin typeface="Times New Roman" panose="02020603050405020304" pitchFamily="18" charset="0"/>
              </a:rPr>
              <a:t>k</a:t>
            </a:r>
            <a:r>
              <a:rPr lang="en-US" altLang="zh-CN" sz="2800" baseline="30000">
                <a:latin typeface="Times New Roman" panose="02020603050405020304" pitchFamily="18" charset="0"/>
              </a:rPr>
              <a:t>-1</a:t>
            </a:r>
            <a:r>
              <a:rPr lang="zh-CN" altLang="en-US" sz="2800">
                <a:latin typeface="Times New Roman" panose="02020603050405020304" pitchFamily="18" charset="0"/>
              </a:rPr>
              <a:t>，</a:t>
            </a:r>
            <a:r>
              <a:rPr lang="en-US" altLang="zh-CN" sz="2800" i="1">
                <a:latin typeface="Times New Roman" panose="02020603050405020304" pitchFamily="18" charset="0"/>
              </a:rPr>
              <a:t>k</a:t>
            </a:r>
            <a:r>
              <a:rPr lang="en-US" altLang="zh-CN" sz="2800" baseline="30000">
                <a:latin typeface="Times New Roman" panose="02020603050405020304" pitchFamily="18" charset="0"/>
              </a:rPr>
              <a:t>-1</a:t>
            </a:r>
            <a:r>
              <a:rPr lang="en-US" altLang="zh-CN" sz="2800" i="1">
                <a:latin typeface="Times New Roman" panose="02020603050405020304" pitchFamily="18" charset="0"/>
              </a:rPr>
              <a:t>x</a:t>
            </a:r>
            <a:r>
              <a:rPr lang="zh-CN" altLang="en-US" sz="2800">
                <a:latin typeface="Times New Roman" panose="02020603050405020304" pitchFamily="18" charset="0"/>
              </a:rPr>
              <a:t>），因此解出（</a:t>
            </a:r>
            <a:r>
              <a:rPr lang="en-US" altLang="zh-CN" sz="2800" i="1">
                <a:latin typeface="Times New Roman" panose="02020603050405020304" pitchFamily="18" charset="0"/>
              </a:rPr>
              <a:t>k</a:t>
            </a:r>
            <a:r>
              <a:rPr lang="zh-CN" altLang="en-US" sz="2800">
                <a:latin typeface="Times New Roman" panose="02020603050405020304" pitchFamily="18" charset="0"/>
              </a:rPr>
              <a:t>，</a:t>
            </a:r>
            <a:r>
              <a:rPr lang="en-US" altLang="zh-CN" sz="2800" i="1">
                <a:latin typeface="Times New Roman" panose="02020603050405020304" pitchFamily="18" charset="0"/>
              </a:rPr>
              <a:t>x</a:t>
            </a:r>
            <a:r>
              <a:rPr lang="zh-CN" altLang="en-US" sz="2800">
                <a:latin typeface="Times New Roman" panose="02020603050405020304" pitchFamily="18" charset="0"/>
              </a:rPr>
              <a:t>）。 </a:t>
            </a:r>
            <a:r>
              <a:rPr lang="en-US" altLang="zh-CN" sz="2800">
                <a:latin typeface="Times New Roman" panose="02020603050405020304" pitchFamily="18" charset="0"/>
              </a:rPr>
              <a:t>DSA</a:t>
            </a:r>
            <a:r>
              <a:rPr lang="zh-CN" altLang="en-US" sz="2800">
                <a:latin typeface="Times New Roman" panose="02020603050405020304" pitchFamily="18" charset="0"/>
              </a:rPr>
              <a:t>被攻破。</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941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9411">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52941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941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29411">
                                            <p:txEl>
                                              <p:pRg st="5" end="5"/>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294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2" name="灯片编号占位符 4">
            <a:extLst>
              <a:ext uri="{FF2B5EF4-FFF2-40B4-BE49-F238E27FC236}">
                <a16:creationId xmlns:a16="http://schemas.microsoft.com/office/drawing/2014/main" id="{8872F632-D61B-D86B-ABB8-82328CF44F6F}"/>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ED556652-0A9F-4A03-AA6D-D54AD4F1D82B}" type="slidenum">
              <a:rPr lang="zh-CN" altLang="en-US" sz="1400" smtClean="0"/>
              <a:pPr eaLnBrk="0" hangingPunct="0">
                <a:spcBef>
                  <a:spcPct val="0"/>
                </a:spcBef>
                <a:buClrTx/>
                <a:buSzTx/>
                <a:buFontTx/>
                <a:buNone/>
              </a:pPr>
              <a:t>40</a:t>
            </a:fld>
            <a:endParaRPr lang="en-US" altLang="zh-CN" sz="1400"/>
          </a:p>
        </p:txBody>
      </p:sp>
      <p:sp>
        <p:nvSpPr>
          <p:cNvPr id="66563" name="Rectangle 2">
            <a:extLst>
              <a:ext uri="{FF2B5EF4-FFF2-40B4-BE49-F238E27FC236}">
                <a16:creationId xmlns:a16="http://schemas.microsoft.com/office/drawing/2014/main" id="{0312EFCA-7521-3A83-2FA4-B1B2F2FF8F0D}"/>
              </a:ext>
            </a:extLst>
          </p:cNvPr>
          <p:cNvSpPr>
            <a:spLocks noGrp="1" noChangeArrowheads="1"/>
          </p:cNvSpPr>
          <p:nvPr>
            <p:ph type="title"/>
          </p:nvPr>
        </p:nvSpPr>
        <p:spPr/>
        <p:txBody>
          <a:bodyPr/>
          <a:lstStyle/>
          <a:p>
            <a:r>
              <a:rPr lang="zh-CN" altLang="en-US" b="1"/>
              <a:t>三、几种常用的数字签名</a:t>
            </a:r>
          </a:p>
        </p:txBody>
      </p:sp>
      <p:sp>
        <p:nvSpPr>
          <p:cNvPr id="66564" name="Rectangle 3">
            <a:extLst>
              <a:ext uri="{FF2B5EF4-FFF2-40B4-BE49-F238E27FC236}">
                <a16:creationId xmlns:a16="http://schemas.microsoft.com/office/drawing/2014/main" id="{FDE55973-DF96-377E-421C-599C8C575B57}"/>
              </a:ext>
            </a:extLst>
          </p:cNvPr>
          <p:cNvSpPr>
            <a:spLocks noGrp="1" noChangeArrowheads="1"/>
          </p:cNvSpPr>
          <p:nvPr>
            <p:ph type="body" idx="1"/>
          </p:nvPr>
        </p:nvSpPr>
        <p:spPr>
          <a:xfrm>
            <a:off x="1182688" y="2349500"/>
            <a:ext cx="7134225" cy="3783013"/>
          </a:xfrm>
        </p:spPr>
        <p:txBody>
          <a:bodyPr/>
          <a:lstStyle/>
          <a:p>
            <a:pPr>
              <a:lnSpc>
                <a:spcPct val="105000"/>
              </a:lnSpc>
              <a:buFont typeface="Wingdings" panose="05000000000000000000" pitchFamily="2" charset="2"/>
              <a:buNone/>
            </a:pPr>
            <a:r>
              <a:rPr lang="zh-CN" altLang="en-US" sz="2800">
                <a:latin typeface="Times New Roman" panose="02020603050405020304" pitchFamily="18" charset="0"/>
              </a:rPr>
              <a:t>综上所述，临时密钥</a:t>
            </a:r>
            <a:r>
              <a:rPr lang="en-US" altLang="zh-CN" sz="2800" i="1">
                <a:latin typeface="Times New Roman" panose="02020603050405020304" pitchFamily="18" charset="0"/>
              </a:rPr>
              <a:t>k</a:t>
            </a:r>
            <a:r>
              <a:rPr lang="zh-CN" altLang="en-US" sz="2800">
                <a:latin typeface="Times New Roman" panose="02020603050405020304" pitchFamily="18" charset="0"/>
              </a:rPr>
              <a:t>应该是保密的，且必须临时随机选择。于是会出现以下的现象：</a:t>
            </a:r>
          </a:p>
          <a:p>
            <a:pPr>
              <a:lnSpc>
                <a:spcPct val="105000"/>
              </a:lnSpc>
              <a:buClr>
                <a:schemeClr val="tx1"/>
              </a:buClr>
            </a:pPr>
            <a:r>
              <a:rPr lang="en-US" altLang="zh-CN" sz="2800">
                <a:latin typeface="Times New Roman" panose="02020603050405020304" pitchFamily="18" charset="0"/>
              </a:rPr>
              <a:t>Alice</a:t>
            </a:r>
            <a:r>
              <a:rPr lang="zh-CN" altLang="en-US" sz="2800">
                <a:latin typeface="Times New Roman" panose="02020603050405020304" pitchFamily="18" charset="0"/>
              </a:rPr>
              <a:t>在时刻</a:t>
            </a:r>
            <a:r>
              <a:rPr lang="en-US" altLang="zh-CN" sz="2800">
                <a:latin typeface="Times New Roman" panose="02020603050405020304" pitchFamily="18" charset="0"/>
              </a:rPr>
              <a:t>1</a:t>
            </a:r>
            <a:r>
              <a:rPr lang="zh-CN" altLang="en-US" sz="2800">
                <a:latin typeface="Times New Roman" panose="02020603050405020304" pitchFamily="18" charset="0"/>
              </a:rPr>
              <a:t>发送签名消息</a:t>
            </a:r>
            <a:r>
              <a:rPr lang="en-US" altLang="zh-CN" sz="2800">
                <a:latin typeface="Times New Roman" panose="02020603050405020304" pitchFamily="18" charset="0"/>
              </a:rPr>
              <a:t>(</a:t>
            </a:r>
            <a:r>
              <a:rPr lang="en-US" altLang="zh-CN" sz="2800" i="1">
                <a:latin typeface="Times New Roman" panose="02020603050405020304" pitchFamily="18" charset="0"/>
              </a:rPr>
              <a:t>m, r</a:t>
            </a:r>
            <a:r>
              <a:rPr lang="en-US" altLang="zh-CN" sz="2800" baseline="-25000">
                <a:latin typeface="Times New Roman" panose="02020603050405020304" pitchFamily="18" charset="0"/>
              </a:rPr>
              <a:t>1</a:t>
            </a:r>
            <a:r>
              <a:rPr lang="en-US" altLang="zh-CN" sz="2800">
                <a:latin typeface="Times New Roman" panose="02020603050405020304" pitchFamily="18" charset="0"/>
              </a:rPr>
              <a:t>, </a:t>
            </a:r>
            <a:r>
              <a:rPr lang="en-US" altLang="zh-CN" sz="2800" i="1">
                <a:latin typeface="Times New Roman" panose="02020603050405020304" pitchFamily="18" charset="0"/>
              </a:rPr>
              <a:t>s</a:t>
            </a:r>
            <a:r>
              <a:rPr lang="en-US" altLang="zh-CN" sz="2800" baseline="-25000">
                <a:latin typeface="Times New Roman" panose="02020603050405020304" pitchFamily="18" charset="0"/>
              </a:rPr>
              <a:t>1</a:t>
            </a:r>
            <a:r>
              <a:rPr lang="en-US" altLang="zh-CN" sz="2800">
                <a:latin typeface="Times New Roman" panose="02020603050405020304" pitchFamily="18" charset="0"/>
              </a:rPr>
              <a:t>) </a:t>
            </a:r>
            <a:r>
              <a:rPr lang="zh-CN" altLang="en-US" sz="2800">
                <a:latin typeface="Times New Roman" panose="02020603050405020304" pitchFamily="18" charset="0"/>
              </a:rPr>
              <a:t>。</a:t>
            </a:r>
          </a:p>
          <a:p>
            <a:pPr>
              <a:lnSpc>
                <a:spcPct val="105000"/>
              </a:lnSpc>
              <a:buClr>
                <a:schemeClr val="tx1"/>
              </a:buClr>
            </a:pPr>
            <a:r>
              <a:rPr lang="en-US" altLang="zh-CN" sz="2800">
                <a:latin typeface="Times New Roman" panose="02020603050405020304" pitchFamily="18" charset="0"/>
              </a:rPr>
              <a:t>Alice</a:t>
            </a:r>
            <a:r>
              <a:rPr lang="zh-CN" altLang="en-US" sz="2800">
                <a:latin typeface="Times New Roman" panose="02020603050405020304" pitchFamily="18" charset="0"/>
              </a:rPr>
              <a:t>在时刻</a:t>
            </a:r>
            <a:r>
              <a:rPr lang="en-US" altLang="zh-CN" sz="2800">
                <a:latin typeface="Times New Roman" panose="02020603050405020304" pitchFamily="18" charset="0"/>
              </a:rPr>
              <a:t>2</a:t>
            </a:r>
            <a:r>
              <a:rPr lang="zh-CN" altLang="en-US" sz="2800">
                <a:latin typeface="Times New Roman" panose="02020603050405020304" pitchFamily="18" charset="0"/>
              </a:rPr>
              <a:t>发送签名消息</a:t>
            </a:r>
            <a:r>
              <a:rPr lang="en-US" altLang="zh-CN" sz="2800">
                <a:latin typeface="Times New Roman" panose="02020603050405020304" pitchFamily="18" charset="0"/>
              </a:rPr>
              <a:t>(</a:t>
            </a:r>
            <a:r>
              <a:rPr lang="en-US" altLang="zh-CN" sz="2800" i="1">
                <a:latin typeface="Times New Roman" panose="02020603050405020304" pitchFamily="18" charset="0"/>
              </a:rPr>
              <a:t>m, r</a:t>
            </a:r>
            <a:r>
              <a:rPr lang="en-US" altLang="zh-CN" sz="2800" baseline="-25000">
                <a:latin typeface="Times New Roman" panose="02020603050405020304" pitchFamily="18" charset="0"/>
              </a:rPr>
              <a:t>2</a:t>
            </a:r>
            <a:r>
              <a:rPr lang="en-US" altLang="zh-CN" sz="2800">
                <a:latin typeface="Times New Roman" panose="02020603050405020304" pitchFamily="18" charset="0"/>
              </a:rPr>
              <a:t>, </a:t>
            </a:r>
            <a:r>
              <a:rPr lang="en-US" altLang="zh-CN" sz="2800" i="1">
                <a:latin typeface="Times New Roman" panose="02020603050405020304" pitchFamily="18" charset="0"/>
              </a:rPr>
              <a:t>s</a:t>
            </a:r>
            <a:r>
              <a:rPr lang="en-US" altLang="zh-CN" sz="2800" baseline="-25000">
                <a:latin typeface="Times New Roman" panose="02020603050405020304" pitchFamily="18" charset="0"/>
              </a:rPr>
              <a:t>2</a:t>
            </a:r>
            <a:r>
              <a:rPr lang="en-US" altLang="zh-CN" sz="2800">
                <a:latin typeface="Times New Roman" panose="02020603050405020304" pitchFamily="18" charset="0"/>
              </a:rPr>
              <a:t>) </a:t>
            </a:r>
            <a:r>
              <a:rPr lang="zh-CN" altLang="en-US" sz="2800">
                <a:latin typeface="Times New Roman" panose="02020603050405020304" pitchFamily="18" charset="0"/>
              </a:rPr>
              <a:t>。</a:t>
            </a:r>
          </a:p>
          <a:p>
            <a:pPr>
              <a:lnSpc>
                <a:spcPct val="105000"/>
              </a:lnSpc>
              <a:buClr>
                <a:schemeClr val="tx1"/>
              </a:buClr>
              <a:buFont typeface="Wingdings" panose="05000000000000000000" pitchFamily="2" charset="2"/>
              <a:buNone/>
            </a:pPr>
            <a:r>
              <a:rPr lang="zh-CN" altLang="en-US" sz="2800">
                <a:latin typeface="Times New Roman" panose="02020603050405020304" pitchFamily="18" charset="0"/>
              </a:rPr>
              <a:t>在不同时刻发送相同的消息</a:t>
            </a:r>
            <a:r>
              <a:rPr lang="en-US" altLang="zh-CN" sz="2800" i="1">
                <a:latin typeface="Times New Roman" panose="02020603050405020304" pitchFamily="18" charset="0"/>
              </a:rPr>
              <a:t>m</a:t>
            </a:r>
            <a:r>
              <a:rPr lang="zh-CN" altLang="en-US" sz="2800">
                <a:latin typeface="Times New Roman" panose="02020603050405020304" pitchFamily="18" charset="0"/>
              </a:rPr>
              <a:t>，得到不同的签名</a:t>
            </a:r>
            <a:r>
              <a:rPr lang="en-US" altLang="zh-CN" sz="2800">
                <a:latin typeface="Times New Roman" panose="02020603050405020304" pitchFamily="18" charset="0"/>
              </a:rPr>
              <a:t>(</a:t>
            </a:r>
            <a:r>
              <a:rPr lang="en-US" altLang="zh-CN" sz="2800" i="1">
                <a:latin typeface="Times New Roman" panose="02020603050405020304" pitchFamily="18" charset="0"/>
              </a:rPr>
              <a:t>r</a:t>
            </a:r>
            <a:r>
              <a:rPr lang="en-US" altLang="zh-CN" sz="2800" baseline="-25000">
                <a:latin typeface="Times New Roman" panose="02020603050405020304" pitchFamily="18" charset="0"/>
              </a:rPr>
              <a:t>1</a:t>
            </a:r>
            <a:r>
              <a:rPr lang="en-US" altLang="zh-CN" sz="2800">
                <a:latin typeface="Times New Roman" panose="02020603050405020304" pitchFamily="18" charset="0"/>
              </a:rPr>
              <a:t>, </a:t>
            </a:r>
            <a:r>
              <a:rPr lang="en-US" altLang="zh-CN" sz="2800" i="1">
                <a:latin typeface="Times New Roman" panose="02020603050405020304" pitchFamily="18" charset="0"/>
              </a:rPr>
              <a:t>s</a:t>
            </a:r>
            <a:r>
              <a:rPr lang="en-US" altLang="zh-CN" sz="2800" baseline="-25000">
                <a:latin typeface="Times New Roman" panose="02020603050405020304" pitchFamily="18" charset="0"/>
              </a:rPr>
              <a:t>1</a:t>
            </a:r>
            <a:r>
              <a:rPr lang="en-US" altLang="zh-CN" sz="2800">
                <a:latin typeface="Times New Roman" panose="02020603050405020304" pitchFamily="18" charset="0"/>
              </a:rPr>
              <a:t>)</a:t>
            </a:r>
            <a:r>
              <a:rPr lang="zh-CN" altLang="en-US" sz="2800">
                <a:latin typeface="Times New Roman" panose="02020603050405020304" pitchFamily="18" charset="0"/>
              </a:rPr>
              <a:t>和</a:t>
            </a:r>
            <a:r>
              <a:rPr lang="en-US" altLang="zh-CN" sz="2800">
                <a:latin typeface="Times New Roman" panose="02020603050405020304" pitchFamily="18" charset="0"/>
              </a:rPr>
              <a:t>(</a:t>
            </a:r>
            <a:r>
              <a:rPr lang="en-US" altLang="zh-CN" sz="2800" i="1">
                <a:latin typeface="Times New Roman" panose="02020603050405020304" pitchFamily="18" charset="0"/>
              </a:rPr>
              <a:t>r</a:t>
            </a:r>
            <a:r>
              <a:rPr lang="en-US" altLang="zh-CN" sz="2800" baseline="-25000">
                <a:latin typeface="Times New Roman" panose="02020603050405020304" pitchFamily="18" charset="0"/>
              </a:rPr>
              <a:t>2</a:t>
            </a:r>
            <a:r>
              <a:rPr lang="en-US" altLang="zh-CN" sz="2800">
                <a:latin typeface="Times New Roman" panose="02020603050405020304" pitchFamily="18" charset="0"/>
              </a:rPr>
              <a:t>, </a:t>
            </a:r>
            <a:r>
              <a:rPr lang="en-US" altLang="zh-CN" sz="2800" i="1">
                <a:latin typeface="Times New Roman" panose="02020603050405020304" pitchFamily="18" charset="0"/>
              </a:rPr>
              <a:t>s</a:t>
            </a:r>
            <a:r>
              <a:rPr lang="en-US" altLang="zh-CN" sz="2800" baseline="-25000">
                <a:latin typeface="Times New Roman" panose="02020603050405020304" pitchFamily="18" charset="0"/>
              </a:rPr>
              <a:t>2</a:t>
            </a:r>
            <a:r>
              <a:rPr lang="en-US" altLang="zh-CN" sz="2800">
                <a:latin typeface="Times New Roman" panose="02020603050405020304" pitchFamily="18" charset="0"/>
              </a:rPr>
              <a:t>)</a:t>
            </a:r>
            <a:r>
              <a:rPr lang="zh-CN" altLang="en-US" sz="2800">
                <a:latin typeface="Times New Roman" panose="02020603050405020304" pitchFamily="18" charset="0"/>
              </a:rPr>
              <a:t>，都是有效签名。</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灯片编号占位符 4">
            <a:extLst>
              <a:ext uri="{FF2B5EF4-FFF2-40B4-BE49-F238E27FC236}">
                <a16:creationId xmlns:a16="http://schemas.microsoft.com/office/drawing/2014/main" id="{E99E0F41-5C56-7ECB-2C36-9A80B3F1753E}"/>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22E85365-BA9D-4C75-B7D9-2EA2D15498C1}" type="slidenum">
              <a:rPr lang="zh-CN" altLang="en-US" sz="1400" smtClean="0"/>
              <a:pPr eaLnBrk="0" hangingPunct="0">
                <a:spcBef>
                  <a:spcPct val="0"/>
                </a:spcBef>
                <a:buClrTx/>
                <a:buSzTx/>
                <a:buFontTx/>
                <a:buNone/>
              </a:pPr>
              <a:t>41</a:t>
            </a:fld>
            <a:endParaRPr lang="en-US" altLang="zh-CN" sz="1400"/>
          </a:p>
        </p:txBody>
      </p:sp>
      <p:sp>
        <p:nvSpPr>
          <p:cNvPr id="67587" name="Rectangle 2">
            <a:extLst>
              <a:ext uri="{FF2B5EF4-FFF2-40B4-BE49-F238E27FC236}">
                <a16:creationId xmlns:a16="http://schemas.microsoft.com/office/drawing/2014/main" id="{0CB2EBD2-5396-9BFD-42EC-0127135B11DE}"/>
              </a:ext>
            </a:extLst>
          </p:cNvPr>
          <p:cNvSpPr>
            <a:spLocks noGrp="1" noChangeArrowheads="1"/>
          </p:cNvSpPr>
          <p:nvPr>
            <p:ph type="title"/>
          </p:nvPr>
        </p:nvSpPr>
        <p:spPr/>
        <p:txBody>
          <a:bodyPr/>
          <a:lstStyle/>
          <a:p>
            <a:r>
              <a:rPr lang="zh-CN" altLang="en-US" b="1"/>
              <a:t>三、几种常用的数字签名</a:t>
            </a:r>
          </a:p>
        </p:txBody>
      </p:sp>
      <p:sp>
        <p:nvSpPr>
          <p:cNvPr id="67588" name="Rectangle 3">
            <a:extLst>
              <a:ext uri="{FF2B5EF4-FFF2-40B4-BE49-F238E27FC236}">
                <a16:creationId xmlns:a16="http://schemas.microsoft.com/office/drawing/2014/main" id="{648E9738-BD00-CE45-DB9C-236986575CB2}"/>
              </a:ext>
            </a:extLst>
          </p:cNvPr>
          <p:cNvSpPr>
            <a:spLocks noGrp="1" noChangeArrowheads="1"/>
          </p:cNvSpPr>
          <p:nvPr>
            <p:ph type="body" idx="1"/>
          </p:nvPr>
        </p:nvSpPr>
        <p:spPr>
          <a:xfrm>
            <a:off x="611188" y="2017713"/>
            <a:ext cx="8343900" cy="4364037"/>
          </a:xfrm>
        </p:spPr>
        <p:txBody>
          <a:bodyPr/>
          <a:lstStyle/>
          <a:p>
            <a:pPr>
              <a:lnSpc>
                <a:spcPct val="80000"/>
              </a:lnSpc>
              <a:buFont typeface="Wingdings" panose="05000000000000000000" pitchFamily="2" charset="2"/>
              <a:buNone/>
            </a:pPr>
            <a:r>
              <a:rPr lang="zh-CN" altLang="en-US" sz="2800">
                <a:latin typeface="Times New Roman" panose="02020603050405020304" pitchFamily="18" charset="0"/>
              </a:rPr>
              <a:t>说明三：检验过程的合理性</a:t>
            </a:r>
          </a:p>
          <a:p>
            <a:pPr>
              <a:lnSpc>
                <a:spcPct val="80000"/>
              </a:lnSpc>
              <a:buFont typeface="Wingdings" panose="05000000000000000000" pitchFamily="2" charset="2"/>
              <a:buNone/>
            </a:pPr>
            <a:r>
              <a:rPr lang="zh-CN" altLang="en-US" sz="2800">
                <a:latin typeface="Times New Roman" panose="02020603050405020304" pitchFamily="18" charset="0"/>
              </a:rPr>
              <a:t>（即有效的签名一定满足等式</a:t>
            </a:r>
            <a:r>
              <a:rPr lang="en-US" altLang="zh-CN" i="1">
                <a:latin typeface="Times New Roman" panose="02020603050405020304" pitchFamily="18" charset="0"/>
              </a:rPr>
              <a:t>v</a:t>
            </a:r>
            <a:r>
              <a:rPr lang="en-US" altLang="zh-CN">
                <a:latin typeface="Times New Roman" panose="02020603050405020304" pitchFamily="18" charset="0"/>
              </a:rPr>
              <a:t>=</a:t>
            </a:r>
            <a:r>
              <a:rPr lang="en-US" altLang="zh-CN" i="1">
                <a:latin typeface="Times New Roman" panose="02020603050405020304" pitchFamily="18" charset="0"/>
              </a:rPr>
              <a:t>r</a:t>
            </a:r>
            <a:r>
              <a:rPr lang="zh-CN" altLang="en-US">
                <a:latin typeface="Times New Roman" panose="02020603050405020304" pitchFamily="18" charset="0"/>
              </a:rPr>
              <a:t>）。</a:t>
            </a:r>
          </a:p>
          <a:p>
            <a:pPr>
              <a:lnSpc>
                <a:spcPct val="80000"/>
              </a:lnSpc>
              <a:buFont typeface="Wingdings" panose="05000000000000000000" pitchFamily="2" charset="2"/>
              <a:buNone/>
            </a:pPr>
            <a:r>
              <a:rPr lang="en-US" altLang="zh-CN" b="1" i="1">
                <a:latin typeface="Times New Roman" panose="02020603050405020304" pitchFamily="18" charset="0"/>
              </a:rPr>
              <a:t>w</a:t>
            </a:r>
            <a:r>
              <a:rPr lang="en-US" altLang="zh-CN" b="1">
                <a:latin typeface="Times New Roman" panose="02020603050405020304" pitchFamily="18" charset="0"/>
              </a:rPr>
              <a:t>=</a:t>
            </a:r>
            <a:r>
              <a:rPr lang="en-US" altLang="zh-CN" b="1" i="1">
                <a:latin typeface="Times New Roman" panose="02020603050405020304" pitchFamily="18" charset="0"/>
              </a:rPr>
              <a:t>s</a:t>
            </a:r>
            <a:r>
              <a:rPr lang="en-US" altLang="zh-CN" b="1" baseline="30000">
                <a:latin typeface="Times New Roman" panose="02020603050405020304" pitchFamily="18" charset="0"/>
              </a:rPr>
              <a:t>-1</a:t>
            </a:r>
            <a:r>
              <a:rPr lang="en-US" altLang="zh-CN" b="1">
                <a:latin typeface="Times New Roman" panose="02020603050405020304" pitchFamily="18" charset="0"/>
              </a:rPr>
              <a:t>(mod</a:t>
            </a:r>
            <a:r>
              <a:rPr lang="en-US" altLang="zh-CN" b="1" i="1">
                <a:latin typeface="Times New Roman" panose="02020603050405020304" pitchFamily="18" charset="0"/>
              </a:rPr>
              <a:t>q</a:t>
            </a:r>
            <a:r>
              <a:rPr lang="en-US" altLang="zh-CN" b="1">
                <a:latin typeface="Times New Roman" panose="02020603050405020304" pitchFamily="18" charset="0"/>
              </a:rPr>
              <a:t>)=(</a:t>
            </a:r>
            <a:r>
              <a:rPr lang="en-US" altLang="zh-CN" b="1" i="1">
                <a:latin typeface="Times New Roman" panose="02020603050405020304" pitchFamily="18" charset="0"/>
              </a:rPr>
              <a:t>k</a:t>
            </a:r>
            <a:r>
              <a:rPr lang="en-US" altLang="zh-CN" b="1" baseline="30000">
                <a:latin typeface="Times New Roman" panose="02020603050405020304" pitchFamily="18" charset="0"/>
              </a:rPr>
              <a:t>-1</a:t>
            </a:r>
            <a:r>
              <a:rPr lang="en-US" altLang="zh-CN" b="1">
                <a:latin typeface="Times New Roman" panose="02020603050405020304" pitchFamily="18" charset="0"/>
              </a:rPr>
              <a:t>(</a:t>
            </a:r>
            <a:r>
              <a:rPr lang="en-US" altLang="zh-CN" b="1" i="1">
                <a:latin typeface="Times New Roman" panose="02020603050405020304" pitchFamily="18" charset="0"/>
              </a:rPr>
              <a:t>h</a:t>
            </a:r>
            <a:r>
              <a:rPr lang="en-US" altLang="zh-CN" b="1">
                <a:latin typeface="Times New Roman" panose="02020603050405020304" pitchFamily="18" charset="0"/>
              </a:rPr>
              <a:t>+</a:t>
            </a:r>
            <a:r>
              <a:rPr lang="en-US" altLang="zh-CN" b="1" i="1">
                <a:latin typeface="Times New Roman" panose="02020603050405020304" pitchFamily="18" charset="0"/>
              </a:rPr>
              <a:t>xr</a:t>
            </a:r>
            <a:r>
              <a:rPr lang="en-US" altLang="zh-CN" b="1">
                <a:latin typeface="Times New Roman" panose="02020603050405020304" pitchFamily="18" charset="0"/>
              </a:rPr>
              <a:t>))</a:t>
            </a:r>
            <a:r>
              <a:rPr lang="en-US" altLang="zh-CN" b="1" baseline="30000">
                <a:latin typeface="Times New Roman" panose="02020603050405020304" pitchFamily="18" charset="0"/>
              </a:rPr>
              <a:t>-1</a:t>
            </a:r>
            <a:r>
              <a:rPr lang="en-US" altLang="zh-CN" b="1">
                <a:latin typeface="Times New Roman" panose="02020603050405020304" pitchFamily="18" charset="0"/>
              </a:rPr>
              <a:t>(mod</a:t>
            </a:r>
            <a:r>
              <a:rPr lang="en-US" altLang="zh-CN" b="1" i="1">
                <a:latin typeface="Times New Roman" panose="02020603050405020304" pitchFamily="18" charset="0"/>
              </a:rPr>
              <a:t>q</a:t>
            </a:r>
            <a:r>
              <a:rPr lang="en-US" altLang="zh-CN" b="1">
                <a:latin typeface="Times New Roman" panose="02020603050405020304" pitchFamily="18" charset="0"/>
              </a:rPr>
              <a:t>)</a:t>
            </a:r>
          </a:p>
          <a:p>
            <a:pPr>
              <a:lnSpc>
                <a:spcPct val="80000"/>
              </a:lnSpc>
              <a:buFont typeface="Wingdings" panose="05000000000000000000" pitchFamily="2" charset="2"/>
              <a:buNone/>
            </a:pPr>
            <a:r>
              <a:rPr lang="en-US" altLang="zh-CN" b="1">
                <a:latin typeface="Times New Roman" panose="02020603050405020304" pitchFamily="18" charset="0"/>
              </a:rPr>
              <a:t>=</a:t>
            </a:r>
            <a:r>
              <a:rPr lang="en-US" altLang="zh-CN" b="1" i="1">
                <a:latin typeface="Times New Roman" panose="02020603050405020304" pitchFamily="18" charset="0"/>
              </a:rPr>
              <a:t>k</a:t>
            </a:r>
            <a:r>
              <a:rPr lang="en-US" altLang="zh-CN" b="1">
                <a:latin typeface="Times New Roman" panose="02020603050405020304" pitchFamily="18" charset="0"/>
              </a:rPr>
              <a:t>(</a:t>
            </a:r>
            <a:r>
              <a:rPr lang="en-US" altLang="zh-CN" b="1" i="1">
                <a:latin typeface="Times New Roman" panose="02020603050405020304" pitchFamily="18" charset="0"/>
              </a:rPr>
              <a:t>h</a:t>
            </a:r>
            <a:r>
              <a:rPr lang="en-US" altLang="zh-CN" b="1">
                <a:latin typeface="Times New Roman" panose="02020603050405020304" pitchFamily="18" charset="0"/>
              </a:rPr>
              <a:t>+</a:t>
            </a:r>
            <a:r>
              <a:rPr lang="en-US" altLang="zh-CN" b="1" i="1">
                <a:latin typeface="Times New Roman" panose="02020603050405020304" pitchFamily="18" charset="0"/>
              </a:rPr>
              <a:t>xr</a:t>
            </a:r>
            <a:r>
              <a:rPr lang="en-US" altLang="zh-CN" b="1">
                <a:latin typeface="Times New Roman" panose="02020603050405020304" pitchFamily="18" charset="0"/>
              </a:rPr>
              <a:t>)</a:t>
            </a:r>
            <a:r>
              <a:rPr lang="en-US" altLang="zh-CN" b="1" baseline="30000">
                <a:latin typeface="Times New Roman" panose="02020603050405020304" pitchFamily="18" charset="0"/>
              </a:rPr>
              <a:t>-1</a:t>
            </a:r>
            <a:r>
              <a:rPr lang="en-US" altLang="zh-CN" b="1">
                <a:latin typeface="Times New Roman" panose="02020603050405020304" pitchFamily="18" charset="0"/>
              </a:rPr>
              <a:t>(mod</a:t>
            </a:r>
            <a:r>
              <a:rPr lang="en-US" altLang="zh-CN" b="1" i="1">
                <a:latin typeface="Times New Roman" panose="02020603050405020304" pitchFamily="18" charset="0"/>
              </a:rPr>
              <a:t>q</a:t>
            </a:r>
            <a:r>
              <a:rPr lang="en-US" altLang="zh-CN" b="1">
                <a:latin typeface="Times New Roman" panose="02020603050405020304" pitchFamily="18" charset="0"/>
              </a:rPr>
              <a:t>) </a:t>
            </a:r>
            <a:r>
              <a:rPr lang="zh-CN" altLang="en-US" b="1">
                <a:latin typeface="Times New Roman" panose="02020603050405020304" pitchFamily="18" charset="0"/>
              </a:rPr>
              <a:t>。</a:t>
            </a:r>
          </a:p>
          <a:p>
            <a:pPr>
              <a:lnSpc>
                <a:spcPct val="80000"/>
              </a:lnSpc>
              <a:buFont typeface="Wingdings" panose="05000000000000000000" pitchFamily="2" charset="2"/>
              <a:buNone/>
            </a:pPr>
            <a:r>
              <a:rPr lang="en-US" altLang="zh-CN" b="1" i="1">
                <a:latin typeface="Times New Roman" panose="02020603050405020304" pitchFamily="18" charset="0"/>
              </a:rPr>
              <a:t>u</a:t>
            </a:r>
            <a:r>
              <a:rPr lang="en-US" altLang="zh-CN" b="1">
                <a:latin typeface="Times New Roman" panose="02020603050405020304" pitchFamily="18" charset="0"/>
              </a:rPr>
              <a:t>1=</a:t>
            </a:r>
            <a:r>
              <a:rPr lang="en-US" altLang="zh-CN" b="1" i="1">
                <a:latin typeface="Times New Roman" panose="02020603050405020304" pitchFamily="18" charset="0"/>
              </a:rPr>
              <a:t>hw</a:t>
            </a:r>
            <a:r>
              <a:rPr lang="en-US" altLang="zh-CN" b="1">
                <a:latin typeface="Times New Roman" panose="02020603050405020304" pitchFamily="18" charset="0"/>
              </a:rPr>
              <a:t>(mod</a:t>
            </a:r>
            <a:r>
              <a:rPr lang="en-US" altLang="zh-CN" b="1" i="1">
                <a:latin typeface="Times New Roman" panose="02020603050405020304" pitchFamily="18" charset="0"/>
              </a:rPr>
              <a:t>q</a:t>
            </a:r>
            <a:r>
              <a:rPr lang="en-US" altLang="zh-CN" b="1">
                <a:latin typeface="Times New Roman" panose="02020603050405020304" pitchFamily="18" charset="0"/>
              </a:rPr>
              <a:t>)=</a:t>
            </a:r>
            <a:r>
              <a:rPr lang="en-US" altLang="zh-CN" b="1" i="1">
                <a:latin typeface="Times New Roman" panose="02020603050405020304" pitchFamily="18" charset="0"/>
              </a:rPr>
              <a:t>hk</a:t>
            </a:r>
            <a:r>
              <a:rPr lang="en-US" altLang="zh-CN" b="1">
                <a:latin typeface="Times New Roman" panose="02020603050405020304" pitchFamily="18" charset="0"/>
              </a:rPr>
              <a:t>(</a:t>
            </a:r>
            <a:r>
              <a:rPr lang="en-US" altLang="zh-CN" b="1" i="1">
                <a:latin typeface="Times New Roman" panose="02020603050405020304" pitchFamily="18" charset="0"/>
              </a:rPr>
              <a:t>h</a:t>
            </a:r>
            <a:r>
              <a:rPr lang="en-US" altLang="zh-CN" b="1">
                <a:latin typeface="Times New Roman" panose="02020603050405020304" pitchFamily="18" charset="0"/>
              </a:rPr>
              <a:t>+</a:t>
            </a:r>
            <a:r>
              <a:rPr lang="en-US" altLang="zh-CN" b="1" i="1">
                <a:latin typeface="Times New Roman" panose="02020603050405020304" pitchFamily="18" charset="0"/>
              </a:rPr>
              <a:t>xr</a:t>
            </a:r>
            <a:r>
              <a:rPr lang="en-US" altLang="zh-CN" b="1">
                <a:latin typeface="Times New Roman" panose="02020603050405020304" pitchFamily="18" charset="0"/>
              </a:rPr>
              <a:t>)</a:t>
            </a:r>
            <a:r>
              <a:rPr lang="en-US" altLang="zh-CN" b="1" baseline="30000">
                <a:latin typeface="Times New Roman" panose="02020603050405020304" pitchFamily="18" charset="0"/>
              </a:rPr>
              <a:t>-1</a:t>
            </a:r>
            <a:r>
              <a:rPr lang="en-US" altLang="zh-CN" b="1">
                <a:latin typeface="Times New Roman" panose="02020603050405020304" pitchFamily="18" charset="0"/>
              </a:rPr>
              <a:t>(mod</a:t>
            </a:r>
            <a:r>
              <a:rPr lang="en-US" altLang="zh-CN" b="1" i="1">
                <a:latin typeface="Times New Roman" panose="02020603050405020304" pitchFamily="18" charset="0"/>
              </a:rPr>
              <a:t>q</a:t>
            </a:r>
            <a:r>
              <a:rPr lang="en-US" altLang="zh-CN" b="1">
                <a:latin typeface="Times New Roman" panose="02020603050405020304" pitchFamily="18" charset="0"/>
              </a:rPr>
              <a:t>) </a:t>
            </a:r>
            <a:r>
              <a:rPr lang="zh-CN" altLang="en-US" b="1">
                <a:latin typeface="Times New Roman" panose="02020603050405020304" pitchFamily="18" charset="0"/>
              </a:rPr>
              <a:t>。</a:t>
            </a:r>
          </a:p>
          <a:p>
            <a:pPr>
              <a:lnSpc>
                <a:spcPct val="80000"/>
              </a:lnSpc>
              <a:buFont typeface="Wingdings" panose="05000000000000000000" pitchFamily="2" charset="2"/>
              <a:buNone/>
            </a:pPr>
            <a:r>
              <a:rPr lang="en-US" altLang="zh-CN" b="1" i="1">
                <a:latin typeface="Times New Roman" panose="02020603050405020304" pitchFamily="18" charset="0"/>
              </a:rPr>
              <a:t>u</a:t>
            </a:r>
            <a:r>
              <a:rPr lang="en-US" altLang="zh-CN" b="1">
                <a:latin typeface="Times New Roman" panose="02020603050405020304" pitchFamily="18" charset="0"/>
              </a:rPr>
              <a:t>2=</a:t>
            </a:r>
            <a:r>
              <a:rPr lang="en-US" altLang="zh-CN" b="1" i="1">
                <a:latin typeface="Times New Roman" panose="02020603050405020304" pitchFamily="18" charset="0"/>
              </a:rPr>
              <a:t>rw</a:t>
            </a:r>
            <a:r>
              <a:rPr lang="en-US" altLang="zh-CN" b="1">
                <a:latin typeface="Times New Roman" panose="02020603050405020304" pitchFamily="18" charset="0"/>
              </a:rPr>
              <a:t>(mod</a:t>
            </a:r>
            <a:r>
              <a:rPr lang="en-US" altLang="zh-CN" b="1" i="1">
                <a:latin typeface="Times New Roman" panose="02020603050405020304" pitchFamily="18" charset="0"/>
              </a:rPr>
              <a:t>q</a:t>
            </a:r>
            <a:r>
              <a:rPr lang="en-US" altLang="zh-CN" b="1">
                <a:latin typeface="Times New Roman" panose="02020603050405020304" pitchFamily="18" charset="0"/>
              </a:rPr>
              <a:t>)=</a:t>
            </a:r>
            <a:r>
              <a:rPr lang="en-US" altLang="zh-CN" b="1" i="1">
                <a:latin typeface="Times New Roman" panose="02020603050405020304" pitchFamily="18" charset="0"/>
              </a:rPr>
              <a:t>rk</a:t>
            </a:r>
            <a:r>
              <a:rPr lang="en-US" altLang="zh-CN" b="1">
                <a:latin typeface="Times New Roman" panose="02020603050405020304" pitchFamily="18" charset="0"/>
              </a:rPr>
              <a:t>(</a:t>
            </a:r>
            <a:r>
              <a:rPr lang="en-US" altLang="zh-CN" b="1" i="1">
                <a:latin typeface="Times New Roman" panose="02020603050405020304" pitchFamily="18" charset="0"/>
              </a:rPr>
              <a:t>h</a:t>
            </a:r>
            <a:r>
              <a:rPr lang="en-US" altLang="zh-CN" b="1">
                <a:latin typeface="Times New Roman" panose="02020603050405020304" pitchFamily="18" charset="0"/>
              </a:rPr>
              <a:t>+</a:t>
            </a:r>
            <a:r>
              <a:rPr lang="en-US" altLang="zh-CN" b="1" i="1">
                <a:latin typeface="Times New Roman" panose="02020603050405020304" pitchFamily="18" charset="0"/>
              </a:rPr>
              <a:t>xr</a:t>
            </a:r>
            <a:r>
              <a:rPr lang="en-US" altLang="zh-CN" b="1">
                <a:latin typeface="Times New Roman" panose="02020603050405020304" pitchFamily="18" charset="0"/>
              </a:rPr>
              <a:t>)</a:t>
            </a:r>
            <a:r>
              <a:rPr lang="en-US" altLang="zh-CN" b="1" baseline="30000">
                <a:latin typeface="Times New Roman" panose="02020603050405020304" pitchFamily="18" charset="0"/>
              </a:rPr>
              <a:t>-1</a:t>
            </a:r>
            <a:r>
              <a:rPr lang="en-US" altLang="zh-CN" b="1">
                <a:latin typeface="Times New Roman" panose="02020603050405020304" pitchFamily="18" charset="0"/>
              </a:rPr>
              <a:t>(mod</a:t>
            </a:r>
            <a:r>
              <a:rPr lang="en-US" altLang="zh-CN" b="1" i="1">
                <a:latin typeface="Times New Roman" panose="02020603050405020304" pitchFamily="18" charset="0"/>
              </a:rPr>
              <a:t>q</a:t>
            </a:r>
            <a:r>
              <a:rPr lang="en-US" altLang="zh-CN" b="1">
                <a:latin typeface="Times New Roman" panose="02020603050405020304" pitchFamily="18" charset="0"/>
              </a:rPr>
              <a:t>) </a:t>
            </a:r>
            <a:r>
              <a:rPr lang="zh-CN" altLang="en-US" b="1">
                <a:latin typeface="Times New Roman" panose="02020603050405020304" pitchFamily="18" charset="0"/>
              </a:rPr>
              <a:t>。</a:t>
            </a:r>
          </a:p>
          <a:p>
            <a:pPr>
              <a:lnSpc>
                <a:spcPct val="80000"/>
              </a:lnSpc>
              <a:buFont typeface="Wingdings" panose="05000000000000000000" pitchFamily="2" charset="2"/>
              <a:buNone/>
            </a:pPr>
            <a:r>
              <a:rPr lang="zh-CN" altLang="en-US">
                <a:latin typeface="Times New Roman" panose="02020603050405020304" pitchFamily="18" charset="0"/>
              </a:rPr>
              <a:t>所以</a:t>
            </a:r>
          </a:p>
          <a:p>
            <a:pPr>
              <a:lnSpc>
                <a:spcPct val="80000"/>
              </a:lnSpc>
              <a:buFont typeface="Wingdings" panose="05000000000000000000" pitchFamily="2" charset="2"/>
              <a:buNone/>
            </a:pPr>
            <a:r>
              <a:rPr lang="en-US" altLang="zh-CN" b="1" i="1">
                <a:latin typeface="Times New Roman" panose="02020603050405020304" pitchFamily="18" charset="0"/>
              </a:rPr>
              <a:t>u</a:t>
            </a:r>
            <a:r>
              <a:rPr lang="en-US" altLang="zh-CN" b="1">
                <a:latin typeface="Times New Roman" panose="02020603050405020304" pitchFamily="18" charset="0"/>
              </a:rPr>
              <a:t>1+</a:t>
            </a:r>
            <a:r>
              <a:rPr lang="en-US" altLang="zh-CN" b="1" i="1">
                <a:latin typeface="Times New Roman" panose="02020603050405020304" pitchFamily="18" charset="0"/>
              </a:rPr>
              <a:t>xu</a:t>
            </a:r>
            <a:r>
              <a:rPr lang="en-US" altLang="zh-CN" b="1">
                <a:latin typeface="Times New Roman" panose="02020603050405020304" pitchFamily="18" charset="0"/>
              </a:rPr>
              <a:t>2(mod</a:t>
            </a:r>
            <a:r>
              <a:rPr lang="en-US" altLang="zh-CN" b="1" i="1">
                <a:latin typeface="Times New Roman" panose="02020603050405020304" pitchFamily="18" charset="0"/>
              </a:rPr>
              <a:t>q</a:t>
            </a:r>
            <a:r>
              <a:rPr lang="en-US" altLang="zh-CN" b="1">
                <a:latin typeface="Times New Roman" panose="02020603050405020304" pitchFamily="18" charset="0"/>
              </a:rPr>
              <a:t>)= </a:t>
            </a:r>
            <a:r>
              <a:rPr lang="en-US" altLang="zh-CN" b="1" i="1">
                <a:latin typeface="Times New Roman" panose="02020603050405020304" pitchFamily="18" charset="0"/>
              </a:rPr>
              <a:t>hk</a:t>
            </a:r>
            <a:r>
              <a:rPr lang="en-US" altLang="zh-CN" b="1">
                <a:latin typeface="Times New Roman" panose="02020603050405020304" pitchFamily="18" charset="0"/>
              </a:rPr>
              <a:t>(</a:t>
            </a:r>
            <a:r>
              <a:rPr lang="en-US" altLang="zh-CN" b="1" i="1">
                <a:latin typeface="Times New Roman" panose="02020603050405020304" pitchFamily="18" charset="0"/>
              </a:rPr>
              <a:t>h</a:t>
            </a:r>
            <a:r>
              <a:rPr lang="en-US" altLang="zh-CN" b="1">
                <a:latin typeface="Times New Roman" panose="02020603050405020304" pitchFamily="18" charset="0"/>
              </a:rPr>
              <a:t>+</a:t>
            </a:r>
            <a:r>
              <a:rPr lang="en-US" altLang="zh-CN" b="1" i="1">
                <a:latin typeface="Times New Roman" panose="02020603050405020304" pitchFamily="18" charset="0"/>
              </a:rPr>
              <a:t>xr</a:t>
            </a:r>
            <a:r>
              <a:rPr lang="en-US" altLang="zh-CN" b="1">
                <a:latin typeface="Times New Roman" panose="02020603050405020304" pitchFamily="18" charset="0"/>
              </a:rPr>
              <a:t>)</a:t>
            </a:r>
            <a:r>
              <a:rPr lang="en-US" altLang="zh-CN" b="1" baseline="30000">
                <a:latin typeface="Times New Roman" panose="02020603050405020304" pitchFamily="18" charset="0"/>
              </a:rPr>
              <a:t>-1</a:t>
            </a:r>
            <a:r>
              <a:rPr lang="en-US" altLang="zh-CN" b="1">
                <a:latin typeface="Times New Roman" panose="02020603050405020304" pitchFamily="18" charset="0"/>
              </a:rPr>
              <a:t>+</a:t>
            </a:r>
            <a:r>
              <a:rPr lang="en-US" altLang="zh-CN" b="1" i="1">
                <a:latin typeface="Times New Roman" panose="02020603050405020304" pitchFamily="18" charset="0"/>
              </a:rPr>
              <a:t>xrk</a:t>
            </a:r>
            <a:r>
              <a:rPr lang="en-US" altLang="zh-CN" b="1">
                <a:latin typeface="Times New Roman" panose="02020603050405020304" pitchFamily="18" charset="0"/>
              </a:rPr>
              <a:t>(</a:t>
            </a:r>
            <a:r>
              <a:rPr lang="en-US" altLang="zh-CN" b="1" i="1">
                <a:latin typeface="Times New Roman" panose="02020603050405020304" pitchFamily="18" charset="0"/>
              </a:rPr>
              <a:t>h</a:t>
            </a:r>
            <a:r>
              <a:rPr lang="en-US" altLang="zh-CN" b="1">
                <a:latin typeface="Times New Roman" panose="02020603050405020304" pitchFamily="18" charset="0"/>
              </a:rPr>
              <a:t>+</a:t>
            </a:r>
            <a:r>
              <a:rPr lang="en-US" altLang="zh-CN" b="1" i="1">
                <a:latin typeface="Times New Roman" panose="02020603050405020304" pitchFamily="18" charset="0"/>
              </a:rPr>
              <a:t>xr</a:t>
            </a:r>
            <a:r>
              <a:rPr lang="en-US" altLang="zh-CN" b="1">
                <a:latin typeface="Times New Roman" panose="02020603050405020304" pitchFamily="18" charset="0"/>
              </a:rPr>
              <a:t>)</a:t>
            </a:r>
            <a:r>
              <a:rPr lang="en-US" altLang="zh-CN" b="1" baseline="30000">
                <a:latin typeface="Times New Roman" panose="02020603050405020304" pitchFamily="18" charset="0"/>
              </a:rPr>
              <a:t>-1</a:t>
            </a:r>
            <a:r>
              <a:rPr lang="en-US" altLang="zh-CN" b="1">
                <a:latin typeface="Times New Roman" panose="02020603050405020304" pitchFamily="18" charset="0"/>
              </a:rPr>
              <a:t>(mod</a:t>
            </a:r>
            <a:r>
              <a:rPr lang="en-US" altLang="zh-CN" b="1" i="1">
                <a:latin typeface="Times New Roman" panose="02020603050405020304" pitchFamily="18" charset="0"/>
              </a:rPr>
              <a:t>q</a:t>
            </a:r>
            <a:r>
              <a:rPr lang="en-US" altLang="zh-CN" b="1">
                <a:latin typeface="Times New Roman" panose="02020603050405020304" pitchFamily="18" charset="0"/>
              </a:rPr>
              <a:t>)</a:t>
            </a:r>
          </a:p>
          <a:p>
            <a:pPr>
              <a:lnSpc>
                <a:spcPct val="80000"/>
              </a:lnSpc>
              <a:buFont typeface="Wingdings" panose="05000000000000000000" pitchFamily="2" charset="2"/>
              <a:buNone/>
            </a:pPr>
            <a:r>
              <a:rPr lang="en-US" altLang="zh-CN" b="1">
                <a:latin typeface="Times New Roman" panose="02020603050405020304" pitchFamily="18" charset="0"/>
              </a:rPr>
              <a:t>=(</a:t>
            </a:r>
            <a:r>
              <a:rPr lang="en-US" altLang="zh-CN" b="1" i="1">
                <a:latin typeface="Times New Roman" panose="02020603050405020304" pitchFamily="18" charset="0"/>
              </a:rPr>
              <a:t>h</a:t>
            </a:r>
            <a:r>
              <a:rPr lang="en-US" altLang="zh-CN" b="1">
                <a:latin typeface="Times New Roman" panose="02020603050405020304" pitchFamily="18" charset="0"/>
              </a:rPr>
              <a:t>+</a:t>
            </a:r>
            <a:r>
              <a:rPr lang="en-US" altLang="zh-CN" b="1" i="1">
                <a:latin typeface="Times New Roman" panose="02020603050405020304" pitchFamily="18" charset="0"/>
              </a:rPr>
              <a:t>xr</a:t>
            </a:r>
            <a:r>
              <a:rPr lang="en-US" altLang="zh-CN" b="1">
                <a:latin typeface="Times New Roman" panose="02020603050405020304" pitchFamily="18" charset="0"/>
              </a:rPr>
              <a:t>)</a:t>
            </a:r>
            <a:r>
              <a:rPr lang="en-US" altLang="zh-CN" b="1" i="1">
                <a:latin typeface="Times New Roman" panose="02020603050405020304" pitchFamily="18" charset="0"/>
              </a:rPr>
              <a:t>k</a:t>
            </a:r>
            <a:r>
              <a:rPr lang="en-US" altLang="zh-CN" b="1">
                <a:latin typeface="Times New Roman" panose="02020603050405020304" pitchFamily="18" charset="0"/>
              </a:rPr>
              <a:t>(</a:t>
            </a:r>
            <a:r>
              <a:rPr lang="en-US" altLang="zh-CN" b="1" i="1">
                <a:latin typeface="Times New Roman" panose="02020603050405020304" pitchFamily="18" charset="0"/>
              </a:rPr>
              <a:t>h</a:t>
            </a:r>
            <a:r>
              <a:rPr lang="en-US" altLang="zh-CN" b="1">
                <a:latin typeface="Times New Roman" panose="02020603050405020304" pitchFamily="18" charset="0"/>
              </a:rPr>
              <a:t>+</a:t>
            </a:r>
            <a:r>
              <a:rPr lang="en-US" altLang="zh-CN" b="1" i="1">
                <a:latin typeface="Times New Roman" panose="02020603050405020304" pitchFamily="18" charset="0"/>
              </a:rPr>
              <a:t>xr</a:t>
            </a:r>
            <a:r>
              <a:rPr lang="en-US" altLang="zh-CN" b="1">
                <a:latin typeface="Times New Roman" panose="02020603050405020304" pitchFamily="18" charset="0"/>
              </a:rPr>
              <a:t>)</a:t>
            </a:r>
            <a:r>
              <a:rPr lang="en-US" altLang="zh-CN" b="1" baseline="30000">
                <a:latin typeface="Times New Roman" panose="02020603050405020304" pitchFamily="18" charset="0"/>
              </a:rPr>
              <a:t>-1</a:t>
            </a:r>
            <a:r>
              <a:rPr lang="en-US" altLang="zh-CN" b="1">
                <a:latin typeface="Times New Roman" panose="02020603050405020304" pitchFamily="18" charset="0"/>
              </a:rPr>
              <a:t>(mod</a:t>
            </a:r>
            <a:r>
              <a:rPr lang="en-US" altLang="zh-CN" b="1" i="1">
                <a:latin typeface="Times New Roman" panose="02020603050405020304" pitchFamily="18" charset="0"/>
              </a:rPr>
              <a:t>q</a:t>
            </a:r>
            <a:r>
              <a:rPr lang="en-US" altLang="zh-CN" b="1">
                <a:latin typeface="Times New Roman" panose="02020603050405020304" pitchFamily="18" charset="0"/>
              </a:rPr>
              <a:t>)=</a:t>
            </a:r>
            <a:r>
              <a:rPr lang="en-US" altLang="zh-CN" b="1" i="1">
                <a:latin typeface="Times New Roman" panose="02020603050405020304" pitchFamily="18" charset="0"/>
              </a:rPr>
              <a:t>k</a:t>
            </a:r>
            <a:r>
              <a:rPr lang="zh-CN" altLang="en-US" b="1">
                <a:latin typeface="Times New Roman" panose="02020603050405020304" pitchFamily="18" charset="0"/>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0" name="灯片编号占位符 4">
            <a:extLst>
              <a:ext uri="{FF2B5EF4-FFF2-40B4-BE49-F238E27FC236}">
                <a16:creationId xmlns:a16="http://schemas.microsoft.com/office/drawing/2014/main" id="{00F8E719-5590-0DE8-931E-F0D43F26D96C}"/>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95DF1CF1-A8D0-49F4-9399-F03F8FF660E3}" type="slidenum">
              <a:rPr lang="zh-CN" altLang="en-US" sz="1400" smtClean="0"/>
              <a:pPr eaLnBrk="0" hangingPunct="0">
                <a:spcBef>
                  <a:spcPct val="0"/>
                </a:spcBef>
                <a:buClrTx/>
                <a:buSzTx/>
                <a:buFontTx/>
                <a:buNone/>
              </a:pPr>
              <a:t>42</a:t>
            </a:fld>
            <a:endParaRPr lang="en-US" altLang="zh-CN" sz="1400"/>
          </a:p>
        </p:txBody>
      </p:sp>
      <p:sp>
        <p:nvSpPr>
          <p:cNvPr id="68611" name="Rectangle 2">
            <a:extLst>
              <a:ext uri="{FF2B5EF4-FFF2-40B4-BE49-F238E27FC236}">
                <a16:creationId xmlns:a16="http://schemas.microsoft.com/office/drawing/2014/main" id="{5B797195-BC66-3EAD-4810-87404AFC1C1F}"/>
              </a:ext>
            </a:extLst>
          </p:cNvPr>
          <p:cNvSpPr>
            <a:spLocks noGrp="1" noChangeArrowheads="1"/>
          </p:cNvSpPr>
          <p:nvPr>
            <p:ph type="title"/>
          </p:nvPr>
        </p:nvSpPr>
        <p:spPr/>
        <p:txBody>
          <a:bodyPr/>
          <a:lstStyle/>
          <a:p>
            <a:r>
              <a:rPr lang="zh-CN" altLang="en-US" b="1"/>
              <a:t>三、几种常用的数字签名</a:t>
            </a:r>
          </a:p>
        </p:txBody>
      </p:sp>
      <p:sp>
        <p:nvSpPr>
          <p:cNvPr id="68612" name="Rectangle 3">
            <a:extLst>
              <a:ext uri="{FF2B5EF4-FFF2-40B4-BE49-F238E27FC236}">
                <a16:creationId xmlns:a16="http://schemas.microsoft.com/office/drawing/2014/main" id="{0ECDA582-3E60-63FB-66B6-E98D3AB5CB53}"/>
              </a:ext>
            </a:extLst>
          </p:cNvPr>
          <p:cNvSpPr>
            <a:spLocks noGrp="1" noChangeArrowheads="1"/>
          </p:cNvSpPr>
          <p:nvPr>
            <p:ph type="body" idx="1"/>
          </p:nvPr>
        </p:nvSpPr>
        <p:spPr>
          <a:xfrm>
            <a:off x="395288" y="2017713"/>
            <a:ext cx="8559800" cy="4114800"/>
          </a:xfrm>
        </p:spPr>
        <p:txBody>
          <a:bodyPr/>
          <a:lstStyle/>
          <a:p>
            <a:pPr>
              <a:buFont typeface="Wingdings" panose="05000000000000000000" pitchFamily="2" charset="2"/>
              <a:buNone/>
            </a:pPr>
            <a:r>
              <a:rPr lang="zh-CN" altLang="en-US">
                <a:latin typeface="Times New Roman" panose="02020603050405020304" pitchFamily="18" charset="0"/>
              </a:rPr>
              <a:t>所以：</a:t>
            </a:r>
          </a:p>
          <a:p>
            <a:pPr>
              <a:buFont typeface="Wingdings" panose="05000000000000000000" pitchFamily="2" charset="2"/>
              <a:buNone/>
            </a:pPr>
            <a:r>
              <a:rPr lang="en-US" altLang="zh-CN" b="1" i="1">
                <a:latin typeface="Times New Roman" panose="02020603050405020304" pitchFamily="18" charset="0"/>
              </a:rPr>
              <a:t>v</a:t>
            </a:r>
            <a:r>
              <a:rPr lang="en-US" altLang="zh-CN" b="1">
                <a:latin typeface="Times New Roman" panose="02020603050405020304" pitchFamily="18" charset="0"/>
              </a:rPr>
              <a:t>=(</a:t>
            </a:r>
            <a:r>
              <a:rPr lang="en-US" altLang="zh-CN" b="1" i="1">
                <a:latin typeface="Times New Roman" panose="02020603050405020304" pitchFamily="18" charset="0"/>
              </a:rPr>
              <a:t>g</a:t>
            </a:r>
            <a:r>
              <a:rPr lang="en-US" altLang="zh-CN" b="1" i="1" baseline="30000">
                <a:latin typeface="Times New Roman" panose="02020603050405020304" pitchFamily="18" charset="0"/>
              </a:rPr>
              <a:t>u</a:t>
            </a:r>
            <a:r>
              <a:rPr lang="en-US" altLang="zh-CN" b="1" baseline="30000">
                <a:latin typeface="Times New Roman" panose="02020603050405020304" pitchFamily="18" charset="0"/>
              </a:rPr>
              <a:t>1</a:t>
            </a:r>
            <a:r>
              <a:rPr lang="en-US" altLang="zh-CN" b="1" i="1">
                <a:latin typeface="Times New Roman" panose="02020603050405020304" pitchFamily="18" charset="0"/>
              </a:rPr>
              <a:t>y</a:t>
            </a:r>
            <a:r>
              <a:rPr lang="en-US" altLang="zh-CN" b="1" i="1" baseline="30000">
                <a:latin typeface="Times New Roman" panose="02020603050405020304" pitchFamily="18" charset="0"/>
              </a:rPr>
              <a:t>u</a:t>
            </a:r>
            <a:r>
              <a:rPr lang="en-US" altLang="zh-CN" b="1" baseline="30000">
                <a:latin typeface="Times New Roman" panose="02020603050405020304" pitchFamily="18" charset="0"/>
              </a:rPr>
              <a:t>2</a:t>
            </a:r>
            <a:r>
              <a:rPr lang="en-US" altLang="zh-CN" b="1">
                <a:latin typeface="Times New Roman" panose="02020603050405020304" pitchFamily="18" charset="0"/>
              </a:rPr>
              <a:t>(mod</a:t>
            </a:r>
            <a:r>
              <a:rPr lang="en-US" altLang="zh-CN" b="1" i="1">
                <a:latin typeface="Times New Roman" panose="02020603050405020304" pitchFamily="18" charset="0"/>
              </a:rPr>
              <a:t>p</a:t>
            </a:r>
            <a:r>
              <a:rPr lang="en-US" altLang="zh-CN" b="1">
                <a:latin typeface="Times New Roman" panose="02020603050405020304" pitchFamily="18" charset="0"/>
              </a:rPr>
              <a:t>))(mod</a:t>
            </a:r>
            <a:r>
              <a:rPr lang="en-US" altLang="zh-CN" b="1" i="1">
                <a:latin typeface="Times New Roman" panose="02020603050405020304" pitchFamily="18" charset="0"/>
              </a:rPr>
              <a:t>q</a:t>
            </a:r>
            <a:r>
              <a:rPr lang="en-US" altLang="zh-CN" b="1">
                <a:latin typeface="Times New Roman" panose="02020603050405020304" pitchFamily="18" charset="0"/>
              </a:rPr>
              <a:t>)</a:t>
            </a:r>
          </a:p>
          <a:p>
            <a:pPr>
              <a:buFont typeface="Wingdings" panose="05000000000000000000" pitchFamily="2" charset="2"/>
              <a:buNone/>
            </a:pPr>
            <a:r>
              <a:rPr lang="en-US" altLang="zh-CN" b="1">
                <a:latin typeface="Times New Roman" panose="02020603050405020304" pitchFamily="18" charset="0"/>
              </a:rPr>
              <a:t>=(</a:t>
            </a:r>
            <a:r>
              <a:rPr lang="en-US" altLang="zh-CN" b="1" i="1">
                <a:latin typeface="Times New Roman" panose="02020603050405020304" pitchFamily="18" charset="0"/>
              </a:rPr>
              <a:t>g</a:t>
            </a:r>
            <a:r>
              <a:rPr lang="en-US" altLang="zh-CN" b="1" i="1" baseline="30000">
                <a:latin typeface="Times New Roman" panose="02020603050405020304" pitchFamily="18" charset="0"/>
              </a:rPr>
              <a:t>u</a:t>
            </a:r>
            <a:r>
              <a:rPr lang="en-US" altLang="zh-CN" b="1" baseline="30000">
                <a:latin typeface="Times New Roman" panose="02020603050405020304" pitchFamily="18" charset="0"/>
              </a:rPr>
              <a:t>1</a:t>
            </a:r>
            <a:r>
              <a:rPr lang="en-US" altLang="zh-CN" b="1" i="1">
                <a:latin typeface="Times New Roman" panose="02020603050405020304" pitchFamily="18" charset="0"/>
              </a:rPr>
              <a:t>g</a:t>
            </a:r>
            <a:r>
              <a:rPr lang="en-US" altLang="zh-CN" b="1" i="1" baseline="30000">
                <a:latin typeface="Times New Roman" panose="02020603050405020304" pitchFamily="18" charset="0"/>
              </a:rPr>
              <a:t>xu</a:t>
            </a:r>
            <a:r>
              <a:rPr lang="en-US" altLang="zh-CN" b="1" baseline="30000">
                <a:latin typeface="Times New Roman" panose="02020603050405020304" pitchFamily="18" charset="0"/>
              </a:rPr>
              <a:t>2</a:t>
            </a:r>
            <a:r>
              <a:rPr lang="en-US" altLang="zh-CN" b="1">
                <a:latin typeface="Times New Roman" panose="02020603050405020304" pitchFamily="18" charset="0"/>
              </a:rPr>
              <a:t>(mod</a:t>
            </a:r>
            <a:r>
              <a:rPr lang="en-US" altLang="zh-CN" b="1" i="1">
                <a:latin typeface="Times New Roman" panose="02020603050405020304" pitchFamily="18" charset="0"/>
              </a:rPr>
              <a:t>p</a:t>
            </a:r>
            <a:r>
              <a:rPr lang="en-US" altLang="zh-CN" b="1">
                <a:latin typeface="Times New Roman" panose="02020603050405020304" pitchFamily="18" charset="0"/>
              </a:rPr>
              <a:t>))(mod</a:t>
            </a:r>
            <a:r>
              <a:rPr lang="en-US" altLang="zh-CN" b="1" i="1">
                <a:latin typeface="Times New Roman" panose="02020603050405020304" pitchFamily="18" charset="0"/>
              </a:rPr>
              <a:t>q</a:t>
            </a:r>
            <a:r>
              <a:rPr lang="en-US" altLang="zh-CN" b="1">
                <a:latin typeface="Times New Roman" panose="02020603050405020304" pitchFamily="18" charset="0"/>
              </a:rPr>
              <a:t>)</a:t>
            </a:r>
          </a:p>
          <a:p>
            <a:pPr>
              <a:buFont typeface="Wingdings" panose="05000000000000000000" pitchFamily="2" charset="2"/>
              <a:buNone/>
            </a:pPr>
            <a:r>
              <a:rPr lang="en-US" altLang="zh-CN" b="1">
                <a:latin typeface="Times New Roman" panose="02020603050405020304" pitchFamily="18" charset="0"/>
              </a:rPr>
              <a:t>=(</a:t>
            </a:r>
            <a:r>
              <a:rPr lang="en-US" altLang="zh-CN" b="1" i="1">
                <a:latin typeface="Times New Roman" panose="02020603050405020304" pitchFamily="18" charset="0"/>
              </a:rPr>
              <a:t>g</a:t>
            </a:r>
            <a:r>
              <a:rPr lang="en-US" altLang="zh-CN" b="1" i="1" baseline="30000">
                <a:latin typeface="Times New Roman" panose="02020603050405020304" pitchFamily="18" charset="0"/>
              </a:rPr>
              <a:t>u</a:t>
            </a:r>
            <a:r>
              <a:rPr lang="en-US" altLang="zh-CN" b="1" baseline="30000">
                <a:latin typeface="Times New Roman" panose="02020603050405020304" pitchFamily="18" charset="0"/>
              </a:rPr>
              <a:t>1+</a:t>
            </a:r>
            <a:r>
              <a:rPr lang="en-US" altLang="zh-CN" b="1" i="1" baseline="30000">
                <a:latin typeface="Times New Roman" panose="02020603050405020304" pitchFamily="18" charset="0"/>
              </a:rPr>
              <a:t>xu</a:t>
            </a:r>
            <a:r>
              <a:rPr lang="en-US" altLang="zh-CN" b="1" baseline="30000">
                <a:latin typeface="Times New Roman" panose="02020603050405020304" pitchFamily="18" charset="0"/>
              </a:rPr>
              <a:t>2</a:t>
            </a:r>
            <a:r>
              <a:rPr lang="en-US" altLang="zh-CN" b="1">
                <a:latin typeface="Times New Roman" panose="02020603050405020304" pitchFamily="18" charset="0"/>
              </a:rPr>
              <a:t>(mod</a:t>
            </a:r>
            <a:r>
              <a:rPr lang="en-US" altLang="zh-CN" b="1" i="1">
                <a:latin typeface="Times New Roman" panose="02020603050405020304" pitchFamily="18" charset="0"/>
              </a:rPr>
              <a:t>p</a:t>
            </a:r>
            <a:r>
              <a:rPr lang="en-US" altLang="zh-CN" b="1">
                <a:latin typeface="Times New Roman" panose="02020603050405020304" pitchFamily="18" charset="0"/>
              </a:rPr>
              <a:t>))(mod</a:t>
            </a:r>
            <a:r>
              <a:rPr lang="en-US" altLang="zh-CN" b="1" i="1">
                <a:latin typeface="Times New Roman" panose="02020603050405020304" pitchFamily="18" charset="0"/>
              </a:rPr>
              <a:t>q</a:t>
            </a:r>
            <a:r>
              <a:rPr lang="en-US" altLang="zh-CN" b="1">
                <a:latin typeface="Times New Roman" panose="02020603050405020304" pitchFamily="18" charset="0"/>
              </a:rPr>
              <a:t>)</a:t>
            </a:r>
          </a:p>
          <a:p>
            <a:pPr>
              <a:buFont typeface="Wingdings" panose="05000000000000000000" pitchFamily="2" charset="2"/>
              <a:buNone/>
            </a:pPr>
            <a:r>
              <a:rPr lang="en-US" altLang="zh-CN" b="1">
                <a:latin typeface="Times New Roman" panose="02020603050405020304" pitchFamily="18" charset="0"/>
              </a:rPr>
              <a:t>=(</a:t>
            </a:r>
            <a:r>
              <a:rPr lang="en-US" altLang="zh-CN" b="1" i="1">
                <a:latin typeface="Times New Roman" panose="02020603050405020304" pitchFamily="18" charset="0"/>
              </a:rPr>
              <a:t>g</a:t>
            </a:r>
            <a:r>
              <a:rPr lang="en-US" altLang="zh-CN" b="1" i="1" baseline="30000">
                <a:latin typeface="Times New Roman" panose="02020603050405020304" pitchFamily="18" charset="0"/>
              </a:rPr>
              <a:t>u</a:t>
            </a:r>
            <a:r>
              <a:rPr lang="en-US" altLang="zh-CN" b="1" baseline="30000">
                <a:latin typeface="Times New Roman" panose="02020603050405020304" pitchFamily="18" charset="0"/>
              </a:rPr>
              <a:t>1+</a:t>
            </a:r>
            <a:r>
              <a:rPr lang="en-US" altLang="zh-CN" b="1" i="1" baseline="30000">
                <a:latin typeface="Times New Roman" panose="02020603050405020304" pitchFamily="18" charset="0"/>
              </a:rPr>
              <a:t>xu</a:t>
            </a:r>
            <a:r>
              <a:rPr lang="en-US" altLang="zh-CN" b="1" baseline="30000">
                <a:latin typeface="Times New Roman" panose="02020603050405020304" pitchFamily="18" charset="0"/>
              </a:rPr>
              <a:t>2(mod</a:t>
            </a:r>
            <a:r>
              <a:rPr lang="en-US" altLang="zh-CN" b="1" i="1" baseline="30000">
                <a:latin typeface="Times New Roman" panose="02020603050405020304" pitchFamily="18" charset="0"/>
              </a:rPr>
              <a:t>q</a:t>
            </a:r>
            <a:r>
              <a:rPr lang="en-US" altLang="zh-CN" b="1" baseline="30000">
                <a:latin typeface="Times New Roman" panose="02020603050405020304" pitchFamily="18" charset="0"/>
              </a:rPr>
              <a:t>)</a:t>
            </a:r>
            <a:r>
              <a:rPr lang="en-US" altLang="zh-CN" b="1">
                <a:latin typeface="Times New Roman" panose="02020603050405020304" pitchFamily="18" charset="0"/>
              </a:rPr>
              <a:t>(mod</a:t>
            </a:r>
            <a:r>
              <a:rPr lang="en-US" altLang="zh-CN" b="1" i="1">
                <a:latin typeface="Times New Roman" panose="02020603050405020304" pitchFamily="18" charset="0"/>
              </a:rPr>
              <a:t>p</a:t>
            </a:r>
            <a:r>
              <a:rPr lang="en-US" altLang="zh-CN" b="1">
                <a:latin typeface="Times New Roman" panose="02020603050405020304" pitchFamily="18" charset="0"/>
              </a:rPr>
              <a:t>))(mod</a:t>
            </a:r>
            <a:r>
              <a:rPr lang="en-US" altLang="zh-CN" b="1" i="1">
                <a:latin typeface="Times New Roman" panose="02020603050405020304" pitchFamily="18" charset="0"/>
              </a:rPr>
              <a:t>q</a:t>
            </a:r>
            <a:r>
              <a:rPr lang="en-US" altLang="zh-CN" b="1">
                <a:latin typeface="Times New Roman" panose="02020603050405020304" pitchFamily="18" charset="0"/>
              </a:rPr>
              <a:t>)</a:t>
            </a:r>
          </a:p>
          <a:p>
            <a:pPr>
              <a:buFont typeface="Wingdings" panose="05000000000000000000" pitchFamily="2" charset="2"/>
              <a:buNone/>
            </a:pPr>
            <a:r>
              <a:rPr lang="en-US" altLang="zh-CN" b="1">
                <a:latin typeface="Times New Roman" panose="02020603050405020304" pitchFamily="18" charset="0"/>
              </a:rPr>
              <a:t>=(</a:t>
            </a:r>
            <a:r>
              <a:rPr lang="en-US" altLang="zh-CN" b="1" i="1">
                <a:latin typeface="Times New Roman" panose="02020603050405020304" pitchFamily="18" charset="0"/>
              </a:rPr>
              <a:t>g</a:t>
            </a:r>
            <a:r>
              <a:rPr lang="en-US" altLang="zh-CN" b="1" i="1" baseline="30000">
                <a:latin typeface="Times New Roman" panose="02020603050405020304" pitchFamily="18" charset="0"/>
              </a:rPr>
              <a:t>k</a:t>
            </a:r>
            <a:r>
              <a:rPr lang="en-US" altLang="zh-CN" b="1">
                <a:latin typeface="Times New Roman" panose="02020603050405020304" pitchFamily="18" charset="0"/>
              </a:rPr>
              <a:t>(mod</a:t>
            </a:r>
            <a:r>
              <a:rPr lang="en-US" altLang="zh-CN" b="1" i="1">
                <a:latin typeface="Times New Roman" panose="02020603050405020304" pitchFamily="18" charset="0"/>
              </a:rPr>
              <a:t>p</a:t>
            </a:r>
            <a:r>
              <a:rPr lang="en-US" altLang="zh-CN" b="1">
                <a:latin typeface="Times New Roman" panose="02020603050405020304" pitchFamily="18" charset="0"/>
              </a:rPr>
              <a:t>))(mod</a:t>
            </a:r>
            <a:r>
              <a:rPr lang="en-US" altLang="zh-CN" b="1" i="1">
                <a:latin typeface="Times New Roman" panose="02020603050405020304" pitchFamily="18" charset="0"/>
              </a:rPr>
              <a:t>q</a:t>
            </a:r>
            <a:r>
              <a:rPr lang="en-US" altLang="zh-CN" b="1">
                <a:latin typeface="Times New Roman" panose="02020603050405020304" pitchFamily="18" charset="0"/>
              </a:rPr>
              <a:t>)</a:t>
            </a:r>
          </a:p>
          <a:p>
            <a:pPr>
              <a:buFont typeface="Wingdings" panose="05000000000000000000" pitchFamily="2" charset="2"/>
              <a:buNone/>
            </a:pPr>
            <a:r>
              <a:rPr lang="en-US" altLang="zh-CN" b="1">
                <a:latin typeface="Times New Roman" panose="02020603050405020304" pitchFamily="18" charset="0"/>
              </a:rPr>
              <a:t>=</a:t>
            </a:r>
            <a:r>
              <a:rPr lang="en-US" altLang="zh-CN" b="1" i="1">
                <a:latin typeface="Times New Roman" panose="02020603050405020304" pitchFamily="18" charset="0"/>
              </a:rPr>
              <a:t>r</a:t>
            </a:r>
            <a:r>
              <a:rPr lang="zh-CN" altLang="en-US" b="1">
                <a:latin typeface="Times New Roman" panose="02020603050405020304" pitchFamily="18" charset="0"/>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4" name="灯片编号占位符 4">
            <a:extLst>
              <a:ext uri="{FF2B5EF4-FFF2-40B4-BE49-F238E27FC236}">
                <a16:creationId xmlns:a16="http://schemas.microsoft.com/office/drawing/2014/main" id="{333039A5-78AD-C6CD-0E5C-98C03ED20FB5}"/>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29BCC399-0989-4FBE-85FB-26D062894848}" type="slidenum">
              <a:rPr lang="zh-CN" altLang="en-US" sz="1400" smtClean="0"/>
              <a:pPr eaLnBrk="0" hangingPunct="0">
                <a:spcBef>
                  <a:spcPct val="0"/>
                </a:spcBef>
                <a:buClrTx/>
                <a:buSzTx/>
                <a:buFontTx/>
                <a:buNone/>
              </a:pPr>
              <a:t>43</a:t>
            </a:fld>
            <a:endParaRPr lang="en-US" altLang="zh-CN" sz="1400"/>
          </a:p>
        </p:txBody>
      </p:sp>
      <p:sp>
        <p:nvSpPr>
          <p:cNvPr id="69635" name="Rectangle 2">
            <a:extLst>
              <a:ext uri="{FF2B5EF4-FFF2-40B4-BE49-F238E27FC236}">
                <a16:creationId xmlns:a16="http://schemas.microsoft.com/office/drawing/2014/main" id="{32359412-2A41-11A8-7D8B-A535543CE414}"/>
              </a:ext>
            </a:extLst>
          </p:cNvPr>
          <p:cNvSpPr>
            <a:spLocks noGrp="1" noChangeArrowheads="1"/>
          </p:cNvSpPr>
          <p:nvPr>
            <p:ph type="title"/>
          </p:nvPr>
        </p:nvSpPr>
        <p:spPr/>
        <p:txBody>
          <a:bodyPr/>
          <a:lstStyle/>
          <a:p>
            <a:r>
              <a:rPr lang="zh-CN" altLang="en-US" b="1"/>
              <a:t>三、几种常用的数字签名</a:t>
            </a:r>
          </a:p>
        </p:txBody>
      </p:sp>
      <p:sp>
        <p:nvSpPr>
          <p:cNvPr id="69636" name="Rectangle 3">
            <a:extLst>
              <a:ext uri="{FF2B5EF4-FFF2-40B4-BE49-F238E27FC236}">
                <a16:creationId xmlns:a16="http://schemas.microsoft.com/office/drawing/2014/main" id="{95B86AE1-2982-3727-6739-433D0B9D22CB}"/>
              </a:ext>
            </a:extLst>
          </p:cNvPr>
          <p:cNvSpPr>
            <a:spLocks noGrp="1" noChangeArrowheads="1"/>
          </p:cNvSpPr>
          <p:nvPr>
            <p:ph type="body" idx="1"/>
          </p:nvPr>
        </p:nvSpPr>
        <p:spPr>
          <a:xfrm>
            <a:off x="323850" y="2017713"/>
            <a:ext cx="8631238" cy="4114800"/>
          </a:xfrm>
        </p:spPr>
        <p:txBody>
          <a:bodyPr/>
          <a:lstStyle/>
          <a:p>
            <a:pPr>
              <a:buFont typeface="Wingdings" panose="05000000000000000000" pitchFamily="2" charset="2"/>
              <a:buNone/>
            </a:pPr>
            <a:r>
              <a:rPr lang="zh-CN" altLang="en-US" sz="2800">
                <a:latin typeface="Times New Roman" panose="02020603050405020304" pitchFamily="18" charset="0"/>
              </a:rPr>
              <a:t>说明四：伪造签名的困难性。</a:t>
            </a:r>
          </a:p>
          <a:p>
            <a:pPr>
              <a:buFont typeface="Wingdings" panose="05000000000000000000" pitchFamily="2" charset="2"/>
              <a:buNone/>
            </a:pPr>
            <a:r>
              <a:rPr lang="zh-CN" altLang="en-US" sz="2800">
                <a:latin typeface="Times New Roman" panose="02020603050405020304" pitchFamily="18" charset="0"/>
              </a:rPr>
              <a:t>（如果攻击者</a:t>
            </a:r>
            <a:r>
              <a:rPr lang="en-US" altLang="zh-CN" sz="2800">
                <a:latin typeface="Times New Roman" panose="02020603050405020304" pitchFamily="18" charset="0"/>
              </a:rPr>
              <a:t>Eve</a:t>
            </a:r>
            <a:r>
              <a:rPr lang="zh-CN" altLang="en-US" sz="2800">
                <a:latin typeface="Times New Roman" panose="02020603050405020304" pitchFamily="18" charset="0"/>
              </a:rPr>
              <a:t>获得了</a:t>
            </a:r>
            <a:r>
              <a:rPr lang="en-US" altLang="zh-CN" sz="2800">
                <a:latin typeface="Times New Roman" panose="02020603050405020304" pitchFamily="18" charset="0"/>
              </a:rPr>
              <a:t>Alice</a:t>
            </a:r>
            <a:r>
              <a:rPr lang="zh-CN" altLang="en-US" sz="2800">
                <a:latin typeface="Times New Roman" panose="02020603050405020304" pitchFamily="18" charset="0"/>
              </a:rPr>
              <a:t>的私钥</a:t>
            </a:r>
            <a:r>
              <a:rPr lang="en-US" altLang="zh-CN" sz="2800" i="1">
                <a:latin typeface="Times New Roman" panose="02020603050405020304" pitchFamily="18" charset="0"/>
              </a:rPr>
              <a:t>x</a:t>
            </a:r>
            <a:r>
              <a:rPr lang="zh-CN" altLang="en-US" sz="2800">
                <a:latin typeface="Times New Roman" panose="02020603050405020304" pitchFamily="18" charset="0"/>
              </a:rPr>
              <a:t>， 则</a:t>
            </a:r>
            <a:r>
              <a:rPr lang="en-US" altLang="zh-CN" sz="2800">
                <a:latin typeface="Times New Roman" panose="02020603050405020304" pitchFamily="18" charset="0"/>
              </a:rPr>
              <a:t>DSA</a:t>
            </a:r>
            <a:r>
              <a:rPr lang="zh-CN" altLang="en-US" sz="2800">
                <a:latin typeface="Times New Roman" panose="02020603050405020304" pitchFamily="18" charset="0"/>
              </a:rPr>
              <a:t>被攻破， </a:t>
            </a:r>
            <a:r>
              <a:rPr lang="en-US" altLang="zh-CN" sz="2800">
                <a:latin typeface="Times New Roman" panose="02020603050405020304" pitchFamily="18" charset="0"/>
              </a:rPr>
              <a:t>Eve</a:t>
            </a:r>
            <a:r>
              <a:rPr lang="zh-CN" altLang="en-US" sz="2800">
                <a:latin typeface="Times New Roman" panose="02020603050405020304" pitchFamily="18" charset="0"/>
              </a:rPr>
              <a:t>可以任意地冒充</a:t>
            </a:r>
            <a:r>
              <a:rPr lang="en-US" altLang="zh-CN" sz="2800">
                <a:latin typeface="Times New Roman" panose="02020603050405020304" pitchFamily="18" charset="0"/>
              </a:rPr>
              <a:t>Alice</a:t>
            </a:r>
            <a:r>
              <a:rPr lang="zh-CN" altLang="en-US" sz="2800">
                <a:latin typeface="Times New Roman" panose="02020603050405020304" pitchFamily="18" charset="0"/>
              </a:rPr>
              <a:t>签名）</a:t>
            </a:r>
          </a:p>
          <a:p>
            <a:pPr>
              <a:buFont typeface="Wingdings" panose="05000000000000000000" pitchFamily="2" charset="2"/>
              <a:buNone/>
            </a:pPr>
            <a:r>
              <a:rPr lang="zh-CN" altLang="en-US" sz="2800">
                <a:latin typeface="Times New Roman" panose="02020603050405020304" pitchFamily="18" charset="0"/>
              </a:rPr>
              <a:t>设</a:t>
            </a:r>
            <a:r>
              <a:rPr lang="en-US" altLang="zh-CN" sz="2800">
                <a:latin typeface="Times New Roman" panose="02020603050405020304" pitchFamily="18" charset="0"/>
              </a:rPr>
              <a:t>Eve</a:t>
            </a:r>
            <a:r>
              <a:rPr lang="zh-CN" altLang="en-US" sz="2800">
                <a:latin typeface="Times New Roman" panose="02020603050405020304" pitchFamily="18" charset="0"/>
              </a:rPr>
              <a:t>并不知道</a:t>
            </a:r>
            <a:r>
              <a:rPr lang="en-US" altLang="zh-CN" sz="2800" i="1">
                <a:latin typeface="Times New Roman" panose="02020603050405020304" pitchFamily="18" charset="0"/>
              </a:rPr>
              <a:t>x</a:t>
            </a:r>
            <a:r>
              <a:rPr lang="zh-CN" altLang="en-US" sz="2800">
                <a:latin typeface="Times New Roman" panose="02020603050405020304" pitchFamily="18" charset="0"/>
              </a:rPr>
              <a:t>，而试图伪造</a:t>
            </a:r>
            <a:r>
              <a:rPr lang="en-US" altLang="zh-CN" sz="2800">
                <a:latin typeface="Times New Roman" panose="02020603050405020304" pitchFamily="18" charset="0"/>
              </a:rPr>
              <a:t>Alice</a:t>
            </a:r>
            <a:r>
              <a:rPr lang="zh-CN" altLang="en-US" sz="2800">
                <a:latin typeface="Times New Roman" panose="02020603050405020304" pitchFamily="18" charset="0"/>
              </a:rPr>
              <a:t>的签名消息</a:t>
            </a:r>
            <a:r>
              <a:rPr lang="en-US" altLang="zh-CN" sz="2800">
                <a:latin typeface="Times New Roman" panose="02020603050405020304" pitchFamily="18" charset="0"/>
              </a:rPr>
              <a:t>(</a:t>
            </a:r>
            <a:r>
              <a:rPr lang="en-US" altLang="zh-CN" sz="2800" i="1">
                <a:latin typeface="Times New Roman" panose="02020603050405020304" pitchFamily="18" charset="0"/>
              </a:rPr>
              <a:t>m, r</a:t>
            </a:r>
            <a:r>
              <a:rPr lang="en-US" altLang="zh-CN" sz="2800">
                <a:latin typeface="Times New Roman" panose="02020603050405020304" pitchFamily="18" charset="0"/>
              </a:rPr>
              <a:t>, </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通过检验方程</a:t>
            </a:r>
          </a:p>
          <a:p>
            <a:pPr algn="ctr">
              <a:buFont typeface="Wingdings" panose="05000000000000000000" pitchFamily="2" charset="2"/>
              <a:buNone/>
            </a:pPr>
            <a:r>
              <a:rPr lang="en-US" altLang="zh-CN" sz="2800" i="1">
                <a:latin typeface="Times New Roman" panose="02020603050405020304" pitchFamily="18" charset="0"/>
              </a:rPr>
              <a:t>v</a:t>
            </a:r>
            <a:r>
              <a:rPr lang="en-US" altLang="zh-CN" sz="2800">
                <a:latin typeface="Times New Roman" panose="02020603050405020304" pitchFamily="18" charset="0"/>
              </a:rPr>
              <a:t>=</a:t>
            </a:r>
            <a:r>
              <a:rPr lang="en-US" altLang="zh-CN" sz="2800" i="1">
                <a:latin typeface="Times New Roman" panose="02020603050405020304" pitchFamily="18" charset="0"/>
              </a:rPr>
              <a:t>r</a:t>
            </a:r>
            <a:r>
              <a:rPr lang="zh-CN" altLang="en-US" sz="2800">
                <a:latin typeface="Times New Roman" panose="02020603050405020304" pitchFamily="18" charset="0"/>
              </a:rPr>
              <a:t>，</a:t>
            </a:r>
          </a:p>
          <a:p>
            <a:pPr>
              <a:buFont typeface="Wingdings" panose="05000000000000000000" pitchFamily="2" charset="2"/>
              <a:buNone/>
            </a:pPr>
            <a:r>
              <a:rPr lang="zh-CN" altLang="en-US" sz="2800">
                <a:latin typeface="Times New Roman" panose="02020603050405020304" pitchFamily="18" charset="0"/>
              </a:rPr>
              <a:t>即</a:t>
            </a:r>
          </a:p>
          <a:p>
            <a:pPr algn="ctr">
              <a:buFont typeface="Wingdings" panose="05000000000000000000" pitchFamily="2" charset="2"/>
              <a:buNone/>
            </a:pPr>
            <a:r>
              <a:rPr lang="en-US" altLang="zh-CN" sz="2800">
                <a:latin typeface="Times New Roman" panose="02020603050405020304" pitchFamily="18" charset="0"/>
              </a:rPr>
              <a:t>(</a:t>
            </a:r>
            <a:r>
              <a:rPr lang="en-US" altLang="zh-CN" sz="2800" i="1">
                <a:latin typeface="Times New Roman" panose="02020603050405020304" pitchFamily="18" charset="0"/>
              </a:rPr>
              <a:t>g</a:t>
            </a:r>
            <a:r>
              <a:rPr lang="en-US" altLang="zh-CN" sz="2800" i="1" baseline="30000">
                <a:latin typeface="Times New Roman" panose="02020603050405020304" pitchFamily="18" charset="0"/>
              </a:rPr>
              <a:t>u</a:t>
            </a:r>
            <a:r>
              <a:rPr lang="en-US" altLang="zh-CN" sz="2800" baseline="30000">
                <a:latin typeface="Times New Roman" panose="02020603050405020304" pitchFamily="18" charset="0"/>
              </a:rPr>
              <a:t>1</a:t>
            </a:r>
            <a:r>
              <a:rPr lang="en-US" altLang="zh-CN" sz="2800" i="1">
                <a:latin typeface="Times New Roman" panose="02020603050405020304" pitchFamily="18" charset="0"/>
              </a:rPr>
              <a:t>y</a:t>
            </a:r>
            <a:r>
              <a:rPr lang="en-US" altLang="zh-CN" sz="2800" i="1" baseline="30000">
                <a:latin typeface="Times New Roman" panose="02020603050405020304" pitchFamily="18" charset="0"/>
              </a:rPr>
              <a:t>u</a:t>
            </a:r>
            <a:r>
              <a:rPr lang="en-US" altLang="zh-CN" sz="2800" baseline="30000">
                <a:latin typeface="Times New Roman" panose="02020603050405020304" pitchFamily="18" charset="0"/>
              </a:rPr>
              <a:t>2</a:t>
            </a:r>
            <a:r>
              <a:rPr lang="en-US" altLang="zh-CN" sz="2800">
                <a:latin typeface="Times New Roman" panose="02020603050405020304" pitchFamily="18" charset="0"/>
              </a:rPr>
              <a:t>(mod</a:t>
            </a:r>
            <a:r>
              <a:rPr lang="en-US" altLang="zh-CN" sz="2800" i="1">
                <a:latin typeface="Times New Roman" panose="02020603050405020304" pitchFamily="18" charset="0"/>
              </a:rPr>
              <a:t>p</a:t>
            </a:r>
            <a:r>
              <a:rPr lang="en-US" altLang="zh-CN" sz="2800">
                <a:latin typeface="Times New Roman" panose="02020603050405020304" pitchFamily="18" charset="0"/>
              </a:rPr>
              <a:t>))(mod</a:t>
            </a:r>
            <a:r>
              <a:rPr lang="en-US" altLang="zh-CN" sz="2800" i="1">
                <a:latin typeface="Times New Roman" panose="02020603050405020304" pitchFamily="18" charset="0"/>
              </a:rPr>
              <a:t>q</a:t>
            </a:r>
            <a:r>
              <a:rPr lang="en-US" altLang="zh-CN" sz="2800">
                <a:latin typeface="Times New Roman" panose="02020603050405020304" pitchFamily="18" charset="0"/>
              </a:rPr>
              <a:t>)=</a:t>
            </a:r>
            <a:r>
              <a:rPr lang="en-US" altLang="zh-CN" sz="2800" i="1">
                <a:latin typeface="Times New Roman" panose="02020603050405020304" pitchFamily="18" charset="0"/>
              </a:rPr>
              <a:t>r</a:t>
            </a:r>
            <a:r>
              <a:rPr lang="zh-CN" altLang="en-US" sz="2800">
                <a:latin typeface="Times New Roman" panose="02020603050405020304" pitchFamily="18" charset="0"/>
              </a:rPr>
              <a:t>，</a:t>
            </a:r>
            <a:endParaRPr lang="zh-CN" altLang="en-US" sz="28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灯片编号占位符 4">
            <a:extLst>
              <a:ext uri="{FF2B5EF4-FFF2-40B4-BE49-F238E27FC236}">
                <a16:creationId xmlns:a16="http://schemas.microsoft.com/office/drawing/2014/main" id="{CF843EDA-B8E0-1481-9689-87A8638FFB95}"/>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A361DB70-07FA-4CBD-9599-40B913400DC2}" type="slidenum">
              <a:rPr lang="zh-CN" altLang="en-US" sz="1400" smtClean="0"/>
              <a:pPr eaLnBrk="0" hangingPunct="0">
                <a:spcBef>
                  <a:spcPct val="0"/>
                </a:spcBef>
                <a:buClrTx/>
                <a:buSzTx/>
                <a:buFontTx/>
                <a:buNone/>
              </a:pPr>
              <a:t>44</a:t>
            </a:fld>
            <a:endParaRPr lang="en-US" altLang="zh-CN" sz="1400"/>
          </a:p>
        </p:txBody>
      </p:sp>
      <p:sp>
        <p:nvSpPr>
          <p:cNvPr id="70659" name="Rectangle 2">
            <a:extLst>
              <a:ext uri="{FF2B5EF4-FFF2-40B4-BE49-F238E27FC236}">
                <a16:creationId xmlns:a16="http://schemas.microsoft.com/office/drawing/2014/main" id="{89AF310C-249C-00D0-9F45-B1D9021CE1BC}"/>
              </a:ext>
            </a:extLst>
          </p:cNvPr>
          <p:cNvSpPr>
            <a:spLocks noGrp="1" noChangeArrowheads="1"/>
          </p:cNvSpPr>
          <p:nvPr>
            <p:ph type="title"/>
          </p:nvPr>
        </p:nvSpPr>
        <p:spPr/>
        <p:txBody>
          <a:bodyPr/>
          <a:lstStyle/>
          <a:p>
            <a:r>
              <a:rPr lang="zh-CN" altLang="en-US" b="1"/>
              <a:t>三、几种常用的数字签名</a:t>
            </a:r>
          </a:p>
        </p:txBody>
      </p:sp>
      <p:sp>
        <p:nvSpPr>
          <p:cNvPr id="70660" name="Rectangle 3">
            <a:extLst>
              <a:ext uri="{FF2B5EF4-FFF2-40B4-BE49-F238E27FC236}">
                <a16:creationId xmlns:a16="http://schemas.microsoft.com/office/drawing/2014/main" id="{2458D086-25B8-E256-D2F0-E49B8CE21D53}"/>
              </a:ext>
            </a:extLst>
          </p:cNvPr>
          <p:cNvSpPr>
            <a:spLocks noGrp="1" noChangeArrowheads="1"/>
          </p:cNvSpPr>
          <p:nvPr>
            <p:ph type="body" idx="1"/>
          </p:nvPr>
        </p:nvSpPr>
        <p:spPr>
          <a:xfrm>
            <a:off x="539750" y="2017713"/>
            <a:ext cx="8064500" cy="4114800"/>
          </a:xfrm>
        </p:spPr>
        <p:txBody>
          <a:bodyPr/>
          <a:lstStyle/>
          <a:p>
            <a:pPr>
              <a:buFont typeface="Wingdings" panose="05000000000000000000" pitchFamily="2" charset="2"/>
              <a:buNone/>
            </a:pPr>
            <a:r>
              <a:rPr lang="zh-CN" altLang="en-US" sz="2800"/>
              <a:t>又即</a:t>
            </a:r>
          </a:p>
          <a:p>
            <a:pPr>
              <a:buFont typeface="Wingdings" panose="05000000000000000000" pitchFamily="2" charset="2"/>
              <a:buNone/>
            </a:pPr>
            <a:endParaRPr lang="zh-CN" altLang="en-US"/>
          </a:p>
          <a:p>
            <a:pPr>
              <a:buFont typeface="Wingdings" panose="05000000000000000000" pitchFamily="2" charset="2"/>
              <a:buNone/>
            </a:pPr>
            <a:endParaRPr lang="zh-CN" altLang="en-US"/>
          </a:p>
          <a:p>
            <a:pPr>
              <a:buFont typeface="Wingdings" panose="05000000000000000000" pitchFamily="2" charset="2"/>
              <a:buNone/>
            </a:pPr>
            <a:endParaRPr lang="zh-CN" altLang="en-US"/>
          </a:p>
          <a:p>
            <a:pPr>
              <a:buFont typeface="Wingdings" panose="05000000000000000000" pitchFamily="2" charset="2"/>
              <a:buNone/>
            </a:pPr>
            <a:endParaRPr lang="zh-CN" altLang="en-US"/>
          </a:p>
          <a:p>
            <a:pPr>
              <a:buFont typeface="Wingdings" panose="05000000000000000000" pitchFamily="2" charset="2"/>
              <a:buNone/>
            </a:pPr>
            <a:endParaRPr lang="zh-CN" altLang="en-US" sz="3600"/>
          </a:p>
          <a:p>
            <a:pPr>
              <a:buFont typeface="Wingdings" panose="05000000000000000000" pitchFamily="2" charset="2"/>
              <a:buNone/>
            </a:pPr>
            <a:r>
              <a:rPr lang="zh-CN" altLang="en-US" sz="2800"/>
              <a:t>这是一个复杂的求解离散对数的问题。</a:t>
            </a:r>
          </a:p>
        </p:txBody>
      </p:sp>
      <p:graphicFrame>
        <p:nvGraphicFramePr>
          <p:cNvPr id="70661" name="Object 5">
            <a:extLst>
              <a:ext uri="{FF2B5EF4-FFF2-40B4-BE49-F238E27FC236}">
                <a16:creationId xmlns:a16="http://schemas.microsoft.com/office/drawing/2014/main" id="{0E8F4519-84FF-06E0-2DBE-294464CD41F1}"/>
              </a:ext>
            </a:extLst>
          </p:cNvPr>
          <p:cNvGraphicFramePr>
            <a:graphicFrameLocks noChangeAspect="1"/>
          </p:cNvGraphicFramePr>
          <p:nvPr/>
        </p:nvGraphicFramePr>
        <p:xfrm>
          <a:off x="827088" y="2852738"/>
          <a:ext cx="7200900" cy="2232025"/>
        </p:xfrm>
        <a:graphic>
          <a:graphicData uri="http://schemas.openxmlformats.org/presentationml/2006/ole">
            <mc:AlternateContent xmlns:mc="http://schemas.openxmlformats.org/markup-compatibility/2006">
              <mc:Choice xmlns:v="urn:schemas-microsoft-com:vml" Requires="v">
                <p:oleObj r:id="rId2" imgW="1955800" imgH="673100" progId="Equation.3">
                  <p:embed/>
                </p:oleObj>
              </mc:Choice>
              <mc:Fallback>
                <p:oleObj r:id="rId2" imgW="1955800" imgH="6731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2852738"/>
                        <a:ext cx="7200900" cy="22320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灯片编号占位符 4">
            <a:extLst>
              <a:ext uri="{FF2B5EF4-FFF2-40B4-BE49-F238E27FC236}">
                <a16:creationId xmlns:a16="http://schemas.microsoft.com/office/drawing/2014/main" id="{897DD378-3A06-97A1-3A58-44C9E2A7A3D7}"/>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9E4EDC18-FF1F-419A-87CB-5A9505DA4DEF}" type="slidenum">
              <a:rPr lang="zh-CN" altLang="en-US" sz="1400" smtClean="0"/>
              <a:pPr eaLnBrk="0" hangingPunct="0">
                <a:spcBef>
                  <a:spcPct val="0"/>
                </a:spcBef>
                <a:buClrTx/>
                <a:buSzTx/>
                <a:buFontTx/>
                <a:buNone/>
              </a:pPr>
              <a:t>45</a:t>
            </a:fld>
            <a:endParaRPr lang="en-US" altLang="zh-CN" sz="1400"/>
          </a:p>
        </p:txBody>
      </p:sp>
      <p:sp>
        <p:nvSpPr>
          <p:cNvPr id="71683" name="Rectangle 2">
            <a:extLst>
              <a:ext uri="{FF2B5EF4-FFF2-40B4-BE49-F238E27FC236}">
                <a16:creationId xmlns:a16="http://schemas.microsoft.com/office/drawing/2014/main" id="{13321CF0-5E6E-AD06-E06E-C8988C23358E}"/>
              </a:ext>
            </a:extLst>
          </p:cNvPr>
          <p:cNvSpPr>
            <a:spLocks noGrp="1" noChangeArrowheads="1"/>
          </p:cNvSpPr>
          <p:nvPr>
            <p:ph type="title"/>
          </p:nvPr>
        </p:nvSpPr>
        <p:spPr>
          <a:xfrm>
            <a:off x="1150938" y="214313"/>
            <a:ext cx="7793037" cy="766762"/>
          </a:xfrm>
        </p:spPr>
        <p:txBody>
          <a:bodyPr/>
          <a:lstStyle/>
          <a:p>
            <a:r>
              <a:rPr lang="zh-CN" altLang="en-US" b="1"/>
              <a:t>三、几种常用的数字签名</a:t>
            </a:r>
          </a:p>
        </p:txBody>
      </p:sp>
      <p:sp>
        <p:nvSpPr>
          <p:cNvPr id="71684" name="Rectangle 3">
            <a:extLst>
              <a:ext uri="{FF2B5EF4-FFF2-40B4-BE49-F238E27FC236}">
                <a16:creationId xmlns:a16="http://schemas.microsoft.com/office/drawing/2014/main" id="{B9C6CBA5-4B1A-F72D-798F-368E4D890662}"/>
              </a:ext>
            </a:extLst>
          </p:cNvPr>
          <p:cNvSpPr>
            <a:spLocks noGrp="1" noChangeArrowheads="1"/>
          </p:cNvSpPr>
          <p:nvPr>
            <p:ph type="body" idx="1"/>
          </p:nvPr>
        </p:nvSpPr>
        <p:spPr>
          <a:xfrm>
            <a:off x="107950" y="1196975"/>
            <a:ext cx="9036050" cy="5184775"/>
          </a:xfrm>
        </p:spPr>
        <p:txBody>
          <a:bodyPr/>
          <a:lstStyle/>
          <a:p>
            <a:pPr marL="0" indent="0">
              <a:lnSpc>
                <a:spcPct val="85000"/>
              </a:lnSpc>
              <a:buFont typeface="Wingdings" panose="05000000000000000000" pitchFamily="2" charset="2"/>
              <a:buNone/>
            </a:pPr>
            <a:r>
              <a:rPr lang="zh-CN" altLang="en-US" sz="2800" b="1">
                <a:latin typeface="Times New Roman" panose="02020603050405020304" pitchFamily="18" charset="0"/>
                <a:ea typeface="黑体" panose="02010609060101010101" pitchFamily="49" charset="-122"/>
              </a:rPr>
              <a:t>公众对</a:t>
            </a:r>
            <a:r>
              <a:rPr lang="en-US" altLang="zh-CN" sz="2800" b="1">
                <a:latin typeface="Times New Roman" panose="02020603050405020304" pitchFamily="18" charset="0"/>
                <a:ea typeface="黑体" panose="02010609060101010101" pitchFamily="49" charset="-122"/>
              </a:rPr>
              <a:t>DSA</a:t>
            </a:r>
            <a:r>
              <a:rPr lang="zh-CN" altLang="en-US" sz="2800" b="1">
                <a:latin typeface="Times New Roman" panose="02020603050405020304" pitchFamily="18" charset="0"/>
                <a:ea typeface="黑体" panose="02010609060101010101" pitchFamily="49" charset="-122"/>
              </a:rPr>
              <a:t>的反应：</a:t>
            </a:r>
            <a:endParaRPr lang="en-US" altLang="zh-CN" sz="2800" b="1">
              <a:latin typeface="Times New Roman" panose="02020603050405020304" pitchFamily="18" charset="0"/>
              <a:ea typeface="黑体" panose="02010609060101010101" pitchFamily="49" charset="-122"/>
            </a:endParaRPr>
          </a:p>
          <a:p>
            <a:pPr marL="0" indent="0">
              <a:lnSpc>
                <a:spcPct val="85000"/>
              </a:lnSpc>
              <a:buFont typeface="Wingdings" panose="05000000000000000000" pitchFamily="2" charset="2"/>
              <a:buNone/>
            </a:pPr>
            <a:r>
              <a:rPr lang="en-US" altLang="zh-CN" sz="2800">
                <a:latin typeface="Times New Roman" panose="02020603050405020304" pitchFamily="18" charset="0"/>
              </a:rPr>
              <a:t>RSA Data Security Inc(DSI)</a:t>
            </a:r>
            <a:r>
              <a:rPr lang="zh-CN" altLang="en-US" sz="2800">
                <a:latin typeface="Times New Roman" panose="02020603050405020304" pitchFamily="18" charset="0"/>
              </a:rPr>
              <a:t>想以</a:t>
            </a:r>
            <a:r>
              <a:rPr lang="en-US" altLang="zh-CN" sz="2800">
                <a:latin typeface="Times New Roman" panose="02020603050405020304" pitchFamily="18" charset="0"/>
              </a:rPr>
              <a:t>RSA</a:t>
            </a:r>
            <a:r>
              <a:rPr lang="zh-CN" altLang="en-US" sz="2800">
                <a:latin typeface="Times New Roman" panose="02020603050405020304" pitchFamily="18" charset="0"/>
              </a:rPr>
              <a:t>算法做为标准，许多大的软件公司早已得到</a:t>
            </a:r>
            <a:r>
              <a:rPr lang="en-US" altLang="zh-CN" sz="2800">
                <a:latin typeface="Times New Roman" panose="02020603050405020304" pitchFamily="18" charset="0"/>
              </a:rPr>
              <a:t>RSA</a:t>
            </a:r>
            <a:r>
              <a:rPr lang="zh-CN" altLang="en-US" sz="2800">
                <a:latin typeface="Times New Roman" panose="02020603050405020304" pitchFamily="18" charset="0"/>
              </a:rPr>
              <a:t>的许可证而反对</a:t>
            </a:r>
            <a:r>
              <a:rPr lang="en-US" altLang="zh-CN" sz="2800">
                <a:latin typeface="Times New Roman" panose="02020603050405020304" pitchFamily="18" charset="0"/>
              </a:rPr>
              <a:t>DSS。</a:t>
            </a:r>
            <a:r>
              <a:rPr lang="zh-CN" altLang="en-US" sz="2800">
                <a:latin typeface="Times New Roman" panose="02020603050405020304" pitchFamily="18" charset="0"/>
              </a:rPr>
              <a:t>主要批评意见有：</a:t>
            </a:r>
            <a:endParaRPr lang="en-US" altLang="zh-CN" sz="2800">
              <a:latin typeface="Times New Roman" panose="02020603050405020304" pitchFamily="18" charset="0"/>
            </a:endParaRPr>
          </a:p>
          <a:p>
            <a:pPr marL="0" indent="0">
              <a:lnSpc>
                <a:spcPct val="85000"/>
              </a:lnSpc>
              <a:buFont typeface="Wingdings" panose="05000000000000000000" pitchFamily="2" charset="2"/>
              <a:buNone/>
            </a:pPr>
            <a:r>
              <a:rPr lang="zh-CN" altLang="en-US" sz="2400">
                <a:latin typeface="Times New Roman" panose="02020603050405020304" pitchFamily="18" charset="0"/>
              </a:rPr>
              <a:t>① </a:t>
            </a:r>
            <a:r>
              <a:rPr lang="en-US" altLang="zh-CN" sz="2400">
                <a:latin typeface="Times New Roman" panose="02020603050405020304" pitchFamily="18" charset="0"/>
              </a:rPr>
              <a:t>DSA</a:t>
            </a:r>
            <a:r>
              <a:rPr lang="zh-CN" altLang="en-US" sz="2400">
                <a:latin typeface="Times New Roman" panose="02020603050405020304" pitchFamily="18" charset="0"/>
              </a:rPr>
              <a:t>不能用于加密或密钥分配；</a:t>
            </a:r>
            <a:endParaRPr lang="en-US" altLang="zh-CN" sz="2400">
              <a:latin typeface="Times New Roman" panose="02020603050405020304" pitchFamily="18" charset="0"/>
            </a:endParaRPr>
          </a:p>
          <a:p>
            <a:pPr marL="0" indent="0">
              <a:lnSpc>
                <a:spcPct val="85000"/>
              </a:lnSpc>
              <a:buFont typeface="Wingdings" panose="05000000000000000000" pitchFamily="2" charset="2"/>
              <a:buNone/>
            </a:pPr>
            <a:r>
              <a:rPr lang="zh-CN" altLang="en-US" sz="2400">
                <a:latin typeface="Times New Roman" panose="02020603050405020304" pitchFamily="18" charset="0"/>
              </a:rPr>
              <a:t>② </a:t>
            </a:r>
            <a:r>
              <a:rPr lang="en-US" altLang="zh-CN" sz="2400">
                <a:latin typeface="Times New Roman" panose="02020603050405020304" pitchFamily="18" charset="0"/>
              </a:rPr>
              <a:t>DSA</a:t>
            </a:r>
            <a:r>
              <a:rPr lang="zh-CN" altLang="en-US" sz="2400">
                <a:latin typeface="Times New Roman" panose="02020603050405020304" pitchFamily="18" charset="0"/>
              </a:rPr>
              <a:t>算法中可能设有陷门；</a:t>
            </a:r>
            <a:endParaRPr lang="en-US" altLang="zh-CN" sz="2400">
              <a:latin typeface="Times New Roman" panose="02020603050405020304" pitchFamily="18" charset="0"/>
            </a:endParaRPr>
          </a:p>
          <a:p>
            <a:pPr marL="0" indent="0">
              <a:lnSpc>
                <a:spcPct val="85000"/>
              </a:lnSpc>
              <a:buFont typeface="Wingdings" panose="05000000000000000000" pitchFamily="2" charset="2"/>
              <a:buNone/>
            </a:pPr>
            <a:r>
              <a:rPr lang="zh-CN" altLang="en-US" sz="2400">
                <a:latin typeface="Times New Roman" panose="02020603050405020304" pitchFamily="18" charset="0"/>
              </a:rPr>
              <a:t>③ </a:t>
            </a:r>
            <a:r>
              <a:rPr lang="en-US" altLang="zh-CN" sz="2400">
                <a:latin typeface="Times New Roman" panose="02020603050405020304" pitchFamily="18" charset="0"/>
              </a:rPr>
              <a:t>DSA</a:t>
            </a:r>
            <a:r>
              <a:rPr lang="zh-CN" altLang="en-US" sz="2400">
                <a:latin typeface="Times New Roman" panose="02020603050405020304" pitchFamily="18" charset="0"/>
              </a:rPr>
              <a:t>比</a:t>
            </a:r>
            <a:r>
              <a:rPr lang="en-US" altLang="zh-CN" sz="2400">
                <a:latin typeface="Times New Roman" panose="02020603050405020304" pitchFamily="18" charset="0"/>
              </a:rPr>
              <a:t>RSA</a:t>
            </a:r>
            <a:r>
              <a:rPr lang="zh-CN" altLang="en-US" sz="2400">
                <a:latin typeface="Times New Roman" panose="02020603050405020304" pitchFamily="18" charset="0"/>
              </a:rPr>
              <a:t>慢；</a:t>
            </a:r>
            <a:endParaRPr lang="en-US" altLang="zh-CN" sz="2400">
              <a:latin typeface="Times New Roman" panose="02020603050405020304" pitchFamily="18" charset="0"/>
            </a:endParaRPr>
          </a:p>
          <a:p>
            <a:pPr marL="0" indent="0">
              <a:lnSpc>
                <a:spcPct val="85000"/>
              </a:lnSpc>
              <a:buFont typeface="Wingdings" panose="05000000000000000000" pitchFamily="2" charset="2"/>
              <a:buNone/>
            </a:pPr>
            <a:r>
              <a:rPr lang="zh-CN" altLang="en-US" sz="2400">
                <a:latin typeface="Times New Roman" panose="02020603050405020304" pitchFamily="18" charset="0"/>
              </a:rPr>
              <a:t>④ </a:t>
            </a:r>
            <a:r>
              <a:rPr lang="en-US" altLang="zh-CN" sz="2400">
                <a:latin typeface="Times New Roman" panose="02020603050405020304" pitchFamily="18" charset="0"/>
              </a:rPr>
              <a:t>RSA</a:t>
            </a:r>
            <a:r>
              <a:rPr lang="zh-CN" altLang="en-US" sz="2400">
                <a:latin typeface="Times New Roman" panose="02020603050405020304" pitchFamily="18" charset="0"/>
              </a:rPr>
              <a:t>已是一个实际上的标准，而</a:t>
            </a:r>
            <a:r>
              <a:rPr lang="en-US" altLang="zh-CN" sz="2400">
                <a:latin typeface="Times New Roman" panose="02020603050405020304" pitchFamily="18" charset="0"/>
              </a:rPr>
              <a:t>DSS</a:t>
            </a:r>
            <a:r>
              <a:rPr lang="zh-CN" altLang="en-US" sz="2400">
                <a:latin typeface="Times New Roman" panose="02020603050405020304" pitchFamily="18" charset="0"/>
              </a:rPr>
              <a:t>与现行国际标准不相容；</a:t>
            </a:r>
            <a:endParaRPr lang="en-US" altLang="zh-CN" sz="2400">
              <a:latin typeface="Times New Roman" panose="02020603050405020304" pitchFamily="18" charset="0"/>
            </a:endParaRPr>
          </a:p>
          <a:p>
            <a:pPr marL="0" indent="0">
              <a:lnSpc>
                <a:spcPct val="85000"/>
              </a:lnSpc>
              <a:buFont typeface="Wingdings" panose="05000000000000000000" pitchFamily="2" charset="2"/>
              <a:buNone/>
            </a:pPr>
            <a:r>
              <a:rPr lang="zh-CN" altLang="en-US" sz="2400">
                <a:latin typeface="Times New Roman" panose="02020603050405020304" pitchFamily="18" charset="0"/>
              </a:rPr>
              <a:t>⑤ </a:t>
            </a:r>
            <a:r>
              <a:rPr lang="en-US" altLang="zh-CN" sz="2400">
                <a:latin typeface="Times New Roman" panose="02020603050405020304" pitchFamily="18" charset="0"/>
              </a:rPr>
              <a:t>DSA</a:t>
            </a:r>
            <a:r>
              <a:rPr lang="zh-CN" altLang="en-US" sz="2400">
                <a:latin typeface="Times New Roman" panose="02020603050405020304" pitchFamily="18" charset="0"/>
              </a:rPr>
              <a:t>未经公开选择过程，还没有足够的时间进行分析证明；</a:t>
            </a:r>
            <a:endParaRPr lang="en-US" altLang="zh-CN" sz="2400">
              <a:latin typeface="Times New Roman" panose="02020603050405020304" pitchFamily="18" charset="0"/>
            </a:endParaRPr>
          </a:p>
          <a:p>
            <a:pPr marL="0" indent="0">
              <a:lnSpc>
                <a:spcPct val="85000"/>
              </a:lnSpc>
              <a:buFont typeface="Wingdings" panose="05000000000000000000" pitchFamily="2" charset="2"/>
              <a:buNone/>
            </a:pPr>
            <a:r>
              <a:rPr lang="zh-CN" altLang="en-US" sz="2400">
                <a:latin typeface="Times New Roman" panose="02020603050405020304" pitchFamily="18" charset="0"/>
              </a:rPr>
              <a:t>⑥ </a:t>
            </a:r>
            <a:r>
              <a:rPr lang="en-US" altLang="zh-CN" sz="2400">
                <a:latin typeface="Times New Roman" panose="02020603050405020304" pitchFamily="18" charset="0"/>
              </a:rPr>
              <a:t>DSA</a:t>
            </a:r>
            <a:r>
              <a:rPr lang="zh-CN" altLang="en-US" sz="2400">
                <a:latin typeface="Times New Roman" panose="02020603050405020304" pitchFamily="18" charset="0"/>
              </a:rPr>
              <a:t>可能侵犯了其它专利（</a:t>
            </a:r>
            <a:r>
              <a:rPr lang="en-US" altLang="zh-CN" sz="2400">
                <a:latin typeface="Times New Roman" panose="02020603050405020304" pitchFamily="18" charset="0"/>
              </a:rPr>
              <a:t>Schnorr</a:t>
            </a:r>
            <a:r>
              <a:rPr lang="zh-CN" altLang="en-US" sz="2400">
                <a:latin typeface="Times New Roman" panose="02020603050405020304" pitchFamily="18" charset="0"/>
              </a:rPr>
              <a:t>签名算法，</a:t>
            </a:r>
            <a:r>
              <a:rPr lang="en-US" altLang="zh-CN" sz="2400">
                <a:latin typeface="Times New Roman" panose="02020603050405020304" pitchFamily="18" charset="0"/>
              </a:rPr>
              <a:t>Diffie-Hellman</a:t>
            </a:r>
            <a:r>
              <a:rPr lang="zh-CN" altLang="en-US" sz="2400">
                <a:latin typeface="Times New Roman" panose="02020603050405020304" pitchFamily="18" charset="0"/>
              </a:rPr>
              <a:t>的公钥密钥分配算法）；</a:t>
            </a:r>
            <a:endParaRPr lang="en-US" altLang="zh-CN" sz="2400">
              <a:latin typeface="Times New Roman" panose="02020603050405020304" pitchFamily="18" charset="0"/>
            </a:endParaRPr>
          </a:p>
          <a:p>
            <a:pPr marL="0" indent="0">
              <a:lnSpc>
                <a:spcPct val="85000"/>
              </a:lnSpc>
              <a:buFont typeface="Wingdings" panose="05000000000000000000" pitchFamily="2" charset="2"/>
              <a:buNone/>
            </a:pPr>
            <a:r>
              <a:rPr lang="zh-CN" altLang="en-US" sz="2400">
                <a:latin typeface="Times New Roman" panose="02020603050405020304" pitchFamily="18" charset="0"/>
              </a:rPr>
              <a:t>⑦ 由512 </a:t>
            </a:r>
            <a:r>
              <a:rPr lang="en-US" altLang="zh-CN" sz="2400">
                <a:latin typeface="Times New Roman" panose="02020603050405020304" pitchFamily="18" charset="0"/>
              </a:rPr>
              <a:t>bit</a:t>
            </a:r>
            <a:r>
              <a:rPr lang="zh-CN" altLang="en-US" sz="2400">
                <a:latin typeface="Times New Roman" panose="02020603050405020304" pitchFamily="18" charset="0"/>
              </a:rPr>
              <a:t>所限定密钥量太小。现已改为512～1 024中可被64除尽的即可供使用。</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灯片编号占位符 4">
            <a:extLst>
              <a:ext uri="{FF2B5EF4-FFF2-40B4-BE49-F238E27FC236}">
                <a16:creationId xmlns:a16="http://schemas.microsoft.com/office/drawing/2014/main" id="{578E9AD2-8445-18C5-16C6-E8D3633506F5}"/>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CDC4A3A9-F35A-476C-8868-F767D0143ACD}" type="slidenum">
              <a:rPr lang="zh-CN" altLang="en-US" sz="1400" smtClean="0"/>
              <a:pPr eaLnBrk="0" hangingPunct="0">
                <a:spcBef>
                  <a:spcPct val="0"/>
                </a:spcBef>
                <a:buClrTx/>
                <a:buSzTx/>
                <a:buFontTx/>
                <a:buNone/>
              </a:pPr>
              <a:t>46</a:t>
            </a:fld>
            <a:endParaRPr lang="en-US" altLang="zh-CN" sz="1400"/>
          </a:p>
        </p:txBody>
      </p:sp>
      <p:sp>
        <p:nvSpPr>
          <p:cNvPr id="72707" name="Rectangle 2">
            <a:extLst>
              <a:ext uri="{FF2B5EF4-FFF2-40B4-BE49-F238E27FC236}">
                <a16:creationId xmlns:a16="http://schemas.microsoft.com/office/drawing/2014/main" id="{CF00BFD6-E9AD-96F9-E605-C4902E23A689}"/>
              </a:ext>
            </a:extLst>
          </p:cNvPr>
          <p:cNvSpPr>
            <a:spLocks noGrp="1" noChangeArrowheads="1"/>
          </p:cNvSpPr>
          <p:nvPr>
            <p:ph type="title"/>
          </p:nvPr>
        </p:nvSpPr>
        <p:spPr/>
        <p:txBody>
          <a:bodyPr/>
          <a:lstStyle/>
          <a:p>
            <a:r>
              <a:rPr lang="zh-CN" altLang="en-US" b="1"/>
              <a:t>三、几种常用的数字签名</a:t>
            </a:r>
          </a:p>
        </p:txBody>
      </p:sp>
      <p:sp>
        <p:nvSpPr>
          <p:cNvPr id="72708" name="Rectangle 3">
            <a:extLst>
              <a:ext uri="{FF2B5EF4-FFF2-40B4-BE49-F238E27FC236}">
                <a16:creationId xmlns:a16="http://schemas.microsoft.com/office/drawing/2014/main" id="{689EDF70-51AD-18D0-6837-482833984907}"/>
              </a:ext>
            </a:extLst>
          </p:cNvPr>
          <p:cNvSpPr>
            <a:spLocks noGrp="1" noChangeArrowheads="1"/>
          </p:cNvSpPr>
          <p:nvPr>
            <p:ph type="body" idx="1"/>
          </p:nvPr>
        </p:nvSpPr>
        <p:spPr>
          <a:xfrm>
            <a:off x="755650" y="2060575"/>
            <a:ext cx="7704138" cy="3673475"/>
          </a:xfrm>
        </p:spPr>
        <p:txBody>
          <a:bodyPr/>
          <a:lstStyle/>
          <a:p>
            <a:pPr algn="ctr">
              <a:buFont typeface="Wingdings" panose="05000000000000000000" pitchFamily="2" charset="2"/>
              <a:buNone/>
            </a:pPr>
            <a:r>
              <a:rPr lang="en-US" altLang="zh-CN" sz="2800" b="1">
                <a:latin typeface="Times New Roman" panose="02020603050405020304" pitchFamily="18" charset="0"/>
              </a:rPr>
              <a:t>DSA</a:t>
            </a:r>
            <a:r>
              <a:rPr lang="zh-CN" altLang="en-US" sz="2800" b="1">
                <a:latin typeface="Times New Roman" panose="02020603050405020304" pitchFamily="18" charset="0"/>
              </a:rPr>
              <a:t>的实现速度</a:t>
            </a:r>
            <a:r>
              <a:rPr lang="zh-CN" altLang="en-US" sz="2400" b="1">
                <a:latin typeface="Times New Roman" panose="02020603050405020304" pitchFamily="18" charset="0"/>
              </a:rPr>
              <a:t>  </a:t>
            </a:r>
          </a:p>
          <a:p>
            <a:pPr>
              <a:buFont typeface="Wingdings" panose="05000000000000000000" pitchFamily="2" charset="2"/>
              <a:buNone/>
            </a:pPr>
            <a:r>
              <a:rPr lang="zh-CN" altLang="en-US" sz="2400" b="1">
                <a:latin typeface="Times New Roman" panose="02020603050405020304" pitchFamily="18" charset="0"/>
              </a:rPr>
              <a:t>预计算</a:t>
            </a:r>
            <a:r>
              <a:rPr lang="zh-CN" altLang="en-US" sz="2400">
                <a:latin typeface="Times New Roman" panose="02020603050405020304" pitchFamily="18" charset="0"/>
              </a:rPr>
              <a:t>：随机数</a:t>
            </a:r>
            <a:r>
              <a:rPr lang="en-US" altLang="zh-CN" sz="2400" i="1">
                <a:latin typeface="Times New Roman" panose="02020603050405020304" pitchFamily="18" charset="0"/>
              </a:rPr>
              <a:t>r</a:t>
            </a:r>
            <a:r>
              <a:rPr lang="zh-CN" altLang="en-US" sz="2400">
                <a:latin typeface="Times New Roman" panose="02020603050405020304" pitchFamily="18" charset="0"/>
              </a:rPr>
              <a:t>与消息无关，选</a:t>
            </a:r>
            <a:r>
              <a:rPr lang="en-US" altLang="zh-CN" sz="2400" i="1">
                <a:latin typeface="Times New Roman" panose="02020603050405020304" pitchFamily="18" charset="0"/>
              </a:rPr>
              <a:t>k</a:t>
            </a:r>
            <a:r>
              <a:rPr lang="zh-CN" altLang="en-US" sz="2400">
                <a:latin typeface="Times New Roman" panose="02020603050405020304" pitchFamily="18" charset="0"/>
              </a:rPr>
              <a:t>预先计算出其</a:t>
            </a:r>
            <a:r>
              <a:rPr lang="en-US" altLang="zh-CN" sz="2400" i="1">
                <a:latin typeface="Times New Roman" panose="02020603050405020304" pitchFamily="18" charset="0"/>
              </a:rPr>
              <a:t>r</a:t>
            </a:r>
            <a:r>
              <a:rPr lang="en-US" altLang="zh-CN" sz="2400">
                <a:latin typeface="Times New Roman" panose="02020603050405020304" pitchFamily="18" charset="0"/>
              </a:rPr>
              <a:t>。</a:t>
            </a:r>
            <a:r>
              <a:rPr lang="zh-CN" altLang="en-US" sz="2400">
                <a:latin typeface="Times New Roman" panose="02020603050405020304" pitchFamily="18" charset="0"/>
              </a:rPr>
              <a:t>对</a:t>
            </a:r>
            <a:r>
              <a:rPr lang="en-US" altLang="zh-CN" sz="2400" i="1">
                <a:latin typeface="Times New Roman" panose="02020603050405020304" pitchFamily="18" charset="0"/>
              </a:rPr>
              <a:t>k</a:t>
            </a:r>
            <a:r>
              <a:rPr lang="en-US" altLang="zh-CN" sz="2400" i="1" baseline="30000">
                <a:latin typeface="Times New Roman" panose="02020603050405020304" pitchFamily="18" charset="0"/>
              </a:rPr>
              <a:t>-</a:t>
            </a:r>
            <a:r>
              <a:rPr lang="en-US" altLang="zh-CN" sz="2400" baseline="30000">
                <a:latin typeface="Times New Roman" panose="02020603050405020304" pitchFamily="18" charset="0"/>
              </a:rPr>
              <a:t>1</a:t>
            </a:r>
            <a:r>
              <a:rPr lang="zh-CN" altLang="en-US" sz="2400">
                <a:latin typeface="Times New Roman" panose="02020603050405020304" pitchFamily="18" charset="0"/>
              </a:rPr>
              <a:t>也可这样做。预计算大大加快了</a:t>
            </a:r>
            <a:r>
              <a:rPr lang="en-US" altLang="zh-CN" sz="2400">
                <a:latin typeface="Times New Roman" panose="02020603050405020304" pitchFamily="18" charset="0"/>
              </a:rPr>
              <a:t>DSA</a:t>
            </a:r>
            <a:r>
              <a:rPr lang="zh-CN" altLang="en-US" sz="2400">
                <a:latin typeface="Times New Roman" panose="02020603050405020304" pitchFamily="18" charset="0"/>
              </a:rPr>
              <a:t>的速度。</a:t>
            </a:r>
            <a:endParaRPr lang="zh-CN" altLang="en-US" sz="2800">
              <a:latin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灯片编号占位符 4">
            <a:extLst>
              <a:ext uri="{FF2B5EF4-FFF2-40B4-BE49-F238E27FC236}">
                <a16:creationId xmlns:a16="http://schemas.microsoft.com/office/drawing/2014/main" id="{F93C0202-6A51-525F-C500-321A1FCF17C7}"/>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32947131-3BDD-44D3-B959-4E3E6BBD6A92}" type="slidenum">
              <a:rPr lang="zh-CN" altLang="en-US" sz="1400" smtClean="0"/>
              <a:pPr eaLnBrk="0" hangingPunct="0">
                <a:spcBef>
                  <a:spcPct val="0"/>
                </a:spcBef>
                <a:buClrTx/>
                <a:buSzTx/>
                <a:buFontTx/>
                <a:buNone/>
              </a:pPr>
              <a:t>47</a:t>
            </a:fld>
            <a:endParaRPr lang="en-US" altLang="zh-CN" sz="1400"/>
          </a:p>
        </p:txBody>
      </p:sp>
      <p:sp>
        <p:nvSpPr>
          <p:cNvPr id="73731" name="Rectangle 2">
            <a:extLst>
              <a:ext uri="{FF2B5EF4-FFF2-40B4-BE49-F238E27FC236}">
                <a16:creationId xmlns:a16="http://schemas.microsoft.com/office/drawing/2014/main" id="{F3975928-3D2A-D830-A418-F66557530A22}"/>
              </a:ext>
            </a:extLst>
          </p:cNvPr>
          <p:cNvSpPr>
            <a:spLocks noGrp="1" noChangeArrowheads="1"/>
          </p:cNvSpPr>
          <p:nvPr>
            <p:ph type="title"/>
          </p:nvPr>
        </p:nvSpPr>
        <p:spPr/>
        <p:txBody>
          <a:bodyPr/>
          <a:lstStyle/>
          <a:p>
            <a:r>
              <a:rPr lang="zh-CN" altLang="en-US" b="1"/>
              <a:t>三、几种常用的数字签名</a:t>
            </a:r>
          </a:p>
        </p:txBody>
      </p:sp>
      <p:sp>
        <p:nvSpPr>
          <p:cNvPr id="73732" name="Rectangle 3">
            <a:extLst>
              <a:ext uri="{FF2B5EF4-FFF2-40B4-BE49-F238E27FC236}">
                <a16:creationId xmlns:a16="http://schemas.microsoft.com/office/drawing/2014/main" id="{C3D6FB8A-9C12-D319-D384-C36BD946F65D}"/>
              </a:ext>
            </a:extLst>
          </p:cNvPr>
          <p:cNvSpPr>
            <a:spLocks noGrp="1" noChangeArrowheads="1"/>
          </p:cNvSpPr>
          <p:nvPr>
            <p:ph type="body" idx="1"/>
          </p:nvPr>
        </p:nvSpPr>
        <p:spPr>
          <a:xfrm>
            <a:off x="468313" y="2017713"/>
            <a:ext cx="8486775" cy="4114800"/>
          </a:xfrm>
        </p:spPr>
        <p:txBody>
          <a:bodyPr/>
          <a:lstStyle/>
          <a:p>
            <a:pPr marL="182563" indent="-182563" algn="ctr">
              <a:lnSpc>
                <a:spcPct val="90000"/>
              </a:lnSpc>
              <a:spcBef>
                <a:spcPts val="600"/>
              </a:spcBef>
              <a:spcAft>
                <a:spcPts val="600"/>
              </a:spcAft>
              <a:buFont typeface="Wingdings" panose="05000000000000000000" pitchFamily="2" charset="2"/>
              <a:buNone/>
            </a:pPr>
            <a:r>
              <a:rPr lang="zh-CN" altLang="en-US" sz="2800" b="1">
                <a:solidFill>
                  <a:schemeClr val="tx2"/>
                </a:solidFill>
                <a:latin typeface="Times New Roman" panose="02020603050405020304" pitchFamily="18" charset="0"/>
              </a:rPr>
              <a:t>其它</a:t>
            </a:r>
            <a:r>
              <a:rPr lang="zh-CN" altLang="en-US" sz="2800" b="1">
                <a:solidFill>
                  <a:schemeClr val="tx2"/>
                </a:solidFill>
                <a:latin typeface="宋体" panose="02010600030101010101" pitchFamily="2" charset="-122"/>
              </a:rPr>
              <a:t>签名算法</a:t>
            </a:r>
            <a:endParaRPr lang="zh-CN" altLang="en-US" sz="2800" b="1">
              <a:solidFill>
                <a:schemeClr val="tx2"/>
              </a:solidFill>
              <a:latin typeface="Times New Roman" panose="02020603050405020304" pitchFamily="18" charset="0"/>
            </a:endParaRPr>
          </a:p>
          <a:p>
            <a:pPr marL="182563" indent="-182563">
              <a:lnSpc>
                <a:spcPct val="90000"/>
              </a:lnSpc>
              <a:spcBef>
                <a:spcPts val="600"/>
              </a:spcBef>
              <a:spcAft>
                <a:spcPts val="600"/>
              </a:spcAft>
              <a:buFont typeface="Wingdings" panose="05000000000000000000" pitchFamily="2" charset="2"/>
              <a:buNone/>
            </a:pPr>
            <a:r>
              <a:rPr lang="en-US" altLang="zh-CN" sz="2400" b="1">
                <a:latin typeface="Times New Roman" panose="02020603050405020304" pitchFamily="18" charset="0"/>
              </a:rPr>
              <a:t>GOST</a:t>
            </a:r>
            <a:r>
              <a:rPr lang="zh-CN" altLang="en-US" sz="2400" b="1">
                <a:latin typeface="Times New Roman" panose="02020603050405020304" pitchFamily="18" charset="0"/>
              </a:rPr>
              <a:t>签名标准</a:t>
            </a:r>
            <a:r>
              <a:rPr lang="zh-CN" altLang="en-US" sz="2400">
                <a:latin typeface="Times New Roman" panose="02020603050405020304" pitchFamily="18" charset="0"/>
              </a:rPr>
              <a:t>，为俄国采用的数字签名标准，自1995启用，正式称为</a:t>
            </a:r>
            <a:r>
              <a:rPr lang="en-US" altLang="zh-CN" sz="2400">
                <a:latin typeface="Times New Roman" panose="02020603050405020304" pitchFamily="18" charset="0"/>
              </a:rPr>
              <a:t>GOST R34.10-94。</a:t>
            </a:r>
            <a:r>
              <a:rPr lang="zh-CN" altLang="en-US" sz="2400">
                <a:latin typeface="Times New Roman" panose="02020603050405020304" pitchFamily="18" charset="0"/>
              </a:rPr>
              <a:t>算法与</a:t>
            </a:r>
            <a:r>
              <a:rPr lang="en-US" altLang="zh-CN" sz="2400">
                <a:latin typeface="Times New Roman" panose="02020603050405020304" pitchFamily="18" charset="0"/>
              </a:rPr>
              <a:t>Schnorr</a:t>
            </a:r>
            <a:r>
              <a:rPr lang="zh-CN" altLang="en-US" sz="2400">
                <a:latin typeface="Times New Roman" panose="02020603050405020304" pitchFamily="18" charset="0"/>
              </a:rPr>
              <a:t>模式下的</a:t>
            </a:r>
            <a:r>
              <a:rPr lang="en-US" altLang="zh-CN" sz="2400">
                <a:latin typeface="Times New Roman" panose="02020603050405020304" pitchFamily="18" charset="0"/>
              </a:rPr>
              <a:t>ElGamal</a:t>
            </a:r>
            <a:r>
              <a:rPr lang="zh-CN" altLang="en-US" sz="2400">
                <a:latin typeface="Times New Roman" panose="02020603050405020304" pitchFamily="18" charset="0"/>
              </a:rPr>
              <a:t>签名及</a:t>
            </a:r>
            <a:r>
              <a:rPr lang="en-US" altLang="zh-CN" sz="2400">
                <a:latin typeface="Times New Roman" panose="02020603050405020304" pitchFamily="18" charset="0"/>
              </a:rPr>
              <a:t>NIST</a:t>
            </a:r>
            <a:r>
              <a:rPr lang="zh-CN" altLang="en-US" sz="2400">
                <a:latin typeface="Times New Roman" panose="02020603050405020304" pitchFamily="18" charset="0"/>
              </a:rPr>
              <a:t>的</a:t>
            </a:r>
            <a:r>
              <a:rPr lang="en-US" altLang="zh-CN" sz="2400">
                <a:latin typeface="Times New Roman" panose="02020603050405020304" pitchFamily="18" charset="0"/>
              </a:rPr>
              <a:t>DSA</a:t>
            </a:r>
            <a:r>
              <a:rPr lang="zh-CN" altLang="en-US" sz="2400">
                <a:latin typeface="Times New Roman" panose="02020603050405020304" pitchFamily="18" charset="0"/>
              </a:rPr>
              <a:t>很相似。算法中也有一个类似于</a:t>
            </a:r>
            <a:r>
              <a:rPr lang="en-US" altLang="zh-CN" sz="2400">
                <a:latin typeface="Times New Roman" panose="02020603050405020304" pitchFamily="18" charset="0"/>
              </a:rPr>
              <a:t>SHA</a:t>
            </a:r>
            <a:r>
              <a:rPr lang="zh-CN" altLang="en-US" sz="2400">
                <a:latin typeface="Times New Roman" panose="02020603050405020304" pitchFamily="18" charset="0"/>
              </a:rPr>
              <a:t>的杂凑函数</a:t>
            </a:r>
            <a:r>
              <a:rPr lang="en-US" altLang="zh-CN" sz="2400" i="1">
                <a:latin typeface="Times New Roman" panose="02020603050405020304" pitchFamily="18" charset="0"/>
              </a:rPr>
              <a:t>H</a:t>
            </a:r>
            <a:r>
              <a:rPr lang="en-US" altLang="zh-CN" sz="2400">
                <a:latin typeface="Times New Roman" panose="02020603050405020304" pitchFamily="18" charset="0"/>
              </a:rPr>
              <a:t>(</a:t>
            </a:r>
            <a:r>
              <a:rPr lang="en-US" altLang="zh-CN" sz="2400" i="1">
                <a:latin typeface="Times New Roman" panose="02020603050405020304" pitchFamily="18" charset="0"/>
              </a:rPr>
              <a:t>x</a:t>
            </a:r>
            <a:r>
              <a:rPr lang="en-US" altLang="zh-CN" sz="2400">
                <a:latin typeface="Times New Roman" panose="02020603050405020304" pitchFamily="18" charset="0"/>
              </a:rPr>
              <a:t>)，</a:t>
            </a:r>
            <a:r>
              <a:rPr lang="zh-CN" altLang="en-US" sz="2400">
                <a:latin typeface="Times New Roman" panose="02020603050405020304" pitchFamily="18" charset="0"/>
              </a:rPr>
              <a:t>其标准号为</a:t>
            </a:r>
            <a:r>
              <a:rPr lang="en-US" altLang="zh-CN" sz="2400">
                <a:latin typeface="Times New Roman" panose="02020603050405020304" pitchFamily="18" charset="0"/>
              </a:rPr>
              <a:t>GOST  R34. 11-94。</a:t>
            </a:r>
          </a:p>
          <a:p>
            <a:pPr marL="182563" indent="-182563">
              <a:lnSpc>
                <a:spcPct val="90000"/>
              </a:lnSpc>
              <a:spcBef>
                <a:spcPts val="600"/>
              </a:spcBef>
              <a:spcAft>
                <a:spcPts val="600"/>
              </a:spcAft>
              <a:buFont typeface="Wingdings" panose="05000000000000000000" pitchFamily="2" charset="2"/>
              <a:buNone/>
            </a:pPr>
            <a:r>
              <a:rPr lang="en-US" altLang="zh-CN" sz="2400" b="1">
                <a:latin typeface="Times New Roman" panose="02020603050405020304" pitchFamily="18" charset="0"/>
              </a:rPr>
              <a:t>ESIGN</a:t>
            </a:r>
            <a:r>
              <a:rPr lang="zh-CN" altLang="en-US" sz="2400" b="1">
                <a:latin typeface="Times New Roman" panose="02020603050405020304" pitchFamily="18" charset="0"/>
              </a:rPr>
              <a:t>签名体制。</a:t>
            </a:r>
            <a:r>
              <a:rPr lang="zh-CN" altLang="en-US" sz="2400">
                <a:latin typeface="Times New Roman" panose="02020603050405020304" pitchFamily="18" charset="0"/>
              </a:rPr>
              <a:t> 日本</a:t>
            </a:r>
            <a:r>
              <a:rPr lang="en-US" altLang="zh-CN" sz="2400">
                <a:latin typeface="Times New Roman" panose="02020603050405020304" pitchFamily="18" charset="0"/>
              </a:rPr>
              <a:t>NTT</a:t>
            </a:r>
            <a:r>
              <a:rPr lang="zh-CN" altLang="en-US" sz="2400">
                <a:latin typeface="Times New Roman" panose="02020603050405020304" pitchFamily="18" charset="0"/>
              </a:rPr>
              <a:t>的</a:t>
            </a:r>
            <a:r>
              <a:rPr lang="en-US" altLang="zh-CN" sz="2400">
                <a:latin typeface="Times New Roman" panose="02020603050405020304" pitchFamily="18" charset="0"/>
              </a:rPr>
              <a:t>T. Okamoto</a:t>
            </a:r>
            <a:r>
              <a:rPr lang="zh-CN" altLang="en-US" sz="2400">
                <a:latin typeface="Times New Roman" panose="02020603050405020304" pitchFamily="18" charset="0"/>
              </a:rPr>
              <a:t>等设计的签名方案</a:t>
            </a:r>
            <a:r>
              <a:rPr lang="zh-CN" altLang="zh-CN" sz="2400">
                <a:latin typeface="Times New Roman" panose="02020603050405020304" pitchFamily="18" charset="0"/>
              </a:rPr>
              <a:t>。</a:t>
            </a:r>
            <a:r>
              <a:rPr lang="zh-CN" altLang="en-US" sz="2400">
                <a:latin typeface="Times New Roman" panose="02020603050405020304" pitchFamily="18" charset="0"/>
              </a:rPr>
              <a:t>宣称在密钥签名长度相同条件下，至少和</a:t>
            </a:r>
            <a:r>
              <a:rPr lang="en-US" altLang="zh-CN" sz="2400">
                <a:latin typeface="Times New Roman" panose="02020603050405020304" pitchFamily="18" charset="0"/>
              </a:rPr>
              <a:t>RSA，DSA</a:t>
            </a:r>
            <a:r>
              <a:rPr lang="zh-CN" altLang="en-US" sz="2400">
                <a:latin typeface="Times New Roman" panose="02020603050405020304" pitchFamily="18" charset="0"/>
              </a:rPr>
              <a:t>一样安全，且比它们都快。</a:t>
            </a:r>
          </a:p>
          <a:p>
            <a:pPr marL="182563" indent="-182563">
              <a:lnSpc>
                <a:spcPct val="90000"/>
              </a:lnSpc>
              <a:spcAft>
                <a:spcPts val="600"/>
              </a:spcAft>
              <a:buFont typeface="Wingdings" panose="05000000000000000000" pitchFamily="2" charset="2"/>
              <a:buNone/>
            </a:pPr>
            <a:r>
              <a:rPr lang="en-US" altLang="zh-CN" sz="2400" b="1">
                <a:latin typeface="Times New Roman" panose="02020603050405020304" pitchFamily="18" charset="0"/>
              </a:rPr>
              <a:t>OSS</a:t>
            </a:r>
            <a:r>
              <a:rPr lang="zh-CN" altLang="en-US" sz="2400" b="1">
                <a:latin typeface="Times New Roman" panose="02020603050405020304" pitchFamily="18" charset="0"/>
              </a:rPr>
              <a:t>签名体制，</a:t>
            </a:r>
            <a:r>
              <a:rPr lang="en-US" altLang="zh-CN" sz="2400">
                <a:latin typeface="Times New Roman" panose="02020603050405020304" pitchFamily="18" charset="0"/>
              </a:rPr>
              <a:t>Ong，Schnorr</a:t>
            </a:r>
            <a:r>
              <a:rPr lang="zh-CN" altLang="en-US" sz="2400">
                <a:latin typeface="Times New Roman" panose="02020603050405020304" pitchFamily="18" charset="0"/>
              </a:rPr>
              <a:t>和</a:t>
            </a:r>
            <a:r>
              <a:rPr lang="en-US" altLang="zh-CN" sz="2400">
                <a:latin typeface="Times New Roman" panose="02020603050405020304" pitchFamily="18" charset="0"/>
              </a:rPr>
              <a:t>Shamir[1984]</a:t>
            </a:r>
            <a:r>
              <a:rPr lang="zh-CN" altLang="en-US" sz="2400">
                <a:latin typeface="Times New Roman" panose="02020603050405020304" pitchFamily="18" charset="0"/>
              </a:rPr>
              <a:t>提出的一种利用</a:t>
            </a:r>
            <a:r>
              <a:rPr lang="en-US" altLang="zh-CN" sz="2400" i="1">
                <a:latin typeface="Times New Roman" panose="02020603050405020304" pitchFamily="18" charset="0"/>
              </a:rPr>
              <a:t>mod n</a:t>
            </a:r>
            <a:r>
              <a:rPr lang="zh-CN" altLang="en-US" sz="2400">
                <a:latin typeface="Times New Roman" panose="02020603050405020304" pitchFamily="18" charset="0"/>
              </a:rPr>
              <a:t>下多项式的签名算法。方案基于二次多项式。</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标题 1">
            <a:extLst>
              <a:ext uri="{FF2B5EF4-FFF2-40B4-BE49-F238E27FC236}">
                <a16:creationId xmlns:a16="http://schemas.microsoft.com/office/drawing/2014/main" id="{764D5B85-D345-281C-0B62-3FE9CD84CFB1}"/>
              </a:ext>
            </a:extLst>
          </p:cNvPr>
          <p:cNvSpPr>
            <a:spLocks noGrp="1" noChangeArrowheads="1"/>
          </p:cNvSpPr>
          <p:nvPr>
            <p:ph type="title"/>
          </p:nvPr>
        </p:nvSpPr>
        <p:spPr>
          <a:xfrm>
            <a:off x="900113" y="393700"/>
            <a:ext cx="8331200" cy="1462088"/>
          </a:xfrm>
        </p:spPr>
        <p:txBody>
          <a:bodyPr/>
          <a:lstStyle/>
          <a:p>
            <a:r>
              <a:rPr lang="zh-CN" altLang="en-US" b="1"/>
              <a:t>四、特殊用途的数字签名</a:t>
            </a:r>
            <a:r>
              <a:rPr lang="en-US" altLang="zh-CN" b="1"/>
              <a:t>-</a:t>
            </a:r>
            <a:r>
              <a:rPr lang="zh-CN" altLang="en-US" b="1"/>
              <a:t>盲签名</a:t>
            </a:r>
            <a:endParaRPr lang="en-CA" altLang="en-US"/>
          </a:p>
        </p:txBody>
      </p:sp>
      <p:sp>
        <p:nvSpPr>
          <p:cNvPr id="74755" name="内容占位符 2">
            <a:extLst>
              <a:ext uri="{FF2B5EF4-FFF2-40B4-BE49-F238E27FC236}">
                <a16:creationId xmlns:a16="http://schemas.microsoft.com/office/drawing/2014/main" id="{5B676033-0811-FCE9-3C02-221BF66ECF59}"/>
              </a:ext>
            </a:extLst>
          </p:cNvPr>
          <p:cNvSpPr>
            <a:spLocks noGrp="1" noChangeArrowheads="1"/>
          </p:cNvSpPr>
          <p:nvPr>
            <p:ph idx="1"/>
          </p:nvPr>
        </p:nvSpPr>
        <p:spPr>
          <a:xfrm>
            <a:off x="395288" y="2017713"/>
            <a:ext cx="8559800" cy="4114800"/>
          </a:xfrm>
        </p:spPr>
        <p:txBody>
          <a:bodyPr/>
          <a:lstStyle/>
          <a:p>
            <a:pPr marL="0" indent="0">
              <a:buFont typeface="Wingdings" panose="05000000000000000000" pitchFamily="2" charset="2"/>
              <a:buNone/>
            </a:pPr>
            <a:r>
              <a:rPr lang="en-CA" altLang="en-US"/>
              <a:t> </a:t>
            </a:r>
          </a:p>
        </p:txBody>
      </p:sp>
      <p:sp>
        <p:nvSpPr>
          <p:cNvPr id="74756" name="灯片编号占位符 3">
            <a:extLst>
              <a:ext uri="{FF2B5EF4-FFF2-40B4-BE49-F238E27FC236}">
                <a16:creationId xmlns:a16="http://schemas.microsoft.com/office/drawing/2014/main" id="{530E1D4A-CD9E-D571-CF0C-E6A994848C9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DD24A148-734F-4A22-B88A-44CF2B0CCF6C}" type="slidenum">
              <a:rPr lang="zh-CN" altLang="en-US" sz="1400" smtClean="0"/>
              <a:pPr>
                <a:spcBef>
                  <a:spcPct val="0"/>
                </a:spcBef>
                <a:buClrTx/>
                <a:buSzTx/>
                <a:buFontTx/>
                <a:buNone/>
              </a:pPr>
              <a:t>48</a:t>
            </a:fld>
            <a:endParaRPr lang="en-US" altLang="zh-CN" sz="1400"/>
          </a:p>
        </p:txBody>
      </p:sp>
      <p:pic>
        <p:nvPicPr>
          <p:cNvPr id="74757" name="图片 4">
            <a:extLst>
              <a:ext uri="{FF2B5EF4-FFF2-40B4-BE49-F238E27FC236}">
                <a16:creationId xmlns:a16="http://schemas.microsoft.com/office/drawing/2014/main" id="{79E4EFFD-0A48-77CB-D612-8EFD142954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05038"/>
            <a:ext cx="9144000" cy="126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8" name="图片 5">
            <a:extLst>
              <a:ext uri="{FF2B5EF4-FFF2-40B4-BE49-F238E27FC236}">
                <a16:creationId xmlns:a16="http://schemas.microsoft.com/office/drawing/2014/main" id="{D431EB22-FD42-874E-D9E0-3C690F50DC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748088"/>
            <a:ext cx="9144000"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9" name="图片 6">
            <a:extLst>
              <a:ext uri="{FF2B5EF4-FFF2-40B4-BE49-F238E27FC236}">
                <a16:creationId xmlns:a16="http://schemas.microsoft.com/office/drawing/2014/main" id="{8A5F5998-6D41-4A22-48AC-036D400732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50" y="5343525"/>
            <a:ext cx="8716963" cy="131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475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475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47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8" name="灯片编号占位符 4">
            <a:extLst>
              <a:ext uri="{FF2B5EF4-FFF2-40B4-BE49-F238E27FC236}">
                <a16:creationId xmlns:a16="http://schemas.microsoft.com/office/drawing/2014/main" id="{5935A023-637E-2429-8B14-C1E9AA95B00B}"/>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29F8A405-E74B-43FE-87BE-59E9C1A5D484}" type="slidenum">
              <a:rPr lang="zh-CN" altLang="en-US" sz="1400" smtClean="0"/>
              <a:pPr eaLnBrk="0" hangingPunct="0">
                <a:spcBef>
                  <a:spcPct val="0"/>
                </a:spcBef>
                <a:buClrTx/>
                <a:buSzTx/>
                <a:buFontTx/>
                <a:buNone/>
              </a:pPr>
              <a:t>49</a:t>
            </a:fld>
            <a:endParaRPr lang="en-US" altLang="zh-CN" sz="1400"/>
          </a:p>
        </p:txBody>
      </p:sp>
      <p:sp>
        <p:nvSpPr>
          <p:cNvPr id="75779" name="Rectangle 2">
            <a:extLst>
              <a:ext uri="{FF2B5EF4-FFF2-40B4-BE49-F238E27FC236}">
                <a16:creationId xmlns:a16="http://schemas.microsoft.com/office/drawing/2014/main" id="{35858075-9652-9FBA-24F8-DB783E73AEED}"/>
              </a:ext>
            </a:extLst>
          </p:cNvPr>
          <p:cNvSpPr>
            <a:spLocks noGrp="1" noChangeArrowheads="1"/>
          </p:cNvSpPr>
          <p:nvPr>
            <p:ph type="title"/>
          </p:nvPr>
        </p:nvSpPr>
        <p:spPr/>
        <p:txBody>
          <a:bodyPr/>
          <a:lstStyle/>
          <a:p>
            <a:r>
              <a:rPr lang="zh-CN" altLang="en-US" b="1"/>
              <a:t>盲签名</a:t>
            </a:r>
          </a:p>
        </p:txBody>
      </p:sp>
      <p:sp>
        <p:nvSpPr>
          <p:cNvPr id="75780" name="Rectangle 3">
            <a:extLst>
              <a:ext uri="{FF2B5EF4-FFF2-40B4-BE49-F238E27FC236}">
                <a16:creationId xmlns:a16="http://schemas.microsoft.com/office/drawing/2014/main" id="{11886A01-2CCA-B1EB-8BB7-672C013B64BA}"/>
              </a:ext>
            </a:extLst>
          </p:cNvPr>
          <p:cNvSpPr>
            <a:spLocks noGrp="1" noChangeArrowheads="1"/>
          </p:cNvSpPr>
          <p:nvPr>
            <p:ph type="body" idx="1"/>
          </p:nvPr>
        </p:nvSpPr>
        <p:spPr>
          <a:xfrm>
            <a:off x="539750" y="2017713"/>
            <a:ext cx="8415338" cy="4114800"/>
          </a:xfrm>
        </p:spPr>
        <p:txBody>
          <a:bodyPr/>
          <a:lstStyle/>
          <a:p>
            <a:pPr>
              <a:lnSpc>
                <a:spcPct val="90000"/>
              </a:lnSpc>
              <a:buFont typeface="Wingdings" panose="05000000000000000000" pitchFamily="2" charset="2"/>
              <a:buNone/>
            </a:pPr>
            <a:r>
              <a:rPr lang="zh-CN" altLang="en-US" sz="2800" b="1">
                <a:latin typeface="Times New Roman" panose="02020603050405020304" pitchFamily="18" charset="0"/>
              </a:rPr>
              <a:t>盲签名</a:t>
            </a:r>
            <a:r>
              <a:rPr lang="zh-CN" altLang="en-US" sz="2800">
                <a:latin typeface="Times New Roman" panose="02020603050405020304" pitchFamily="18" charset="0"/>
              </a:rPr>
              <a:t>(</a:t>
            </a:r>
            <a:r>
              <a:rPr lang="en-US" altLang="zh-CN" sz="2800">
                <a:latin typeface="Times New Roman" panose="02020603050405020304" pitchFamily="18" charset="0"/>
              </a:rPr>
              <a:t>Blind Signature)</a:t>
            </a:r>
            <a:r>
              <a:rPr lang="zh-CN" altLang="en-US" sz="2800">
                <a:latin typeface="Times New Roman" panose="02020603050405020304" pitchFamily="18" charset="0"/>
              </a:rPr>
              <a:t>是由</a:t>
            </a:r>
            <a:r>
              <a:rPr lang="en-US" altLang="zh-CN" sz="2800">
                <a:latin typeface="Times New Roman" panose="02020603050405020304" pitchFamily="18" charset="0"/>
              </a:rPr>
              <a:t>Chaum[1983]</a:t>
            </a:r>
            <a:r>
              <a:rPr lang="zh-CN" altLang="en-US" sz="2800">
                <a:latin typeface="Times New Roman" panose="02020603050405020304" pitchFamily="18" charset="0"/>
              </a:rPr>
              <a:t>最先提出的。在选举投票（公证人是签名者）和数字货币协议中将会碰到这类要求。</a:t>
            </a:r>
          </a:p>
          <a:p>
            <a:pPr>
              <a:lnSpc>
                <a:spcPct val="90000"/>
              </a:lnSpc>
              <a:spcBef>
                <a:spcPct val="0"/>
              </a:spcBef>
              <a:buClrTx/>
              <a:buSzTx/>
              <a:buFontTx/>
              <a:buNone/>
            </a:pPr>
            <a:r>
              <a:rPr lang="zh-CN" altLang="en-US" sz="2800">
                <a:latin typeface="Times New Roman" panose="02020603050405020304" pitchFamily="18" charset="0"/>
              </a:rPr>
              <a:t>设</a:t>
            </a:r>
            <a:r>
              <a:rPr lang="en-US" altLang="zh-CN" sz="2800">
                <a:latin typeface="Times New Roman" panose="02020603050405020304" pitchFamily="18" charset="0"/>
              </a:rPr>
              <a:t>B</a:t>
            </a:r>
            <a:r>
              <a:rPr lang="zh-CN" altLang="en-US" sz="2800">
                <a:latin typeface="Times New Roman" panose="02020603050405020304" pitchFamily="18" charset="0"/>
              </a:rPr>
              <a:t>是一位仲裁人，</a:t>
            </a:r>
            <a:r>
              <a:rPr lang="en-US" altLang="zh-CN" sz="2800">
                <a:latin typeface="Times New Roman" panose="02020603050405020304" pitchFamily="18" charset="0"/>
              </a:rPr>
              <a:t>A</a:t>
            </a:r>
            <a:r>
              <a:rPr lang="zh-CN" altLang="en-US" sz="2800">
                <a:latin typeface="Times New Roman" panose="02020603050405020304" pitchFamily="18" charset="0"/>
              </a:rPr>
              <a:t>要</a:t>
            </a:r>
            <a:r>
              <a:rPr lang="en-US" altLang="zh-CN" sz="2800">
                <a:latin typeface="Times New Roman" panose="02020603050405020304" pitchFamily="18" charset="0"/>
              </a:rPr>
              <a:t>B</a:t>
            </a:r>
            <a:r>
              <a:rPr lang="zh-CN" altLang="en-US" sz="2800">
                <a:latin typeface="Times New Roman" panose="02020603050405020304" pitchFamily="18" charset="0"/>
              </a:rPr>
              <a:t>签署一个文件，但不想让他知道所签的是什么，而</a:t>
            </a:r>
            <a:r>
              <a:rPr lang="en-US" altLang="zh-CN" sz="2800">
                <a:latin typeface="Times New Roman" panose="02020603050405020304" pitchFamily="18" charset="0"/>
              </a:rPr>
              <a:t>B</a:t>
            </a:r>
            <a:r>
              <a:rPr lang="zh-CN" altLang="en-US" sz="2800">
                <a:latin typeface="Times New Roman" panose="02020603050405020304" pitchFamily="18" charset="0"/>
              </a:rPr>
              <a:t>也并不关心所签的内容，他只是要确保在需要时可以对此进行仲裁。可通过下述协议实现。</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灯片编号占位符 4">
            <a:extLst>
              <a:ext uri="{FF2B5EF4-FFF2-40B4-BE49-F238E27FC236}">
                <a16:creationId xmlns:a16="http://schemas.microsoft.com/office/drawing/2014/main" id="{523BC13C-CADB-82DD-EB30-7A1EFAADDDDD}"/>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72DE16D9-3EEC-49E1-B2D7-09B063EF6D2C}" type="slidenum">
              <a:rPr lang="zh-CN" altLang="en-US" sz="1400" smtClean="0"/>
              <a:pPr eaLnBrk="0" hangingPunct="0">
                <a:spcBef>
                  <a:spcPct val="0"/>
                </a:spcBef>
                <a:buClrTx/>
                <a:buSzTx/>
                <a:buFontTx/>
                <a:buNone/>
              </a:pPr>
              <a:t>50</a:t>
            </a:fld>
            <a:endParaRPr lang="en-US" altLang="zh-CN" sz="1400"/>
          </a:p>
        </p:txBody>
      </p:sp>
      <p:sp>
        <p:nvSpPr>
          <p:cNvPr id="76803" name="Rectangle 2">
            <a:extLst>
              <a:ext uri="{FF2B5EF4-FFF2-40B4-BE49-F238E27FC236}">
                <a16:creationId xmlns:a16="http://schemas.microsoft.com/office/drawing/2014/main" id="{C0BF5C74-3C26-989A-09DF-EB35681F00C8}"/>
              </a:ext>
            </a:extLst>
          </p:cNvPr>
          <p:cNvSpPr>
            <a:spLocks noGrp="1" noChangeArrowheads="1"/>
          </p:cNvSpPr>
          <p:nvPr>
            <p:ph type="title"/>
          </p:nvPr>
        </p:nvSpPr>
        <p:spPr/>
        <p:txBody>
          <a:bodyPr/>
          <a:lstStyle/>
          <a:p>
            <a:r>
              <a:rPr lang="zh-CN" altLang="en-US" b="1"/>
              <a:t>盲签名</a:t>
            </a:r>
          </a:p>
        </p:txBody>
      </p:sp>
      <p:sp>
        <p:nvSpPr>
          <p:cNvPr id="75780" name="Rectangle 3">
            <a:extLst>
              <a:ext uri="{FF2B5EF4-FFF2-40B4-BE49-F238E27FC236}">
                <a16:creationId xmlns:a16="http://schemas.microsoft.com/office/drawing/2014/main" id="{77D64B7E-DDCC-EE43-7989-8FF36A658B44}"/>
              </a:ext>
            </a:extLst>
          </p:cNvPr>
          <p:cNvSpPr>
            <a:spLocks noGrp="1" noChangeArrowheads="1"/>
          </p:cNvSpPr>
          <p:nvPr>
            <p:ph type="body" idx="1"/>
          </p:nvPr>
        </p:nvSpPr>
        <p:spPr>
          <a:xfrm>
            <a:off x="250825" y="2017713"/>
            <a:ext cx="8704263" cy="4114800"/>
          </a:xfrm>
        </p:spPr>
        <p:txBody>
          <a:bodyPr/>
          <a:lstStyle/>
          <a:p>
            <a:pPr algn="just">
              <a:spcBef>
                <a:spcPct val="0"/>
              </a:spcBef>
              <a:spcAft>
                <a:spcPts val="600"/>
              </a:spcAft>
              <a:buFont typeface="Wingdings" panose="05000000000000000000" pitchFamily="2" charset="2"/>
              <a:buNone/>
            </a:pPr>
            <a:r>
              <a:rPr lang="zh-CN" altLang="en-US" sz="2000">
                <a:latin typeface="Times New Roman" panose="02020603050405020304" pitchFamily="18" charset="0"/>
              </a:rPr>
              <a:t>(</a:t>
            </a:r>
            <a:r>
              <a:rPr lang="en-US" altLang="zh-CN" sz="2000">
                <a:latin typeface="Times New Roman" panose="02020603050405020304" pitchFamily="18" charset="0"/>
              </a:rPr>
              <a:t>a) A</a:t>
            </a:r>
            <a:r>
              <a:rPr lang="zh-CN" altLang="en-US" sz="2000">
                <a:latin typeface="Times New Roman" panose="02020603050405020304" pitchFamily="18" charset="0"/>
              </a:rPr>
              <a:t>取一文件并以一随机值乘之。称此随机值为</a:t>
            </a:r>
            <a:r>
              <a:rPr lang="zh-CN" altLang="en-US" sz="2000" b="1">
                <a:latin typeface="Times New Roman" panose="02020603050405020304" pitchFamily="18" charset="0"/>
              </a:rPr>
              <a:t>盲因子</a:t>
            </a:r>
            <a:r>
              <a:rPr lang="zh-CN" altLang="en-US" sz="2000">
                <a:latin typeface="Times New Roman" panose="02020603050405020304" pitchFamily="18" charset="0"/>
              </a:rPr>
              <a:t>，称用</a:t>
            </a:r>
            <a:r>
              <a:rPr lang="zh-CN" altLang="en-US" sz="2000" b="1">
                <a:latin typeface="Times New Roman" panose="02020603050405020304" pitchFamily="18" charset="0"/>
              </a:rPr>
              <a:t>盲因子</a:t>
            </a:r>
            <a:r>
              <a:rPr lang="zh-CN" altLang="en-US" sz="2000">
                <a:latin typeface="Times New Roman" panose="02020603050405020304" pitchFamily="18" charset="0"/>
              </a:rPr>
              <a:t>乘后的文件为盲文件。</a:t>
            </a:r>
          </a:p>
          <a:p>
            <a:pPr algn="just">
              <a:spcBef>
                <a:spcPct val="0"/>
              </a:spcBef>
              <a:spcAft>
                <a:spcPts val="600"/>
              </a:spcAft>
              <a:buFont typeface="Wingdings" panose="05000000000000000000" pitchFamily="2" charset="2"/>
              <a:buNone/>
            </a:pPr>
            <a:r>
              <a:rPr lang="zh-CN" altLang="zh-CN" sz="2000">
                <a:latin typeface="Times New Roman" panose="02020603050405020304" pitchFamily="18" charset="0"/>
              </a:rPr>
              <a:t>(</a:t>
            </a:r>
            <a:r>
              <a:rPr lang="en-US" altLang="zh-CN" sz="2000">
                <a:latin typeface="Times New Roman" panose="02020603050405020304" pitchFamily="18" charset="0"/>
              </a:rPr>
              <a:t>b)  A</a:t>
            </a:r>
            <a:r>
              <a:rPr lang="zh-CN" altLang="en-US" sz="2000">
                <a:latin typeface="Times New Roman" panose="02020603050405020304" pitchFamily="18" charset="0"/>
              </a:rPr>
              <a:t>将此盲文件送给</a:t>
            </a:r>
            <a:r>
              <a:rPr lang="en-US" altLang="zh-CN" sz="2000">
                <a:latin typeface="Times New Roman" panose="02020603050405020304" pitchFamily="18" charset="0"/>
              </a:rPr>
              <a:t>B。</a:t>
            </a:r>
          </a:p>
          <a:p>
            <a:pPr algn="just">
              <a:spcBef>
                <a:spcPct val="0"/>
              </a:spcBef>
              <a:spcAft>
                <a:spcPts val="600"/>
              </a:spcAft>
              <a:buFont typeface="Wingdings" panose="05000000000000000000" pitchFamily="2" charset="2"/>
              <a:buNone/>
            </a:pPr>
            <a:r>
              <a:rPr lang="en-US" altLang="zh-CN" sz="2000">
                <a:latin typeface="Times New Roman" panose="02020603050405020304" pitchFamily="18" charset="0"/>
              </a:rPr>
              <a:t>(c)  B</a:t>
            </a:r>
            <a:r>
              <a:rPr lang="zh-CN" altLang="en-US" sz="2000">
                <a:latin typeface="Times New Roman" panose="02020603050405020304" pitchFamily="18" charset="0"/>
              </a:rPr>
              <a:t>对盲文件签名。</a:t>
            </a:r>
          </a:p>
          <a:p>
            <a:pPr algn="just">
              <a:spcBef>
                <a:spcPct val="0"/>
              </a:spcBef>
              <a:spcAft>
                <a:spcPts val="600"/>
              </a:spcAft>
              <a:buFont typeface="Wingdings" panose="05000000000000000000" pitchFamily="2" charset="2"/>
              <a:buNone/>
            </a:pPr>
            <a:r>
              <a:rPr lang="zh-CN" altLang="en-US" sz="2000">
                <a:latin typeface="Times New Roman" panose="02020603050405020304" pitchFamily="18" charset="0"/>
              </a:rPr>
              <a:t>(</a:t>
            </a:r>
            <a:r>
              <a:rPr lang="en-US" altLang="zh-CN" sz="2000">
                <a:latin typeface="Times New Roman" panose="02020603050405020304" pitchFamily="18" charset="0"/>
              </a:rPr>
              <a:t>d</a:t>
            </a:r>
            <a:r>
              <a:rPr lang="zh-CN" altLang="en-US" sz="2000">
                <a:latin typeface="Times New Roman" panose="02020603050405020304" pitchFamily="18" charset="0"/>
              </a:rPr>
              <a:t>)  </a:t>
            </a:r>
            <a:r>
              <a:rPr lang="en-US" altLang="zh-CN" sz="2000">
                <a:latin typeface="Times New Roman" panose="02020603050405020304" pitchFamily="18" charset="0"/>
              </a:rPr>
              <a:t>A</a:t>
            </a:r>
            <a:r>
              <a:rPr lang="zh-CN" altLang="en-US" sz="2000">
                <a:latin typeface="Times New Roman" panose="02020603050405020304" pitchFamily="18" charset="0"/>
              </a:rPr>
              <a:t>以盲因子除之，得到</a:t>
            </a:r>
            <a:r>
              <a:rPr lang="en-US" altLang="zh-CN" sz="2000">
                <a:latin typeface="Times New Roman" panose="02020603050405020304" pitchFamily="18" charset="0"/>
              </a:rPr>
              <a:t>B</a:t>
            </a:r>
            <a:r>
              <a:rPr lang="zh-CN" altLang="en-US" sz="2000">
                <a:latin typeface="Times New Roman" panose="02020603050405020304" pitchFamily="18" charset="0"/>
              </a:rPr>
              <a:t>对原文件的签名。</a:t>
            </a:r>
          </a:p>
        </p:txBody>
      </p:sp>
      <p:pic>
        <p:nvPicPr>
          <p:cNvPr id="76805" name="图片 1">
            <a:extLst>
              <a:ext uri="{FF2B5EF4-FFF2-40B4-BE49-F238E27FC236}">
                <a16:creationId xmlns:a16="http://schemas.microsoft.com/office/drawing/2014/main" id="{042B72E6-DE64-9D07-725A-D1FCF2CABE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513" y="4438650"/>
            <a:ext cx="8308975" cy="180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578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578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578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578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灯片编号占位符 4">
            <a:extLst>
              <a:ext uri="{FF2B5EF4-FFF2-40B4-BE49-F238E27FC236}">
                <a16:creationId xmlns:a16="http://schemas.microsoft.com/office/drawing/2014/main" id="{D24AB1D7-4E0B-5DCE-0578-7566DF91B271}"/>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64A2BB0B-72F6-41C2-B94B-344B0837E609}" type="slidenum">
              <a:rPr lang="zh-CN" altLang="en-US" sz="1400" smtClean="0"/>
              <a:pPr eaLnBrk="0" hangingPunct="0">
                <a:spcBef>
                  <a:spcPct val="0"/>
                </a:spcBef>
                <a:buClrTx/>
                <a:buSzTx/>
                <a:buFontTx/>
                <a:buNone/>
              </a:pPr>
              <a:t>51</a:t>
            </a:fld>
            <a:endParaRPr lang="en-US" altLang="zh-CN" sz="1400"/>
          </a:p>
        </p:txBody>
      </p:sp>
      <p:sp>
        <p:nvSpPr>
          <p:cNvPr id="77827" name="Rectangle 2">
            <a:extLst>
              <a:ext uri="{FF2B5EF4-FFF2-40B4-BE49-F238E27FC236}">
                <a16:creationId xmlns:a16="http://schemas.microsoft.com/office/drawing/2014/main" id="{F99B78C5-E442-0720-54D7-6513DC07C460}"/>
              </a:ext>
            </a:extLst>
          </p:cNvPr>
          <p:cNvSpPr>
            <a:spLocks noGrp="1" noChangeArrowheads="1"/>
          </p:cNvSpPr>
          <p:nvPr>
            <p:ph type="title"/>
          </p:nvPr>
        </p:nvSpPr>
        <p:spPr/>
        <p:txBody>
          <a:bodyPr/>
          <a:lstStyle/>
          <a:p>
            <a:r>
              <a:rPr lang="zh-CN" altLang="en-US" b="1"/>
              <a:t>盲签名</a:t>
            </a:r>
          </a:p>
        </p:txBody>
      </p:sp>
      <p:sp>
        <p:nvSpPr>
          <p:cNvPr id="77828" name="Rectangle 3">
            <a:extLst>
              <a:ext uri="{FF2B5EF4-FFF2-40B4-BE49-F238E27FC236}">
                <a16:creationId xmlns:a16="http://schemas.microsoft.com/office/drawing/2014/main" id="{3868624F-7952-B8AC-6122-8B9EDC0DDA50}"/>
              </a:ext>
            </a:extLst>
          </p:cNvPr>
          <p:cNvSpPr>
            <a:spLocks noGrp="1" noChangeArrowheads="1"/>
          </p:cNvSpPr>
          <p:nvPr>
            <p:ph type="body" idx="1"/>
          </p:nvPr>
        </p:nvSpPr>
        <p:spPr>
          <a:xfrm>
            <a:off x="684213" y="2017713"/>
            <a:ext cx="8064500" cy="4114800"/>
          </a:xfrm>
        </p:spPr>
        <p:txBody>
          <a:bodyPr/>
          <a:lstStyle/>
          <a:p>
            <a:pPr algn="ctr">
              <a:buFont typeface="Wingdings" panose="05000000000000000000" pitchFamily="2" charset="2"/>
              <a:buNone/>
            </a:pPr>
            <a:r>
              <a:rPr lang="zh-CN" altLang="en-US" sz="2800">
                <a:latin typeface="Times New Roman" panose="02020603050405020304" pitchFamily="18" charset="0"/>
              </a:rPr>
              <a:t> </a:t>
            </a:r>
          </a:p>
        </p:txBody>
      </p:sp>
      <p:pic>
        <p:nvPicPr>
          <p:cNvPr id="2" name="图片 1">
            <a:extLst>
              <a:ext uri="{FF2B5EF4-FFF2-40B4-BE49-F238E27FC236}">
                <a16:creationId xmlns:a16="http://schemas.microsoft.com/office/drawing/2014/main" id="{EA2316F5-C590-F7D5-9118-ED95CF8F35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62213"/>
            <a:ext cx="9144000"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9BD6D27C-A170-EF2A-3EFB-1FB6D9E9FF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845050"/>
            <a:ext cx="7164388"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灯片编号占位符 4">
            <a:extLst>
              <a:ext uri="{FF2B5EF4-FFF2-40B4-BE49-F238E27FC236}">
                <a16:creationId xmlns:a16="http://schemas.microsoft.com/office/drawing/2014/main" id="{06EE9046-332A-EBDE-1F9E-D4462681FC9B}"/>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A9F4C419-55E8-418B-A4BE-955E818B7F8D}" type="slidenum">
              <a:rPr lang="zh-CN" altLang="en-US" sz="1400" smtClean="0"/>
              <a:pPr eaLnBrk="0" hangingPunct="0">
                <a:spcBef>
                  <a:spcPct val="0"/>
                </a:spcBef>
                <a:buClrTx/>
                <a:buSzTx/>
                <a:buFontTx/>
                <a:buNone/>
              </a:pPr>
              <a:t>52</a:t>
            </a:fld>
            <a:endParaRPr lang="en-US" altLang="zh-CN" sz="1400"/>
          </a:p>
        </p:txBody>
      </p:sp>
      <p:sp>
        <p:nvSpPr>
          <p:cNvPr id="78851" name="Rectangle 2">
            <a:extLst>
              <a:ext uri="{FF2B5EF4-FFF2-40B4-BE49-F238E27FC236}">
                <a16:creationId xmlns:a16="http://schemas.microsoft.com/office/drawing/2014/main" id="{3B850C75-7DEE-425C-F5C4-3BED8A99040A}"/>
              </a:ext>
            </a:extLst>
          </p:cNvPr>
          <p:cNvSpPr>
            <a:spLocks noGrp="1" noChangeArrowheads="1"/>
          </p:cNvSpPr>
          <p:nvPr>
            <p:ph type="title"/>
          </p:nvPr>
        </p:nvSpPr>
        <p:spPr>
          <a:xfrm>
            <a:off x="1150938" y="214313"/>
            <a:ext cx="7885112" cy="835025"/>
          </a:xfrm>
        </p:spPr>
        <p:txBody>
          <a:bodyPr/>
          <a:lstStyle/>
          <a:p>
            <a:r>
              <a:rPr lang="zh-CN" altLang="en-US" b="1"/>
              <a:t>基于</a:t>
            </a:r>
            <a:r>
              <a:rPr lang="en-US" altLang="zh-CN" b="1"/>
              <a:t>RSA</a:t>
            </a:r>
            <a:r>
              <a:rPr lang="zh-CN" altLang="en-US" b="1"/>
              <a:t>签名的盲签名</a:t>
            </a:r>
          </a:p>
        </p:txBody>
      </p:sp>
      <p:sp>
        <p:nvSpPr>
          <p:cNvPr id="78852" name="Rectangle 3">
            <a:extLst>
              <a:ext uri="{FF2B5EF4-FFF2-40B4-BE49-F238E27FC236}">
                <a16:creationId xmlns:a16="http://schemas.microsoft.com/office/drawing/2014/main" id="{5227757E-9DE0-8D4C-4127-BC99F77EE5AE}"/>
              </a:ext>
            </a:extLst>
          </p:cNvPr>
          <p:cNvSpPr>
            <a:spLocks noGrp="1" noChangeArrowheads="1"/>
          </p:cNvSpPr>
          <p:nvPr>
            <p:ph type="body" idx="1"/>
          </p:nvPr>
        </p:nvSpPr>
        <p:spPr>
          <a:xfrm>
            <a:off x="468313" y="2017713"/>
            <a:ext cx="8486775" cy="4114800"/>
          </a:xfrm>
        </p:spPr>
        <p:txBody>
          <a:bodyPr/>
          <a:lstStyle/>
          <a:p>
            <a:pPr algn="ctr">
              <a:lnSpc>
                <a:spcPct val="80000"/>
              </a:lnSpc>
              <a:buFont typeface="Wingdings" panose="05000000000000000000" pitchFamily="2" charset="2"/>
              <a:buNone/>
            </a:pPr>
            <a:r>
              <a:rPr lang="zh-CN" altLang="en-US" sz="2800" b="1">
                <a:latin typeface="Times New Roman" panose="02020603050405020304" pitchFamily="18" charset="0"/>
              </a:rPr>
              <a:t> </a:t>
            </a:r>
          </a:p>
        </p:txBody>
      </p:sp>
      <p:pic>
        <p:nvPicPr>
          <p:cNvPr id="78853" name="图片 1">
            <a:extLst>
              <a:ext uri="{FF2B5EF4-FFF2-40B4-BE49-F238E27FC236}">
                <a16:creationId xmlns:a16="http://schemas.microsoft.com/office/drawing/2014/main" id="{61ACBA5B-55E5-4933-31DD-D8FEB4B932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89075"/>
            <a:ext cx="9144000"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9485A166-D088-8C59-B923-5B8A516C33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673350"/>
            <a:ext cx="914400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F8389B4D-81C0-13B3-A188-CBC274671B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175" y="4565650"/>
            <a:ext cx="8896350" cy="156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4" name="灯片编号占位符 4">
            <a:extLst>
              <a:ext uri="{FF2B5EF4-FFF2-40B4-BE49-F238E27FC236}">
                <a16:creationId xmlns:a16="http://schemas.microsoft.com/office/drawing/2014/main" id="{9DFC4A11-D963-1C67-2662-47119D61A906}"/>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8A612F0E-37AF-4711-AFBC-36B1D412E8D1}" type="slidenum">
              <a:rPr lang="zh-CN" altLang="en-US" sz="1400" smtClean="0"/>
              <a:pPr eaLnBrk="0" hangingPunct="0">
                <a:spcBef>
                  <a:spcPct val="0"/>
                </a:spcBef>
                <a:buClrTx/>
                <a:buSzTx/>
                <a:buFontTx/>
                <a:buNone/>
              </a:pPr>
              <a:t>53</a:t>
            </a:fld>
            <a:endParaRPr lang="en-US" altLang="zh-CN" sz="1400"/>
          </a:p>
        </p:txBody>
      </p:sp>
      <p:sp>
        <p:nvSpPr>
          <p:cNvPr id="79875" name="Rectangle 2">
            <a:extLst>
              <a:ext uri="{FF2B5EF4-FFF2-40B4-BE49-F238E27FC236}">
                <a16:creationId xmlns:a16="http://schemas.microsoft.com/office/drawing/2014/main" id="{0CFE9867-1C53-BEEE-F773-ABA72A2375F4}"/>
              </a:ext>
            </a:extLst>
          </p:cNvPr>
          <p:cNvSpPr>
            <a:spLocks noGrp="1" noChangeArrowheads="1"/>
          </p:cNvSpPr>
          <p:nvPr>
            <p:ph type="title"/>
          </p:nvPr>
        </p:nvSpPr>
        <p:spPr>
          <a:xfrm>
            <a:off x="1150938" y="214313"/>
            <a:ext cx="7885112" cy="1462087"/>
          </a:xfrm>
        </p:spPr>
        <p:txBody>
          <a:bodyPr/>
          <a:lstStyle/>
          <a:p>
            <a:r>
              <a:rPr lang="zh-CN" altLang="en-US" b="1"/>
              <a:t>基于</a:t>
            </a:r>
            <a:r>
              <a:rPr lang="en-US" altLang="zh-CN" b="1"/>
              <a:t>RSA</a:t>
            </a:r>
            <a:r>
              <a:rPr lang="zh-CN" altLang="en-US" b="1"/>
              <a:t>签名的盲签名</a:t>
            </a:r>
          </a:p>
        </p:txBody>
      </p:sp>
      <p:sp>
        <p:nvSpPr>
          <p:cNvPr id="79876" name="Rectangle 3">
            <a:extLst>
              <a:ext uri="{FF2B5EF4-FFF2-40B4-BE49-F238E27FC236}">
                <a16:creationId xmlns:a16="http://schemas.microsoft.com/office/drawing/2014/main" id="{E937601F-B551-67C1-1DC4-7FDDD52D5650}"/>
              </a:ext>
            </a:extLst>
          </p:cNvPr>
          <p:cNvSpPr>
            <a:spLocks noGrp="1" noChangeArrowheads="1"/>
          </p:cNvSpPr>
          <p:nvPr>
            <p:ph type="body" idx="1"/>
          </p:nvPr>
        </p:nvSpPr>
        <p:spPr>
          <a:xfrm>
            <a:off x="468313" y="2017713"/>
            <a:ext cx="8486775" cy="4114800"/>
          </a:xfrm>
        </p:spPr>
        <p:txBody>
          <a:bodyPr/>
          <a:lstStyle/>
          <a:p>
            <a:pPr algn="ctr">
              <a:lnSpc>
                <a:spcPct val="80000"/>
              </a:lnSpc>
              <a:buFont typeface="Wingdings" panose="05000000000000000000" pitchFamily="2" charset="2"/>
              <a:buNone/>
            </a:pPr>
            <a:r>
              <a:rPr lang="zh-CN" altLang="en-US" sz="2800" b="1">
                <a:latin typeface="Times New Roman" panose="02020603050405020304" pitchFamily="18" charset="0"/>
              </a:rPr>
              <a:t> </a:t>
            </a:r>
          </a:p>
        </p:txBody>
      </p:sp>
      <p:pic>
        <p:nvPicPr>
          <p:cNvPr id="79877" name="图片 4">
            <a:extLst>
              <a:ext uri="{FF2B5EF4-FFF2-40B4-BE49-F238E27FC236}">
                <a16:creationId xmlns:a16="http://schemas.microsoft.com/office/drawing/2014/main" id="{6ABDBAB0-DC93-3115-EA00-9E6CFB9FF7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0" y="2362200"/>
            <a:ext cx="91440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23C24389-E54D-9288-BBCA-3156037AFB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0" y="5170488"/>
            <a:ext cx="91440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898" name="灯片编号占位符 4">
            <a:extLst>
              <a:ext uri="{FF2B5EF4-FFF2-40B4-BE49-F238E27FC236}">
                <a16:creationId xmlns:a16="http://schemas.microsoft.com/office/drawing/2014/main" id="{B37A15FD-A723-FB53-D944-529876E7F672}"/>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2E26D1C4-7391-44DE-9A23-D97D58B7DB45}" type="slidenum">
              <a:rPr lang="zh-CN" altLang="en-US" sz="1400" smtClean="0"/>
              <a:pPr eaLnBrk="0" hangingPunct="0">
                <a:spcBef>
                  <a:spcPct val="0"/>
                </a:spcBef>
                <a:buClrTx/>
                <a:buSzTx/>
                <a:buFontTx/>
                <a:buNone/>
              </a:pPr>
              <a:t>54</a:t>
            </a:fld>
            <a:endParaRPr lang="en-US" altLang="zh-CN" sz="1400"/>
          </a:p>
        </p:txBody>
      </p:sp>
      <p:sp>
        <p:nvSpPr>
          <p:cNvPr id="80899" name="Rectangle 2">
            <a:extLst>
              <a:ext uri="{FF2B5EF4-FFF2-40B4-BE49-F238E27FC236}">
                <a16:creationId xmlns:a16="http://schemas.microsoft.com/office/drawing/2014/main" id="{FF77C562-263E-A7AC-6A7D-E351100FECC7}"/>
              </a:ext>
            </a:extLst>
          </p:cNvPr>
          <p:cNvSpPr>
            <a:spLocks noGrp="1" noChangeArrowheads="1"/>
          </p:cNvSpPr>
          <p:nvPr>
            <p:ph type="title"/>
          </p:nvPr>
        </p:nvSpPr>
        <p:spPr>
          <a:xfrm>
            <a:off x="1150938" y="214313"/>
            <a:ext cx="7793037" cy="1054100"/>
          </a:xfrm>
        </p:spPr>
        <p:txBody>
          <a:bodyPr/>
          <a:lstStyle/>
          <a:p>
            <a:r>
              <a:rPr lang="zh-CN" altLang="en-US" b="1"/>
              <a:t>四、特殊用途的数字签名</a:t>
            </a:r>
          </a:p>
        </p:txBody>
      </p:sp>
      <p:sp>
        <p:nvSpPr>
          <p:cNvPr id="80900" name="Rectangle 3">
            <a:extLst>
              <a:ext uri="{FF2B5EF4-FFF2-40B4-BE49-F238E27FC236}">
                <a16:creationId xmlns:a16="http://schemas.microsoft.com/office/drawing/2014/main" id="{6A7FEAA6-A731-AA7E-427A-4FD46D2AACE3}"/>
              </a:ext>
            </a:extLst>
          </p:cNvPr>
          <p:cNvSpPr>
            <a:spLocks noGrp="1" noChangeArrowheads="1"/>
          </p:cNvSpPr>
          <p:nvPr>
            <p:ph type="body" idx="1"/>
          </p:nvPr>
        </p:nvSpPr>
        <p:spPr>
          <a:xfrm>
            <a:off x="611188" y="1628775"/>
            <a:ext cx="8343900" cy="4503738"/>
          </a:xfrm>
        </p:spPr>
        <p:txBody>
          <a:bodyPr/>
          <a:lstStyle/>
          <a:p>
            <a:pPr algn="ctr">
              <a:lnSpc>
                <a:spcPct val="80000"/>
              </a:lnSpc>
              <a:buFont typeface="Wingdings" panose="05000000000000000000" pitchFamily="2" charset="2"/>
              <a:buNone/>
            </a:pPr>
            <a:r>
              <a:rPr lang="zh-CN" altLang="en-US" sz="3600" b="1" dirty="0">
                <a:latin typeface="Times New Roman" panose="02020603050405020304" pitchFamily="18" charset="0"/>
                <a:ea typeface="黑体" panose="02010609060101010101" pitchFamily="49" charset="-122"/>
              </a:rPr>
              <a:t>群签名</a:t>
            </a:r>
            <a:endParaRPr lang="zh-CN" altLang="en-US" sz="2800" dirty="0">
              <a:latin typeface="Times New Roman" panose="02020603050405020304" pitchFamily="18" charset="0"/>
            </a:endParaRPr>
          </a:p>
          <a:p>
            <a:pPr>
              <a:lnSpc>
                <a:spcPct val="80000"/>
              </a:lnSpc>
              <a:buFont typeface="Wingdings" panose="05000000000000000000" pitchFamily="2" charset="2"/>
              <a:buNone/>
            </a:pPr>
            <a:r>
              <a:rPr lang="zh-CN" altLang="en-US" sz="2800" dirty="0">
                <a:latin typeface="Times New Roman" panose="02020603050405020304" pitchFamily="18" charset="0"/>
              </a:rPr>
              <a:t>群签名(</a:t>
            </a:r>
            <a:r>
              <a:rPr lang="en-US" altLang="zh-CN" sz="2800" dirty="0">
                <a:latin typeface="Times New Roman" panose="02020603050405020304" pitchFamily="18" charset="0"/>
              </a:rPr>
              <a:t>Group Signature)</a:t>
            </a:r>
            <a:r>
              <a:rPr lang="zh-CN" altLang="en-US" sz="2800" dirty="0">
                <a:latin typeface="Times New Roman" panose="02020603050405020304" pitchFamily="18" charset="0"/>
              </a:rPr>
              <a:t>是面向群体密码学中的一个课题，1991年由</a:t>
            </a:r>
            <a:r>
              <a:rPr lang="en-US" altLang="zh-CN" sz="2800" dirty="0" err="1">
                <a:latin typeface="Times New Roman" panose="02020603050405020304" pitchFamily="18" charset="0"/>
              </a:rPr>
              <a:t>Chaum</a:t>
            </a:r>
            <a:r>
              <a:rPr lang="zh-CN" altLang="en-US" sz="2800" dirty="0">
                <a:latin typeface="Times New Roman" panose="02020603050405020304" pitchFamily="18" charset="0"/>
              </a:rPr>
              <a:t>和</a:t>
            </a:r>
            <a:r>
              <a:rPr lang="en-US" altLang="zh-CN" sz="2800" dirty="0">
                <a:latin typeface="Times New Roman" panose="02020603050405020304" pitchFamily="18" charset="0"/>
              </a:rPr>
              <a:t>van </a:t>
            </a:r>
            <a:r>
              <a:rPr lang="en-US" altLang="zh-CN" sz="2800" dirty="0" err="1">
                <a:latin typeface="Times New Roman" panose="02020603050405020304" pitchFamily="18" charset="0"/>
              </a:rPr>
              <a:t>Heyst</a:t>
            </a:r>
            <a:r>
              <a:rPr lang="zh-CN" altLang="en-US" sz="2800" dirty="0">
                <a:latin typeface="Times New Roman" panose="02020603050405020304" pitchFamily="18" charset="0"/>
              </a:rPr>
              <a:t>提出。它有下述几个特点：</a:t>
            </a:r>
          </a:p>
          <a:p>
            <a:pPr>
              <a:lnSpc>
                <a:spcPct val="80000"/>
              </a:lnSpc>
              <a:buFont typeface="Wingdings" panose="05000000000000000000" pitchFamily="2" charset="2"/>
              <a:buNone/>
            </a:pPr>
            <a:r>
              <a:rPr lang="zh-CN" altLang="en-US" sz="2800" dirty="0">
                <a:latin typeface="宋体" panose="02010600030101010101" pitchFamily="2" charset="-122"/>
              </a:rPr>
              <a:t>①</a:t>
            </a:r>
            <a:r>
              <a:rPr lang="zh-CN" altLang="en-US" sz="2800" dirty="0">
                <a:latin typeface="Times New Roman" panose="02020603050405020304" pitchFamily="18" charset="0"/>
              </a:rPr>
              <a:t>只有群中成员能代表群体签名；</a:t>
            </a:r>
          </a:p>
          <a:p>
            <a:pPr>
              <a:lnSpc>
                <a:spcPct val="80000"/>
              </a:lnSpc>
              <a:buFont typeface="Wingdings" panose="05000000000000000000" pitchFamily="2" charset="2"/>
              <a:buNone/>
            </a:pPr>
            <a:r>
              <a:rPr lang="zh-CN" altLang="en-US" sz="2800" dirty="0">
                <a:latin typeface="宋体" panose="02010600030101010101" pitchFamily="2" charset="-122"/>
              </a:rPr>
              <a:t>②</a:t>
            </a:r>
            <a:r>
              <a:rPr lang="zh-CN" altLang="en-US" sz="2800" dirty="0">
                <a:latin typeface="Times New Roman" panose="02020603050405020304" pitchFamily="18" charset="0"/>
              </a:rPr>
              <a:t> 接收到签名的人可以用公钥验证群签名，但不知道由群体中那个成员所签；</a:t>
            </a:r>
          </a:p>
          <a:p>
            <a:pPr>
              <a:lnSpc>
                <a:spcPct val="80000"/>
              </a:lnSpc>
              <a:buFont typeface="Wingdings" panose="05000000000000000000" pitchFamily="2" charset="2"/>
              <a:buNone/>
            </a:pPr>
            <a:r>
              <a:rPr lang="zh-CN" altLang="en-US" sz="2800" dirty="0">
                <a:latin typeface="宋体" panose="02010600030101010101" pitchFamily="2" charset="-122"/>
              </a:rPr>
              <a:t>③</a:t>
            </a:r>
            <a:r>
              <a:rPr lang="zh-CN" altLang="en-US" sz="2800" dirty="0">
                <a:latin typeface="Times New Roman" panose="02020603050405020304" pitchFamily="18" charset="0"/>
              </a:rPr>
              <a:t> 发生争议时可由群体中的成员或可信赖机构识别群签名的签名者。</a:t>
            </a:r>
          </a:p>
          <a:p>
            <a:pPr>
              <a:lnSpc>
                <a:spcPct val="80000"/>
              </a:lnSpc>
              <a:buFont typeface="Wingdings" panose="05000000000000000000" pitchFamily="2" charset="2"/>
              <a:buNone/>
            </a:pPr>
            <a:r>
              <a:rPr lang="zh-CN" altLang="en-US" sz="2800" dirty="0">
                <a:latin typeface="Times New Roman" panose="02020603050405020304" pitchFamily="18" charset="0"/>
              </a:rPr>
              <a:t>这类签名可用于投标中，以防止作弊。</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0B441B-38F0-EFFD-E7F5-62B4CA834672}"/>
              </a:ext>
            </a:extLst>
          </p:cNvPr>
          <p:cNvSpPr>
            <a:spLocks noGrp="1"/>
          </p:cNvSpPr>
          <p:nvPr>
            <p:ph type="title"/>
          </p:nvPr>
        </p:nvSpPr>
        <p:spPr>
          <a:xfrm>
            <a:off x="611560" y="214313"/>
            <a:ext cx="8332415" cy="910431"/>
          </a:xfrm>
        </p:spPr>
        <p:txBody>
          <a:bodyPr/>
          <a:lstStyle/>
          <a:p>
            <a:r>
              <a:rPr lang="zh-CN" altLang="en-US" dirty="0"/>
              <a:t>群签名组成</a:t>
            </a:r>
          </a:p>
        </p:txBody>
      </p:sp>
      <p:sp>
        <p:nvSpPr>
          <p:cNvPr id="3" name="内容占位符 2">
            <a:extLst>
              <a:ext uri="{FF2B5EF4-FFF2-40B4-BE49-F238E27FC236}">
                <a16:creationId xmlns:a16="http://schemas.microsoft.com/office/drawing/2014/main" id="{1E3CB9FA-2815-9A01-3A62-35DF37B906B9}"/>
              </a:ext>
            </a:extLst>
          </p:cNvPr>
          <p:cNvSpPr>
            <a:spLocks noGrp="1"/>
          </p:cNvSpPr>
          <p:nvPr>
            <p:ph idx="1"/>
          </p:nvPr>
        </p:nvSpPr>
        <p:spPr>
          <a:xfrm>
            <a:off x="35496" y="1445567"/>
            <a:ext cx="9108504" cy="5007769"/>
          </a:xfrm>
        </p:spPr>
        <p:txBody>
          <a:bodyPr/>
          <a:lstStyle/>
          <a:p>
            <a:r>
              <a:rPr lang="zh-CN" altLang="en-US" sz="2800" dirty="0"/>
              <a:t>建立：一个用以产生群公钥和私钥的多项式概率算法。</a:t>
            </a:r>
            <a:endParaRPr lang="en-US" altLang="zh-CN" sz="2800" dirty="0"/>
          </a:p>
          <a:p>
            <a:r>
              <a:rPr lang="zh-CN" altLang="en-US" sz="2800" dirty="0"/>
              <a:t>加入：一个用户和群管理员之间的交互式协议。</a:t>
            </a:r>
            <a:endParaRPr lang="en-US" altLang="zh-CN" sz="2800" dirty="0"/>
          </a:p>
          <a:p>
            <a:r>
              <a:rPr lang="zh-CN" altLang="en-US" sz="2800" dirty="0"/>
              <a:t>签名：一个概率算法，当输入一个消息、一个群成员的私钥和一个群公钥后，输出对该消息的签名。</a:t>
            </a:r>
            <a:endParaRPr lang="en-US" altLang="zh-CN" sz="2800" dirty="0"/>
          </a:p>
          <a:p>
            <a:r>
              <a:rPr lang="zh-CN" altLang="en-US" sz="2800" dirty="0"/>
              <a:t>验证：给定一个消息的签名和一个群公钥后，判断该签名相对于该群公钥是否有效。</a:t>
            </a:r>
            <a:endParaRPr lang="en-US" altLang="zh-CN" sz="2800" dirty="0"/>
          </a:p>
          <a:p>
            <a:r>
              <a:rPr lang="zh-CN" altLang="en-US" sz="2800" dirty="0"/>
              <a:t>打开：给定一个签名、群公钥和群私钥的条件下确定签名者的身份。</a:t>
            </a:r>
          </a:p>
        </p:txBody>
      </p:sp>
      <p:sp>
        <p:nvSpPr>
          <p:cNvPr id="4" name="灯片编号占位符 3">
            <a:extLst>
              <a:ext uri="{FF2B5EF4-FFF2-40B4-BE49-F238E27FC236}">
                <a16:creationId xmlns:a16="http://schemas.microsoft.com/office/drawing/2014/main" id="{F122F557-683B-9723-FEDA-4B3B536A1A2D}"/>
              </a:ext>
            </a:extLst>
          </p:cNvPr>
          <p:cNvSpPr>
            <a:spLocks noGrp="1"/>
          </p:cNvSpPr>
          <p:nvPr>
            <p:ph type="sldNum" sz="quarter" idx="10"/>
          </p:nvPr>
        </p:nvSpPr>
        <p:spPr/>
        <p:txBody>
          <a:bodyPr/>
          <a:lstStyle/>
          <a:p>
            <a:pPr>
              <a:defRPr/>
            </a:pPr>
            <a:fld id="{9F8570D8-99D5-4A2B-952C-DAF2ADA290B2}" type="slidenum">
              <a:rPr lang="zh-CN" altLang="en-US" smtClean="0"/>
              <a:pPr>
                <a:defRPr/>
              </a:pPr>
              <a:t>55</a:t>
            </a:fld>
            <a:endParaRPr lang="en-US" altLang="zh-CN"/>
          </a:p>
        </p:txBody>
      </p:sp>
    </p:spTree>
    <p:extLst>
      <p:ext uri="{BB962C8B-B14F-4D97-AF65-F5344CB8AC3E}">
        <p14:creationId xmlns:p14="http://schemas.microsoft.com/office/powerpoint/2010/main" val="37921485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0B441B-38F0-EFFD-E7F5-62B4CA834672}"/>
              </a:ext>
            </a:extLst>
          </p:cNvPr>
          <p:cNvSpPr>
            <a:spLocks noGrp="1"/>
          </p:cNvSpPr>
          <p:nvPr>
            <p:ph type="title"/>
          </p:nvPr>
        </p:nvSpPr>
        <p:spPr>
          <a:xfrm>
            <a:off x="611560" y="214313"/>
            <a:ext cx="8332415" cy="910431"/>
          </a:xfrm>
        </p:spPr>
        <p:txBody>
          <a:bodyPr/>
          <a:lstStyle/>
          <a:p>
            <a:r>
              <a:rPr lang="zh-CN" altLang="en-US" dirty="0"/>
              <a:t>群签名方案满足的性质</a:t>
            </a:r>
          </a:p>
        </p:txBody>
      </p:sp>
      <p:sp>
        <p:nvSpPr>
          <p:cNvPr id="3" name="内容占位符 2">
            <a:extLst>
              <a:ext uri="{FF2B5EF4-FFF2-40B4-BE49-F238E27FC236}">
                <a16:creationId xmlns:a16="http://schemas.microsoft.com/office/drawing/2014/main" id="{1E3CB9FA-2815-9A01-3A62-35DF37B906B9}"/>
              </a:ext>
            </a:extLst>
          </p:cNvPr>
          <p:cNvSpPr>
            <a:spLocks noGrp="1"/>
          </p:cNvSpPr>
          <p:nvPr>
            <p:ph idx="1"/>
          </p:nvPr>
        </p:nvSpPr>
        <p:spPr>
          <a:xfrm>
            <a:off x="35496" y="1445567"/>
            <a:ext cx="9108504" cy="5007769"/>
          </a:xfrm>
        </p:spPr>
        <p:txBody>
          <a:bodyPr/>
          <a:lstStyle/>
          <a:p>
            <a:r>
              <a:rPr lang="zh-CN" altLang="en-US" sz="2800" dirty="0"/>
              <a:t>正确性</a:t>
            </a:r>
            <a:r>
              <a:rPr lang="en-US" altLang="zh-CN" sz="2800" dirty="0"/>
              <a:t>:</a:t>
            </a:r>
            <a:r>
              <a:rPr lang="zh-CN" altLang="en-US" sz="2800" dirty="0"/>
              <a:t>由群成员使用群签名算法产生的群签名，必须为验证算法所接受。</a:t>
            </a:r>
            <a:endParaRPr lang="en-US" altLang="zh-CN" sz="2800" dirty="0"/>
          </a:p>
          <a:p>
            <a:r>
              <a:rPr lang="zh-CN" altLang="en-US" sz="2800" dirty="0"/>
              <a:t>不可伪造性</a:t>
            </a:r>
            <a:r>
              <a:rPr lang="en-US" altLang="zh-CN" sz="2800" dirty="0"/>
              <a:t>:</a:t>
            </a:r>
            <a:r>
              <a:rPr lang="zh-CN" altLang="en-US" sz="2800" dirty="0"/>
              <a:t>只有群成员才能代表群体进行签名。</a:t>
            </a:r>
            <a:endParaRPr lang="en-US" altLang="zh-CN" sz="2800" dirty="0"/>
          </a:p>
          <a:p>
            <a:r>
              <a:rPr lang="zh-CN" altLang="en-US" sz="2800" dirty="0"/>
              <a:t>匿名性</a:t>
            </a:r>
            <a:r>
              <a:rPr lang="en-US" altLang="zh-CN" sz="2800" dirty="0"/>
              <a:t>:</a:t>
            </a:r>
            <a:r>
              <a:rPr lang="zh-CN" altLang="en-US" sz="2800" dirty="0"/>
              <a:t>给定一个合法的群签名，除了群管理员外，任何人要识别出签名者的身份在计算上是困难的。</a:t>
            </a:r>
            <a:endParaRPr lang="en-US" altLang="zh-CN" sz="2800" dirty="0"/>
          </a:p>
          <a:p>
            <a:r>
              <a:rPr lang="zh-CN" altLang="en-US" sz="2800" dirty="0"/>
              <a:t>不可关联性</a:t>
            </a:r>
            <a:r>
              <a:rPr lang="en-US" altLang="zh-CN" sz="2800" dirty="0"/>
              <a:t>:</a:t>
            </a:r>
            <a:r>
              <a:rPr lang="zh-CN" altLang="en-US" sz="2800" dirty="0"/>
              <a:t>除了群管理员外，任何人要确定两个不同的群签名是否为同一群成员所签在计算上是困难的。</a:t>
            </a:r>
            <a:endParaRPr lang="en-US" altLang="zh-CN" sz="2800" dirty="0"/>
          </a:p>
          <a:p>
            <a:r>
              <a:rPr lang="zh-CN" altLang="en-US" sz="2800" dirty="0"/>
              <a:t>可跟踪性</a:t>
            </a:r>
            <a:r>
              <a:rPr lang="en-US" altLang="zh-CN" sz="2800" dirty="0"/>
              <a:t>:</a:t>
            </a:r>
            <a:r>
              <a:rPr lang="zh-CN" altLang="en-US" sz="2800" dirty="0"/>
              <a:t>群管理员总能打开一个群签名以识别出签名者的身份。</a:t>
            </a:r>
            <a:endParaRPr lang="en-US" altLang="zh-CN" sz="2800" dirty="0"/>
          </a:p>
          <a:p>
            <a:r>
              <a:rPr lang="zh-CN" altLang="en-US" sz="2800" dirty="0"/>
              <a:t>抗联合攻击</a:t>
            </a:r>
            <a:r>
              <a:rPr lang="en-US" altLang="zh-CN" sz="2800" dirty="0"/>
              <a:t>:</a:t>
            </a:r>
            <a:r>
              <a:rPr lang="zh-CN" altLang="en-US" sz="2800" dirty="0"/>
              <a:t>即使一些群成员串通在一起也不能产生一个合法的群签名，使得群管理员不能跟踪该签名。</a:t>
            </a:r>
          </a:p>
        </p:txBody>
      </p:sp>
      <p:sp>
        <p:nvSpPr>
          <p:cNvPr id="4" name="灯片编号占位符 3">
            <a:extLst>
              <a:ext uri="{FF2B5EF4-FFF2-40B4-BE49-F238E27FC236}">
                <a16:creationId xmlns:a16="http://schemas.microsoft.com/office/drawing/2014/main" id="{F122F557-683B-9723-FEDA-4B3B536A1A2D}"/>
              </a:ext>
            </a:extLst>
          </p:cNvPr>
          <p:cNvSpPr>
            <a:spLocks noGrp="1"/>
          </p:cNvSpPr>
          <p:nvPr>
            <p:ph type="sldNum" sz="quarter" idx="10"/>
          </p:nvPr>
        </p:nvSpPr>
        <p:spPr/>
        <p:txBody>
          <a:bodyPr/>
          <a:lstStyle/>
          <a:p>
            <a:pPr>
              <a:defRPr/>
            </a:pPr>
            <a:fld id="{9F8570D8-99D5-4A2B-952C-DAF2ADA290B2}" type="slidenum">
              <a:rPr lang="zh-CN" altLang="en-US" smtClean="0"/>
              <a:pPr>
                <a:defRPr/>
              </a:pPr>
              <a:t>56</a:t>
            </a:fld>
            <a:endParaRPr lang="en-US" altLang="zh-CN"/>
          </a:p>
        </p:txBody>
      </p:sp>
    </p:spTree>
    <p:extLst>
      <p:ext uri="{BB962C8B-B14F-4D97-AF65-F5344CB8AC3E}">
        <p14:creationId xmlns:p14="http://schemas.microsoft.com/office/powerpoint/2010/main" val="15204999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4">
            <a:extLst>
              <a:ext uri="{FF2B5EF4-FFF2-40B4-BE49-F238E27FC236}">
                <a16:creationId xmlns:a16="http://schemas.microsoft.com/office/drawing/2014/main" id="{B37A15FD-A723-FB53-D944-529876E7F672}"/>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0" hangingPunct="0">
              <a:spcBef>
                <a:spcPct val="0"/>
              </a:spcBef>
              <a:buClrTx/>
              <a:buSzTx/>
              <a:buFontTx/>
              <a:buNone/>
            </a:pPr>
            <a:fld id="{2E26D1C4-7391-44DE-9A23-D97D58B7DB45}" type="slidenum">
              <a:rPr lang="zh-CN" altLang="en-US" sz="1400" smtClean="0"/>
              <a:pPr eaLnBrk="0" hangingPunct="0">
                <a:spcBef>
                  <a:spcPct val="0"/>
                </a:spcBef>
                <a:buClrTx/>
                <a:buSzTx/>
                <a:buFontTx/>
                <a:buNone/>
              </a:pPr>
              <a:t>57</a:t>
            </a:fld>
            <a:endParaRPr lang="en-US" altLang="zh-CN" sz="1400"/>
          </a:p>
        </p:txBody>
      </p:sp>
      <p:sp>
        <p:nvSpPr>
          <p:cNvPr id="80899" name="Rectangle 2">
            <a:extLst>
              <a:ext uri="{FF2B5EF4-FFF2-40B4-BE49-F238E27FC236}">
                <a16:creationId xmlns:a16="http://schemas.microsoft.com/office/drawing/2014/main" id="{FF77C562-263E-A7AC-6A7D-E351100FECC7}"/>
              </a:ext>
            </a:extLst>
          </p:cNvPr>
          <p:cNvSpPr>
            <a:spLocks noGrp="1" noChangeArrowheads="1"/>
          </p:cNvSpPr>
          <p:nvPr>
            <p:ph type="title"/>
          </p:nvPr>
        </p:nvSpPr>
        <p:spPr>
          <a:xfrm>
            <a:off x="1150938" y="214313"/>
            <a:ext cx="7793037" cy="766415"/>
          </a:xfrm>
        </p:spPr>
        <p:txBody>
          <a:bodyPr/>
          <a:lstStyle/>
          <a:p>
            <a:r>
              <a:rPr lang="zh-CN" altLang="en-US" b="1" dirty="0"/>
              <a:t>四、特殊用途的数字签名</a:t>
            </a:r>
          </a:p>
        </p:txBody>
      </p:sp>
      <p:sp>
        <p:nvSpPr>
          <p:cNvPr id="80900" name="Rectangle 3">
            <a:extLst>
              <a:ext uri="{FF2B5EF4-FFF2-40B4-BE49-F238E27FC236}">
                <a16:creationId xmlns:a16="http://schemas.microsoft.com/office/drawing/2014/main" id="{6A7FEAA6-A731-AA7E-427A-4FD46D2AACE3}"/>
              </a:ext>
            </a:extLst>
          </p:cNvPr>
          <p:cNvSpPr>
            <a:spLocks noGrp="1" noChangeArrowheads="1"/>
          </p:cNvSpPr>
          <p:nvPr>
            <p:ph type="body" idx="1"/>
          </p:nvPr>
        </p:nvSpPr>
        <p:spPr>
          <a:xfrm>
            <a:off x="0" y="1108077"/>
            <a:ext cx="9108504" cy="5151785"/>
          </a:xfrm>
        </p:spPr>
        <p:txBody>
          <a:bodyPr/>
          <a:lstStyle/>
          <a:p>
            <a:pPr algn="ctr">
              <a:lnSpc>
                <a:spcPct val="80000"/>
              </a:lnSpc>
              <a:buFont typeface="Wingdings" panose="05000000000000000000" pitchFamily="2" charset="2"/>
              <a:buNone/>
            </a:pPr>
            <a:r>
              <a:rPr lang="zh-CN" altLang="en-US" sz="3600" b="1" dirty="0">
                <a:latin typeface="Times New Roman" panose="02020603050405020304" pitchFamily="18" charset="0"/>
                <a:ea typeface="黑体" panose="02010609060101010101" pitchFamily="49" charset="-122"/>
              </a:rPr>
              <a:t>环签名</a:t>
            </a:r>
            <a:endParaRPr lang="zh-CN" altLang="en-US" sz="2800" dirty="0">
              <a:latin typeface="Times New Roman" panose="02020603050405020304" pitchFamily="18" charset="0"/>
            </a:endParaRPr>
          </a:p>
          <a:p>
            <a:pPr>
              <a:lnSpc>
                <a:spcPct val="80000"/>
              </a:lnSpc>
              <a:buFont typeface="Wingdings" panose="05000000000000000000" pitchFamily="2" charset="2"/>
              <a:buNone/>
            </a:pPr>
            <a:r>
              <a:rPr lang="zh-CN" altLang="en-US" sz="2800" dirty="0">
                <a:latin typeface="Times New Roman" panose="02020603050405020304" pitchFamily="18" charset="0"/>
              </a:rPr>
              <a:t>环签名(</a:t>
            </a:r>
            <a:r>
              <a:rPr lang="en-US" altLang="zh-CN" sz="2800" dirty="0">
                <a:latin typeface="Times New Roman" panose="02020603050405020304" pitchFamily="18" charset="0"/>
              </a:rPr>
              <a:t>Ring Signature)</a:t>
            </a:r>
            <a:r>
              <a:rPr lang="zh-CN" altLang="en-US" sz="2800" dirty="0">
                <a:latin typeface="Times New Roman" panose="02020603050405020304" pitchFamily="18" charset="0"/>
              </a:rPr>
              <a:t>是一种简化的群签名，</a:t>
            </a:r>
            <a:r>
              <a:rPr lang="en-US" altLang="zh-CN" sz="2800" dirty="0">
                <a:latin typeface="Times New Roman" panose="02020603050405020304" pitchFamily="18" charset="0"/>
              </a:rPr>
              <a:t>2001</a:t>
            </a:r>
            <a:r>
              <a:rPr lang="zh-CN" altLang="en-US" sz="2800" dirty="0">
                <a:latin typeface="Times New Roman" panose="02020603050405020304" pitchFamily="18" charset="0"/>
              </a:rPr>
              <a:t>年由</a:t>
            </a:r>
            <a:r>
              <a:rPr lang="en-US" altLang="zh-CN" sz="2800" dirty="0">
                <a:latin typeface="Times New Roman" panose="02020603050405020304" pitchFamily="18" charset="0"/>
              </a:rPr>
              <a:t>Ron Rivest, Adi Shamir, </a:t>
            </a:r>
            <a:r>
              <a:rPr lang="zh-CN" altLang="en-US" sz="2800" dirty="0">
                <a:latin typeface="Times New Roman" panose="02020603050405020304" pitchFamily="18" charset="0"/>
              </a:rPr>
              <a:t>和 </a:t>
            </a:r>
            <a:r>
              <a:rPr lang="en-US" altLang="zh-CN" sz="2800" dirty="0">
                <a:latin typeface="Times New Roman" panose="02020603050405020304" pitchFamily="18" charset="0"/>
              </a:rPr>
              <a:t>Yael </a:t>
            </a:r>
            <a:r>
              <a:rPr lang="en-US" altLang="zh-CN" sz="2800" dirty="0" err="1">
                <a:latin typeface="Times New Roman" panose="02020603050405020304" pitchFamily="18" charset="0"/>
              </a:rPr>
              <a:t>Tauman</a:t>
            </a:r>
            <a:r>
              <a:rPr lang="zh-CN" altLang="en-US" sz="2800" dirty="0">
                <a:latin typeface="Times New Roman" panose="02020603050405020304" pitchFamily="18" charset="0"/>
              </a:rPr>
              <a:t>提出。它有下述几个特点：</a:t>
            </a:r>
          </a:p>
          <a:p>
            <a:pPr>
              <a:lnSpc>
                <a:spcPct val="80000"/>
              </a:lnSpc>
              <a:buFont typeface="Wingdings" panose="05000000000000000000" pitchFamily="2" charset="2"/>
              <a:buNone/>
            </a:pPr>
            <a:r>
              <a:rPr lang="en-US" altLang="zh-CN" sz="2400" dirty="0">
                <a:latin typeface="宋体" panose="02010600030101010101" pitchFamily="2" charset="-122"/>
              </a:rPr>
              <a:t>1</a:t>
            </a:r>
            <a:r>
              <a:rPr lang="zh-CN" altLang="en-US" sz="2400" dirty="0">
                <a:latin typeface="宋体" panose="02010600030101010101" pitchFamily="2" charset="-122"/>
              </a:rPr>
              <a:t>、只有环成员没有管理者，签名不需要环成员间的合作。</a:t>
            </a:r>
            <a:endParaRPr lang="en-US" altLang="zh-CN" sz="2400" dirty="0">
              <a:latin typeface="宋体" panose="02010600030101010101" pitchFamily="2" charset="-122"/>
            </a:endParaRPr>
          </a:p>
          <a:p>
            <a:pPr>
              <a:lnSpc>
                <a:spcPct val="80000"/>
              </a:lnSpc>
              <a:buFont typeface="Wingdings" panose="05000000000000000000" pitchFamily="2" charset="2"/>
              <a:buNone/>
            </a:pPr>
            <a:r>
              <a:rPr lang="en-US" altLang="zh-CN" sz="2400" dirty="0">
                <a:latin typeface="Times New Roman" panose="02020603050405020304" pitchFamily="18" charset="0"/>
              </a:rPr>
              <a:t>2</a:t>
            </a:r>
            <a:r>
              <a:rPr lang="zh-CN" altLang="en-US" sz="2400" dirty="0">
                <a:latin typeface="Times New Roman" panose="02020603050405020304" pitchFamily="18" charset="0"/>
              </a:rPr>
              <a:t>、无条件匿名性</a:t>
            </a:r>
            <a:r>
              <a:rPr lang="en-US" altLang="zh-CN" sz="2400" dirty="0">
                <a:latin typeface="Times New Roman" panose="02020603050405020304" pitchFamily="18" charset="0"/>
              </a:rPr>
              <a:t>: </a:t>
            </a:r>
            <a:r>
              <a:rPr lang="zh-CN" altLang="en-US" sz="2400" dirty="0">
                <a:latin typeface="Times New Roman" panose="02020603050405020304" pitchFamily="18" charset="0"/>
              </a:rPr>
              <a:t>攻击者者无法确定签名是由群组中哪个成员生成</a:t>
            </a:r>
            <a:r>
              <a:rPr lang="en-US" altLang="zh-CN" sz="2400" dirty="0">
                <a:latin typeface="Times New Roman" panose="02020603050405020304" pitchFamily="18" charset="0"/>
              </a:rPr>
              <a:t>,</a:t>
            </a:r>
            <a:r>
              <a:rPr lang="zh-CN" altLang="en-US" sz="2400" dirty="0">
                <a:latin typeface="Times New Roman" panose="02020603050405020304" pitchFamily="18" charset="0"/>
              </a:rPr>
              <a:t>即使在获得环成员私钥的情况下</a:t>
            </a:r>
            <a:r>
              <a:rPr lang="en-US" altLang="zh-CN" sz="2400" dirty="0">
                <a:latin typeface="Times New Roman" panose="02020603050405020304" pitchFamily="18" charset="0"/>
              </a:rPr>
              <a:t>,</a:t>
            </a:r>
            <a:r>
              <a:rPr lang="zh-CN" altLang="en-US" sz="2400" dirty="0">
                <a:latin typeface="Times New Roman" panose="02020603050405020304" pitchFamily="18" charset="0"/>
              </a:rPr>
              <a:t>概率也不超过</a:t>
            </a:r>
            <a:r>
              <a:rPr lang="en-US" altLang="zh-CN" sz="2400" dirty="0">
                <a:latin typeface="Times New Roman" panose="02020603050405020304" pitchFamily="18" charset="0"/>
              </a:rPr>
              <a:t>1/n</a:t>
            </a:r>
            <a:r>
              <a:rPr lang="zh-CN" altLang="en-US" sz="2400" dirty="0">
                <a:latin typeface="Times New Roman" panose="02020603050405020304" pitchFamily="18" charset="0"/>
              </a:rPr>
              <a:t>（</a:t>
            </a:r>
            <a:r>
              <a:rPr lang="en-US" altLang="zh-CN" sz="2400" dirty="0">
                <a:latin typeface="Times New Roman" panose="02020603050405020304" pitchFamily="18" charset="0"/>
              </a:rPr>
              <a:t>n</a:t>
            </a:r>
            <a:r>
              <a:rPr lang="zh-CN" altLang="en-US" sz="2400" dirty="0">
                <a:latin typeface="Times New Roman" panose="02020603050405020304" pitchFamily="18" charset="0"/>
              </a:rPr>
              <a:t>是群组中成员数量）。</a:t>
            </a:r>
          </a:p>
          <a:p>
            <a:pPr>
              <a:lnSpc>
                <a:spcPct val="80000"/>
              </a:lnSpc>
              <a:buFont typeface="Wingdings" panose="05000000000000000000" pitchFamily="2" charset="2"/>
              <a:buNone/>
            </a:pPr>
            <a:r>
              <a:rPr lang="en-US" altLang="zh-CN" sz="2400" dirty="0">
                <a:latin typeface="宋体" panose="02010600030101010101" pitchFamily="2" charset="-122"/>
              </a:rPr>
              <a:t>3</a:t>
            </a:r>
            <a:r>
              <a:rPr lang="zh-CN" altLang="en-US" sz="2400" dirty="0">
                <a:latin typeface="宋体" panose="02010600030101010101" pitchFamily="2" charset="-122"/>
              </a:rPr>
              <a:t>、</a:t>
            </a:r>
            <a:r>
              <a:rPr lang="zh-CN" altLang="en-US" sz="2400" dirty="0">
                <a:latin typeface="Times New Roman" panose="02020603050405020304" pitchFamily="18" charset="0"/>
              </a:rPr>
              <a:t>不可伪造性</a:t>
            </a:r>
            <a:r>
              <a:rPr lang="en-US" altLang="zh-CN" sz="2400" dirty="0">
                <a:latin typeface="Times New Roman" panose="02020603050405020304" pitchFamily="18" charset="0"/>
              </a:rPr>
              <a:t>: </a:t>
            </a:r>
            <a:r>
              <a:rPr lang="zh-CN" altLang="en-US" sz="2400" dirty="0">
                <a:latin typeface="Times New Roman" panose="02020603050405020304" pitchFamily="18" charset="0"/>
              </a:rPr>
              <a:t>群组中其他成员不能伪造真实签名者签名</a:t>
            </a:r>
            <a:r>
              <a:rPr lang="en-US" altLang="zh-CN" sz="2400" dirty="0">
                <a:latin typeface="Times New Roman" panose="02020603050405020304" pitchFamily="18" charset="0"/>
              </a:rPr>
              <a:t>,</a:t>
            </a:r>
            <a:r>
              <a:rPr lang="zh-CN" altLang="en-US" sz="2400" dirty="0">
                <a:latin typeface="Times New Roman" panose="02020603050405020304" pitchFamily="18" charset="0"/>
              </a:rPr>
              <a:t>攻击者者即使在获得某个有效环签名的基础上</a:t>
            </a:r>
            <a:r>
              <a:rPr lang="en-US" altLang="zh-CN" sz="2400" dirty="0">
                <a:latin typeface="Times New Roman" panose="02020603050405020304" pitchFamily="18" charset="0"/>
              </a:rPr>
              <a:t>,</a:t>
            </a:r>
            <a:r>
              <a:rPr lang="zh-CN" altLang="en-US" sz="2400" dirty="0">
                <a:latin typeface="Times New Roman" panose="02020603050405020304" pitchFamily="18" charset="0"/>
              </a:rPr>
              <a:t>也不能为消息</a:t>
            </a:r>
            <a:r>
              <a:rPr lang="en-US" altLang="zh-CN" sz="2400" dirty="0">
                <a:latin typeface="Times New Roman" panose="02020603050405020304" pitchFamily="18" charset="0"/>
              </a:rPr>
              <a:t>m</a:t>
            </a:r>
            <a:r>
              <a:rPr lang="zh-CN" altLang="en-US" sz="2400" dirty="0">
                <a:latin typeface="Times New Roman" panose="02020603050405020304" pitchFamily="18" charset="0"/>
              </a:rPr>
              <a:t>伪造一个签名。</a:t>
            </a:r>
          </a:p>
          <a:p>
            <a:pPr>
              <a:lnSpc>
                <a:spcPct val="80000"/>
              </a:lnSpc>
              <a:buFont typeface="Wingdings" panose="05000000000000000000" pitchFamily="2" charset="2"/>
              <a:buNone/>
            </a:pPr>
            <a:r>
              <a:rPr lang="zh-CN" altLang="en-US" sz="2800" dirty="0">
                <a:latin typeface="Times New Roman" panose="02020603050405020304" pitchFamily="18" charset="0"/>
              </a:rPr>
              <a:t>这类签名可用匿名货币（</a:t>
            </a:r>
            <a:r>
              <a:rPr lang="en-US" altLang="zh-CN" sz="2800" dirty="0" err="1">
                <a:latin typeface="Times New Roman" panose="02020603050405020304" pitchFamily="18" charset="0"/>
              </a:rPr>
              <a:t>Monero</a:t>
            </a:r>
            <a:r>
              <a:rPr lang="zh-CN" altLang="en-US" sz="2800" dirty="0">
                <a:latin typeface="Times New Roman" panose="02020603050405020304" pitchFamily="18" charset="0"/>
              </a:rPr>
              <a:t>）中，保护交易者身份隐私。</a:t>
            </a:r>
          </a:p>
        </p:txBody>
      </p:sp>
    </p:spTree>
    <p:extLst>
      <p:ext uri="{BB962C8B-B14F-4D97-AF65-F5344CB8AC3E}">
        <p14:creationId xmlns:p14="http://schemas.microsoft.com/office/powerpoint/2010/main" val="29822033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E2D9C1-89C4-3EBB-5336-20399C9D8165}"/>
              </a:ext>
            </a:extLst>
          </p:cNvPr>
          <p:cNvSpPr>
            <a:spLocks noGrp="1"/>
          </p:cNvSpPr>
          <p:nvPr>
            <p:ph type="title"/>
          </p:nvPr>
        </p:nvSpPr>
        <p:spPr>
          <a:xfrm>
            <a:off x="395536" y="188640"/>
            <a:ext cx="7793037" cy="766415"/>
          </a:xfrm>
        </p:spPr>
        <p:txBody>
          <a:bodyPr/>
          <a:lstStyle/>
          <a:p>
            <a:r>
              <a:rPr lang="zh-CN" altLang="en-US" dirty="0"/>
              <a:t>基于</a:t>
            </a:r>
            <a:r>
              <a:rPr lang="en-US" altLang="zh-CN" dirty="0"/>
              <a:t>ECC</a:t>
            </a:r>
            <a:r>
              <a:rPr lang="zh-CN" altLang="en-US" dirty="0"/>
              <a:t>的环签名</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0700C0E-649A-5BC5-6B5C-2CC28B13F750}"/>
                  </a:ext>
                </a:extLst>
              </p:cNvPr>
              <p:cNvSpPr>
                <a:spLocks noGrp="1"/>
              </p:cNvSpPr>
              <p:nvPr>
                <p:ph idx="1"/>
              </p:nvPr>
            </p:nvSpPr>
            <p:spPr>
              <a:xfrm>
                <a:off x="-36512" y="1124744"/>
                <a:ext cx="9180512" cy="5007769"/>
              </a:xfrm>
            </p:spPr>
            <p:txBody>
              <a:bodyPr/>
              <a:lstStyle/>
              <a:p>
                <a:r>
                  <a:rPr lang="zh-CN" altLang="en-US" sz="2800" dirty="0"/>
                  <a:t>设</a:t>
                </a:r>
                <a:r>
                  <a:rPr lang="en-US" altLang="zh-CN" sz="2800" dirty="0"/>
                  <a:t>G</a:t>
                </a:r>
                <a:r>
                  <a:rPr lang="zh-CN" altLang="en-US" sz="2800" dirty="0"/>
                  <a:t>为椭圆曲线</a:t>
                </a:r>
                <a:r>
                  <a:rPr lang="en-US" altLang="zh-CN" sz="2800" dirty="0"/>
                  <a:t>E</a:t>
                </a:r>
                <a:r>
                  <a:rPr lang="zh-CN" altLang="en-US" sz="2800" dirty="0"/>
                  <a:t>的一个基点，有</a:t>
                </a:r>
                <a:r>
                  <a:rPr lang="en-US" altLang="zh-CN" sz="2800" dirty="0"/>
                  <a:t>n</a:t>
                </a:r>
                <a:r>
                  <a:rPr lang="zh-CN" altLang="en-US" sz="2800" dirty="0"/>
                  <a:t>个环成员，公私钥分别为</a:t>
                </a:r>
                <a14:m>
                  <m:oMath xmlns:m="http://schemas.openxmlformats.org/officeDocument/2006/math">
                    <m:d>
                      <m:dPr>
                        <m:ctrlPr>
                          <a:rPr lang="en-US" altLang="zh-CN" sz="2800" b="0" i="1" smtClean="0">
                            <a:latin typeface="Cambria Math" panose="02040503050406030204" pitchFamily="18" charset="0"/>
                          </a:rPr>
                        </m:ctrlPr>
                      </m:dPr>
                      <m:e>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1</m:t>
                            </m:r>
                          </m:sub>
                        </m:sSub>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𝑃</m:t>
                            </m:r>
                          </m:e>
                          <m:sub>
                            <m:r>
                              <a:rPr lang="en-US" altLang="zh-CN" sz="2800" b="0" i="1" smtClean="0">
                                <a:latin typeface="Cambria Math" panose="02040503050406030204" pitchFamily="18" charset="0"/>
                              </a:rPr>
                              <m:t>1</m:t>
                            </m:r>
                          </m:sub>
                        </m:sSub>
                      </m:e>
                    </m:d>
                    <m:r>
                      <a:rPr lang="en-US" altLang="zh-CN" sz="2800" b="0" i="1" smtClean="0">
                        <a:latin typeface="Cambria Math" panose="02040503050406030204" pitchFamily="18" charset="0"/>
                      </a:rPr>
                      <m:t>,⋯</m:t>
                    </m:r>
                    <m:d>
                      <m:dPr>
                        <m:ctrlPr>
                          <a:rPr lang="en-US" altLang="zh-CN" sz="2800" b="0" i="1" smtClean="0">
                            <a:latin typeface="Cambria Math" panose="02040503050406030204" pitchFamily="18" charset="0"/>
                          </a:rPr>
                        </m:ctrlPr>
                      </m:dPr>
                      <m:e>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𝑛</m:t>
                            </m:r>
                          </m:sub>
                        </m:sSub>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𝑃</m:t>
                            </m:r>
                          </m:e>
                          <m:sub>
                            <m:r>
                              <a:rPr lang="en-US" altLang="zh-CN" sz="2800" b="0" i="1" smtClean="0">
                                <a:latin typeface="Cambria Math" panose="02040503050406030204" pitchFamily="18" charset="0"/>
                              </a:rPr>
                              <m:t>𝑛</m:t>
                            </m:r>
                          </m:sub>
                        </m:sSub>
                      </m:e>
                    </m:d>
                    <m:r>
                      <a:rPr lang="zh-CN" altLang="en-US" sz="2800" i="1">
                        <a:latin typeface="Cambria Math" panose="02040503050406030204" pitchFamily="18" charset="0"/>
                      </a:rPr>
                      <m:t>，</m:t>
                    </m:r>
                    <m:r>
                      <a:rPr lang="zh-CN" altLang="en-US" sz="2800" i="1" smtClean="0">
                        <a:latin typeface="Cambria Math" panose="02040503050406030204" pitchFamily="18" charset="0"/>
                      </a:rPr>
                      <m:t>其中</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𝑃</m:t>
                        </m:r>
                      </m:e>
                      <m:sub>
                        <m:r>
                          <a:rPr lang="en-US" altLang="zh-CN" sz="2800" b="0" i="1" smtClean="0">
                            <a:latin typeface="Cambria Math" panose="02040503050406030204" pitchFamily="18" charset="0"/>
                          </a:rPr>
                          <m:t>𝑖</m:t>
                        </m:r>
                      </m:sub>
                    </m:sSub>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𝑖</m:t>
                        </m:r>
                      </m:sub>
                    </m:sSub>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𝐺</m:t>
                    </m:r>
                  </m:oMath>
                </a14:m>
                <a:r>
                  <a:rPr lang="zh-CN" altLang="en-US" sz="2800" dirty="0"/>
                  <a:t>。</a:t>
                </a:r>
                <a:endParaRPr lang="en-US" altLang="zh-CN" sz="2800" dirty="0"/>
              </a:p>
              <a:p>
                <a:r>
                  <a:rPr lang="zh-CN" altLang="en-US" sz="2800" dirty="0"/>
                  <a:t>假设签名者为第</a:t>
                </a:r>
                <a14:m>
                  <m:oMath xmlns:m="http://schemas.openxmlformats.org/officeDocument/2006/math">
                    <m:r>
                      <a:rPr lang="en-US" altLang="zh-CN" sz="2800" b="0" i="1" smtClean="0">
                        <a:latin typeface="Cambria Math" panose="02040503050406030204" pitchFamily="18" charset="0"/>
                      </a:rPr>
                      <m:t>𝑗</m:t>
                    </m:r>
                  </m:oMath>
                </a14:m>
                <a:r>
                  <a:rPr lang="zh-CN" altLang="en-US" sz="2800" dirty="0"/>
                  <a:t>个成员，拥有密钥</a:t>
                </a:r>
                <a14:m>
                  <m:oMath xmlns:m="http://schemas.openxmlformats.org/officeDocument/2006/math">
                    <m:d>
                      <m:dPr>
                        <m:ctrlPr>
                          <a:rPr lang="en-US" altLang="zh-CN" sz="2800" i="1">
                            <a:latin typeface="Cambria Math" panose="02040503050406030204" pitchFamily="18" charset="0"/>
                          </a:rPr>
                        </m:ctrlPr>
                      </m:dPr>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𝑗</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𝑃</m:t>
                            </m:r>
                          </m:e>
                          <m:sub>
                            <m:r>
                              <a:rPr lang="en-US" altLang="zh-CN" sz="2800" b="0" i="1" smtClean="0">
                                <a:latin typeface="Cambria Math" panose="02040503050406030204" pitchFamily="18" charset="0"/>
                              </a:rPr>
                              <m:t>𝑗</m:t>
                            </m:r>
                          </m:sub>
                        </m:sSub>
                      </m:e>
                    </m:d>
                  </m:oMath>
                </a14:m>
                <a:r>
                  <a:rPr lang="zh-CN" altLang="en-US" sz="2800" dirty="0"/>
                  <a:t>，想要利用其私钥和环成员公钥集合</a:t>
                </a:r>
                <a14:m>
                  <m:oMath xmlns:m="http://schemas.openxmlformats.org/officeDocument/2006/math">
                    <m:r>
                      <a:rPr lang="en-US" altLang="zh-CN" sz="2800" b="0" i="1" smtClean="0">
                        <a:latin typeface="Cambria Math" panose="02040503050406030204" pitchFamily="18" charset="0"/>
                      </a:rPr>
                      <m:t>𝑃𝐾</m:t>
                    </m:r>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𝑃</m:t>
                        </m:r>
                      </m:e>
                      <m:sub>
                        <m:r>
                          <a:rPr lang="en-US" altLang="zh-CN" sz="2800" b="0" i="1" smtClean="0">
                            <a:latin typeface="Cambria Math" panose="02040503050406030204" pitchFamily="18" charset="0"/>
                          </a:rPr>
                          <m:t>1</m:t>
                        </m:r>
                      </m:sub>
                    </m:sSub>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𝑃</m:t>
                        </m:r>
                      </m:e>
                      <m:sub>
                        <m:r>
                          <a:rPr lang="en-US" altLang="zh-CN" sz="2800" b="0" i="1" smtClean="0">
                            <a:latin typeface="Cambria Math" panose="02040503050406030204" pitchFamily="18" charset="0"/>
                          </a:rPr>
                          <m:t>2</m:t>
                        </m:r>
                      </m:sub>
                    </m:sSub>
                    <m:r>
                      <a:rPr lang="en-US" altLang="zh-CN" sz="2800" b="0" i="1" smtClean="0">
                        <a:latin typeface="Cambria Math" panose="02040503050406030204" pitchFamily="18" charset="0"/>
                      </a:rPr>
                      <m:t>, ⋯,</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𝑃</m:t>
                        </m:r>
                      </m:e>
                      <m:sub>
                        <m:r>
                          <a:rPr lang="en-US" altLang="zh-CN" sz="2800" b="0" i="1" smtClean="0">
                            <a:latin typeface="Cambria Math" panose="02040503050406030204" pitchFamily="18" charset="0"/>
                          </a:rPr>
                          <m:t>𝑛</m:t>
                        </m:r>
                      </m:sub>
                    </m:sSub>
                    <m:r>
                      <a:rPr lang="en-US" altLang="zh-CN" sz="2800" b="0" i="1" smtClean="0">
                        <a:latin typeface="Cambria Math" panose="02040503050406030204" pitchFamily="18" charset="0"/>
                      </a:rPr>
                      <m:t>)</m:t>
                    </m:r>
                  </m:oMath>
                </a14:m>
                <a:r>
                  <a:rPr lang="zh-CN" altLang="en-US" sz="2800" dirty="0"/>
                  <a:t>生成一个环签名，则其可以做如下计算：</a:t>
                </a:r>
                <a:endParaRPr lang="en-US" altLang="zh-CN" sz="2800" dirty="0"/>
              </a:p>
              <a:p>
                <a:pPr lvl="1"/>
                <a:r>
                  <a:rPr lang="zh-CN" altLang="en-US" sz="2400" dirty="0"/>
                  <a:t>生成</a:t>
                </a:r>
                <a:r>
                  <a:rPr lang="en-US" altLang="zh-CN" sz="2400" dirty="0"/>
                  <a:t>n-1</a:t>
                </a:r>
                <a:r>
                  <a:rPr lang="zh-CN" altLang="en-US" sz="2400" dirty="0"/>
                  <a:t>个随机数</a:t>
                </a:r>
                <a14:m>
                  <m:oMath xmlns:m="http://schemas.openxmlformats.org/officeDocument/2006/math">
                    <m:sSup>
                      <m:sSupPr>
                        <m:ctrlPr>
                          <a:rPr lang="en-US" altLang="zh-CN" sz="2400" b="0" i="1" smtClean="0">
                            <a:latin typeface="Cambria Math" panose="02040503050406030204" pitchFamily="18" charset="0"/>
                          </a:rPr>
                        </m:ctrlPr>
                      </m:sSupPr>
                      <m:e>
                        <m:r>
                          <m:rPr>
                            <m:sty m:val="p"/>
                          </m:rPr>
                          <a:rPr lang="en-US" altLang="zh-CN" sz="2400" b="0" i="0" smtClean="0">
                            <a:latin typeface="Cambria Math" panose="02040503050406030204" pitchFamily="18" charset="0"/>
                          </a:rPr>
                          <m:t>R</m:t>
                        </m:r>
                      </m:e>
                      <m:sup>
                        <m:r>
                          <a:rPr lang="en-US" altLang="zh-CN" sz="2400" b="0" i="0" smtClean="0">
                            <a:latin typeface="Cambria Math" panose="02040503050406030204" pitchFamily="18" charset="0"/>
                          </a:rPr>
                          <m:t>′</m:t>
                        </m:r>
                      </m:sup>
                    </m:sSup>
                    <m:r>
                      <a:rPr lang="en-US" altLang="zh-CN" sz="2400" b="0" i="0"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𝑟</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𝑟</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𝑟</m:t>
                        </m:r>
                      </m:e>
                      <m:sub>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𝑟</m:t>
                        </m:r>
                      </m:e>
                      <m:sub>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𝑟</m:t>
                        </m:r>
                      </m:e>
                      <m:sub>
                        <m:r>
                          <a:rPr lang="en-US" altLang="zh-CN" sz="2400" b="0" i="1" smtClean="0">
                            <a:latin typeface="Cambria Math" panose="02040503050406030204" pitchFamily="18" charset="0"/>
                          </a:rPr>
                          <m:t>𝑛</m:t>
                        </m:r>
                      </m:sub>
                    </m:sSub>
                    <m:r>
                      <a:rPr lang="en-US" altLang="zh-CN" sz="2400" b="0" i="1" smtClean="0">
                        <a:latin typeface="Cambria Math" panose="02040503050406030204" pitchFamily="18" charset="0"/>
                      </a:rPr>
                      <m:t>}</m:t>
                    </m:r>
                  </m:oMath>
                </a14:m>
                <a:r>
                  <a:rPr lang="zh-CN" altLang="en-US" sz="2400" dirty="0"/>
                  <a:t>，其中随机数与公钥一一对应，但</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𝑟</m:t>
                        </m:r>
                      </m:e>
                      <m:sub>
                        <m:r>
                          <a:rPr lang="en-US" altLang="zh-CN" sz="2400" b="0" i="1" smtClean="0">
                            <a:latin typeface="Cambria Math" panose="02040503050406030204" pitchFamily="18" charset="0"/>
                          </a:rPr>
                          <m:t>𝑗</m:t>
                        </m:r>
                      </m:sub>
                    </m:sSub>
                  </m:oMath>
                </a14:m>
                <a:r>
                  <a:rPr lang="zh-CN" altLang="en-US" sz="2400" dirty="0"/>
                  <a:t>是通过后面计算得到，令</a:t>
                </a:r>
                <a:r>
                  <a:rPr lang="en-US" altLang="zh-CN" sz="2400" dirty="0"/>
                  <a:t>R=R’</a:t>
                </a:r>
                <a14:m>
                  <m:oMath xmlns:m="http://schemas.openxmlformats.org/officeDocument/2006/math">
                    <m:r>
                      <a:rPr lang="en-US" altLang="zh-CN" sz="240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𝑟</m:t>
                        </m:r>
                      </m:e>
                      <m:sub>
                        <m:r>
                          <a:rPr lang="en-US" altLang="zh-CN" sz="2400" b="0" i="1" smtClean="0">
                            <a:latin typeface="Cambria Math" panose="02040503050406030204" pitchFamily="18" charset="0"/>
                            <a:ea typeface="Cambria Math" panose="02040503050406030204" pitchFamily="18" charset="0"/>
                          </a:rPr>
                          <m:t>𝑗</m:t>
                        </m:r>
                      </m:sub>
                    </m:sSub>
                  </m:oMath>
                </a14:m>
                <a:r>
                  <a:rPr lang="zh-CN" altLang="en-US" sz="2400" dirty="0"/>
                  <a:t>。</a:t>
                </a:r>
                <a:endParaRPr lang="en-US" altLang="zh-CN" sz="2400" dirty="0"/>
              </a:p>
              <a:p>
                <a:pPr lvl="1"/>
                <a:r>
                  <a:rPr lang="zh-CN" altLang="en-US" sz="2400" dirty="0"/>
                  <a:t>生成一个随机数</a:t>
                </a:r>
                <a14:m>
                  <m:oMath xmlns:m="http://schemas.openxmlformats.org/officeDocument/2006/math">
                    <m:r>
                      <a:rPr lang="en-US" altLang="zh-CN" sz="2400" b="0" i="1" smtClean="0">
                        <a:latin typeface="Cambria Math" panose="02040503050406030204" pitchFamily="18" charset="0"/>
                      </a:rPr>
                      <m:t>𝑘</m:t>
                    </m:r>
                  </m:oMath>
                </a14:m>
                <a:r>
                  <a:rPr lang="zh-CN" altLang="en-US" sz="2400" dirty="0"/>
                  <a:t>，并计算</a:t>
                </a:r>
                <a14:m>
                  <m:oMath xmlns:m="http://schemas.openxmlformats.org/officeDocument/2006/math">
                    <m:r>
                      <a:rPr lang="en-US" altLang="zh-CN" sz="2400" b="0" i="1" smtClean="0">
                        <a:latin typeface="Cambria Math" panose="02040503050406030204" pitchFamily="18" charset="0"/>
                      </a:rPr>
                      <m:t>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𝐺</m:t>
                    </m:r>
                  </m:oMath>
                </a14:m>
                <a:r>
                  <a:rPr lang="zh-CN" altLang="en-US" sz="2400" dirty="0"/>
                  <a:t>，设</a:t>
                </a:r>
                <a14:m>
                  <m:oMath xmlns:m="http://schemas.openxmlformats.org/officeDocument/2006/math">
                    <m:r>
                      <a:rPr lang="en-US" altLang="zh-CN" sz="2400" b="0" i="1" smtClean="0">
                        <a:latin typeface="Cambria Math" panose="02040503050406030204" pitchFamily="18" charset="0"/>
                      </a:rPr>
                      <m:t>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𝐺</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𝑟</m:t>
                        </m:r>
                      </m:e>
                      <m:sub>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𝐺</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𝑗</m:t>
                        </m:r>
                      </m:sub>
                    </m:sSub>
                  </m:oMath>
                </a14:m>
                <a:r>
                  <a:rPr lang="zh-CN" altLang="en-US" sz="2400" dirty="0"/>
                  <a:t>。</a:t>
                </a:r>
                <a:endParaRPr lang="en-US" altLang="zh-CN" sz="2400" dirty="0"/>
              </a:p>
              <a:p>
                <a:pPr lvl="1"/>
                <a:r>
                  <a:rPr lang="zh-CN" altLang="en-US" sz="2400" dirty="0"/>
                  <a:t>根据递推式</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𝐻</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𝑚</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𝑟</m:t>
                        </m:r>
                      </m:e>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𝐺</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oMath>
                </a14:m>
                <a:r>
                  <a:rPr lang="zh-CN" altLang="en-US" sz="2400" dirty="0"/>
                  <a:t>分别计算</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𝑖</m:t>
                        </m:r>
                      </m:sub>
                    </m:sSub>
                    <m:r>
                      <a:rPr lang="zh-CN" altLang="en-US" sz="2400" i="1">
                        <a:latin typeface="Cambria Math" panose="02040503050406030204" pitchFamily="18" charset="0"/>
                      </a:rPr>
                      <m:t>，</m:t>
                    </m:r>
                  </m:oMath>
                </a14:m>
                <a:r>
                  <a:rPr lang="zh-CN" altLang="en-US" sz="2400" dirty="0"/>
                  <a:t>由于签名者属于第</a:t>
                </a:r>
                <a14:m>
                  <m:oMath xmlns:m="http://schemas.openxmlformats.org/officeDocument/2006/math">
                    <m:r>
                      <a:rPr lang="en-US" altLang="zh-CN" sz="2400" b="0" i="1" smtClean="0">
                        <a:latin typeface="Cambria Math" panose="02040503050406030204" pitchFamily="18" charset="0"/>
                      </a:rPr>
                      <m:t>𝑗</m:t>
                    </m:r>
                    <m:r>
                      <a:rPr lang="zh-CN" altLang="en-US" sz="2400" i="1">
                        <a:latin typeface="Cambria Math" panose="02040503050406030204" pitchFamily="18" charset="0"/>
                      </a:rPr>
                      <m:t>个</m:t>
                    </m:r>
                  </m:oMath>
                </a14:m>
                <a:r>
                  <a:rPr lang="zh-CN" altLang="en-US" sz="2400" dirty="0"/>
                  <a:t>，所以从第</a:t>
                </a:r>
                <a14:m>
                  <m:oMath xmlns:m="http://schemas.openxmlformats.org/officeDocument/2006/math">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c</m:t>
                        </m:r>
                      </m:e>
                      <m:sub>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+1</m:t>
                        </m:r>
                      </m:sub>
                    </m:sSub>
                  </m:oMath>
                </a14:m>
                <a:r>
                  <a:rPr lang="zh-CN" altLang="en-US" sz="2400" dirty="0"/>
                  <a:t>开始计算：</a:t>
                </a:r>
                <a:endParaRPr lang="en-US" altLang="zh-CN" sz="2400" dirty="0"/>
              </a:p>
            </p:txBody>
          </p:sp>
        </mc:Choice>
        <mc:Fallback xmlns="">
          <p:sp>
            <p:nvSpPr>
              <p:cNvPr id="3" name="内容占位符 2">
                <a:extLst>
                  <a:ext uri="{FF2B5EF4-FFF2-40B4-BE49-F238E27FC236}">
                    <a16:creationId xmlns:a16="http://schemas.microsoft.com/office/drawing/2014/main" id="{C0700C0E-649A-5BC5-6B5C-2CC28B13F750}"/>
                  </a:ext>
                </a:extLst>
              </p:cNvPr>
              <p:cNvSpPr>
                <a:spLocks noGrp="1" noRot="1" noChangeAspect="1" noMove="1" noResize="1" noEditPoints="1" noAdjustHandles="1" noChangeArrowheads="1" noChangeShapeType="1" noTextEdit="1"/>
              </p:cNvSpPr>
              <p:nvPr>
                <p:ph idx="1"/>
              </p:nvPr>
            </p:nvSpPr>
            <p:spPr>
              <a:xfrm>
                <a:off x="-36512" y="1124744"/>
                <a:ext cx="9180512" cy="5007769"/>
              </a:xfrm>
              <a:blipFill>
                <a:blip r:embed="rId2"/>
                <a:stretch>
                  <a:fillRect l="-266" t="-1583" r="-996"/>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6B28EB7E-83A5-9684-ACE4-FDFDA5B6CD84}"/>
              </a:ext>
            </a:extLst>
          </p:cNvPr>
          <p:cNvSpPr>
            <a:spLocks noGrp="1"/>
          </p:cNvSpPr>
          <p:nvPr>
            <p:ph type="sldNum" sz="quarter" idx="10"/>
          </p:nvPr>
        </p:nvSpPr>
        <p:spPr/>
        <p:txBody>
          <a:bodyPr/>
          <a:lstStyle/>
          <a:p>
            <a:pPr>
              <a:defRPr/>
            </a:pPr>
            <a:fld id="{9F8570D8-99D5-4A2B-952C-DAF2ADA290B2}" type="slidenum">
              <a:rPr lang="zh-CN" altLang="en-US" smtClean="0"/>
              <a:pPr>
                <a:defRPr/>
              </a:pPr>
              <a:t>58</a:t>
            </a:fld>
            <a:endParaRPr lang="en-US" altLang="zh-CN"/>
          </a:p>
        </p:txBody>
      </p:sp>
    </p:spTree>
    <p:extLst>
      <p:ext uri="{BB962C8B-B14F-4D97-AF65-F5344CB8AC3E}">
        <p14:creationId xmlns:p14="http://schemas.microsoft.com/office/powerpoint/2010/main" val="26378600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E2D9C1-89C4-3EBB-5336-20399C9D8165}"/>
              </a:ext>
            </a:extLst>
          </p:cNvPr>
          <p:cNvSpPr>
            <a:spLocks noGrp="1"/>
          </p:cNvSpPr>
          <p:nvPr>
            <p:ph type="title"/>
          </p:nvPr>
        </p:nvSpPr>
        <p:spPr>
          <a:xfrm>
            <a:off x="395536" y="188641"/>
            <a:ext cx="7793037" cy="648072"/>
          </a:xfrm>
        </p:spPr>
        <p:txBody>
          <a:bodyPr/>
          <a:lstStyle/>
          <a:p>
            <a:r>
              <a:rPr lang="zh-CN" altLang="en-US" dirty="0"/>
              <a:t>基于</a:t>
            </a:r>
            <a:r>
              <a:rPr lang="en-US" altLang="zh-CN" dirty="0"/>
              <a:t>ECC</a:t>
            </a:r>
            <a:r>
              <a:rPr lang="zh-CN" altLang="en-US" dirty="0"/>
              <a:t>的环签名</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0700C0E-649A-5BC5-6B5C-2CC28B13F750}"/>
                  </a:ext>
                </a:extLst>
              </p:cNvPr>
              <p:cNvSpPr>
                <a:spLocks noGrp="1"/>
              </p:cNvSpPr>
              <p:nvPr>
                <p:ph idx="1"/>
              </p:nvPr>
            </p:nvSpPr>
            <p:spPr>
              <a:xfrm>
                <a:off x="-36512" y="764704"/>
                <a:ext cx="9180512" cy="5367809"/>
              </a:xfrm>
            </p:spPr>
            <p:txBody>
              <a:bodyPr/>
              <a:lstStyle/>
              <a:p>
                <a:pPr marL="457200" lvl="1" indent="0" algn="just">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𝐻</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𝑚</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𝑟</m:t>
                              </m:r>
                            </m:e>
                            <m:sub>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𝐺</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𝑗</m:t>
                              </m:r>
                            </m:sub>
                          </m:sSub>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𝐻</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𝑚</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𝐺</m:t>
                      </m:r>
                      <m:r>
                        <a:rPr lang="en-US" altLang="zh-CN" sz="2400" b="0" i="1" smtClean="0">
                          <a:latin typeface="Cambria Math" panose="02040503050406030204" pitchFamily="18" charset="0"/>
                        </a:rPr>
                        <m:t>)</m:t>
                      </m:r>
                    </m:oMath>
                  </m:oMathPara>
                </a14:m>
                <a:endParaRPr lang="en-US" altLang="zh-CN" sz="2400" dirty="0"/>
              </a:p>
              <a:p>
                <a:pPr marL="457200" lvl="1" indent="0" algn="just">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𝐻</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𝑚</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𝑟</m:t>
                              </m:r>
                            </m:e>
                            <m:sub>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𝐺</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+1</m:t>
                              </m:r>
                            </m:sub>
                          </m:sSub>
                        </m:e>
                      </m:d>
                    </m:oMath>
                  </m:oMathPara>
                </a14:m>
                <a:endParaRPr lang="en-US" altLang="zh-CN" sz="2400" dirty="0"/>
              </a:p>
              <a:p>
                <a:pPr marL="457200" lvl="1" indent="0" algn="just">
                  <a:buNone/>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m:t>
                      </m:r>
                    </m:oMath>
                  </m:oMathPara>
                </a14:m>
                <a:endParaRPr lang="en-US" altLang="zh-CN" sz="2400" b="0" dirty="0"/>
              </a:p>
              <a:p>
                <a:pPr marL="457200" lvl="1" indent="0" algn="just">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𝐻</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𝑚</m:t>
                          </m:r>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𝑟</m:t>
                              </m:r>
                            </m:e>
                            <m:sub>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𝐺</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−2</m:t>
                              </m:r>
                            </m:sub>
                          </m:sSub>
                        </m:e>
                      </m:d>
                    </m:oMath>
                  </m:oMathPara>
                </a14:m>
                <a:endParaRPr lang="en-US" altLang="zh-CN" sz="2400" b="0" dirty="0"/>
              </a:p>
              <a:p>
                <a:pPr marL="457200" lvl="1" indent="0" algn="just">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𝑛</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𝐻</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𝑚</m:t>
                          </m:r>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𝑟</m:t>
                              </m:r>
                            </m:e>
                            <m:sub>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𝐺</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−1</m:t>
                              </m:r>
                            </m:sub>
                          </m:sSub>
                        </m:e>
                      </m:d>
                    </m:oMath>
                  </m:oMathPara>
                </a14:m>
                <a:endParaRPr lang="en-US" altLang="zh-CN" sz="2400" b="0" dirty="0"/>
              </a:p>
              <a:p>
                <a:pPr marL="457200" lvl="1" indent="0" algn="just">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𝐻</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𝑚</m:t>
                          </m:r>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𝑟</m:t>
                              </m:r>
                            </m:e>
                            <m:sub>
                              <m:r>
                                <a:rPr lang="en-US" altLang="zh-CN" sz="2400" b="0" i="1" smtClean="0">
                                  <a:latin typeface="Cambria Math" panose="02040503050406030204" pitchFamily="18" charset="0"/>
                                </a:rPr>
                                <m:t>𝑛</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𝐺</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𝑛</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𝑛</m:t>
                              </m:r>
                            </m:sub>
                          </m:sSub>
                        </m:e>
                      </m:d>
                    </m:oMath>
                  </m:oMathPara>
                </a14:m>
                <a:endParaRPr lang="en-US" altLang="zh-CN" sz="2400" b="0" dirty="0"/>
              </a:p>
              <a:p>
                <a:pPr marL="457200" lvl="1" indent="0" algn="just">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𝐻</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𝑚</m:t>
                          </m:r>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𝑟</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𝐺</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1</m:t>
                              </m:r>
                            </m:sub>
                          </m:sSub>
                        </m:e>
                      </m:d>
                    </m:oMath>
                  </m:oMathPara>
                </a14:m>
                <a:endParaRPr lang="en-US" altLang="zh-CN" sz="2400" b="0" dirty="0"/>
              </a:p>
              <a:p>
                <a:pPr marL="457200" lvl="1" indent="0" algn="just">
                  <a:buNone/>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m:t>
                      </m:r>
                    </m:oMath>
                  </m:oMathPara>
                </a14:m>
                <a:endParaRPr lang="en-US" altLang="zh-CN" sz="2400" b="0" dirty="0"/>
              </a:p>
              <a:p>
                <a:pPr marL="457200" lvl="1" indent="0" algn="just">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𝐻</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𝑚</m:t>
                          </m:r>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𝑟</m:t>
                              </m:r>
                            </m:e>
                            <m:sub>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𝐺</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−2</m:t>
                              </m:r>
                            </m:sub>
                          </m:sSub>
                        </m:e>
                      </m:d>
                    </m:oMath>
                  </m:oMathPara>
                </a14:m>
                <a:endParaRPr lang="en-US" altLang="zh-CN" sz="2400" b="0" dirty="0"/>
              </a:p>
              <a:p>
                <a:pPr marL="457200" lvl="1" indent="0" algn="just">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𝐻</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𝑚</m:t>
                          </m:r>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𝑟</m:t>
                              </m:r>
                            </m:e>
                            <m:sub>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𝐺</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−1</m:t>
                              </m:r>
                            </m:sub>
                          </m:sSub>
                        </m:e>
                      </m:d>
                    </m:oMath>
                  </m:oMathPara>
                </a14:m>
                <a:endParaRPr lang="en-US" altLang="zh-CN" sz="2400" b="0" dirty="0"/>
              </a:p>
              <a:p>
                <a:pPr marL="457200" lvl="1" indent="0" algn="just">
                  <a:buNone/>
                </a:pPr>
                <a:r>
                  <a:rPr lang="zh-CN" altLang="en-US" sz="2400" dirty="0"/>
                  <a:t>根据递推式</a:t>
                </a:r>
                <a14:m>
                  <m:oMath xmlns:m="http://schemas.openxmlformats.org/officeDocument/2006/math">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𝐺</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𝑟</m:t>
                        </m:r>
                      </m:e>
                      <m:sub>
                        <m:r>
                          <a:rPr lang="en-US" altLang="zh-CN" sz="2400" i="1">
                            <a:latin typeface="Cambria Math" panose="02040503050406030204" pitchFamily="18" charset="0"/>
                          </a:rPr>
                          <m:t>𝑗</m:t>
                        </m:r>
                      </m:sub>
                    </m:sSub>
                    <m:r>
                      <a:rPr lang="en-US" altLang="zh-CN" sz="2400" i="1">
                        <a:latin typeface="Cambria Math" panose="02040503050406030204" pitchFamily="18" charset="0"/>
                      </a:rPr>
                      <m:t>∗</m:t>
                    </m:r>
                    <m:r>
                      <a:rPr lang="en-US" altLang="zh-CN" sz="2400" i="1">
                        <a:latin typeface="Cambria Math" panose="02040503050406030204" pitchFamily="18" charset="0"/>
                      </a:rPr>
                      <m:t>𝐺</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𝑗</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𝑃</m:t>
                        </m:r>
                      </m:e>
                      <m:sub>
                        <m:r>
                          <a:rPr lang="en-US" altLang="zh-CN" sz="2400" i="1">
                            <a:latin typeface="Cambria Math" panose="02040503050406030204" pitchFamily="18" charset="0"/>
                          </a:rPr>
                          <m:t>𝑗</m:t>
                        </m:r>
                      </m:sub>
                    </m:sSub>
                    <m:r>
                      <a:rPr lang="en-US" altLang="zh-CN" sz="2400" i="1">
                        <a:latin typeface="Cambria Math" panose="02040503050406030204" pitchFamily="18" charset="0"/>
                      </a:rPr>
                      <m:t> </m:t>
                    </m:r>
                    <m:r>
                      <a:rPr lang="zh-CN" altLang="en-US" sz="2400" i="1">
                        <a:latin typeface="Cambria Math" panose="02040503050406030204" pitchFamily="18" charset="0"/>
                      </a:rPr>
                      <m:t>，</m:t>
                    </m:r>
                  </m:oMath>
                </a14:m>
                <a:r>
                  <a:rPr lang="zh-CN" altLang="en-US" sz="2400" dirty="0"/>
                  <a:t>可得</a:t>
                </a:r>
                <a:endParaRPr lang="en-US" altLang="zh-CN" sz="2400" dirty="0"/>
              </a:p>
              <a:p>
                <a:pPr marL="457200" lvl="1" indent="0" algn="just">
                  <a:buNone/>
                </a:pPr>
                <a14:m>
                  <m:oMath xmlns:m="http://schemas.openxmlformats.org/officeDocument/2006/math">
                    <m:r>
                      <a:rPr lang="en-US" altLang="zh-CN" sz="2400" i="1" smtClean="0">
                        <a:latin typeface="Cambria Math" panose="02040503050406030204" pitchFamily="18" charset="0"/>
                      </a:rPr>
                      <m:t>𝑘</m:t>
                    </m:r>
                    <m:r>
                      <a:rPr lang="en-US" altLang="zh-CN" sz="2400" i="1" smtClean="0">
                        <a:latin typeface="Cambria Math" panose="02040503050406030204" pitchFamily="18" charset="0"/>
                      </a:rPr>
                      <m:t>∗</m:t>
                    </m:r>
                    <m:r>
                      <a:rPr lang="en-US" altLang="zh-CN" sz="2400" i="1" smtClean="0">
                        <a:latin typeface="Cambria Math" panose="02040503050406030204" pitchFamily="18" charset="0"/>
                      </a:rPr>
                      <m:t>𝐺</m:t>
                    </m:r>
                    <m:r>
                      <a:rPr lang="en-US" altLang="zh-CN" sz="240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𝑟</m:t>
                        </m:r>
                      </m:e>
                      <m:sub>
                        <m:r>
                          <a:rPr lang="en-US" altLang="zh-CN" sz="2400" i="1">
                            <a:latin typeface="Cambria Math" panose="02040503050406030204" pitchFamily="18" charset="0"/>
                          </a:rPr>
                          <m:t>𝑗</m:t>
                        </m:r>
                      </m:sub>
                    </m:sSub>
                    <m:r>
                      <a:rPr lang="en-US" altLang="zh-CN" sz="2400" i="1">
                        <a:latin typeface="Cambria Math" panose="02040503050406030204" pitchFamily="18" charset="0"/>
                      </a:rPr>
                      <m:t>∗</m:t>
                    </m:r>
                    <m:r>
                      <a:rPr lang="en-US" altLang="zh-CN" sz="2400" i="1">
                        <a:latin typeface="Cambria Math" panose="02040503050406030204" pitchFamily="18" charset="0"/>
                      </a:rPr>
                      <m:t>𝐺</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𝑗</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𝑃</m:t>
                        </m:r>
                      </m:e>
                      <m:sub>
                        <m:r>
                          <a:rPr lang="en-US" altLang="zh-CN" sz="2400" i="1">
                            <a:latin typeface="Cambria Math" panose="02040503050406030204" pitchFamily="18" charset="0"/>
                          </a:rPr>
                          <m:t>𝑗</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𝑟</m:t>
                        </m:r>
                      </m:e>
                      <m:sub>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𝐺</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𝐺</m:t>
                    </m:r>
                    <m:r>
                      <a:rPr lang="en-US" altLang="zh-CN" sz="2400" b="0" i="1" smtClean="0">
                        <a:latin typeface="Cambria Math" panose="02040503050406030204" pitchFamily="18" charset="0"/>
                      </a:rPr>
                      <m:t>=</m:t>
                    </m:r>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𝑟</m:t>
                            </m:r>
                          </m:e>
                          <m:sub>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𝑗</m:t>
                            </m:r>
                          </m:sub>
                        </m:sSub>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𝐺</m:t>
                    </m:r>
                  </m:oMath>
                </a14:m>
                <a:r>
                  <a:rPr lang="zh-CN" altLang="en-US" sz="2400" dirty="0"/>
                  <a:t>，</a:t>
                </a:r>
                <a:endParaRPr lang="en-US" altLang="zh-CN" sz="2400" dirty="0"/>
              </a:p>
              <a:p>
                <a:pPr marL="457200" lvl="1" indent="0" algn="just">
                  <a:buNone/>
                </a:pPr>
                <a:r>
                  <a:rPr lang="zh-CN" altLang="en-US" sz="2400" dirty="0"/>
                  <a:t>所以</a:t>
                </a:r>
                <a14:m>
                  <m:oMath xmlns:m="http://schemas.openxmlformats.org/officeDocument/2006/math">
                    <m:r>
                      <a:rPr lang="en-US" altLang="zh-CN" sz="2400" b="0" i="1" smtClean="0">
                        <a:latin typeface="Cambria Math" panose="02040503050406030204" pitchFamily="18" charset="0"/>
                      </a:rPr>
                      <m:t>𝑘</m:t>
                    </m:r>
                    <m:r>
                      <a:rPr lang="en-US" altLang="zh-CN" sz="2400" b="0" i="1" smtClean="0">
                        <a:latin typeface="Cambria Math" panose="02040503050406030204" pitchFamily="18" charset="0"/>
                      </a:rPr>
                      <m:t>=</m:t>
                    </m:r>
                  </m:oMath>
                </a14:m>
                <a:r>
                  <a:rPr lang="en-US" altLang="zh-CN" sz="2400" dirty="0"/>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𝑟</m:t>
                        </m:r>
                      </m:e>
                      <m:sub>
                        <m:r>
                          <a:rPr lang="en-US" altLang="zh-CN" sz="2400" i="1">
                            <a:latin typeface="Cambria Math" panose="02040503050406030204" pitchFamily="18" charset="0"/>
                          </a:rPr>
                          <m:t>𝑗</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𝑗</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𝑗</m:t>
                        </m:r>
                      </m:sub>
                    </m:sSub>
                  </m:oMath>
                </a14:m>
                <a:r>
                  <a:rPr lang="zh-CN" altLang="en-US" sz="2400" dirty="0"/>
                  <a:t>，现已知</a:t>
                </a:r>
                <a14:m>
                  <m:oMath xmlns:m="http://schemas.openxmlformats.org/officeDocument/2006/math">
                    <m:r>
                      <a:rPr lang="en-US" altLang="zh-CN" sz="2400" b="0" i="1" smtClean="0">
                        <a:latin typeface="Cambria Math" panose="02040503050406030204" pitchFamily="18" charset="0"/>
                      </a:rPr>
                      <m:t>𝑘</m:t>
                    </m:r>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𝑗</m:t>
                        </m:r>
                      </m:sub>
                    </m:sSub>
                    <m:r>
                      <a:rPr lang="en-US" altLang="zh-CN" sz="2400" b="0" i="1" smtClean="0">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𝑗</m:t>
                        </m:r>
                      </m:sub>
                    </m:sSub>
                  </m:oMath>
                </a14:m>
                <a:r>
                  <a:rPr lang="zh-CN" altLang="en-US" sz="2400" i="1" dirty="0"/>
                  <a:t>，</a:t>
                </a:r>
                <a:r>
                  <a:rPr lang="zh-CN" altLang="en-US" sz="2400" dirty="0"/>
                  <a:t>可求</a:t>
                </a:r>
                <a14:m>
                  <m:oMath xmlns:m="http://schemas.openxmlformats.org/officeDocument/2006/math">
                    <m:sSub>
                      <m:sSubPr>
                        <m:ctrlPr>
                          <a:rPr lang="en-US" altLang="zh-CN" sz="2400" b="1" i="1" smtClean="0">
                            <a:solidFill>
                              <a:srgbClr val="C00000"/>
                            </a:solidFill>
                            <a:latin typeface="Cambria Math" panose="02040503050406030204" pitchFamily="18" charset="0"/>
                          </a:rPr>
                        </m:ctrlPr>
                      </m:sSubPr>
                      <m:e>
                        <m:r>
                          <a:rPr lang="en-US" altLang="zh-CN" sz="2400" b="1" i="1" smtClean="0">
                            <a:solidFill>
                              <a:srgbClr val="C00000"/>
                            </a:solidFill>
                            <a:latin typeface="Cambria Math" panose="02040503050406030204" pitchFamily="18" charset="0"/>
                          </a:rPr>
                          <m:t>𝒓</m:t>
                        </m:r>
                      </m:e>
                      <m:sub>
                        <m:r>
                          <a:rPr lang="en-US" altLang="zh-CN" sz="2400" b="1" i="1" smtClean="0">
                            <a:solidFill>
                              <a:srgbClr val="C00000"/>
                            </a:solidFill>
                            <a:latin typeface="Cambria Math" panose="02040503050406030204" pitchFamily="18" charset="0"/>
                          </a:rPr>
                          <m:t>𝒋</m:t>
                        </m:r>
                      </m:sub>
                    </m:sSub>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𝒌</m:t>
                    </m:r>
                    <m:r>
                      <a:rPr lang="en-US" altLang="zh-CN" sz="2400" b="1" i="1" smtClean="0">
                        <a:solidFill>
                          <a:srgbClr val="C00000"/>
                        </a:solidFill>
                        <a:latin typeface="Cambria Math" panose="02040503050406030204" pitchFamily="18" charset="0"/>
                      </a:rPr>
                      <m:t>−</m:t>
                    </m:r>
                    <m:sSub>
                      <m:sSubPr>
                        <m:ctrlPr>
                          <a:rPr lang="en-US" altLang="zh-CN" sz="2400" b="1" i="1" smtClean="0">
                            <a:solidFill>
                              <a:srgbClr val="C00000"/>
                            </a:solidFill>
                            <a:latin typeface="Cambria Math" panose="02040503050406030204" pitchFamily="18" charset="0"/>
                          </a:rPr>
                        </m:ctrlPr>
                      </m:sSubPr>
                      <m:e>
                        <m:r>
                          <a:rPr lang="en-US" altLang="zh-CN" sz="2400" b="1" i="1" smtClean="0">
                            <a:solidFill>
                              <a:srgbClr val="C00000"/>
                            </a:solidFill>
                            <a:latin typeface="Cambria Math" panose="02040503050406030204" pitchFamily="18" charset="0"/>
                          </a:rPr>
                          <m:t>𝒄</m:t>
                        </m:r>
                      </m:e>
                      <m:sub>
                        <m:r>
                          <a:rPr lang="en-US" altLang="zh-CN" sz="2400" b="1" i="1" smtClean="0">
                            <a:solidFill>
                              <a:srgbClr val="C00000"/>
                            </a:solidFill>
                            <a:latin typeface="Cambria Math" panose="02040503050406030204" pitchFamily="18" charset="0"/>
                          </a:rPr>
                          <m:t>𝒋</m:t>
                        </m:r>
                      </m:sub>
                    </m:sSub>
                    <m:r>
                      <a:rPr lang="en-US" altLang="zh-CN" sz="2400" b="1" i="1" smtClean="0">
                        <a:solidFill>
                          <a:srgbClr val="C00000"/>
                        </a:solidFill>
                        <a:latin typeface="Cambria Math" panose="02040503050406030204" pitchFamily="18" charset="0"/>
                      </a:rPr>
                      <m:t>∗</m:t>
                    </m:r>
                    <m:sSub>
                      <m:sSubPr>
                        <m:ctrlPr>
                          <a:rPr lang="en-US" altLang="zh-CN" sz="2400" b="1" i="1" smtClean="0">
                            <a:solidFill>
                              <a:srgbClr val="C00000"/>
                            </a:solidFill>
                            <a:latin typeface="Cambria Math" panose="02040503050406030204" pitchFamily="18" charset="0"/>
                          </a:rPr>
                        </m:ctrlPr>
                      </m:sSubPr>
                      <m:e>
                        <m:r>
                          <a:rPr lang="en-US" altLang="zh-CN" sz="2400" b="1" i="1" smtClean="0">
                            <a:solidFill>
                              <a:srgbClr val="C00000"/>
                            </a:solidFill>
                            <a:latin typeface="Cambria Math" panose="02040503050406030204" pitchFamily="18" charset="0"/>
                          </a:rPr>
                          <m:t>𝒙</m:t>
                        </m:r>
                      </m:e>
                      <m:sub>
                        <m:r>
                          <a:rPr lang="en-US" altLang="zh-CN" sz="2400" b="1" i="1" smtClean="0">
                            <a:solidFill>
                              <a:srgbClr val="C00000"/>
                            </a:solidFill>
                            <a:latin typeface="Cambria Math" panose="02040503050406030204" pitchFamily="18" charset="0"/>
                          </a:rPr>
                          <m:t>𝒋</m:t>
                        </m:r>
                      </m:sub>
                    </m:sSub>
                  </m:oMath>
                </a14:m>
                <a:r>
                  <a:rPr lang="zh-CN" altLang="en-US" sz="2400" dirty="0"/>
                  <a:t>。</a:t>
                </a:r>
                <a:endParaRPr lang="en-US" altLang="zh-CN" sz="2400" dirty="0"/>
              </a:p>
              <a:p>
                <a:pPr marL="457200" lvl="1" indent="0" algn="just">
                  <a:buNone/>
                </a:pPr>
                <a:r>
                  <a:rPr lang="zh-CN" altLang="en-US" sz="2400" dirty="0"/>
                  <a:t>最后，签名者得到环签名</a:t>
                </a:r>
                <a14:m>
                  <m:oMath xmlns:m="http://schemas.openxmlformats.org/officeDocument/2006/math">
                    <m:r>
                      <a:rPr lang="en-US" altLang="zh-CN" sz="2400" b="1" i="1" smtClean="0">
                        <a:solidFill>
                          <a:srgbClr val="FF0000"/>
                        </a:solidFill>
                        <a:latin typeface="Cambria Math" panose="02040503050406030204" pitchFamily="18" charset="0"/>
                      </a:rPr>
                      <m:t>𝝈</m:t>
                    </m:r>
                    <m:r>
                      <a:rPr lang="en-US" altLang="zh-CN" sz="2400" b="1" i="1" smtClean="0">
                        <a:solidFill>
                          <a:srgbClr val="FF0000"/>
                        </a:solidFill>
                        <a:latin typeface="Cambria Math" panose="02040503050406030204" pitchFamily="18" charset="0"/>
                      </a:rPr>
                      <m:t>=(</m:t>
                    </m:r>
                    <m:sSub>
                      <m:sSubPr>
                        <m:ctrlPr>
                          <a:rPr lang="en-US" altLang="zh-CN" sz="2400" b="1" i="1" smtClean="0">
                            <a:solidFill>
                              <a:srgbClr val="FF0000"/>
                            </a:solidFill>
                            <a:latin typeface="Cambria Math" panose="02040503050406030204" pitchFamily="18" charset="0"/>
                          </a:rPr>
                        </m:ctrlPr>
                      </m:sSubPr>
                      <m:e>
                        <m:r>
                          <a:rPr lang="en-US" altLang="zh-CN" sz="2400" b="1" i="1" smtClean="0">
                            <a:solidFill>
                              <a:srgbClr val="FF0000"/>
                            </a:solidFill>
                            <a:latin typeface="Cambria Math" panose="02040503050406030204" pitchFamily="18" charset="0"/>
                          </a:rPr>
                          <m:t>𝒄</m:t>
                        </m:r>
                      </m:e>
                      <m:sub>
                        <m:r>
                          <a:rPr lang="en-US" altLang="zh-CN" sz="2400" b="1" i="1" smtClean="0">
                            <a:solidFill>
                              <a:srgbClr val="FF0000"/>
                            </a:solidFill>
                            <a:latin typeface="Cambria Math" panose="02040503050406030204" pitchFamily="18" charset="0"/>
                          </a:rPr>
                          <m:t>𝟏</m:t>
                        </m:r>
                      </m:sub>
                    </m:sSub>
                    <m:r>
                      <a:rPr lang="en-US" altLang="zh-CN" sz="2400" b="1" i="1" smtClean="0">
                        <a:solidFill>
                          <a:srgbClr val="FF0000"/>
                        </a:solidFill>
                        <a:latin typeface="Cambria Math" panose="02040503050406030204" pitchFamily="18" charset="0"/>
                      </a:rPr>
                      <m:t>, </m:t>
                    </m:r>
                    <m:r>
                      <a:rPr lang="en-US" altLang="zh-CN" sz="2400" b="1" i="1" smtClean="0">
                        <a:solidFill>
                          <a:srgbClr val="FF0000"/>
                        </a:solidFill>
                        <a:latin typeface="Cambria Math" panose="02040503050406030204" pitchFamily="18" charset="0"/>
                      </a:rPr>
                      <m:t>𝑷𝑲</m:t>
                    </m:r>
                    <m:r>
                      <a:rPr lang="en-US" altLang="zh-CN" sz="2400" b="1" i="1" smtClean="0">
                        <a:solidFill>
                          <a:srgbClr val="FF0000"/>
                        </a:solidFill>
                        <a:latin typeface="Cambria Math" panose="02040503050406030204" pitchFamily="18" charset="0"/>
                      </a:rPr>
                      <m:t>, </m:t>
                    </m:r>
                    <m:r>
                      <a:rPr lang="en-US" altLang="zh-CN" sz="2400" b="1" i="1" smtClean="0">
                        <a:solidFill>
                          <a:srgbClr val="FF0000"/>
                        </a:solidFill>
                        <a:latin typeface="Cambria Math" panose="02040503050406030204" pitchFamily="18" charset="0"/>
                      </a:rPr>
                      <m:t>𝑹</m:t>
                    </m:r>
                    <m:r>
                      <a:rPr lang="en-US" altLang="zh-CN" sz="2400" b="1" i="1" smtClean="0">
                        <a:solidFill>
                          <a:srgbClr val="FF0000"/>
                        </a:solidFill>
                        <a:latin typeface="Cambria Math" panose="02040503050406030204" pitchFamily="18" charset="0"/>
                      </a:rPr>
                      <m:t>)</m:t>
                    </m:r>
                  </m:oMath>
                </a14:m>
                <a:r>
                  <a:rPr lang="zh-CN" altLang="en-US" sz="2400" b="1" dirty="0">
                    <a:solidFill>
                      <a:srgbClr val="FF0000"/>
                    </a:solidFill>
                  </a:rPr>
                  <a:t>。</a:t>
                </a:r>
                <a:endParaRPr lang="en-US" altLang="zh-CN" sz="2800" b="1" dirty="0"/>
              </a:p>
              <a:p>
                <a:pPr marL="457200" lvl="1" indent="0" algn="just">
                  <a:buNone/>
                </a:pPr>
                <a:endParaRPr lang="en-US" altLang="zh-CN" sz="2400" dirty="0"/>
              </a:p>
              <a:p>
                <a:pPr marL="457200" lvl="1" indent="0" algn="just">
                  <a:buNone/>
                </a:pPr>
                <a:endParaRPr lang="en-US" altLang="zh-CN" sz="2400" b="0" dirty="0"/>
              </a:p>
              <a:p>
                <a:pPr marL="457200" lvl="1" indent="0">
                  <a:buNone/>
                </a:pPr>
                <a:endParaRPr lang="en-US" altLang="zh-CN" sz="2400" dirty="0"/>
              </a:p>
              <a:p>
                <a:pPr marL="457200" lvl="1" indent="0">
                  <a:buNone/>
                </a:pPr>
                <a:endParaRPr lang="en-US" altLang="zh-CN" sz="2400" dirty="0"/>
              </a:p>
              <a:p>
                <a:pPr marL="457200" lvl="1" indent="0">
                  <a:buNone/>
                </a:pPr>
                <a:endParaRPr lang="en-US" altLang="zh-CN" sz="2400" dirty="0"/>
              </a:p>
              <a:p>
                <a:pPr marL="457200" lvl="1" indent="0">
                  <a:buNone/>
                </a:pPr>
                <a:endParaRPr lang="zh-CN" altLang="en-US" sz="2400" dirty="0"/>
              </a:p>
            </p:txBody>
          </p:sp>
        </mc:Choice>
        <mc:Fallback xmlns="">
          <p:sp>
            <p:nvSpPr>
              <p:cNvPr id="3" name="内容占位符 2">
                <a:extLst>
                  <a:ext uri="{FF2B5EF4-FFF2-40B4-BE49-F238E27FC236}">
                    <a16:creationId xmlns:a16="http://schemas.microsoft.com/office/drawing/2014/main" id="{C0700C0E-649A-5BC5-6B5C-2CC28B13F750}"/>
                  </a:ext>
                </a:extLst>
              </p:cNvPr>
              <p:cNvSpPr>
                <a:spLocks noGrp="1" noRot="1" noChangeAspect="1" noMove="1" noResize="1" noEditPoints="1" noAdjustHandles="1" noChangeArrowheads="1" noChangeShapeType="1" noTextEdit="1"/>
              </p:cNvSpPr>
              <p:nvPr>
                <p:ph idx="1"/>
              </p:nvPr>
            </p:nvSpPr>
            <p:spPr>
              <a:xfrm>
                <a:off x="-36512" y="764704"/>
                <a:ext cx="9180512" cy="5367809"/>
              </a:xfrm>
              <a:blipFill>
                <a:blip r:embed="rId3"/>
                <a:stretch>
                  <a:fillRect b="-11578"/>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6B28EB7E-83A5-9684-ACE4-FDFDA5B6CD84}"/>
              </a:ext>
            </a:extLst>
          </p:cNvPr>
          <p:cNvSpPr>
            <a:spLocks noGrp="1"/>
          </p:cNvSpPr>
          <p:nvPr>
            <p:ph type="sldNum" sz="quarter" idx="10"/>
          </p:nvPr>
        </p:nvSpPr>
        <p:spPr/>
        <p:txBody>
          <a:bodyPr/>
          <a:lstStyle/>
          <a:p>
            <a:pPr>
              <a:defRPr/>
            </a:pPr>
            <a:fld id="{9F8570D8-99D5-4A2B-952C-DAF2ADA290B2}" type="slidenum">
              <a:rPr lang="zh-CN" altLang="en-US" smtClean="0"/>
              <a:pPr>
                <a:defRPr/>
              </a:pPr>
              <a:t>59</a:t>
            </a:fld>
            <a:endParaRPr lang="en-US" altLang="zh-CN" dirty="0"/>
          </a:p>
        </p:txBody>
      </p:sp>
    </p:spTree>
    <p:extLst>
      <p:ext uri="{BB962C8B-B14F-4D97-AF65-F5344CB8AC3E}">
        <p14:creationId xmlns:p14="http://schemas.microsoft.com/office/powerpoint/2010/main" val="15246223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E2D9C1-89C4-3EBB-5336-20399C9D8165}"/>
              </a:ext>
            </a:extLst>
          </p:cNvPr>
          <p:cNvSpPr>
            <a:spLocks noGrp="1"/>
          </p:cNvSpPr>
          <p:nvPr>
            <p:ph type="title"/>
          </p:nvPr>
        </p:nvSpPr>
        <p:spPr>
          <a:xfrm>
            <a:off x="395536" y="188640"/>
            <a:ext cx="7793037" cy="766415"/>
          </a:xfrm>
        </p:spPr>
        <p:txBody>
          <a:bodyPr/>
          <a:lstStyle/>
          <a:p>
            <a:r>
              <a:rPr lang="zh-CN" altLang="en-US" dirty="0"/>
              <a:t>基于</a:t>
            </a:r>
            <a:r>
              <a:rPr lang="en-US" altLang="zh-CN" dirty="0"/>
              <a:t>ECC</a:t>
            </a:r>
            <a:r>
              <a:rPr lang="zh-CN" altLang="en-US" dirty="0"/>
              <a:t>的环签名</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0700C0E-649A-5BC5-6B5C-2CC28B13F750}"/>
                  </a:ext>
                </a:extLst>
              </p:cNvPr>
              <p:cNvSpPr>
                <a:spLocks noGrp="1"/>
              </p:cNvSpPr>
              <p:nvPr>
                <p:ph idx="1"/>
              </p:nvPr>
            </p:nvSpPr>
            <p:spPr>
              <a:xfrm>
                <a:off x="-36512" y="1124744"/>
                <a:ext cx="9180512" cy="5007769"/>
              </a:xfrm>
            </p:spPr>
            <p:txBody>
              <a:bodyPr/>
              <a:lstStyle/>
              <a:p>
                <a:r>
                  <a:rPr lang="zh-CN" altLang="en-US" sz="2800" dirty="0"/>
                  <a:t>收到消息</a:t>
                </a:r>
                <a14:m>
                  <m:oMath xmlns:m="http://schemas.openxmlformats.org/officeDocument/2006/math">
                    <m:r>
                      <a:rPr lang="en-US" altLang="zh-CN" sz="2800" b="0" i="1" smtClean="0">
                        <a:latin typeface="Cambria Math" panose="02040503050406030204" pitchFamily="18" charset="0"/>
                      </a:rPr>
                      <m:t>𝑚</m:t>
                    </m:r>
                  </m:oMath>
                </a14:m>
                <a:r>
                  <a:rPr lang="zh-CN" altLang="en-US" sz="2800" dirty="0"/>
                  <a:t>和环签名</a:t>
                </a:r>
                <a14:m>
                  <m:oMath xmlns:m="http://schemas.openxmlformats.org/officeDocument/2006/math">
                    <m:r>
                      <a:rPr lang="en-US" altLang="zh-CN" sz="2800" b="0" i="1">
                        <a:latin typeface="Cambria Math" panose="02040503050406030204" pitchFamily="18" charset="0"/>
                      </a:rPr>
                      <m:t>𝜎</m:t>
                    </m:r>
                    <m:r>
                      <a:rPr lang="en-US" altLang="zh-CN" sz="2800" b="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b="0" i="1">
                            <a:latin typeface="Cambria Math" panose="02040503050406030204" pitchFamily="18" charset="0"/>
                          </a:rPr>
                          <m:t>𝑐</m:t>
                        </m:r>
                      </m:e>
                      <m:sub>
                        <m:r>
                          <a:rPr lang="en-US" altLang="zh-CN" sz="2800" b="0" i="1">
                            <a:latin typeface="Cambria Math" panose="02040503050406030204" pitchFamily="18" charset="0"/>
                          </a:rPr>
                          <m:t>1</m:t>
                        </m:r>
                      </m:sub>
                    </m:sSub>
                    <m:r>
                      <a:rPr lang="en-US" altLang="zh-CN" sz="2800" b="0" i="1">
                        <a:latin typeface="Cambria Math" panose="02040503050406030204" pitchFamily="18" charset="0"/>
                      </a:rPr>
                      <m:t>, </m:t>
                    </m:r>
                    <m:r>
                      <a:rPr lang="en-US" altLang="zh-CN" sz="2800" b="0" i="1">
                        <a:latin typeface="Cambria Math" panose="02040503050406030204" pitchFamily="18" charset="0"/>
                      </a:rPr>
                      <m:t>𝑃𝐾</m:t>
                    </m:r>
                    <m:r>
                      <a:rPr lang="en-US" altLang="zh-CN" sz="2800" b="0" i="1">
                        <a:latin typeface="Cambria Math" panose="02040503050406030204" pitchFamily="18" charset="0"/>
                      </a:rPr>
                      <m:t>, </m:t>
                    </m:r>
                    <m:r>
                      <a:rPr lang="en-US" altLang="zh-CN" sz="2800" b="0" i="1">
                        <a:latin typeface="Cambria Math" panose="02040503050406030204" pitchFamily="18" charset="0"/>
                      </a:rPr>
                      <m:t>𝑅</m:t>
                    </m:r>
                    <m:r>
                      <a:rPr lang="en-US" altLang="zh-CN" sz="2800" b="0" i="1">
                        <a:latin typeface="Cambria Math" panose="02040503050406030204" pitchFamily="18" charset="0"/>
                      </a:rPr>
                      <m:t>)</m:t>
                    </m:r>
                  </m:oMath>
                </a14:m>
                <a:r>
                  <a:rPr lang="zh-CN" altLang="en-US" sz="2800" dirty="0"/>
                  <a:t>，任何一个人可以对其进行验证：</a:t>
                </a:r>
                <a:endParaRPr lang="en-US" altLang="zh-CN" sz="2800" dirty="0"/>
              </a:p>
              <a:p>
                <a:pPr lvl="1"/>
                <a:r>
                  <a:rPr lang="zh-CN" altLang="en-US" sz="2400" dirty="0"/>
                  <a:t>根据递推式</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r>
                      <a:rPr lang="en-US" altLang="zh-CN" sz="2400" i="1">
                        <a:latin typeface="Cambria Math" panose="02040503050406030204" pitchFamily="18" charset="0"/>
                      </a:rPr>
                      <m:t>𝐻</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𝑟</m:t>
                        </m:r>
                      </m:e>
                      <m:sub>
                        <m:r>
                          <a:rPr lang="en-US" altLang="zh-CN" sz="2400" i="1">
                            <a:latin typeface="Cambria Math" panose="02040503050406030204" pitchFamily="18" charset="0"/>
                          </a:rPr>
                          <m:t>𝑖</m:t>
                        </m:r>
                        <m:r>
                          <a:rPr lang="en-US" altLang="zh-CN" sz="2400" i="1">
                            <a:latin typeface="Cambria Math" panose="02040503050406030204" pitchFamily="18" charset="0"/>
                          </a:rPr>
                          <m:t>−1</m:t>
                        </m:r>
                      </m:sub>
                    </m:sSub>
                    <m:r>
                      <a:rPr lang="en-US" altLang="zh-CN" sz="2400" i="1">
                        <a:latin typeface="Cambria Math" panose="02040503050406030204" pitchFamily="18" charset="0"/>
                      </a:rPr>
                      <m:t>∗</m:t>
                    </m:r>
                    <m:r>
                      <a:rPr lang="en-US" altLang="zh-CN" sz="2400" i="1">
                        <a:latin typeface="Cambria Math" panose="02040503050406030204" pitchFamily="18" charset="0"/>
                      </a:rPr>
                      <m:t>𝐺</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𝑖</m:t>
                        </m:r>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𝑃</m:t>
                        </m:r>
                      </m:e>
                      <m:sub>
                        <m:r>
                          <a:rPr lang="en-US" altLang="zh-CN" sz="2400" i="1">
                            <a:latin typeface="Cambria Math" panose="02040503050406030204" pitchFamily="18" charset="0"/>
                          </a:rPr>
                          <m:t>𝑖</m:t>
                        </m:r>
                        <m:r>
                          <a:rPr lang="en-US" altLang="zh-CN" sz="2400" i="1">
                            <a:latin typeface="Cambria Math" panose="02040503050406030204" pitchFamily="18" charset="0"/>
                          </a:rPr>
                          <m:t>−1</m:t>
                        </m:r>
                      </m:sub>
                    </m:sSub>
                    <m:r>
                      <a:rPr lang="en-US" altLang="zh-CN" sz="2400" i="1">
                        <a:latin typeface="Cambria Math" panose="02040503050406030204" pitchFamily="18" charset="0"/>
                      </a:rPr>
                      <m:t>)</m:t>
                    </m:r>
                  </m:oMath>
                </a14:m>
                <a:r>
                  <a:rPr lang="zh-CN" altLang="en-US" sz="2400" dirty="0"/>
                  <a:t>分别计算</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𝑛</m:t>
                        </m:r>
                      </m:sub>
                    </m:sSub>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i="1">
                        <a:latin typeface="Cambria Math" panose="02040503050406030204" pitchFamily="18" charset="0"/>
                      </a:rPr>
                      <m:t> </m:t>
                    </m:r>
                  </m:oMath>
                </a14:m>
                <a:r>
                  <a:rPr lang="zh-CN" altLang="en-US" sz="2400" dirty="0"/>
                  <a:t>。</a:t>
                </a:r>
                <a:endParaRPr lang="en-US" altLang="zh-CN" sz="2400" dirty="0"/>
              </a:p>
              <a:p>
                <a:pPr lvl="1"/>
                <a:r>
                  <a:rPr lang="zh-CN" altLang="en-US" sz="2400" dirty="0"/>
                  <a:t>验证</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1</m:t>
                        </m:r>
                      </m:sub>
                    </m:sSub>
                    <m:r>
                      <a:rPr lang="zh-CN" altLang="en-US" sz="2400" i="1">
                        <a:latin typeface="Cambria Math" panose="02040503050406030204" pitchFamily="18" charset="0"/>
                      </a:rPr>
                      <m:t>是否</m:t>
                    </m:r>
                  </m:oMath>
                </a14:m>
                <a:r>
                  <a:rPr lang="zh-CN" altLang="en-US" sz="2400" dirty="0"/>
                  <a:t>等于</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 </m:t>
                    </m:r>
                  </m:oMath>
                </a14:m>
                <a:r>
                  <a:rPr lang="zh-CN" altLang="en-US" sz="2400" dirty="0"/>
                  <a:t>，若是，则签名有效，否则签名无效。</a:t>
                </a:r>
                <a:endParaRPr lang="en-US" altLang="zh-CN" sz="2400" dirty="0"/>
              </a:p>
            </p:txBody>
          </p:sp>
        </mc:Choice>
        <mc:Fallback xmlns="">
          <p:sp>
            <p:nvSpPr>
              <p:cNvPr id="3" name="内容占位符 2">
                <a:extLst>
                  <a:ext uri="{FF2B5EF4-FFF2-40B4-BE49-F238E27FC236}">
                    <a16:creationId xmlns:a16="http://schemas.microsoft.com/office/drawing/2014/main" id="{C0700C0E-649A-5BC5-6B5C-2CC28B13F750}"/>
                  </a:ext>
                </a:extLst>
              </p:cNvPr>
              <p:cNvSpPr>
                <a:spLocks noGrp="1" noRot="1" noChangeAspect="1" noMove="1" noResize="1" noEditPoints="1" noAdjustHandles="1" noChangeArrowheads="1" noChangeShapeType="1" noTextEdit="1"/>
              </p:cNvSpPr>
              <p:nvPr>
                <p:ph idx="1"/>
              </p:nvPr>
            </p:nvSpPr>
            <p:spPr>
              <a:xfrm>
                <a:off x="-36512" y="1124744"/>
                <a:ext cx="9180512" cy="5007769"/>
              </a:xfrm>
              <a:blipFill>
                <a:blip r:embed="rId2"/>
                <a:stretch>
                  <a:fillRect l="-266" t="-1583" r="-664"/>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6B28EB7E-83A5-9684-ACE4-FDFDA5B6CD84}"/>
              </a:ext>
            </a:extLst>
          </p:cNvPr>
          <p:cNvSpPr>
            <a:spLocks noGrp="1"/>
          </p:cNvSpPr>
          <p:nvPr>
            <p:ph type="sldNum" sz="quarter" idx="10"/>
          </p:nvPr>
        </p:nvSpPr>
        <p:spPr/>
        <p:txBody>
          <a:bodyPr/>
          <a:lstStyle/>
          <a:p>
            <a:pPr>
              <a:defRPr/>
            </a:pPr>
            <a:fld id="{9F8570D8-99D5-4A2B-952C-DAF2ADA290B2}" type="slidenum">
              <a:rPr lang="zh-CN" altLang="en-US" smtClean="0"/>
              <a:pPr>
                <a:defRPr/>
              </a:pPr>
              <a:t>60</a:t>
            </a:fld>
            <a:endParaRPr lang="en-US" altLang="zh-CN"/>
          </a:p>
        </p:txBody>
      </p:sp>
    </p:spTree>
    <p:extLst>
      <p:ext uri="{BB962C8B-B14F-4D97-AF65-F5344CB8AC3E}">
        <p14:creationId xmlns:p14="http://schemas.microsoft.com/office/powerpoint/2010/main" val="35409261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1922" name="Picture 2" descr="BS00554_">
            <a:extLst>
              <a:ext uri="{FF2B5EF4-FFF2-40B4-BE49-F238E27FC236}">
                <a16:creationId xmlns:a16="http://schemas.microsoft.com/office/drawing/2014/main" id="{4BC07141-8957-FF31-49BE-0BFAB53B71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2895600"/>
            <a:ext cx="3975100" cy="346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3" name="Text Box 3">
            <a:extLst>
              <a:ext uri="{FF2B5EF4-FFF2-40B4-BE49-F238E27FC236}">
                <a16:creationId xmlns:a16="http://schemas.microsoft.com/office/drawing/2014/main" id="{4F045EA3-C0A8-1BBC-5815-E72BFE48FF49}"/>
              </a:ext>
            </a:extLst>
          </p:cNvPr>
          <p:cNvSpPr txBox="1">
            <a:spLocks noChangeArrowheads="1"/>
          </p:cNvSpPr>
          <p:nvPr/>
        </p:nvSpPr>
        <p:spPr bwMode="auto">
          <a:xfrm>
            <a:off x="1828800" y="2438400"/>
            <a:ext cx="40386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4800" b="1">
                <a:solidFill>
                  <a:schemeClr val="hlink"/>
                </a:solidFill>
                <a:latin typeface="Times New Roman" panose="02020603050405020304" pitchFamily="18" charset="0"/>
              </a:rPr>
              <a:t>THE  END</a:t>
            </a:r>
            <a:r>
              <a:rPr lang="zh-CN" altLang="en-US" sz="4800" b="1">
                <a:solidFill>
                  <a:schemeClr val="hlink"/>
                </a:solidFill>
                <a:latin typeface="Times New Roman" panose="02020603050405020304" pitchFamily="18" charset="0"/>
              </a:rPr>
              <a:t>！</a:t>
            </a:r>
          </a:p>
        </p:txBody>
      </p:sp>
      <p:sp>
        <p:nvSpPr>
          <p:cNvPr id="81924" name="灯片编号占位符 1">
            <a:extLst>
              <a:ext uri="{FF2B5EF4-FFF2-40B4-BE49-F238E27FC236}">
                <a16:creationId xmlns:a16="http://schemas.microsoft.com/office/drawing/2014/main" id="{6EA46B5B-AE1F-B653-057E-2226472EE6E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D2F50B0A-D794-4919-B539-A946846E31AA}" type="slidenum">
              <a:rPr lang="zh-CN" altLang="en-US" sz="1400" smtClean="0"/>
              <a:pPr>
                <a:spcBef>
                  <a:spcPct val="0"/>
                </a:spcBef>
                <a:buClrTx/>
                <a:buSzTx/>
                <a:buFontTx/>
                <a:buNone/>
              </a:pPr>
              <a:t>61</a:t>
            </a:fld>
            <a:endParaRPr lang="en-US" altLang="zh-CN" sz="1400"/>
          </a:p>
        </p:txBody>
      </p:sp>
    </p:spTree>
  </p:cSld>
  <p:clrMapOvr>
    <a:masterClrMapping/>
  </p:clrMapOvr>
  <p:transition/>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Blends</Template>
  <TotalTime>38388</TotalTime>
  <Words>6267</Words>
  <Application>Microsoft Office PowerPoint</Application>
  <PresentationFormat>全屏显示(4:3)</PresentationFormat>
  <Paragraphs>505</Paragraphs>
  <Slides>61</Slides>
  <Notes>11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61</vt:i4>
      </vt:variant>
    </vt:vector>
  </HeadingPairs>
  <TitlesOfParts>
    <vt:vector size="76" baseType="lpstr">
      <vt:lpstr>Monotype Sorts</vt:lpstr>
      <vt:lpstr>黑体</vt:lpstr>
      <vt:lpstr>楷体_GB2312</vt:lpstr>
      <vt:lpstr>隶书</vt:lpstr>
      <vt:lpstr>宋体</vt:lpstr>
      <vt:lpstr>Arial</vt:lpstr>
      <vt:lpstr>Cambria Math</vt:lpstr>
      <vt:lpstr>Monotype Corsiva</vt:lpstr>
      <vt:lpstr>Tahoma</vt:lpstr>
      <vt:lpstr>Times New Roman</vt:lpstr>
      <vt:lpstr>Verdana</vt:lpstr>
      <vt:lpstr>Wingdings</vt:lpstr>
      <vt:lpstr>Blends</vt:lpstr>
      <vt:lpstr>公式</vt:lpstr>
      <vt:lpstr>Equation.3</vt:lpstr>
      <vt:lpstr>PowerPoint 演示文稿</vt:lpstr>
      <vt:lpstr>一、消息认证</vt:lpstr>
      <vt:lpstr>消息认证码</vt:lpstr>
      <vt:lpstr>消息认证码</vt:lpstr>
      <vt:lpstr>消息认证码</vt:lpstr>
      <vt:lpstr>消息认证码</vt:lpstr>
      <vt:lpstr>消息认证码</vt:lpstr>
      <vt:lpstr>哈希函数+对称密码算法的消息认证</vt:lpstr>
      <vt:lpstr>PowerPoint 演示文稿</vt:lpstr>
      <vt:lpstr>PowerPoint 演示文稿</vt:lpstr>
      <vt:lpstr>PowerPoint 演示文稿</vt:lpstr>
      <vt:lpstr>二、数字签名的基本概念</vt:lpstr>
      <vt:lpstr>二、数字签名的基本概念</vt:lpstr>
      <vt:lpstr>二、数字签名的基本概念</vt:lpstr>
      <vt:lpstr>二、数字签名的基本概念</vt:lpstr>
      <vt:lpstr>二、数字签名的基本概念</vt:lpstr>
      <vt:lpstr>二、数字签名的基本概念</vt:lpstr>
      <vt:lpstr>二、数字签名的基本概念</vt:lpstr>
      <vt:lpstr>二、数字签名的基本概念</vt:lpstr>
      <vt:lpstr>二、数字签名的基本概念</vt:lpstr>
      <vt:lpstr>二、数字签名的基本概念</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三、几种常用的数字签名</vt:lpstr>
      <vt:lpstr>四、特殊用途的数字签名-盲签名</vt:lpstr>
      <vt:lpstr>盲签名</vt:lpstr>
      <vt:lpstr>盲签名</vt:lpstr>
      <vt:lpstr>盲签名</vt:lpstr>
      <vt:lpstr>基于RSA签名的盲签名</vt:lpstr>
      <vt:lpstr>基于RSA签名的盲签名</vt:lpstr>
      <vt:lpstr>四、特殊用途的数字签名</vt:lpstr>
      <vt:lpstr>群签名组成</vt:lpstr>
      <vt:lpstr>群签名方案满足的性质</vt:lpstr>
      <vt:lpstr>四、特殊用途的数字签名</vt:lpstr>
      <vt:lpstr>基于ECC的环签名</vt:lpstr>
      <vt:lpstr>基于ECC的环签名</vt:lpstr>
      <vt:lpstr>基于ECC的环签名</vt:lpstr>
      <vt:lpstr>PowerPoint 演示文稿</vt:lpstr>
    </vt:vector>
  </TitlesOfParts>
  <Manager/>
  <Company>aq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第二讲：通信网安全概论</dc:title>
  <dc:creator>xd</dc:creator>
  <cp:lastModifiedBy>Yang anjia</cp:lastModifiedBy>
  <cp:revision>275</cp:revision>
  <dcterms:created xsi:type="dcterms:W3CDTF">1999-08-20T12:21:21Z</dcterms:created>
  <dcterms:modified xsi:type="dcterms:W3CDTF">2024-10-14T03:27:34Z</dcterms:modified>
</cp:coreProperties>
</file>