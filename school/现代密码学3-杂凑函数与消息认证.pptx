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52"/>
  </p:notesMasterIdLst>
  <p:handoutMasterIdLst>
    <p:handoutMasterId r:id="rId53"/>
  </p:handoutMasterIdLst>
  <p:sldIdLst>
    <p:sldId id="256" r:id="rId2"/>
    <p:sldId id="374" r:id="rId3"/>
    <p:sldId id="259" r:id="rId4"/>
    <p:sldId id="261" r:id="rId5"/>
    <p:sldId id="779" r:id="rId6"/>
    <p:sldId id="264" r:id="rId7"/>
    <p:sldId id="665" r:id="rId8"/>
    <p:sldId id="778" r:id="rId9"/>
    <p:sldId id="780" r:id="rId10"/>
    <p:sldId id="781" r:id="rId11"/>
    <p:sldId id="265" r:id="rId12"/>
    <p:sldId id="667" r:id="rId13"/>
    <p:sldId id="676" r:id="rId14"/>
    <p:sldId id="686" r:id="rId15"/>
    <p:sldId id="687" r:id="rId16"/>
    <p:sldId id="688" r:id="rId17"/>
    <p:sldId id="673" r:id="rId18"/>
    <p:sldId id="740" r:id="rId19"/>
    <p:sldId id="741" r:id="rId20"/>
    <p:sldId id="789" r:id="rId21"/>
    <p:sldId id="743" r:id="rId22"/>
    <p:sldId id="744" r:id="rId23"/>
    <p:sldId id="745" r:id="rId24"/>
    <p:sldId id="783" r:id="rId25"/>
    <p:sldId id="746" r:id="rId26"/>
    <p:sldId id="747" r:id="rId27"/>
    <p:sldId id="748" r:id="rId28"/>
    <p:sldId id="750" r:id="rId29"/>
    <p:sldId id="751" r:id="rId30"/>
    <p:sldId id="752" r:id="rId31"/>
    <p:sldId id="753" r:id="rId32"/>
    <p:sldId id="754" r:id="rId33"/>
    <p:sldId id="755" r:id="rId34"/>
    <p:sldId id="756" r:id="rId35"/>
    <p:sldId id="774" r:id="rId36"/>
    <p:sldId id="787" r:id="rId37"/>
    <p:sldId id="788" r:id="rId38"/>
    <p:sldId id="785" r:id="rId39"/>
    <p:sldId id="272" r:id="rId40"/>
    <p:sldId id="273" r:id="rId41"/>
    <p:sldId id="274" r:id="rId42"/>
    <p:sldId id="275" r:id="rId43"/>
    <p:sldId id="758" r:id="rId44"/>
    <p:sldId id="759" r:id="rId45"/>
    <p:sldId id="760" r:id="rId46"/>
    <p:sldId id="761" r:id="rId47"/>
    <p:sldId id="763" r:id="rId48"/>
    <p:sldId id="764" r:id="rId49"/>
    <p:sldId id="765" r:id="rId50"/>
    <p:sldId id="766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6600"/>
    <a:srgbClr val="009900"/>
    <a:srgbClr val="FF9900"/>
    <a:srgbClr val="FF0000"/>
    <a:srgbClr val="008000"/>
    <a:srgbClr val="6699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83587" autoAdjust="0"/>
  </p:normalViewPr>
  <p:slideViewPr>
    <p:cSldViewPr>
      <p:cViewPr varScale="1">
        <p:scale>
          <a:sx n="134" d="100"/>
          <a:sy n="134" d="100"/>
        </p:scale>
        <p:origin x="2672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03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446"/>
    </p:cViewPr>
  </p:sorterViewPr>
  <p:notesViewPr>
    <p:cSldViewPr>
      <p:cViewPr varScale="1">
        <p:scale>
          <a:sx n="63" d="100"/>
          <a:sy n="63" d="100"/>
        </p:scale>
        <p:origin x="2280" y="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14DA90-47A9-281A-81B3-1BEEC37270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BF21499-31E7-4CDF-B90E-2B77ED84418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36B0B99-BE6C-E8D3-DF74-D0AE1A64B0A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A2FD959-306A-4586-A50D-2DA61C1FA6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52B70D2-2385-5541-A183-A874622B8C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AE026918-C1AD-AAA6-1F88-8C2783C3728B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9C2AD38-02DD-DF03-95DC-080A4064CE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BB31486-7CA5-3639-4591-2795BAE8A6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AA9C3BA-5AE6-3E1F-9343-931AA989B7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4296DB2-79A5-47D9-8457-6D28EA94B3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8CE5E9F-4F06-4474-C4BD-DAAEE96401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32B046-5970-4E37-A6D6-D3314250FEB1}" type="slidenum">
              <a:rPr lang="zh-CN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435" name="Rectangle 1026">
            <a:extLst>
              <a:ext uri="{FF2B5EF4-FFF2-40B4-BE49-F238E27FC236}">
                <a16:creationId xmlns:a16="http://schemas.microsoft.com/office/drawing/2014/main" id="{BCB874BC-3DA8-86DA-C84A-D28A028E06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1027">
            <a:extLst>
              <a:ext uri="{FF2B5EF4-FFF2-40B4-BE49-F238E27FC236}">
                <a16:creationId xmlns:a16="http://schemas.microsoft.com/office/drawing/2014/main" id="{AA200751-E458-6091-3865-460700526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AE3D0790-35CF-5D54-1978-6BD33C05C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8561850-6F6A-44CA-A6DF-3136CA49C7C4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A7C844D-F038-519A-A6F4-AFD24FA51D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FCE7C93-BCD4-AB97-3945-E0BB8B506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讲述每一种安全性要求的背景：</a:t>
            </a:r>
            <a:r>
              <a:rPr lang="zh-CN" altLang="en-US" sz="2000" dirty="0">
                <a:latin typeface="Arial" panose="020B0604020202020204" pitchFamily="34" charset="0"/>
              </a:rPr>
              <a:t>数字签名，防止伪造签名！</a:t>
            </a:r>
          </a:p>
          <a:p>
            <a:pPr eaLnBrk="1" hangingPunct="1"/>
            <a:r>
              <a:rPr lang="zh-CN" altLang="en-US" sz="2000" dirty="0">
                <a:latin typeface="Arial" panose="020B0604020202020204" pitchFamily="34" charset="0"/>
              </a:rPr>
              <a:t>格子原理：</a:t>
            </a:r>
            <a:r>
              <a:rPr lang="en-US" altLang="zh-CN" sz="2000" dirty="0">
                <a:latin typeface="Arial" panose="020B0604020202020204" pitchFamily="34" charset="0"/>
              </a:rPr>
              <a:t>n+1</a:t>
            </a:r>
            <a:r>
              <a:rPr lang="zh-CN" altLang="en-US" sz="2000" dirty="0">
                <a:latin typeface="Arial" panose="020B0604020202020204" pitchFamily="34" charset="0"/>
              </a:rPr>
              <a:t>个物体放入</a:t>
            </a:r>
            <a:r>
              <a:rPr lang="en-US" altLang="zh-CN" sz="2000" dirty="0">
                <a:latin typeface="Arial" panose="020B0604020202020204" pitchFamily="34" charset="0"/>
              </a:rPr>
              <a:t>n</a:t>
            </a:r>
            <a:r>
              <a:rPr lang="zh-CN" altLang="en-US" sz="2000" dirty="0">
                <a:latin typeface="Arial" panose="020B0604020202020204" pitchFamily="34" charset="0"/>
              </a:rPr>
              <a:t>个格子，至少有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  <a:r>
              <a:rPr lang="zh-CN" altLang="en-US" sz="2000" dirty="0">
                <a:latin typeface="Arial" panose="020B0604020202020204" pitchFamily="34" charset="0"/>
              </a:rPr>
              <a:t>个格子中放入了两个物体。碰撞一定存在，且由于消息可以是任意长度，所以找到第二原像的概率更大！  </a:t>
            </a:r>
          </a:p>
          <a:p>
            <a:pPr eaLnBrk="1" hangingPunct="1"/>
            <a:endParaRPr lang="zh-CN" altLang="en-US" sz="2000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z="2000" dirty="0">
                <a:latin typeface="Arial" panose="020B0604020202020204" pitchFamily="34" charset="0"/>
              </a:rPr>
              <a:t>无理数的个数是无穷的，有理数的测度为零，所以直线上都是无理数点，但是，已知的无理数点没有找到几个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6B26C6F1-B2E8-3996-EA4A-E017C754D7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E152D875-CE16-8565-42F8-3B754023F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等同于：已知</a:t>
            </a:r>
            <a:r>
              <a:rPr lang="en-US" altLang="zh-CN"/>
              <a:t>y=h(x1)+h(x2), h(x1), h(x2), x1, x2</a:t>
            </a:r>
            <a:r>
              <a:rPr lang="zh-CN" altLang="en-US"/>
              <a:t>，现在要求</a:t>
            </a:r>
            <a:r>
              <a:rPr lang="en-US" altLang="zh-CN"/>
              <a:t>y</a:t>
            </a:r>
            <a:r>
              <a:rPr lang="zh-CN" altLang="en-US"/>
              <a:t>的原像。如果对于一个安全的哈希函数来说，这是求不出来的，即</a:t>
            </a:r>
            <a:r>
              <a:rPr lang="en-US" altLang="zh-CN"/>
              <a:t>y</a:t>
            </a:r>
            <a:r>
              <a:rPr lang="zh-CN" altLang="en-US"/>
              <a:t>的原像是一个很随机的数。但是因为这个构造具有同态性，我知道</a:t>
            </a:r>
            <a:r>
              <a:rPr lang="en-US" altLang="zh-CN"/>
              <a:t>y=h(x1)+h(x2)=h(x1+x2)</a:t>
            </a:r>
            <a:r>
              <a:rPr lang="zh-CN" altLang="en-US"/>
              <a:t>，所以我就知道了</a:t>
            </a:r>
            <a:r>
              <a:rPr lang="en-US" altLang="zh-CN"/>
              <a:t>y</a:t>
            </a:r>
            <a:r>
              <a:rPr lang="zh-CN" altLang="en-US"/>
              <a:t>的原像一定是</a:t>
            </a:r>
            <a:r>
              <a:rPr lang="en-US" altLang="zh-CN"/>
              <a:t>x1+x2</a:t>
            </a:r>
            <a:r>
              <a:rPr lang="zh-CN" altLang="en-US"/>
              <a:t>。这违背了哈希函数的单向性。</a:t>
            </a:r>
            <a:endParaRPr lang="en-US" altLang="zh-CN"/>
          </a:p>
          <a:p>
            <a:r>
              <a:rPr lang="zh-CN" altLang="en-US"/>
              <a:t>实际上，如果一个函数具有线性关系，一定不可能作为一个安全的哈希函数，因为这与单向性是矛盾的。</a:t>
            </a: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8D507893-50CA-7EF0-A79F-7B607925C0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EF7BB8-0273-419F-94DD-5973DAEE1980}" type="slidenum">
              <a:rPr lang="zh-CN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DB3BC861-E7CD-5A46-6A78-8611866758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513E28-FEEE-4637-ABF7-6D5D88604E8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E8E00AF-418B-54B0-B292-5831FA649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A4B46BD-11E0-8179-34F8-7DD23C60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Hash</a:t>
            </a:r>
            <a:r>
              <a:rPr lang="zh-CN" altLang="en-US">
                <a:latin typeface="Arial" panose="020B0604020202020204" pitchFamily="34" charset="0"/>
              </a:rPr>
              <a:t>算法在不同的应用场景，设计方式也千差万别；例如，在数字签名的应用当中，对于不同的群，要求</a:t>
            </a:r>
            <a:r>
              <a:rPr lang="en-US" altLang="zh-CN">
                <a:latin typeface="Arial" panose="020B0604020202020204" pitchFamily="34" charset="0"/>
              </a:rPr>
              <a:t>hash</a:t>
            </a:r>
            <a:r>
              <a:rPr lang="zh-CN" altLang="en-US">
                <a:latin typeface="Arial" panose="020B0604020202020204" pitchFamily="34" charset="0"/>
              </a:rPr>
              <a:t>函数的值域不同，所以针对不同的应用，设计</a:t>
            </a:r>
            <a:r>
              <a:rPr lang="en-US" altLang="zh-CN">
                <a:latin typeface="Arial" panose="020B0604020202020204" pitchFamily="34" charset="0"/>
              </a:rPr>
              <a:t>hash</a:t>
            </a:r>
            <a:r>
              <a:rPr lang="zh-CN" altLang="en-US">
                <a:latin typeface="Arial" panose="020B0604020202020204" pitchFamily="34" charset="0"/>
              </a:rPr>
              <a:t>函数算法也是一个主要的研究方向。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BF8E2E2-AF8B-750E-13D6-09A9E205B5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0DC8E3-17F2-4788-BC3B-D851B3B023D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F43BBBA-1692-C415-90CC-91867557C1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354F12E-2D9E-5D6A-E4D1-A21F67A9D8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70</a:t>
            </a:r>
            <a:r>
              <a:rPr lang="zh-CN" altLang="en-US">
                <a:latin typeface="Arial" panose="020B0604020202020204" pitchFamily="34" charset="0"/>
              </a:rPr>
              <a:t>年代设计了很多</a:t>
            </a:r>
            <a:r>
              <a:rPr lang="en-US" altLang="zh-CN">
                <a:latin typeface="Arial" panose="020B0604020202020204" pitchFamily="34" charset="0"/>
              </a:rPr>
              <a:t>hash</a:t>
            </a:r>
            <a:r>
              <a:rPr lang="zh-CN" altLang="en-US">
                <a:latin typeface="Arial" panose="020B0604020202020204" pitchFamily="34" charset="0"/>
              </a:rPr>
              <a:t>函数，大多数都基于某个困难问题的单向函数设计，效率很慢；安全性也堪忧。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46924717-F520-EFF7-EC83-07CD89B8E9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0D695B-278A-4837-9753-10F86DD53236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5A6E241-6BCB-280C-8284-DBB29B70E9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DE42E532-B273-A446-2DF3-23386A2D1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2004</a:t>
            </a:r>
            <a:r>
              <a:rPr lang="zh-CN" altLang="en-US" dirty="0">
                <a:latin typeface="Arial" panose="020B0604020202020204" pitchFamily="34" charset="0"/>
              </a:rPr>
              <a:t>年之前的主要</a:t>
            </a:r>
            <a:r>
              <a:rPr lang="en-US" altLang="zh-CN" dirty="0">
                <a:latin typeface="Arial" panose="020B0604020202020204" pitchFamily="34" charset="0"/>
              </a:rPr>
              <a:t>hash</a:t>
            </a:r>
            <a:r>
              <a:rPr lang="zh-CN" altLang="en-US" dirty="0">
                <a:latin typeface="Arial" panose="020B0604020202020204" pitchFamily="34" charset="0"/>
              </a:rPr>
              <a:t>函数：</a:t>
            </a:r>
            <a:r>
              <a:rPr lang="en-US" altLang="zh-CN" dirty="0" err="1">
                <a:latin typeface="Arial" panose="020B0604020202020204" pitchFamily="34" charset="0"/>
              </a:rPr>
              <a:t>MDx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</a:rPr>
              <a:t>Rivest</a:t>
            </a:r>
            <a:r>
              <a:rPr lang="zh-CN" altLang="en-US" dirty="0">
                <a:latin typeface="Arial" panose="020B0604020202020204" pitchFamily="34" charset="0"/>
              </a:rPr>
              <a:t>等人设计；欧洲标准</a:t>
            </a:r>
            <a:r>
              <a:rPr lang="en-US" altLang="zh-CN" dirty="0">
                <a:latin typeface="Arial" panose="020B0604020202020204" pitchFamily="34" charset="0"/>
              </a:rPr>
              <a:t>RIPEMD</a:t>
            </a:r>
            <a:r>
              <a:rPr lang="zh-CN" altLang="en-US" dirty="0">
                <a:latin typeface="Arial" panose="020B0604020202020204" pitchFamily="34" charset="0"/>
              </a:rPr>
              <a:t>？（并行结构？）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Sha</a:t>
            </a:r>
            <a:r>
              <a:rPr lang="zh-CN" altLang="en-US" dirty="0">
                <a:latin typeface="Arial" panose="020B0604020202020204" pitchFamily="34" charset="0"/>
              </a:rPr>
              <a:t>系列：美国标准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HAVAL</a:t>
            </a:r>
            <a:r>
              <a:rPr lang="zh-CN" altLang="en-US" dirty="0">
                <a:latin typeface="Arial" panose="020B0604020202020204" pitchFamily="34" charset="0"/>
              </a:rPr>
              <a:t>：不函数的非线性性很强，中国人设计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Tiger</a:t>
            </a:r>
            <a:r>
              <a:rPr lang="zh-CN" altLang="en-US" dirty="0">
                <a:latin typeface="Arial" panose="020B0604020202020204" pitchFamily="34" charset="0"/>
              </a:rPr>
              <a:t>？？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Whirlpool</a:t>
            </a:r>
            <a:r>
              <a:rPr lang="zh-CN" altLang="en-US" dirty="0">
                <a:latin typeface="Arial" panose="020B0604020202020204" pitchFamily="34" charset="0"/>
              </a:rPr>
              <a:t>：基于分组密码技术设计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2004</a:t>
            </a:r>
            <a:r>
              <a:rPr lang="zh-CN" altLang="en-US" dirty="0">
                <a:latin typeface="Arial" panose="020B0604020202020204" pitchFamily="34" charset="0"/>
              </a:rPr>
              <a:t>年至</a:t>
            </a:r>
            <a:r>
              <a:rPr lang="en-US" altLang="zh-CN" dirty="0">
                <a:latin typeface="Arial" panose="020B0604020202020204" pitchFamily="34" charset="0"/>
              </a:rPr>
              <a:t>2005</a:t>
            </a:r>
            <a:r>
              <a:rPr lang="zh-CN" altLang="en-US" dirty="0">
                <a:latin typeface="Arial" panose="020B0604020202020204" pitchFamily="34" charset="0"/>
              </a:rPr>
              <a:t>年，开始陆续被破译</a:t>
            </a: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王教授的工作：在</a:t>
            </a:r>
            <a:r>
              <a:rPr lang="en-US" altLang="zh-CN" dirty="0">
                <a:latin typeface="Arial" panose="020B0604020202020204" pitchFamily="34" charset="0"/>
              </a:rPr>
              <a:t>2004</a:t>
            </a:r>
            <a:r>
              <a:rPr lang="zh-CN" altLang="en-US" dirty="0">
                <a:latin typeface="Arial" panose="020B0604020202020204" pitchFamily="34" charset="0"/>
              </a:rPr>
              <a:t>年公布了对</a:t>
            </a:r>
            <a:r>
              <a:rPr lang="en-US" altLang="zh-CN" dirty="0">
                <a:latin typeface="Arial" panose="020B0604020202020204" pitchFamily="34" charset="0"/>
              </a:rPr>
              <a:t>MD4, MD5, HAVAL-128 and RIPEMD</a:t>
            </a:r>
            <a:r>
              <a:rPr lang="zh-CN" altLang="en-US" dirty="0">
                <a:latin typeface="Arial" panose="020B0604020202020204" pitchFamily="34" charset="0"/>
              </a:rPr>
              <a:t>等的碰撞攻击；引起轰动！！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SHA-1</a:t>
            </a:r>
            <a:r>
              <a:rPr lang="zh-CN" altLang="en-US" dirty="0"/>
              <a:t>算法中，把二进制输入串的位长度存在最后</a:t>
            </a:r>
            <a:r>
              <a:rPr lang="en-US" altLang="zh-CN" dirty="0"/>
              <a:t>64bit,</a:t>
            </a:r>
            <a:r>
              <a:rPr lang="zh-CN" altLang="en-US" dirty="0"/>
              <a:t>所以，</a:t>
            </a:r>
            <a:r>
              <a:rPr lang="en-US" altLang="zh-CN" dirty="0"/>
              <a:t>SHA-1</a:t>
            </a:r>
            <a:r>
              <a:rPr lang="zh-CN" altLang="en-US" dirty="0"/>
              <a:t>算法的输入串的最大长度是</a:t>
            </a:r>
            <a:r>
              <a:rPr lang="en-US" altLang="zh-CN" dirty="0"/>
              <a:t>:2^64-1</a:t>
            </a:r>
          </a:p>
          <a:p>
            <a:r>
              <a:rPr lang="en-US" altLang="zh-CN" dirty="0"/>
              <a:t>MD5</a:t>
            </a:r>
            <a:r>
              <a:rPr lang="zh-CN" altLang="en-US" dirty="0"/>
              <a:t>算法中，如果二进制输入串的位长度超出了</a:t>
            </a:r>
            <a:r>
              <a:rPr lang="en-US" altLang="zh-CN" dirty="0"/>
              <a:t>(2^64-1)</a:t>
            </a:r>
            <a:r>
              <a:rPr lang="zh-CN" altLang="en-US" dirty="0"/>
              <a:t>，则把</a:t>
            </a:r>
            <a:r>
              <a:rPr lang="en-US" altLang="zh-CN" dirty="0"/>
              <a:t>(</a:t>
            </a:r>
            <a:r>
              <a:rPr lang="en-US" altLang="zh-CN" dirty="0" err="1"/>
              <a:t>bitLength</a:t>
            </a:r>
            <a:r>
              <a:rPr lang="en-US" altLang="zh-CN" dirty="0"/>
              <a:t> %2^64)</a:t>
            </a:r>
            <a:r>
              <a:rPr lang="zh-CN" altLang="en-US" dirty="0"/>
              <a:t>存储在最后</a:t>
            </a:r>
            <a:r>
              <a:rPr lang="en-US" altLang="zh-CN" dirty="0"/>
              <a:t>64bit</a:t>
            </a:r>
            <a:r>
              <a:rPr lang="zh-CN" altLang="en-US" dirty="0"/>
              <a:t>中所以，因此，</a:t>
            </a:r>
            <a:r>
              <a:rPr lang="en-US" altLang="zh-CN" dirty="0"/>
              <a:t>MD5</a:t>
            </a:r>
            <a:r>
              <a:rPr lang="zh-CN" altLang="en-US" dirty="0"/>
              <a:t>算法的输入串是没有长度限制的</a:t>
            </a:r>
            <a:r>
              <a:rPr lang="en-US" altLang="zh-CN" dirty="0"/>
              <a:t>(</a:t>
            </a:r>
            <a:r>
              <a:rPr lang="zh-CN" altLang="en-US" dirty="0"/>
              <a:t>虽然不太可能出现超出长度限制的情况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296DB2-79A5-47D9-8457-6D28EA94B35B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061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95F4413-4668-53C1-6E17-1BFE50BFBC5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05D43AA-8E19-BA09-0645-4551AD5B0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E6E5D29A-A243-EAAC-7BAD-546F441AD4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en-CA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9860CBD-6076-6302-A3E2-C0581A22B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en-CA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60996704-A198-1250-D161-C8EC2A202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71F297A-4C84-21BA-11D5-E42D77D7A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en-CA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8342B24-B14D-FE5F-9A3A-D8DC6655B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en-CA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E63EBDE9-2C89-67A2-2326-ED964BD8E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en-CA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60A6917-0D14-DB14-EBA2-4335ECF09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en-CA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578B277-47B1-3A16-9E2B-F42945C54B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en-CA" altLang="en-US"/>
            </a:p>
          </p:txBody>
        </p:sp>
      </p:grpSp>
      <p:sp>
        <p:nvSpPr>
          <p:cNvPr id="1833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833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F17742DA-DEC4-B0F8-BFD5-01D7487D1B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1E998EC-1541-49FD-9A11-6D48C7299D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46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CA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017713"/>
            <a:ext cx="8559552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1BF804D-11E1-D4B1-C0EF-39096D2469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701DA-44AC-4426-9FA5-534FCA76F4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235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4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CA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169F4F2-FAC1-B100-0CB5-ED631C10F5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2FC497-30F7-6FAD-33C9-F3076CAEB9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575DC-CCA9-4FA4-80C5-E699C30637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59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CA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88912" y="2017713"/>
            <a:ext cx="445509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60032" y="2017713"/>
            <a:ext cx="409505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10A2958-0722-F87E-400B-D8A7FCA5968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BCB1E8C-4BD9-5A12-1A0F-B1F5493078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13AF1-EBDD-4E97-BC7D-4158505CD0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53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CA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39ECE33-A6AF-C7DE-3A1C-0FEA1C428C6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D7BE567-39B9-77CE-C06C-6691C32A0D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2E08D-BF67-4F15-A118-6CBE5E3E45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13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CA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E45AEFF-CC70-FD88-CC3B-9B5FAFA6D4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BB32AF7-4F99-69E5-E6A7-9DDA3FBE2D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597DB-358E-4EF0-B052-9B7ADD643A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89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DCB43A28-8C22-AC76-D101-DD252A39B0F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5638E5D7-01FB-7B71-B571-56695BAE94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FA2619-405F-4118-8A55-5D89DE3A09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6325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ACF9BDD-10EB-06C3-1C1F-78DF6C49368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E11C97F-6DF6-D517-19EC-CEC077D522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09249-F8A5-4C5D-8404-80DC5F9305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85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6110783-7714-9A7C-C7E0-6306B01BCD7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3881E38-AA74-E579-0B5D-615005D20C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57277-25D5-40F0-AE21-FAD60D1ED4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022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E250DC0-B361-694A-BF2A-DE12C3CDCA5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29A9681-64F7-48E8-9679-29EED5BA2D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ECA96-D0B9-4209-A64F-74E72F702C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277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0D3ED55-B733-17A7-40E6-E8027B5560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E81AEDB-EC87-EBA6-5E5C-5CBB2F85AA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AE2B5-4BDA-4EFD-B09F-DC3DDF699A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6509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0D5C4EA-68DF-B07E-1547-FEB9E32986D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E8EFD7D-0824-5F90-2764-45BE5084FC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971E9-9D78-426B-A42C-F8882D9040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3092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50938" y="214313"/>
            <a:ext cx="7793037" cy="8524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4076700" cy="2362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1524000"/>
            <a:ext cx="4076700" cy="2362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38600"/>
            <a:ext cx="4076700" cy="2362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86300" y="4038600"/>
            <a:ext cx="4076700" cy="2362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55F0418-9CDF-D77B-A542-CE21F5E1B4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9DCAC-AC79-4AD3-AA3C-177A88A582FD}" type="datetime1">
              <a:rPr lang="zh-CN" altLang="en-US"/>
              <a:pPr>
                <a:defRPr/>
              </a:pPr>
              <a:t>2025/10/23</a:t>
            </a:fld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EF3BC7C-0A3E-D208-3EAC-D510165AE7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42CA7E6-11F9-07BE-16F1-F4E6C90920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1610D-E4AD-4D96-8F3E-A73CE80F26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13958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2FD70F0-6094-4728-C250-4887E9F2C1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93281F-70A4-539E-CC88-36F1E18F2F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34BA36D-0063-00D1-21DE-405166F872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F837AB-7941-99CD-6BD8-576F6A494A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790C280-DC55-507A-8DFC-39ABF6BEA4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229B52D-3F44-3CE0-6D62-D31ADAA7AF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B4F66CE-8040-4BE7-5E9B-147EC62333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3CEBB0A-C4B9-C002-F768-E40A5F8FF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0F17E947-7DF8-CED5-CBA6-5FC59C04F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2283" name="Rectangle 11">
            <a:extLst>
              <a:ext uri="{FF2B5EF4-FFF2-40B4-BE49-F238E27FC236}">
                <a16:creationId xmlns:a16="http://schemas.microsoft.com/office/drawing/2014/main" id="{FAE4747B-AD01-67E6-7B9C-831C8B0D23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C81EC080-91AD-4913-A87F-E8A7BF9B8B16}" type="datetime1">
              <a:rPr lang="zh-CN" altLang="en-US"/>
              <a:pPr>
                <a:defRPr/>
              </a:pPr>
              <a:t>2025/10/23</a:t>
            </a:fld>
            <a:endParaRPr lang="en-US" altLang="zh-CN"/>
          </a:p>
        </p:txBody>
      </p:sp>
      <p:sp>
        <p:nvSpPr>
          <p:cNvPr id="182284" name="Rectangle 12">
            <a:extLst>
              <a:ext uri="{FF2B5EF4-FFF2-40B4-BE49-F238E27FC236}">
                <a16:creationId xmlns:a16="http://schemas.microsoft.com/office/drawing/2014/main" id="{0180CC21-D77D-3E58-C186-43DEF11C25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2000">
                <a:solidFill>
                  <a:schemeClr val="tx2"/>
                </a:solidFill>
                <a:latin typeface="Monotype Corsiva" panose="03010101010201010101" pitchFamily="66" charset="0"/>
                <a:ea typeface="隶书" panose="0201050906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2285" name="Rectangle 13">
            <a:extLst>
              <a:ext uri="{FF2B5EF4-FFF2-40B4-BE49-F238E27FC236}">
                <a16:creationId xmlns:a16="http://schemas.microsoft.com/office/drawing/2014/main" id="{C2B46EA7-8FEC-6492-ED86-A2380646F0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70EABF1-5D65-40F4-9B02-5C6375253C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  <p:sldLayoutId id="2147484050" r:id="rId8"/>
    <p:sldLayoutId id="2147484051" r:id="rId9"/>
    <p:sldLayoutId id="2147484052" r:id="rId10"/>
    <p:sldLayoutId id="2147484053" r:id="rId11"/>
    <p:sldLayoutId id="2147484054" r:id="rId12"/>
    <p:sldLayoutId id="214748405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FB88D088-A0CE-75B1-C8B3-7C21E0A25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26DD19-91F8-43FD-96E1-723FCE85BB92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2BDD4C0-AE0C-01E1-2C9F-801F338A9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908050"/>
            <a:ext cx="8156575" cy="914400"/>
          </a:xfrm>
        </p:spPr>
        <p:txBody>
          <a:bodyPr/>
          <a:lstStyle/>
          <a:p>
            <a:pPr eaLnBrk="1" hangingPunct="1"/>
            <a:r>
              <a:rPr lang="zh-CN" altLang="en-US" sz="4800" b="1">
                <a:solidFill>
                  <a:srgbClr val="FF0066"/>
                </a:solidFill>
                <a:ea typeface="隶书" panose="02010509060101010101" pitchFamily="49" charset="-122"/>
              </a:rPr>
              <a:t>第三章：</a:t>
            </a:r>
            <a:r>
              <a:rPr lang="zh-CN" altLang="en-US" sz="4800">
                <a:solidFill>
                  <a:srgbClr val="FF0066"/>
                </a:solidFill>
                <a:ea typeface="隶书" panose="02010509060101010101" pitchFamily="49" charset="-122"/>
              </a:rPr>
              <a:t>杂凑函数与消息认证</a:t>
            </a:r>
            <a:endParaRPr lang="zh-CN" altLang="en-US" sz="3600"/>
          </a:p>
        </p:txBody>
      </p:sp>
      <p:sp>
        <p:nvSpPr>
          <p:cNvPr id="17412" name="内容占位符 1">
            <a:extLst>
              <a:ext uri="{FF2B5EF4-FFF2-40B4-BE49-F238E27FC236}">
                <a16:creationId xmlns:a16="http://schemas.microsoft.com/office/drawing/2014/main" id="{B34836D9-7399-FFCA-0F9E-871C0BF3E6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2017713"/>
            <a:ext cx="8559800" cy="4364037"/>
          </a:xfrm>
        </p:spPr>
        <p:txBody>
          <a:bodyPr/>
          <a:lstStyle/>
          <a:p>
            <a:r>
              <a:rPr lang="zh-CN" altLang="en-US"/>
              <a:t>目录</a:t>
            </a:r>
            <a:endParaRPr lang="en-CA" altLang="zh-CN"/>
          </a:p>
          <a:p>
            <a:pPr lvl="1"/>
            <a:r>
              <a:rPr lang="zh-CN" altLang="en-US"/>
              <a:t>单向函数与</a:t>
            </a:r>
            <a:r>
              <a:rPr lang="en-US" altLang="zh-CN"/>
              <a:t>Hash</a:t>
            </a:r>
            <a:r>
              <a:rPr lang="zh-CN" altLang="en-US"/>
              <a:t>函数定义</a:t>
            </a:r>
            <a:endParaRPr lang="en-CA" altLang="zh-CN"/>
          </a:p>
          <a:p>
            <a:pPr lvl="1"/>
            <a:r>
              <a:rPr lang="en-US" altLang="zh-CN"/>
              <a:t>Hash</a:t>
            </a:r>
            <a:r>
              <a:rPr lang="zh-CN" altLang="en-US"/>
              <a:t>函数发展历史</a:t>
            </a:r>
            <a:endParaRPr lang="en-CA" altLang="zh-CN"/>
          </a:p>
          <a:p>
            <a:pPr lvl="1"/>
            <a:r>
              <a:rPr lang="en-US" altLang="zh-CN"/>
              <a:t>SHA-1</a:t>
            </a:r>
            <a:r>
              <a:rPr lang="zh-CN" altLang="en-US"/>
              <a:t>算法</a:t>
            </a:r>
            <a:r>
              <a:rPr lang="en-CA" altLang="zh-CN"/>
              <a:t>	</a:t>
            </a:r>
          </a:p>
          <a:p>
            <a:pPr lvl="1"/>
            <a:r>
              <a:rPr lang="en-US" altLang="zh-CN"/>
              <a:t>Hash</a:t>
            </a:r>
            <a:r>
              <a:rPr lang="zh-CN" altLang="en-US"/>
              <a:t>函数的用途</a:t>
            </a:r>
            <a:endParaRPr lang="en-CA" altLang="zh-CN"/>
          </a:p>
          <a:p>
            <a:pPr lvl="1"/>
            <a:r>
              <a:rPr lang="zh-CN" altLang="en-US"/>
              <a:t>消息认证码简介</a:t>
            </a:r>
            <a:endParaRPr lang="en-CA" altLang="zh-CN"/>
          </a:p>
          <a:p>
            <a:pPr lvl="1"/>
            <a:r>
              <a:rPr lang="en-US" altLang="zh-CN"/>
              <a:t>C</a:t>
            </a:r>
            <a:r>
              <a:rPr lang="en-CA" altLang="zh-CN"/>
              <a:t>/H</a:t>
            </a:r>
            <a:r>
              <a:rPr lang="en-US" altLang="zh-CN"/>
              <a:t>MAC</a:t>
            </a:r>
            <a:r>
              <a:rPr lang="zh-CN" altLang="en-US"/>
              <a:t>算法</a:t>
            </a:r>
            <a:endParaRPr lang="en-CA" altLang="zh-CN"/>
          </a:p>
          <a:p>
            <a:pPr lvl="1"/>
            <a:r>
              <a:rPr lang="zh-CN" altLang="en-US"/>
              <a:t>消息认证码的使用方式</a:t>
            </a:r>
            <a:endParaRPr lang="en-CA" altLang="zh-CN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4">
            <a:extLst>
              <a:ext uri="{FF2B5EF4-FFF2-40B4-BE49-F238E27FC236}">
                <a16:creationId xmlns:a16="http://schemas.microsoft.com/office/drawing/2014/main" id="{B2692496-79AE-B7B2-2E06-1B3147C453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062B25-4811-4229-B66C-0EBF8B072EAA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A849C867-EB91-C44B-1E5F-C0957FC1B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单向函数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52A9CD8-569C-6072-7380-A2D6D12007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2017713"/>
            <a:ext cx="8199438" cy="42910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一个函数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若它满足：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 1</a:t>
            </a:r>
            <a:r>
              <a:rPr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对所有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易于计算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)。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2</a:t>
            </a:r>
            <a:r>
              <a:rPr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对“几乎所有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，由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极为困难”，以至于实际上不可能做到。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则称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为一单向(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One-way)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函数。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定义中的“极为困难”是对现有的计算资源和算法而言。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4">
            <a:extLst>
              <a:ext uri="{FF2B5EF4-FFF2-40B4-BE49-F238E27FC236}">
                <a16:creationId xmlns:a16="http://schemas.microsoft.com/office/drawing/2014/main" id="{675381FE-B412-54F7-1D6D-1E1F393AE7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F54362-D9FB-46EF-9B99-9A038C73A2A7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18D9EB7-0E04-62F2-421E-47EFF6982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44450"/>
            <a:ext cx="8785225" cy="863600"/>
          </a:xfrm>
        </p:spPr>
        <p:txBody>
          <a:bodyPr/>
          <a:lstStyle/>
          <a:p>
            <a:r>
              <a:rPr lang="zh-CN" altLang="en-US" b="1"/>
              <a:t>杂凑函数（</a:t>
            </a:r>
            <a:r>
              <a:rPr lang="en-CA" altLang="zh-CN" b="1"/>
              <a:t>Hash</a:t>
            </a:r>
            <a:r>
              <a:rPr lang="zh-CN" altLang="en-US" b="1"/>
              <a:t>）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9D6CBA5-B00C-4086-5E74-4AABBFF8C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75700" cy="51847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杂凑函数是一类特殊的单向函数。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设数据文件是任意长度的比特串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。在密码应用中，希望有这样的函数 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，满足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（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）将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r>
              <a:rPr lang="zh-CN" altLang="en-US" sz="2000">
                <a:latin typeface="Times New Roman" panose="02020603050405020304" pitchFamily="18" charset="0"/>
              </a:rPr>
              <a:t>压缩成为固定长度的比特串</a:t>
            </a:r>
            <a:r>
              <a:rPr lang="en-US" altLang="zh-CN" sz="2000" i="1">
                <a:latin typeface="Times New Roman" panose="02020603050405020304" pitchFamily="18" charset="0"/>
              </a:rPr>
              <a:t>y</a:t>
            </a:r>
            <a:r>
              <a:rPr lang="zh-CN" altLang="en-US" sz="2000">
                <a:latin typeface="Times New Roman" panose="02020603050405020304" pitchFamily="18" charset="0"/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（</a:t>
            </a:r>
            <a:r>
              <a:rPr lang="en-US" altLang="zh-CN" sz="2000"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</a:rPr>
              <a:t>）不同的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r>
              <a:rPr lang="zh-CN" altLang="en-US" sz="2000">
                <a:latin typeface="Times New Roman" panose="02020603050405020304" pitchFamily="18" charset="0"/>
              </a:rPr>
              <a:t>一定要生成不同的</a:t>
            </a:r>
            <a:r>
              <a:rPr lang="en-US" altLang="zh-CN" sz="2000" i="1">
                <a:latin typeface="Times New Roman" panose="02020603050405020304" pitchFamily="18" charset="0"/>
              </a:rPr>
              <a:t>y</a:t>
            </a:r>
            <a:r>
              <a:rPr lang="zh-CN" altLang="en-US" sz="2000">
                <a:latin typeface="Times New Roman" panose="02020603050405020304" pitchFamily="18" charset="0"/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（</a:t>
            </a:r>
            <a:r>
              <a:rPr lang="en-US" altLang="zh-CN" sz="2000">
                <a:latin typeface="Times New Roman" panose="02020603050405020304" pitchFamily="18" charset="0"/>
              </a:rPr>
              <a:t>3</a:t>
            </a:r>
            <a:r>
              <a:rPr lang="zh-CN" altLang="en-US" sz="2000">
                <a:latin typeface="Times New Roman" panose="02020603050405020304" pitchFamily="18" charset="0"/>
              </a:rPr>
              <a:t>）由</a:t>
            </a:r>
            <a:r>
              <a:rPr lang="en-US" altLang="zh-CN" sz="2000" i="1">
                <a:latin typeface="Times New Roman" panose="02020603050405020304" pitchFamily="18" charset="0"/>
              </a:rPr>
              <a:t>y</a:t>
            </a:r>
            <a:r>
              <a:rPr lang="zh-CN" altLang="en-US" sz="2000">
                <a:latin typeface="Times New Roman" panose="02020603050405020304" pitchFamily="18" charset="0"/>
              </a:rPr>
              <a:t>的值无法倒算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r>
              <a:rPr lang="zh-CN" altLang="en-US" sz="2000">
                <a:latin typeface="Times New Roman" panose="02020603050405020304" pitchFamily="18" charset="0"/>
              </a:rPr>
              <a:t>的值。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（这就是说，希望</a:t>
            </a:r>
            <a:r>
              <a:rPr lang="en-US" altLang="zh-CN" sz="2000" i="1">
                <a:latin typeface="Times New Roman" panose="02020603050405020304" pitchFamily="18" charset="0"/>
              </a:rPr>
              <a:t>y</a:t>
            </a:r>
            <a:r>
              <a:rPr lang="zh-CN" altLang="en-US" sz="2000">
                <a:latin typeface="Times New Roman" panose="02020603050405020304" pitchFamily="18" charset="0"/>
              </a:rPr>
              <a:t>的作用相当于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的“身份识别符号”，或者“摘要”。比如人的指纹、</a:t>
            </a:r>
            <a:r>
              <a:rPr lang="en-US" altLang="zh-CN" sz="2000">
                <a:latin typeface="Times New Roman" panose="02020603050405020304" pitchFamily="18" charset="0"/>
              </a:rPr>
              <a:t>DNA</a:t>
            </a:r>
            <a:r>
              <a:rPr lang="zh-CN" altLang="en-US" sz="2000">
                <a:latin typeface="Times New Roman" panose="02020603050405020304" pitchFamily="18" charset="0"/>
              </a:rPr>
              <a:t>、虹膜等。）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B69DB499-9C53-D4D0-923C-8FCDE89B3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100" y="5449888"/>
            <a:ext cx="2744788" cy="336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i="1">
                <a:latin typeface="Letter Gothic" pitchFamily="49" charset="0"/>
              </a:rPr>
              <a:t>1A3FD4128A198FB3CA345932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017CF6F1-5464-2287-AB2E-D90503670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4841875"/>
            <a:ext cx="4722813" cy="1570038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i="1">
                <a:latin typeface="Times New Roman" panose="02020603050405020304" pitchFamily="18" charset="0"/>
              </a:rPr>
              <a:t>This is an input to </a:t>
            </a:r>
            <a:r>
              <a:rPr lang="en-US" altLang="zh-CN" sz="1600" i="1">
                <a:solidFill>
                  <a:srgbClr val="B6001A"/>
                </a:solidFill>
                <a:latin typeface="Times New Roman" panose="02020603050405020304" pitchFamily="18" charset="0"/>
              </a:rPr>
              <a:t>a crypto-graphic hash function</a:t>
            </a:r>
            <a:r>
              <a:rPr lang="en-US" altLang="zh-CN" sz="1600" i="1">
                <a:latin typeface="Times New Roman" panose="02020603050405020304" pitchFamily="18" charset="0"/>
              </a:rPr>
              <a:t>.  The input is a very long string, that is reduced by the hash function to a string of fixed length.  There are additional security conditions: it should be very hard to find an input hashing to a given value (a preimage) or to find two colliding inputs (a collision). 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4" name="Line 8">
            <a:extLst>
              <a:ext uri="{FF2B5EF4-FFF2-40B4-BE49-F238E27FC236}">
                <a16:creationId xmlns:a16="http://schemas.microsoft.com/office/drawing/2014/main" id="{2641B78A-7579-3882-94A3-38BC94F47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563" y="5626100"/>
            <a:ext cx="3810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F5AA67BA-3E81-1CC7-E9CC-91BCBC19BFD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77582" y="5415756"/>
            <a:ext cx="1658938" cy="4222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4 w 21600"/>
              <a:gd name="T13" fmla="*/ 4518 h 21600"/>
              <a:gd name="T14" fmla="*/ 17096 w 21600"/>
              <a:gd name="T15" fmla="*/ 170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CCCC"/>
          </a:solidFill>
          <a:ln w="12700">
            <a:solidFill>
              <a:srgbClr val="33CC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24945B3C-1957-9E94-CC69-696CDB62C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75" y="5626100"/>
            <a:ext cx="42227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4">
            <a:extLst>
              <a:ext uri="{FF2B5EF4-FFF2-40B4-BE49-F238E27FC236}">
                <a16:creationId xmlns:a16="http://schemas.microsoft.com/office/drawing/2014/main" id="{EE9837EB-E8A7-82A2-2D1D-C94A6167E3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FD92E4-B5A2-42EA-9F0E-AB6C5A8E4D86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BFBF4D3-811F-CF92-235B-BEAD23A9F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杂凑函数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130ABEF0-C122-50ED-2D1C-B59CD02AD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785225" cy="4465637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一个注解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对函数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的前两条希望是互不相容的。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这就是说，在要求“将任意长度的比特串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压缩成为固定长度的比特串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”</a:t>
            </a:r>
            <a:r>
              <a:rPr lang="zh-CN" altLang="en-US" sz="2400">
                <a:latin typeface="Times New Roman" panose="02020603050405020304" pitchFamily="18" charset="0"/>
              </a:rPr>
              <a:t>时，无法做到“不同的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生成不同的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”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例如： 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，其中设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的长度在</a:t>
            </a:r>
            <a:r>
              <a:rPr lang="en-US" altLang="zh-CN" sz="2400">
                <a:latin typeface="Times New Roman" panose="02020603050405020304" pitchFamily="18" charset="0"/>
              </a:rPr>
              <a:t>128</a:t>
            </a:r>
            <a:r>
              <a:rPr lang="zh-CN" altLang="en-US" sz="2400">
                <a:latin typeface="Times New Roman" panose="02020603050405020304" pitchFamily="18" charset="0"/>
              </a:rPr>
              <a:t>到</a:t>
            </a:r>
            <a:r>
              <a:rPr lang="en-US" altLang="zh-CN" sz="2400">
                <a:latin typeface="Times New Roman" panose="02020603050405020304" pitchFamily="18" charset="0"/>
              </a:rPr>
              <a:t>256</a:t>
            </a:r>
            <a:r>
              <a:rPr lang="zh-CN" altLang="en-US" sz="2400">
                <a:latin typeface="Times New Roman" panose="02020603050405020304" pitchFamily="18" charset="0"/>
              </a:rPr>
              <a:t>之间；设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zh-CN" altLang="en-US" sz="2400">
                <a:latin typeface="Times New Roman" panose="02020603050405020304" pitchFamily="18" charset="0"/>
              </a:rPr>
              <a:t>的固定长度为</a:t>
            </a:r>
            <a:r>
              <a:rPr lang="en-US" altLang="zh-CN" sz="2400">
                <a:latin typeface="Times New Roman" panose="02020603050405020304" pitchFamily="18" charset="0"/>
              </a:rPr>
              <a:t>128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（在这里， 比特串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是数据文件，必须假设它“可能是任何一个长度在</a:t>
            </a:r>
            <a:r>
              <a:rPr lang="en-US" altLang="zh-CN" sz="2400">
                <a:latin typeface="Times New Roman" panose="02020603050405020304" pitchFamily="18" charset="0"/>
              </a:rPr>
              <a:t>128</a:t>
            </a:r>
            <a:r>
              <a:rPr lang="zh-CN" altLang="en-US" sz="2400">
                <a:latin typeface="Times New Roman" panose="02020603050405020304" pitchFamily="18" charset="0"/>
              </a:rPr>
              <a:t>到</a:t>
            </a:r>
            <a:r>
              <a:rPr lang="en-US" altLang="zh-CN" sz="2400">
                <a:latin typeface="Times New Roman" panose="02020603050405020304" pitchFamily="18" charset="0"/>
              </a:rPr>
              <a:t>256</a:t>
            </a:r>
            <a:r>
              <a:rPr lang="zh-CN" altLang="en-US" sz="2400">
                <a:latin typeface="Times New Roman" panose="02020603050405020304" pitchFamily="18" charset="0"/>
              </a:rPr>
              <a:t>之间的比特串”。 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一共有</a:t>
            </a:r>
            <a:r>
              <a:rPr lang="en-US" altLang="zh-CN" sz="2400">
                <a:latin typeface="Times New Roman" panose="02020603050405020304" pitchFamily="18" charset="0"/>
              </a:rPr>
              <a:t>2</a:t>
            </a:r>
            <a:r>
              <a:rPr lang="en-US" altLang="zh-CN" sz="2400" baseline="30000">
                <a:latin typeface="Times New Roman" panose="02020603050405020304" pitchFamily="18" charset="0"/>
              </a:rPr>
              <a:t>128</a:t>
            </a:r>
            <a:r>
              <a:rPr lang="en-US" altLang="zh-CN" sz="2400">
                <a:latin typeface="Times New Roman" panose="02020603050405020304" pitchFamily="18" charset="0"/>
              </a:rPr>
              <a:t>+2</a:t>
            </a:r>
            <a:r>
              <a:rPr lang="en-US" altLang="zh-CN" sz="2400" baseline="30000">
                <a:latin typeface="Times New Roman" panose="02020603050405020304" pitchFamily="18" charset="0"/>
              </a:rPr>
              <a:t>129</a:t>
            </a:r>
            <a:r>
              <a:rPr lang="en-US" altLang="zh-CN" sz="2400">
                <a:latin typeface="Times New Roman" panose="02020603050405020304" pitchFamily="18" charset="0"/>
              </a:rPr>
              <a:t>+2</a:t>
            </a:r>
            <a:r>
              <a:rPr lang="en-US" altLang="zh-CN" sz="2400" baseline="30000">
                <a:latin typeface="Times New Roman" panose="02020603050405020304" pitchFamily="18" charset="0"/>
              </a:rPr>
              <a:t>130</a:t>
            </a:r>
            <a:r>
              <a:rPr lang="en-US" altLang="zh-CN" sz="2400">
                <a:latin typeface="Times New Roman" panose="02020603050405020304" pitchFamily="18" charset="0"/>
              </a:rPr>
              <a:t>+…+ 2</a:t>
            </a:r>
            <a:r>
              <a:rPr lang="en-US" altLang="zh-CN" sz="2400" baseline="30000">
                <a:latin typeface="Times New Roman" panose="02020603050405020304" pitchFamily="18" charset="0"/>
              </a:rPr>
              <a:t>256</a:t>
            </a:r>
            <a:r>
              <a:rPr lang="zh-CN" altLang="en-US" sz="2400">
                <a:latin typeface="Times New Roman" panose="02020603050405020304" pitchFamily="18" charset="0"/>
              </a:rPr>
              <a:t>个不同的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。一共有</a:t>
            </a:r>
            <a:r>
              <a:rPr lang="en-US" altLang="zh-CN" sz="2400">
                <a:latin typeface="Times New Roman" panose="02020603050405020304" pitchFamily="18" charset="0"/>
              </a:rPr>
              <a:t>2</a:t>
            </a:r>
            <a:r>
              <a:rPr lang="en-US" altLang="zh-CN" sz="2400" baseline="30000">
                <a:latin typeface="Times New Roman" panose="02020603050405020304" pitchFamily="18" charset="0"/>
              </a:rPr>
              <a:t>128</a:t>
            </a:r>
            <a:r>
              <a:rPr lang="zh-CN" altLang="en-US" sz="2400">
                <a:latin typeface="Times New Roman" panose="02020603050405020304" pitchFamily="18" charset="0"/>
              </a:rPr>
              <a:t>个不同的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的个数多于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zh-CN" altLang="en-US" sz="2400">
                <a:latin typeface="Times New Roman" panose="02020603050405020304" pitchFamily="18" charset="0"/>
              </a:rPr>
              <a:t>的个数，必然有不同的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压缩成相同的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8D458440-4060-A40A-F8A7-A3AE521D4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94B648-130D-46E3-91BE-D6C2254EE51F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65A8B07-FDA1-4DDE-179D-150338B45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杂凑函数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C9E18DC-209B-C509-1FF5-5C4B8B2BB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CA" altLang="zh-CN"/>
              <a:t> </a:t>
            </a:r>
            <a:endParaRPr lang="zh-CN" altLang="zh-CN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DC5F9D7B-9006-66E8-A698-C813AF8E9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2362200"/>
            <a:ext cx="1233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Georgia" panose="02040502050405020303" pitchFamily="18" charset="0"/>
              </a:rPr>
              <a:t>output</a:t>
            </a:r>
          </a:p>
        </p:txBody>
      </p:sp>
      <p:sp>
        <p:nvSpPr>
          <p:cNvPr id="22534" name="Oval 5">
            <a:extLst>
              <a:ext uri="{FF2B5EF4-FFF2-40B4-BE49-F238E27FC236}">
                <a16:creationId xmlns:a16="http://schemas.microsoft.com/office/drawing/2014/main" id="{9E3B51C0-2313-858F-A103-378F2FFB9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133600"/>
            <a:ext cx="1981200" cy="388778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2535" name="Oval 6">
            <a:extLst>
              <a:ext uri="{FF2B5EF4-FFF2-40B4-BE49-F238E27FC236}">
                <a16:creationId xmlns:a16="http://schemas.microsoft.com/office/drawing/2014/main" id="{BA62ADA4-4CD5-E9BC-D6DA-9375B4507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2895600"/>
            <a:ext cx="1676400" cy="1905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2536" name="Text Box 7">
            <a:extLst>
              <a:ext uri="{FF2B5EF4-FFF2-40B4-BE49-F238E27FC236}">
                <a16:creationId xmlns:a16="http://schemas.microsoft.com/office/drawing/2014/main" id="{A138BEB4-877B-537F-4E00-0A3B2D5E5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3" y="2808288"/>
            <a:ext cx="4778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H</a:t>
            </a:r>
          </a:p>
        </p:txBody>
      </p:sp>
      <p:grpSp>
        <p:nvGrpSpPr>
          <p:cNvPr id="841736" name="Group 8">
            <a:extLst>
              <a:ext uri="{FF2B5EF4-FFF2-40B4-BE49-F238E27FC236}">
                <a16:creationId xmlns:a16="http://schemas.microsoft.com/office/drawing/2014/main" id="{7F77EA28-8A7C-5BD8-969F-EB5650E97F56}"/>
              </a:ext>
            </a:extLst>
          </p:cNvPr>
          <p:cNvGrpSpPr>
            <a:grpSpLocks/>
          </p:cNvGrpSpPr>
          <p:nvPr/>
        </p:nvGrpSpPr>
        <p:grpSpPr bwMode="auto">
          <a:xfrm>
            <a:off x="1716088" y="3048000"/>
            <a:ext cx="4914900" cy="736600"/>
            <a:chOff x="1104" y="2160"/>
            <a:chExt cx="3096" cy="464"/>
          </a:xfrm>
        </p:grpSpPr>
        <p:sp>
          <p:nvSpPr>
            <p:cNvPr id="22562" name="Oval 9">
              <a:extLst>
                <a:ext uri="{FF2B5EF4-FFF2-40B4-BE49-F238E27FC236}">
                  <a16:creationId xmlns:a16="http://schemas.microsoft.com/office/drawing/2014/main" id="{62A3B7C0-9535-CB21-8021-737B7BFC2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16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2563" name="Oval 10">
              <a:extLst>
                <a:ext uri="{FF2B5EF4-FFF2-40B4-BE49-F238E27FC236}">
                  <a16:creationId xmlns:a16="http://schemas.microsoft.com/office/drawing/2014/main" id="{A026C402-9258-0F0A-C7E6-3F620AD96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544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2564" name="AutoShape 11">
              <a:extLst>
                <a:ext uri="{FF2B5EF4-FFF2-40B4-BE49-F238E27FC236}">
                  <a16:creationId xmlns:a16="http://schemas.microsoft.com/office/drawing/2014/main" id="{C91F3D4F-4CDA-B704-43C1-CB02129402E1}"/>
                </a:ext>
              </a:extLst>
            </p:cNvPr>
            <p:cNvCxnSpPr>
              <a:cxnSpLocks noChangeShapeType="1"/>
              <a:stCxn id="22562" idx="6"/>
              <a:endCxn id="22563" idx="2"/>
            </p:cNvCxnSpPr>
            <p:nvPr/>
          </p:nvCxnSpPr>
          <p:spPr bwMode="auto">
            <a:xfrm>
              <a:off x="1176" y="2200"/>
              <a:ext cx="2952" cy="384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1740" name="Group 12">
            <a:extLst>
              <a:ext uri="{FF2B5EF4-FFF2-40B4-BE49-F238E27FC236}">
                <a16:creationId xmlns:a16="http://schemas.microsoft.com/office/drawing/2014/main" id="{DA75DA88-DA98-CC88-5D6B-8D80B003B22C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3429000"/>
            <a:ext cx="3771900" cy="1270000"/>
            <a:chOff x="1248" y="2400"/>
            <a:chExt cx="2376" cy="800"/>
          </a:xfrm>
        </p:grpSpPr>
        <p:sp>
          <p:nvSpPr>
            <p:cNvPr id="22559" name="Oval 13">
              <a:extLst>
                <a:ext uri="{FF2B5EF4-FFF2-40B4-BE49-F238E27FC236}">
                  <a16:creationId xmlns:a16="http://schemas.microsoft.com/office/drawing/2014/main" id="{0A622556-A8CF-296A-8323-3F143867C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2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2560" name="Oval 14">
              <a:extLst>
                <a:ext uri="{FF2B5EF4-FFF2-40B4-BE49-F238E27FC236}">
                  <a16:creationId xmlns:a16="http://schemas.microsoft.com/office/drawing/2014/main" id="{DE18FE16-4751-C93D-1651-FFBCD1ABD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0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2561" name="AutoShape 15">
              <a:extLst>
                <a:ext uri="{FF2B5EF4-FFF2-40B4-BE49-F238E27FC236}">
                  <a16:creationId xmlns:a16="http://schemas.microsoft.com/office/drawing/2014/main" id="{0436BCBD-B2F5-0867-E728-DEA281CECD8B}"/>
                </a:ext>
              </a:extLst>
            </p:cNvPr>
            <p:cNvCxnSpPr>
              <a:cxnSpLocks noChangeShapeType="1"/>
              <a:stCxn id="22559" idx="6"/>
              <a:endCxn id="22560" idx="2"/>
            </p:cNvCxnSpPr>
            <p:nvPr/>
          </p:nvCxnSpPr>
          <p:spPr bwMode="auto">
            <a:xfrm flipV="1">
              <a:off x="1320" y="2440"/>
              <a:ext cx="2232" cy="72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1744" name="Group 16">
            <a:extLst>
              <a:ext uri="{FF2B5EF4-FFF2-40B4-BE49-F238E27FC236}">
                <a16:creationId xmlns:a16="http://schemas.microsoft.com/office/drawing/2014/main" id="{28982D18-5E3C-4249-0C5B-942997798A72}"/>
              </a:ext>
            </a:extLst>
          </p:cNvPr>
          <p:cNvGrpSpPr>
            <a:grpSpLocks/>
          </p:cNvGrpSpPr>
          <p:nvPr/>
        </p:nvGrpSpPr>
        <p:grpSpPr bwMode="auto">
          <a:xfrm>
            <a:off x="2249488" y="3505200"/>
            <a:ext cx="4229100" cy="736600"/>
            <a:chOff x="1440" y="2448"/>
            <a:chExt cx="2664" cy="464"/>
          </a:xfrm>
        </p:grpSpPr>
        <p:sp>
          <p:nvSpPr>
            <p:cNvPr id="22556" name="Oval 17">
              <a:extLst>
                <a:ext uri="{FF2B5EF4-FFF2-40B4-BE49-F238E27FC236}">
                  <a16:creationId xmlns:a16="http://schemas.microsoft.com/office/drawing/2014/main" id="{4CA9DAA1-EF1F-4BD5-329D-3D1E6F5DA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48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2557" name="Oval 18">
              <a:extLst>
                <a:ext uri="{FF2B5EF4-FFF2-40B4-BE49-F238E27FC236}">
                  <a16:creationId xmlns:a16="http://schemas.microsoft.com/office/drawing/2014/main" id="{A24B55FA-CC3D-4BE8-6BA6-C7A3E387B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83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2558" name="AutoShape 19">
              <a:extLst>
                <a:ext uri="{FF2B5EF4-FFF2-40B4-BE49-F238E27FC236}">
                  <a16:creationId xmlns:a16="http://schemas.microsoft.com/office/drawing/2014/main" id="{0852885E-6459-D62D-EA61-352A07603B6D}"/>
                </a:ext>
              </a:extLst>
            </p:cNvPr>
            <p:cNvCxnSpPr>
              <a:cxnSpLocks noChangeShapeType="1"/>
              <a:stCxn id="22556" idx="6"/>
              <a:endCxn id="22557" idx="2"/>
            </p:cNvCxnSpPr>
            <p:nvPr/>
          </p:nvCxnSpPr>
          <p:spPr bwMode="auto">
            <a:xfrm>
              <a:off x="1512" y="2488"/>
              <a:ext cx="2520" cy="384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1748" name="Group 20">
            <a:extLst>
              <a:ext uri="{FF2B5EF4-FFF2-40B4-BE49-F238E27FC236}">
                <a16:creationId xmlns:a16="http://schemas.microsoft.com/office/drawing/2014/main" id="{A018E891-92E0-724F-8308-10977053F88D}"/>
              </a:ext>
            </a:extLst>
          </p:cNvPr>
          <p:cNvGrpSpPr>
            <a:grpSpLocks/>
          </p:cNvGrpSpPr>
          <p:nvPr/>
        </p:nvGrpSpPr>
        <p:grpSpPr bwMode="auto">
          <a:xfrm>
            <a:off x="1792288" y="3352800"/>
            <a:ext cx="4533900" cy="508000"/>
            <a:chOff x="1152" y="2352"/>
            <a:chExt cx="2856" cy="320"/>
          </a:xfrm>
        </p:grpSpPr>
        <p:sp>
          <p:nvSpPr>
            <p:cNvPr id="22553" name="Oval 21">
              <a:extLst>
                <a:ext uri="{FF2B5EF4-FFF2-40B4-BE49-F238E27FC236}">
                  <a16:creationId xmlns:a16="http://schemas.microsoft.com/office/drawing/2014/main" id="{3CC8E7F5-856A-6A2B-D110-8133D6E3E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9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2554" name="Oval 22">
              <a:extLst>
                <a:ext uri="{FF2B5EF4-FFF2-40B4-BE49-F238E27FC236}">
                  <a16:creationId xmlns:a16="http://schemas.microsoft.com/office/drawing/2014/main" id="{F8EC8E82-69BD-3F5F-DF50-8F8FC6A26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2555" name="AutoShape 23">
              <a:extLst>
                <a:ext uri="{FF2B5EF4-FFF2-40B4-BE49-F238E27FC236}">
                  <a16:creationId xmlns:a16="http://schemas.microsoft.com/office/drawing/2014/main" id="{BB0022ED-B621-2C76-0B74-E4960F3F70F2}"/>
                </a:ext>
              </a:extLst>
            </p:cNvPr>
            <p:cNvCxnSpPr>
              <a:cxnSpLocks noChangeShapeType="1"/>
              <a:stCxn id="22553" idx="6"/>
              <a:endCxn id="22554" idx="2"/>
            </p:cNvCxnSpPr>
            <p:nvPr/>
          </p:nvCxnSpPr>
          <p:spPr bwMode="auto">
            <a:xfrm flipV="1">
              <a:off x="1224" y="2392"/>
              <a:ext cx="2712" cy="24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1752" name="Group 24">
            <a:extLst>
              <a:ext uri="{FF2B5EF4-FFF2-40B4-BE49-F238E27FC236}">
                <a16:creationId xmlns:a16="http://schemas.microsoft.com/office/drawing/2014/main" id="{33CF5746-3439-DFFE-5CDD-D8B54F61EF69}"/>
              </a:ext>
            </a:extLst>
          </p:cNvPr>
          <p:cNvGrpSpPr>
            <a:grpSpLocks/>
          </p:cNvGrpSpPr>
          <p:nvPr/>
        </p:nvGrpSpPr>
        <p:grpSpPr bwMode="auto">
          <a:xfrm>
            <a:off x="1792288" y="3810000"/>
            <a:ext cx="4305300" cy="431800"/>
            <a:chOff x="1152" y="2640"/>
            <a:chExt cx="2712" cy="272"/>
          </a:xfrm>
        </p:grpSpPr>
        <p:sp>
          <p:nvSpPr>
            <p:cNvPr id="22550" name="Oval 25">
              <a:extLst>
                <a:ext uri="{FF2B5EF4-FFF2-40B4-BE49-F238E27FC236}">
                  <a16:creationId xmlns:a16="http://schemas.microsoft.com/office/drawing/2014/main" id="{A4841D1F-B051-77A8-7256-1F562B942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2551" name="Oval 26">
              <a:extLst>
                <a:ext uri="{FF2B5EF4-FFF2-40B4-BE49-F238E27FC236}">
                  <a16:creationId xmlns:a16="http://schemas.microsoft.com/office/drawing/2014/main" id="{F5F3B15B-9656-0DCD-3B9D-EBA3268E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64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2552" name="AutoShape 27">
              <a:extLst>
                <a:ext uri="{FF2B5EF4-FFF2-40B4-BE49-F238E27FC236}">
                  <a16:creationId xmlns:a16="http://schemas.microsoft.com/office/drawing/2014/main" id="{3A8AC235-346E-4D13-83E2-1F8180DF8AA0}"/>
                </a:ext>
              </a:extLst>
            </p:cNvPr>
            <p:cNvCxnSpPr>
              <a:cxnSpLocks noChangeShapeType="1"/>
              <a:stCxn id="22550" idx="6"/>
              <a:endCxn id="22551" idx="2"/>
            </p:cNvCxnSpPr>
            <p:nvPr/>
          </p:nvCxnSpPr>
          <p:spPr bwMode="auto">
            <a:xfrm flipV="1">
              <a:off x="1224" y="2680"/>
              <a:ext cx="2568" cy="192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42" name="Text Box 28">
            <a:extLst>
              <a:ext uri="{FF2B5EF4-FFF2-40B4-BE49-F238E27FC236}">
                <a16:creationId xmlns:a16="http://schemas.microsoft.com/office/drawing/2014/main" id="{99A0C6D9-BD6A-C3DE-2A8B-D0496000F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65296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H</a:t>
            </a:r>
            <a:r>
              <a:rPr lang="zh-CN" altLang="en-US" sz="2800" i="1">
                <a:latin typeface="Georgia" panose="02040502050405020303" pitchFamily="18" charset="0"/>
              </a:rPr>
              <a:t>（</a:t>
            </a:r>
            <a:r>
              <a:rPr lang="en-US" altLang="zh-CN" sz="2800" i="1">
                <a:latin typeface="Georgia" panose="02040502050405020303" pitchFamily="18" charset="0"/>
              </a:rPr>
              <a:t>x</a:t>
            </a:r>
            <a:r>
              <a:rPr lang="zh-CN" altLang="en-US" sz="2800" i="1">
                <a:latin typeface="Georgia" panose="02040502050405020303" pitchFamily="18" charset="0"/>
              </a:rPr>
              <a:t>）</a:t>
            </a:r>
          </a:p>
        </p:txBody>
      </p:sp>
      <p:grpSp>
        <p:nvGrpSpPr>
          <p:cNvPr id="841757" name="Group 29">
            <a:extLst>
              <a:ext uri="{FF2B5EF4-FFF2-40B4-BE49-F238E27FC236}">
                <a16:creationId xmlns:a16="http://schemas.microsoft.com/office/drawing/2014/main" id="{C274AB10-60B3-F9F3-ED91-3BD48857D62C}"/>
              </a:ext>
            </a:extLst>
          </p:cNvPr>
          <p:cNvGrpSpPr>
            <a:grpSpLocks/>
          </p:cNvGrpSpPr>
          <p:nvPr/>
        </p:nvGrpSpPr>
        <p:grpSpPr bwMode="auto">
          <a:xfrm>
            <a:off x="2173288" y="2362200"/>
            <a:ext cx="4208462" cy="1771650"/>
            <a:chOff x="1392" y="1728"/>
            <a:chExt cx="2651" cy="1116"/>
          </a:xfrm>
        </p:grpSpPr>
        <p:sp>
          <p:nvSpPr>
            <p:cNvPr id="22548" name="Oval 30">
              <a:extLst>
                <a:ext uri="{FF2B5EF4-FFF2-40B4-BE49-F238E27FC236}">
                  <a16:creationId xmlns:a16="http://schemas.microsoft.com/office/drawing/2014/main" id="{65B27268-B473-028E-8E88-CD34638A3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728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2549" name="AutoShape 31">
              <a:extLst>
                <a:ext uri="{FF2B5EF4-FFF2-40B4-BE49-F238E27FC236}">
                  <a16:creationId xmlns:a16="http://schemas.microsoft.com/office/drawing/2014/main" id="{14AFB23B-F6EC-4A01-96D7-92222FB75964}"/>
                </a:ext>
              </a:extLst>
            </p:cNvPr>
            <p:cNvCxnSpPr>
              <a:cxnSpLocks noChangeShapeType="1"/>
              <a:stCxn id="22548" idx="5"/>
              <a:endCxn id="22557" idx="1"/>
            </p:cNvCxnSpPr>
            <p:nvPr/>
          </p:nvCxnSpPr>
          <p:spPr bwMode="auto">
            <a:xfrm>
              <a:off x="1453" y="1796"/>
              <a:ext cx="2590" cy="1048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44" name="Rectangle 32">
            <a:extLst>
              <a:ext uri="{FF2B5EF4-FFF2-40B4-BE49-F238E27FC236}">
                <a16:creationId xmlns:a16="http://schemas.microsoft.com/office/drawing/2014/main" id="{F7CABFE4-D15B-2B87-70A8-6665CEE56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5" y="1965325"/>
            <a:ext cx="22621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H</a:t>
            </a:r>
            <a:r>
              <a:rPr kumimoji="1" lang="zh-CN" altLang="en-US" sz="2400">
                <a:latin typeface="Times New Roman" panose="02020603050405020304" pitchFamily="18" charset="0"/>
              </a:rPr>
              <a:t>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多对一映射</a:t>
            </a:r>
          </a:p>
        </p:txBody>
      </p:sp>
      <p:sp>
        <p:nvSpPr>
          <p:cNvPr id="22545" name="Text Box 33">
            <a:extLst>
              <a:ext uri="{FF2B5EF4-FFF2-40B4-BE49-F238E27FC236}">
                <a16:creationId xmlns:a16="http://schemas.microsoft.com/office/drawing/2014/main" id="{0BCC8DE0-BAA4-36D7-E01C-0C997760E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2327275"/>
            <a:ext cx="363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x</a:t>
            </a:r>
          </a:p>
        </p:txBody>
      </p:sp>
      <p:sp>
        <p:nvSpPr>
          <p:cNvPr id="841762" name="Text Box 34">
            <a:extLst>
              <a:ext uri="{FF2B5EF4-FFF2-40B4-BE49-F238E27FC236}">
                <a16:creationId xmlns:a16="http://schemas.microsoft.com/office/drawing/2014/main" id="{5B863606-8F84-BCC4-DB13-C06B8C096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076700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碰撞或冲突</a:t>
            </a:r>
          </a:p>
        </p:txBody>
      </p:sp>
      <p:sp>
        <p:nvSpPr>
          <p:cNvPr id="841763" name="Oval 35">
            <a:extLst>
              <a:ext uri="{FF2B5EF4-FFF2-40B4-BE49-F238E27FC236}">
                <a16:creationId xmlns:a16="http://schemas.microsoft.com/office/drawing/2014/main" id="{933B965A-E83F-1217-CC37-EAA739E38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4076700"/>
            <a:ext cx="215900" cy="215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8417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8417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417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417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4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4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4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4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1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762" grpId="0"/>
      <p:bldP spid="841763" grpId="0" animBg="1"/>
      <p:bldP spid="84176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4">
            <a:extLst>
              <a:ext uri="{FF2B5EF4-FFF2-40B4-BE49-F238E27FC236}">
                <a16:creationId xmlns:a16="http://schemas.microsoft.com/office/drawing/2014/main" id="{0B88E543-A0CE-A12B-A1D9-8CD5C4D3C5C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F5995E-3ACF-4FEE-B930-6616CE0189F8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8F0A9D2-B65A-AC3D-59D8-32762FE9E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杂凑函数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1DA6AB2F-E3BC-78BD-7E3B-AD865EFBB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17713"/>
            <a:ext cx="8424863" cy="429101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函数 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满足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）将任意长度的比特串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zh-CN" altLang="en-US" sz="2800">
                <a:latin typeface="Times New Roman" panose="02020603050405020304" pitchFamily="18" charset="0"/>
              </a:rPr>
              <a:t>压缩成为固定长度的比特串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）已知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zh-CN" altLang="en-US" sz="2800">
                <a:latin typeface="Times New Roman" panose="02020603050405020304" pitchFamily="18" charset="0"/>
              </a:rPr>
              <a:t>，计算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很容易；已知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zh-CN" altLang="en-US" sz="2800">
                <a:latin typeface="Times New Roman" panose="02020603050405020304" pitchFamily="18" charset="0"/>
              </a:rPr>
              <a:t>，找一个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zh-CN" altLang="en-US" sz="2800">
                <a:latin typeface="Times New Roman" panose="02020603050405020304" pitchFamily="18" charset="0"/>
              </a:rPr>
              <a:t>满足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却很困难。这一性质称为</a:t>
            </a:r>
            <a:r>
              <a:rPr lang="zh-CN" altLang="en-US" sz="2800" u="sng">
                <a:latin typeface="Times New Roman" panose="02020603050405020304" pitchFamily="18" charset="0"/>
              </a:rPr>
              <a:t>单向性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3</a:t>
            </a:r>
            <a:r>
              <a:rPr lang="zh-CN" altLang="en-US" sz="2800">
                <a:latin typeface="Times New Roman" panose="02020603050405020304" pitchFamily="18" charset="0"/>
              </a:rPr>
              <a:t>）找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≠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)= 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，很困难。这一性质称为</a:t>
            </a:r>
            <a:r>
              <a:rPr lang="zh-CN" altLang="en-US" sz="2800" u="sng">
                <a:latin typeface="Times New Roman" panose="02020603050405020304" pitchFamily="18" charset="0"/>
              </a:rPr>
              <a:t>抗碰撞性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这样的函数称为</a:t>
            </a:r>
            <a:r>
              <a:rPr lang="zh-CN" altLang="en-US" sz="2800" b="1" u="sng">
                <a:solidFill>
                  <a:schemeClr val="hlink"/>
                </a:solidFill>
                <a:latin typeface="Times New Roman" panose="02020603050405020304" pitchFamily="18" charset="0"/>
              </a:rPr>
              <a:t>杂凑函数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2FC1F676-7C91-6109-6F2C-8B4916D70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ABA73F-8EFF-48FB-9B55-D3480DC58D4B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826110B-1672-51A0-2BDD-8225490B04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杂凑函数的性质</a:t>
            </a:r>
            <a:endParaRPr lang="zh-CN" altLang="en-US">
              <a:solidFill>
                <a:schemeClr val="folHlin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8675" name="Rectangle 3">
            <a:extLst>
              <a:ext uri="{FF2B5EF4-FFF2-40B4-BE49-F238E27FC236}">
                <a16:creationId xmlns:a16="http://schemas.microsoft.com/office/drawing/2014/main" id="{D4233D1F-A205-97D8-6B2E-D0E9F9CCF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60575"/>
            <a:ext cx="8512175" cy="4264025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单向性（抗原像）：对干任意给定的消息，计算其哈希值容易</a:t>
            </a:r>
            <a:r>
              <a:rPr lang="en-US" altLang="zh-CN" sz="2400">
                <a:latin typeface="宋体" panose="02010600030101010101" pitchFamily="2" charset="-122"/>
              </a:rPr>
              <a:t>. </a:t>
            </a:r>
            <a:r>
              <a:rPr lang="zh-CN" altLang="en-US" sz="2400">
                <a:latin typeface="宋体" panose="02010600030101010101" pitchFamily="2" charset="-122"/>
              </a:rPr>
              <a:t>但是，对于给定的哈希值</a:t>
            </a:r>
            <a:r>
              <a:rPr lang="en-US" altLang="zh-CN" sz="2400">
                <a:latin typeface="宋体" panose="02010600030101010101" pitchFamily="2" charset="-122"/>
              </a:rPr>
              <a:t>h</a:t>
            </a:r>
            <a:r>
              <a:rPr lang="zh-CN" altLang="en-US" sz="2400">
                <a:latin typeface="宋体" panose="02010600030101010101" pitchFamily="2" charset="-122"/>
              </a:rPr>
              <a:t>，要找到</a:t>
            </a:r>
            <a:r>
              <a:rPr lang="en-US" altLang="zh-CN" sz="2400">
                <a:latin typeface="宋体" panose="02010600030101010101" pitchFamily="2" charset="-122"/>
              </a:rPr>
              <a:t>M</a:t>
            </a:r>
            <a:r>
              <a:rPr lang="zh-CN" altLang="en-US" sz="2400">
                <a:latin typeface="宋体" panose="02010600030101010101" pitchFamily="2" charset="-122"/>
              </a:rPr>
              <a:t>使得</a:t>
            </a:r>
            <a:r>
              <a:rPr lang="en-US" altLang="zh-CN" sz="2400">
                <a:latin typeface="宋体" panose="02010600030101010101" pitchFamily="2" charset="-122"/>
              </a:rPr>
              <a:t>H(M)</a:t>
            </a:r>
            <a:r>
              <a:rPr lang="zh-CN" altLang="en-US" sz="2400">
                <a:latin typeface="宋体" panose="02010600030101010101" pitchFamily="2" charset="-122"/>
              </a:rPr>
              <a:t>＝</a:t>
            </a:r>
            <a:r>
              <a:rPr lang="en-US" altLang="zh-CN" sz="2400">
                <a:latin typeface="宋体" panose="02010600030101010101" pitchFamily="2" charset="-122"/>
              </a:rPr>
              <a:t>h</a:t>
            </a:r>
            <a:r>
              <a:rPr lang="zh-CN" altLang="en-US" sz="2400">
                <a:latin typeface="宋体" panose="02010600030101010101" pitchFamily="2" charset="-122"/>
              </a:rPr>
              <a:t>在</a:t>
            </a: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计算上</a:t>
            </a:r>
            <a:r>
              <a:rPr lang="zh-CN" altLang="en-US" sz="2400">
                <a:latin typeface="宋体" panose="02010600030101010101" pitchFamily="2" charset="-122"/>
              </a:rPr>
              <a:t>是不可行的</a:t>
            </a:r>
            <a:r>
              <a:rPr lang="en-US" altLang="zh-CN" sz="2400">
                <a:latin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弱抗碰撞（抗二次原像）：对于给定的消息</a:t>
            </a:r>
            <a:r>
              <a:rPr lang="en-US" altLang="zh-CN" sz="2400">
                <a:latin typeface="宋体" panose="02010600030101010101" pitchFamily="2" charset="-122"/>
              </a:rPr>
              <a:t>M</a:t>
            </a:r>
            <a:r>
              <a:rPr lang="en-US" altLang="zh-CN" sz="2400" baseline="-25000">
                <a:latin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</a:rPr>
              <a:t>，要发现另一个消息</a:t>
            </a:r>
            <a:r>
              <a:rPr lang="en-US" altLang="zh-CN" sz="2400">
                <a:latin typeface="宋体" panose="02010600030101010101" pitchFamily="2" charset="-122"/>
              </a:rPr>
              <a:t>M</a:t>
            </a:r>
            <a:r>
              <a:rPr lang="en-US" altLang="zh-CN" sz="2400" baseline="-25000">
                <a:latin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</a:rPr>
              <a:t>，满足</a:t>
            </a:r>
            <a:r>
              <a:rPr lang="en-US" altLang="zh-CN" sz="2400">
                <a:latin typeface="宋体" panose="02010600030101010101" pitchFamily="2" charset="-122"/>
              </a:rPr>
              <a:t>H( M</a:t>
            </a:r>
            <a:r>
              <a:rPr lang="en-US" altLang="zh-CN" sz="2400" baseline="-25000">
                <a:latin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</a:rPr>
              <a:t> )</a:t>
            </a:r>
            <a:r>
              <a:rPr lang="zh-CN" altLang="en-US" sz="2400">
                <a:latin typeface="宋体" panose="02010600030101010101" pitchFamily="2" charset="-122"/>
              </a:rPr>
              <a:t>＝</a:t>
            </a:r>
            <a:r>
              <a:rPr lang="en-US" altLang="zh-CN" sz="2400">
                <a:latin typeface="宋体" panose="02010600030101010101" pitchFamily="2" charset="-122"/>
              </a:rPr>
              <a:t>H(M</a:t>
            </a:r>
            <a:r>
              <a:rPr lang="en-US" altLang="zh-CN" sz="2400" baseline="-25000">
                <a:latin typeface="宋体" panose="02010600030101010101" pitchFamily="2" charset="-122"/>
              </a:rPr>
              <a:t>2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</a:rPr>
              <a:t>在</a:t>
            </a: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计算上</a:t>
            </a:r>
            <a:r>
              <a:rPr lang="zh-CN" altLang="en-US" sz="2400">
                <a:latin typeface="宋体" panose="02010600030101010101" pitchFamily="2" charset="-122"/>
              </a:rPr>
              <a:t>是不可行的</a:t>
            </a:r>
            <a:r>
              <a:rPr lang="en-US" altLang="zh-CN" sz="2400">
                <a:latin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强抗碰撞：找任意一对不同的消息</a:t>
            </a:r>
            <a:r>
              <a:rPr lang="en-US" altLang="zh-CN" sz="2400">
                <a:latin typeface="宋体" panose="02010600030101010101" pitchFamily="2" charset="-122"/>
              </a:rPr>
              <a:t>M</a:t>
            </a:r>
            <a:r>
              <a:rPr lang="en-US" altLang="zh-CN" sz="2400" baseline="-25000">
                <a:latin typeface="宋体" panose="02010600030101010101" pitchFamily="2" charset="-122"/>
              </a:rPr>
              <a:t>1</a:t>
            </a:r>
            <a:r>
              <a:rPr lang="zh-CN" altLang="en-US" sz="2400" baseline="-25000">
                <a:latin typeface="宋体" panose="02010600030101010101" pitchFamily="2" charset="-122"/>
              </a:rPr>
              <a:t>，</a:t>
            </a:r>
            <a:r>
              <a:rPr lang="en-US" altLang="zh-CN" sz="2400">
                <a:latin typeface="宋体" panose="02010600030101010101" pitchFamily="2" charset="-122"/>
              </a:rPr>
              <a:t>M</a:t>
            </a:r>
            <a:r>
              <a:rPr lang="en-US" altLang="zh-CN" sz="2400" baseline="-25000">
                <a:latin typeface="宋体" panose="02010600030101010101" pitchFamily="2" charset="-122"/>
              </a:rPr>
              <a:t>2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，使</a:t>
            </a:r>
            <a:r>
              <a:rPr lang="en-US" altLang="zh-CN" sz="2400">
                <a:latin typeface="宋体" panose="02010600030101010101" pitchFamily="2" charset="-122"/>
              </a:rPr>
              <a:t>H(M</a:t>
            </a:r>
            <a:r>
              <a:rPr lang="en-US" altLang="zh-CN" sz="2400" baseline="-25000">
                <a:latin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</a:rPr>
              <a:t>＝</a:t>
            </a:r>
            <a:r>
              <a:rPr lang="en-US" altLang="zh-CN" sz="2400">
                <a:latin typeface="宋体" panose="02010600030101010101" pitchFamily="2" charset="-122"/>
              </a:rPr>
              <a:t>H(M</a:t>
            </a:r>
            <a:r>
              <a:rPr lang="en-US" altLang="zh-CN" sz="2400" baseline="-25000">
                <a:latin typeface="宋体" panose="02010600030101010101" pitchFamily="2" charset="-122"/>
              </a:rPr>
              <a:t>2 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</a:rPr>
              <a:t>在</a:t>
            </a: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计算上</a:t>
            </a:r>
            <a:r>
              <a:rPr lang="zh-CN" altLang="en-US" sz="2400">
                <a:latin typeface="宋体" panose="02010600030101010101" pitchFamily="2" charset="-122"/>
              </a:rPr>
              <a:t>是不可行的</a:t>
            </a:r>
            <a:r>
              <a:rPr lang="en-US" altLang="zh-CN" sz="2400">
                <a:latin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随机性</a:t>
            </a:r>
            <a:r>
              <a:rPr lang="en-US" altLang="zh-CN" sz="2400">
                <a:latin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6EA395C3-C885-BD6A-11FD-551ED8ACF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1275D8-655E-4F92-9111-0979AF8C7D4C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29CC5D8-0945-6745-0AF5-5B68B2EED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杂凑函数的性质</a:t>
            </a:r>
            <a:endParaRPr lang="zh-CN" altLang="en-US"/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2E92508-C831-FBCE-9832-384AD4C6D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CA" altLang="zh-CN"/>
              <a:t> </a:t>
            </a:r>
            <a:endParaRPr lang="zh-CN" altLang="zh-CN"/>
          </a:p>
        </p:txBody>
      </p:sp>
      <p:sp>
        <p:nvSpPr>
          <p:cNvPr id="840708" name="Text Box 4">
            <a:extLst>
              <a:ext uri="{FF2B5EF4-FFF2-40B4-BE49-F238E27FC236}">
                <a16:creationId xmlns:a16="http://schemas.microsoft.com/office/drawing/2014/main" id="{1F95C3A1-D1CE-6E36-FA46-38D3F05D0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90813"/>
            <a:ext cx="514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M</a:t>
            </a:r>
          </a:p>
        </p:txBody>
      </p:sp>
      <p:grpSp>
        <p:nvGrpSpPr>
          <p:cNvPr id="840709" name="Group 5">
            <a:extLst>
              <a:ext uri="{FF2B5EF4-FFF2-40B4-BE49-F238E27FC236}">
                <a16:creationId xmlns:a16="http://schemas.microsoft.com/office/drawing/2014/main" id="{DA12E163-942D-D7E1-C73E-061D24CD7F7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420938"/>
            <a:ext cx="4103687" cy="2422525"/>
            <a:chOff x="295" y="1525"/>
            <a:chExt cx="2585" cy="1526"/>
          </a:xfrm>
        </p:grpSpPr>
        <p:sp>
          <p:nvSpPr>
            <p:cNvPr id="26656" name="Text Box 6">
              <a:extLst>
                <a:ext uri="{FF2B5EF4-FFF2-40B4-BE49-F238E27FC236}">
                  <a16:creationId xmlns:a16="http://schemas.microsoft.com/office/drawing/2014/main" id="{32C057A5-9AD9-3E98-5AF9-29B1970C9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1525"/>
              <a:ext cx="7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Georgia" panose="02040502050405020303" pitchFamily="18" charset="0"/>
                </a:rPr>
                <a:t>output</a:t>
              </a:r>
            </a:p>
          </p:txBody>
        </p:sp>
        <p:sp>
          <p:nvSpPr>
            <p:cNvPr id="26657" name="Oval 7">
              <a:extLst>
                <a:ext uri="{FF2B5EF4-FFF2-40B4-BE49-F238E27FC236}">
                  <a16:creationId xmlns:a16="http://schemas.microsoft.com/office/drawing/2014/main" id="{A1E9CE45-A515-E76A-D409-1E3EAC1A4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629"/>
              <a:ext cx="726" cy="131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58" name="Oval 8">
              <a:extLst>
                <a:ext uri="{FF2B5EF4-FFF2-40B4-BE49-F238E27FC236}">
                  <a16:creationId xmlns:a16="http://schemas.microsoft.com/office/drawing/2014/main" id="{7E73A6D6-B485-DC06-210B-D410B5AFA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1887"/>
              <a:ext cx="614" cy="64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59" name="Text Box 9">
              <a:extLst>
                <a:ext uri="{FF2B5EF4-FFF2-40B4-BE49-F238E27FC236}">
                  <a16:creationId xmlns:a16="http://schemas.microsoft.com/office/drawing/2014/main" id="{97C01CEB-DF4D-6ABF-04FA-A510FEC47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1570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Georgia" panose="02040502050405020303" pitchFamily="18" charset="0"/>
                </a:rPr>
                <a:t>h</a:t>
              </a:r>
            </a:p>
          </p:txBody>
        </p:sp>
        <p:grpSp>
          <p:nvGrpSpPr>
            <p:cNvPr id="26660" name="Group 10">
              <a:extLst>
                <a:ext uri="{FF2B5EF4-FFF2-40B4-BE49-F238E27FC236}">
                  <a16:creationId xmlns:a16="http://schemas.microsoft.com/office/drawing/2014/main" id="{AA1F7C35-3FAA-1A13-86FD-0F13CDAAB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" y="1938"/>
              <a:ext cx="1800" cy="249"/>
              <a:chOff x="1104" y="2160"/>
              <a:chExt cx="3096" cy="464"/>
            </a:xfrm>
          </p:grpSpPr>
          <p:sp>
            <p:nvSpPr>
              <p:cNvPr id="26682" name="Oval 11">
                <a:extLst>
                  <a:ext uri="{FF2B5EF4-FFF2-40B4-BE49-F238E27FC236}">
                    <a16:creationId xmlns:a16="http://schemas.microsoft.com/office/drawing/2014/main" id="{E1D3B890-9C16-167D-8CAF-38F37D126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160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83" name="Oval 12">
                <a:extLst>
                  <a:ext uri="{FF2B5EF4-FFF2-40B4-BE49-F238E27FC236}">
                    <a16:creationId xmlns:a16="http://schemas.microsoft.com/office/drawing/2014/main" id="{C3DBBCC6-60A0-1767-6C1B-9DC7AED93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544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6684" name="AutoShape 13">
                <a:extLst>
                  <a:ext uri="{FF2B5EF4-FFF2-40B4-BE49-F238E27FC236}">
                    <a16:creationId xmlns:a16="http://schemas.microsoft.com/office/drawing/2014/main" id="{3E548AC7-D98C-A4C3-E06A-3FA01FA9B72F}"/>
                  </a:ext>
                </a:extLst>
              </p:cNvPr>
              <p:cNvCxnSpPr>
                <a:cxnSpLocks noChangeShapeType="1"/>
                <a:stCxn id="26682" idx="6"/>
                <a:endCxn id="26683" idx="2"/>
              </p:cNvCxnSpPr>
              <p:nvPr/>
            </p:nvCxnSpPr>
            <p:spPr bwMode="auto">
              <a:xfrm>
                <a:off x="1176" y="2200"/>
                <a:ext cx="2952" cy="384"/>
              </a:xfrm>
              <a:prstGeom prst="straightConnector1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6661" name="Group 14">
              <a:extLst>
                <a:ext uri="{FF2B5EF4-FFF2-40B4-BE49-F238E27FC236}">
                  <a16:creationId xmlns:a16="http://schemas.microsoft.com/office/drawing/2014/main" id="{C409ED45-FEB2-9C3B-FBFA-D4C50C0D6E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7" y="2067"/>
              <a:ext cx="1381" cy="430"/>
              <a:chOff x="1248" y="2400"/>
              <a:chExt cx="2376" cy="800"/>
            </a:xfrm>
          </p:grpSpPr>
          <p:sp>
            <p:nvSpPr>
              <p:cNvPr id="26679" name="Oval 15">
                <a:extLst>
                  <a:ext uri="{FF2B5EF4-FFF2-40B4-BE49-F238E27FC236}">
                    <a16:creationId xmlns:a16="http://schemas.microsoft.com/office/drawing/2014/main" id="{20C46D2D-2500-0EDD-91F0-03A57211F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120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80" name="Oval 16">
                <a:extLst>
                  <a:ext uri="{FF2B5EF4-FFF2-40B4-BE49-F238E27FC236}">
                    <a16:creationId xmlns:a16="http://schemas.microsoft.com/office/drawing/2014/main" id="{19AC98BC-B935-6CAF-58C2-1DC46D928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400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6681" name="AutoShape 17">
                <a:extLst>
                  <a:ext uri="{FF2B5EF4-FFF2-40B4-BE49-F238E27FC236}">
                    <a16:creationId xmlns:a16="http://schemas.microsoft.com/office/drawing/2014/main" id="{50865957-3919-7ADD-759F-3CA81048903F}"/>
                  </a:ext>
                </a:extLst>
              </p:cNvPr>
              <p:cNvCxnSpPr>
                <a:cxnSpLocks noChangeShapeType="1"/>
                <a:stCxn id="26679" idx="6"/>
                <a:endCxn id="26680" idx="2"/>
              </p:cNvCxnSpPr>
              <p:nvPr/>
            </p:nvCxnSpPr>
            <p:spPr bwMode="auto">
              <a:xfrm flipV="1">
                <a:off x="1320" y="2440"/>
                <a:ext cx="2232" cy="720"/>
              </a:xfrm>
              <a:prstGeom prst="straightConnector1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6662" name="Group 18">
              <a:extLst>
                <a:ext uri="{FF2B5EF4-FFF2-40B4-BE49-F238E27FC236}">
                  <a16:creationId xmlns:a16="http://schemas.microsoft.com/office/drawing/2014/main" id="{6CE0F62B-F160-EB32-B28E-E113023DA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" y="2093"/>
              <a:ext cx="1549" cy="249"/>
              <a:chOff x="1440" y="2448"/>
              <a:chExt cx="2664" cy="464"/>
            </a:xfrm>
          </p:grpSpPr>
          <p:sp>
            <p:nvSpPr>
              <p:cNvPr id="26676" name="Oval 19">
                <a:extLst>
                  <a:ext uri="{FF2B5EF4-FFF2-40B4-BE49-F238E27FC236}">
                    <a16:creationId xmlns:a16="http://schemas.microsoft.com/office/drawing/2014/main" id="{04851C2F-65A2-CC56-6639-E3EFE2776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448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77" name="Oval 20">
                <a:extLst>
                  <a:ext uri="{FF2B5EF4-FFF2-40B4-BE49-F238E27FC236}">
                    <a16:creationId xmlns:a16="http://schemas.microsoft.com/office/drawing/2014/main" id="{8D6E13AB-495F-CD44-2679-EA636B6BE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832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6678" name="AutoShape 21">
                <a:extLst>
                  <a:ext uri="{FF2B5EF4-FFF2-40B4-BE49-F238E27FC236}">
                    <a16:creationId xmlns:a16="http://schemas.microsoft.com/office/drawing/2014/main" id="{64679A50-6692-D2B5-86D5-71E0EB66F4E5}"/>
                  </a:ext>
                </a:extLst>
              </p:cNvPr>
              <p:cNvCxnSpPr>
                <a:cxnSpLocks noChangeShapeType="1"/>
                <a:stCxn id="26676" idx="6"/>
                <a:endCxn id="26677" idx="2"/>
              </p:cNvCxnSpPr>
              <p:nvPr/>
            </p:nvCxnSpPr>
            <p:spPr bwMode="auto">
              <a:xfrm>
                <a:off x="1512" y="2488"/>
                <a:ext cx="2520" cy="384"/>
              </a:xfrm>
              <a:prstGeom prst="straightConnector1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6663" name="Group 22">
              <a:extLst>
                <a:ext uri="{FF2B5EF4-FFF2-40B4-BE49-F238E27FC236}">
                  <a16:creationId xmlns:a16="http://schemas.microsoft.com/office/drawing/2014/main" id="{E593BBA1-A3C2-48CF-4A50-882AABCE2A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" y="2041"/>
              <a:ext cx="1661" cy="172"/>
              <a:chOff x="1152" y="2352"/>
              <a:chExt cx="2856" cy="320"/>
            </a:xfrm>
          </p:grpSpPr>
          <p:sp>
            <p:nvSpPr>
              <p:cNvPr id="26673" name="Oval 23">
                <a:extLst>
                  <a:ext uri="{FF2B5EF4-FFF2-40B4-BE49-F238E27FC236}">
                    <a16:creationId xmlns:a16="http://schemas.microsoft.com/office/drawing/2014/main" id="{7DED61EE-F186-1D9E-159A-9C6F918D8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74" name="Oval 24">
                <a:extLst>
                  <a:ext uri="{FF2B5EF4-FFF2-40B4-BE49-F238E27FC236}">
                    <a16:creationId xmlns:a16="http://schemas.microsoft.com/office/drawing/2014/main" id="{E6DE8D61-0744-B240-8F79-24E360C16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352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6675" name="AutoShape 25">
                <a:extLst>
                  <a:ext uri="{FF2B5EF4-FFF2-40B4-BE49-F238E27FC236}">
                    <a16:creationId xmlns:a16="http://schemas.microsoft.com/office/drawing/2014/main" id="{A1A7935A-B18E-68FE-6770-4A3FA2B6D239}"/>
                  </a:ext>
                </a:extLst>
              </p:cNvPr>
              <p:cNvCxnSpPr>
                <a:cxnSpLocks noChangeShapeType="1"/>
                <a:stCxn id="26673" idx="6"/>
                <a:endCxn id="26674" idx="2"/>
              </p:cNvCxnSpPr>
              <p:nvPr/>
            </p:nvCxnSpPr>
            <p:spPr bwMode="auto">
              <a:xfrm flipV="1">
                <a:off x="1224" y="2392"/>
                <a:ext cx="2712" cy="240"/>
              </a:xfrm>
              <a:prstGeom prst="straightConnector1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6664" name="Group 26">
              <a:extLst>
                <a:ext uri="{FF2B5EF4-FFF2-40B4-BE49-F238E27FC236}">
                  <a16:creationId xmlns:a16="http://schemas.microsoft.com/office/drawing/2014/main" id="{D7A6FF8D-1C97-1011-800E-E1628AC2D8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" y="2196"/>
              <a:ext cx="1577" cy="146"/>
              <a:chOff x="1152" y="2640"/>
              <a:chExt cx="2712" cy="272"/>
            </a:xfrm>
          </p:grpSpPr>
          <p:sp>
            <p:nvSpPr>
              <p:cNvPr id="26670" name="Oval 27">
                <a:extLst>
                  <a:ext uri="{FF2B5EF4-FFF2-40B4-BE49-F238E27FC236}">
                    <a16:creationId xmlns:a16="http://schemas.microsoft.com/office/drawing/2014/main" id="{045DF4ED-A92C-733B-BA3E-603C65120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832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6671" name="Oval 28">
                <a:extLst>
                  <a:ext uri="{FF2B5EF4-FFF2-40B4-BE49-F238E27FC236}">
                    <a16:creationId xmlns:a16="http://schemas.microsoft.com/office/drawing/2014/main" id="{6A225B54-2F89-A83A-D45A-3583938D3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2640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6672" name="AutoShape 29">
                <a:extLst>
                  <a:ext uri="{FF2B5EF4-FFF2-40B4-BE49-F238E27FC236}">
                    <a16:creationId xmlns:a16="http://schemas.microsoft.com/office/drawing/2014/main" id="{C63631FC-686F-F593-F7F7-2B07EC8E8A75}"/>
                  </a:ext>
                </a:extLst>
              </p:cNvPr>
              <p:cNvCxnSpPr>
                <a:cxnSpLocks noChangeShapeType="1"/>
                <a:stCxn id="26670" idx="6"/>
                <a:endCxn id="26671" idx="2"/>
              </p:cNvCxnSpPr>
              <p:nvPr/>
            </p:nvCxnSpPr>
            <p:spPr bwMode="auto">
              <a:xfrm flipV="1">
                <a:off x="1224" y="2680"/>
                <a:ext cx="2568" cy="192"/>
              </a:xfrm>
              <a:prstGeom prst="straightConnector1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6665" name="Group 30">
              <a:extLst>
                <a:ext uri="{FF2B5EF4-FFF2-40B4-BE49-F238E27FC236}">
                  <a16:creationId xmlns:a16="http://schemas.microsoft.com/office/drawing/2014/main" id="{7B93A7D8-EF97-5241-BFC6-C4485A4701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" y="1706"/>
              <a:ext cx="1542" cy="600"/>
              <a:chOff x="1392" y="1728"/>
              <a:chExt cx="2651" cy="1116"/>
            </a:xfrm>
          </p:grpSpPr>
          <p:sp>
            <p:nvSpPr>
              <p:cNvPr id="26668" name="Oval 31">
                <a:extLst>
                  <a:ext uri="{FF2B5EF4-FFF2-40B4-BE49-F238E27FC236}">
                    <a16:creationId xmlns:a16="http://schemas.microsoft.com/office/drawing/2014/main" id="{E366A69F-EAE5-3755-643A-B6AE3BE5C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28"/>
                <a:ext cx="72" cy="8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cxnSp>
            <p:nvCxnSpPr>
              <p:cNvPr id="26669" name="AutoShape 32">
                <a:extLst>
                  <a:ext uri="{FF2B5EF4-FFF2-40B4-BE49-F238E27FC236}">
                    <a16:creationId xmlns:a16="http://schemas.microsoft.com/office/drawing/2014/main" id="{12D27235-5A5F-A5C4-359B-D03B82E67120}"/>
                  </a:ext>
                </a:extLst>
              </p:cNvPr>
              <p:cNvCxnSpPr>
                <a:cxnSpLocks noChangeShapeType="1"/>
                <a:stCxn id="26668" idx="5"/>
                <a:endCxn id="26677" idx="1"/>
              </p:cNvCxnSpPr>
              <p:nvPr/>
            </p:nvCxnSpPr>
            <p:spPr bwMode="auto">
              <a:xfrm>
                <a:off x="1453" y="1796"/>
                <a:ext cx="2590" cy="1048"/>
              </a:xfrm>
              <a:prstGeom prst="straightConnector1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6666" name="Text Box 33">
              <a:extLst>
                <a:ext uri="{FF2B5EF4-FFF2-40B4-BE49-F238E27FC236}">
                  <a16:creationId xmlns:a16="http://schemas.microsoft.com/office/drawing/2014/main" id="{B06D2C7B-C6D9-E7BB-8864-B2E4F694B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763"/>
              <a:ext cx="1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由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m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计算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h(m)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容易</a:t>
              </a:r>
            </a:p>
          </p:txBody>
        </p:sp>
        <p:sp>
          <p:nvSpPr>
            <p:cNvPr id="26667" name="Text Box 34">
              <a:extLst>
                <a:ext uri="{FF2B5EF4-FFF2-40B4-BE49-F238E27FC236}">
                  <a16:creationId xmlns:a16="http://schemas.microsoft.com/office/drawing/2014/main" id="{3A62E97B-9BD5-2134-DD86-D35AFD7B7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387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Georgia" panose="02040502050405020303" pitchFamily="18" charset="0"/>
                </a:rPr>
                <a:t>H(M)</a:t>
              </a:r>
            </a:p>
          </p:txBody>
        </p:sp>
      </p:grpSp>
      <p:grpSp>
        <p:nvGrpSpPr>
          <p:cNvPr id="840739" name="Group 35">
            <a:extLst>
              <a:ext uri="{FF2B5EF4-FFF2-40B4-BE49-F238E27FC236}">
                <a16:creationId xmlns:a16="http://schemas.microsoft.com/office/drawing/2014/main" id="{015036ED-19E8-8787-B7DB-E865F6A7EE3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133600"/>
            <a:ext cx="4032250" cy="2838450"/>
            <a:chOff x="2880" y="1344"/>
            <a:chExt cx="2540" cy="1788"/>
          </a:xfrm>
        </p:grpSpPr>
        <p:sp>
          <p:nvSpPr>
            <p:cNvPr id="26632" name="Text Box 36">
              <a:extLst>
                <a:ext uri="{FF2B5EF4-FFF2-40B4-BE49-F238E27FC236}">
                  <a16:creationId xmlns:a16="http://schemas.microsoft.com/office/drawing/2014/main" id="{6582EA82-F671-786C-8219-A8846DDF9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344"/>
              <a:ext cx="7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Georgia" panose="02040502050405020303" pitchFamily="18" charset="0"/>
                </a:rPr>
                <a:t>output</a:t>
              </a:r>
            </a:p>
          </p:txBody>
        </p:sp>
        <p:sp>
          <p:nvSpPr>
            <p:cNvPr id="26633" name="Oval 37">
              <a:extLst>
                <a:ext uri="{FF2B5EF4-FFF2-40B4-BE49-F238E27FC236}">
                  <a16:creationId xmlns:a16="http://schemas.microsoft.com/office/drawing/2014/main" id="{30BBAF8C-2DE3-3B58-BEEE-35AF574AF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1525"/>
              <a:ext cx="726" cy="131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34" name="Oval 38">
              <a:extLst>
                <a:ext uri="{FF2B5EF4-FFF2-40B4-BE49-F238E27FC236}">
                  <a16:creationId xmlns:a16="http://schemas.microsoft.com/office/drawing/2014/main" id="{BE67FD18-510B-E600-E0E4-D57C26683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1783"/>
              <a:ext cx="614" cy="64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35" name="Text Box 39">
              <a:extLst>
                <a:ext uri="{FF2B5EF4-FFF2-40B4-BE49-F238E27FC236}">
                  <a16:creationId xmlns:a16="http://schemas.microsoft.com/office/drawing/2014/main" id="{F00746AF-391B-3B51-DBCC-CD3C33D40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1525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Georgia" panose="02040502050405020303" pitchFamily="18" charset="0"/>
                </a:rPr>
                <a:t>h</a:t>
              </a:r>
            </a:p>
          </p:txBody>
        </p:sp>
        <p:sp>
          <p:nvSpPr>
            <p:cNvPr id="26636" name="Oval 40">
              <a:extLst>
                <a:ext uri="{FF2B5EF4-FFF2-40B4-BE49-F238E27FC236}">
                  <a16:creationId xmlns:a16="http://schemas.microsoft.com/office/drawing/2014/main" id="{729A6A49-37D2-F18E-8A49-35602DB1D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" y="1834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37" name="Oval 41">
              <a:extLst>
                <a:ext uri="{FF2B5EF4-FFF2-40B4-BE49-F238E27FC236}">
                  <a16:creationId xmlns:a16="http://schemas.microsoft.com/office/drawing/2014/main" id="{F2F802BC-F5E3-3AFC-A96C-C317D3AF1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1" y="2040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6638" name="AutoShape 42">
              <a:extLst>
                <a:ext uri="{FF2B5EF4-FFF2-40B4-BE49-F238E27FC236}">
                  <a16:creationId xmlns:a16="http://schemas.microsoft.com/office/drawing/2014/main" id="{C5120866-211A-FEAE-1BF3-8DB48DBA1D02}"/>
                </a:ext>
              </a:extLst>
            </p:cNvPr>
            <p:cNvCxnSpPr>
              <a:cxnSpLocks noChangeShapeType="1"/>
              <a:stCxn id="26636" idx="6"/>
              <a:endCxn id="26637" idx="2"/>
            </p:cNvCxnSpPr>
            <p:nvPr/>
          </p:nvCxnSpPr>
          <p:spPr bwMode="auto">
            <a:xfrm>
              <a:off x="3385" y="1855"/>
              <a:ext cx="1716" cy="20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39" name="Oval 43">
              <a:extLst>
                <a:ext uri="{FF2B5EF4-FFF2-40B4-BE49-F238E27FC236}">
                  <a16:creationId xmlns:a16="http://schemas.microsoft.com/office/drawing/2014/main" id="{5F95A6BD-4F15-9235-E619-98619349C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" y="2350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40" name="Oval 44">
              <a:extLst>
                <a:ext uri="{FF2B5EF4-FFF2-40B4-BE49-F238E27FC236}">
                  <a16:creationId xmlns:a16="http://schemas.microsoft.com/office/drawing/2014/main" id="{9ED063DE-3F8B-16C6-F4E0-F9DE249E7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6" y="1963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6641" name="AutoShape 45">
              <a:extLst>
                <a:ext uri="{FF2B5EF4-FFF2-40B4-BE49-F238E27FC236}">
                  <a16:creationId xmlns:a16="http://schemas.microsoft.com/office/drawing/2014/main" id="{EF207D1F-EE22-08C4-0A9A-00ED1180EE50}"/>
                </a:ext>
              </a:extLst>
            </p:cNvPr>
            <p:cNvCxnSpPr>
              <a:cxnSpLocks noChangeShapeType="1"/>
              <a:stCxn id="26639" idx="6"/>
              <a:endCxn id="26640" idx="2"/>
            </p:cNvCxnSpPr>
            <p:nvPr/>
          </p:nvCxnSpPr>
          <p:spPr bwMode="auto">
            <a:xfrm flipV="1">
              <a:off x="3469" y="1985"/>
              <a:ext cx="1297" cy="3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42" name="Oval 46">
              <a:extLst>
                <a:ext uri="{FF2B5EF4-FFF2-40B4-BE49-F238E27FC236}">
                  <a16:creationId xmlns:a16="http://schemas.microsoft.com/office/drawing/2014/main" id="{4FA6D79B-8A61-121A-B69B-CAB7180BA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" y="1989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43" name="Oval 47">
              <a:extLst>
                <a:ext uri="{FF2B5EF4-FFF2-40B4-BE49-F238E27FC236}">
                  <a16:creationId xmlns:a16="http://schemas.microsoft.com/office/drawing/2014/main" id="{7FD7C97A-D3A4-9FE9-1824-B39A275D9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5" y="2195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6644" name="AutoShape 48">
              <a:extLst>
                <a:ext uri="{FF2B5EF4-FFF2-40B4-BE49-F238E27FC236}">
                  <a16:creationId xmlns:a16="http://schemas.microsoft.com/office/drawing/2014/main" id="{594B91EB-A587-6C90-9841-D2D66DCA3ED8}"/>
                </a:ext>
              </a:extLst>
            </p:cNvPr>
            <p:cNvCxnSpPr>
              <a:cxnSpLocks noChangeShapeType="1"/>
              <a:stCxn id="26642" idx="6"/>
              <a:endCxn id="26643" idx="2"/>
            </p:cNvCxnSpPr>
            <p:nvPr/>
          </p:nvCxnSpPr>
          <p:spPr bwMode="auto">
            <a:xfrm>
              <a:off x="3580" y="2010"/>
              <a:ext cx="1465" cy="20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45" name="Oval 49">
              <a:extLst>
                <a:ext uri="{FF2B5EF4-FFF2-40B4-BE49-F238E27FC236}">
                  <a16:creationId xmlns:a16="http://schemas.microsoft.com/office/drawing/2014/main" id="{7E816112-E54B-042E-61A8-901EF9B0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2066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46" name="Oval 50">
              <a:extLst>
                <a:ext uri="{FF2B5EF4-FFF2-40B4-BE49-F238E27FC236}">
                  <a16:creationId xmlns:a16="http://schemas.microsoft.com/office/drawing/2014/main" id="{31FD7C1F-3AC8-B0F6-0CB2-B1B121863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0" y="1937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6647" name="AutoShape 51">
              <a:extLst>
                <a:ext uri="{FF2B5EF4-FFF2-40B4-BE49-F238E27FC236}">
                  <a16:creationId xmlns:a16="http://schemas.microsoft.com/office/drawing/2014/main" id="{0F394942-CF14-8C1D-7529-7F09F1E5D964}"/>
                </a:ext>
              </a:extLst>
            </p:cNvPr>
            <p:cNvCxnSpPr>
              <a:cxnSpLocks noChangeShapeType="1"/>
              <a:stCxn id="26645" idx="6"/>
              <a:endCxn id="26646" idx="2"/>
            </p:cNvCxnSpPr>
            <p:nvPr/>
          </p:nvCxnSpPr>
          <p:spPr bwMode="auto">
            <a:xfrm flipV="1">
              <a:off x="3413" y="1959"/>
              <a:ext cx="1577" cy="129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48" name="Oval 52">
              <a:extLst>
                <a:ext uri="{FF2B5EF4-FFF2-40B4-BE49-F238E27FC236}">
                  <a16:creationId xmlns:a16="http://schemas.microsoft.com/office/drawing/2014/main" id="{2614E48C-0693-7AF1-1427-EDABC0B27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2195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649" name="Oval 53">
              <a:extLst>
                <a:ext uri="{FF2B5EF4-FFF2-40B4-BE49-F238E27FC236}">
                  <a16:creationId xmlns:a16="http://schemas.microsoft.com/office/drawing/2014/main" id="{5DDDE53A-9D25-A4E4-99BC-6971CD093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6" y="2092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6650" name="AutoShape 54">
              <a:extLst>
                <a:ext uri="{FF2B5EF4-FFF2-40B4-BE49-F238E27FC236}">
                  <a16:creationId xmlns:a16="http://schemas.microsoft.com/office/drawing/2014/main" id="{8A42D289-1AFA-9CBE-9E2E-C98564E2603C}"/>
                </a:ext>
              </a:extLst>
            </p:cNvPr>
            <p:cNvCxnSpPr>
              <a:cxnSpLocks noChangeShapeType="1"/>
              <a:stCxn id="26648" idx="6"/>
              <a:endCxn id="26649" idx="2"/>
            </p:cNvCxnSpPr>
            <p:nvPr/>
          </p:nvCxnSpPr>
          <p:spPr bwMode="auto">
            <a:xfrm flipV="1">
              <a:off x="3413" y="2114"/>
              <a:ext cx="1493" cy="103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51" name="Oval 55">
              <a:extLst>
                <a:ext uri="{FF2B5EF4-FFF2-40B4-BE49-F238E27FC236}">
                  <a16:creationId xmlns:a16="http://schemas.microsoft.com/office/drawing/2014/main" id="{5AE3AAB3-3B04-6F02-1E16-337363B64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1602"/>
              <a:ext cx="42" cy="4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6652" name="AutoShape 56">
              <a:extLst>
                <a:ext uri="{FF2B5EF4-FFF2-40B4-BE49-F238E27FC236}">
                  <a16:creationId xmlns:a16="http://schemas.microsoft.com/office/drawing/2014/main" id="{F271AC71-E9F7-2E34-8402-8DA32BE6C0B1}"/>
                </a:ext>
              </a:extLst>
            </p:cNvPr>
            <p:cNvCxnSpPr>
              <a:cxnSpLocks noChangeShapeType="1"/>
              <a:stCxn id="26651" idx="5"/>
              <a:endCxn id="26643" idx="1"/>
            </p:cNvCxnSpPr>
            <p:nvPr/>
          </p:nvCxnSpPr>
          <p:spPr bwMode="auto">
            <a:xfrm>
              <a:off x="3545" y="1639"/>
              <a:ext cx="1507" cy="563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53" name="Text Box 57">
              <a:extLst>
                <a:ext uri="{FF2B5EF4-FFF2-40B4-BE49-F238E27FC236}">
                  <a16:creationId xmlns:a16="http://schemas.microsoft.com/office/drawing/2014/main" id="{D02BEA34-56E4-E31F-5C18-4BED3E931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591"/>
              <a:ext cx="3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Georgia" panose="02040502050405020303" pitchFamily="18" charset="0"/>
                </a:rPr>
                <a:t>M</a:t>
              </a:r>
            </a:p>
          </p:txBody>
        </p:sp>
        <p:sp>
          <p:nvSpPr>
            <p:cNvPr id="26654" name="Text Box 58">
              <a:extLst>
                <a:ext uri="{FF2B5EF4-FFF2-40B4-BE49-F238E27FC236}">
                  <a16:creationId xmlns:a16="http://schemas.microsoft.com/office/drawing/2014/main" id="{48905AF8-F75B-C652-3F3A-F283FC65A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841"/>
              <a:ext cx="18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由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h(m)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计算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m</a:t>
              </a:r>
              <a:r>
                <a:rPr kumimoji="1" lang="zh-CN" altLang="en-US" sz="2400">
                  <a:latin typeface="Times New Roman" panose="02020603050405020304" pitchFamily="18" charset="0"/>
                </a:rPr>
                <a:t>不容易</a:t>
              </a:r>
            </a:p>
          </p:txBody>
        </p:sp>
        <p:sp>
          <p:nvSpPr>
            <p:cNvPr id="26655" name="Text Box 59">
              <a:extLst>
                <a:ext uri="{FF2B5EF4-FFF2-40B4-BE49-F238E27FC236}">
                  <a16:creationId xmlns:a16="http://schemas.microsoft.com/office/drawing/2014/main" id="{EF13CDCF-F7A8-DBA5-5763-1543EEDD8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478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Georgia" panose="02040502050405020303" pitchFamily="18" charset="0"/>
                </a:rPr>
                <a:t>H(M)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0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0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0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0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40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40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70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0B526B34-862A-68EA-9A83-5D2FF7679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479F62-AFE5-40FE-920A-5A85ECCE1B49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0DC75A6-7474-C36F-1F9A-9CE6D639F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杂凑函数的性质</a:t>
            </a:r>
            <a:endParaRPr lang="zh-CN" altLang="en-US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2A51516-098C-527A-7648-F3D97C4AF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382838"/>
            <a:ext cx="8559800" cy="3998912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CA" altLang="zh-CN"/>
              <a:t> </a:t>
            </a:r>
            <a:endParaRPr lang="zh-CN" altLang="zh-CN"/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8F36B790-5488-B4DE-11D0-1AE090940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2362200"/>
            <a:ext cx="1233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Georgia" panose="02040502050405020303" pitchFamily="18" charset="0"/>
              </a:rPr>
              <a:t>output</a:t>
            </a:r>
          </a:p>
        </p:txBody>
      </p:sp>
      <p:sp>
        <p:nvSpPr>
          <p:cNvPr id="27654" name="Oval 5">
            <a:extLst>
              <a:ext uri="{FF2B5EF4-FFF2-40B4-BE49-F238E27FC236}">
                <a16:creationId xmlns:a16="http://schemas.microsoft.com/office/drawing/2014/main" id="{BA597357-9D6F-AE43-2071-DFE8D92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133600"/>
            <a:ext cx="1981200" cy="388778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7655" name="Oval 6">
            <a:extLst>
              <a:ext uri="{FF2B5EF4-FFF2-40B4-BE49-F238E27FC236}">
                <a16:creationId xmlns:a16="http://schemas.microsoft.com/office/drawing/2014/main" id="{F75D538F-81EA-86DD-39D0-60CD548D4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2895600"/>
            <a:ext cx="1676400" cy="1905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7656" name="Text Box 7">
            <a:extLst>
              <a:ext uri="{FF2B5EF4-FFF2-40B4-BE49-F238E27FC236}">
                <a16:creationId xmlns:a16="http://schemas.microsoft.com/office/drawing/2014/main" id="{BACB44EB-CAA4-25CE-E9A5-0F242F718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75" y="2438400"/>
            <a:ext cx="384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h</a:t>
            </a:r>
          </a:p>
        </p:txBody>
      </p:sp>
      <p:grpSp>
        <p:nvGrpSpPr>
          <p:cNvPr id="842760" name="Group 8">
            <a:extLst>
              <a:ext uri="{FF2B5EF4-FFF2-40B4-BE49-F238E27FC236}">
                <a16:creationId xmlns:a16="http://schemas.microsoft.com/office/drawing/2014/main" id="{B25B016A-0F71-E7B4-EB94-09E64CE8A861}"/>
              </a:ext>
            </a:extLst>
          </p:cNvPr>
          <p:cNvGrpSpPr>
            <a:grpSpLocks/>
          </p:cNvGrpSpPr>
          <p:nvPr/>
        </p:nvGrpSpPr>
        <p:grpSpPr bwMode="auto">
          <a:xfrm>
            <a:off x="1716088" y="3048000"/>
            <a:ext cx="4914900" cy="736600"/>
            <a:chOff x="1104" y="2160"/>
            <a:chExt cx="3096" cy="464"/>
          </a:xfrm>
        </p:grpSpPr>
        <p:sp>
          <p:nvSpPr>
            <p:cNvPr id="27683" name="Oval 9">
              <a:extLst>
                <a:ext uri="{FF2B5EF4-FFF2-40B4-BE49-F238E27FC236}">
                  <a16:creationId xmlns:a16="http://schemas.microsoft.com/office/drawing/2014/main" id="{F757C15E-99FE-A545-CDFC-187FDE70C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16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84" name="Oval 10">
              <a:extLst>
                <a:ext uri="{FF2B5EF4-FFF2-40B4-BE49-F238E27FC236}">
                  <a16:creationId xmlns:a16="http://schemas.microsoft.com/office/drawing/2014/main" id="{6E4F868F-E324-0767-7C19-6FD20B97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544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7685" name="AutoShape 11">
              <a:extLst>
                <a:ext uri="{FF2B5EF4-FFF2-40B4-BE49-F238E27FC236}">
                  <a16:creationId xmlns:a16="http://schemas.microsoft.com/office/drawing/2014/main" id="{6591DA92-0EFE-BA1B-1D85-6027D3C33DD3}"/>
                </a:ext>
              </a:extLst>
            </p:cNvPr>
            <p:cNvCxnSpPr>
              <a:cxnSpLocks noChangeShapeType="1"/>
              <a:stCxn id="27683" idx="6"/>
              <a:endCxn id="27684" idx="2"/>
            </p:cNvCxnSpPr>
            <p:nvPr/>
          </p:nvCxnSpPr>
          <p:spPr bwMode="auto">
            <a:xfrm>
              <a:off x="1176" y="2200"/>
              <a:ext cx="2952" cy="384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2764" name="Group 12">
            <a:extLst>
              <a:ext uri="{FF2B5EF4-FFF2-40B4-BE49-F238E27FC236}">
                <a16:creationId xmlns:a16="http://schemas.microsoft.com/office/drawing/2014/main" id="{03D8FAA2-BB0C-E9CB-B3C8-43D8560F98C9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3429000"/>
            <a:ext cx="3771900" cy="1270000"/>
            <a:chOff x="1248" y="2400"/>
            <a:chExt cx="2376" cy="800"/>
          </a:xfrm>
        </p:grpSpPr>
        <p:sp>
          <p:nvSpPr>
            <p:cNvPr id="27680" name="Oval 13">
              <a:extLst>
                <a:ext uri="{FF2B5EF4-FFF2-40B4-BE49-F238E27FC236}">
                  <a16:creationId xmlns:a16="http://schemas.microsoft.com/office/drawing/2014/main" id="{C05877C2-CBC7-D8A7-B21C-01804928A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2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81" name="Oval 14">
              <a:extLst>
                <a:ext uri="{FF2B5EF4-FFF2-40B4-BE49-F238E27FC236}">
                  <a16:creationId xmlns:a16="http://schemas.microsoft.com/office/drawing/2014/main" id="{18DAC7CB-DF18-374C-2AEA-4AED8D661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0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7682" name="AutoShape 15">
              <a:extLst>
                <a:ext uri="{FF2B5EF4-FFF2-40B4-BE49-F238E27FC236}">
                  <a16:creationId xmlns:a16="http://schemas.microsoft.com/office/drawing/2014/main" id="{1E28CF8C-EE4A-BCE3-5C47-4440A4A26515}"/>
                </a:ext>
              </a:extLst>
            </p:cNvPr>
            <p:cNvCxnSpPr>
              <a:cxnSpLocks noChangeShapeType="1"/>
              <a:stCxn id="27680" idx="6"/>
              <a:endCxn id="27681" idx="2"/>
            </p:cNvCxnSpPr>
            <p:nvPr/>
          </p:nvCxnSpPr>
          <p:spPr bwMode="auto">
            <a:xfrm flipV="1">
              <a:off x="1320" y="2440"/>
              <a:ext cx="2232" cy="72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2768" name="Group 16">
            <a:extLst>
              <a:ext uri="{FF2B5EF4-FFF2-40B4-BE49-F238E27FC236}">
                <a16:creationId xmlns:a16="http://schemas.microsoft.com/office/drawing/2014/main" id="{8A25C55E-23DA-1A83-FC6A-17ADD8028047}"/>
              </a:ext>
            </a:extLst>
          </p:cNvPr>
          <p:cNvGrpSpPr>
            <a:grpSpLocks/>
          </p:cNvGrpSpPr>
          <p:nvPr/>
        </p:nvGrpSpPr>
        <p:grpSpPr bwMode="auto">
          <a:xfrm>
            <a:off x="1792288" y="3352800"/>
            <a:ext cx="4533900" cy="508000"/>
            <a:chOff x="1152" y="2352"/>
            <a:chExt cx="2856" cy="320"/>
          </a:xfrm>
        </p:grpSpPr>
        <p:sp>
          <p:nvSpPr>
            <p:cNvPr id="27677" name="Oval 17">
              <a:extLst>
                <a:ext uri="{FF2B5EF4-FFF2-40B4-BE49-F238E27FC236}">
                  <a16:creationId xmlns:a16="http://schemas.microsoft.com/office/drawing/2014/main" id="{DBD9857E-06B8-BA47-BB4F-D6C73F41E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9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78" name="Oval 18">
              <a:extLst>
                <a:ext uri="{FF2B5EF4-FFF2-40B4-BE49-F238E27FC236}">
                  <a16:creationId xmlns:a16="http://schemas.microsoft.com/office/drawing/2014/main" id="{070FAE12-C3B5-D843-D96D-C0C4EE8C6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7679" name="AutoShape 19">
              <a:extLst>
                <a:ext uri="{FF2B5EF4-FFF2-40B4-BE49-F238E27FC236}">
                  <a16:creationId xmlns:a16="http://schemas.microsoft.com/office/drawing/2014/main" id="{ABCD7B8B-B120-D916-5B3B-F0DBDA1278D4}"/>
                </a:ext>
              </a:extLst>
            </p:cNvPr>
            <p:cNvCxnSpPr>
              <a:cxnSpLocks noChangeShapeType="1"/>
              <a:stCxn id="27677" idx="6"/>
              <a:endCxn id="27678" idx="2"/>
            </p:cNvCxnSpPr>
            <p:nvPr/>
          </p:nvCxnSpPr>
          <p:spPr bwMode="auto">
            <a:xfrm flipV="1">
              <a:off x="1224" y="2392"/>
              <a:ext cx="2712" cy="24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2772" name="Group 20">
            <a:extLst>
              <a:ext uri="{FF2B5EF4-FFF2-40B4-BE49-F238E27FC236}">
                <a16:creationId xmlns:a16="http://schemas.microsoft.com/office/drawing/2014/main" id="{56895755-CCEA-491A-ACA7-D1BE62F4F726}"/>
              </a:ext>
            </a:extLst>
          </p:cNvPr>
          <p:cNvGrpSpPr>
            <a:grpSpLocks/>
          </p:cNvGrpSpPr>
          <p:nvPr/>
        </p:nvGrpSpPr>
        <p:grpSpPr bwMode="auto">
          <a:xfrm>
            <a:off x="1792288" y="3810000"/>
            <a:ext cx="4305300" cy="431800"/>
            <a:chOff x="1152" y="2640"/>
            <a:chExt cx="2712" cy="272"/>
          </a:xfrm>
        </p:grpSpPr>
        <p:sp>
          <p:nvSpPr>
            <p:cNvPr id="27674" name="Oval 21">
              <a:extLst>
                <a:ext uri="{FF2B5EF4-FFF2-40B4-BE49-F238E27FC236}">
                  <a16:creationId xmlns:a16="http://schemas.microsoft.com/office/drawing/2014/main" id="{E92B4527-EDB9-5D45-9A8E-4F115517C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7675" name="Oval 22">
              <a:extLst>
                <a:ext uri="{FF2B5EF4-FFF2-40B4-BE49-F238E27FC236}">
                  <a16:creationId xmlns:a16="http://schemas.microsoft.com/office/drawing/2014/main" id="{E8C17C47-3FFB-5EC1-8798-10C95A7AF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64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7676" name="AutoShape 23">
              <a:extLst>
                <a:ext uri="{FF2B5EF4-FFF2-40B4-BE49-F238E27FC236}">
                  <a16:creationId xmlns:a16="http://schemas.microsoft.com/office/drawing/2014/main" id="{E7DA06EB-292F-91C8-32A2-AE76AA077965}"/>
                </a:ext>
              </a:extLst>
            </p:cNvPr>
            <p:cNvCxnSpPr>
              <a:cxnSpLocks noChangeShapeType="1"/>
              <a:stCxn id="27674" idx="6"/>
              <a:endCxn id="27675" idx="2"/>
            </p:cNvCxnSpPr>
            <p:nvPr/>
          </p:nvCxnSpPr>
          <p:spPr bwMode="auto">
            <a:xfrm flipV="1">
              <a:off x="1224" y="2680"/>
              <a:ext cx="2568" cy="192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661" name="Text Box 24">
            <a:extLst>
              <a:ext uri="{FF2B5EF4-FFF2-40B4-BE49-F238E27FC236}">
                <a16:creationId xmlns:a16="http://schemas.microsoft.com/office/drawing/2014/main" id="{B62DEBF3-A311-8F98-35CC-95BB0C093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4941888"/>
            <a:ext cx="474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7662" name="Rectangle 25">
            <a:extLst>
              <a:ext uri="{FF2B5EF4-FFF2-40B4-BE49-F238E27FC236}">
                <a16:creationId xmlns:a16="http://schemas.microsoft.com/office/drawing/2014/main" id="{5100638C-5B5C-4A4E-C0B9-261E8453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6030913"/>
            <a:ext cx="22240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抗弱碰撞性</a:t>
            </a:r>
          </a:p>
        </p:txBody>
      </p:sp>
      <p:sp>
        <p:nvSpPr>
          <p:cNvPr id="27663" name="Text Box 26">
            <a:extLst>
              <a:ext uri="{FF2B5EF4-FFF2-40B4-BE49-F238E27FC236}">
                <a16:creationId xmlns:a16="http://schemas.microsoft.com/office/drawing/2014/main" id="{7A44D22F-8F10-C740-209B-7F56EBA52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2327275"/>
            <a:ext cx="51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M</a:t>
            </a:r>
          </a:p>
        </p:txBody>
      </p:sp>
      <p:sp>
        <p:nvSpPr>
          <p:cNvPr id="842779" name="Oval 27">
            <a:extLst>
              <a:ext uri="{FF2B5EF4-FFF2-40B4-BE49-F238E27FC236}">
                <a16:creationId xmlns:a16="http://schemas.microsoft.com/office/drawing/2014/main" id="{73A49F87-817E-1CEF-0E7E-ADBF238D4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4076700"/>
            <a:ext cx="215900" cy="215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42780" name="Text Box 28">
            <a:extLst>
              <a:ext uri="{FF2B5EF4-FFF2-40B4-BE49-F238E27FC236}">
                <a16:creationId xmlns:a16="http://schemas.microsoft.com/office/drawing/2014/main" id="{EEFA6C90-4AC4-8126-0077-E73D77E74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3933825"/>
            <a:ext cx="13684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000" b="1">
                <a:latin typeface="Times New Roman" panose="02020603050405020304" pitchFamily="18" charset="0"/>
              </a:rPr>
              <a:t>给定</a:t>
            </a:r>
            <a:r>
              <a:rPr kumimoji="1" lang="en-US" altLang="zh-CN" sz="2000" b="1">
                <a:latin typeface="Times New Roman" panose="02020603050405020304" pitchFamily="18" charset="0"/>
              </a:rPr>
              <a:t>H(M)</a:t>
            </a:r>
          </a:p>
        </p:txBody>
      </p:sp>
      <p:sp>
        <p:nvSpPr>
          <p:cNvPr id="842781" name="Line 29">
            <a:extLst>
              <a:ext uri="{FF2B5EF4-FFF2-40B4-BE49-F238E27FC236}">
                <a16:creationId xmlns:a16="http://schemas.microsoft.com/office/drawing/2014/main" id="{3D74899C-0C9E-BB92-9BDC-C1D026114D4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84438" y="2420938"/>
            <a:ext cx="3960812" cy="16557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2782" name="Line 30">
            <a:extLst>
              <a:ext uri="{FF2B5EF4-FFF2-40B4-BE49-F238E27FC236}">
                <a16:creationId xmlns:a16="http://schemas.microsoft.com/office/drawing/2014/main" id="{A335CFE2-BC4F-330F-2620-E25A5FA3D9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39975" y="3429000"/>
            <a:ext cx="3960813" cy="57626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2783" name="Line 31">
            <a:extLst>
              <a:ext uri="{FF2B5EF4-FFF2-40B4-BE49-F238E27FC236}">
                <a16:creationId xmlns:a16="http://schemas.microsoft.com/office/drawing/2014/main" id="{56B2A940-BB35-D3E2-45D7-1A7AC9CB3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852738"/>
            <a:ext cx="144463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2784" name="Line 32">
            <a:extLst>
              <a:ext uri="{FF2B5EF4-FFF2-40B4-BE49-F238E27FC236}">
                <a16:creationId xmlns:a16="http://schemas.microsoft.com/office/drawing/2014/main" id="{9283AC73-9F6E-BBB9-A843-D066BDDB2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3500438"/>
            <a:ext cx="144462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2785" name="Text Box 33">
            <a:extLst>
              <a:ext uri="{FF2B5EF4-FFF2-40B4-BE49-F238E27FC236}">
                <a16:creationId xmlns:a16="http://schemas.microsoft.com/office/drawing/2014/main" id="{9796FD57-8D22-D740-6B66-0A9FD88D5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916113"/>
            <a:ext cx="496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m</a:t>
            </a:r>
          </a:p>
        </p:txBody>
      </p:sp>
      <p:sp>
        <p:nvSpPr>
          <p:cNvPr id="842786" name="Text Box 34">
            <a:extLst>
              <a:ext uri="{FF2B5EF4-FFF2-40B4-BE49-F238E27FC236}">
                <a16:creationId xmlns:a16="http://schemas.microsoft.com/office/drawing/2014/main" id="{3102C9FF-8F00-95FA-19BE-9504F1A90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2997200"/>
            <a:ext cx="566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m‘</a:t>
            </a:r>
          </a:p>
        </p:txBody>
      </p:sp>
      <p:sp>
        <p:nvSpPr>
          <p:cNvPr id="842787" name="Oval 35">
            <a:extLst>
              <a:ext uri="{FF2B5EF4-FFF2-40B4-BE49-F238E27FC236}">
                <a16:creationId xmlns:a16="http://schemas.microsoft.com/office/drawing/2014/main" id="{75A11226-04F9-02D1-EB52-ADD4F69D1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284538"/>
            <a:ext cx="215900" cy="215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42788" name="Oval 36">
            <a:extLst>
              <a:ext uri="{FF2B5EF4-FFF2-40B4-BE49-F238E27FC236}">
                <a16:creationId xmlns:a16="http://schemas.microsoft.com/office/drawing/2014/main" id="{A4CBC51D-107D-6405-2A78-4EC9B5FE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276475"/>
            <a:ext cx="215900" cy="215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4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4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42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42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4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4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42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42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4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4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2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4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4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4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4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4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4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4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4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779" grpId="0" animBg="1"/>
      <p:bldP spid="842785" grpId="0"/>
      <p:bldP spid="842786" grpId="0"/>
      <p:bldP spid="842787" grpId="0" animBg="1"/>
      <p:bldP spid="84278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E69B1790-7B66-212F-84A2-F74B8F53F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D7FE2F-BEEE-4310-8B79-EF3008039ED7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97CA717-FCC9-69FF-5663-4E6A90D0B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杂凑函数的性质</a:t>
            </a:r>
            <a:endParaRPr lang="zh-CN" altLang="en-US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9070032-CEE1-D21D-7F78-7514B849E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CA" altLang="zh-CN"/>
              <a:t> </a:t>
            </a:r>
            <a:endParaRPr lang="zh-CN" altLang="zh-CN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C1A27022-4F96-600B-7D7B-FB76CDD07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2362200"/>
            <a:ext cx="1233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Georgia" panose="02040502050405020303" pitchFamily="18" charset="0"/>
              </a:rPr>
              <a:t>output</a:t>
            </a:r>
          </a:p>
        </p:txBody>
      </p:sp>
      <p:sp>
        <p:nvSpPr>
          <p:cNvPr id="28678" name="Oval 5">
            <a:extLst>
              <a:ext uri="{FF2B5EF4-FFF2-40B4-BE49-F238E27FC236}">
                <a16:creationId xmlns:a16="http://schemas.microsoft.com/office/drawing/2014/main" id="{DC5AD9AE-27B9-6541-A56C-AE31FC430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133600"/>
            <a:ext cx="1981200" cy="388778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8679" name="Oval 6">
            <a:extLst>
              <a:ext uri="{FF2B5EF4-FFF2-40B4-BE49-F238E27FC236}">
                <a16:creationId xmlns:a16="http://schemas.microsoft.com/office/drawing/2014/main" id="{5C0B1CC8-BE32-E8B8-8170-2B13FA41C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2895600"/>
            <a:ext cx="1676400" cy="1905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43783" name="Text Box 7">
            <a:extLst>
              <a:ext uri="{FF2B5EF4-FFF2-40B4-BE49-F238E27FC236}">
                <a16:creationId xmlns:a16="http://schemas.microsoft.com/office/drawing/2014/main" id="{B30FEF13-C12D-AF9C-27F0-F7322E0BF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933825"/>
            <a:ext cx="2222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H(m)=H(m’)</a:t>
            </a:r>
          </a:p>
        </p:txBody>
      </p:sp>
      <p:grpSp>
        <p:nvGrpSpPr>
          <p:cNvPr id="28681" name="Group 8">
            <a:extLst>
              <a:ext uri="{FF2B5EF4-FFF2-40B4-BE49-F238E27FC236}">
                <a16:creationId xmlns:a16="http://schemas.microsoft.com/office/drawing/2014/main" id="{8940F006-12D9-588C-0DC3-B16A89EFB4AA}"/>
              </a:ext>
            </a:extLst>
          </p:cNvPr>
          <p:cNvGrpSpPr>
            <a:grpSpLocks/>
          </p:cNvGrpSpPr>
          <p:nvPr/>
        </p:nvGrpSpPr>
        <p:grpSpPr bwMode="auto">
          <a:xfrm>
            <a:off x="1716088" y="3048000"/>
            <a:ext cx="4914900" cy="736600"/>
            <a:chOff x="1104" y="2160"/>
            <a:chExt cx="3096" cy="464"/>
          </a:xfrm>
        </p:grpSpPr>
        <p:sp>
          <p:nvSpPr>
            <p:cNvPr id="28706" name="Oval 9">
              <a:extLst>
                <a:ext uri="{FF2B5EF4-FFF2-40B4-BE49-F238E27FC236}">
                  <a16:creationId xmlns:a16="http://schemas.microsoft.com/office/drawing/2014/main" id="{5B629877-A495-DD59-158D-F4A3B683B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16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7" name="Oval 10">
              <a:extLst>
                <a:ext uri="{FF2B5EF4-FFF2-40B4-BE49-F238E27FC236}">
                  <a16:creationId xmlns:a16="http://schemas.microsoft.com/office/drawing/2014/main" id="{4994CE39-7C97-EE6A-324E-8C7A0B70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544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8708" name="AutoShape 11">
              <a:extLst>
                <a:ext uri="{FF2B5EF4-FFF2-40B4-BE49-F238E27FC236}">
                  <a16:creationId xmlns:a16="http://schemas.microsoft.com/office/drawing/2014/main" id="{1C21AE9E-F185-F473-07D8-07FCD9AB7D72}"/>
                </a:ext>
              </a:extLst>
            </p:cNvPr>
            <p:cNvCxnSpPr>
              <a:cxnSpLocks noChangeShapeType="1"/>
              <a:stCxn id="28706" idx="6"/>
              <a:endCxn id="28707" idx="2"/>
            </p:cNvCxnSpPr>
            <p:nvPr/>
          </p:nvCxnSpPr>
          <p:spPr bwMode="auto">
            <a:xfrm>
              <a:off x="1176" y="2200"/>
              <a:ext cx="2952" cy="384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82" name="Group 12">
            <a:extLst>
              <a:ext uri="{FF2B5EF4-FFF2-40B4-BE49-F238E27FC236}">
                <a16:creationId xmlns:a16="http://schemas.microsoft.com/office/drawing/2014/main" id="{66E92492-9F11-6414-28D1-4E1DABBF132E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3429000"/>
            <a:ext cx="3771900" cy="1270000"/>
            <a:chOff x="1248" y="2400"/>
            <a:chExt cx="2376" cy="800"/>
          </a:xfrm>
        </p:grpSpPr>
        <p:sp>
          <p:nvSpPr>
            <p:cNvPr id="28703" name="Oval 13">
              <a:extLst>
                <a:ext uri="{FF2B5EF4-FFF2-40B4-BE49-F238E27FC236}">
                  <a16:creationId xmlns:a16="http://schemas.microsoft.com/office/drawing/2014/main" id="{923B868B-CAEB-43F6-F2F6-96BFEC461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2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4" name="Oval 14">
              <a:extLst>
                <a:ext uri="{FF2B5EF4-FFF2-40B4-BE49-F238E27FC236}">
                  <a16:creationId xmlns:a16="http://schemas.microsoft.com/office/drawing/2014/main" id="{1965DC73-04B7-6DEE-0EF4-F8BACD209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0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8705" name="AutoShape 15">
              <a:extLst>
                <a:ext uri="{FF2B5EF4-FFF2-40B4-BE49-F238E27FC236}">
                  <a16:creationId xmlns:a16="http://schemas.microsoft.com/office/drawing/2014/main" id="{5A5B7D93-5A35-7A31-3172-95B3152BFA44}"/>
                </a:ext>
              </a:extLst>
            </p:cNvPr>
            <p:cNvCxnSpPr>
              <a:cxnSpLocks noChangeShapeType="1"/>
              <a:stCxn id="28703" idx="6"/>
              <a:endCxn id="28704" idx="2"/>
            </p:cNvCxnSpPr>
            <p:nvPr/>
          </p:nvCxnSpPr>
          <p:spPr bwMode="auto">
            <a:xfrm flipV="1">
              <a:off x="1320" y="2440"/>
              <a:ext cx="2232" cy="72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83" name="Group 16">
            <a:extLst>
              <a:ext uri="{FF2B5EF4-FFF2-40B4-BE49-F238E27FC236}">
                <a16:creationId xmlns:a16="http://schemas.microsoft.com/office/drawing/2014/main" id="{D37DE4E8-F63E-4C9D-3496-74072D2BB5EB}"/>
              </a:ext>
            </a:extLst>
          </p:cNvPr>
          <p:cNvGrpSpPr>
            <a:grpSpLocks/>
          </p:cNvGrpSpPr>
          <p:nvPr/>
        </p:nvGrpSpPr>
        <p:grpSpPr bwMode="auto">
          <a:xfrm>
            <a:off x="1792288" y="3352800"/>
            <a:ext cx="4533900" cy="508000"/>
            <a:chOff x="1152" y="2352"/>
            <a:chExt cx="2856" cy="320"/>
          </a:xfrm>
        </p:grpSpPr>
        <p:sp>
          <p:nvSpPr>
            <p:cNvPr id="28700" name="Oval 17">
              <a:extLst>
                <a:ext uri="{FF2B5EF4-FFF2-40B4-BE49-F238E27FC236}">
                  <a16:creationId xmlns:a16="http://schemas.microsoft.com/office/drawing/2014/main" id="{EF84AEB3-AFE6-8421-4469-589154EBD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9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701" name="Oval 18">
              <a:extLst>
                <a:ext uri="{FF2B5EF4-FFF2-40B4-BE49-F238E27FC236}">
                  <a16:creationId xmlns:a16="http://schemas.microsoft.com/office/drawing/2014/main" id="{DED60DCF-E1B8-9895-1EAD-6B23980B5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5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8702" name="AutoShape 19">
              <a:extLst>
                <a:ext uri="{FF2B5EF4-FFF2-40B4-BE49-F238E27FC236}">
                  <a16:creationId xmlns:a16="http://schemas.microsoft.com/office/drawing/2014/main" id="{956D4B74-1A50-F8C8-181F-FD375077EBAB}"/>
                </a:ext>
              </a:extLst>
            </p:cNvPr>
            <p:cNvCxnSpPr>
              <a:cxnSpLocks noChangeShapeType="1"/>
              <a:stCxn id="28700" idx="6"/>
              <a:endCxn id="28701" idx="2"/>
            </p:cNvCxnSpPr>
            <p:nvPr/>
          </p:nvCxnSpPr>
          <p:spPr bwMode="auto">
            <a:xfrm flipV="1">
              <a:off x="1224" y="2392"/>
              <a:ext cx="2712" cy="24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84" name="Group 20">
            <a:extLst>
              <a:ext uri="{FF2B5EF4-FFF2-40B4-BE49-F238E27FC236}">
                <a16:creationId xmlns:a16="http://schemas.microsoft.com/office/drawing/2014/main" id="{245887CB-0F4A-D4EC-DD0E-FD99135B737D}"/>
              </a:ext>
            </a:extLst>
          </p:cNvPr>
          <p:cNvGrpSpPr>
            <a:grpSpLocks/>
          </p:cNvGrpSpPr>
          <p:nvPr/>
        </p:nvGrpSpPr>
        <p:grpSpPr bwMode="auto">
          <a:xfrm>
            <a:off x="1792288" y="3810000"/>
            <a:ext cx="4305300" cy="431800"/>
            <a:chOff x="1152" y="2640"/>
            <a:chExt cx="2712" cy="272"/>
          </a:xfrm>
        </p:grpSpPr>
        <p:sp>
          <p:nvSpPr>
            <p:cNvPr id="28697" name="Oval 21">
              <a:extLst>
                <a:ext uri="{FF2B5EF4-FFF2-40B4-BE49-F238E27FC236}">
                  <a16:creationId xmlns:a16="http://schemas.microsoft.com/office/drawing/2014/main" id="{59A7FC6E-DCDF-608A-9B45-D565EC1AF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32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98" name="Oval 22">
              <a:extLst>
                <a:ext uri="{FF2B5EF4-FFF2-40B4-BE49-F238E27FC236}">
                  <a16:creationId xmlns:a16="http://schemas.microsoft.com/office/drawing/2014/main" id="{6030CFE2-93C5-CA60-49A1-E66E4BFE9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640"/>
              <a:ext cx="72" cy="8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28699" name="AutoShape 23">
              <a:extLst>
                <a:ext uri="{FF2B5EF4-FFF2-40B4-BE49-F238E27FC236}">
                  <a16:creationId xmlns:a16="http://schemas.microsoft.com/office/drawing/2014/main" id="{754D4F7B-B692-5042-400B-D79C7C9C2ED5}"/>
                </a:ext>
              </a:extLst>
            </p:cNvPr>
            <p:cNvCxnSpPr>
              <a:cxnSpLocks noChangeShapeType="1"/>
              <a:stCxn id="28697" idx="6"/>
              <a:endCxn id="28698" idx="2"/>
            </p:cNvCxnSpPr>
            <p:nvPr/>
          </p:nvCxnSpPr>
          <p:spPr bwMode="auto">
            <a:xfrm flipV="1">
              <a:off x="1224" y="2680"/>
              <a:ext cx="2568" cy="192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8685" name="Text Box 24">
            <a:extLst>
              <a:ext uri="{FF2B5EF4-FFF2-40B4-BE49-F238E27FC236}">
                <a16:creationId xmlns:a16="http://schemas.microsoft.com/office/drawing/2014/main" id="{DEF2B987-97DD-29B5-CECF-473EC1664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4941888"/>
            <a:ext cx="474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8686" name="Rectangle 25">
            <a:extLst>
              <a:ext uri="{FF2B5EF4-FFF2-40B4-BE49-F238E27FC236}">
                <a16:creationId xmlns:a16="http://schemas.microsoft.com/office/drawing/2014/main" id="{1743CFBE-429E-CA9C-AFED-D9FC0B66F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5402263"/>
            <a:ext cx="22240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抗强碰撞性</a:t>
            </a:r>
          </a:p>
        </p:txBody>
      </p:sp>
      <p:sp>
        <p:nvSpPr>
          <p:cNvPr id="28687" name="Text Box 26">
            <a:extLst>
              <a:ext uri="{FF2B5EF4-FFF2-40B4-BE49-F238E27FC236}">
                <a16:creationId xmlns:a16="http://schemas.microsoft.com/office/drawing/2014/main" id="{BCAEBAEE-347D-0DB3-C3E8-B7DE3B948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2327275"/>
            <a:ext cx="51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M</a:t>
            </a:r>
          </a:p>
        </p:txBody>
      </p:sp>
      <p:sp>
        <p:nvSpPr>
          <p:cNvPr id="843803" name="Oval 27">
            <a:extLst>
              <a:ext uri="{FF2B5EF4-FFF2-40B4-BE49-F238E27FC236}">
                <a16:creationId xmlns:a16="http://schemas.microsoft.com/office/drawing/2014/main" id="{7B1ED808-C198-E41A-BA54-449C75A69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349500"/>
            <a:ext cx="215900" cy="215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43804" name="Text Box 28">
            <a:extLst>
              <a:ext uri="{FF2B5EF4-FFF2-40B4-BE49-F238E27FC236}">
                <a16:creationId xmlns:a16="http://schemas.microsoft.com/office/drawing/2014/main" id="{9168CD06-8C02-65C6-B96D-DB44D431E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276475"/>
            <a:ext cx="496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m</a:t>
            </a:r>
          </a:p>
        </p:txBody>
      </p:sp>
      <p:sp>
        <p:nvSpPr>
          <p:cNvPr id="843805" name="Text Box 29">
            <a:extLst>
              <a:ext uri="{FF2B5EF4-FFF2-40B4-BE49-F238E27FC236}">
                <a16:creationId xmlns:a16="http://schemas.microsoft.com/office/drawing/2014/main" id="{28B76714-4DAF-75C5-EF5C-0A9B3C341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2997200"/>
            <a:ext cx="566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latin typeface="Georgia" panose="02040502050405020303" pitchFamily="18" charset="0"/>
              </a:rPr>
              <a:t>m‘</a:t>
            </a:r>
          </a:p>
        </p:txBody>
      </p:sp>
      <p:sp>
        <p:nvSpPr>
          <p:cNvPr id="843806" name="Oval 30">
            <a:extLst>
              <a:ext uri="{FF2B5EF4-FFF2-40B4-BE49-F238E27FC236}">
                <a16:creationId xmlns:a16="http://schemas.microsoft.com/office/drawing/2014/main" id="{34F4C891-7FF1-0AC0-BC8D-E8832F248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429000"/>
            <a:ext cx="215900" cy="215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43807" name="Oval 31">
            <a:extLst>
              <a:ext uri="{FF2B5EF4-FFF2-40B4-BE49-F238E27FC236}">
                <a16:creationId xmlns:a16="http://schemas.microsoft.com/office/drawing/2014/main" id="{188A7F6C-7741-5ED5-06D2-86A14A4E3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4076700"/>
            <a:ext cx="215900" cy="215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43808" name="Line 32">
            <a:extLst>
              <a:ext uri="{FF2B5EF4-FFF2-40B4-BE49-F238E27FC236}">
                <a16:creationId xmlns:a16="http://schemas.microsoft.com/office/drawing/2014/main" id="{12964F27-1B32-CA08-43E4-31576B82B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413" y="2492375"/>
            <a:ext cx="4032250" cy="15843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3809" name="Line 33">
            <a:extLst>
              <a:ext uri="{FF2B5EF4-FFF2-40B4-BE49-F238E27FC236}">
                <a16:creationId xmlns:a16="http://schemas.microsoft.com/office/drawing/2014/main" id="{36A45B7D-B9A6-ACA1-BE05-589F7E23E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3573463"/>
            <a:ext cx="3960813" cy="5762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3810" name="Line 34">
            <a:extLst>
              <a:ext uri="{FF2B5EF4-FFF2-40B4-BE49-F238E27FC236}">
                <a16:creationId xmlns:a16="http://schemas.microsoft.com/office/drawing/2014/main" id="{6812FFB0-54FC-24CA-D66B-2EC712671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852738"/>
            <a:ext cx="144463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3811" name="Line 35">
            <a:extLst>
              <a:ext uri="{FF2B5EF4-FFF2-40B4-BE49-F238E27FC236}">
                <a16:creationId xmlns:a16="http://schemas.microsoft.com/office/drawing/2014/main" id="{FC9E8125-5C5A-E498-4607-B4598E469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3573463"/>
            <a:ext cx="144462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3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3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3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3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43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43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43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43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4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4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43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43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43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43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3783" grpId="0"/>
      <p:bldP spid="843803" grpId="0" animBg="1"/>
      <p:bldP spid="843804" grpId="0"/>
      <p:bldP spid="843805" grpId="0"/>
      <p:bldP spid="843806" grpId="0" animBg="1"/>
      <p:bldP spid="84380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4">
            <a:extLst>
              <a:ext uri="{FF2B5EF4-FFF2-40B4-BE49-F238E27FC236}">
                <a16:creationId xmlns:a16="http://schemas.microsoft.com/office/drawing/2014/main" id="{D1C87222-677E-DF3D-D206-86990AB485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F1A7A1-188F-4608-88A2-4D67B84C4CA7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FB3BB5E-54FE-07AA-3296-AE567723D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杂凑函数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88818595-582E-AC45-0FEA-FDE744C18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60575"/>
            <a:ext cx="8569325" cy="424815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zh-CN" altLang="en-US" sz="2800">
                <a:latin typeface="Times New Roman" panose="02020603050405020304" pitchFamily="18" charset="0"/>
              </a:rPr>
              <a:t>设函数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具有</a:t>
            </a:r>
            <a:r>
              <a:rPr lang="zh-CN" altLang="en-US" sz="2800" u="sng">
                <a:latin typeface="Times New Roman" panose="02020603050405020304" pitchFamily="18" charset="0"/>
              </a:rPr>
              <a:t>可加性</a:t>
            </a:r>
            <a:r>
              <a:rPr lang="zh-CN" altLang="en-US" sz="2800">
                <a:latin typeface="Times New Roman" panose="02020603050405020304" pitchFamily="18" charset="0"/>
              </a:rPr>
              <a:t>：对任意的 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)+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)=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+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lang="en-CA" altLang="zh-CN" sz="28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这样的函数不能作为杂凑函数。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zh-CN" altLang="en-US" sz="2400">
                <a:latin typeface="Times New Roman" panose="02020603050405020304" pitchFamily="18" charset="0"/>
              </a:rPr>
              <a:t>取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并计算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；取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并计算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  <a:endParaRPr lang="en-CA" altLang="zh-CN" sz="240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zh-CN" altLang="en-US" sz="2400">
                <a:latin typeface="Times New Roman" panose="02020603050405020304" pitchFamily="18" charset="0"/>
              </a:rPr>
              <a:t>记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+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。求一个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使得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，可以取</a:t>
            </a:r>
            <a:r>
              <a:rPr lang="en-US" altLang="zh-CN" sz="2400" i="1">
                <a:latin typeface="Times New Roman" panose="02020603050405020304" pitchFamily="18" charset="0"/>
              </a:rPr>
              <a:t>x=x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+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zh-CN" altLang="en-US" sz="2800">
                <a:latin typeface="Times New Roman" panose="02020603050405020304" pitchFamily="18" charset="0"/>
              </a:rPr>
              <a:t>设函数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具有</a:t>
            </a:r>
            <a:r>
              <a:rPr lang="zh-CN" altLang="en-US" sz="2800" u="sng">
                <a:latin typeface="Times New Roman" panose="02020603050405020304" pitchFamily="18" charset="0"/>
              </a:rPr>
              <a:t>线性</a:t>
            </a:r>
            <a:r>
              <a:rPr lang="zh-CN" altLang="en-US" sz="2800">
                <a:latin typeface="Times New Roman" panose="02020603050405020304" pitchFamily="18" charset="0"/>
              </a:rPr>
              <a:t>：对任意的 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aH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ax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lang="en-CA" altLang="zh-CN" sz="28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这样的函数不能作为杂凑函数。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zh-CN" altLang="en-US" sz="2400">
                <a:latin typeface="Times New Roman" panose="02020603050405020304" pitchFamily="18" charset="0"/>
              </a:rPr>
              <a:t>取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并计算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zh-CN" altLang="en-US" sz="2400">
                <a:latin typeface="Times New Roman" panose="02020603050405020304" pitchFamily="18" charset="0"/>
              </a:rPr>
              <a:t>记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ay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。求一个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</a:rPr>
              <a:t>使得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，可以取</a:t>
            </a:r>
            <a:r>
              <a:rPr lang="en-US" altLang="zh-CN" sz="2400" i="1">
                <a:latin typeface="Times New Roman" panose="02020603050405020304" pitchFamily="18" charset="0"/>
              </a:rPr>
              <a:t>x=ax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5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6E9ECEBC-103B-2752-3210-AD53ECBB2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7BC43A-3523-422E-B283-9DEA8F25B7FD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0907312-6953-1CA0-1F73-12512E5CB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852488"/>
          </a:xfrm>
        </p:spPr>
        <p:txBody>
          <a:bodyPr/>
          <a:lstStyle/>
          <a:p>
            <a:pPr eaLnBrk="1" hangingPunct="1"/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Hash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函数的定义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2CD4827-5D34-24D3-1E60-7DFEE93066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05800" cy="4724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Hash</a:t>
            </a:r>
            <a:r>
              <a:rPr lang="zh-CN" altLang="en-US" sz="2800" b="1"/>
              <a:t>函数的分类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不带密钥的哈希函数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主要用于消息完整性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带密钥的哈希函数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主要用于消息源认证和消息完整性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6">
            <a:extLst>
              <a:ext uri="{FF2B5EF4-FFF2-40B4-BE49-F238E27FC236}">
                <a16:creationId xmlns:a16="http://schemas.microsoft.com/office/drawing/2014/main" id="{A44B02FA-6580-D578-E9B7-6918F819EF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1334FD-C44F-4260-8515-ACF7781C7340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400"/>
          </a:p>
        </p:txBody>
      </p:sp>
      <p:sp>
        <p:nvSpPr>
          <p:cNvPr id="32771" name="Rectangle 8">
            <a:extLst>
              <a:ext uri="{FF2B5EF4-FFF2-40B4-BE49-F238E27FC236}">
                <a16:creationId xmlns:a16="http://schemas.microsoft.com/office/drawing/2014/main" id="{32DC836A-1225-A427-4E21-A50FC524D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815975"/>
          </a:xfrm>
        </p:spPr>
        <p:txBody>
          <a:bodyPr/>
          <a:lstStyle/>
          <a:p>
            <a:pPr eaLnBrk="1" hangingPunct="1"/>
            <a:r>
              <a:rPr lang="en-CA" altLang="zh-CN">
                <a:ea typeface="华文楷体" panose="02010600040101010101" pitchFamily="2" charset="-122"/>
              </a:rPr>
              <a:t>Hash</a:t>
            </a:r>
            <a:r>
              <a:rPr lang="zh-CN" altLang="en-US">
                <a:ea typeface="华文楷体" panose="02010600040101010101" pitchFamily="2" charset="-122"/>
              </a:rPr>
              <a:t>函数的发展</a:t>
            </a:r>
          </a:p>
        </p:txBody>
      </p:sp>
      <p:graphicFrame>
        <p:nvGraphicFramePr>
          <p:cNvPr id="687108" name="Object 4">
            <a:extLst>
              <a:ext uri="{FF2B5EF4-FFF2-40B4-BE49-F238E27FC236}">
                <a16:creationId xmlns:a16="http://schemas.microsoft.com/office/drawing/2014/main" id="{3C64CF19-A4F4-5003-921D-16D699231FB0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09600" y="3352800"/>
          <a:ext cx="4076700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503774" imgH="2332939" progId="Visio.Drawing.11">
                  <p:embed/>
                </p:oleObj>
              </mc:Choice>
              <mc:Fallback>
                <p:oleObj name="Visio" r:id="rId3" imgW="5503774" imgH="2332939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352800"/>
                        <a:ext cx="4076700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7">
            <a:extLst>
              <a:ext uri="{FF2B5EF4-FFF2-40B4-BE49-F238E27FC236}">
                <a16:creationId xmlns:a16="http://schemas.microsoft.com/office/drawing/2014/main" id="{F2AEC565-5427-F014-C722-4942883BC94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648200" y="2133600"/>
          <a:ext cx="4076700" cy="369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852721" imgH="4396740" progId="Visio.Drawing.11">
                  <p:embed/>
                </p:oleObj>
              </mc:Choice>
              <mc:Fallback>
                <p:oleObj name="Visio" r:id="rId5" imgW="4852721" imgH="439674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133600"/>
                        <a:ext cx="4076700" cy="369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10">
            <a:extLst>
              <a:ext uri="{FF2B5EF4-FFF2-40B4-BE49-F238E27FC236}">
                <a16:creationId xmlns:a16="http://schemas.microsoft.com/office/drawing/2014/main" id="{C0F9A8A7-C1A3-DB1F-4D32-906116122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71600"/>
            <a:ext cx="77930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000">
                <a:latin typeface="宋体" panose="02010600030101010101" pitchFamily="2" charset="-122"/>
              </a:rPr>
              <a:t>1978</a:t>
            </a:r>
            <a:r>
              <a:rPr lang="zh-CN" altLang="en-US" sz="3000">
                <a:latin typeface="宋体" panose="02010600030101010101" pitchFamily="2" charset="-122"/>
              </a:rPr>
              <a:t>年，</a:t>
            </a:r>
            <a:r>
              <a:rPr lang="en-US" altLang="zh-CN" sz="3000">
                <a:latin typeface="宋体" panose="02010600030101010101" pitchFamily="2" charset="-122"/>
              </a:rPr>
              <a:t>Merkle</a:t>
            </a:r>
            <a:r>
              <a:rPr lang="zh-CN" altLang="en-US" sz="3000">
                <a:latin typeface="宋体" panose="02010600030101010101" pitchFamily="2" charset="-122"/>
              </a:rPr>
              <a:t>和</a:t>
            </a:r>
            <a:r>
              <a:rPr lang="en-US" altLang="zh-CN" sz="3000">
                <a:latin typeface="宋体" panose="02010600030101010101" pitchFamily="2" charset="-122"/>
              </a:rPr>
              <a:t>Damgard</a:t>
            </a:r>
            <a:r>
              <a:rPr lang="zh-CN" altLang="en-US" sz="3000">
                <a:latin typeface="宋体" panose="02010600030101010101" pitchFamily="2" charset="-122"/>
              </a:rPr>
              <a:t>设计</a:t>
            </a:r>
            <a:r>
              <a:rPr lang="en-US" altLang="zh-CN" sz="3000">
                <a:latin typeface="宋体" panose="02010600030101010101" pitchFamily="2" charset="-122"/>
              </a:rPr>
              <a:t>MD</a:t>
            </a:r>
            <a:r>
              <a:rPr lang="zh-CN" altLang="en-US" sz="3000">
                <a:latin typeface="宋体" panose="02010600030101010101" pitchFamily="2" charset="-122"/>
              </a:rPr>
              <a:t>迭代结构</a:t>
            </a:r>
            <a:br>
              <a:rPr lang="zh-CN" altLang="en-US" sz="3000">
                <a:latin typeface="宋体" panose="02010600030101010101" pitchFamily="2" charset="-122"/>
              </a:rPr>
            </a:br>
            <a:r>
              <a:rPr lang="en-CA" altLang="zh-CN" sz="3000">
                <a:latin typeface="宋体" panose="02010600030101010101" pitchFamily="2" charset="-122"/>
              </a:rPr>
              <a:t>1993</a:t>
            </a:r>
            <a:r>
              <a:rPr lang="zh-CN" altLang="en-US" sz="3000">
                <a:latin typeface="宋体" panose="02010600030101010101" pitchFamily="2" charset="-122"/>
              </a:rPr>
              <a:t>年，来学嘉和</a:t>
            </a:r>
            <a:r>
              <a:rPr lang="en-US" altLang="zh-CN" sz="3000">
                <a:latin typeface="宋体" panose="02010600030101010101" pitchFamily="2" charset="-122"/>
              </a:rPr>
              <a:t>Messay</a:t>
            </a:r>
            <a:r>
              <a:rPr lang="zh-CN" altLang="en-US" sz="3000">
                <a:latin typeface="宋体" panose="02010600030101010101" pitchFamily="2" charset="-122"/>
              </a:rPr>
              <a:t>改进加强</a:t>
            </a:r>
            <a:r>
              <a:rPr lang="en-US" altLang="zh-CN" sz="3000">
                <a:latin typeface="宋体" panose="02010600030101010101" pitchFamily="2" charset="-122"/>
              </a:rPr>
              <a:t>MD</a:t>
            </a:r>
            <a:r>
              <a:rPr lang="zh-CN" altLang="en-US" sz="3000">
                <a:latin typeface="宋体" panose="02010600030101010101" pitchFamily="2" charset="-122"/>
              </a:rPr>
              <a:t>结构。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6222DC77-69A0-C734-F2DC-86D8A64B0D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146246-EEF8-45CD-91E1-99023628E9DA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507F684-FD03-9FFD-1517-6919C05C7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93038" cy="852488"/>
          </a:xfrm>
        </p:spPr>
        <p:txBody>
          <a:bodyPr/>
          <a:lstStyle/>
          <a:p>
            <a:pPr eaLnBrk="1" hangingPunct="1"/>
            <a:r>
              <a:rPr lang="en-CA" altLang="zh-CN">
                <a:ea typeface="华文楷体" panose="02010600040101010101" pitchFamily="2" charset="-122"/>
              </a:rPr>
              <a:t>Hash</a:t>
            </a:r>
            <a:r>
              <a:rPr lang="zh-CN" altLang="en-US">
                <a:ea typeface="华文楷体" panose="02010600040101010101" pitchFamily="2" charset="-122"/>
              </a:rPr>
              <a:t>函数的发展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F0A2C92-A78F-34B3-0CE2-45333D3FF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81088"/>
            <a:ext cx="8305800" cy="53197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散列算法</a:t>
            </a:r>
            <a:r>
              <a:rPr lang="en-US" altLang="zh-CN" sz="2000"/>
              <a:t>MD</a:t>
            </a:r>
            <a:r>
              <a:rPr lang="zh-CN" altLang="en-US" sz="2000"/>
              <a:t>族是在</a:t>
            </a:r>
            <a:r>
              <a:rPr lang="en-US" altLang="zh-CN" sz="2000"/>
              <a:t>90</a:t>
            </a:r>
            <a:r>
              <a:rPr lang="zh-CN" altLang="en-US" sz="2000"/>
              <a:t>年代初由</a:t>
            </a:r>
            <a:r>
              <a:rPr lang="en-US" altLang="zh-CN" sz="2000"/>
              <a:t>mit laboratory for computer science</a:t>
            </a:r>
            <a:r>
              <a:rPr lang="zh-CN" altLang="en-US" sz="2000"/>
              <a:t>和</a:t>
            </a:r>
            <a:r>
              <a:rPr lang="en-US" altLang="zh-CN" sz="2000"/>
              <a:t>RSA data security inc</a:t>
            </a:r>
            <a:r>
              <a:rPr lang="zh-CN" altLang="en-US" sz="2000"/>
              <a:t>的</a:t>
            </a:r>
            <a:r>
              <a:rPr lang="en-US" altLang="zh-CN" sz="2000"/>
              <a:t>Ron</a:t>
            </a:r>
            <a:r>
              <a:rPr lang="zh-CN" altLang="en-US" sz="2000"/>
              <a:t>・</a:t>
            </a:r>
            <a:r>
              <a:rPr lang="en-US" altLang="zh-CN" sz="2000"/>
              <a:t>Rivest</a:t>
            </a:r>
            <a:r>
              <a:rPr lang="zh-CN" altLang="en-US" sz="2000"/>
              <a:t>设计的，</a:t>
            </a:r>
            <a:r>
              <a:rPr lang="en-US" altLang="zh-CN" sz="2000"/>
              <a:t>MD</a:t>
            </a:r>
            <a:r>
              <a:rPr lang="zh-CN" altLang="en-US" sz="2000"/>
              <a:t>代表消息摘要（</a:t>
            </a:r>
            <a:r>
              <a:rPr lang="en-US" altLang="zh-CN" sz="2000"/>
              <a:t>message-digest </a:t>
            </a:r>
            <a:r>
              <a:rPr lang="zh-CN" altLang="en-US" sz="2000"/>
              <a:t>）</a:t>
            </a:r>
            <a:r>
              <a:rPr lang="en-US" altLang="zh-CN" sz="2000"/>
              <a:t>. md2</a:t>
            </a:r>
            <a:r>
              <a:rPr lang="zh-CN" altLang="en-US" sz="2000"/>
              <a:t>、</a:t>
            </a:r>
            <a:r>
              <a:rPr lang="en-US" altLang="zh-CN" sz="2000"/>
              <a:t>md4</a:t>
            </a:r>
            <a:r>
              <a:rPr lang="zh-CN" altLang="en-US" sz="2000"/>
              <a:t>和</a:t>
            </a:r>
            <a:r>
              <a:rPr lang="en-US" altLang="zh-CN" sz="2000"/>
              <a:t>md5</a:t>
            </a:r>
            <a:r>
              <a:rPr lang="zh-CN" altLang="en-US" sz="2000"/>
              <a:t>都产生一个</a:t>
            </a:r>
            <a:r>
              <a:rPr lang="en-US" altLang="zh-CN" sz="2000"/>
              <a:t>128</a:t>
            </a:r>
            <a:r>
              <a:rPr lang="zh-CN" altLang="en-US" sz="2000"/>
              <a:t>位的信息摘要</a:t>
            </a:r>
            <a:r>
              <a:rPr lang="en-US" altLang="zh-CN" sz="200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/>
              <a:t>MD2</a:t>
            </a:r>
            <a:br>
              <a:rPr lang="en-US" altLang="zh-CN" sz="2000"/>
            </a:br>
            <a:r>
              <a:rPr lang="en-US" altLang="zh-CN" sz="2000"/>
              <a:t>1989</a:t>
            </a:r>
            <a:r>
              <a:rPr lang="zh-CN" altLang="en-US" sz="2000"/>
              <a:t>年开发出</a:t>
            </a:r>
            <a:r>
              <a:rPr lang="en-US" altLang="zh-CN" sz="2000"/>
              <a:t>md2</a:t>
            </a:r>
            <a:r>
              <a:rPr lang="zh-CN" altLang="en-US" sz="2000"/>
              <a:t>算法</a:t>
            </a:r>
            <a:r>
              <a:rPr lang="en-US" altLang="zh-CN" sz="2000"/>
              <a:t>. </a:t>
            </a:r>
            <a:r>
              <a:rPr lang="zh-CN" altLang="en-US" sz="2000"/>
              <a:t>在这个算法中，首先对信息进行数据补位，使信息的字节长度是</a:t>
            </a:r>
            <a:r>
              <a:rPr lang="en-US" altLang="zh-CN" sz="2000"/>
              <a:t>16</a:t>
            </a:r>
            <a:r>
              <a:rPr lang="zh-CN" altLang="en-US" sz="2000"/>
              <a:t>的倍数</a:t>
            </a:r>
            <a:r>
              <a:rPr lang="en-US" altLang="zh-CN" sz="2000"/>
              <a:t>. </a:t>
            </a:r>
            <a:r>
              <a:rPr lang="zh-CN" altLang="en-US" sz="2000"/>
              <a:t>然后，以一个</a:t>
            </a:r>
            <a:r>
              <a:rPr lang="en-US" altLang="zh-CN" sz="2000"/>
              <a:t>16</a:t>
            </a:r>
            <a:r>
              <a:rPr lang="zh-CN" altLang="en-US" sz="2000"/>
              <a:t>位的检验和追加到信息末尾。并且根据这个新产生的信息计算出散列值。后来，</a:t>
            </a:r>
            <a:r>
              <a:rPr lang="en-US" altLang="zh-CN" sz="2000"/>
              <a:t>rogier</a:t>
            </a:r>
            <a:r>
              <a:rPr lang="zh-CN" altLang="en-US" sz="2000"/>
              <a:t>和</a:t>
            </a:r>
            <a:r>
              <a:rPr lang="en-US" altLang="zh-CN" sz="2000"/>
              <a:t>chauvaud</a:t>
            </a:r>
            <a:r>
              <a:rPr lang="zh-CN" altLang="en-US" sz="2000"/>
              <a:t>发现如果忽略了检验和将产生</a:t>
            </a:r>
            <a:r>
              <a:rPr lang="en-US" altLang="zh-CN" sz="2000"/>
              <a:t>md2</a:t>
            </a:r>
            <a:r>
              <a:rPr lang="zh-CN" altLang="en-US" sz="2000"/>
              <a:t>碰撞</a:t>
            </a:r>
            <a:r>
              <a:rPr lang="en-US" altLang="zh-CN" sz="200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/>
              <a:t>MD4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  </a:t>
            </a:r>
            <a:r>
              <a:rPr lang="en-US" altLang="zh-CN" sz="2000"/>
              <a:t>1990</a:t>
            </a:r>
            <a:r>
              <a:rPr lang="zh-CN" altLang="en-US" sz="2000"/>
              <a:t>年开发出</a:t>
            </a:r>
            <a:r>
              <a:rPr lang="en-US" altLang="zh-CN" sz="2000"/>
              <a:t>md4</a:t>
            </a:r>
            <a:r>
              <a:rPr lang="zh-CN" altLang="en-US" sz="2000"/>
              <a:t>算法</a:t>
            </a:r>
            <a:r>
              <a:rPr lang="en-US" altLang="zh-CN" sz="2000"/>
              <a:t>. Den boer</a:t>
            </a:r>
            <a:r>
              <a:rPr lang="zh-CN" altLang="en-US" sz="2000"/>
              <a:t>和</a:t>
            </a:r>
            <a:r>
              <a:rPr lang="en-US" altLang="zh-CN" sz="2000"/>
              <a:t>bosselaers</a:t>
            </a:r>
            <a:r>
              <a:rPr lang="zh-CN" altLang="en-US" sz="2000"/>
              <a:t>以及其他人很快的发现了攻击</a:t>
            </a:r>
            <a:r>
              <a:rPr lang="en-US" altLang="zh-CN" sz="2000"/>
              <a:t>md4</a:t>
            </a:r>
            <a:r>
              <a:rPr lang="zh-CN" altLang="en-US" sz="2000"/>
              <a:t>版本中第一步和第三步的漏洞</a:t>
            </a:r>
            <a:r>
              <a:rPr lang="en-US" altLang="zh-CN" sz="2000"/>
              <a:t>. Hans Dobbertin</a:t>
            </a:r>
            <a:r>
              <a:rPr lang="zh-CN" altLang="en-US" sz="2000"/>
              <a:t>向大家演示了如何利用一部普通的个人电脑在几分钟内找到</a:t>
            </a:r>
            <a:r>
              <a:rPr lang="en-US" altLang="zh-CN" sz="2000"/>
              <a:t>md4</a:t>
            </a:r>
            <a:r>
              <a:rPr lang="zh-CN" altLang="en-US" sz="2000"/>
              <a:t>完整版本中的碰撞</a:t>
            </a:r>
            <a:r>
              <a:rPr lang="en-US" altLang="zh-CN" sz="200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b="1"/>
              <a:t>MD5</a:t>
            </a:r>
            <a:br>
              <a:rPr lang="en-US" altLang="zh-CN" sz="2000"/>
            </a:br>
            <a:r>
              <a:rPr lang="en-US" altLang="zh-CN" sz="2000"/>
              <a:t>1991</a:t>
            </a:r>
            <a:r>
              <a:rPr lang="zh-CN" altLang="en-US" sz="2000"/>
              <a:t>年，</a:t>
            </a:r>
            <a:r>
              <a:rPr lang="en-US" altLang="zh-CN" sz="2000"/>
              <a:t>Rivest</a:t>
            </a:r>
            <a:r>
              <a:rPr lang="zh-CN" altLang="en-US" sz="2000"/>
              <a:t>开发出技术上更为趋近成熟的</a:t>
            </a:r>
            <a:r>
              <a:rPr lang="en-US" altLang="zh-CN" sz="2000"/>
              <a:t>md5</a:t>
            </a:r>
            <a:r>
              <a:rPr lang="zh-CN" altLang="en-US" sz="2000"/>
              <a:t>算法</a:t>
            </a:r>
            <a:r>
              <a:rPr lang="en-US" altLang="zh-CN" sz="2000"/>
              <a:t>. MD4</a:t>
            </a:r>
            <a:r>
              <a:rPr lang="zh-CN" altLang="en-US" sz="2000"/>
              <a:t>、</a:t>
            </a:r>
            <a:r>
              <a:rPr lang="en-US" altLang="zh-CN" sz="2000"/>
              <a:t>MD5</a:t>
            </a:r>
            <a:r>
              <a:rPr lang="zh-CN" altLang="en-US" sz="2000"/>
              <a:t>已经在</a:t>
            </a:r>
            <a:r>
              <a:rPr lang="en-US" altLang="zh-CN" sz="2000"/>
              <a:t>2004</a:t>
            </a:r>
            <a:r>
              <a:rPr lang="zh-CN" altLang="en-US" sz="2000"/>
              <a:t>年</a:t>
            </a:r>
            <a:r>
              <a:rPr lang="en-US" altLang="zh-CN" sz="2000"/>
              <a:t>8</a:t>
            </a:r>
            <a:r>
              <a:rPr lang="zh-CN" altLang="en-US" sz="2000"/>
              <a:t>月</a:t>
            </a:r>
            <a:r>
              <a:rPr lang="en-US" altLang="zh-CN" sz="2000"/>
              <a:t>Crypto2004</a:t>
            </a:r>
            <a:r>
              <a:rPr lang="zh-CN" altLang="en-US" sz="2000"/>
              <a:t>上，被我国密码学者王小云等破译，即在有效的时间内找到了它们的大量碰撞。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 b="1"/>
              <a:t>RIPEMD-128/160/320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 </a:t>
            </a:r>
            <a:r>
              <a:rPr lang="en-US" altLang="zh-CN" sz="2000"/>
              <a:t>RIPEMD</a:t>
            </a:r>
            <a:r>
              <a:rPr lang="zh-CN" altLang="en-US" sz="2000"/>
              <a:t>由欧洲财团开发和设计</a:t>
            </a:r>
            <a:r>
              <a:rPr lang="en-US" altLang="zh-CN" sz="2000"/>
              <a:t>.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0A3ABFF0-4C68-EDB8-F6F9-42D907732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BF6305-00CE-4C4C-B86C-68BAE1C24896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4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6E4390F-07AC-EABF-E3DF-8D9A84C23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852488"/>
          </a:xfrm>
        </p:spPr>
        <p:txBody>
          <a:bodyPr/>
          <a:lstStyle/>
          <a:p>
            <a:pPr eaLnBrk="1" hangingPunct="1"/>
            <a:r>
              <a:rPr lang="en-CA" altLang="zh-CN">
                <a:ea typeface="华文楷体" panose="02010600040101010101" pitchFamily="2" charset="-122"/>
              </a:rPr>
              <a:t>Hash</a:t>
            </a:r>
            <a:r>
              <a:rPr lang="zh-CN" altLang="en-US">
                <a:ea typeface="华文楷体" panose="02010600040101010101" pitchFamily="2" charset="-122"/>
              </a:rPr>
              <a:t>函数的发展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1CE25A0-B0DF-5239-8143-09F6901595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05800" cy="54054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SHA</a:t>
            </a:r>
            <a:r>
              <a:rPr lang="zh-CN" altLang="en-US" sz="2400" dirty="0"/>
              <a:t>系列算法是</a:t>
            </a:r>
            <a:r>
              <a:rPr lang="en-US" altLang="zh-CN" sz="2400" dirty="0"/>
              <a:t>NIST </a:t>
            </a:r>
            <a:r>
              <a:rPr lang="zh-CN" altLang="en-US" sz="2400" dirty="0"/>
              <a:t>根据</a:t>
            </a:r>
            <a:r>
              <a:rPr lang="en-US" altLang="zh-CN" sz="2400" dirty="0"/>
              <a:t>Rivest </a:t>
            </a:r>
            <a:r>
              <a:rPr lang="zh-CN" altLang="en-US" sz="2400" dirty="0"/>
              <a:t>设计的</a:t>
            </a:r>
            <a:r>
              <a:rPr lang="en-US" altLang="zh-CN" sz="2400" dirty="0"/>
              <a:t>MD4</a:t>
            </a:r>
            <a:r>
              <a:rPr lang="zh-CN" altLang="en-US" sz="2400" dirty="0"/>
              <a:t>和</a:t>
            </a:r>
            <a:r>
              <a:rPr lang="en-US" altLang="zh-CN" sz="2400" dirty="0"/>
              <a:t>MD5</a:t>
            </a:r>
            <a:r>
              <a:rPr lang="zh-CN" altLang="en-US" sz="2400" dirty="0"/>
              <a:t>开发的算法</a:t>
            </a:r>
            <a:r>
              <a:rPr lang="en-US" altLang="zh-CN" sz="2400" dirty="0"/>
              <a:t>. </a:t>
            </a:r>
            <a:r>
              <a:rPr lang="zh-CN" altLang="en-US" sz="2400" dirty="0"/>
              <a:t>国家安全当局发布</a:t>
            </a:r>
            <a:r>
              <a:rPr lang="en-US" altLang="zh-CN" sz="2400" dirty="0"/>
              <a:t>SHA</a:t>
            </a:r>
            <a:r>
              <a:rPr lang="zh-CN" altLang="en-US" sz="2400" dirty="0"/>
              <a:t>作为美国政府标准</a:t>
            </a:r>
            <a:r>
              <a:rPr lang="en-US" altLang="zh-CN" sz="2400" dirty="0"/>
              <a:t>. SHA</a:t>
            </a:r>
            <a:r>
              <a:rPr lang="zh-CN" altLang="en-US" sz="2400" dirty="0"/>
              <a:t>表示安全散列算法</a:t>
            </a:r>
            <a:r>
              <a:rPr lang="en-US" altLang="zh-CN" sz="2400" dirty="0"/>
              <a:t>. 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b="1" dirty="0"/>
              <a:t>SHA-0</a:t>
            </a:r>
            <a:r>
              <a:rPr lang="en-US" altLang="zh-CN" sz="2400" dirty="0"/>
              <a:t> </a:t>
            </a:r>
            <a:br>
              <a:rPr lang="en-US" altLang="zh-CN" sz="2400" dirty="0"/>
            </a:br>
            <a:r>
              <a:rPr lang="en-US" altLang="zh-CN" sz="2400" dirty="0" err="1"/>
              <a:t>SHA-0</a:t>
            </a:r>
            <a:r>
              <a:rPr lang="zh-CN" altLang="en-US" sz="2400" dirty="0"/>
              <a:t>正式地称作</a:t>
            </a:r>
            <a:r>
              <a:rPr lang="en-US" altLang="zh-CN" sz="2400" dirty="0"/>
              <a:t>SHA</a:t>
            </a:r>
            <a:r>
              <a:rPr lang="zh-CN" altLang="en-US" sz="2400" dirty="0"/>
              <a:t>，这个版本在发行后不久被指出存在弱点</a:t>
            </a:r>
            <a:r>
              <a:rPr lang="en-US" altLang="zh-CN" sz="24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b="1" dirty="0"/>
              <a:t>SHA-1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SHA-1</a:t>
            </a:r>
            <a:r>
              <a:rPr lang="zh-CN" altLang="en-US" sz="2400" dirty="0"/>
              <a:t>是</a:t>
            </a:r>
            <a:r>
              <a:rPr lang="en-US" altLang="zh-CN" sz="2400" dirty="0"/>
              <a:t>NIST</a:t>
            </a:r>
            <a:r>
              <a:rPr lang="zh-CN" altLang="en-US" sz="2400" dirty="0"/>
              <a:t>于</a:t>
            </a:r>
            <a:r>
              <a:rPr lang="en-US" altLang="zh-CN" sz="2400" dirty="0"/>
              <a:t>1994</a:t>
            </a:r>
            <a:r>
              <a:rPr lang="zh-CN" altLang="en-US" sz="2400" dirty="0"/>
              <a:t>年发布的，它与</a:t>
            </a:r>
            <a:r>
              <a:rPr lang="en-US" altLang="zh-CN" sz="2400" dirty="0"/>
              <a:t>MD4</a:t>
            </a:r>
            <a:r>
              <a:rPr lang="zh-CN" altLang="en-US" sz="2400" dirty="0"/>
              <a:t>和</a:t>
            </a:r>
            <a:r>
              <a:rPr lang="en-US" altLang="zh-CN" sz="2400" dirty="0"/>
              <a:t>MD5</a:t>
            </a:r>
            <a:r>
              <a:rPr lang="zh-CN" altLang="en-US" sz="2400" dirty="0"/>
              <a:t>散列算法非常相似，被认为是</a:t>
            </a:r>
            <a:r>
              <a:rPr lang="en-US" altLang="zh-CN" sz="2400" dirty="0"/>
              <a:t>MD4</a:t>
            </a:r>
            <a:r>
              <a:rPr lang="zh-CN" altLang="en-US" sz="2400" dirty="0"/>
              <a:t>和 </a:t>
            </a:r>
            <a:r>
              <a:rPr lang="en-US" altLang="zh-CN" sz="2400" dirty="0"/>
              <a:t>MD5</a:t>
            </a:r>
            <a:r>
              <a:rPr lang="zh-CN" altLang="en-US" sz="2400" dirty="0"/>
              <a:t>的后继者</a:t>
            </a:r>
            <a:r>
              <a:rPr lang="en-US" altLang="zh-CN" sz="24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b="1" dirty="0"/>
              <a:t>SHA-2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SHA-2</a:t>
            </a:r>
            <a:r>
              <a:rPr lang="zh-CN" altLang="en-US" sz="2400" dirty="0"/>
              <a:t>实际上分为</a:t>
            </a:r>
            <a:r>
              <a:rPr lang="en-US" altLang="zh-CN" sz="2400" dirty="0"/>
              <a:t>SHA-224</a:t>
            </a:r>
            <a:r>
              <a:rPr lang="zh-CN" altLang="en-US" sz="2400" dirty="0"/>
              <a:t>、</a:t>
            </a:r>
            <a:r>
              <a:rPr lang="en-US" altLang="zh-CN" sz="2400" dirty="0"/>
              <a:t>SHA-256</a:t>
            </a:r>
            <a:r>
              <a:rPr lang="zh-CN" altLang="en-US" sz="2400" dirty="0"/>
              <a:t>、</a:t>
            </a:r>
            <a:r>
              <a:rPr lang="en-US" altLang="zh-CN" sz="2400" dirty="0"/>
              <a:t>SHA-384</a:t>
            </a:r>
            <a:r>
              <a:rPr lang="zh-CN" altLang="en-US" sz="2400" dirty="0"/>
              <a:t>和</a:t>
            </a:r>
            <a:r>
              <a:rPr lang="en-US" altLang="zh-CN" sz="2400" dirty="0"/>
              <a:t>SHA-512</a:t>
            </a:r>
            <a:r>
              <a:rPr lang="zh-CN" altLang="en-US" sz="2400" dirty="0"/>
              <a:t>算法</a:t>
            </a:r>
            <a:r>
              <a:rPr lang="en-US" altLang="zh-CN" sz="2400" dirty="0"/>
              <a:t>.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 </a:t>
            </a:r>
            <a:r>
              <a:rPr lang="en-US" altLang="zh-CN" sz="2400" b="1" dirty="0"/>
              <a:t>SHA-3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</a:t>
            </a:r>
            <a:r>
              <a:rPr lang="en-US" altLang="zh-CN" sz="2400" dirty="0"/>
              <a:t>SHA-3</a:t>
            </a:r>
            <a:r>
              <a:rPr lang="zh-CN" altLang="en-US" sz="2400" dirty="0"/>
              <a:t>（</a:t>
            </a:r>
            <a:r>
              <a:rPr lang="en-US" altLang="zh-CN" sz="2400" dirty="0"/>
              <a:t> Keccak </a:t>
            </a:r>
            <a:r>
              <a:rPr lang="zh-CN" altLang="en-US" sz="2400" dirty="0"/>
              <a:t>）</a:t>
            </a:r>
            <a:r>
              <a:rPr lang="en-US" altLang="zh-CN" sz="2400" dirty="0"/>
              <a:t>2012</a:t>
            </a:r>
            <a:r>
              <a:rPr lang="zh-CN" altLang="en-US" sz="2400" dirty="0"/>
              <a:t>年提出，不是</a:t>
            </a:r>
            <a:r>
              <a:rPr lang="en-US" altLang="zh-CN" sz="2400" dirty="0"/>
              <a:t>SHA-2</a:t>
            </a:r>
            <a:r>
              <a:rPr lang="zh-CN" altLang="en-US" sz="2400" dirty="0"/>
              <a:t>的替代，只是结构不同的另一种安全哈希算法。</a:t>
            </a:r>
            <a:endParaRPr lang="en-US" altLang="zh-CN" sz="2000" dirty="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C12338B8-50E9-13E0-23DB-6A368D4C4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00296E-8DE7-421A-A8D9-440EFDC0423C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40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26AF97E-FBE7-1769-7EFF-4F95ADCA7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/>
            <a:r>
              <a:rPr lang="en-US" altLang="zh-CN" b="1"/>
              <a:t>HAVAL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 1992</a:t>
            </a:r>
            <a:r>
              <a:rPr lang="zh-CN" altLang="en-US"/>
              <a:t>年</a:t>
            </a:r>
            <a:r>
              <a:rPr lang="en-US" altLang="zh-CN"/>
              <a:t>Yuliang Zheng </a:t>
            </a:r>
            <a:r>
              <a:rPr lang="zh-CN" altLang="en-US"/>
              <a:t>设计了</a:t>
            </a:r>
            <a:r>
              <a:rPr lang="en-US" altLang="zh-CN"/>
              <a:t>HAVAL</a:t>
            </a:r>
            <a:r>
              <a:rPr lang="zh-CN" altLang="en-US"/>
              <a:t>函数，它与许多其他散列函数不同</a:t>
            </a:r>
            <a:r>
              <a:rPr lang="en-US" altLang="zh-CN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eaLnBrk="1" hangingPunct="1"/>
            <a:r>
              <a:rPr lang="en-US" altLang="zh-CN" b="1"/>
              <a:t>Gost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Gost</a:t>
            </a:r>
            <a:r>
              <a:rPr lang="zh-CN" altLang="en-US"/>
              <a:t>是一套苏联标准</a:t>
            </a:r>
            <a:r>
              <a:rPr lang="en-US" altLang="zh-CN"/>
              <a:t>.</a:t>
            </a:r>
          </a:p>
        </p:txBody>
      </p:sp>
      <p:sp>
        <p:nvSpPr>
          <p:cNvPr id="37892" name="Rectangle 7">
            <a:extLst>
              <a:ext uri="{FF2B5EF4-FFF2-40B4-BE49-F238E27FC236}">
                <a16:creationId xmlns:a16="http://schemas.microsoft.com/office/drawing/2014/main" id="{01426D66-DCE0-5E62-1CE4-F4F13A808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852488"/>
          </a:xfrm>
          <a:noFill/>
        </p:spPr>
        <p:txBody>
          <a:bodyPr/>
          <a:lstStyle/>
          <a:p>
            <a:pPr eaLnBrk="1" hangingPunct="1"/>
            <a:r>
              <a:rPr lang="en-CA" altLang="zh-CN">
                <a:ea typeface="华文楷体" panose="02010600040101010101" pitchFamily="2" charset="-122"/>
              </a:rPr>
              <a:t>Hash</a:t>
            </a:r>
            <a:r>
              <a:rPr lang="zh-CN" altLang="en-US">
                <a:ea typeface="华文楷体" panose="02010600040101010101" pitchFamily="2" charset="-122"/>
              </a:rPr>
              <a:t>函数的发展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95463162-5E8B-16C2-5B58-7512AE87E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229FFF-1F44-4FC1-94E2-B853F5C7DA6D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40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294358C-33A7-2C73-2BD7-6AAA02C2E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主要</a:t>
            </a:r>
            <a:r>
              <a:rPr lang="en-US" altLang="zh-CN" dirty="0"/>
              <a:t>hash</a:t>
            </a:r>
            <a:r>
              <a:rPr lang="zh-CN" altLang="en-US" dirty="0"/>
              <a:t>算法：</a:t>
            </a:r>
          </a:p>
        </p:txBody>
      </p:sp>
      <p:grpSp>
        <p:nvGrpSpPr>
          <p:cNvPr id="681988" name="Group 4">
            <a:extLst>
              <a:ext uri="{FF2B5EF4-FFF2-40B4-BE49-F238E27FC236}">
                <a16:creationId xmlns:a16="http://schemas.microsoft.com/office/drawing/2014/main" id="{D5BBE345-D355-C193-9E48-D3A841817C72}"/>
              </a:ext>
            </a:extLst>
          </p:cNvPr>
          <p:cNvGrpSpPr>
            <a:grpSpLocks/>
          </p:cNvGrpSpPr>
          <p:nvPr/>
        </p:nvGrpSpPr>
        <p:grpSpPr bwMode="auto">
          <a:xfrm>
            <a:off x="466725" y="2551113"/>
            <a:ext cx="8137525" cy="2832100"/>
            <a:chOff x="294" y="1607"/>
            <a:chExt cx="5126" cy="1784"/>
          </a:xfrm>
        </p:grpSpPr>
        <p:sp>
          <p:nvSpPr>
            <p:cNvPr id="38932" name="Text Box 5">
              <a:extLst>
                <a:ext uri="{FF2B5EF4-FFF2-40B4-BE49-F238E27FC236}">
                  <a16:creationId xmlns:a16="http://schemas.microsoft.com/office/drawing/2014/main" id="{1E3EB19A-111A-7931-4C6D-848E25F06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" y="2251"/>
              <a:ext cx="1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HAVAL</a:t>
              </a:r>
            </a:p>
          </p:txBody>
        </p:sp>
        <p:sp>
          <p:nvSpPr>
            <p:cNvPr id="38933" name="Text Box 6">
              <a:extLst>
                <a:ext uri="{FF2B5EF4-FFF2-40B4-BE49-F238E27FC236}">
                  <a16:creationId xmlns:a16="http://schemas.microsoft.com/office/drawing/2014/main" id="{D531112A-02B8-72EB-9F73-A2EA719AC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" y="2070"/>
              <a:ext cx="7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MD5</a:t>
              </a:r>
            </a:p>
          </p:txBody>
        </p:sp>
        <p:sp>
          <p:nvSpPr>
            <p:cNvPr id="38934" name="Text Box 7">
              <a:extLst>
                <a:ext uri="{FF2B5EF4-FFF2-40B4-BE49-F238E27FC236}">
                  <a16:creationId xmlns:a16="http://schemas.microsoft.com/office/drawing/2014/main" id="{BF315D31-E7A1-CF57-25E8-5F3A0F3A2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604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SHA-1</a:t>
              </a:r>
            </a:p>
          </p:txBody>
        </p:sp>
        <p:sp>
          <p:nvSpPr>
            <p:cNvPr id="38935" name="Text Box 8">
              <a:extLst>
                <a:ext uri="{FF2B5EF4-FFF2-40B4-BE49-F238E27FC236}">
                  <a16:creationId xmlns:a16="http://schemas.microsoft.com/office/drawing/2014/main" id="{6AA709D1-E658-FE21-F314-69E21ACCF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3103"/>
              <a:ext cx="9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Arial" panose="020B0604020202020204" pitchFamily="34" charset="0"/>
                </a:rPr>
                <a:t>SHA-2</a:t>
              </a:r>
            </a:p>
          </p:txBody>
        </p:sp>
        <p:sp>
          <p:nvSpPr>
            <p:cNvPr id="38936" name="Text Box 9">
              <a:extLst>
                <a:ext uri="{FF2B5EF4-FFF2-40B4-BE49-F238E27FC236}">
                  <a16:creationId xmlns:a16="http://schemas.microsoft.com/office/drawing/2014/main" id="{3E30772E-087F-BC53-2AE6-B6EF944D5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" y="1616"/>
              <a:ext cx="13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Ext. MD4</a:t>
              </a:r>
            </a:p>
          </p:txBody>
        </p:sp>
        <p:sp>
          <p:nvSpPr>
            <p:cNvPr id="38937" name="Text Box 10">
              <a:extLst>
                <a:ext uri="{FF2B5EF4-FFF2-40B4-BE49-F238E27FC236}">
                  <a16:creationId xmlns:a16="http://schemas.microsoft.com/office/drawing/2014/main" id="{6184427C-3C17-9B06-5EB9-2A054FE10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2105"/>
              <a:ext cx="1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RIPEMD</a:t>
              </a:r>
            </a:p>
          </p:txBody>
        </p:sp>
        <p:sp>
          <p:nvSpPr>
            <p:cNvPr id="38938" name="Text Box 11">
              <a:extLst>
                <a:ext uri="{FF2B5EF4-FFF2-40B4-BE49-F238E27FC236}">
                  <a16:creationId xmlns:a16="http://schemas.microsoft.com/office/drawing/2014/main" id="{38AE6AB4-EBD3-1D00-0F68-77AD7FB9E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7" y="2595"/>
              <a:ext cx="1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RIPEMD-160</a:t>
              </a:r>
            </a:p>
          </p:txBody>
        </p:sp>
        <p:sp>
          <p:nvSpPr>
            <p:cNvPr id="38939" name="Line 12">
              <a:extLst>
                <a:ext uri="{FF2B5EF4-FFF2-40B4-BE49-F238E27FC236}">
                  <a16:creationId xmlns:a16="http://schemas.microsoft.com/office/drawing/2014/main" id="{E2250B81-4360-5E7E-E6E7-825F4FC9A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2" y="1888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Text Box 13">
              <a:extLst>
                <a:ext uri="{FF2B5EF4-FFF2-40B4-BE49-F238E27FC236}">
                  <a16:creationId xmlns:a16="http://schemas.microsoft.com/office/drawing/2014/main" id="{282B694C-22DE-6795-CF8B-2A8599574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607"/>
              <a:ext cx="7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MD4</a:t>
              </a:r>
            </a:p>
          </p:txBody>
        </p:sp>
        <p:sp>
          <p:nvSpPr>
            <p:cNvPr id="38941" name="Line 14">
              <a:extLst>
                <a:ext uri="{FF2B5EF4-FFF2-40B4-BE49-F238E27FC236}">
                  <a16:creationId xmlns:a16="http://schemas.microsoft.com/office/drawing/2014/main" id="{33D506F2-8C68-B0B9-5C18-CF6A0A91C4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676" y="1348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2" name="Line 15">
              <a:extLst>
                <a:ext uri="{FF2B5EF4-FFF2-40B4-BE49-F238E27FC236}">
                  <a16:creationId xmlns:a16="http://schemas.microsoft.com/office/drawing/2014/main" id="{5FFC4FF9-DE75-00A8-405E-90163836D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1833"/>
              <a:ext cx="862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Line 16">
              <a:extLst>
                <a:ext uri="{FF2B5EF4-FFF2-40B4-BE49-F238E27FC236}">
                  <a16:creationId xmlns:a16="http://schemas.microsoft.com/office/drawing/2014/main" id="{A22B040D-5678-6D40-7819-7783F714E7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9" y="1843"/>
              <a:ext cx="749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4" name="Line 17">
              <a:extLst>
                <a:ext uri="{FF2B5EF4-FFF2-40B4-BE49-F238E27FC236}">
                  <a16:creationId xmlns:a16="http://schemas.microsoft.com/office/drawing/2014/main" id="{1D5669CC-CB4F-7490-D96E-2FCD029D1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38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5" name="Line 18">
              <a:extLst>
                <a:ext uri="{FF2B5EF4-FFF2-40B4-BE49-F238E27FC236}">
                  <a16:creationId xmlns:a16="http://schemas.microsoft.com/office/drawing/2014/main" id="{19359F80-8ECA-3EC2-557B-4A59386B8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92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6" name="Line 19">
              <a:extLst>
                <a:ext uri="{FF2B5EF4-FFF2-40B4-BE49-F238E27FC236}">
                  <a16:creationId xmlns:a16="http://schemas.microsoft.com/office/drawing/2014/main" id="{D72A9DED-7F48-F90E-5D1E-642BB1B4C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92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7" name="Line 20">
              <a:extLst>
                <a:ext uri="{FF2B5EF4-FFF2-40B4-BE49-F238E27FC236}">
                  <a16:creationId xmlns:a16="http://schemas.microsoft.com/office/drawing/2014/main" id="{AE4D5303-1F88-EFD3-EDE7-B9C0921AE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240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8" name="Text Box 21">
              <a:extLst>
                <a:ext uri="{FF2B5EF4-FFF2-40B4-BE49-F238E27FC236}">
                  <a16:creationId xmlns:a16="http://schemas.microsoft.com/office/drawing/2014/main" id="{778DFA50-544C-44D1-A16A-2643FABAF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616"/>
              <a:ext cx="1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Tiger</a:t>
              </a:r>
            </a:p>
          </p:txBody>
        </p:sp>
        <p:sp>
          <p:nvSpPr>
            <p:cNvPr id="38949" name="Text Box 22">
              <a:extLst>
                <a:ext uri="{FF2B5EF4-FFF2-40B4-BE49-F238E27FC236}">
                  <a16:creationId xmlns:a16="http://schemas.microsoft.com/office/drawing/2014/main" id="{C9A55E3B-E959-0113-2D25-25D64547A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4" y="2241"/>
              <a:ext cx="1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Whirlpool</a:t>
              </a:r>
            </a:p>
          </p:txBody>
        </p:sp>
      </p:grpSp>
      <p:grpSp>
        <p:nvGrpSpPr>
          <p:cNvPr id="682007" name="Group 23">
            <a:extLst>
              <a:ext uri="{FF2B5EF4-FFF2-40B4-BE49-F238E27FC236}">
                <a16:creationId xmlns:a16="http://schemas.microsoft.com/office/drawing/2014/main" id="{ED312165-ED54-FE7B-B809-1708CFB16923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565400"/>
            <a:ext cx="7056437" cy="2016125"/>
            <a:chOff x="567" y="1616"/>
            <a:chExt cx="4445" cy="1270"/>
          </a:xfrm>
        </p:grpSpPr>
        <p:sp>
          <p:nvSpPr>
            <p:cNvPr id="38919" name="Line 24">
              <a:extLst>
                <a:ext uri="{FF2B5EF4-FFF2-40B4-BE49-F238E27FC236}">
                  <a16:creationId xmlns:a16="http://schemas.microsoft.com/office/drawing/2014/main" id="{53CAAEDB-3665-A7B7-8212-6E667C459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2251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0" name="Line 25">
              <a:extLst>
                <a:ext uri="{FF2B5EF4-FFF2-40B4-BE49-F238E27FC236}">
                  <a16:creationId xmlns:a16="http://schemas.microsoft.com/office/drawing/2014/main" id="{AFE8B12D-A272-3D9F-23A0-A6B2F6FB5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7" y="2251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1" name="Line 26">
              <a:extLst>
                <a:ext uri="{FF2B5EF4-FFF2-40B4-BE49-F238E27FC236}">
                  <a16:creationId xmlns:a16="http://schemas.microsoft.com/office/drawing/2014/main" id="{61A9C591-9A98-403C-268D-D11F96A70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1616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2" name="Line 27">
              <a:extLst>
                <a:ext uri="{FF2B5EF4-FFF2-40B4-BE49-F238E27FC236}">
                  <a16:creationId xmlns:a16="http://schemas.microsoft.com/office/drawing/2014/main" id="{AD3049C9-4C90-C3E2-17D7-33AF8F1EF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5" y="1616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3" name="Line 28">
              <a:extLst>
                <a:ext uri="{FF2B5EF4-FFF2-40B4-BE49-F238E27FC236}">
                  <a16:creationId xmlns:a16="http://schemas.microsoft.com/office/drawing/2014/main" id="{CFDB16B2-A8F7-C784-7BED-C79AD4732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069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Line 29">
              <a:extLst>
                <a:ext uri="{FF2B5EF4-FFF2-40B4-BE49-F238E27FC236}">
                  <a16:creationId xmlns:a16="http://schemas.microsoft.com/office/drawing/2014/main" id="{6AB9DA8F-FCBA-9E7E-A1EC-ABD20A5E3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5" y="2069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5" name="Line 30">
              <a:extLst>
                <a:ext uri="{FF2B5EF4-FFF2-40B4-BE49-F238E27FC236}">
                  <a16:creationId xmlns:a16="http://schemas.microsoft.com/office/drawing/2014/main" id="{FE0F58DB-F33D-A450-7A38-BE6182149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614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6" name="Line 31">
              <a:extLst>
                <a:ext uri="{FF2B5EF4-FFF2-40B4-BE49-F238E27FC236}">
                  <a16:creationId xmlns:a16="http://schemas.microsoft.com/office/drawing/2014/main" id="{6FA4CD07-F413-A47B-E393-9E3A2F7FC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5" y="2614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7" name="Line 32">
              <a:extLst>
                <a:ext uri="{FF2B5EF4-FFF2-40B4-BE49-F238E27FC236}">
                  <a16:creationId xmlns:a16="http://schemas.microsoft.com/office/drawing/2014/main" id="{47332F62-B6AE-C603-3B2C-2467BFC34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616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Line 33">
              <a:extLst>
                <a:ext uri="{FF2B5EF4-FFF2-40B4-BE49-F238E27FC236}">
                  <a16:creationId xmlns:a16="http://schemas.microsoft.com/office/drawing/2014/main" id="{7EA2A2F4-69EA-2951-1BC3-8670A56C0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3" y="1616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Line 34">
              <a:extLst>
                <a:ext uri="{FF2B5EF4-FFF2-40B4-BE49-F238E27FC236}">
                  <a16:creationId xmlns:a16="http://schemas.microsoft.com/office/drawing/2014/main" id="{4E3D1904-3B09-7C70-F527-2109C59CD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115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0" name="Line 35">
              <a:extLst>
                <a:ext uri="{FF2B5EF4-FFF2-40B4-BE49-F238E27FC236}">
                  <a16:creationId xmlns:a16="http://schemas.microsoft.com/office/drawing/2014/main" id="{52ED7F0C-54F3-2F0F-F9FD-B12480EAC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3" y="2115"/>
              <a:ext cx="68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Line 36">
              <a:extLst>
                <a:ext uri="{FF2B5EF4-FFF2-40B4-BE49-F238E27FC236}">
                  <a16:creationId xmlns:a16="http://schemas.microsoft.com/office/drawing/2014/main" id="{50261239-65B4-8AD4-A9E9-32A78ED69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1661"/>
              <a:ext cx="408" cy="1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18" name="Rectangle 39">
            <a:extLst>
              <a:ext uri="{FF2B5EF4-FFF2-40B4-BE49-F238E27FC236}">
                <a16:creationId xmlns:a16="http://schemas.microsoft.com/office/drawing/2014/main" id="{9E569EE4-C687-24C1-1EA5-020DFEEDA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93038" cy="852488"/>
          </a:xfrm>
          <a:noFill/>
        </p:spPr>
        <p:txBody>
          <a:bodyPr/>
          <a:lstStyle/>
          <a:p>
            <a:pPr eaLnBrk="1" hangingPunct="1"/>
            <a:r>
              <a:rPr lang="en-CA" altLang="zh-CN">
                <a:ea typeface="华文楷体" panose="02010600040101010101" pitchFamily="2" charset="-122"/>
              </a:rPr>
              <a:t>Hash</a:t>
            </a:r>
            <a:r>
              <a:rPr lang="zh-CN" altLang="en-US">
                <a:ea typeface="华文楷体" panose="02010600040101010101" pitchFamily="2" charset="-122"/>
              </a:rPr>
              <a:t>函数的发展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9C2D07F-92F0-6387-F0AE-B2469128F683}"/>
              </a:ext>
            </a:extLst>
          </p:cNvPr>
          <p:cNvCxnSpPr>
            <a:stCxn id="38935" idx="2"/>
          </p:cNvCxnSpPr>
          <p:nvPr/>
        </p:nvCxnSpPr>
        <p:spPr bwMode="auto">
          <a:xfrm>
            <a:off x="3123407" y="5383213"/>
            <a:ext cx="0" cy="27803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Box 8">
            <a:extLst>
              <a:ext uri="{FF2B5EF4-FFF2-40B4-BE49-F238E27FC236}">
                <a16:creationId xmlns:a16="http://schemas.microsoft.com/office/drawing/2014/main" id="{8846F5FB-4047-340C-1A86-C68EFBE4B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040" y="5589240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SHA-3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BAF84CAB-1B1F-1F96-72FD-FFF5C96F0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22888A-10BF-4679-85FB-79E6D43B5C6B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5B13A3C-7FD0-3C43-FB67-EB62F6BD9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692150"/>
            <a:ext cx="7861300" cy="400050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华文行楷" panose="02010800040101010101" pitchFamily="2" charset="-122"/>
              </a:rPr>
              <a:t>SHA</a:t>
            </a:r>
            <a:r>
              <a:rPr lang="zh-CN" altLang="en-US" sz="3600">
                <a:ea typeface="华文行楷" panose="02010800040101010101" pitchFamily="2" charset="-122"/>
              </a:rPr>
              <a:t>系列</a:t>
            </a:r>
            <a:r>
              <a:rPr lang="en-US" altLang="zh-TW" sz="3600"/>
              <a:t>(Secure Hash Algorithm)</a:t>
            </a:r>
            <a:endParaRPr lang="en-US" altLang="zh-CN" sz="3600"/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7729572-41B6-ED88-4938-44CC07C98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7559675" cy="51847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/>
              <a:t>SHA-1</a:t>
            </a:r>
            <a:r>
              <a:rPr lang="zh-CN" altLang="en-US" sz="2800"/>
              <a:t>，</a:t>
            </a:r>
            <a:r>
              <a:rPr lang="en-US" altLang="zh-CN" sz="2800"/>
              <a:t>SHA-256</a:t>
            </a:r>
            <a:r>
              <a:rPr lang="zh-CN" altLang="en-US" sz="2800"/>
              <a:t>，</a:t>
            </a:r>
            <a:r>
              <a:rPr lang="en-US" altLang="zh-CN" sz="2800"/>
              <a:t>SHA-384</a:t>
            </a:r>
            <a:r>
              <a:rPr lang="zh-CN" altLang="en-US" sz="2800"/>
              <a:t>，</a:t>
            </a:r>
            <a:r>
              <a:rPr lang="en-US" altLang="zh-CN" sz="2800"/>
              <a:t>SHA-512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SHA-1</a:t>
            </a:r>
            <a:r>
              <a:rPr lang="zh-CN" altLang="en-US" sz="2800"/>
              <a:t>，</a:t>
            </a:r>
            <a:r>
              <a:rPr lang="en-US" altLang="zh-CN" sz="2800"/>
              <a:t>SHA-256</a:t>
            </a:r>
            <a:r>
              <a:rPr lang="zh-CN" altLang="en-US" sz="2800"/>
              <a:t>的分组大小是</a:t>
            </a:r>
            <a:r>
              <a:rPr lang="en-US" altLang="zh-CN" sz="2800"/>
              <a:t>512 bits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SHA-384</a:t>
            </a:r>
            <a:r>
              <a:rPr lang="zh-CN" altLang="en-US" sz="2800"/>
              <a:t>，</a:t>
            </a:r>
            <a:r>
              <a:rPr lang="en-US" altLang="zh-CN" sz="2800"/>
              <a:t>SHA-512</a:t>
            </a:r>
            <a:r>
              <a:rPr lang="zh-CN" altLang="en-US" sz="2800"/>
              <a:t>的分组大小是</a:t>
            </a:r>
            <a:r>
              <a:rPr lang="en-US" altLang="zh-CN" sz="2800"/>
              <a:t>1024 bits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SHA-1</a:t>
            </a:r>
            <a:r>
              <a:rPr lang="zh-CN" altLang="en-US" sz="2800"/>
              <a:t>输出的摘要是</a:t>
            </a:r>
            <a:r>
              <a:rPr lang="en-US" altLang="zh-CN" sz="2800"/>
              <a:t>160 bits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SHA-256</a:t>
            </a:r>
            <a:r>
              <a:rPr lang="zh-CN" altLang="en-US" sz="2800"/>
              <a:t>输出的摘要是</a:t>
            </a:r>
            <a:r>
              <a:rPr lang="en-US" altLang="zh-CN" sz="2800"/>
              <a:t>256 bits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SHA-384</a:t>
            </a:r>
            <a:r>
              <a:rPr lang="zh-CN" altLang="en-US" sz="2800"/>
              <a:t>输出的摘要是</a:t>
            </a:r>
            <a:r>
              <a:rPr lang="en-US" altLang="zh-CN" sz="2800"/>
              <a:t>384 bits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SHA-512</a:t>
            </a:r>
            <a:r>
              <a:rPr lang="zh-CN" altLang="en-US" sz="2800"/>
              <a:t>输出的摘要是</a:t>
            </a:r>
            <a:r>
              <a:rPr lang="en-US" altLang="zh-CN" sz="2800"/>
              <a:t>512 bits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CD1048D2-97DB-46F6-81C8-00FC1282E3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79335E-7C24-4DA0-9DD1-95AD395BCA77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400"/>
          </a:p>
        </p:txBody>
      </p:sp>
      <p:graphicFrame>
        <p:nvGraphicFramePr>
          <p:cNvPr id="43011" name="Object 2">
            <a:extLst>
              <a:ext uri="{FF2B5EF4-FFF2-40B4-BE49-F238E27FC236}">
                <a16:creationId xmlns:a16="http://schemas.microsoft.com/office/drawing/2014/main" id="{56A8D0DD-F04F-653E-D59F-CD31861F7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881063"/>
          <a:ext cx="745172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510735" imgH="2721864" progId="Visio.Drawing.11">
                  <p:embed/>
                </p:oleObj>
              </mc:Choice>
              <mc:Fallback>
                <p:oleObj name="Visio" r:id="rId3" imgW="4510735" imgH="2721864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881063"/>
                        <a:ext cx="745172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Rectangle 3">
            <a:extLst>
              <a:ext uri="{FF2B5EF4-FFF2-40B4-BE49-F238E27FC236}">
                <a16:creationId xmlns:a16="http://schemas.microsoft.com/office/drawing/2014/main" id="{B222DF34-F9E0-6071-799A-5E3D649C9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25538"/>
            <a:ext cx="3240088" cy="199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8080"/>
                </a:solidFill>
                <a:latin typeface="Times New Roman" panose="02020603050405020304" pitchFamily="18" charset="0"/>
              </a:rPr>
              <a:t>SHA1</a:t>
            </a:r>
            <a:r>
              <a:rPr kumimoji="1" lang="en-US" altLang="zh-TW" sz="2400">
                <a:solidFill>
                  <a:srgbClr val="00808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rgbClr val="008080"/>
                </a:solidFill>
                <a:latin typeface="Times New Roman" panose="02020603050405020304" pitchFamily="18" charset="0"/>
              </a:rPr>
              <a:t>算法原理</a:t>
            </a:r>
            <a:r>
              <a:rPr kumimoji="1" lang="zh-TW" altLang="en-US" sz="2400">
                <a:latin typeface="Times New Roman" panose="02020603050405020304" pitchFamily="18" charset="0"/>
              </a:rPr>
              <a:t> </a:t>
            </a:r>
            <a:endParaRPr kumimoji="1" lang="zh-TW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分段运算</a:t>
            </a:r>
            <a:r>
              <a:rPr kumimoji="1" lang="zh-TW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TW" sz="2400">
                <a:solidFill>
                  <a:srgbClr val="800000"/>
                </a:solidFill>
                <a:latin typeface="Times New Roman" panose="02020603050405020304" pitchFamily="18" charset="0"/>
              </a:rPr>
              <a:t>512 bits</a:t>
            </a:r>
            <a:r>
              <a:rPr kumimoji="1" lang="en-US" altLang="zh-TW" sz="2400">
                <a:latin typeface="Times New Roman" panose="02020603050405020304" pitchFamily="18" charset="0"/>
              </a:rPr>
              <a:t> </a:t>
            </a:r>
            <a:endParaRPr kumimoji="1"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杂凑值长度</a:t>
            </a:r>
            <a:r>
              <a:rPr kumimoji="1" lang="zh-TW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160</a:t>
            </a:r>
            <a:r>
              <a:rPr kumimoji="1" lang="en-US" altLang="zh-TW" sz="2400">
                <a:solidFill>
                  <a:srgbClr val="800000"/>
                </a:solidFill>
                <a:latin typeface="Times New Roman" panose="02020603050405020304" pitchFamily="18" charset="0"/>
              </a:rPr>
              <a:t> bits</a:t>
            </a:r>
            <a:r>
              <a:rPr kumimoji="1" lang="en-US" altLang="zh-TW" sz="2400">
                <a:latin typeface="Times New Roman" panose="02020603050405020304" pitchFamily="18" charset="0"/>
              </a:rPr>
              <a:t> </a:t>
            </a:r>
            <a:endParaRPr kumimoji="1"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初始向量：</a:t>
            </a: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160</a:t>
            </a:r>
            <a:r>
              <a:rPr kumimoji="1" lang="en-US" altLang="zh-TW" sz="2400">
                <a:solidFill>
                  <a:srgbClr val="800000"/>
                </a:solidFill>
                <a:latin typeface="Times New Roman" panose="02020603050405020304" pitchFamily="18" charset="0"/>
              </a:rPr>
              <a:t> bits</a:t>
            </a:r>
            <a:endParaRPr kumimoji="1" lang="en-US" altLang="zh-CN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B4E625E6-34A8-B21E-BE44-1F5DC3B09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157163"/>
            <a:ext cx="7793037" cy="757237"/>
          </a:xfrm>
          <a:noFill/>
        </p:spPr>
        <p:txBody>
          <a:bodyPr/>
          <a:lstStyle/>
          <a:p>
            <a:pPr eaLnBrk="1" hangingPunct="1"/>
            <a:r>
              <a:rPr lang="en-US" altLang="zh-CN"/>
              <a:t>SHA-1</a:t>
            </a:r>
            <a:r>
              <a:rPr lang="zh-CN" altLang="en-US"/>
              <a:t>消息摘要</a:t>
            </a:r>
          </a:p>
        </p:txBody>
      </p:sp>
      <p:sp>
        <p:nvSpPr>
          <p:cNvPr id="802821" name="Rectangle 5">
            <a:extLst>
              <a:ext uri="{FF2B5EF4-FFF2-40B4-BE49-F238E27FC236}">
                <a16:creationId xmlns:a16="http://schemas.microsoft.com/office/drawing/2014/main" id="{D86EC11F-F267-C3C7-9111-ACA3089BD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5348288"/>
            <a:ext cx="8305800" cy="53181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C00CC"/>
                </a:solidFill>
                <a:latin typeface="Times New Roman" panose="02020603050405020304" pitchFamily="18" charset="0"/>
              </a:rPr>
              <a:t>每个分块</a:t>
            </a:r>
            <a:r>
              <a:rPr kumimoji="1" lang="en-US" altLang="zh-CN" sz="2400" b="1">
                <a:solidFill>
                  <a:srgbClr val="CC00CC"/>
                </a:solidFill>
                <a:latin typeface="Times New Roman" panose="02020603050405020304" pitchFamily="18" charset="0"/>
              </a:rPr>
              <a:t>512</a:t>
            </a:r>
            <a:r>
              <a:rPr kumimoji="1" lang="zh-CN" altLang="en-US" sz="2400" b="1">
                <a:solidFill>
                  <a:srgbClr val="CC00CC"/>
                </a:solidFill>
                <a:latin typeface="Times New Roman" panose="02020603050405020304" pitchFamily="18" charset="0"/>
              </a:rPr>
              <a:t>比特，最后一个分块中最后</a:t>
            </a:r>
            <a:r>
              <a:rPr kumimoji="1" lang="en-US" altLang="zh-CN" sz="2400" b="1">
                <a:solidFill>
                  <a:srgbClr val="CC00CC"/>
                </a:solidFill>
                <a:latin typeface="Times New Roman" panose="02020603050405020304" pitchFamily="18" charset="0"/>
              </a:rPr>
              <a:t>64</a:t>
            </a:r>
            <a:r>
              <a:rPr kumimoji="1" lang="zh-CN" altLang="en-US" sz="2400" b="1">
                <a:solidFill>
                  <a:srgbClr val="CC00CC"/>
                </a:solidFill>
                <a:latin typeface="Times New Roman" panose="02020603050405020304" pitchFamily="18" charset="0"/>
              </a:rPr>
              <a:t>比特记录数据长度</a:t>
            </a:r>
            <a:r>
              <a:rPr kumimoji="1" lang="zh-CN" altLang="en-US" sz="2400">
                <a:solidFill>
                  <a:srgbClr val="00808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2822" name="Rectangle 6">
            <a:extLst>
              <a:ext uri="{FF2B5EF4-FFF2-40B4-BE49-F238E27FC236}">
                <a16:creationId xmlns:a16="http://schemas.microsoft.com/office/drawing/2014/main" id="{9CEC0236-552C-5973-D8B5-552A38A1F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019800"/>
            <a:ext cx="8305800" cy="534249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任意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有限</a:t>
            </a:r>
            <a:r>
              <a:rPr kumimoji="1" lang="zh-CN" altLang="en-US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长度消息输入，如何分</a:t>
            </a:r>
            <a:r>
              <a:rPr kumimoji="1" lang="en-US" altLang="zh-CN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512</a:t>
            </a:r>
            <a:r>
              <a:rPr kumimoji="1" lang="zh-CN" altLang="en-US" sz="24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比特</a:t>
            </a:r>
            <a:r>
              <a:rPr kumimoji="1" lang="zh-CN" altLang="en-US" sz="2400" b="1">
                <a:solidFill>
                  <a:srgbClr val="CC00CC"/>
                </a:solidFill>
                <a:latin typeface="Times New Roman" panose="02020603050405020304" pitchFamily="18" charset="0"/>
              </a:rPr>
              <a:t>的块？</a:t>
            </a:r>
            <a:endParaRPr kumimoji="1" lang="zh-CN" altLang="en-US" sz="2400" dirty="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821" grpId="0" animBg="1"/>
      <p:bldP spid="8028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C0BDA0FA-E617-5A62-95AF-9EA6DF4CC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70E5E8-4FBF-4E43-B497-85C0B619DCAB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E189943-BD1C-72F4-8AFF-A02135518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323850"/>
            <a:ext cx="7793037" cy="695325"/>
          </a:xfrm>
        </p:spPr>
        <p:txBody>
          <a:bodyPr/>
          <a:lstStyle/>
          <a:p>
            <a:pPr eaLnBrk="1" hangingPunct="1"/>
            <a:r>
              <a:rPr lang="en-US" altLang="zh-CN" sz="4000">
                <a:ea typeface="华文行楷" panose="02010800040101010101" pitchFamily="2" charset="-122"/>
              </a:rPr>
              <a:t>SHA-1</a:t>
            </a:r>
            <a:r>
              <a:rPr lang="zh-CN" altLang="en-US" sz="4000">
                <a:ea typeface="华文行楷" panose="02010800040101010101" pitchFamily="2" charset="-122"/>
              </a:rPr>
              <a:t>算法第一步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6B5816E-2316-93F3-0902-02332CA81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850" y="1484313"/>
            <a:ext cx="8785225" cy="5040312"/>
          </a:xfrm>
        </p:spPr>
        <p:txBody>
          <a:bodyPr/>
          <a:lstStyle/>
          <a:p>
            <a:pPr eaLnBrk="1" hangingPunct="1"/>
            <a:r>
              <a:rPr lang="zh-CN" altLang="en-US"/>
              <a:t>第一步：填充消息</a:t>
            </a:r>
            <a:br>
              <a:rPr lang="zh-CN" altLang="en-US"/>
            </a:br>
            <a:r>
              <a:rPr lang="zh-CN" altLang="en-US"/>
              <a:t>使得消息的长度（</a:t>
            </a:r>
            <a:r>
              <a:rPr lang="en-US" altLang="zh-CN"/>
              <a:t>bit</a:t>
            </a:r>
            <a:r>
              <a:rPr lang="zh-CN" altLang="en-US"/>
              <a:t>为单位）模</a:t>
            </a:r>
            <a:r>
              <a:rPr lang="en-US" altLang="zh-CN"/>
              <a:t>512</a:t>
            </a:r>
            <a:r>
              <a:rPr lang="zh-CN" altLang="en-US"/>
              <a:t>为</a:t>
            </a:r>
            <a:r>
              <a:rPr lang="en-US" altLang="zh-CN"/>
              <a:t>448.</a:t>
            </a:r>
            <a:r>
              <a:rPr lang="zh-CN" altLang="en-US"/>
              <a:t>如果数据长度刚好是</a:t>
            </a:r>
            <a:r>
              <a:rPr lang="en-US" altLang="zh-CN"/>
              <a:t>448 mod 512</a:t>
            </a:r>
            <a:r>
              <a:rPr lang="zh-CN" altLang="en-US"/>
              <a:t>，增加</a:t>
            </a:r>
            <a:r>
              <a:rPr lang="en-US" altLang="zh-CN"/>
              <a:t>512</a:t>
            </a:r>
            <a:r>
              <a:rPr lang="zh-CN" altLang="en-US"/>
              <a:t>个填充</a:t>
            </a:r>
            <a:r>
              <a:rPr lang="en-US" altLang="zh-CN"/>
              <a:t>bit</a:t>
            </a:r>
            <a:r>
              <a:rPr lang="zh-CN" altLang="en-US"/>
              <a:t>，即填充的个数为</a:t>
            </a:r>
            <a:r>
              <a:rPr lang="en-US" altLang="zh-CN"/>
              <a:t>1~512bit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/>
            <a:r>
              <a:rPr lang="zh-CN" altLang="en-US"/>
              <a:t>填充方法：第一个</a:t>
            </a:r>
            <a:r>
              <a:rPr lang="en-US" altLang="zh-CN"/>
              <a:t>bit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，其余全部为</a:t>
            </a:r>
            <a:r>
              <a:rPr lang="en-US" altLang="zh-CN"/>
              <a:t>0.</a:t>
            </a:r>
          </a:p>
          <a:p>
            <a:pPr eaLnBrk="1" hangingPunct="1"/>
            <a:r>
              <a:rPr lang="zh-CN" altLang="en-US"/>
              <a:t>补</a:t>
            </a:r>
            <a:r>
              <a:rPr lang="en-US" altLang="zh-CN"/>
              <a:t>0</a:t>
            </a:r>
            <a:r>
              <a:rPr lang="zh-CN" altLang="en-US"/>
              <a:t>的个数</a:t>
            </a:r>
            <a:r>
              <a:rPr lang="en-US" altLang="zh-CN"/>
              <a:t>d=(447-|x|) mod 512</a:t>
            </a:r>
          </a:p>
          <a:p>
            <a:pPr eaLnBrk="1" hangingPunct="1"/>
            <a:r>
              <a:rPr lang="zh-CN" altLang="en-US"/>
              <a:t>填充后的消息：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X||1||0^d||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=|X|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表示消息长度）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X|+1+d=448 mod 512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1D7420CE-9F95-404F-6BB6-877831362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46235A-5920-4A8E-8211-5FCCB8E073B2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4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7B53E7F-4775-BFB7-16AC-7A8A94329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323850"/>
            <a:ext cx="7793037" cy="695325"/>
          </a:xfrm>
        </p:spPr>
        <p:txBody>
          <a:bodyPr/>
          <a:lstStyle/>
          <a:p>
            <a:pPr eaLnBrk="1" hangingPunct="1"/>
            <a:r>
              <a:rPr lang="en-US" altLang="zh-CN" sz="4000">
                <a:ea typeface="华文行楷" panose="02010800040101010101" pitchFamily="2" charset="-122"/>
              </a:rPr>
              <a:t>SHA-1</a:t>
            </a:r>
            <a:r>
              <a:rPr lang="zh-CN" altLang="en-US" sz="4000">
                <a:ea typeface="华文行楷" panose="02010800040101010101" pitchFamily="2" charset="-122"/>
              </a:rPr>
              <a:t>算法第二步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E319B79-0E51-B445-D70F-758D0C1C1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8825" y="1700213"/>
            <a:ext cx="7793038" cy="3100387"/>
          </a:xfrm>
        </p:spPr>
        <p:txBody>
          <a:bodyPr/>
          <a:lstStyle/>
          <a:p>
            <a:pPr eaLnBrk="1" hangingPunct="1"/>
            <a:r>
              <a:rPr lang="zh-CN" altLang="en-US"/>
              <a:t>第二步：补足长度 </a:t>
            </a:r>
            <a:br>
              <a:rPr lang="zh-CN" altLang="en-US"/>
            </a:br>
            <a:r>
              <a:rPr lang="zh-CN" altLang="en-US"/>
              <a:t>将数据长度转换为</a:t>
            </a:r>
            <a:r>
              <a:rPr lang="en-US" altLang="zh-CN"/>
              <a:t>64bit</a:t>
            </a:r>
            <a:r>
              <a:rPr lang="zh-CN" altLang="en-US"/>
              <a:t>的数值</a:t>
            </a:r>
          </a:p>
          <a:p>
            <a:pPr eaLnBrk="1" hangingPunct="1"/>
            <a:r>
              <a:rPr lang="zh-CN" altLang="en-US"/>
              <a:t>然后对每个</a:t>
            </a:r>
            <a:r>
              <a:rPr lang="en-US" altLang="zh-CN"/>
              <a:t>512bit</a:t>
            </a:r>
            <a:r>
              <a:rPr lang="zh-CN" altLang="en-US"/>
              <a:t>按每组</a:t>
            </a:r>
            <a:r>
              <a:rPr lang="en-US" altLang="zh-CN"/>
              <a:t>32bit</a:t>
            </a:r>
            <a:r>
              <a:rPr lang="zh-CN" altLang="en-US"/>
              <a:t>进行分组</a:t>
            </a:r>
            <a:r>
              <a:rPr lang="en-US" altLang="zh-CN"/>
              <a:t>,</a:t>
            </a:r>
            <a:r>
              <a:rPr lang="zh-CN" altLang="en-US"/>
              <a:t>可分为</a:t>
            </a:r>
            <a:r>
              <a:rPr lang="en-US" altLang="zh-CN"/>
              <a:t>16</a:t>
            </a:r>
            <a:r>
              <a:rPr lang="zh-CN" altLang="en-US"/>
              <a:t>组。</a:t>
            </a:r>
          </a:p>
          <a:p>
            <a:pPr eaLnBrk="1" hangingPunct="1"/>
            <a:r>
              <a:rPr lang="en-US" altLang="zh-CN"/>
              <a:t>512=32*16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38C2863E-E31A-879F-532E-7145B3A47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737830-FC7D-43E2-9E91-67DC39C5003D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D2AD613C-0CA5-A8D7-BDE1-67738EEC88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333375"/>
            <a:ext cx="7793037" cy="908050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华文行楷" panose="02010800040101010101" pitchFamily="2" charset="-122"/>
              </a:rPr>
              <a:t>SHA-1 </a:t>
            </a:r>
            <a:r>
              <a:rPr lang="zh-TW" altLang="en-US" sz="3600">
                <a:ea typeface="华文行楷" panose="02010800040101010101" pitchFamily="2" charset="-122"/>
              </a:rPr>
              <a:t>算法</a:t>
            </a:r>
            <a:r>
              <a:rPr lang="en-US" altLang="zh-CN" sz="3600">
                <a:latin typeface="Arial" panose="020B0604020202020204" pitchFamily="34" charset="0"/>
                <a:ea typeface="华文行楷" panose="02010800040101010101" pitchFamily="2" charset="-122"/>
              </a:rPr>
              <a:t>——</a:t>
            </a:r>
            <a:r>
              <a:rPr lang="zh-CN" altLang="en-US" sz="3600">
                <a:ea typeface="华文行楷" panose="02010800040101010101" pitchFamily="2" charset="-122"/>
              </a:rPr>
              <a:t>数据扩充</a:t>
            </a:r>
          </a:p>
        </p:txBody>
      </p:sp>
      <p:graphicFrame>
        <p:nvGraphicFramePr>
          <p:cNvPr id="46084" name="Object 3">
            <a:extLst>
              <a:ext uri="{FF2B5EF4-FFF2-40B4-BE49-F238E27FC236}">
                <a16:creationId xmlns:a16="http://schemas.microsoft.com/office/drawing/2014/main" id="{355CFA2F-EE40-8B8D-C099-F05CDD321F0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4925" y="2222500"/>
          <a:ext cx="9144000" cy="315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7474" imgH="2916326" progId="Visio.Drawing.11">
                  <p:embed/>
                </p:oleObj>
              </mc:Choice>
              <mc:Fallback>
                <p:oleObj name="Visio" r:id="rId2" imgW="8437474" imgH="2916326" progId="Visio.Drawing.11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2222500"/>
                        <a:ext cx="9144000" cy="315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A4C37AF9-FCE3-5B9E-F7D4-DD145EAE7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54B642-ED84-4F47-A732-07B6C7CCB7D5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4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39C1AFEA-0095-C320-AB38-969D715DD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413" y="150813"/>
            <a:ext cx="7793037" cy="695325"/>
          </a:xfrm>
          <a:noFill/>
        </p:spPr>
        <p:txBody>
          <a:bodyPr/>
          <a:lstStyle/>
          <a:p>
            <a:pPr eaLnBrk="1" hangingPunct="1"/>
            <a:r>
              <a:rPr lang="en-US" altLang="zh-TW" sz="3600">
                <a:ea typeface="华文行楷" panose="02010800040101010101" pitchFamily="2" charset="-122"/>
              </a:rPr>
              <a:t>SHA-1 </a:t>
            </a:r>
            <a:r>
              <a:rPr lang="zh-TW" altLang="en-US" sz="3600">
                <a:ea typeface="华文行楷" panose="02010800040101010101" pitchFamily="2" charset="-122"/>
              </a:rPr>
              <a:t>算法</a:t>
            </a:r>
            <a:r>
              <a:rPr lang="en-US" altLang="zh-CN" sz="3600">
                <a:latin typeface="Arial" panose="020B0604020202020204" pitchFamily="34" charset="0"/>
                <a:ea typeface="华文行楷" panose="02010800040101010101" pitchFamily="2" charset="-122"/>
              </a:rPr>
              <a:t>——</a:t>
            </a:r>
            <a:r>
              <a:rPr lang="zh-CN" altLang="en-US" sz="3600">
                <a:ea typeface="华文行楷" panose="02010800040101010101" pitchFamily="2" charset="-122"/>
              </a:rPr>
              <a:t>数据扩充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8D42875-14F8-CB7A-E0ED-131A6DB29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520825"/>
            <a:ext cx="8893175" cy="511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信</a:t>
            </a:r>
            <a:r>
              <a:rPr kumimoji="1" lang="zh-TW" altLang="en-US">
                <a:latin typeface="Times New Roman" panose="02020603050405020304" pitchFamily="18" charset="0"/>
              </a:rPr>
              <a:t>息 </a:t>
            </a:r>
            <a:r>
              <a:rPr kumimoji="1" lang="en-US" altLang="zh-TW">
                <a:latin typeface="Times New Roman" panose="02020603050405020304" pitchFamily="18" charset="0"/>
              </a:rPr>
              <a:t>512 bits </a:t>
            </a:r>
            <a:r>
              <a:rPr kumimoji="1" lang="zh-CN" altLang="en-US">
                <a:latin typeface="Times New Roman" panose="02020603050405020304" pitchFamily="18" charset="0"/>
              </a:rPr>
              <a:t>先</a:t>
            </a:r>
            <a:r>
              <a:rPr kumimoji="1" lang="zh-TW" altLang="en-US">
                <a:latin typeface="Times New Roman" panose="02020603050405020304" pitchFamily="18" charset="0"/>
              </a:rPr>
              <a:t>分成 </a:t>
            </a:r>
            <a:r>
              <a:rPr kumimoji="1" lang="en-US" altLang="zh-TW">
                <a:latin typeface="Times New Roman" panose="02020603050405020304" pitchFamily="18" charset="0"/>
              </a:rPr>
              <a:t>W[0] ~ W[15] </a:t>
            </a:r>
            <a:r>
              <a:rPr kumimoji="1" lang="en-US" altLang="zh-CN">
                <a:latin typeface="Times New Roman" panose="02020603050405020304" pitchFamily="18" charset="0"/>
              </a:rPr>
              <a:t>, </a:t>
            </a:r>
            <a:r>
              <a:rPr kumimoji="1" lang="en-US" altLang="zh-TW" sz="2400">
                <a:latin typeface="Times New Roman" panose="02020603050405020304" pitchFamily="18" charset="0"/>
              </a:rPr>
              <a:t>32 bits </a:t>
            </a:r>
            <a:r>
              <a:rPr kumimoji="1" lang="zh-CN" altLang="en-US" sz="2400">
                <a:latin typeface="Times New Roman" panose="02020603050405020304" pitchFamily="18" charset="0"/>
              </a:rPr>
              <a:t>每</a:t>
            </a:r>
            <a:r>
              <a:rPr kumimoji="1" lang="zh-TW" altLang="en-US" sz="2400">
                <a:latin typeface="Times New Roman" panose="02020603050405020304" pitchFamily="18" charset="0"/>
              </a:rPr>
              <a:t>段 </a:t>
            </a:r>
            <a:endParaRPr kumimoji="1" lang="en-US" altLang="zh-TW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solidFill>
                  <a:srgbClr val="800000"/>
                </a:solidFill>
                <a:latin typeface="Times New Roman" panose="02020603050405020304" pitchFamily="18" charset="0"/>
              </a:rPr>
              <a:t>W[16] </a:t>
            </a:r>
            <a:r>
              <a:rPr kumimoji="1" lang="zh-TW" altLang="en-US">
                <a:solidFill>
                  <a:srgbClr val="800000"/>
                </a:solidFill>
                <a:latin typeface="Times New Roman" panose="02020603050405020304" pitchFamily="18" charset="0"/>
              </a:rPr>
              <a:t>以</a:t>
            </a:r>
            <a:r>
              <a:rPr kumimoji="1" lang="zh-CN" altLang="en-US">
                <a:solidFill>
                  <a:srgbClr val="800000"/>
                </a:solidFill>
                <a:latin typeface="Times New Roman" panose="02020603050405020304" pitchFamily="18" charset="0"/>
              </a:rPr>
              <a:t>后</a:t>
            </a:r>
            <a:r>
              <a:rPr kumimoji="1" lang="zh-TW" altLang="en-US">
                <a:solidFill>
                  <a:srgbClr val="800000"/>
                </a:solidFill>
                <a:latin typeface="Times New Roman" panose="02020603050405020304" pitchFamily="18" charset="0"/>
              </a:rPr>
              <a:t>的填入方式：</a:t>
            </a:r>
            <a:endParaRPr kumimoji="1" lang="zh-TW" altLang="zh-CN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latin typeface="Times New Roman" panose="02020603050405020304" pitchFamily="18" charset="0"/>
              </a:rPr>
              <a:t>W[t] = </a:t>
            </a:r>
            <a:r>
              <a:rPr kumimoji="1" lang="en-US" altLang="zh-CN">
                <a:latin typeface="Times New Roman" panose="02020603050405020304" pitchFamily="18" charset="0"/>
              </a:rPr>
              <a:t>CL</a:t>
            </a:r>
            <a:r>
              <a:rPr kumimoji="1" lang="en-US" altLang="zh-TW">
                <a:latin typeface="Times New Roman" panose="02020603050405020304" pitchFamily="18" charset="0"/>
              </a:rPr>
              <a:t>S</a:t>
            </a:r>
            <a:r>
              <a:rPr kumimoji="1" lang="en-US" altLang="zh-TW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TW">
                <a:latin typeface="Times New Roman" panose="02020603050405020304" pitchFamily="18" charset="0"/>
              </a:rPr>
              <a:t>(W[t-16] ⊕ W[t-14] ⊕ W[t-8] ⊕ W[t-3]), 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 sz="2800">
                <a:latin typeface="Times New Roman" panose="02020603050405020304" pitchFamily="18" charset="0"/>
              </a:rPr>
              <a:t>        t =16, 17, …, 79 </a:t>
            </a:r>
          </a:p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>
                <a:solidFill>
                  <a:srgbClr val="800000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比</a:t>
            </a:r>
            <a:r>
              <a:rPr kumimoji="1" lang="zh-TW" altLang="en-US">
                <a:solidFill>
                  <a:srgbClr val="800000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如：</a:t>
            </a:r>
            <a:r>
              <a:rPr kumimoji="1" lang="zh-TW" altLang="en-US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 sz="2800">
                <a:latin typeface="Times New Roman" panose="02020603050405020304" pitchFamily="18" charset="0"/>
              </a:rPr>
              <a:t>W[16] = </a:t>
            </a:r>
            <a:r>
              <a:rPr kumimoji="1" lang="en-US" altLang="zh-CN">
                <a:latin typeface="Times New Roman" panose="02020603050405020304" pitchFamily="18" charset="0"/>
              </a:rPr>
              <a:t>CL</a:t>
            </a:r>
            <a:r>
              <a:rPr kumimoji="1" lang="en-US" altLang="zh-TW">
                <a:latin typeface="Times New Roman" panose="02020603050405020304" pitchFamily="18" charset="0"/>
              </a:rPr>
              <a:t>S</a:t>
            </a:r>
            <a:r>
              <a:rPr kumimoji="1" lang="en-US" altLang="zh-TW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TW">
                <a:latin typeface="Times New Roman" panose="02020603050405020304" pitchFamily="18" charset="0"/>
              </a:rPr>
              <a:t> </a:t>
            </a:r>
            <a:r>
              <a:rPr kumimoji="1" lang="en-US" altLang="zh-TW" sz="2800">
                <a:latin typeface="Times New Roman" panose="02020603050405020304" pitchFamily="18" charset="0"/>
              </a:rPr>
              <a:t>(W[0] ⊕ W[2] ⊕ W[8] ⊕ W[13])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 sz="2800">
                <a:latin typeface="Times New Roman" panose="02020603050405020304" pitchFamily="18" charset="0"/>
              </a:rPr>
              <a:t>W[79] = </a:t>
            </a:r>
            <a:r>
              <a:rPr kumimoji="1" lang="en-US" altLang="zh-CN">
                <a:latin typeface="Times New Roman" panose="02020603050405020304" pitchFamily="18" charset="0"/>
              </a:rPr>
              <a:t>CL</a:t>
            </a:r>
            <a:r>
              <a:rPr kumimoji="1" lang="en-US" altLang="zh-TW">
                <a:latin typeface="Times New Roman" panose="02020603050405020304" pitchFamily="18" charset="0"/>
              </a:rPr>
              <a:t>S</a:t>
            </a:r>
            <a:r>
              <a:rPr kumimoji="1" lang="en-US" altLang="zh-TW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TW">
                <a:latin typeface="Times New Roman" panose="02020603050405020304" pitchFamily="18" charset="0"/>
              </a:rPr>
              <a:t> </a:t>
            </a:r>
            <a:r>
              <a:rPr kumimoji="1" lang="en-US" altLang="zh-TW" sz="2800">
                <a:latin typeface="Times New Roman" panose="02020603050405020304" pitchFamily="18" charset="0"/>
              </a:rPr>
              <a:t>(W[63] ⊕ W[65] ⊕ W[71] ⊕ W[76])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 sz="2800">
                <a:latin typeface="Times New Roman" panose="02020603050405020304" pitchFamily="18" charset="0"/>
              </a:rPr>
              <a:t>其中：</a:t>
            </a:r>
            <a:r>
              <a:rPr kumimoji="1" lang="en-US" altLang="zh-CN">
                <a:latin typeface="Times New Roman" panose="02020603050405020304" pitchFamily="18" charset="0"/>
              </a:rPr>
              <a:t>CL</a:t>
            </a:r>
            <a:r>
              <a:rPr kumimoji="1" lang="en-US" altLang="zh-TW">
                <a:latin typeface="Times New Roman" panose="02020603050405020304" pitchFamily="18" charset="0"/>
              </a:rPr>
              <a:t>S</a:t>
            </a:r>
            <a:r>
              <a:rPr kumimoji="1" lang="en-US" altLang="zh-TW" baseline="-25000">
                <a:latin typeface="Times New Roman" panose="02020603050405020304" pitchFamily="18" charset="0"/>
              </a:rPr>
              <a:t>1</a:t>
            </a:r>
            <a:r>
              <a:rPr kumimoji="1" lang="zh-TW" altLang="en-US" sz="2800">
                <a:solidFill>
                  <a:srgbClr val="800000"/>
                </a:solidFill>
                <a:latin typeface="Times New Roman" panose="02020603050405020304" pitchFamily="18" charset="0"/>
              </a:rPr>
              <a:t>表示向左</a:t>
            </a:r>
            <a:r>
              <a:rPr kumimoji="1" lang="zh-CN" altLang="en-US" sz="2800">
                <a:solidFill>
                  <a:srgbClr val="800000"/>
                </a:solidFill>
                <a:latin typeface="Times New Roman" panose="02020603050405020304" pitchFamily="18" charset="0"/>
              </a:rPr>
              <a:t>循环移动</a:t>
            </a:r>
            <a:r>
              <a:rPr kumimoji="1" lang="en-US" altLang="zh-TW" sz="2800">
                <a:solidFill>
                  <a:srgbClr val="8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solidFill>
                  <a:srgbClr val="800000"/>
                </a:solidFill>
                <a:latin typeface="Times New Roman" panose="02020603050405020304" pitchFamily="18" charset="0"/>
              </a:rPr>
              <a:t>比特</a:t>
            </a:r>
            <a:r>
              <a:rPr kumimoji="1" lang="zh-TW" altLang="en-US" sz="2800">
                <a:solidFill>
                  <a:srgbClr val="800000"/>
                </a:solidFill>
                <a:latin typeface="Times New Roman" panose="02020603050405020304" pitchFamily="18" charset="0"/>
              </a:rPr>
              <a:t>。</a:t>
            </a:r>
            <a:endParaRPr kumimoji="1" lang="zh-TW" altLang="zh-CN" sz="280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solidFill>
                  <a:srgbClr val="800000"/>
                </a:solidFill>
                <a:latin typeface="Times New Roman" panose="02020603050405020304" pitchFamily="18" charset="0"/>
              </a:rPr>
              <a:t>W[K]</a:t>
            </a:r>
            <a:r>
              <a:rPr kumimoji="1" lang="en-US" altLang="zh-TW">
                <a:latin typeface="Times New Roman" panose="02020603050405020304" pitchFamily="18" charset="0"/>
              </a:rPr>
              <a:t>,  k=0, 1, ...., 79</a:t>
            </a:r>
            <a:r>
              <a:rPr kumimoji="1" lang="zh-TW" altLang="en-US">
                <a:latin typeface="Times New Roman" panose="02020603050405020304" pitchFamily="18" charset="0"/>
              </a:rPr>
              <a:t>，</a:t>
            </a:r>
            <a:endParaRPr kumimoji="1"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>
            <a:extLst>
              <a:ext uri="{FF2B5EF4-FFF2-40B4-BE49-F238E27FC236}">
                <a16:creationId xmlns:a16="http://schemas.microsoft.com/office/drawing/2014/main" id="{AD197CB7-6043-3F00-A4A5-544FE48492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08C397-5444-48B6-8977-28533231147C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4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EDCF471-5D8A-252E-EC04-6A335C481F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47675"/>
            <a:ext cx="4546600" cy="396875"/>
          </a:xfrm>
        </p:spPr>
        <p:txBody>
          <a:bodyPr/>
          <a:lstStyle/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华文行楷" panose="02010800040101010101" pitchFamily="2" charset="-122"/>
              </a:rPr>
              <a:t>SHA1 </a:t>
            </a:r>
            <a:r>
              <a:rPr lang="zh-CN" altLang="en-US" sz="4000">
                <a:solidFill>
                  <a:srgbClr val="FF0000"/>
                </a:solidFill>
                <a:ea typeface="华文行楷" panose="02010800040101010101" pitchFamily="2" charset="-122"/>
              </a:rPr>
              <a:t>的</a:t>
            </a:r>
            <a:r>
              <a:rPr lang="en-US" altLang="zh-CN" sz="4000">
                <a:solidFill>
                  <a:srgbClr val="FF0000"/>
                </a:solidFill>
                <a:ea typeface="华文行楷" panose="02010800040101010101" pitchFamily="2" charset="-122"/>
              </a:rPr>
              <a:t>IV</a:t>
            </a:r>
            <a:r>
              <a:rPr lang="zh-CN" altLang="en-US" sz="4000">
                <a:solidFill>
                  <a:srgbClr val="FF0000"/>
                </a:solidFill>
                <a:ea typeface="华文行楷" panose="02010800040101010101" pitchFamily="2" charset="-122"/>
              </a:rPr>
              <a:t>初值</a:t>
            </a:r>
          </a:p>
        </p:txBody>
      </p:sp>
      <p:sp>
        <p:nvSpPr>
          <p:cNvPr id="48132" name="Text Box 3">
            <a:extLst>
              <a:ext uri="{FF2B5EF4-FFF2-40B4-BE49-F238E27FC236}">
                <a16:creationId xmlns:a16="http://schemas.microsoft.com/office/drawing/2014/main" id="{EE3E633F-95E8-C95A-71B8-0D5D67766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96975"/>
            <a:ext cx="6172200" cy="378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用到</a:t>
            </a:r>
            <a:r>
              <a:rPr kumimoji="1" lang="en-US" altLang="zh-CN" sz="23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个变量，分别为</a:t>
            </a:r>
            <a:r>
              <a:rPr kumimoji="1" lang="en-US" altLang="zh-CN" sz="230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30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30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30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300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均为</a:t>
            </a:r>
            <a:r>
              <a:rPr kumimoji="1" lang="en-US" altLang="zh-CN" sz="2300">
                <a:solidFill>
                  <a:schemeClr val="tx2"/>
                </a:solidFill>
                <a:latin typeface="Times New Roman" panose="02020603050405020304" pitchFamily="18" charset="0"/>
              </a:rPr>
              <a:t>32bit</a:t>
            </a:r>
            <a: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  <a:t>长。初始化为： </a:t>
            </a:r>
            <a:br>
              <a:rPr kumimoji="1" lang="zh-CN" altLang="en-US" sz="2300">
                <a:solidFill>
                  <a:schemeClr val="tx2"/>
                </a:solidFill>
                <a:latin typeface="Times New Roman" panose="02020603050405020304" pitchFamily="18" charset="0"/>
              </a:rPr>
            </a:br>
            <a:r>
              <a:rPr kumimoji="1" lang="zh-CN" altLang="en-US" sz="2400">
                <a:solidFill>
                  <a:srgbClr val="008080"/>
                </a:solidFill>
                <a:latin typeface="Times New Roman" panose="02020603050405020304" pitchFamily="18" charset="0"/>
              </a:rPr>
              <a:t>暂</a:t>
            </a:r>
            <a:r>
              <a:rPr kumimoji="1" lang="zh-TW" altLang="en-US" sz="2400">
                <a:solidFill>
                  <a:srgbClr val="008080"/>
                </a:solidFill>
                <a:latin typeface="Times New Roman" panose="02020603050405020304" pitchFamily="18" charset="0"/>
              </a:rPr>
              <a:t>存器初始值</a:t>
            </a:r>
            <a:endParaRPr kumimoji="1" lang="zh-TW" altLang="en-US" sz="240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latin typeface="Times New Roman" panose="02020603050405020304" pitchFamily="18" charset="0"/>
              </a:rPr>
              <a:t>A</a:t>
            </a:r>
            <a:r>
              <a:rPr kumimoji="1" lang="zh-TW" altLang="en-US">
                <a:latin typeface="Times New Roman" panose="02020603050405020304" pitchFamily="18" charset="0"/>
              </a:rPr>
              <a:t>：</a:t>
            </a:r>
            <a:r>
              <a:rPr kumimoji="1" lang="en-US" altLang="zh-TW">
                <a:latin typeface="Times New Roman" panose="02020603050405020304" pitchFamily="18" charset="0"/>
              </a:rPr>
              <a:t>67 45 23 01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latin typeface="Times New Roman" panose="02020603050405020304" pitchFamily="18" charset="0"/>
              </a:rPr>
              <a:t>B</a:t>
            </a:r>
            <a:r>
              <a:rPr kumimoji="1" lang="zh-TW" altLang="en-US">
                <a:latin typeface="Times New Roman" panose="02020603050405020304" pitchFamily="18" charset="0"/>
              </a:rPr>
              <a:t>：</a:t>
            </a:r>
            <a:r>
              <a:rPr kumimoji="1" lang="en-US" altLang="zh-TW">
                <a:latin typeface="Times New Roman" panose="02020603050405020304" pitchFamily="18" charset="0"/>
              </a:rPr>
              <a:t>EF CD AB 89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latin typeface="Times New Roman" panose="02020603050405020304" pitchFamily="18" charset="0"/>
              </a:rPr>
              <a:t>C</a:t>
            </a:r>
            <a:r>
              <a:rPr kumimoji="1" lang="zh-TW" altLang="en-US">
                <a:latin typeface="Times New Roman" panose="02020603050405020304" pitchFamily="18" charset="0"/>
              </a:rPr>
              <a:t>：</a:t>
            </a:r>
            <a:r>
              <a:rPr kumimoji="1" lang="en-US" altLang="zh-TW">
                <a:latin typeface="Times New Roman" panose="02020603050405020304" pitchFamily="18" charset="0"/>
              </a:rPr>
              <a:t>98 BA DC FE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latin typeface="Times New Roman" panose="02020603050405020304" pitchFamily="18" charset="0"/>
              </a:rPr>
              <a:t>D</a:t>
            </a:r>
            <a:r>
              <a:rPr kumimoji="1" lang="zh-TW" altLang="en-US">
                <a:latin typeface="Times New Roman" panose="02020603050405020304" pitchFamily="18" charset="0"/>
              </a:rPr>
              <a:t>：</a:t>
            </a:r>
            <a:r>
              <a:rPr kumimoji="1" lang="en-US" altLang="zh-TW">
                <a:latin typeface="Times New Roman" panose="02020603050405020304" pitchFamily="18" charset="0"/>
              </a:rPr>
              <a:t>10 32 54 76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>
                <a:latin typeface="Times New Roman" panose="02020603050405020304" pitchFamily="18" charset="0"/>
              </a:rPr>
              <a:t>E </a:t>
            </a:r>
            <a:r>
              <a:rPr kumimoji="1" lang="zh-TW" altLang="en-US">
                <a:latin typeface="Times New Roman" panose="02020603050405020304" pitchFamily="18" charset="0"/>
              </a:rPr>
              <a:t>：</a:t>
            </a:r>
            <a:r>
              <a:rPr kumimoji="1" lang="en-US" altLang="zh-TW">
                <a:latin typeface="Times New Roman" panose="02020603050405020304" pitchFamily="18" charset="0"/>
              </a:rPr>
              <a:t>C3 D2 E1 F0 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48133" name="Object 4">
            <a:extLst>
              <a:ext uri="{FF2B5EF4-FFF2-40B4-BE49-F238E27FC236}">
                <a16:creationId xmlns:a16="http://schemas.microsoft.com/office/drawing/2014/main" id="{12D6D4BD-0E70-CA9F-B6F9-3E7A7A0C5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6563" y="2133600"/>
          <a:ext cx="4897437" cy="387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592678" imgH="2846832" progId="Visio.Drawing.11">
                  <p:embed/>
                </p:oleObj>
              </mc:Choice>
              <mc:Fallback>
                <p:oleObj name="Visio" r:id="rId2" imgW="3592678" imgH="284683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3" y="2133600"/>
                        <a:ext cx="4897437" cy="387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A8F58BFE-53F7-EAAF-D3EC-35397A3F9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2EF8A9-51C7-44A0-BF21-4185343656FF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400"/>
          </a:p>
        </p:txBody>
      </p:sp>
      <p:graphicFrame>
        <p:nvGraphicFramePr>
          <p:cNvPr id="49155" name="Object 2">
            <a:extLst>
              <a:ext uri="{FF2B5EF4-FFF2-40B4-BE49-F238E27FC236}">
                <a16:creationId xmlns:a16="http://schemas.microsoft.com/office/drawing/2014/main" id="{BFAE204B-12B7-9310-1CEE-0DAD996478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781050"/>
          <a:ext cx="4752975" cy="601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874618" imgH="4906975" progId="Visio.Drawing.11">
                  <p:embed/>
                </p:oleObj>
              </mc:Choice>
              <mc:Fallback>
                <p:oleObj name="Visio" r:id="rId2" imgW="3874618" imgH="490697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781050"/>
                        <a:ext cx="4752975" cy="601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Rectangle 3">
            <a:extLst>
              <a:ext uri="{FF2B5EF4-FFF2-40B4-BE49-F238E27FC236}">
                <a16:creationId xmlns:a16="http://schemas.microsoft.com/office/drawing/2014/main" id="{DE217552-B772-8CE4-2921-1BFC3BFE8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88" y="157163"/>
            <a:ext cx="7793037" cy="623887"/>
          </a:xfrm>
          <a:noFill/>
        </p:spPr>
        <p:txBody>
          <a:bodyPr/>
          <a:lstStyle/>
          <a:p>
            <a:pPr eaLnBrk="1" hangingPunct="1"/>
            <a:r>
              <a:rPr lang="en-US" altLang="zh-TW"/>
              <a:t>SHA-1 </a:t>
            </a:r>
            <a:r>
              <a:rPr lang="zh-TW" altLang="en-US"/>
              <a:t>算法 </a:t>
            </a:r>
            <a:endParaRPr lang="en-US" altLang="zh-CN"/>
          </a:p>
        </p:txBody>
      </p:sp>
      <p:sp>
        <p:nvSpPr>
          <p:cNvPr id="49157" name="文本框 1">
            <a:extLst>
              <a:ext uri="{FF2B5EF4-FFF2-40B4-BE49-F238E27FC236}">
                <a16:creationId xmlns:a16="http://schemas.microsoft.com/office/drawing/2014/main" id="{A30ADA74-8494-F62E-6951-4F5DBBBB8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2924175"/>
            <a:ext cx="18732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00"/>
                </a:solidFill>
              </a:rPr>
              <a:t>针对每一个明文分组的运算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86B32630-E6FB-1C60-E603-A0F0E0442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77F7D8-1EFD-4E82-80FC-2CA68D16D68A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4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5CA1B1F6-2B06-BFB0-A8FD-8F3D9B2D32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785225" cy="56880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800000"/>
                </a:solidFill>
              </a:rPr>
              <a:t>处理</a:t>
            </a:r>
            <a:r>
              <a:rPr lang="zh-TW" altLang="en-US">
                <a:solidFill>
                  <a:srgbClr val="800000"/>
                </a:solidFill>
              </a:rPr>
              <a:t>程序：</a:t>
            </a:r>
            <a:r>
              <a:rPr lang="en-US" altLang="zh-TW">
                <a:solidFill>
                  <a:srgbClr val="800000"/>
                </a:solidFill>
              </a:rPr>
              <a:t>4 </a:t>
            </a:r>
            <a:r>
              <a:rPr lang="zh-TW" altLang="en-US">
                <a:solidFill>
                  <a:srgbClr val="800000"/>
                </a:solidFill>
              </a:rPr>
              <a:t>回合，</a:t>
            </a:r>
            <a:r>
              <a:rPr lang="zh-CN" altLang="en-US">
                <a:solidFill>
                  <a:srgbClr val="800000"/>
                </a:solidFill>
              </a:rPr>
              <a:t>共计</a:t>
            </a:r>
            <a:r>
              <a:rPr lang="zh-TW" altLang="en-US">
                <a:solidFill>
                  <a:srgbClr val="800000"/>
                </a:solidFill>
              </a:rPr>
              <a:t> </a:t>
            </a:r>
            <a:r>
              <a:rPr lang="en-US" altLang="zh-TW">
                <a:solidFill>
                  <a:srgbClr val="800000"/>
                </a:solidFill>
              </a:rPr>
              <a:t>80 </a:t>
            </a:r>
            <a:r>
              <a:rPr lang="zh-TW" altLang="en-US">
                <a:solidFill>
                  <a:srgbClr val="800000"/>
                </a:solidFill>
              </a:rPr>
              <a:t>次；</a:t>
            </a:r>
            <a:r>
              <a:rPr lang="en-US" altLang="zh-TW">
                <a:solidFill>
                  <a:srgbClr val="800000"/>
                </a:solidFill>
              </a:rPr>
              <a:t>5 </a:t>
            </a:r>
            <a:r>
              <a:rPr lang="zh-CN" altLang="en-US">
                <a:solidFill>
                  <a:srgbClr val="800000"/>
                </a:solidFill>
              </a:rPr>
              <a:t>个缓存器</a:t>
            </a:r>
            <a:r>
              <a:rPr lang="zh-TW" altLang="en-US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A = E + </a:t>
            </a:r>
            <a:r>
              <a:rPr lang="en-US" altLang="zh-CN"/>
              <a:t>f</a:t>
            </a:r>
            <a:r>
              <a:rPr lang="en-US" altLang="zh-CN" baseline="-30000"/>
              <a:t>1-4</a:t>
            </a:r>
            <a:r>
              <a:rPr lang="en-US" altLang="zh-CN"/>
              <a:t>(t,B</a:t>
            </a:r>
            <a:r>
              <a:rPr lang="en-US" altLang="zh-TW"/>
              <a:t>, C, D) + S</a:t>
            </a:r>
            <a:r>
              <a:rPr lang="en-US" altLang="zh-TW" baseline="30000"/>
              <a:t>5</a:t>
            </a:r>
            <a:r>
              <a:rPr lang="en-US" altLang="zh-TW"/>
              <a:t>(A) + W[t] + K</a:t>
            </a:r>
            <a:r>
              <a:rPr lang="en-US" altLang="zh-TW" baseline="-30000"/>
              <a:t>1-4</a:t>
            </a:r>
            <a:r>
              <a:rPr lang="en-US" altLang="zh-TW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B = A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C = S</a:t>
            </a:r>
            <a:r>
              <a:rPr lang="en-US" altLang="zh-TW" baseline="30000"/>
              <a:t>30</a:t>
            </a:r>
            <a:r>
              <a:rPr lang="en-US" altLang="zh-TW"/>
              <a:t>(B)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D = C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E = D</a:t>
            </a:r>
            <a:endParaRPr lang="en-US" altLang="zh-CN"/>
          </a:p>
        </p:txBody>
      </p:sp>
      <p:graphicFrame>
        <p:nvGraphicFramePr>
          <p:cNvPr id="50180" name="Object 3">
            <a:extLst>
              <a:ext uri="{FF2B5EF4-FFF2-40B4-BE49-F238E27FC236}">
                <a16:creationId xmlns:a16="http://schemas.microsoft.com/office/drawing/2014/main" id="{69A97CBA-F033-5553-0181-D23813A507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205038"/>
          <a:ext cx="5410200" cy="426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294937" imgH="3387852" progId="Visio.Drawing.11">
                  <p:embed/>
                </p:oleObj>
              </mc:Choice>
              <mc:Fallback>
                <p:oleObj name="Visio" r:id="rId2" imgW="4294937" imgH="338785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205038"/>
                        <a:ext cx="5410200" cy="426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Rectangle 4">
            <a:extLst>
              <a:ext uri="{FF2B5EF4-FFF2-40B4-BE49-F238E27FC236}">
                <a16:creationId xmlns:a16="http://schemas.microsoft.com/office/drawing/2014/main" id="{80A22329-F6C3-C966-521B-579DAE8C5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98425"/>
            <a:ext cx="7793038" cy="687388"/>
          </a:xfrm>
          <a:noFill/>
        </p:spPr>
        <p:txBody>
          <a:bodyPr/>
          <a:lstStyle/>
          <a:p>
            <a:pPr eaLnBrk="1" hangingPunct="1"/>
            <a:r>
              <a:rPr lang="en-US" altLang="zh-TW"/>
              <a:t>SHA-1 </a:t>
            </a:r>
            <a:r>
              <a:rPr lang="zh-CN" altLang="en-US"/>
              <a:t>压缩函数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30B20085-5078-8B8D-E276-053334170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B55DE0-1B24-478E-BE1B-15B68CD610EB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4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F1864D1-9A0B-493B-F30B-D953A2959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23813"/>
            <a:ext cx="7793038" cy="909637"/>
          </a:xfrm>
        </p:spPr>
        <p:txBody>
          <a:bodyPr/>
          <a:lstStyle/>
          <a:p>
            <a:pPr eaLnBrk="1" hangingPunct="1"/>
            <a:r>
              <a:rPr lang="zh-CN" altLang="en-US"/>
              <a:t>上图表达式的说明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DE98800-4629-999D-6A1D-2661C2C93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178050"/>
            <a:ext cx="8305800" cy="3203575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zh-CN" altLang="en-US"/>
              <a:t>其中</a:t>
            </a:r>
            <a:r>
              <a:rPr lang="zh-TW" altLang="en-US"/>
              <a:t> </a:t>
            </a:r>
            <a:r>
              <a:rPr lang="en-US" altLang="zh-CN"/>
              <a:t>f</a:t>
            </a:r>
            <a:r>
              <a:rPr lang="en-US" altLang="zh-CN" baseline="-30000"/>
              <a:t>1-4</a:t>
            </a:r>
            <a:r>
              <a:rPr lang="en-US" altLang="zh-CN"/>
              <a:t>(t,B</a:t>
            </a:r>
            <a:r>
              <a:rPr lang="en-US" altLang="zh-TW"/>
              <a:t>, C, D) </a:t>
            </a:r>
            <a:r>
              <a:rPr lang="en-US" altLang="zh-CN"/>
              <a:t>=</a:t>
            </a:r>
            <a:r>
              <a:rPr lang="zh-CN" altLang="en-US"/>
              <a:t>步</a:t>
            </a:r>
            <a:r>
              <a:rPr lang="en-US" altLang="zh-CN"/>
              <a:t>t</a:t>
            </a:r>
            <a:r>
              <a:rPr lang="zh-CN" altLang="en-US"/>
              <a:t>的基本逻辑函数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S</a:t>
            </a:r>
            <a:r>
              <a:rPr lang="en-US" altLang="zh-CN" baseline="30000"/>
              <a:t>k</a:t>
            </a:r>
            <a:r>
              <a:rPr lang="en-US" altLang="zh-CN"/>
              <a:t> =</a:t>
            </a:r>
            <a:r>
              <a:rPr lang="zh-CN" altLang="en-US"/>
              <a:t>循环左移</a:t>
            </a:r>
            <a:r>
              <a:rPr lang="en-US" altLang="zh-CN"/>
              <a:t>k</a:t>
            </a:r>
            <a:r>
              <a:rPr lang="zh-CN" altLang="en-US"/>
              <a:t>位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W</a:t>
            </a:r>
            <a:r>
              <a:rPr lang="en-US" altLang="zh-CN" baseline="-25000"/>
              <a:t>t</a:t>
            </a:r>
            <a:r>
              <a:rPr lang="en-US" altLang="zh-CN"/>
              <a:t>=</a:t>
            </a:r>
            <a:r>
              <a:rPr lang="zh-CN" altLang="en-US"/>
              <a:t>一个从当前</a:t>
            </a:r>
            <a:r>
              <a:rPr lang="en-US" altLang="zh-CN"/>
              <a:t>512</a:t>
            </a:r>
            <a:r>
              <a:rPr lang="zh-CN" altLang="en-US"/>
              <a:t>位输入数据块导出的</a:t>
            </a:r>
            <a:r>
              <a:rPr lang="en-US" altLang="zh-CN"/>
              <a:t>32</a:t>
            </a:r>
            <a:r>
              <a:rPr lang="zh-CN" altLang="en-US"/>
              <a:t>位字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K</a:t>
            </a:r>
            <a:r>
              <a:rPr lang="en-US" altLang="zh-CN" baseline="-25000"/>
              <a:t>1-4</a:t>
            </a:r>
            <a:r>
              <a:rPr lang="zh-CN" altLang="en-US"/>
              <a:t>＝一个用于加法的常量， 四个不同值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+=</a:t>
            </a:r>
            <a:r>
              <a:rPr lang="zh-CN" altLang="en-US"/>
              <a:t>模 </a:t>
            </a:r>
            <a:r>
              <a:rPr lang="en-US" altLang="zh-CN"/>
              <a:t>2</a:t>
            </a:r>
            <a:r>
              <a:rPr lang="en-US" altLang="zh-CN" baseline="30000"/>
              <a:t>32</a:t>
            </a:r>
            <a:r>
              <a:rPr lang="zh-CN" altLang="en-US"/>
              <a:t>加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8">
            <a:extLst>
              <a:ext uri="{FF2B5EF4-FFF2-40B4-BE49-F238E27FC236}">
                <a16:creationId xmlns:a16="http://schemas.microsoft.com/office/drawing/2014/main" id="{108B82CB-299E-5420-601E-ECBD0174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66C165-9A25-4640-8AAF-F941246B268C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4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422903A-47FF-564B-1721-77F5D08A521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914400" y="0"/>
            <a:ext cx="6400800" cy="1143000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f</a:t>
            </a:r>
            <a:r>
              <a:rPr lang="en-US" altLang="zh-CN" baseline="-25000">
                <a:solidFill>
                  <a:srgbClr val="FF0000"/>
                </a:solidFill>
                <a:latin typeface="宋体" panose="02010600030101010101" pitchFamily="2" charset="-122"/>
              </a:rPr>
              <a:t>1-4</a:t>
            </a:r>
            <a:r>
              <a:rPr lang="zh-CN" altLang="en-US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逻辑函数的定义</a:t>
            </a:r>
          </a:p>
        </p:txBody>
      </p:sp>
      <p:graphicFrame>
        <p:nvGraphicFramePr>
          <p:cNvPr id="52228" name="Object 3">
            <a:extLst>
              <a:ext uri="{FF2B5EF4-FFF2-40B4-BE49-F238E27FC236}">
                <a16:creationId xmlns:a16="http://schemas.microsoft.com/office/drawing/2014/main" id="{E2438D21-A386-9F79-DDF8-27FDD5080048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1066800" y="1752600"/>
          <a:ext cx="66468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60700" imgH="317500" progId="Equation.DSMT4">
                  <p:embed/>
                </p:oleObj>
              </mc:Choice>
              <mc:Fallback>
                <p:oleObj name="Equation" r:id="rId2" imgW="3060700" imgH="31750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66468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4">
            <a:extLst>
              <a:ext uri="{FF2B5EF4-FFF2-40B4-BE49-F238E27FC236}">
                <a16:creationId xmlns:a16="http://schemas.microsoft.com/office/drawing/2014/main" id="{37C842A3-5D89-0AF4-3560-7B067891DE5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995363" y="2700338"/>
          <a:ext cx="636428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300" imgH="228600" progId="Equation.DSMT4">
                  <p:embed/>
                </p:oleObj>
              </mc:Choice>
              <mc:Fallback>
                <p:oleObj name="Equation" r:id="rId4" imgW="2781300" imgH="22860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2700338"/>
                        <a:ext cx="6364287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5">
            <a:extLst>
              <a:ext uri="{FF2B5EF4-FFF2-40B4-BE49-F238E27FC236}">
                <a16:creationId xmlns:a16="http://schemas.microsoft.com/office/drawing/2014/main" id="{658B4431-F2B0-017A-B5A9-A1D923816C69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995363" y="3482975"/>
          <a:ext cx="705008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10000" imgH="228600" progId="Equation.DSMT4">
                  <p:embed/>
                </p:oleObj>
              </mc:Choice>
              <mc:Fallback>
                <p:oleObj name="Equation" r:id="rId6" imgW="3810000" imgH="228600" progId="Equation.DSMT4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3482975"/>
                        <a:ext cx="7050087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6">
            <a:extLst>
              <a:ext uri="{FF2B5EF4-FFF2-40B4-BE49-F238E27FC236}">
                <a16:creationId xmlns:a16="http://schemas.microsoft.com/office/drawing/2014/main" id="{BB1E3E55-F788-478A-370F-41EA03FF88E6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5363" y="4502150"/>
          <a:ext cx="68675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81300" imgH="228600" progId="Equation.DSMT4">
                  <p:embed/>
                </p:oleObj>
              </mc:Choice>
              <mc:Fallback>
                <p:oleObj name="Equation" r:id="rId8" imgW="2781300" imgH="228600" progId="Equation.DSMT4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4502150"/>
                        <a:ext cx="68675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20066EB4-C130-805C-EDE3-A9E8CD91A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38E253-F6C8-45B9-B0A6-9561330B9997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400"/>
          </a:p>
        </p:txBody>
      </p:sp>
      <p:sp>
        <p:nvSpPr>
          <p:cNvPr id="53251" name="Rectangle 67">
            <a:extLst>
              <a:ext uri="{FF2B5EF4-FFF2-40B4-BE49-F238E27FC236}">
                <a16:creationId xmlns:a16="http://schemas.microsoft.com/office/drawing/2014/main" id="{221D4CA0-AB81-5E2F-A38D-7934C3022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36538"/>
            <a:ext cx="7793037" cy="762000"/>
          </a:xfrm>
        </p:spPr>
        <p:txBody>
          <a:bodyPr/>
          <a:lstStyle/>
          <a:p>
            <a:pPr eaLnBrk="1" hangingPunct="1"/>
            <a:r>
              <a:rPr lang="en-US" altLang="zh-TW">
                <a:latin typeface="宋体" panose="02010600030101010101" pitchFamily="2" charset="-122"/>
              </a:rPr>
              <a:t>SHA-1 </a:t>
            </a:r>
            <a:r>
              <a:rPr lang="zh-TW" altLang="en-US">
                <a:latin typeface="宋体" panose="02010600030101010101" pitchFamily="2" charset="-122"/>
              </a:rPr>
              <a:t>算法</a:t>
            </a:r>
            <a:r>
              <a:rPr lang="en-US" altLang="zh-CN">
                <a:latin typeface="宋体" panose="02010600030101010101" pitchFamily="2" charset="-122"/>
              </a:rPr>
              <a:t>——K</a:t>
            </a:r>
            <a:r>
              <a:rPr lang="en-US" altLang="zh-CN" baseline="-25000">
                <a:latin typeface="宋体" panose="02010600030101010101" pitchFamily="2" charset="-122"/>
              </a:rPr>
              <a:t>i</a:t>
            </a:r>
            <a:r>
              <a:rPr lang="zh-CN" altLang="en-US">
                <a:latin typeface="宋体" panose="02010600030101010101" pitchFamily="2" charset="-122"/>
              </a:rPr>
              <a:t>的取值</a:t>
            </a:r>
          </a:p>
        </p:txBody>
      </p:sp>
      <p:sp>
        <p:nvSpPr>
          <p:cNvPr id="53252" name="Rectangle 68">
            <a:extLst>
              <a:ext uri="{FF2B5EF4-FFF2-40B4-BE49-F238E27FC236}">
                <a16:creationId xmlns:a16="http://schemas.microsoft.com/office/drawing/2014/main" id="{BAB19841-83A6-17E3-DC3C-AF64F1BFE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98538"/>
            <a:ext cx="80645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输入常数</a:t>
            </a:r>
          </a:p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整数</a:t>
            </a:r>
            <a:r>
              <a:rPr kumimoji="1" lang="zh-TW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的功能</a:t>
            </a:r>
            <a:endParaRPr kumimoji="1" lang="zh-TW" altLang="en-US" sz="2400">
              <a:latin typeface="Times New Roman" panose="02020603050405020304" pitchFamily="18" charset="0"/>
            </a:endParaRPr>
          </a:p>
        </p:txBody>
      </p:sp>
      <p:pic>
        <p:nvPicPr>
          <p:cNvPr id="53253" name="图片 4">
            <a:extLst>
              <a:ext uri="{FF2B5EF4-FFF2-40B4-BE49-F238E27FC236}">
                <a16:creationId xmlns:a16="http://schemas.microsoft.com/office/drawing/2014/main" id="{D03AE2DF-7519-3894-3838-036C5B0C3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97088"/>
            <a:ext cx="9144000" cy="454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>
            <a:extLst>
              <a:ext uri="{FF2B5EF4-FFF2-40B4-BE49-F238E27FC236}">
                <a16:creationId xmlns:a16="http://schemas.microsoft.com/office/drawing/2014/main" id="{993706BA-E9B2-61F4-1050-AD85B7765A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EB469C-10EC-473B-BB92-DCE9D18B39BC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19F36257-DD87-E72D-93AB-FD967FB65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889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ea"/>
              </a:rPr>
              <a:t>SHA</a:t>
            </a:r>
            <a:r>
              <a:rPr lang="zh-CN" altLang="en-US" dirty="0">
                <a:latin typeface="+mj-ea"/>
              </a:rPr>
              <a:t>算法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D8C57DD-AEF3-4FC4-3E6C-3B8C8E759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532812" cy="559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>
                <a:solidFill>
                  <a:srgbClr val="800000"/>
                </a:solidFill>
                <a:latin typeface="宋体" panose="02010600030101010101" pitchFamily="2" charset="-122"/>
              </a:rPr>
              <a:t>处理步骤</a:t>
            </a:r>
            <a:r>
              <a:rPr kumimoji="1" lang="zh-TW" altLang="en-US">
                <a:latin typeface="宋体" panose="02010600030101010101" pitchFamily="2" charset="-122"/>
              </a:rPr>
              <a:t>： </a:t>
            </a:r>
            <a:endParaRPr kumimoji="1" lang="zh-TW" altLang="zh-CN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>
                <a:solidFill>
                  <a:srgbClr val="800000"/>
                </a:solidFill>
                <a:latin typeface="宋体" panose="02010600030101010101" pitchFamily="2" charset="-122"/>
              </a:rPr>
              <a:t>步驟 </a:t>
            </a:r>
            <a:r>
              <a:rPr kumimoji="1" lang="en-US" altLang="zh-TW">
                <a:solidFill>
                  <a:srgbClr val="800000"/>
                </a:solidFill>
                <a:latin typeface="宋体" panose="02010600030101010101" pitchFamily="2" charset="-122"/>
              </a:rPr>
              <a:t>1</a:t>
            </a:r>
            <a:r>
              <a:rPr kumimoji="1" lang="zh-TW" altLang="en-US">
                <a:latin typeface="宋体" panose="02010600030101010101" pitchFamily="2" charset="-122"/>
              </a:rPr>
              <a:t>：將</a:t>
            </a:r>
            <a:r>
              <a:rPr kumimoji="1" lang="zh-CN" altLang="en-US">
                <a:latin typeface="宋体" panose="02010600030101010101" pitchFamily="2" charset="-122"/>
              </a:rPr>
              <a:t>输入</a:t>
            </a:r>
            <a:r>
              <a:rPr kumimoji="1" lang="zh-TW" altLang="en-US">
                <a:latin typeface="宋体" panose="02010600030101010101" pitchFamily="2" charset="-122"/>
              </a:rPr>
              <a:t>明文（</a:t>
            </a:r>
            <a:r>
              <a:rPr kumimoji="1" lang="en-US" altLang="zh-TW">
                <a:latin typeface="宋体" panose="02010600030101010101" pitchFamily="2" charset="-122"/>
              </a:rPr>
              <a:t>512 bits</a:t>
            </a:r>
            <a:r>
              <a:rPr kumimoji="1" lang="zh-TW" altLang="en-US">
                <a:latin typeface="宋体" panose="02010600030101010101" pitchFamily="2" charset="-122"/>
              </a:rPr>
              <a:t>）以每 </a:t>
            </a:r>
            <a:r>
              <a:rPr kumimoji="1" lang="en-US" altLang="zh-TW">
                <a:latin typeface="宋体" panose="02010600030101010101" pitchFamily="2" charset="-122"/>
              </a:rPr>
              <a:t>32 bits </a:t>
            </a:r>
            <a:r>
              <a:rPr kumimoji="1" lang="zh-TW" altLang="en-US">
                <a:latin typeface="宋体" panose="02010600030101010101" pitchFamily="2" charset="-122"/>
              </a:rPr>
              <a:t>為</a:t>
            </a:r>
            <a:r>
              <a:rPr kumimoji="1" lang="zh-CN" altLang="en-US">
                <a:latin typeface="宋体" panose="02010600030101010101" pitchFamily="2" charset="-122"/>
              </a:rPr>
              <a:t>单位</a:t>
            </a:r>
            <a:r>
              <a:rPr kumimoji="1" lang="zh-TW" altLang="en-US">
                <a:latin typeface="宋体" panose="02010600030101010101" pitchFamily="2" charset="-122"/>
              </a:rPr>
              <a:t>，分別存入</a:t>
            </a:r>
            <a:r>
              <a:rPr kumimoji="1" lang="en-US" altLang="zh-CN">
                <a:latin typeface="宋体" panose="02010600030101010101" pitchFamily="2" charset="-122"/>
              </a:rPr>
              <a:t>W</a:t>
            </a:r>
            <a:r>
              <a:rPr kumimoji="1" lang="en-US" altLang="zh-TW">
                <a:latin typeface="宋体" panose="02010600030101010101" pitchFamily="2" charset="-122"/>
              </a:rPr>
              <a:t>[</a:t>
            </a:r>
            <a:r>
              <a:rPr kumimoji="1" lang="en-US" altLang="zh-CN">
                <a:latin typeface="宋体" panose="02010600030101010101" pitchFamily="2" charset="-122"/>
              </a:rPr>
              <a:t>i</a:t>
            </a:r>
            <a:r>
              <a:rPr kumimoji="1" lang="en-US" altLang="zh-TW">
                <a:latin typeface="宋体" panose="02010600030101010101" pitchFamily="2" charset="-122"/>
              </a:rPr>
              <a:t>]</a:t>
            </a:r>
            <a:r>
              <a:rPr kumimoji="1" lang="zh-TW" altLang="en-US">
                <a:latin typeface="宋体" panose="02010600030101010101" pitchFamily="2" charset="-122"/>
              </a:rPr>
              <a:t>中，其中 </a:t>
            </a:r>
            <a:r>
              <a:rPr kumimoji="1" lang="en-US" altLang="zh-TW">
                <a:latin typeface="宋体" panose="02010600030101010101" pitchFamily="2" charset="-122"/>
              </a:rPr>
              <a:t>i =0, 1, 2, .., 15</a:t>
            </a:r>
            <a:r>
              <a:rPr kumimoji="1" lang="en-US" altLang="zh-CN">
                <a:latin typeface="宋体" panose="02010600030101010101" pitchFamily="2" charset="-122"/>
              </a:rPr>
              <a:t>,W</a:t>
            </a:r>
            <a:r>
              <a:rPr kumimoji="1" lang="en-US" altLang="zh-CN" baseline="-25000">
                <a:latin typeface="宋体" panose="02010600030101010101" pitchFamily="2" charset="-122"/>
              </a:rPr>
              <a:t>t</a:t>
            </a:r>
            <a:r>
              <a:rPr kumimoji="1" lang="zh-CN" altLang="en-US">
                <a:latin typeface="宋体" panose="02010600030101010101" pitchFamily="2" charset="-122"/>
              </a:rPr>
              <a:t>由</a:t>
            </a:r>
            <a:r>
              <a:rPr kumimoji="1" lang="en-US" altLang="zh-CN">
                <a:latin typeface="宋体" panose="02010600030101010101" pitchFamily="2" charset="-122"/>
              </a:rPr>
              <a:t>W[i]</a:t>
            </a:r>
            <a:r>
              <a:rPr kumimoji="1" lang="zh-CN" altLang="en-US">
                <a:latin typeface="宋体" panose="02010600030101010101" pitchFamily="2" charset="-122"/>
              </a:rPr>
              <a:t>扩展</a:t>
            </a:r>
            <a:endParaRPr kumimoji="1" lang="zh-TW" altLang="zh-CN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>
                <a:solidFill>
                  <a:srgbClr val="800000"/>
                </a:solidFill>
                <a:latin typeface="宋体" panose="02010600030101010101" pitchFamily="2" charset="-122"/>
              </a:rPr>
              <a:t>步驟 </a:t>
            </a:r>
            <a:r>
              <a:rPr kumimoji="1" lang="en-US" altLang="zh-TW">
                <a:solidFill>
                  <a:srgbClr val="800000"/>
                </a:solidFill>
                <a:latin typeface="宋体" panose="02010600030101010101" pitchFamily="2" charset="-122"/>
              </a:rPr>
              <a:t>2</a:t>
            </a:r>
            <a:r>
              <a:rPr kumimoji="1" lang="zh-TW" altLang="en-US">
                <a:latin typeface="宋体" panose="02010600030101010101" pitchFamily="2" charset="-122"/>
              </a:rPr>
              <a:t>：初始化 </a:t>
            </a:r>
            <a:r>
              <a:rPr kumimoji="1" lang="en-US" altLang="zh-TW">
                <a:latin typeface="宋体" panose="02010600030101010101" pitchFamily="2" charset="-122"/>
              </a:rPr>
              <a:t>A</a:t>
            </a:r>
            <a:r>
              <a:rPr kumimoji="1" lang="zh-TW" altLang="en-US">
                <a:latin typeface="宋体" panose="02010600030101010101" pitchFamily="2" charset="-122"/>
              </a:rPr>
              <a:t>、</a:t>
            </a:r>
            <a:r>
              <a:rPr kumimoji="1" lang="en-US" altLang="zh-TW">
                <a:latin typeface="宋体" panose="02010600030101010101" pitchFamily="2" charset="-122"/>
              </a:rPr>
              <a:t>B</a:t>
            </a:r>
            <a:r>
              <a:rPr kumimoji="1" lang="zh-TW" altLang="en-US">
                <a:latin typeface="宋体" panose="02010600030101010101" pitchFamily="2" charset="-122"/>
              </a:rPr>
              <a:t>、</a:t>
            </a:r>
            <a:r>
              <a:rPr kumimoji="1" lang="en-US" altLang="zh-TW">
                <a:latin typeface="宋体" panose="02010600030101010101" pitchFamily="2" charset="-122"/>
              </a:rPr>
              <a:t>C</a:t>
            </a:r>
            <a:r>
              <a:rPr kumimoji="1" lang="zh-CN" altLang="en-US">
                <a:latin typeface="宋体" panose="02010600030101010101" pitchFamily="2" charset="-122"/>
              </a:rPr>
              <a:t>、</a:t>
            </a:r>
            <a:r>
              <a:rPr kumimoji="1" lang="en-US" altLang="zh-TW">
                <a:latin typeface="宋体" panose="02010600030101010101" pitchFamily="2" charset="-122"/>
              </a:rPr>
              <a:t>D</a:t>
            </a:r>
            <a:r>
              <a:rPr kumimoji="1" lang="zh-CN" altLang="en-US">
                <a:latin typeface="宋体" panose="02010600030101010101" pitchFamily="2" charset="-122"/>
              </a:rPr>
              <a:t>、</a:t>
            </a:r>
            <a:r>
              <a:rPr kumimoji="1" lang="en-US" altLang="zh-CN">
                <a:latin typeface="宋体" panose="02010600030101010101" pitchFamily="2" charset="-122"/>
              </a:rPr>
              <a:t>E</a:t>
            </a:r>
            <a:r>
              <a:rPr kumimoji="1" lang="en-US" altLang="zh-TW">
                <a:latin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缓</a:t>
            </a:r>
            <a:r>
              <a:rPr kumimoji="1" lang="zh-TW" altLang="en-US">
                <a:latin typeface="宋体" panose="02010600030101010101" pitchFamily="2" charset="-122"/>
              </a:rPr>
              <a:t>存器，如下：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 sz="2800">
                <a:latin typeface="宋体" panose="02010600030101010101" pitchFamily="2" charset="-122"/>
              </a:rPr>
              <a:t>    </a:t>
            </a:r>
            <a:r>
              <a:rPr kumimoji="1" lang="zh-TW" altLang="zh-CN" sz="2800">
                <a:latin typeface="宋体" panose="02010600030101010101" pitchFamily="2" charset="-122"/>
              </a:rPr>
              <a:t> </a:t>
            </a:r>
            <a:r>
              <a:rPr kumimoji="1" lang="zh-TW" altLang="en-US" sz="2800">
                <a:latin typeface="宋体" panose="02010600030101010101" pitchFamily="2" charset="-122"/>
              </a:rPr>
              <a:t> </a:t>
            </a:r>
            <a:r>
              <a:rPr kumimoji="1" lang="zh-TW" altLang="zh-CN" sz="2800">
                <a:latin typeface="宋体" panose="02010600030101010101" pitchFamily="2" charset="-122"/>
              </a:rPr>
              <a:t> </a:t>
            </a:r>
            <a:r>
              <a:rPr kumimoji="1" lang="zh-TW" altLang="en-US" sz="2800">
                <a:latin typeface="宋体" panose="02010600030101010101" pitchFamily="2" charset="-122"/>
              </a:rPr>
              <a:t> </a:t>
            </a:r>
            <a:r>
              <a:rPr kumimoji="1" lang="zh-TW" altLang="zh-CN" sz="2800">
                <a:latin typeface="宋体" panose="02010600030101010101" pitchFamily="2" charset="-122"/>
              </a:rPr>
              <a:t> </a:t>
            </a:r>
            <a:r>
              <a:rPr kumimoji="1" lang="zh-TW" altLang="en-US" sz="2800">
                <a:latin typeface="宋体" panose="02010600030101010101" pitchFamily="2" charset="-122"/>
              </a:rPr>
              <a:t> </a:t>
            </a:r>
            <a:r>
              <a:rPr kumimoji="1" lang="zh-TW" altLang="zh-CN" sz="2800">
                <a:latin typeface="宋体" panose="02010600030101010101" pitchFamily="2" charset="-122"/>
              </a:rPr>
              <a:t> </a:t>
            </a:r>
            <a:r>
              <a:rPr kumimoji="1" lang="zh-TW" altLang="en-US" sz="2800">
                <a:latin typeface="宋体" panose="02010600030101010101" pitchFamily="2" charset="-122"/>
              </a:rPr>
              <a:t> </a:t>
            </a:r>
            <a:r>
              <a:rPr kumimoji="1" lang="zh-TW" altLang="zh-CN" sz="2800">
                <a:latin typeface="宋体" panose="02010600030101010101" pitchFamily="2" charset="-122"/>
              </a:rPr>
              <a:t> </a:t>
            </a:r>
            <a:r>
              <a:rPr kumimoji="1" lang="zh-TW" altLang="en-US" sz="2800">
                <a:latin typeface="宋体" panose="02010600030101010101" pitchFamily="2" charset="-122"/>
              </a:rPr>
              <a:t>  </a:t>
            </a:r>
            <a:r>
              <a:rPr kumimoji="1" lang="en-US" altLang="zh-TW" sz="2800">
                <a:latin typeface="Times New Roman" panose="02020603050405020304" pitchFamily="18" charset="0"/>
              </a:rPr>
              <a:t>A</a:t>
            </a:r>
            <a:r>
              <a:rPr kumimoji="1" lang="zh-TW" altLang="en-US" sz="2800">
                <a:latin typeface="Times New Roman" panose="02020603050405020304" pitchFamily="18" charset="0"/>
              </a:rPr>
              <a:t>：</a:t>
            </a:r>
            <a:r>
              <a:rPr kumimoji="1" lang="en-US" altLang="zh-TW" sz="2800">
                <a:latin typeface="Times New Roman" panose="02020603050405020304" pitchFamily="18" charset="0"/>
              </a:rPr>
              <a:t>67 45 23 01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                            </a:t>
            </a:r>
            <a:r>
              <a:rPr kumimoji="1" lang="en-US" altLang="zh-TW" sz="2800">
                <a:latin typeface="Times New Roman" panose="02020603050405020304" pitchFamily="18" charset="0"/>
              </a:rPr>
              <a:t>B</a:t>
            </a:r>
            <a:r>
              <a:rPr kumimoji="1" lang="zh-TW" altLang="en-US" sz="2800">
                <a:latin typeface="Times New Roman" panose="02020603050405020304" pitchFamily="18" charset="0"/>
              </a:rPr>
              <a:t>：</a:t>
            </a:r>
            <a:r>
              <a:rPr kumimoji="1" lang="en-US" altLang="zh-TW" sz="2800">
                <a:latin typeface="Times New Roman" panose="02020603050405020304" pitchFamily="18" charset="0"/>
              </a:rPr>
              <a:t>EF CD AB 89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                            </a:t>
            </a:r>
            <a:r>
              <a:rPr kumimoji="1" lang="en-US" altLang="zh-TW" sz="2800">
                <a:latin typeface="Times New Roman" panose="02020603050405020304" pitchFamily="18" charset="0"/>
              </a:rPr>
              <a:t>C</a:t>
            </a:r>
            <a:r>
              <a:rPr kumimoji="1" lang="zh-TW" altLang="en-US" sz="2800">
                <a:latin typeface="Times New Roman" panose="02020603050405020304" pitchFamily="18" charset="0"/>
              </a:rPr>
              <a:t>：</a:t>
            </a:r>
            <a:r>
              <a:rPr kumimoji="1" lang="en-US" altLang="zh-TW" sz="2800">
                <a:latin typeface="Times New Roman" panose="02020603050405020304" pitchFamily="18" charset="0"/>
              </a:rPr>
              <a:t>98 BA DC FE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                            </a:t>
            </a:r>
            <a:r>
              <a:rPr kumimoji="1" lang="en-US" altLang="zh-TW" sz="2800">
                <a:latin typeface="Times New Roman" panose="02020603050405020304" pitchFamily="18" charset="0"/>
              </a:rPr>
              <a:t>D</a:t>
            </a:r>
            <a:r>
              <a:rPr kumimoji="1" lang="zh-TW" altLang="en-US" sz="2800">
                <a:latin typeface="Times New Roman" panose="02020603050405020304" pitchFamily="18" charset="0"/>
              </a:rPr>
              <a:t>：</a:t>
            </a:r>
            <a:r>
              <a:rPr kumimoji="1" lang="en-US" altLang="zh-TW" sz="2800">
                <a:latin typeface="Times New Roman" panose="02020603050405020304" pitchFamily="18" charset="0"/>
              </a:rPr>
              <a:t>10 32 54 76 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TW" sz="2800">
                <a:latin typeface="Times New Roman" panose="02020603050405020304" pitchFamily="18" charset="0"/>
              </a:rPr>
              <a:t> </a:t>
            </a:r>
            <a:r>
              <a:rPr kumimoji="1" lang="en-US" altLang="zh-CN" sz="2800">
                <a:latin typeface="Times New Roman" panose="02020603050405020304" pitchFamily="18" charset="0"/>
              </a:rPr>
              <a:t>                             </a:t>
            </a:r>
            <a:r>
              <a:rPr kumimoji="1" lang="en-US" altLang="zh-TW" sz="2800">
                <a:latin typeface="Times New Roman" panose="02020603050405020304" pitchFamily="18" charset="0"/>
              </a:rPr>
              <a:t>E </a:t>
            </a:r>
            <a:r>
              <a:rPr kumimoji="1" lang="zh-TW" altLang="en-US" sz="2800">
                <a:latin typeface="Times New Roman" panose="02020603050405020304" pitchFamily="18" charset="0"/>
              </a:rPr>
              <a:t>：</a:t>
            </a:r>
            <a:r>
              <a:rPr kumimoji="1" lang="en-US" altLang="zh-TW" sz="2800">
                <a:latin typeface="Times New Roman" panose="02020603050405020304" pitchFamily="18" charset="0"/>
              </a:rPr>
              <a:t>C3 D2 E1 F0 </a:t>
            </a:r>
            <a:endParaRPr kumimoji="1" lang="en-US" altLang="zh-TW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07FE08EA-DE9A-42FA-D142-F2320EEF6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0985D7-E39A-4F3B-8616-AD26C3D685C6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4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0F6B17C-43B4-D4F3-5983-962691A50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zh-CN"/>
              <a:t> </a:t>
            </a:r>
            <a:endParaRPr lang="zh-CN" altLang="zh-CN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D449D64-698E-C005-183B-347BC371CD1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90513" y="1268413"/>
            <a:ext cx="8853487" cy="4824412"/>
          </a:xfrm>
          <a:blipFill>
            <a:blip r:embed="rId2"/>
            <a:stretch>
              <a:fillRect t="-632" b="-4172"/>
            </a:stretch>
          </a:blipFill>
        </p:spPr>
        <p:txBody>
          <a:bodyPr/>
          <a:lstStyle/>
          <a:p>
            <a:pPr>
              <a:defRPr/>
            </a:pPr>
            <a:r>
              <a:rPr lang="en-CA">
                <a:noFill/>
              </a:rPr>
              <a:t> 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>
            <a:extLst>
              <a:ext uri="{FF2B5EF4-FFF2-40B4-BE49-F238E27FC236}">
                <a16:creationId xmlns:a16="http://schemas.microsoft.com/office/drawing/2014/main" id="{855EC231-48D4-7B4C-6AFA-3C0DB9C09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E5BF3E-C9ED-4420-8DA9-1C5002526464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4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E9F9BB89-A9CA-5697-1192-5949610B4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825" y="171450"/>
            <a:ext cx="7793038" cy="1000125"/>
          </a:xfrm>
        </p:spPr>
        <p:txBody>
          <a:bodyPr/>
          <a:lstStyle/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SHA</a:t>
            </a:r>
            <a:r>
              <a:rPr lang="zh-CN" altLang="en-US">
                <a:latin typeface="宋体" panose="02010600030101010101" pitchFamily="2" charset="-122"/>
              </a:rPr>
              <a:t>算法实例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A8ED6E6-6493-E7A4-92AC-351ECB240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1825" y="1670050"/>
            <a:ext cx="8081963" cy="45751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7-1 </a:t>
            </a:r>
            <a:r>
              <a:rPr lang="zh-CN" altLang="en-US" dirty="0"/>
              <a:t>对字符串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abc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，运用</a:t>
            </a:r>
            <a:r>
              <a:rPr lang="en-US" altLang="zh-CN" dirty="0"/>
              <a:t>SHA-1</a:t>
            </a:r>
            <a:r>
              <a:rPr lang="zh-CN" altLang="en-US" dirty="0"/>
              <a:t>求散列值。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解</a:t>
            </a:r>
            <a:r>
              <a:rPr lang="en-US" altLang="zh-CN" dirty="0"/>
              <a:t>:</a:t>
            </a:r>
            <a:r>
              <a:rPr lang="zh-CN" altLang="en-US" dirty="0"/>
              <a:t>首先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abc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二进制表示为：</a:t>
            </a:r>
            <a:r>
              <a:rPr lang="en-US" altLang="zh-CN" dirty="0"/>
              <a:t>01100001 01100010 01100011</a:t>
            </a:r>
            <a:r>
              <a:rPr lang="zh-CN" altLang="en-US" dirty="0"/>
              <a:t>，共</a:t>
            </a:r>
            <a:r>
              <a:rPr lang="en-US" altLang="zh-CN" dirty="0"/>
              <a:t>24</a:t>
            </a:r>
            <a:r>
              <a:rPr lang="zh-CN" altLang="en-US" dirty="0"/>
              <a:t>位长度。</a:t>
            </a:r>
          </a:p>
          <a:p>
            <a:pPr eaLnBrk="1" hangingPunct="1">
              <a:defRPr/>
            </a:pPr>
            <a:r>
              <a:rPr lang="zh-CN" altLang="en-US" dirty="0"/>
              <a:t>第一步：按照</a:t>
            </a:r>
            <a:r>
              <a:rPr lang="en-US" altLang="zh-CN" dirty="0"/>
              <a:t>SHA-1</a:t>
            </a:r>
            <a:r>
              <a:rPr lang="zh-CN" altLang="en-US" dirty="0"/>
              <a:t>要求，填充数据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</a:t>
            </a:r>
            <a:r>
              <a:rPr lang="en-US" altLang="zh-CN" dirty="0"/>
              <a:t>512</a:t>
            </a:r>
            <a:r>
              <a:rPr lang="zh-CN" altLang="en-US" dirty="0"/>
              <a:t>－</a:t>
            </a:r>
            <a:r>
              <a:rPr lang="en-US" altLang="zh-CN" dirty="0"/>
              <a:t>64</a:t>
            </a:r>
            <a:r>
              <a:rPr lang="zh-CN" altLang="en-US" dirty="0"/>
              <a:t>－</a:t>
            </a:r>
            <a:r>
              <a:rPr lang="en-US" altLang="zh-CN" dirty="0"/>
              <a:t>24</a:t>
            </a:r>
            <a:r>
              <a:rPr lang="zh-CN" altLang="en-US" dirty="0"/>
              <a:t>＝</a:t>
            </a:r>
            <a:r>
              <a:rPr lang="en-US" altLang="zh-CN" dirty="0"/>
              <a:t>424</a:t>
            </a:r>
            <a:r>
              <a:rPr lang="zh-CN" altLang="en-US" dirty="0"/>
              <a:t>（填充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1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</a:t>
            </a:r>
            <a:r>
              <a:rPr lang="en-US" altLang="zh-CN" dirty="0"/>
              <a:t>423</a:t>
            </a:r>
            <a:r>
              <a:rPr lang="zh-CN" altLang="en-US" dirty="0"/>
              <a:t>位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0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，及 </a:t>
            </a:r>
            <a:r>
              <a:rPr lang="en-US" altLang="zh-CN" dirty="0"/>
              <a:t>1000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000)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512</a:t>
            </a:r>
            <a:r>
              <a:rPr lang="zh-CN" altLang="en-US" dirty="0"/>
              <a:t>位的输入数据为</a:t>
            </a:r>
            <a:r>
              <a:rPr lang="en-US" altLang="zh-CN" dirty="0"/>
              <a:t>(</a:t>
            </a:r>
            <a:r>
              <a:rPr lang="zh-CN" altLang="en-US" dirty="0"/>
              <a:t>十六进制表示 ）：</a:t>
            </a:r>
            <a:r>
              <a:rPr lang="en-US" altLang="zh-CN" dirty="0"/>
              <a:t>61626380 00000000</a:t>
            </a:r>
            <a:r>
              <a:rPr lang="zh-CN" altLang="en-US" dirty="0"/>
              <a:t>，</a:t>
            </a:r>
            <a:r>
              <a:rPr lang="en-US" altLang="zh-CN" dirty="0">
                <a:latin typeface="Arial" panose="020B0604020202020204" pitchFamily="34" charset="0"/>
              </a:rPr>
              <a:t>……</a:t>
            </a:r>
            <a:r>
              <a:rPr lang="en-US" altLang="zh-CN" dirty="0"/>
              <a:t>,00000018</a:t>
            </a:r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174FF1BA-A0BD-CBBB-52E6-3AE89AC96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6F4C2E-2ED4-435F-95F8-9EE608CD1D9C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4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BD93546-4090-8639-FB04-EAAA4DE5B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zh-CN"/>
              <a:t> </a:t>
            </a:r>
            <a:endParaRPr lang="zh-CN" altLang="zh-CN"/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46033EB7-5681-3BD4-B0D9-F7AE38F26F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/>
            <a:r>
              <a:rPr lang="zh-CN" altLang="en-US"/>
              <a:t>而 </a:t>
            </a:r>
            <a:r>
              <a:rPr lang="en-US" altLang="zh-CN"/>
              <a:t>W</a:t>
            </a:r>
            <a:r>
              <a:rPr lang="en-US" altLang="zh-CN" baseline="-25000"/>
              <a:t>0</a:t>
            </a:r>
            <a:r>
              <a:rPr lang="en-US" altLang="zh-CN"/>
              <a:t>= 61626380,</a:t>
            </a:r>
          </a:p>
          <a:p>
            <a:pPr eaLnBrk="1" hangingPunct="1"/>
            <a:r>
              <a:rPr lang="en-US" altLang="zh-CN"/>
              <a:t>W</a:t>
            </a:r>
            <a:r>
              <a:rPr lang="en-US" altLang="zh-CN" baseline="-25000"/>
              <a:t>1</a:t>
            </a:r>
            <a:r>
              <a:rPr lang="en-US" altLang="zh-CN"/>
              <a:t>=W</a:t>
            </a:r>
            <a:r>
              <a:rPr lang="en-US" altLang="zh-CN" baseline="-25000"/>
              <a:t>2</a:t>
            </a:r>
            <a:r>
              <a:rPr lang="en-US" altLang="zh-CN"/>
              <a:t>=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=W</a:t>
            </a:r>
            <a:r>
              <a:rPr lang="en-US" altLang="zh-CN" baseline="-25000"/>
              <a:t>14</a:t>
            </a:r>
            <a:r>
              <a:rPr lang="en-US" altLang="zh-CN"/>
              <a:t>=00000000,</a:t>
            </a:r>
          </a:p>
          <a:p>
            <a:pPr eaLnBrk="1" hangingPunct="1"/>
            <a:r>
              <a:rPr lang="en-US" altLang="zh-CN"/>
              <a:t>W</a:t>
            </a:r>
            <a:r>
              <a:rPr lang="en-US" altLang="zh-CN" baseline="-25000"/>
              <a:t>15</a:t>
            </a:r>
            <a:r>
              <a:rPr lang="en-US" altLang="zh-CN"/>
              <a:t>=00000018</a:t>
            </a:r>
          </a:p>
          <a:p>
            <a:pPr eaLnBrk="1" hangingPunct="1"/>
            <a:r>
              <a:rPr lang="zh-TW" altLang="en-US">
                <a:solidFill>
                  <a:srgbClr val="800000"/>
                </a:solidFill>
                <a:ea typeface="PMingLiU" panose="02020500000000000000" pitchFamily="18" charset="-120"/>
              </a:rPr>
              <a:t>步驟 </a:t>
            </a:r>
            <a:r>
              <a:rPr lang="en-US" altLang="zh-TW">
                <a:solidFill>
                  <a:srgbClr val="800000"/>
                </a:solidFill>
                <a:ea typeface="PMingLiU" panose="02020500000000000000" pitchFamily="18" charset="-120"/>
              </a:rPr>
              <a:t>2</a:t>
            </a:r>
            <a:r>
              <a:rPr lang="zh-TW" altLang="en-US">
                <a:ea typeface="PMingLiU" panose="02020500000000000000" pitchFamily="18" charset="-120"/>
              </a:rPr>
              <a:t>：初始化 </a:t>
            </a:r>
            <a:r>
              <a:rPr lang="en-US" altLang="zh-TW">
                <a:ea typeface="PMingLiU" panose="02020500000000000000" pitchFamily="18" charset="-120"/>
              </a:rPr>
              <a:t>A</a:t>
            </a:r>
            <a:r>
              <a:rPr lang="zh-TW" altLang="en-US">
                <a:ea typeface="PMingLiU" panose="02020500000000000000" pitchFamily="18" charset="-120"/>
              </a:rPr>
              <a:t>、</a:t>
            </a:r>
            <a:r>
              <a:rPr lang="en-US" altLang="zh-TW">
                <a:ea typeface="PMingLiU" panose="02020500000000000000" pitchFamily="18" charset="-120"/>
              </a:rPr>
              <a:t>B</a:t>
            </a:r>
            <a:r>
              <a:rPr lang="zh-TW" altLang="en-US">
                <a:ea typeface="PMingLiU" panose="02020500000000000000" pitchFamily="18" charset="-120"/>
              </a:rPr>
              <a:t>、</a:t>
            </a:r>
            <a:r>
              <a:rPr lang="en-US" altLang="zh-TW">
                <a:ea typeface="PMingLiU" panose="02020500000000000000" pitchFamily="18" charset="-120"/>
              </a:rPr>
              <a:t>C </a:t>
            </a:r>
            <a:r>
              <a:rPr lang="zh-CN" altLang="en-US">
                <a:ea typeface="PMingLiU" panose="02020500000000000000" pitchFamily="18" charset="-120"/>
              </a:rPr>
              <a:t>与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en-US" altLang="zh-TW">
                <a:ea typeface="PMingLiU" panose="02020500000000000000" pitchFamily="18" charset="-120"/>
              </a:rPr>
              <a:t>D </a:t>
            </a:r>
            <a:r>
              <a:rPr lang="zh-CN" altLang="en-US">
                <a:ea typeface="PMingLiU" panose="02020500000000000000" pitchFamily="18" charset="-120"/>
              </a:rPr>
              <a:t>缓</a:t>
            </a:r>
            <a:r>
              <a:rPr lang="zh-TW" altLang="en-US">
                <a:ea typeface="PMingLiU" panose="02020500000000000000" pitchFamily="18" charset="-120"/>
              </a:rPr>
              <a:t>存器，如下：</a:t>
            </a:r>
          </a:p>
          <a:p>
            <a:pPr lvl="2" eaLnBrk="1" hangingPunct="1"/>
            <a:r>
              <a:rPr lang="zh-TW" altLang="en-US">
                <a:latin typeface="Arial" panose="020B0604020202020204" pitchFamily="34" charset="0"/>
                <a:ea typeface="PMingLiU" panose="02020500000000000000" pitchFamily="18" charset="-120"/>
              </a:rPr>
              <a:t>    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zh-TW" altLang="en-US">
                <a:ea typeface="PMingLiU" panose="02020500000000000000" pitchFamily="18" charset="-120"/>
              </a:rPr>
              <a:t> </a:t>
            </a:r>
            <a:r>
              <a:rPr lang="zh-TW" altLang="zh-CN">
                <a:ea typeface="PMingLiU" panose="02020500000000000000" pitchFamily="18" charset="-120"/>
              </a:rPr>
              <a:t> </a:t>
            </a:r>
            <a:r>
              <a:rPr lang="en-US" altLang="zh-TW">
                <a:ea typeface="PMingLiU" panose="02020500000000000000" pitchFamily="18" charset="-120"/>
              </a:rPr>
              <a:t>A</a:t>
            </a:r>
            <a:r>
              <a:rPr lang="zh-TW" altLang="en-US">
                <a:ea typeface="PMingLiU" panose="02020500000000000000" pitchFamily="18" charset="-120"/>
              </a:rPr>
              <a:t>：</a:t>
            </a:r>
            <a:r>
              <a:rPr lang="en-US" altLang="zh-TW">
                <a:ea typeface="PMingLiU" panose="02020500000000000000" pitchFamily="18" charset="-120"/>
              </a:rPr>
              <a:t>67 45 23 01 </a:t>
            </a:r>
          </a:p>
          <a:p>
            <a:pPr lvl="2" eaLnBrk="1" hangingPunct="1"/>
            <a:r>
              <a:rPr lang="en-US" altLang="zh-CN">
                <a:ea typeface="PMingLiU" panose="02020500000000000000" pitchFamily="18" charset="-120"/>
              </a:rPr>
              <a:t>                              </a:t>
            </a:r>
            <a:r>
              <a:rPr lang="en-US" altLang="zh-TW">
                <a:ea typeface="PMingLiU" panose="02020500000000000000" pitchFamily="18" charset="-120"/>
              </a:rPr>
              <a:t>B</a:t>
            </a:r>
            <a:r>
              <a:rPr lang="zh-TW" altLang="en-US">
                <a:ea typeface="PMingLiU" panose="02020500000000000000" pitchFamily="18" charset="-120"/>
              </a:rPr>
              <a:t>：</a:t>
            </a:r>
            <a:r>
              <a:rPr lang="en-US" altLang="zh-TW">
                <a:ea typeface="PMingLiU" panose="02020500000000000000" pitchFamily="18" charset="-120"/>
              </a:rPr>
              <a:t>EF CD AB 89 </a:t>
            </a:r>
          </a:p>
          <a:p>
            <a:pPr lvl="2" eaLnBrk="1" hangingPunct="1"/>
            <a:r>
              <a:rPr lang="en-US" altLang="zh-CN">
                <a:ea typeface="PMingLiU" panose="02020500000000000000" pitchFamily="18" charset="-120"/>
              </a:rPr>
              <a:t>                              </a:t>
            </a:r>
            <a:r>
              <a:rPr lang="en-US" altLang="zh-TW">
                <a:ea typeface="PMingLiU" panose="02020500000000000000" pitchFamily="18" charset="-120"/>
              </a:rPr>
              <a:t>C</a:t>
            </a:r>
            <a:r>
              <a:rPr lang="zh-TW" altLang="en-US">
                <a:ea typeface="PMingLiU" panose="02020500000000000000" pitchFamily="18" charset="-120"/>
              </a:rPr>
              <a:t>：</a:t>
            </a:r>
            <a:r>
              <a:rPr lang="en-US" altLang="zh-TW">
                <a:ea typeface="PMingLiU" panose="02020500000000000000" pitchFamily="18" charset="-120"/>
              </a:rPr>
              <a:t>98 BA DC FE </a:t>
            </a:r>
          </a:p>
          <a:p>
            <a:pPr lvl="2" eaLnBrk="1" hangingPunct="1"/>
            <a:r>
              <a:rPr lang="en-US" altLang="zh-CN">
                <a:ea typeface="PMingLiU" panose="02020500000000000000" pitchFamily="18" charset="-120"/>
              </a:rPr>
              <a:t>                              </a:t>
            </a:r>
            <a:r>
              <a:rPr lang="en-US" altLang="zh-TW">
                <a:ea typeface="PMingLiU" panose="02020500000000000000" pitchFamily="18" charset="-120"/>
              </a:rPr>
              <a:t>D</a:t>
            </a:r>
            <a:r>
              <a:rPr lang="zh-TW" altLang="en-US">
                <a:ea typeface="PMingLiU" panose="02020500000000000000" pitchFamily="18" charset="-120"/>
              </a:rPr>
              <a:t>：</a:t>
            </a:r>
            <a:r>
              <a:rPr lang="en-US" altLang="zh-TW">
                <a:ea typeface="PMingLiU" panose="02020500000000000000" pitchFamily="18" charset="-120"/>
              </a:rPr>
              <a:t>10 32 54 76 </a:t>
            </a:r>
          </a:p>
          <a:p>
            <a:pPr lvl="2" eaLnBrk="1" hangingPunct="1"/>
            <a:r>
              <a:rPr lang="en-US" altLang="zh-TW">
                <a:latin typeface="Arial" panose="020B0604020202020204" pitchFamily="34" charset="0"/>
                <a:ea typeface="PMingLiU" panose="02020500000000000000" pitchFamily="18" charset="-120"/>
              </a:rPr>
              <a:t> </a:t>
            </a:r>
            <a:r>
              <a:rPr lang="en-US" altLang="zh-CN">
                <a:ea typeface="PMingLiU" panose="02020500000000000000" pitchFamily="18" charset="-120"/>
              </a:rPr>
              <a:t>                             </a:t>
            </a:r>
            <a:r>
              <a:rPr lang="en-US" altLang="zh-TW">
                <a:ea typeface="PMingLiU" panose="02020500000000000000" pitchFamily="18" charset="-120"/>
              </a:rPr>
              <a:t>E </a:t>
            </a:r>
            <a:r>
              <a:rPr lang="zh-TW" altLang="en-US">
                <a:ea typeface="PMingLiU" panose="02020500000000000000" pitchFamily="18" charset="-120"/>
              </a:rPr>
              <a:t>：</a:t>
            </a:r>
            <a:r>
              <a:rPr lang="en-US" altLang="zh-TW">
                <a:ea typeface="PMingLiU" panose="02020500000000000000" pitchFamily="18" charset="-120"/>
              </a:rPr>
              <a:t>C3 D2 E1 F0 </a:t>
            </a:r>
            <a:endParaRPr lang="en-US" altLang="zh-CN" sz="1800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>
            <a:extLst>
              <a:ext uri="{FF2B5EF4-FFF2-40B4-BE49-F238E27FC236}">
                <a16:creationId xmlns:a16="http://schemas.microsoft.com/office/drawing/2014/main" id="{15D15EEB-5D4B-B364-97A8-A2034D828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856197-5938-40EC-8094-F3ACAFB19F71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60DFC14-97B2-0DA0-753E-10DCDA22D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180975"/>
            <a:ext cx="7793037" cy="981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ea"/>
              </a:rPr>
              <a:t>SHA</a:t>
            </a:r>
            <a:r>
              <a:rPr lang="zh-CN" altLang="en-US" dirty="0">
                <a:latin typeface="+mj-ea"/>
              </a:rPr>
              <a:t>算法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BDD52B5-33D2-631A-6A5D-6D4A2A40A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09763"/>
            <a:ext cx="8496300" cy="346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 sz="2800">
                <a:solidFill>
                  <a:srgbClr val="800000"/>
                </a:solidFill>
                <a:latin typeface="宋体" panose="02010600030101010101" pitchFamily="2" charset="-122"/>
              </a:rPr>
              <a:t>步驟 </a:t>
            </a:r>
            <a:r>
              <a:rPr kumimoji="1" lang="en-US" altLang="zh-TW" sz="2800">
                <a:solidFill>
                  <a:srgbClr val="800000"/>
                </a:solidFill>
                <a:latin typeface="宋体" panose="02010600030101010101" pitchFamily="2" charset="-122"/>
              </a:rPr>
              <a:t>3</a:t>
            </a:r>
            <a:r>
              <a:rPr kumimoji="1" lang="zh-TW" altLang="en-US" sz="2800">
                <a:latin typeface="宋体" panose="02010600030101010101" pitchFamily="2" charset="-122"/>
              </a:rPr>
              <a:t>：</a:t>
            </a:r>
            <a:r>
              <a:rPr kumimoji="1" lang="zh-CN" altLang="en-US" sz="2800">
                <a:latin typeface="宋体" panose="02010600030101010101" pitchFamily="2" charset="-122"/>
              </a:rPr>
              <a:t>进入</a:t>
            </a:r>
            <a:r>
              <a:rPr kumimoji="1" lang="zh-TW" altLang="en-US" sz="2800">
                <a:latin typeface="宋体" panose="02010600030101010101" pitchFamily="2" charset="-122"/>
              </a:rPr>
              <a:t>第一回合</a:t>
            </a:r>
            <a:r>
              <a:rPr kumimoji="1" lang="zh-CN" altLang="en-US" sz="2800">
                <a:latin typeface="宋体" panose="02010600030101010101" pitchFamily="2" charset="-122"/>
              </a:rPr>
              <a:t>运算</a:t>
            </a:r>
            <a:r>
              <a:rPr kumimoji="1" lang="zh-TW" altLang="en-US" sz="2800">
                <a:latin typeface="宋体" panose="02010600030101010101" pitchFamily="2" charset="-122"/>
              </a:rPr>
              <a:t>，</a:t>
            </a:r>
            <a:r>
              <a:rPr kumimoji="1" lang="zh-CN" altLang="en-US" sz="2800">
                <a:latin typeface="宋体" panose="02010600030101010101" pitchFamily="2" charset="-122"/>
              </a:rPr>
              <a:t>执行</a:t>
            </a:r>
            <a:r>
              <a:rPr kumimoji="1" lang="zh-TW" altLang="en-US" sz="2800">
                <a:latin typeface="宋体" panose="02010600030101010101" pitchFamily="2" charset="-122"/>
              </a:rPr>
              <a:t> </a:t>
            </a:r>
            <a:r>
              <a:rPr kumimoji="1" lang="en-US" altLang="zh-CN" sz="2800">
                <a:latin typeface="宋体" panose="02010600030101010101" pitchFamily="2" charset="-122"/>
              </a:rPr>
              <a:t>20</a:t>
            </a:r>
            <a:r>
              <a:rPr kumimoji="1" lang="en-US" altLang="zh-TW" sz="2800">
                <a:latin typeface="宋体" panose="02010600030101010101" pitchFamily="2" charset="-122"/>
              </a:rPr>
              <a:t> </a:t>
            </a:r>
            <a:r>
              <a:rPr kumimoji="1" lang="zh-TW" altLang="en-US" sz="2800">
                <a:latin typeface="宋体" panose="02010600030101010101" pitchFamily="2" charset="-122"/>
              </a:rPr>
              <a:t>次：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 sz="2800">
                <a:latin typeface="宋体" panose="02010600030101010101" pitchFamily="2" charset="-122"/>
              </a:rPr>
              <a:t>     </a:t>
            </a:r>
            <a:r>
              <a:rPr kumimoji="1" lang="en-US" altLang="zh-TW" sz="2800">
                <a:latin typeface="宋体" panose="02010600030101010101" pitchFamily="2" charset="-122"/>
              </a:rPr>
              <a:t>a</a:t>
            </a:r>
            <a:r>
              <a:rPr kumimoji="1" lang="en-US" altLang="zh-CN" sz="2800">
                <a:latin typeface="宋体" panose="02010600030101010101" pitchFamily="2" charset="-122"/>
              </a:rPr>
              <a:t>,b,c,d,e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>
                <a:latin typeface="宋体" panose="02010600030101010101" pitchFamily="2" charset="-122"/>
              </a:rPr>
              <a:t>e+f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1</a:t>
            </a:r>
            <a:r>
              <a:rPr kumimoji="1" lang="en-US" altLang="zh-CN" sz="2800">
                <a:latin typeface="宋体" panose="02010600030101010101" pitchFamily="2" charset="-122"/>
              </a:rPr>
              <a:t>(t,b,c,d</a:t>
            </a:r>
            <a:r>
              <a:rPr kumimoji="1" lang="en-US" altLang="zh-TW" sz="2800">
                <a:latin typeface="宋体" panose="02010600030101010101" pitchFamily="2" charset="-122"/>
              </a:rPr>
              <a:t>)+</a:t>
            </a:r>
            <a:r>
              <a:rPr kumimoji="1" lang="en-US" altLang="zh-CN" sz="2800">
                <a:latin typeface="宋体" panose="02010600030101010101" pitchFamily="2" charset="-122"/>
              </a:rPr>
              <a:t>S</a:t>
            </a:r>
            <a:r>
              <a:rPr kumimoji="1" lang="en-US" altLang="zh-CN" sz="2800" baseline="30000">
                <a:latin typeface="宋体" panose="02010600030101010101" pitchFamily="2" charset="-122"/>
              </a:rPr>
              <a:t>5</a:t>
            </a:r>
            <a:r>
              <a:rPr kumimoji="1" lang="en-US" altLang="zh-CN" sz="2800">
                <a:latin typeface="宋体" panose="02010600030101010101" pitchFamily="2" charset="-122"/>
              </a:rPr>
              <a:t>(A)+W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t</a:t>
            </a:r>
            <a:r>
              <a:rPr kumimoji="1" lang="en-US" altLang="zh-TW" sz="2800">
                <a:latin typeface="宋体" panose="02010600030101010101" pitchFamily="2" charset="-122"/>
              </a:rPr>
              <a:t>+</a:t>
            </a:r>
            <a:r>
              <a:rPr kumimoji="1" lang="en-US" altLang="zh-CN" sz="2800">
                <a:latin typeface="宋体" panose="02010600030101010101" pitchFamily="2" charset="-122"/>
              </a:rPr>
              <a:t>K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1</a:t>
            </a:r>
            <a:r>
              <a:rPr kumimoji="1" lang="en-US" altLang="zh-TW" sz="2800">
                <a:latin typeface="宋体" panose="02010600030101010101" pitchFamily="2" charset="-122"/>
              </a:rPr>
              <a:t>)</a:t>
            </a:r>
            <a:r>
              <a:rPr kumimoji="1" lang="en-US" altLang="zh-CN" sz="2800">
                <a:latin typeface="宋体" panose="02010600030101010101" pitchFamily="2" charset="-122"/>
              </a:rPr>
              <a:t>,A,S</a:t>
            </a:r>
            <a:r>
              <a:rPr kumimoji="1" lang="en-US" altLang="zh-CN" sz="2800" baseline="30000">
                <a:latin typeface="宋体" panose="02010600030101010101" pitchFamily="2" charset="-122"/>
              </a:rPr>
              <a:t>30</a:t>
            </a:r>
            <a:r>
              <a:rPr kumimoji="1" lang="en-US" altLang="zh-CN" sz="2800">
                <a:latin typeface="宋体" panose="02010600030101010101" pitchFamily="2" charset="-122"/>
              </a:rPr>
              <a:t>(B),C,D</a:t>
            </a:r>
            <a:r>
              <a:rPr kumimoji="1" lang="en-US" altLang="zh-TW" sz="2800">
                <a:latin typeface="宋体" panose="02010600030101010101" pitchFamily="2" charset="-122"/>
              </a:rPr>
              <a:t>) </a:t>
            </a:r>
            <a:endParaRPr kumimoji="1" lang="en-US" altLang="zh-CN" sz="280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求</a:t>
            </a:r>
            <a:r>
              <a:rPr kumimoji="1" lang="en-US" altLang="zh-CN" sz="2800">
                <a:latin typeface="宋体" panose="02010600030101010101" pitchFamily="2" charset="-122"/>
              </a:rPr>
              <a:t>a</a:t>
            </a:r>
            <a:r>
              <a:rPr kumimoji="1" lang="zh-CN" altLang="en-US" sz="2800">
                <a:latin typeface="宋体" panose="02010600030101010101" pitchFamily="2" charset="-122"/>
              </a:rPr>
              <a:t>，</a:t>
            </a:r>
            <a:r>
              <a:rPr kumimoji="1" lang="en-US" altLang="zh-CN" sz="2800">
                <a:latin typeface="宋体" panose="02010600030101010101" pitchFamily="2" charset="-122"/>
              </a:rPr>
              <a:t>b</a:t>
            </a:r>
            <a:r>
              <a:rPr kumimoji="1" lang="zh-CN" altLang="en-US" sz="2800">
                <a:latin typeface="宋体" panose="02010600030101010101" pitchFamily="2" charset="-122"/>
              </a:rPr>
              <a:t>，</a:t>
            </a:r>
            <a:r>
              <a:rPr kumimoji="1" lang="en-US" altLang="zh-CN" sz="2800">
                <a:latin typeface="宋体" panose="02010600030101010101" pitchFamily="2" charset="-122"/>
              </a:rPr>
              <a:t>c</a:t>
            </a:r>
            <a:r>
              <a:rPr kumimoji="1" lang="zh-CN" altLang="en-US" sz="2800">
                <a:latin typeface="宋体" panose="02010600030101010101" pitchFamily="2" charset="-122"/>
              </a:rPr>
              <a:t>，</a:t>
            </a:r>
            <a:r>
              <a:rPr kumimoji="1" lang="en-US" altLang="zh-CN" sz="2800">
                <a:latin typeface="宋体" panose="02010600030101010101" pitchFamily="2" charset="-122"/>
              </a:rPr>
              <a:t>d, e</a:t>
            </a:r>
            <a:r>
              <a:rPr kumimoji="1" lang="zh-CN" altLang="en-US" sz="2800">
                <a:latin typeface="宋体" panose="02010600030101010101" pitchFamily="2" charset="-122"/>
              </a:rPr>
              <a:t>的值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endParaRPr kumimoji="1" lang="zh-CN" altLang="en-US" sz="280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endParaRPr kumimoji="1" lang="en-US" altLang="zh-TW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>
            <a:extLst>
              <a:ext uri="{FF2B5EF4-FFF2-40B4-BE49-F238E27FC236}">
                <a16:creationId xmlns:a16="http://schemas.microsoft.com/office/drawing/2014/main" id="{65C9284C-E809-2EA6-6859-2C002BFEB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0EEC6B-1D3C-4E3E-85F5-D9C482570901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4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B05127A-B1E2-661F-1474-421974676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185738"/>
            <a:ext cx="7793037" cy="8524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ea"/>
              </a:rPr>
              <a:t>SHA</a:t>
            </a:r>
            <a:r>
              <a:rPr lang="zh-CN" altLang="en-US" dirty="0">
                <a:latin typeface="+mj-ea"/>
              </a:rPr>
              <a:t>算法</a:t>
            </a:r>
          </a:p>
        </p:txBody>
      </p:sp>
      <p:graphicFrame>
        <p:nvGraphicFramePr>
          <p:cNvPr id="59396" name="Object 3">
            <a:extLst>
              <a:ext uri="{FF2B5EF4-FFF2-40B4-BE49-F238E27FC236}">
                <a16:creationId xmlns:a16="http://schemas.microsoft.com/office/drawing/2014/main" id="{C6496FDC-467D-25CA-A0B8-2906691A13E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95288" y="1014413"/>
          <a:ext cx="8748712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46600" imgH="2946400" progId="Equation.DSMT4">
                  <p:embed/>
                </p:oleObj>
              </mc:Choice>
              <mc:Fallback>
                <p:oleObj name="Equation" r:id="rId2" imgW="4546600" imgH="294640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014413"/>
                        <a:ext cx="8748712" cy="566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675C8CA4-229C-4D0F-CB0A-804E0D673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D1D9DC-8802-4155-8029-2152A3B88E5F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232E6AB-825C-F5F4-89E6-88D958136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180975"/>
            <a:ext cx="7793037" cy="981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ea"/>
              </a:rPr>
              <a:t>SHA</a:t>
            </a:r>
            <a:r>
              <a:rPr lang="zh-CN" altLang="en-US" dirty="0">
                <a:latin typeface="+mj-ea"/>
              </a:rPr>
              <a:t>算法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F9E8B8A6-6FF7-6C3C-1CC3-85B79B364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909763"/>
            <a:ext cx="8640762" cy="326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TW" altLang="en-US" sz="2800">
                <a:solidFill>
                  <a:srgbClr val="800000"/>
                </a:solidFill>
                <a:latin typeface="宋体" panose="02010600030101010101" pitchFamily="2" charset="-122"/>
              </a:rPr>
              <a:t>步驟 </a:t>
            </a:r>
            <a:r>
              <a:rPr kumimoji="1" lang="en-US" altLang="zh-TW" sz="2800">
                <a:solidFill>
                  <a:srgbClr val="800000"/>
                </a:solidFill>
                <a:latin typeface="宋体" panose="02010600030101010101" pitchFamily="2" charset="-122"/>
              </a:rPr>
              <a:t>4</a:t>
            </a:r>
            <a:r>
              <a:rPr kumimoji="1" lang="zh-TW" altLang="en-US" sz="2800">
                <a:latin typeface="宋体" panose="02010600030101010101" pitchFamily="2" charset="-122"/>
              </a:rPr>
              <a:t>：</a:t>
            </a:r>
            <a:r>
              <a:rPr kumimoji="1" lang="zh-CN" altLang="en-US" sz="2800">
                <a:latin typeface="宋体" panose="02010600030101010101" pitchFamily="2" charset="-122"/>
              </a:rPr>
              <a:t>进入</a:t>
            </a:r>
            <a:r>
              <a:rPr kumimoji="1" lang="zh-TW" altLang="en-US" sz="2800">
                <a:latin typeface="宋体" panose="02010600030101010101" pitchFamily="2" charset="-122"/>
              </a:rPr>
              <a:t>第</a:t>
            </a:r>
            <a:r>
              <a:rPr kumimoji="1" lang="en-US" altLang="zh-TW" sz="2800">
                <a:latin typeface="宋体" panose="02010600030101010101" pitchFamily="2" charset="-122"/>
              </a:rPr>
              <a:t>2-4</a:t>
            </a:r>
            <a:r>
              <a:rPr kumimoji="1" lang="zh-TW" altLang="en-US" sz="2800">
                <a:latin typeface="宋体" panose="02010600030101010101" pitchFamily="2" charset="-122"/>
              </a:rPr>
              <a:t>回合</a:t>
            </a:r>
            <a:r>
              <a:rPr kumimoji="1" lang="zh-CN" altLang="en-US" sz="2800">
                <a:latin typeface="宋体" panose="02010600030101010101" pitchFamily="2" charset="-122"/>
              </a:rPr>
              <a:t>运算</a:t>
            </a:r>
            <a:r>
              <a:rPr kumimoji="1" lang="zh-TW" altLang="en-US" sz="2800">
                <a:latin typeface="宋体" panose="02010600030101010101" pitchFamily="2" charset="-122"/>
              </a:rPr>
              <a:t>，</a:t>
            </a:r>
            <a:r>
              <a:rPr kumimoji="1" lang="zh-CN" altLang="en-US" sz="2800">
                <a:latin typeface="宋体" panose="02010600030101010101" pitchFamily="2" charset="-122"/>
              </a:rPr>
              <a:t>分别执行</a:t>
            </a:r>
            <a:r>
              <a:rPr kumimoji="1" lang="zh-TW" altLang="en-US" sz="2800">
                <a:latin typeface="宋体" panose="02010600030101010101" pitchFamily="2" charset="-122"/>
              </a:rPr>
              <a:t> </a:t>
            </a:r>
            <a:r>
              <a:rPr kumimoji="1" lang="en-US" altLang="zh-CN" sz="2800">
                <a:latin typeface="宋体" panose="02010600030101010101" pitchFamily="2" charset="-122"/>
              </a:rPr>
              <a:t>20</a:t>
            </a:r>
            <a:r>
              <a:rPr kumimoji="1" lang="en-US" altLang="zh-TW" sz="2800">
                <a:latin typeface="宋体" panose="02010600030101010101" pitchFamily="2" charset="-122"/>
              </a:rPr>
              <a:t> </a:t>
            </a:r>
            <a:r>
              <a:rPr kumimoji="1" lang="zh-TW" altLang="en-US" sz="2800">
                <a:latin typeface="宋体" panose="02010600030101010101" pitchFamily="2" charset="-122"/>
              </a:rPr>
              <a:t>次： </a:t>
            </a:r>
            <a:r>
              <a:rPr kumimoji="1" lang="en-US" altLang="zh-TW" sz="2800">
                <a:latin typeface="宋体" panose="02010600030101010101" pitchFamily="2" charset="-122"/>
              </a:rPr>
              <a:t>a</a:t>
            </a:r>
            <a:r>
              <a:rPr kumimoji="1" lang="en-US" altLang="zh-CN" sz="2800">
                <a:latin typeface="宋体" panose="02010600030101010101" pitchFamily="2" charset="-122"/>
              </a:rPr>
              <a:t>,b,c,d,e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en-US" altLang="zh-CN" sz="2800">
                <a:latin typeface="宋体" panose="02010600030101010101" pitchFamily="2" charset="-122"/>
              </a:rPr>
              <a:t>e+f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2-4</a:t>
            </a:r>
            <a:r>
              <a:rPr kumimoji="1" lang="en-US" altLang="zh-CN" sz="2800">
                <a:latin typeface="宋体" panose="02010600030101010101" pitchFamily="2" charset="-122"/>
              </a:rPr>
              <a:t>(t,b,c,d</a:t>
            </a:r>
            <a:r>
              <a:rPr kumimoji="1" lang="en-US" altLang="zh-TW" sz="2800">
                <a:latin typeface="宋体" panose="02010600030101010101" pitchFamily="2" charset="-122"/>
              </a:rPr>
              <a:t>)+</a:t>
            </a:r>
            <a:r>
              <a:rPr kumimoji="1" lang="en-US" altLang="zh-CN" sz="2800">
                <a:latin typeface="宋体" panose="02010600030101010101" pitchFamily="2" charset="-122"/>
              </a:rPr>
              <a:t>S</a:t>
            </a:r>
            <a:r>
              <a:rPr kumimoji="1" lang="en-US" altLang="zh-CN" sz="2800" baseline="30000">
                <a:latin typeface="宋体" panose="02010600030101010101" pitchFamily="2" charset="-122"/>
              </a:rPr>
              <a:t>5</a:t>
            </a:r>
            <a:r>
              <a:rPr kumimoji="1" lang="en-US" altLang="zh-CN" sz="2800">
                <a:latin typeface="宋体" panose="02010600030101010101" pitchFamily="2" charset="-122"/>
              </a:rPr>
              <a:t>(A)+W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t</a:t>
            </a:r>
            <a:r>
              <a:rPr kumimoji="1" lang="en-US" altLang="zh-TW" sz="2800">
                <a:latin typeface="宋体" panose="02010600030101010101" pitchFamily="2" charset="-122"/>
              </a:rPr>
              <a:t>+</a:t>
            </a:r>
            <a:r>
              <a:rPr kumimoji="1" lang="en-US" altLang="zh-CN" sz="2800">
                <a:latin typeface="宋体" panose="02010600030101010101" pitchFamily="2" charset="-122"/>
              </a:rPr>
              <a:t>K</a:t>
            </a:r>
            <a:r>
              <a:rPr kumimoji="1" lang="en-US" altLang="zh-CN" sz="2800" baseline="-25000">
                <a:latin typeface="宋体" panose="02010600030101010101" pitchFamily="2" charset="-122"/>
              </a:rPr>
              <a:t>2-4</a:t>
            </a:r>
            <a:r>
              <a:rPr kumimoji="1" lang="en-US" altLang="zh-TW" sz="2800">
                <a:latin typeface="宋体" panose="02010600030101010101" pitchFamily="2" charset="-122"/>
              </a:rPr>
              <a:t>)</a:t>
            </a:r>
            <a:r>
              <a:rPr kumimoji="1" lang="en-US" altLang="zh-CN" sz="2800">
                <a:latin typeface="宋体" panose="02010600030101010101" pitchFamily="2" charset="-122"/>
              </a:rPr>
              <a:t>,A,S</a:t>
            </a:r>
            <a:r>
              <a:rPr kumimoji="1" lang="en-US" altLang="zh-CN" sz="2800" baseline="30000">
                <a:latin typeface="宋体" panose="02010600030101010101" pitchFamily="2" charset="-122"/>
              </a:rPr>
              <a:t>30</a:t>
            </a:r>
            <a:r>
              <a:rPr kumimoji="1" lang="en-US" altLang="zh-CN" sz="2800">
                <a:latin typeface="宋体" panose="02010600030101010101" pitchFamily="2" charset="-122"/>
              </a:rPr>
              <a:t>(B),C,D</a:t>
            </a:r>
            <a:r>
              <a:rPr kumimoji="1" lang="en-US" altLang="zh-TW" sz="2800">
                <a:latin typeface="宋体" panose="02010600030101010101" pitchFamily="2" charset="-122"/>
              </a:rPr>
              <a:t>) </a:t>
            </a:r>
            <a:endParaRPr kumimoji="1" lang="en-US" altLang="zh-CN" sz="280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求</a:t>
            </a:r>
            <a:r>
              <a:rPr kumimoji="1" lang="en-US" altLang="zh-CN" sz="2800">
                <a:latin typeface="宋体" panose="02010600030101010101" pitchFamily="2" charset="-122"/>
              </a:rPr>
              <a:t>a</a:t>
            </a:r>
            <a:r>
              <a:rPr kumimoji="1" lang="zh-CN" altLang="en-US" sz="2800">
                <a:latin typeface="宋体" panose="02010600030101010101" pitchFamily="2" charset="-122"/>
              </a:rPr>
              <a:t>，</a:t>
            </a:r>
            <a:r>
              <a:rPr kumimoji="1" lang="en-US" altLang="zh-CN" sz="2800">
                <a:latin typeface="宋体" panose="02010600030101010101" pitchFamily="2" charset="-122"/>
              </a:rPr>
              <a:t>b</a:t>
            </a:r>
            <a:r>
              <a:rPr kumimoji="1" lang="zh-CN" altLang="en-US" sz="2800">
                <a:latin typeface="宋体" panose="02010600030101010101" pitchFamily="2" charset="-122"/>
              </a:rPr>
              <a:t>，</a:t>
            </a:r>
            <a:r>
              <a:rPr kumimoji="1" lang="en-US" altLang="zh-CN" sz="2800">
                <a:latin typeface="宋体" panose="02010600030101010101" pitchFamily="2" charset="-122"/>
              </a:rPr>
              <a:t>c</a:t>
            </a:r>
            <a:r>
              <a:rPr kumimoji="1" lang="zh-CN" altLang="en-US" sz="2800">
                <a:latin typeface="宋体" panose="02010600030101010101" pitchFamily="2" charset="-122"/>
              </a:rPr>
              <a:t>，</a:t>
            </a:r>
            <a:r>
              <a:rPr kumimoji="1" lang="en-US" altLang="zh-CN" sz="2800">
                <a:latin typeface="宋体" panose="02010600030101010101" pitchFamily="2" charset="-122"/>
              </a:rPr>
              <a:t>d, e</a:t>
            </a:r>
            <a:r>
              <a:rPr kumimoji="1" lang="zh-CN" altLang="en-US" sz="2800">
                <a:latin typeface="宋体" panose="02010600030101010101" pitchFamily="2" charset="-122"/>
              </a:rPr>
              <a:t>的值</a:t>
            </a: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endParaRPr kumimoji="1" lang="zh-CN" altLang="en-US" sz="280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15000"/>
              </a:lnSpc>
              <a:buClrTx/>
              <a:buSzTx/>
              <a:buFontTx/>
              <a:buNone/>
            </a:pPr>
            <a:endParaRPr kumimoji="1" lang="en-US" altLang="zh-TW" sz="2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>
            <a:extLst>
              <a:ext uri="{FF2B5EF4-FFF2-40B4-BE49-F238E27FC236}">
                <a16:creationId xmlns:a16="http://schemas.microsoft.com/office/drawing/2014/main" id="{650FDFE1-064A-CABD-6726-A04E36CB2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359E4A-A860-477F-B21E-8FE3322A8F44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CN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65C3B446-3B42-AE00-4C96-178B48757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180975"/>
            <a:ext cx="7793037" cy="981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ea"/>
              </a:rPr>
              <a:t>SHA</a:t>
            </a:r>
            <a:r>
              <a:rPr lang="zh-CN" altLang="en-US" dirty="0">
                <a:latin typeface="+mj-ea"/>
              </a:rPr>
              <a:t>算法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6A7231D-90FC-22AB-CDEC-0B0E2B442FD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6850" y="1380267"/>
            <a:ext cx="8640638" cy="4919616"/>
          </a:xfrm>
          <a:prstGeom prst="rect">
            <a:avLst/>
          </a:prstGeom>
          <a:blipFill>
            <a:blip r:embed="rId2"/>
            <a:stretch>
              <a:fillRect t="-1239" r="-212" b="-2478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F1D56FD1-D3AD-8A10-EBF9-ED5C6370F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C4681D-A627-4EB9-9F9E-AEAC4AF8D479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B9A5400-4F84-B6B7-F96F-C2D128BC6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+mj-ea"/>
              </a:rPr>
              <a:t>Hash</a:t>
            </a:r>
            <a:r>
              <a:rPr lang="zh-CN" altLang="en-US" dirty="0">
                <a:latin typeface="+mj-ea"/>
              </a:rPr>
              <a:t>函数的用途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3B28B655-FF53-A8D4-EDFD-CC390DEA5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/>
            <a:r>
              <a:rPr lang="zh-CN" altLang="en-US"/>
              <a:t>消息完整性检测</a:t>
            </a:r>
          </a:p>
          <a:p>
            <a:pPr eaLnBrk="1" hangingPunct="1"/>
            <a:r>
              <a:rPr lang="en-US" altLang="zh-CN"/>
              <a:t>Hash</a:t>
            </a:r>
            <a:r>
              <a:rPr lang="zh-CN" altLang="en-US"/>
              <a:t>链用于口令认证</a:t>
            </a:r>
          </a:p>
          <a:p>
            <a:pPr eaLnBrk="1" hangingPunct="1"/>
            <a:r>
              <a:rPr lang="zh-CN" altLang="en-US"/>
              <a:t>数字签名（速度快；防止消息伪造）</a:t>
            </a:r>
          </a:p>
          <a:p>
            <a:pPr eaLnBrk="1" hangingPunct="1"/>
            <a:r>
              <a:rPr lang="zh-CN" altLang="en-US"/>
              <a:t>消息完整性和消息源认证（</a:t>
            </a:r>
            <a:r>
              <a:rPr lang="en-US" altLang="zh-CN"/>
              <a:t>MAC</a:t>
            </a:r>
            <a:r>
              <a:rPr lang="zh-CN" altLang="en-US"/>
              <a:t>） </a:t>
            </a: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4">
            <a:extLst>
              <a:ext uri="{FF2B5EF4-FFF2-40B4-BE49-F238E27FC236}">
                <a16:creationId xmlns:a16="http://schemas.microsoft.com/office/drawing/2014/main" id="{80C32206-6A3D-F345-0428-228A7D639D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CF4F10-EE7F-4E3C-97B4-0819A161A85E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CN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517BC65-16AF-FE0B-6825-0B73A1476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杂凑函数的用途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63A7BCE8-0F43-60A1-498D-B8764FCCB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7993063" cy="4248150"/>
          </a:xfrm>
        </p:spPr>
        <p:txBody>
          <a:bodyPr/>
          <a:lstStyle/>
          <a:p>
            <a:pPr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事例：简易的身份识别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</a:rPr>
              <a:t>Bob</a:t>
            </a:r>
            <a:r>
              <a:rPr lang="zh-CN" altLang="en-US" sz="2800">
                <a:latin typeface="Times New Roman" panose="02020603050405020304" pitchFamily="18" charset="0"/>
              </a:rPr>
              <a:t>拥有</a:t>
            </a:r>
            <a:r>
              <a:rPr lang="en-US" altLang="zh-CN" sz="2800">
                <a:latin typeface="Times New Roman" panose="02020603050405020304" pitchFamily="18" charset="0"/>
              </a:rPr>
              <a:t>Alice</a:t>
            </a:r>
            <a:r>
              <a:rPr lang="zh-CN" altLang="en-US" sz="2800">
                <a:latin typeface="Times New Roman" panose="02020603050405020304" pitchFamily="18" charset="0"/>
              </a:rPr>
              <a:t>的身份密号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。 现在</a:t>
            </a:r>
            <a:r>
              <a:rPr lang="en-US" altLang="zh-CN" sz="2800">
                <a:latin typeface="Times New Roman" panose="02020603050405020304" pitchFamily="18" charset="0"/>
              </a:rPr>
              <a:t>Alice</a:t>
            </a:r>
            <a:r>
              <a:rPr lang="zh-CN" altLang="en-US" sz="2800">
                <a:latin typeface="Times New Roman" panose="02020603050405020304" pitchFamily="18" charset="0"/>
              </a:rPr>
              <a:t>需要向</a:t>
            </a:r>
            <a:r>
              <a:rPr lang="en-US" altLang="zh-CN" sz="2800">
                <a:latin typeface="Times New Roman" panose="02020603050405020304" pitchFamily="18" charset="0"/>
              </a:rPr>
              <a:t>Bob</a:t>
            </a:r>
            <a:r>
              <a:rPr lang="zh-CN" altLang="en-US" sz="2800">
                <a:latin typeface="Times New Roman" panose="02020603050405020304" pitchFamily="18" charset="0"/>
              </a:rPr>
              <a:t>证明自己的身份，即要向</a:t>
            </a:r>
            <a:r>
              <a:rPr lang="en-US" altLang="zh-CN" sz="2800">
                <a:latin typeface="Times New Roman" panose="02020603050405020304" pitchFamily="18" charset="0"/>
              </a:rPr>
              <a:t>Bob</a:t>
            </a:r>
            <a:r>
              <a:rPr lang="zh-CN" altLang="en-US" sz="2800">
                <a:latin typeface="Times New Roman" panose="02020603050405020304" pitchFamily="18" charset="0"/>
              </a:rPr>
              <a:t>证明自己知道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。但必须通过不安全的公共信道来进行证明。这就是说，信道上有攻击者</a:t>
            </a:r>
            <a:r>
              <a:rPr lang="en-US" altLang="zh-CN" sz="2800">
                <a:latin typeface="Times New Roman" panose="02020603050405020304" pitchFamily="18" charset="0"/>
              </a:rPr>
              <a:t>Eve</a:t>
            </a:r>
            <a:r>
              <a:rPr lang="zh-CN" altLang="en-US" sz="2800">
                <a:latin typeface="Times New Roman" panose="02020603050405020304" pitchFamily="18" charset="0"/>
              </a:rPr>
              <a:t>在截听。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两人使用一个公开的杂凑函数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。方案如下：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4">
            <a:extLst>
              <a:ext uri="{FF2B5EF4-FFF2-40B4-BE49-F238E27FC236}">
                <a16:creationId xmlns:a16="http://schemas.microsoft.com/office/drawing/2014/main" id="{4764C284-7DA1-61C5-8DE1-1C875EE858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2AE550-F7D5-442E-84AE-D88D24BD2437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4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4FDC911-6153-25E6-5B10-58AD4ABA0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杂凑函数的用途</a:t>
            </a:r>
            <a:endParaRPr lang="en-US" altLang="zh-CN" b="1"/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56990EE-FB31-88DF-9B93-C5677AEC7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137525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） </a:t>
            </a:r>
            <a:r>
              <a:rPr lang="en-US" altLang="zh-CN" sz="2400">
                <a:latin typeface="Times New Roman" panose="02020603050405020304" pitchFamily="18" charset="0"/>
              </a:rPr>
              <a:t>Alice</a:t>
            </a:r>
            <a:r>
              <a:rPr lang="zh-CN" altLang="en-US" sz="2400">
                <a:latin typeface="Times New Roman" panose="02020603050405020304" pitchFamily="18" charset="0"/>
              </a:rPr>
              <a:t>向</a:t>
            </a:r>
            <a:r>
              <a:rPr lang="en-US" altLang="zh-CN" sz="2400">
                <a:latin typeface="Times New Roman" panose="02020603050405020304" pitchFamily="18" charset="0"/>
              </a:rPr>
              <a:t>Bob</a:t>
            </a:r>
            <a:r>
              <a:rPr lang="zh-CN" altLang="en-US" sz="2400">
                <a:latin typeface="Times New Roman" panose="02020603050405020304" pitchFamily="18" charset="0"/>
              </a:rPr>
              <a:t>发送信息“我是</a:t>
            </a:r>
            <a:r>
              <a:rPr lang="en-US" altLang="zh-CN" sz="2400">
                <a:latin typeface="Times New Roman" panose="02020603050405020304" pitchFamily="18" charset="0"/>
              </a:rPr>
              <a:t>Alice”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） </a:t>
            </a:r>
            <a:r>
              <a:rPr lang="en-US" altLang="zh-CN" sz="2400">
                <a:latin typeface="Times New Roman" panose="02020603050405020304" pitchFamily="18" charset="0"/>
              </a:rPr>
              <a:t>Bob</a:t>
            </a:r>
            <a:r>
              <a:rPr lang="zh-CN" altLang="en-US" sz="2400">
                <a:latin typeface="Times New Roman" panose="02020603050405020304" pitchFamily="18" charset="0"/>
              </a:rPr>
              <a:t>收到信息后，向</a:t>
            </a:r>
            <a:r>
              <a:rPr lang="en-US" altLang="zh-CN" sz="2400">
                <a:latin typeface="Times New Roman" panose="02020603050405020304" pitchFamily="18" charset="0"/>
              </a:rPr>
              <a:t>Alice</a:t>
            </a:r>
            <a:r>
              <a:rPr lang="zh-CN" altLang="en-US" sz="2400">
                <a:latin typeface="Times New Roman" panose="02020603050405020304" pitchFamily="18" charset="0"/>
              </a:rPr>
              <a:t>发送一个随机的比特串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</a:rPr>
              <a:t>） </a:t>
            </a:r>
            <a:r>
              <a:rPr lang="en-US" altLang="zh-CN" sz="2400">
                <a:latin typeface="Times New Roman" panose="02020603050405020304" pitchFamily="18" charset="0"/>
              </a:rPr>
              <a:t>Alice </a:t>
            </a:r>
            <a:r>
              <a:rPr lang="zh-CN" altLang="en-US" sz="2400">
                <a:latin typeface="Times New Roman" panose="02020603050405020304" pitchFamily="18" charset="0"/>
              </a:rPr>
              <a:t>收到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后，与自己的身份密号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联立，得到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) 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</a:rPr>
              <a:t>） </a:t>
            </a:r>
            <a:r>
              <a:rPr lang="en-US" altLang="zh-CN" sz="2400">
                <a:latin typeface="Times New Roman" panose="02020603050405020304" pitchFamily="18" charset="0"/>
              </a:rPr>
              <a:t>Alice</a:t>
            </a:r>
            <a:r>
              <a:rPr lang="zh-CN" altLang="en-US" sz="2400">
                <a:latin typeface="Times New Roman" panose="02020603050405020304" pitchFamily="18" charset="0"/>
              </a:rPr>
              <a:t>计算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，并向</a:t>
            </a:r>
            <a:r>
              <a:rPr lang="en-US" altLang="zh-CN" sz="2400">
                <a:latin typeface="Times New Roman" panose="02020603050405020304" pitchFamily="18" charset="0"/>
              </a:rPr>
              <a:t>Bob</a:t>
            </a:r>
            <a:r>
              <a:rPr lang="zh-CN" altLang="en-US" sz="2400">
                <a:latin typeface="Times New Roman" panose="02020603050405020304" pitchFamily="18" charset="0"/>
              </a:rPr>
              <a:t>发送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</a:rPr>
              <a:t>） </a:t>
            </a:r>
            <a:r>
              <a:rPr lang="en-US" altLang="zh-CN" sz="2400">
                <a:latin typeface="Times New Roman" panose="02020603050405020304" pitchFamily="18" charset="0"/>
              </a:rPr>
              <a:t>Bob</a:t>
            </a:r>
            <a:r>
              <a:rPr lang="zh-CN" altLang="en-US" sz="2400">
                <a:latin typeface="Times New Roman" panose="02020603050405020304" pitchFamily="18" charset="0"/>
              </a:rPr>
              <a:t>收到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zh-CN" altLang="en-US" sz="2400">
                <a:latin typeface="Times New Roman" panose="02020603050405020304" pitchFamily="18" charset="0"/>
              </a:rPr>
              <a:t>后，取出</a:t>
            </a:r>
            <a:r>
              <a:rPr lang="en-US" altLang="zh-CN" sz="2400">
                <a:latin typeface="Times New Roman" panose="02020603050405020304" pitchFamily="18" charset="0"/>
              </a:rPr>
              <a:t>Alice</a:t>
            </a:r>
            <a:r>
              <a:rPr lang="zh-CN" altLang="en-US" sz="2400">
                <a:latin typeface="Times New Roman" panose="02020603050405020304" pitchFamily="18" charset="0"/>
              </a:rPr>
              <a:t>的身份密号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，并与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联立得到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，然后验证是否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若是则认为“</a:t>
            </a:r>
            <a:r>
              <a:rPr lang="en-US" altLang="zh-CN" sz="2400">
                <a:latin typeface="Times New Roman" panose="02020603050405020304" pitchFamily="18" charset="0"/>
              </a:rPr>
              <a:t>Alice”</a:t>
            </a:r>
            <a:r>
              <a:rPr lang="zh-CN" altLang="en-US" sz="2400">
                <a:latin typeface="Times New Roman" panose="02020603050405020304" pitchFamily="18" charset="0"/>
              </a:rPr>
              <a:t>是真正的</a:t>
            </a:r>
            <a:r>
              <a:rPr lang="en-US" altLang="zh-CN" sz="2400">
                <a:latin typeface="Times New Roman" panose="02020603050405020304" pitchFamily="18" charset="0"/>
              </a:rPr>
              <a:t>Alice</a:t>
            </a:r>
            <a:r>
              <a:rPr lang="zh-CN" altLang="en-US" sz="2400">
                <a:latin typeface="Times New Roman" panose="02020603050405020304" pitchFamily="18" charset="0"/>
              </a:rPr>
              <a:t>；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若否则认为“</a:t>
            </a:r>
            <a:r>
              <a:rPr lang="en-US" altLang="zh-CN" sz="2400">
                <a:latin typeface="Times New Roman" panose="02020603050405020304" pitchFamily="18" charset="0"/>
              </a:rPr>
              <a:t>Alice”</a:t>
            </a:r>
            <a:r>
              <a:rPr lang="zh-CN" altLang="en-US" sz="2400">
                <a:latin typeface="Times New Roman" panose="02020603050405020304" pitchFamily="18" charset="0"/>
              </a:rPr>
              <a:t>是假冒的</a:t>
            </a:r>
            <a:r>
              <a:rPr lang="en-US" altLang="zh-CN" sz="2400">
                <a:latin typeface="Times New Roman" panose="02020603050405020304" pitchFamily="18" charset="0"/>
              </a:rPr>
              <a:t>Alice 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4">
            <a:extLst>
              <a:ext uri="{FF2B5EF4-FFF2-40B4-BE49-F238E27FC236}">
                <a16:creationId xmlns:a16="http://schemas.microsoft.com/office/drawing/2014/main" id="{08FBBB92-525A-63EA-386A-5063F7F4A6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84E016-A718-4063-AF3A-BF8583A57EA3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CN" sz="14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73C63F8-ED04-B673-600E-A0F7FFB177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杂凑函数的用途</a:t>
            </a:r>
          </a:p>
        </p:txBody>
      </p:sp>
      <p:graphicFrame>
        <p:nvGraphicFramePr>
          <p:cNvPr id="65540" name="Object 4">
            <a:extLst>
              <a:ext uri="{FF2B5EF4-FFF2-40B4-BE49-F238E27FC236}">
                <a16:creationId xmlns:a16="http://schemas.microsoft.com/office/drawing/2014/main" id="{C3FEA71B-66D7-D88F-1F26-150925662999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1403350" y="2133600"/>
          <a:ext cx="5995988" cy="400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427622" imgH="4294022" progId="Visio.Drawing.6">
                  <p:embed/>
                </p:oleObj>
              </mc:Choice>
              <mc:Fallback>
                <p:oleObj name="Visio" r:id="rId2" imgW="6427622" imgH="4294022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133600"/>
                        <a:ext cx="5995988" cy="400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4">
            <a:extLst>
              <a:ext uri="{FF2B5EF4-FFF2-40B4-BE49-F238E27FC236}">
                <a16:creationId xmlns:a16="http://schemas.microsoft.com/office/drawing/2014/main" id="{E22DDC7E-0C90-9200-47CC-93B6AE32DD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54719A-46DC-4CC8-ABA7-8CA1F090F15D}" type="slidenum">
              <a:rPr lang="zh-CN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14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AA6C4A4-0E84-90C1-4D59-F2DFCF3C9C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杂凑函数的用途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73604EEA-073F-0C15-FFF8-D758F019C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17713"/>
            <a:ext cx="8704263" cy="4291012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方案分析：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设攻击者</a:t>
            </a:r>
            <a:r>
              <a:rPr lang="en-US" altLang="zh-CN" sz="2800">
                <a:latin typeface="Times New Roman" panose="02020603050405020304" pitchFamily="18" charset="0"/>
              </a:rPr>
              <a:t>Eve</a:t>
            </a:r>
            <a:r>
              <a:rPr lang="zh-CN" altLang="en-US" sz="2800">
                <a:latin typeface="Times New Roman" panose="02020603050405020304" pitchFamily="18" charset="0"/>
              </a:rPr>
              <a:t>截听到了</a:t>
            </a:r>
            <a:r>
              <a:rPr lang="en-US" altLang="zh-CN" sz="2800">
                <a:latin typeface="Times New Roman" panose="02020603050405020304" pitchFamily="18" charset="0"/>
              </a:rPr>
              <a:t>Alice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Bob</a:t>
            </a:r>
            <a:r>
              <a:rPr lang="zh-CN" altLang="en-US" sz="2800">
                <a:latin typeface="Times New Roman" panose="02020603050405020304" pitchFamily="18" charset="0"/>
              </a:rPr>
              <a:t>之间的证明全过程。这就是说， </a:t>
            </a:r>
            <a:r>
              <a:rPr lang="en-US" altLang="zh-CN" sz="2800">
                <a:latin typeface="Times New Roman" panose="02020603050405020304" pitchFamily="18" charset="0"/>
              </a:rPr>
              <a:t>Eve</a:t>
            </a:r>
            <a:r>
              <a:rPr lang="zh-CN" altLang="en-US" sz="2800">
                <a:latin typeface="Times New Roman" panose="02020603050405020304" pitchFamily="18" charset="0"/>
              </a:rPr>
              <a:t>知道了随机比特串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，知道了杂凑函数值 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en-US" altLang="zh-CN" sz="2800"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</a:rPr>
              <a:t>，但不知道</a:t>
            </a:r>
            <a:r>
              <a:rPr lang="en-US" altLang="zh-CN" sz="2800">
                <a:latin typeface="Times New Roman" panose="02020603050405020304" pitchFamily="18" charset="0"/>
              </a:rPr>
              <a:t>Alice</a:t>
            </a:r>
            <a:r>
              <a:rPr lang="zh-CN" altLang="en-US" sz="2800">
                <a:latin typeface="Times New Roman" panose="02020603050405020304" pitchFamily="18" charset="0"/>
              </a:rPr>
              <a:t>的身份密号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根据杂凑函数的性质， </a:t>
            </a:r>
            <a:r>
              <a:rPr lang="en-US" altLang="zh-CN" sz="2800">
                <a:latin typeface="Times New Roman" panose="02020603050405020304" pitchFamily="18" charset="0"/>
              </a:rPr>
              <a:t>Eve</a:t>
            </a:r>
            <a:r>
              <a:rPr lang="zh-CN" altLang="en-US" sz="2800">
                <a:latin typeface="Times New Roman" panose="02020603050405020304" pitchFamily="18" charset="0"/>
              </a:rPr>
              <a:t>不可能由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zh-CN" altLang="en-US" sz="2800">
                <a:latin typeface="Times New Roman" panose="02020603050405020304" pitchFamily="18" charset="0"/>
              </a:rPr>
              <a:t>计算出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那么， </a:t>
            </a:r>
            <a:r>
              <a:rPr lang="en-US" altLang="zh-CN" sz="2800">
                <a:latin typeface="Times New Roman" panose="02020603050405020304" pitchFamily="18" charset="0"/>
              </a:rPr>
              <a:t>Eve</a:t>
            </a:r>
            <a:r>
              <a:rPr lang="zh-CN" altLang="en-US" sz="2800">
                <a:latin typeface="Times New Roman" panose="02020603050405020304" pitchFamily="18" charset="0"/>
              </a:rPr>
              <a:t>在不知道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的前提下，能否在</a:t>
            </a:r>
            <a:r>
              <a:rPr lang="zh-CN" altLang="en-US" sz="2800" u="sng">
                <a:latin typeface="Times New Roman" panose="02020603050405020304" pitchFamily="18" charset="0"/>
              </a:rPr>
              <a:t>以后</a:t>
            </a:r>
            <a:r>
              <a:rPr lang="zh-CN" altLang="en-US" sz="2800">
                <a:latin typeface="Times New Roman" panose="02020603050405020304" pitchFamily="18" charset="0"/>
              </a:rPr>
              <a:t>向</a:t>
            </a:r>
            <a:r>
              <a:rPr lang="en-US" altLang="zh-CN" sz="2800">
                <a:latin typeface="Times New Roman" panose="02020603050405020304" pitchFamily="18" charset="0"/>
              </a:rPr>
              <a:t>Bob</a:t>
            </a:r>
            <a:r>
              <a:rPr lang="zh-CN" altLang="en-US" sz="2800">
                <a:latin typeface="Times New Roman" panose="02020603050405020304" pitchFamily="18" charset="0"/>
              </a:rPr>
              <a:t>冒充</a:t>
            </a:r>
            <a:r>
              <a:rPr lang="en-US" altLang="zh-CN" sz="2800">
                <a:latin typeface="Times New Roman" panose="02020603050405020304" pitchFamily="18" charset="0"/>
              </a:rPr>
              <a:t>Alice</a:t>
            </a:r>
            <a:r>
              <a:rPr lang="zh-CN" altLang="en-US" sz="2800">
                <a:latin typeface="Times New Roman" panose="02020603050405020304" pitchFamily="18" charset="0"/>
              </a:rPr>
              <a:t>呢？如果</a:t>
            </a:r>
            <a:r>
              <a:rPr lang="en-US" altLang="zh-CN" sz="2800">
                <a:latin typeface="Times New Roman" panose="02020603050405020304" pitchFamily="18" charset="0"/>
              </a:rPr>
              <a:t>Bob</a:t>
            </a:r>
            <a:r>
              <a:rPr lang="zh-CN" altLang="en-US" sz="2800">
                <a:latin typeface="Times New Roman" panose="02020603050405020304" pitchFamily="18" charset="0"/>
              </a:rPr>
              <a:t>发送的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保持不变，则</a:t>
            </a:r>
            <a:r>
              <a:rPr lang="en-US" altLang="zh-CN" sz="2800">
                <a:latin typeface="Times New Roman" panose="02020603050405020304" pitchFamily="18" charset="0"/>
              </a:rPr>
              <a:t>Eve</a:t>
            </a:r>
            <a:r>
              <a:rPr lang="zh-CN" altLang="en-US" sz="2800">
                <a:latin typeface="Times New Roman" panose="02020603050405020304" pitchFamily="18" charset="0"/>
              </a:rPr>
              <a:t>能够冒充成功。 （见方案）。但每次发送的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是随机的，重复发送的概率是微乎其微的。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ADC1E839-E913-2027-A5D7-1EB5A237E9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E308C0-AC50-453B-9FE3-1265144DA066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CN" sz="14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AC0B94D6-FD7B-CED2-0CA5-33FB736CC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消息认证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46920E9E-8659-8BA1-6B34-AA1FAC630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/>
              <a:t>消息认证是一个过程，用以验证接收消息的真实性（的确是由它所声称的实体发来的）和完整性（未被篡改、插入、删除），同时还用于验证消息的顺序性和时间性（未重排、重放、延迟）。消息认证过程中检验内容应包括：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）证实报文的源和宿；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）报文内容是否曾受到偶然的或有意的篡改；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）报文的序号和时间先后。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 </a:t>
            </a: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>
            <a:extLst>
              <a:ext uri="{FF2B5EF4-FFF2-40B4-BE49-F238E27FC236}">
                <a16:creationId xmlns:a16="http://schemas.microsoft.com/office/drawing/2014/main" id="{8CF5F35A-FD72-0D05-39E1-AF6218C53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C904EB-A54E-4A7C-9F02-530FF539DC36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CN" sz="14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E6AFB8E5-06F4-878A-B6D4-66F5E4A83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消息认证</a:t>
            </a:r>
            <a:endParaRPr lang="zh-CN" altLang="zh-CN"/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832CC33F-EBD8-CA19-4B97-ECF1A7700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175" y="2095500"/>
            <a:ext cx="8559800" cy="4114800"/>
          </a:xfrm>
        </p:spPr>
        <p:txBody>
          <a:bodyPr/>
          <a:lstStyle/>
          <a:p>
            <a:pPr marL="3175" indent="466725" eaLnBrk="1" hangingPunct="1"/>
            <a:r>
              <a:rPr lang="zh-CN" altLang="en-US"/>
              <a:t>消息认证使接收者能识别：消息的源，内容的真伪，时间性和信宿。这种认证只在相应通信的双方之间进行，而不允许第三者进行上述认证。认证不一定是实时的，可用消息认证码</a:t>
            </a:r>
            <a:r>
              <a:rPr lang="en-US" altLang="zh-CN"/>
              <a:t>MAC</a:t>
            </a:r>
            <a:r>
              <a:rPr lang="zh-CN" altLang="en-US"/>
              <a:t>（</a:t>
            </a:r>
            <a:r>
              <a:rPr lang="en-US" altLang="zh-CN"/>
              <a:t>Message authentication code</a:t>
            </a:r>
            <a:r>
              <a:rPr lang="zh-CN" altLang="en-US"/>
              <a:t>）对消息做认证 </a:t>
            </a:r>
            <a:r>
              <a:rPr lang="en-US" altLang="zh-CN"/>
              <a:t>,</a:t>
            </a:r>
            <a:r>
              <a:rPr lang="zh-CN" altLang="en-US"/>
              <a:t>主要有：</a:t>
            </a:r>
          </a:p>
          <a:p>
            <a:pPr marL="3175" indent="466725" eaLnBrk="1" hangingPunct="1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）基于分组密码的</a:t>
            </a:r>
            <a:r>
              <a:rPr lang="en-US" altLang="zh-CN"/>
              <a:t>MAC</a:t>
            </a:r>
          </a:p>
          <a:p>
            <a:pPr marL="3175" indent="466725" eaLnBrk="1" hangingPunct="1"/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）基于散列函数（</a:t>
            </a:r>
            <a:r>
              <a:rPr lang="en-US" altLang="zh-CN"/>
              <a:t>HASH</a:t>
            </a:r>
            <a:r>
              <a:rPr lang="zh-CN" altLang="en-US"/>
              <a:t>）的</a:t>
            </a:r>
            <a:r>
              <a:rPr lang="en-US" altLang="zh-CN"/>
              <a:t>MAC</a:t>
            </a:r>
          </a:p>
          <a:p>
            <a:pPr marL="3175" indent="466725" eaLnBrk="1" hangingPunct="1"/>
            <a:endParaRPr lang="en-US" altLang="zh-CN"/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>
            <a:extLst>
              <a:ext uri="{FF2B5EF4-FFF2-40B4-BE49-F238E27FC236}">
                <a16:creationId xmlns:a16="http://schemas.microsoft.com/office/drawing/2014/main" id="{FC4041F4-9BBC-C7E4-473E-0EEBF2235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4A2D2C-D226-4D5F-BFCE-68419B0BE176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zh-CN" sz="1400"/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15237A4A-CE8C-3A01-1E5C-998A32565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157788"/>
            <a:ext cx="78486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3">
            <a:extLst>
              <a:ext uri="{FF2B5EF4-FFF2-40B4-BE49-F238E27FC236}">
                <a16:creationId xmlns:a16="http://schemas.microsoft.com/office/drawing/2014/main" id="{65F0C40C-93F8-D587-CBBD-E38C2BC2E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基于分组密码的</a:t>
            </a:r>
            <a:r>
              <a:rPr lang="en-US" altLang="zh-CN"/>
              <a:t>MAC </a:t>
            </a:r>
          </a:p>
        </p:txBody>
      </p:sp>
      <p:sp>
        <p:nvSpPr>
          <p:cNvPr id="69637" name="Rectangle 4">
            <a:extLst>
              <a:ext uri="{FF2B5EF4-FFF2-40B4-BE49-F238E27FC236}">
                <a16:creationId xmlns:a16="http://schemas.microsoft.com/office/drawing/2014/main" id="{F631D7E3-D3EB-E45F-801A-430D0FDB2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114800"/>
          </a:xfrm>
        </p:spPr>
        <p:txBody>
          <a:bodyPr/>
          <a:lstStyle/>
          <a:p>
            <a:pPr eaLnBrk="1" hangingPunct="1"/>
            <a:r>
              <a:rPr lang="en-US" altLang="zh-CN" sz="2800"/>
              <a:t>CBC-MAC</a:t>
            </a:r>
            <a:r>
              <a:rPr lang="zh-CN" altLang="en-US" sz="2800"/>
              <a:t>算法是最常用的一种基于分组的</a:t>
            </a:r>
            <a:r>
              <a:rPr lang="en-US" altLang="zh-CN" sz="2800"/>
              <a:t>MAC</a:t>
            </a:r>
            <a:r>
              <a:rPr lang="zh-CN" altLang="en-US" sz="2800"/>
              <a:t>算法 </a:t>
            </a:r>
          </a:p>
        </p:txBody>
      </p:sp>
      <p:sp>
        <p:nvSpPr>
          <p:cNvPr id="69638" name="Rectangle 5">
            <a:extLst>
              <a:ext uri="{FF2B5EF4-FFF2-40B4-BE49-F238E27FC236}">
                <a16:creationId xmlns:a16="http://schemas.microsoft.com/office/drawing/2014/main" id="{A8F083CF-6E2F-D8F7-4422-43C0E2C6F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95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69639" name="Object 6">
            <a:extLst>
              <a:ext uri="{FF2B5EF4-FFF2-40B4-BE49-F238E27FC236}">
                <a16:creationId xmlns:a16="http://schemas.microsoft.com/office/drawing/2014/main" id="{183260ED-5990-B934-CA16-FC288D566A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508250"/>
          <a:ext cx="7381875" cy="430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395570" imgH="3146450" progId="Visio.Drawing.11">
                  <p:embed/>
                </p:oleObj>
              </mc:Choice>
              <mc:Fallback>
                <p:oleObj name="Visio" r:id="rId3" imgW="5395570" imgH="314645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508250"/>
                        <a:ext cx="7381875" cy="430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>
            <a:extLst>
              <a:ext uri="{FF2B5EF4-FFF2-40B4-BE49-F238E27FC236}">
                <a16:creationId xmlns:a16="http://schemas.microsoft.com/office/drawing/2014/main" id="{A7491BB1-82B6-219B-763C-8149870D8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EE28F4-F4E8-4F91-9B46-26D86202D8F2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zh-CN" sz="14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14BB756E-ECA4-6650-3268-66B8578C6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</a:t>
            </a:r>
            <a:r>
              <a:rPr lang="en-US" altLang="zh-CN"/>
              <a:t>Hash</a:t>
            </a:r>
            <a:r>
              <a:rPr lang="zh-CN" altLang="en-US"/>
              <a:t>的</a:t>
            </a:r>
            <a:r>
              <a:rPr lang="en-US" altLang="zh-CN"/>
              <a:t>MAC (HMAC)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0A37D37-3530-7B82-CFCB-2DA19348086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-11113" y="2321496"/>
            <a:ext cx="8955088" cy="4536504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CA">
                <a:noFill/>
              </a:rPr>
              <a:t> </a:t>
            </a: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>
            <a:extLst>
              <a:ext uri="{FF2B5EF4-FFF2-40B4-BE49-F238E27FC236}">
                <a16:creationId xmlns:a16="http://schemas.microsoft.com/office/drawing/2014/main" id="{4C4F03D6-0BC5-0267-8C7C-71DF0E247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B1F956-0261-4EC8-B232-69B050DDBD12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zh-CN" sz="14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2391CA75-86CE-4ECE-A587-C1CF9948A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1054100"/>
            <a:ext cx="8229600" cy="6477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消息认证码使用方式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31AAFFF0-3221-E971-5E8D-FF053800EE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1825" y="2324100"/>
            <a:ext cx="8081963" cy="2649538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  </a:t>
            </a:r>
            <a:r>
              <a:rPr lang="zh-CN" altLang="en-US" b="1">
                <a:latin typeface="宋体" panose="02010600030101010101" pitchFamily="2" charset="-122"/>
              </a:rPr>
              <a:t>应用范围：</a:t>
            </a:r>
          </a:p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在密码学和数据安全技术中，它是实现有效、安全可靠数字签字和认证的重要工具，是安全认证协议中的重要模块。</a:t>
            </a: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>
            <a:extLst>
              <a:ext uri="{FF2B5EF4-FFF2-40B4-BE49-F238E27FC236}">
                <a16:creationId xmlns:a16="http://schemas.microsoft.com/office/drawing/2014/main" id="{D110B91F-EC6B-995D-1AA6-ACE6AD693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00A72B-3D4B-4AAD-BA60-CCDC5CACD65C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zh-CN" sz="1400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18C8C91F-7673-C3FD-C1BE-1481A77B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D711879B-C415-6AF2-03D8-5BCA021BB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844675"/>
          <a:ext cx="8424862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72812" imgH="2187854" progId="Visio.Drawing.11">
                  <p:embed/>
                </p:oleObj>
              </mc:Choice>
              <mc:Fallback>
                <p:oleObj name="Visio" r:id="rId2" imgW="4972812" imgH="218785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844675"/>
                        <a:ext cx="8424862" cy="371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标题 1">
            <a:extLst>
              <a:ext uri="{FF2B5EF4-FFF2-40B4-BE49-F238E27FC236}">
                <a16:creationId xmlns:a16="http://schemas.microsoft.com/office/drawing/2014/main" id="{6B53C140-146E-E988-6BF5-82A319427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消息认证码</a:t>
            </a:r>
            <a:endParaRPr lang="en-CA" altLang="en-US"/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A25415C6-F000-B9CD-FF65-2E52B7E68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C6C7CE-642C-40D7-9F08-C17DB2BB2C1F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zh-CN" sz="1400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CAD649B-D064-9BF3-9FAD-75F28B8AD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6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4DA55C6B-5FF8-17C3-9119-079D97B12F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989138"/>
          <a:ext cx="91440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28832" imgH="2185348" progId="Visio.Drawing.11">
                  <p:embed/>
                </p:oleObj>
              </mc:Choice>
              <mc:Fallback>
                <p:oleObj name="Visio" r:id="rId2" imgW="8428832" imgH="218534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9138"/>
                        <a:ext cx="9144000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Rectangle 5">
            <a:extLst>
              <a:ext uri="{FF2B5EF4-FFF2-40B4-BE49-F238E27FC236}">
                <a16:creationId xmlns:a16="http://schemas.microsoft.com/office/drawing/2014/main" id="{ABC735E2-64BD-796B-38AA-9225EC6D7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372100"/>
            <a:ext cx="26463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消息认证与机密性</a:t>
            </a:r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03E66429-9F3B-5B7E-B884-3BC65ECA7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57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3735" name="标题 1">
            <a:extLst>
              <a:ext uri="{FF2B5EF4-FFF2-40B4-BE49-F238E27FC236}">
                <a16:creationId xmlns:a16="http://schemas.microsoft.com/office/drawing/2014/main" id="{09121EB6-A6A6-F29B-7D4A-0FE093D3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消息认证的使用</a:t>
            </a:r>
            <a:endParaRPr lang="en-CA" altLang="en-US"/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>
            <a:extLst>
              <a:ext uri="{FF2B5EF4-FFF2-40B4-BE49-F238E27FC236}">
                <a16:creationId xmlns:a16="http://schemas.microsoft.com/office/drawing/2014/main" id="{BE18BB5F-00C2-7452-AADF-68AC9BEFB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08BE02-2687-42C8-B538-5DBC5D92859F}" type="slidenum">
              <a:rPr lang="en-US" altLang="zh-CN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zh-CN" sz="14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2B45CFC-10F4-EB08-6081-742009193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消息认证的使用</a:t>
            </a:r>
            <a:endParaRPr lang="zh-CN" altLang="zh-CN"/>
          </a:p>
        </p:txBody>
      </p:sp>
      <p:graphicFrame>
        <p:nvGraphicFramePr>
          <p:cNvPr id="74756" name="Object 3">
            <a:extLst>
              <a:ext uri="{FF2B5EF4-FFF2-40B4-BE49-F238E27FC236}">
                <a16:creationId xmlns:a16="http://schemas.microsoft.com/office/drawing/2014/main" id="{C49C2173-E088-0EE9-B426-D5BC12850C0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0825" y="2205038"/>
          <a:ext cx="8713788" cy="267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156847" imgH="2196998" progId="Visio.Drawing.11">
                  <p:embed/>
                </p:oleObj>
              </mc:Choice>
              <mc:Fallback>
                <p:oleObj name="Visio" r:id="rId2" imgW="7156847" imgH="219699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205038"/>
                        <a:ext cx="8713788" cy="267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Rectangle 4">
            <a:extLst>
              <a:ext uri="{FF2B5EF4-FFF2-40B4-BE49-F238E27FC236}">
                <a16:creationId xmlns:a16="http://schemas.microsoft.com/office/drawing/2014/main" id="{AA55FBD1-82EE-00C3-B6D1-ACAA3732D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732463"/>
            <a:ext cx="26463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消息认证与机密性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31995</TotalTime>
  <Words>3642</Words>
  <Application>Microsoft Office PowerPoint</Application>
  <PresentationFormat>全屏显示(4:3)</PresentationFormat>
  <Paragraphs>355</Paragraphs>
  <Slides>50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5" baseType="lpstr">
      <vt:lpstr>Letter Gothic</vt:lpstr>
      <vt:lpstr>PMingLiU</vt:lpstr>
      <vt:lpstr>华文楷体</vt:lpstr>
      <vt:lpstr>华文行楷</vt:lpstr>
      <vt:lpstr>隶书</vt:lpstr>
      <vt:lpstr>宋体</vt:lpstr>
      <vt:lpstr>Arial</vt:lpstr>
      <vt:lpstr>Georgia</vt:lpstr>
      <vt:lpstr>Monotype Corsiva</vt:lpstr>
      <vt:lpstr>Tahoma</vt:lpstr>
      <vt:lpstr>Times New Roman</vt:lpstr>
      <vt:lpstr>Wingdings</vt:lpstr>
      <vt:lpstr>Blends</vt:lpstr>
      <vt:lpstr>Visio</vt:lpstr>
      <vt:lpstr>Equation</vt:lpstr>
      <vt:lpstr>第三章：杂凑函数与消息认证</vt:lpstr>
      <vt:lpstr>单向函数</vt:lpstr>
      <vt:lpstr>杂凑函数（Hash）</vt:lpstr>
      <vt:lpstr>杂凑函数</vt:lpstr>
      <vt:lpstr>杂凑函数</vt:lpstr>
      <vt:lpstr>杂凑函数</vt:lpstr>
      <vt:lpstr>杂凑函数的性质</vt:lpstr>
      <vt:lpstr>杂凑函数的性质</vt:lpstr>
      <vt:lpstr>杂凑函数的性质</vt:lpstr>
      <vt:lpstr>杂凑函数的性质</vt:lpstr>
      <vt:lpstr>杂凑函数</vt:lpstr>
      <vt:lpstr>Hash函数的定义</vt:lpstr>
      <vt:lpstr>Hash函数的发展</vt:lpstr>
      <vt:lpstr>Hash函数的发展</vt:lpstr>
      <vt:lpstr>Hash函数的发展</vt:lpstr>
      <vt:lpstr>Hash函数的发展</vt:lpstr>
      <vt:lpstr>Hash函数的发展</vt:lpstr>
      <vt:lpstr>SHA系列(Secure Hash Algorithm)</vt:lpstr>
      <vt:lpstr>SHA-1消息摘要</vt:lpstr>
      <vt:lpstr>SHA-1算法第一步</vt:lpstr>
      <vt:lpstr>SHA-1算法第二步</vt:lpstr>
      <vt:lpstr>SHA-1 算法——数据扩充</vt:lpstr>
      <vt:lpstr>SHA-1 算法——数据扩充</vt:lpstr>
      <vt:lpstr>SHA1 的IV初值</vt:lpstr>
      <vt:lpstr>SHA-1 算法 </vt:lpstr>
      <vt:lpstr>SHA-1 压缩函数</vt:lpstr>
      <vt:lpstr>上图表达式的说明</vt:lpstr>
      <vt:lpstr>f1-4逻辑函数的定义</vt:lpstr>
      <vt:lpstr>SHA-1 算法——Ki的取值</vt:lpstr>
      <vt:lpstr>SHA算法</vt:lpstr>
      <vt:lpstr> </vt:lpstr>
      <vt:lpstr>SHA算法实例</vt:lpstr>
      <vt:lpstr> </vt:lpstr>
      <vt:lpstr>SHA算法</vt:lpstr>
      <vt:lpstr>SHA算法</vt:lpstr>
      <vt:lpstr>SHA算法</vt:lpstr>
      <vt:lpstr>SHA算法</vt:lpstr>
      <vt:lpstr>Hash函数的用途</vt:lpstr>
      <vt:lpstr>杂凑函数的用途</vt:lpstr>
      <vt:lpstr>杂凑函数的用途</vt:lpstr>
      <vt:lpstr>杂凑函数的用途</vt:lpstr>
      <vt:lpstr>杂凑函数的用途</vt:lpstr>
      <vt:lpstr>消息认证</vt:lpstr>
      <vt:lpstr>消息认证</vt:lpstr>
      <vt:lpstr>基于分组密码的MAC </vt:lpstr>
      <vt:lpstr>基于Hash的MAC (HMAC)</vt:lpstr>
      <vt:lpstr>消息认证码使用方式</vt:lpstr>
      <vt:lpstr>消息认证码</vt:lpstr>
      <vt:lpstr>消息认证的使用</vt:lpstr>
      <vt:lpstr>消息认证的使用</vt:lpstr>
    </vt:vector>
  </TitlesOfParts>
  <Manager/>
  <Company>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第二讲：通信网安全概论</dc:title>
  <dc:creator>xd</dc:creator>
  <cp:lastModifiedBy>Yang anjia</cp:lastModifiedBy>
  <cp:revision>237</cp:revision>
  <dcterms:created xsi:type="dcterms:W3CDTF">1999-08-20T12:21:21Z</dcterms:created>
  <dcterms:modified xsi:type="dcterms:W3CDTF">2025-10-23T09:07:52Z</dcterms:modified>
</cp:coreProperties>
</file>